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4" r:id="rId3"/>
    <p:sldId id="302" r:id="rId4"/>
    <p:sldId id="263" r:id="rId5"/>
    <p:sldId id="304" r:id="rId6"/>
    <p:sldId id="280" r:id="rId7"/>
    <p:sldId id="293" r:id="rId8"/>
    <p:sldId id="292" r:id="rId9"/>
    <p:sldId id="291" r:id="rId10"/>
    <p:sldId id="290" r:id="rId11"/>
    <p:sldId id="303" r:id="rId12"/>
    <p:sldId id="297" r:id="rId13"/>
    <p:sldId id="279" r:id="rId14"/>
    <p:sldId id="278" r:id="rId15"/>
    <p:sldId id="298" r:id="rId16"/>
    <p:sldId id="284" r:id="rId17"/>
    <p:sldId id="301" r:id="rId18"/>
    <p:sldId id="289" r:id="rId19"/>
    <p:sldId id="299" r:id="rId20"/>
    <p:sldId id="286" r:id="rId21"/>
    <p:sldId id="296" r:id="rId22"/>
    <p:sldId id="288" r:id="rId23"/>
    <p:sldId id="282" r:id="rId24"/>
    <p:sldId id="294" r:id="rId25"/>
    <p:sldId id="261" r:id="rId26"/>
    <p:sldId id="260" r:id="rId27"/>
    <p:sldId id="265" r:id="rId28"/>
    <p:sldId id="269" r:id="rId29"/>
    <p:sldId id="257" r:id="rId30"/>
    <p:sldId id="258" r:id="rId31"/>
    <p:sldId id="262" r:id="rId32"/>
    <p:sldId id="270" r:id="rId33"/>
    <p:sldId id="272" r:id="rId34"/>
    <p:sldId id="300" r:id="rId35"/>
    <p:sldId id="259" r:id="rId36"/>
    <p:sldId id="27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85040" autoAdjust="0"/>
  </p:normalViewPr>
  <p:slideViewPr>
    <p:cSldViewPr snapToGrid="0">
      <p:cViewPr varScale="1">
        <p:scale>
          <a:sx n="72" d="100"/>
          <a:sy n="72" d="100"/>
        </p:scale>
        <p:origin x="72" y="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</a:t>
            </a:r>
          </a:p>
          <a:p>
            <a:pPr lvl="2"/>
            <a:r>
              <a:rPr lang="en-US" dirty="0"/>
              <a:t>This interpretation feels the most shaky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7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 meaningful perceptual product results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0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75" y="1336241"/>
            <a:ext cx="4991100" cy="5032375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61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40042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446303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4001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00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1690688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238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390649"/>
            <a:ext cx="10515600" cy="5143501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  <a:p>
            <a:pPr lvl="1"/>
            <a:r>
              <a:rPr lang="en-US" dirty="0"/>
              <a:t>Use IRAF to measure links to subsequent memory hit/misses</a:t>
            </a:r>
          </a:p>
          <a:p>
            <a:r>
              <a:rPr lang="en-US" dirty="0"/>
              <a:t>Connectivity analysis</a:t>
            </a:r>
          </a:p>
          <a:p>
            <a:pPr lvl="1"/>
            <a:r>
              <a:rPr lang="en-US" dirty="0"/>
              <a:t>Connectivity between activation x IRAF</a:t>
            </a:r>
          </a:p>
          <a:p>
            <a:pPr lvl="1"/>
            <a:r>
              <a:rPr lang="en-US" dirty="0"/>
              <a:t>Investigates how one region provides information for another region’s stimulus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004"/>
            <a:ext cx="11247120" cy="4963796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</a:p>
          <a:p>
            <a:r>
              <a:rPr lang="en-US" sz="2400" dirty="0"/>
              <a:t>Why not simply correlate IRAFs between two regions?</a:t>
            </a:r>
          </a:p>
          <a:p>
            <a:pPr lvl="1"/>
            <a:r>
              <a:rPr lang="en-US" sz="2000" dirty="0"/>
              <a:t>I tested this and found that high IRAF x IRAF connectivity doesn’t necessarily reflect meaningful stimulus representation</a:t>
            </a:r>
          </a:p>
          <a:p>
            <a:pPr lvl="1"/>
            <a:r>
              <a:rPr lang="en-US" sz="2000" dirty="0"/>
              <a:t>Permutation testing showed that highly positive IRAF x IRAF correlations are common across the brain, even when stimulus vectors are shuffled</a:t>
            </a:r>
          </a:p>
          <a:p>
            <a:pPr lvl="1"/>
            <a:r>
              <a:rPr lang="en-US" sz="2000" dirty="0"/>
              <a:t>On the other hand, shuffling vectors leads Activity x IRAF to surround zero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0D9AB-A391-598D-51A8-8E8B9283D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3" y="1614696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1753411-154C-C68D-20A0-207553FA3D71}"/>
              </a:ext>
            </a:extLst>
          </p:cNvPr>
          <p:cNvSpPr/>
          <p:nvPr/>
        </p:nvSpPr>
        <p:spPr>
          <a:xfrm>
            <a:off x="880518" y="2143333"/>
            <a:ext cx="390525" cy="39052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38A04-522F-D283-3D23-9994721D6328}"/>
              </a:ext>
            </a:extLst>
          </p:cNvPr>
          <p:cNvSpPr txBox="1"/>
          <p:nvPr/>
        </p:nvSpPr>
        <p:spPr>
          <a:xfrm>
            <a:off x="1281270" y="2248108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SFG is partially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mPFC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1A/1B: Scene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339917" y="6366760"/>
            <a:ext cx="7294179" cy="397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Beyond what </a:t>
            </a:r>
            <a:r>
              <a:rPr lang="en-US" sz="2400" dirty="0" err="1"/>
              <a:t>Lifu</a:t>
            </a:r>
            <a:r>
              <a:rPr lang="en-US" sz="2400" dirty="0"/>
              <a:t> looked into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85331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55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7" y="1614696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1EB1BC-8C96-BBFD-F74D-6F1653BF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" y="1529792"/>
            <a:ext cx="6096000" cy="457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60881F-B58A-F901-363D-1DB1BAE4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007" y="1529792"/>
            <a:ext cx="6096000" cy="457200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18121" y="547174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D9684AB-95DA-742E-0310-1B949179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32" y="1360227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232069" y="19759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915241" y="2086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86085" y="1925181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73799" y="2197452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018D3E-2AD3-5277-CA7B-ECAE2E8BA2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3" t="13756" r="8677" b="8922"/>
          <a:stretch/>
        </p:blipFill>
        <p:spPr>
          <a:xfrm>
            <a:off x="5613916" y="1352588"/>
            <a:ext cx="6068463" cy="5278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7856"/>
          </a:xfrm>
        </p:spPr>
        <p:txBody>
          <a:bodyPr/>
          <a:lstStyle/>
          <a:p>
            <a:r>
              <a:rPr lang="en-US" dirty="0"/>
              <a:t>Result 3: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007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Similar to beta series correlations</a:t>
            </a:r>
          </a:p>
          <a:p>
            <a:pPr lvl="1"/>
            <a:r>
              <a:rPr lang="en-US" dirty="0"/>
              <a:t>Use difference-vector IRAF for one region</a:t>
            </a:r>
          </a:p>
          <a:p>
            <a:r>
              <a:rPr lang="en-US" dirty="0"/>
              <a:t>PFC IRAF linked to stronger occipital connectivity and </a:t>
            </a:r>
            <a:r>
              <a:rPr lang="en-US" dirty="0" err="1"/>
              <a:t>PhG</a:t>
            </a:r>
            <a:r>
              <a:rPr lang="en-US" dirty="0"/>
              <a:t>/</a:t>
            </a:r>
            <a:r>
              <a:rPr lang="en-US" dirty="0" err="1"/>
              <a:t>FuG</a:t>
            </a:r>
            <a:r>
              <a:rPr lang="en-US" dirty="0"/>
              <a:t> connectivity</a:t>
            </a:r>
          </a:p>
          <a:p>
            <a:r>
              <a:rPr lang="en-US" dirty="0"/>
              <a:t>This effect only arises for objects that yield subsequent 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31314" y="2426218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A5C02D-247F-B529-32B9-EBB0D1D7D713}"/>
              </a:ext>
            </a:extLst>
          </p:cNvPr>
          <p:cNvSpPr/>
          <p:nvPr/>
        </p:nvSpPr>
        <p:spPr>
          <a:xfrm>
            <a:off x="6240840" y="4001294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8D49-AD1E-6CF5-022D-FDB3BA1F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4: Retrieval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C11E-8C3E-3AAF-4387-1208B553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participants retrieve an object, what do they retrieve?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Scene</a:t>
            </a:r>
          </a:p>
          <a:p>
            <a:pPr lvl="1"/>
            <a:r>
              <a:rPr lang="en-US" dirty="0"/>
              <a:t>Object relative to the scene (difference vector)</a:t>
            </a:r>
          </a:p>
          <a:p>
            <a:r>
              <a:rPr lang="en-US" dirty="0"/>
              <a:t>Link to retrieval data?</a:t>
            </a:r>
          </a:p>
        </p:txBody>
      </p:sp>
    </p:spTree>
    <p:extLst>
      <p:ext uri="{BB962C8B-B14F-4D97-AF65-F5344CB8AC3E}">
        <p14:creationId xmlns:p14="http://schemas.microsoft.com/office/powerpoint/2010/main" val="159875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Supplemental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59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9F27E-75DC-E03E-0AB5-EDBFF2DC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9" y="491846"/>
            <a:ext cx="8201025" cy="2858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6C0C7-B8B4-7CD9-8F83-100205F1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9" y="3524250"/>
            <a:ext cx="8201025" cy="2858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B4E21F-0E67-66B1-D8A7-1559FC7EFC86}"/>
              </a:ext>
            </a:extLst>
          </p:cNvPr>
          <p:cNvSpPr txBox="1"/>
          <p:nvPr/>
        </p:nvSpPr>
        <p:spPr>
          <a:xfrm>
            <a:off x="561975" y="1371600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obj_fMRI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491FF-AAB5-0C33-5B92-2B9B4F67A880}"/>
              </a:ext>
            </a:extLst>
          </p:cNvPr>
          <p:cNvSpPr txBox="1"/>
          <p:nvPr/>
        </p:nvSpPr>
        <p:spPr>
          <a:xfrm>
            <a:off x="561975" y="4553168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Scene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scn_fMRI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00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060"/>
            <a:ext cx="10515600" cy="870155"/>
          </a:xfrm>
        </p:spPr>
        <p:txBody>
          <a:bodyPr/>
          <a:lstStyle/>
          <a:p>
            <a:r>
              <a:rPr lang="en-US" dirty="0"/>
              <a:t>Scene representation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838198" y="978726"/>
            <a:ext cx="476949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55" y="997887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3308A-1400-6CE1-466B-49EBE32A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3" y="1399081"/>
            <a:ext cx="6096000" cy="4572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38D4D-5A58-15B7-E1BD-3A35D5EA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67" y="1509412"/>
            <a:ext cx="5801784" cy="43513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1809FB-7001-4489-D1FB-56AF2F4AFC1A}"/>
              </a:ext>
            </a:extLst>
          </p:cNvPr>
          <p:cNvSpPr txBox="1">
            <a:spLocks/>
          </p:cNvSpPr>
          <p:nvPr/>
        </p:nvSpPr>
        <p:spPr>
          <a:xfrm>
            <a:off x="1073130" y="6100116"/>
            <a:ext cx="10633277" cy="6828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Need scene single-trial betas</a:t>
            </a:r>
          </a:p>
          <a:p>
            <a:pPr algn="ctr"/>
            <a:r>
              <a:rPr lang="en-US" sz="1800" dirty="0"/>
              <a:t>For congruent trials, it is difficult to distinguish from object decoding</a:t>
            </a:r>
          </a:p>
        </p:txBody>
      </p:sp>
    </p:spTree>
    <p:extLst>
      <p:ext uri="{BB962C8B-B14F-4D97-AF65-F5344CB8AC3E}">
        <p14:creationId xmlns:p14="http://schemas.microsoft.com/office/powerpoint/2010/main" val="136271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5685-CF75-6238-7D80-21F76433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based on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B219-0E57-1547-3B5F-64EBF837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with respect to single-trial connectivity</a:t>
            </a:r>
          </a:p>
          <a:p>
            <a:r>
              <a:rPr lang="en-US" dirty="0"/>
              <a:t>Connectivity between scene betas x object betas</a:t>
            </a:r>
          </a:p>
          <a:p>
            <a:r>
              <a:rPr lang="en-US" dirty="0"/>
              <a:t>Connectivity among occipital ROIs (EVC, LOC, superior OC) yields significant RSA results with respect to the last layer of DNN for the scene + object sum</a:t>
            </a:r>
          </a:p>
          <a:p>
            <a:r>
              <a:rPr lang="en-US" dirty="0"/>
              <a:t>Doesn’t work for anything else</a:t>
            </a:r>
          </a:p>
          <a:p>
            <a:r>
              <a:rPr lang="en-US" dirty="0"/>
              <a:t>Probably a Type I Error</a:t>
            </a:r>
          </a:p>
        </p:txBody>
      </p:sp>
    </p:spTree>
    <p:extLst>
      <p:ext uri="{BB962C8B-B14F-4D97-AF65-F5344CB8AC3E}">
        <p14:creationId xmlns:p14="http://schemas.microsoft.com/office/powerpoint/2010/main" val="155641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832D-FAFB-814E-F629-08503A1A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Addition &amp; Product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777EA-1B47-F5CB-8A67-C9686FE9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80" y="2448231"/>
            <a:ext cx="4023360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CE3A5-42AE-4C50-4E96-C6558233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2448231"/>
            <a:ext cx="402336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B3A1D-410E-A036-93E4-CF10B6440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12" y="2448231"/>
            <a:ext cx="4023360" cy="301752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903C17-6866-FBFC-B0B7-1389977F2709}"/>
              </a:ext>
            </a:extLst>
          </p:cNvPr>
          <p:cNvSpPr txBox="1">
            <a:spLocks/>
          </p:cNvSpPr>
          <p:nvPr/>
        </p:nvSpPr>
        <p:spPr>
          <a:xfrm>
            <a:off x="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6FEA16E-4AAD-6BAE-C68F-FC068F0D7F57}"/>
              </a:ext>
            </a:extLst>
          </p:cNvPr>
          <p:cNvSpPr txBox="1">
            <a:spLocks/>
          </p:cNvSpPr>
          <p:nvPr/>
        </p:nvSpPr>
        <p:spPr>
          <a:xfrm>
            <a:off x="371125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42A75C-CFF0-522B-09C5-40891B27AEF9}"/>
              </a:ext>
            </a:extLst>
          </p:cNvPr>
          <p:cNvSpPr txBox="1">
            <a:spLocks/>
          </p:cNvSpPr>
          <p:nvPr/>
        </p:nvSpPr>
        <p:spPr>
          <a:xfrm>
            <a:off x="773461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product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C19B86-6C20-5E0C-77C2-3E736BF28CBC}"/>
              </a:ext>
            </a:extLst>
          </p:cNvPr>
          <p:cNvSpPr txBox="1">
            <a:spLocks/>
          </p:cNvSpPr>
          <p:nvPr/>
        </p:nvSpPr>
        <p:spPr>
          <a:xfrm>
            <a:off x="464457" y="5812971"/>
            <a:ext cx="11263085" cy="87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patterns when taking the absolute value of the addition or product vector. Note the null PFC results</a:t>
            </a:r>
          </a:p>
        </p:txBody>
      </p:sp>
    </p:spTree>
    <p:extLst>
      <p:ext uri="{BB962C8B-B14F-4D97-AF65-F5344CB8AC3E}">
        <p14:creationId xmlns:p14="http://schemas.microsoft.com/office/powerpoint/2010/main" val="87326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77CE-5D11-291E-9F09-544A7F55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D3B6-DEC1-3A9B-6DDF-30123D10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Look at the single-trial betas for the scene presentation screen</a:t>
            </a:r>
          </a:p>
          <a:p>
            <a:r>
              <a:rPr lang="en-US" dirty="0"/>
              <a:t>Look at retrieval data</a:t>
            </a:r>
          </a:p>
          <a:p>
            <a:pPr lvl="1"/>
            <a:r>
              <a:rPr lang="en-US" dirty="0"/>
              <a:t>When participants retrieve an object, is the scene retrieved too?</a:t>
            </a:r>
          </a:p>
        </p:txBody>
      </p:sp>
    </p:spTree>
    <p:extLst>
      <p:ext uri="{BB962C8B-B14F-4D97-AF65-F5344CB8AC3E}">
        <p14:creationId xmlns:p14="http://schemas.microsoft.com/office/powerpoint/2010/main" val="1065609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Things that didn’t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65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3D93-70F1-4823-1A5B-CB211406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1325563"/>
          </a:xfrm>
        </p:spPr>
        <p:txBody>
          <a:bodyPr/>
          <a:lstStyle/>
          <a:p>
            <a:r>
              <a:rPr lang="en-US" dirty="0"/>
              <a:t>RSA single-trial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40AC-04E7-483A-9332-14DAE848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47"/>
            <a:ext cx="5902234" cy="4967981"/>
          </a:xfrm>
        </p:spPr>
        <p:txBody>
          <a:bodyPr>
            <a:normAutofit/>
          </a:bodyPr>
          <a:lstStyle/>
          <a:p>
            <a:r>
              <a:rPr lang="en-US" dirty="0"/>
              <a:t>Single trial connectivity can be represented as the product of voxel activations </a:t>
            </a:r>
          </a:p>
          <a:p>
            <a:pPr lvl="1"/>
            <a:r>
              <a:rPr lang="en-US" dirty="0"/>
              <a:t>E.g., Connectivity between voxel 0 from region </a:t>
            </a:r>
            <a:r>
              <a:rPr lang="en-US" i="1" dirty="0"/>
              <a:t>a</a:t>
            </a:r>
            <a:r>
              <a:rPr lang="en-US" dirty="0"/>
              <a:t> with voxel 0 from region </a:t>
            </a:r>
            <a:r>
              <a:rPr lang="en-US" i="1" dirty="0"/>
              <a:t>b</a:t>
            </a:r>
            <a:endParaRPr lang="en-US" dirty="0"/>
          </a:p>
          <a:p>
            <a:pPr lvl="1"/>
            <a:r>
              <a:rPr lang="en-US" dirty="0"/>
              <a:t>If region </a:t>
            </a:r>
            <a:r>
              <a:rPr lang="en-US" i="1" dirty="0"/>
              <a:t>a </a:t>
            </a:r>
            <a:r>
              <a:rPr lang="en-US" dirty="0"/>
              <a:t>has 100 voxels and region </a:t>
            </a:r>
            <a:r>
              <a:rPr lang="en-US" i="1" dirty="0"/>
              <a:t>b </a:t>
            </a:r>
            <a:r>
              <a:rPr lang="en-US" dirty="0"/>
              <a:t>has 50 voxels, there are 5000 combinations </a:t>
            </a:r>
          </a:p>
          <a:p>
            <a:pPr lvl="1"/>
            <a:r>
              <a:rPr lang="en-US" dirty="0"/>
              <a:t>Can correlate these product vectors between trials to calculate fMRI RDM</a:t>
            </a:r>
          </a:p>
          <a:p>
            <a:r>
              <a:rPr lang="en-US" dirty="0"/>
              <a:t>Didn’t really pan out to anything meaningful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CC5CF-C87C-CB20-9B19-39BC8A40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76" y="1150654"/>
            <a:ext cx="5090474" cy="50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21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6DA8-1899-D6CD-2D7C-C2CAFD67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connectivity as triple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Normally, to do RSA, you get a correlation coefficient (r) for each ROI by correlating the fMRI and stimulus vectors: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fMRI RDM value for ROI </a:t>
                </a:r>
                <a:r>
                  <a:rPr lang="en-US" i="1" dirty="0"/>
                  <a:t>a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stimulus RDM value</a:t>
                </a:r>
              </a:p>
              <a:p>
                <a:r>
                  <a:rPr lang="en-US" dirty="0"/>
                  <a:t>To measure connectivity, you could instead: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b </a:t>
                </a:r>
                <a:r>
                  <a:rPr lang="en-US" dirty="0"/>
                  <a:t>represents another </a:t>
                </a:r>
                <a:br>
                  <a:rPr lang="en-US" dirty="0"/>
                </a:br>
                <a:r>
                  <a:rPr lang="en-US" dirty="0"/>
                  <a:t>region’s RDM</a:t>
                </a:r>
              </a:p>
              <a:p>
                <a:r>
                  <a:rPr lang="en-US" dirty="0"/>
                  <a:t>This avoids biases described in earlier slide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  <a:blipFill>
                <a:blip r:embed="rId2"/>
                <a:stretch>
                  <a:fillRect l="-1043" t="-2525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8D5CD4-5B2E-CBB1-EAF9-030C2C8BB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47" r="9401" b="7824"/>
          <a:stretch/>
        </p:blipFill>
        <p:spPr>
          <a:xfrm>
            <a:off x="8142514" y="3315788"/>
            <a:ext cx="3892731" cy="342997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70E7BF0-13C3-D802-6AA1-B54F9A2BBF8E}"/>
              </a:ext>
            </a:extLst>
          </p:cNvPr>
          <p:cNvSpPr/>
          <p:nvPr/>
        </p:nvSpPr>
        <p:spPr>
          <a:xfrm>
            <a:off x="8690065" y="4014651"/>
            <a:ext cx="2663735" cy="3657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6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 Connectivity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38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05B9-7D7B-E2F1-EB85-83886E33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483"/>
            <a:ext cx="10515600" cy="1325563"/>
          </a:xfrm>
        </p:spPr>
        <p:txBody>
          <a:bodyPr/>
          <a:lstStyle/>
          <a:p>
            <a:r>
              <a:rPr lang="en-US" dirty="0"/>
              <a:t>Overview: How do multiple brain regions work together to represent stimuli?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4D1E-524F-4C6F-4C0E-C7806E2E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6" y="1651758"/>
            <a:ext cx="11494394" cy="5206241"/>
          </a:xfrm>
        </p:spPr>
        <p:txBody>
          <a:bodyPr>
            <a:normAutofit/>
          </a:bodyPr>
          <a:lstStyle/>
          <a:p>
            <a:r>
              <a:rPr lang="en-US" sz="2400" dirty="0"/>
              <a:t>Linking regions based on their sensitivity to particular types of representations (IRAF)</a:t>
            </a:r>
          </a:p>
          <a:p>
            <a:pPr lvl="1"/>
            <a:r>
              <a:rPr lang="en-US" sz="2000" dirty="0"/>
              <a:t>Trial-by-trial correlations between regions</a:t>
            </a:r>
          </a:p>
          <a:p>
            <a:pPr lvl="1"/>
            <a:r>
              <a:rPr lang="en-US" sz="2000" dirty="0"/>
              <a:t>Similar to beta series correlations but with IRAF values</a:t>
            </a:r>
          </a:p>
          <a:p>
            <a:r>
              <a:rPr lang="en-US" sz="2400" dirty="0"/>
              <a:t>Does one region’s activity upregulate representational sensitivity in another region?</a:t>
            </a:r>
          </a:p>
          <a:p>
            <a:pPr lvl="1"/>
            <a:r>
              <a:rPr lang="en-US" sz="2000" dirty="0"/>
              <a:t>Trial-by-trial correlation between activity in one region x IRAF in another region</a:t>
            </a:r>
          </a:p>
          <a:p>
            <a:pPr lvl="1"/>
            <a:r>
              <a:rPr lang="en-US" sz="2000" dirty="0"/>
              <a:t>Consistent with the boosting/linking point in the grant</a:t>
            </a:r>
          </a:p>
          <a:p>
            <a:r>
              <a:rPr lang="en-US" sz="2400" dirty="0"/>
              <a:t>Representation of stimuli as connectivity</a:t>
            </a:r>
          </a:p>
          <a:p>
            <a:pPr lvl="1"/>
            <a:r>
              <a:rPr lang="en-US" sz="2000" dirty="0"/>
              <a:t>Are stimuli represented as interactions between multiple voxels or regions?</a:t>
            </a:r>
          </a:p>
          <a:p>
            <a:pPr lvl="1"/>
            <a:r>
              <a:rPr lang="en-US" sz="2000" dirty="0"/>
              <a:t>Investigate connectivity between pairs of regions or among multiple regions in a network</a:t>
            </a:r>
          </a:p>
          <a:p>
            <a:r>
              <a:rPr lang="en-US" sz="2400" dirty="0"/>
              <a:t>These types of results may speak to compensation if these connectivity patterns are more prominent among OAs</a:t>
            </a:r>
          </a:p>
        </p:txBody>
      </p:sp>
    </p:spTree>
    <p:extLst>
      <p:ext uri="{BB962C8B-B14F-4D97-AF65-F5344CB8AC3E}">
        <p14:creationId xmlns:p14="http://schemas.microsoft.com/office/powerpoint/2010/main" val="1312166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IRAF x IRAF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782"/>
            <a:ext cx="10515600" cy="2787939"/>
          </a:xfrm>
        </p:spPr>
        <p:txBody>
          <a:bodyPr>
            <a:normAutofit/>
          </a:bodyPr>
          <a:lstStyle/>
          <a:p>
            <a:r>
              <a:rPr lang="en-US" sz="2400" dirty="0"/>
              <a:t>Plain IRAF x IRAF doesn’t really work</a:t>
            </a:r>
          </a:p>
          <a:p>
            <a:r>
              <a:rPr lang="en-US" sz="2400" dirty="0"/>
              <a:t>In part because IRAF patterns for a given stimulus are similar across all ROIs, which makes some connectivity measurements artificial</a:t>
            </a:r>
          </a:p>
          <a:p>
            <a:pPr lvl="1"/>
            <a:r>
              <a:rPr lang="en-US" sz="2000" dirty="0"/>
              <a:t>Virtually every region shows positive IRAF connectivity with every other region</a:t>
            </a:r>
          </a:p>
          <a:p>
            <a:r>
              <a:rPr lang="en-US" sz="2400" dirty="0"/>
              <a:t>Three participant IRAF values are plotted here over time for every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019F2-3163-067C-D2BE-A01CACF6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5" y="3388021"/>
            <a:ext cx="2212245" cy="292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AAE461-29CA-2E3F-CEFD-476C11D78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132" y="3388021"/>
            <a:ext cx="2059094" cy="2926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428D3D-CF90-1830-3620-87CA5918D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568" y="3388021"/>
            <a:ext cx="2158686" cy="2926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4DC858-1ABE-33BD-0DF7-FD089B01CE60}"/>
              </a:ext>
            </a:extLst>
          </p:cNvPr>
          <p:cNvSpPr txBox="1"/>
          <p:nvPr/>
        </p:nvSpPr>
        <p:spPr>
          <a:xfrm>
            <a:off x="516529" y="3429000"/>
            <a:ext cx="2348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other issues with correlating IRAF between different regions that are harder to describe. Essentially, correlations between IRAFs will arise even if the stimulus vector is randomized.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7F4B6-30D5-5E0E-BE71-0A083FDCE541}"/>
              </a:ext>
            </a:extLst>
          </p:cNvPr>
          <p:cNvSpPr txBox="1"/>
          <p:nvPr/>
        </p:nvSpPr>
        <p:spPr>
          <a:xfrm>
            <a:off x="4371110" y="6403123"/>
            <a:ext cx="6030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played around with normalizing with respect to stimulus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01CB-803A-CB09-6FC4-9C56EA560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6" y="1544277"/>
            <a:ext cx="5859508" cy="5095009"/>
          </a:xfrm>
        </p:spPr>
        <p:txBody>
          <a:bodyPr>
            <a:normAutofit fontScale="92500"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r>
              <a:rPr lang="en-US" dirty="0"/>
              <a:t>Correlation matrix plotted</a:t>
            </a:r>
          </a:p>
          <a:p>
            <a:pPr lvl="1"/>
            <a:r>
              <a:rPr lang="en-US" dirty="0"/>
              <a:t>Not symmetrical, so it looks different from most connectivity matrices</a:t>
            </a:r>
          </a:p>
          <a:p>
            <a:r>
              <a:rPr lang="en-US" dirty="0"/>
              <a:t>Hard to say whether this is meaningful, but it is encouraging to see patterns linked to occipital IRAF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913A5-7579-7320-E92A-8DE88EAE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27" y="1111827"/>
            <a:ext cx="5746173" cy="5746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B941E0-FB87-F0CC-676D-412B7104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7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One area modulating IRAF in another region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71C90C-04A9-CE23-B7E1-3F87B74D819F}"/>
              </a:ext>
            </a:extLst>
          </p:cNvPr>
          <p:cNvSpPr/>
          <p:nvPr/>
        </p:nvSpPr>
        <p:spPr>
          <a:xfrm>
            <a:off x="9798627" y="2192482"/>
            <a:ext cx="488374" cy="36887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3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5E1-0773-C500-F8FB-3C5CB06C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590B-39CB-FDDF-CAC7-FF214E44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steps, examine multiple regions</a:t>
            </a:r>
          </a:p>
          <a:p>
            <a:r>
              <a:rPr lang="en-US" dirty="0"/>
              <a:t>May employee some of the modularity methods used in </a:t>
            </a:r>
            <a:r>
              <a:rPr lang="en-US" dirty="0" err="1"/>
              <a:t>Lifu’s</a:t>
            </a:r>
            <a:r>
              <a:rPr lang="en-US" dirty="0"/>
              <a:t> thesis</a:t>
            </a:r>
          </a:p>
        </p:txBody>
      </p:sp>
    </p:spTree>
    <p:extLst>
      <p:ext uri="{BB962C8B-B14F-4D97-AF65-F5344CB8AC3E}">
        <p14:creationId xmlns:p14="http://schemas.microsoft.com/office/powerpoint/2010/main" val="3698414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Leftover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1FA-462C-034B-08E2-B9FBF522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B766-4441-DC45-0B0F-F208E1E4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if… </a:t>
            </a:r>
          </a:p>
          <a:p>
            <a:pPr lvl="1"/>
            <a:r>
              <a:rPr lang="en-US" dirty="0"/>
              <a:t>Instead of representing an fMRI vector as all the voxel activations within a given ROI, you instead calculated the ROI vector as the product of all voxel weights (a measure of connectivity)?</a:t>
            </a:r>
          </a:p>
          <a:p>
            <a:r>
              <a:rPr lang="en-US" dirty="0"/>
              <a:t>What happens?</a:t>
            </a:r>
          </a:p>
          <a:p>
            <a:pPr lvl="1"/>
            <a:r>
              <a:rPr lang="en-US" dirty="0"/>
              <a:t>You get null results</a:t>
            </a:r>
          </a:p>
          <a:p>
            <a:pPr lvl="1"/>
            <a:r>
              <a:rPr lang="en-US" dirty="0"/>
              <a:t>Even things like RSA of object in the occipital lobe is fail</a:t>
            </a:r>
          </a:p>
        </p:txBody>
      </p:sp>
    </p:spTree>
    <p:extLst>
      <p:ext uri="{BB962C8B-B14F-4D97-AF65-F5344CB8AC3E}">
        <p14:creationId xmlns:p14="http://schemas.microsoft.com/office/powerpoint/2010/main" val="4151288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12A4-7A05-29F9-D9EB-9614EB46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0089-CFE1-025E-6B5F-6D3152D9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E39185-EFBA-520C-1B63-E12F6A2D5FF8}"/>
              </a:ext>
            </a:extLst>
          </p:cNvPr>
          <p:cNvSpPr/>
          <p:nvPr/>
        </p:nvSpPr>
        <p:spPr>
          <a:xfrm>
            <a:off x="9658350" y="37719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A15CE2-20D7-D1A5-65EB-699A13874A76}"/>
              </a:ext>
            </a:extLst>
          </p:cNvPr>
          <p:cNvSpPr/>
          <p:nvPr/>
        </p:nvSpPr>
        <p:spPr>
          <a:xfrm>
            <a:off x="10058400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0DC0E4-8CDE-6DCA-CBA3-5817C60AA0E9}"/>
              </a:ext>
            </a:extLst>
          </p:cNvPr>
          <p:cNvSpPr/>
          <p:nvPr/>
        </p:nvSpPr>
        <p:spPr>
          <a:xfrm>
            <a:off x="1004887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270AF3-F40C-D496-19EA-89AEB6F64848}"/>
              </a:ext>
            </a:extLst>
          </p:cNvPr>
          <p:cNvSpPr/>
          <p:nvPr/>
        </p:nvSpPr>
        <p:spPr>
          <a:xfrm>
            <a:off x="9658350" y="500062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6A348-9308-3C47-1D89-736106D82BFC}"/>
              </a:ext>
            </a:extLst>
          </p:cNvPr>
          <p:cNvSpPr/>
          <p:nvPr/>
        </p:nvSpPr>
        <p:spPr>
          <a:xfrm>
            <a:off x="922972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9BE735-9910-DC7C-2E79-1B3383D6EB67}"/>
              </a:ext>
            </a:extLst>
          </p:cNvPr>
          <p:cNvSpPr/>
          <p:nvPr/>
        </p:nvSpPr>
        <p:spPr>
          <a:xfrm>
            <a:off x="9229725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817190-BF47-4252-527C-9902AFF2C51C}"/>
              </a:ext>
            </a:extLst>
          </p:cNvPr>
          <p:cNvSpPr/>
          <p:nvPr/>
        </p:nvSpPr>
        <p:spPr>
          <a:xfrm>
            <a:off x="10506075" y="37623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6DDE69-B89E-F590-1012-04AA13ACB9EC}"/>
              </a:ext>
            </a:extLst>
          </p:cNvPr>
          <p:cNvSpPr/>
          <p:nvPr/>
        </p:nvSpPr>
        <p:spPr>
          <a:xfrm>
            <a:off x="10906125" y="41052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42D46D-F32B-D165-4BE3-08D69CAC8F60}"/>
              </a:ext>
            </a:extLst>
          </p:cNvPr>
          <p:cNvSpPr/>
          <p:nvPr/>
        </p:nvSpPr>
        <p:spPr>
          <a:xfrm>
            <a:off x="10896600" y="46386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A3E39-EBB0-0EC8-87BD-30F1054A5AB4}"/>
              </a:ext>
            </a:extLst>
          </p:cNvPr>
          <p:cNvSpPr/>
          <p:nvPr/>
        </p:nvSpPr>
        <p:spPr>
          <a:xfrm>
            <a:off x="10506075" y="49911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D0B693-73D3-36AE-6926-A828C00EEA83}"/>
              </a:ext>
            </a:extLst>
          </p:cNvPr>
          <p:cNvSpPr/>
          <p:nvPr/>
        </p:nvSpPr>
        <p:spPr>
          <a:xfrm>
            <a:off x="8886825" y="3635980"/>
            <a:ext cx="1676400" cy="16764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CE8FB3-4D19-13C2-89CD-78482E3E0307}"/>
              </a:ext>
            </a:extLst>
          </p:cNvPr>
          <p:cNvSpPr/>
          <p:nvPr/>
        </p:nvSpPr>
        <p:spPr>
          <a:xfrm>
            <a:off x="9763125" y="3635980"/>
            <a:ext cx="1676400" cy="1676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3FE74-19D1-05A4-6347-B23775C1C902}"/>
              </a:ext>
            </a:extLst>
          </p:cNvPr>
          <p:cNvSpPr txBox="1"/>
          <p:nvPr/>
        </p:nvSpPr>
        <p:spPr>
          <a:xfrm>
            <a:off x="8718596" y="3108925"/>
            <a:ext cx="105830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692C3-E163-39A4-09A3-5FF197A95D62}"/>
              </a:ext>
            </a:extLst>
          </p:cNvPr>
          <p:cNvSpPr txBox="1"/>
          <p:nvPr/>
        </p:nvSpPr>
        <p:spPr>
          <a:xfrm>
            <a:off x="10367448" y="3086437"/>
            <a:ext cx="107433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44AE90-8984-5475-CA6A-77CE0A6598F4}"/>
              </a:ext>
            </a:extLst>
          </p:cNvPr>
          <p:cNvSpPr/>
          <p:nvPr/>
        </p:nvSpPr>
        <p:spPr>
          <a:xfrm rot="14779218">
            <a:off x="10291762" y="4828324"/>
            <a:ext cx="428625" cy="250507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DAE956-2170-2D86-80C8-F205D6E36584}"/>
              </a:ext>
            </a:extLst>
          </p:cNvPr>
          <p:cNvCxnSpPr>
            <a:cxnSpLocks/>
          </p:cNvCxnSpPr>
          <p:nvPr/>
        </p:nvCxnSpPr>
        <p:spPr>
          <a:xfrm>
            <a:off x="9767887" y="5113401"/>
            <a:ext cx="620316" cy="8835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42B3EE-417E-CC24-E51B-72A45DD23E38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10544304" y="5181600"/>
            <a:ext cx="57021" cy="815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67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285C-24A4-DAD6-547B-D877DACC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7277-5B76-6A8C-0721-B6C356489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7125"/>
          </a:xfrm>
        </p:spPr>
        <p:txBody>
          <a:bodyPr/>
          <a:lstStyle/>
          <a:p>
            <a:r>
              <a:rPr lang="en-US" dirty="0"/>
              <a:t>Difference vector: (x0 – x1)</a:t>
            </a:r>
          </a:p>
          <a:p>
            <a:r>
              <a:rPr lang="en-US" dirty="0"/>
              <a:t>If (x0 – x1) yields an RSA effect, it may hard to distinguish from whether it is:</a:t>
            </a:r>
          </a:p>
          <a:p>
            <a:pPr lvl="1"/>
            <a:r>
              <a:rPr lang="en-US" dirty="0"/>
              <a:t>Indeed a difference effect</a:t>
            </a:r>
          </a:p>
          <a:p>
            <a:pPr lvl="1"/>
            <a:r>
              <a:rPr lang="en-US" dirty="0"/>
              <a:t>Driven by x0</a:t>
            </a:r>
          </a:p>
          <a:p>
            <a:pPr lvl="1"/>
            <a:r>
              <a:rPr lang="en-US" dirty="0"/>
              <a:t>Driven by –x1</a:t>
            </a:r>
          </a:p>
          <a:p>
            <a:r>
              <a:rPr lang="en-US" dirty="0"/>
              <a:t>Analogous to how for regressions, people advice against using terms like (x0 – x1) but instead to just put x0 and x1 separately</a:t>
            </a:r>
          </a:p>
          <a:p>
            <a:r>
              <a:rPr lang="en-US" dirty="0"/>
              <a:t>This would be particularly problematic if the difference vector effect is in the same spot as the object effect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81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6760126" y="1162049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855904"/>
            <a:ext cx="6456645" cy="58993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an expectation (a “prediction”)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vector”. Nonetheless, because the measure combines object and scene information, findings must reflect some type of interaction between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7029802" y="1326151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8781848" y="1326151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7535965" y="262844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7535965" y="28341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7536076" y="3039781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7534876" y="324544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753523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7536815" y="365678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9288565" y="2628447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9288565" y="28341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9288676" y="3039781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9287476" y="324544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9287837" y="3451115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9289415" y="365678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11022115" y="2628447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11022115" y="283411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11022226" y="3039781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11021026" y="3245448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1102138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11022965" y="365678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8330095" y="2899489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10028638" y="2940864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9784350" y="3509628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31555" y="1370817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6760126" y="770852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117736" y="520567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124086" y="5411346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124197" y="5617013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122997" y="582268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123358" y="602834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7330674" y="5208307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7327499" y="541397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7330785" y="561964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7329585" y="58253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7329946" y="6030975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7538933" y="5211649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7538933" y="541731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7539044" y="562298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7537844" y="582865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7538205" y="603431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7745521" y="5210309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7745521" y="541597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7745632" y="5621643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7744432" y="583445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7744793" y="60353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7948580" y="521165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7948580" y="5417318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7948691" y="5622985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7947491" y="5828652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7950233" y="603908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6619944" y="521202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6619944" y="541769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6619944" y="562336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6619944" y="582903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6619944" y="603469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7168872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7377911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7586950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7795989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8016165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124086" y="5211648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8867056" y="520492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8873406" y="541059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8873517" y="5616258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8872317" y="582192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8872678" y="6027592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9079994" y="5207552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9076819" y="541321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9080105" y="56188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9078905" y="582455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9079266" y="6030220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9288253" y="5210894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9288253" y="541656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9288364" y="562222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9287164" y="582789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9287525" y="603356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9494841" y="5209554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9494841" y="5415221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9494952" y="5620888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9493752" y="583369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9494113" y="6034603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9700830" y="521089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9700830" y="5416563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9700941" y="5622230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9699741" y="582789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9702483" y="603832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8369264" y="521127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8369264" y="54169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8369264" y="56226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8369264" y="58282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8369264" y="60339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8918192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9127231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9336270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9545309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9754347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8873406" y="5210893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10616496" y="52119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10622846" y="5417603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10622957" y="562327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10621757" y="582893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10622118" y="6034604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10829434" y="521456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10826259" y="54202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10829545" y="56258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10828345" y="58315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10828706" y="6037232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11037693" y="521790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11037693" y="54235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11037804" y="56292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11036604" y="5834907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11036965" y="604057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11244281" y="5216566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11244281" y="54222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11244392" y="5627900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11243192" y="58407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11243553" y="60416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11450270" y="5217908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11450270" y="5423575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11450381" y="5629242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11449181" y="58349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11451923" y="60453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10118704" y="52182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10118704" y="54239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10118704" y="56296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10118704" y="58352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10118704" y="60409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10667632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10876671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11085710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11294749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11503787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10622846" y="52179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762928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9392541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1112709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7048836" y="625918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8816905" y="6259189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10511383" y="6259189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7310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8831</TotalTime>
  <Words>2131</Words>
  <Application>Microsoft Office PowerPoint</Application>
  <PresentationFormat>Widescreen</PresentationFormat>
  <Paragraphs>325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Wingdings</vt:lpstr>
      <vt:lpstr>Office Theme</vt:lpstr>
      <vt:lpstr>Paul Update</vt:lpstr>
      <vt:lpstr>Overview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RSM/RDMs</vt:lpstr>
      <vt:lpstr>Connectivity: Activity x IRAF</vt:lpstr>
      <vt:lpstr>Results</vt:lpstr>
      <vt:lpstr>Result 1A/1B: Scene representation</vt:lpstr>
      <vt:lpstr>Result 1C/1D: Object representation</vt:lpstr>
      <vt:lpstr>Result 2A/2B/2C: Schema-object integration</vt:lpstr>
      <vt:lpstr>Interpretation</vt:lpstr>
      <vt:lpstr>Result 3: Difference RSA x connectivity</vt:lpstr>
      <vt:lpstr>Result 4: Retrieval data</vt:lpstr>
      <vt:lpstr>Supplemental</vt:lpstr>
      <vt:lpstr>PowerPoint Presentation</vt:lpstr>
      <vt:lpstr>Scene representation</vt:lpstr>
      <vt:lpstr>RSA based on connectivity</vt:lpstr>
      <vt:lpstr>Addition &amp; Product RSA</vt:lpstr>
      <vt:lpstr>TODO</vt:lpstr>
      <vt:lpstr>Things that didn’t work</vt:lpstr>
      <vt:lpstr>RSA single-trial connectivity</vt:lpstr>
      <vt:lpstr>RSA connectivity as triple correlation</vt:lpstr>
      <vt:lpstr>RSA Connectivity</vt:lpstr>
      <vt:lpstr>Overview: How do multiple brain regions work together to represent stimuli?</vt:lpstr>
      <vt:lpstr>IRAF x IRAF connectivity</vt:lpstr>
      <vt:lpstr>One area modulating IRAF in another region</vt:lpstr>
      <vt:lpstr>RSA network</vt:lpstr>
      <vt:lpstr>Leftover slides</vt:lpstr>
      <vt:lpstr>Brief exploration</vt:lpstr>
      <vt:lpstr>PowerPoint Presentation</vt:lpstr>
      <vt:lpstr>Investigating difference vector</vt:lpstr>
      <vt:lpstr>Stimulus representations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29</cp:revision>
  <dcterms:created xsi:type="dcterms:W3CDTF">2023-09-14T13:36:35Z</dcterms:created>
  <dcterms:modified xsi:type="dcterms:W3CDTF">2023-09-24T20:31:31Z</dcterms:modified>
</cp:coreProperties>
</file>