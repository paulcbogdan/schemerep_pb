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4" r:id="rId3"/>
    <p:sldId id="263" r:id="rId4"/>
    <p:sldId id="280" r:id="rId5"/>
    <p:sldId id="273" r:id="rId6"/>
    <p:sldId id="266" r:id="rId7"/>
    <p:sldId id="274" r:id="rId8"/>
    <p:sldId id="267" r:id="rId9"/>
    <p:sldId id="268" r:id="rId10"/>
    <p:sldId id="271" r:id="rId11"/>
    <p:sldId id="275" r:id="rId12"/>
    <p:sldId id="276" r:id="rId13"/>
    <p:sldId id="277" r:id="rId14"/>
    <p:sldId id="281" r:id="rId15"/>
    <p:sldId id="287" r:id="rId16"/>
    <p:sldId id="279" r:id="rId17"/>
    <p:sldId id="278" r:id="rId18"/>
    <p:sldId id="284" r:id="rId19"/>
    <p:sldId id="289" r:id="rId20"/>
    <p:sldId id="286" r:id="rId21"/>
    <p:sldId id="288" r:id="rId22"/>
    <p:sldId id="282" r:id="rId23"/>
    <p:sldId id="265" r:id="rId24"/>
    <p:sldId id="269" r:id="rId25"/>
    <p:sldId id="257" r:id="rId26"/>
    <p:sldId id="258" r:id="rId27"/>
    <p:sldId id="261" r:id="rId28"/>
    <p:sldId id="260" r:id="rId29"/>
    <p:sldId id="262" r:id="rId30"/>
    <p:sldId id="270" r:id="rId31"/>
    <p:sldId id="272" r:id="rId32"/>
    <p:sldId id="25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A6A6"/>
    <a:srgbClr val="D2E935"/>
    <a:srgbClr val="FE962B"/>
    <a:srgbClr val="D83706"/>
    <a:srgbClr val="FDA631"/>
    <a:srgbClr val="452A4F"/>
    <a:srgbClr val="3E9BFE"/>
    <a:srgbClr val="E4D732"/>
    <a:srgbClr val="DCFB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9" autoAdjust="0"/>
    <p:restoredTop sz="88652" autoAdjust="0"/>
  </p:normalViewPr>
  <p:slideViewPr>
    <p:cSldViewPr snapToGrid="0">
      <p:cViewPr varScale="1">
        <p:scale>
          <a:sx n="60" d="100"/>
          <a:sy n="60" d="100"/>
        </p:scale>
        <p:origin x="72" y="6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9/23/2023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by an additional analysis that organized the ROIs by region (e.g., the 14 SFG ROIs are under the region “SFG”), and performed RSA with respect to the mean activity within a given region (i.e., treating a whole region as a single voxel). Replicates the difference PFC results.</a:t>
            </a:r>
          </a:p>
        </p:txBody>
      </p:sp>
      <p:sp>
        <p:nvSpPr>
          <p:cNvPr id="4" name="Slide Number Placeholder 3"/>
          <p:cNvSpPr>
            <a:spLocks noGrp="1"/>
          </p:cNvSpPr>
          <p:nvPr>
            <p:ph type="sldNum" sz="quarter" idx="5"/>
          </p:nvPr>
        </p:nvSpPr>
        <p:spPr/>
        <p:txBody>
          <a:bodyPr/>
          <a:lstStyle/>
          <a:p>
            <a:fld id="{92E3E675-13CA-4196-84E5-E684757DD2A6}" type="slidenum">
              <a:rPr lang="en-US" smtClean="0"/>
              <a:t>9</a:t>
            </a:fld>
            <a:endParaRPr lang="en-US"/>
          </a:p>
        </p:txBody>
      </p:sp>
    </p:spTree>
    <p:extLst>
      <p:ext uri="{BB962C8B-B14F-4D97-AF65-F5344CB8AC3E}">
        <p14:creationId xmlns:p14="http://schemas.microsoft.com/office/powerpoint/2010/main" val="36033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17</a:t>
            </a:fld>
            <a:endParaRPr lang="en-US"/>
          </a:p>
        </p:txBody>
      </p:sp>
    </p:spTree>
    <p:extLst>
      <p:ext uri="{BB962C8B-B14F-4D97-AF65-F5344CB8AC3E}">
        <p14:creationId xmlns:p14="http://schemas.microsoft.com/office/powerpoint/2010/main" val="502563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meaningful perceptual product results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920109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9/23/2023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9/23/2023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9/23/2023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9/18/2023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A4B5-A432-541F-65E4-23FD5294701D}"/>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7DAC6084-ED24-0F80-EB4D-A00B47A1B11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397474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02D1-35A2-0961-5D36-E0E9AA71EAD1}"/>
              </a:ext>
            </a:extLst>
          </p:cNvPr>
          <p:cNvSpPr>
            <a:spLocks noGrp="1"/>
          </p:cNvSpPr>
          <p:nvPr>
            <p:ph type="title"/>
          </p:nvPr>
        </p:nvSpPr>
        <p:spPr>
          <a:xfrm>
            <a:off x="838200" y="156119"/>
            <a:ext cx="10515600" cy="1325563"/>
          </a:xfrm>
        </p:spPr>
        <p:txBody>
          <a:bodyPr/>
          <a:lstStyle/>
          <a:p>
            <a:r>
              <a:rPr lang="en-US" dirty="0"/>
              <a:t>Data</a:t>
            </a:r>
          </a:p>
        </p:txBody>
      </p:sp>
      <p:sp>
        <p:nvSpPr>
          <p:cNvPr id="3" name="Content Placeholder 2">
            <a:extLst>
              <a:ext uri="{FF2B5EF4-FFF2-40B4-BE49-F238E27FC236}">
                <a16:creationId xmlns:a16="http://schemas.microsoft.com/office/drawing/2014/main" id="{6B79C058-A51C-1556-7D96-EBE2AAA3642E}"/>
              </a:ext>
            </a:extLst>
          </p:cNvPr>
          <p:cNvSpPr>
            <a:spLocks noGrp="1"/>
          </p:cNvSpPr>
          <p:nvPr>
            <p:ph idx="1"/>
          </p:nvPr>
        </p:nvSpPr>
        <p:spPr>
          <a:xfrm>
            <a:off x="838200" y="1364816"/>
            <a:ext cx="4991100" cy="5032375"/>
          </a:xfrm>
        </p:spPr>
        <p:txBody>
          <a:bodyPr>
            <a:normAutofit fontScale="85000" lnSpcReduction="20000"/>
          </a:bodyPr>
          <a:lstStyle/>
          <a:p>
            <a:r>
              <a:rPr lang="en-US" dirty="0"/>
              <a:t>I looked at the encoding data for </a:t>
            </a:r>
            <a:r>
              <a:rPr lang="en-US" dirty="0" err="1"/>
              <a:t>SchemeRep</a:t>
            </a:r>
            <a:endParaRPr lang="en-US" dirty="0"/>
          </a:p>
          <a:p>
            <a:pPr lvl="1"/>
            <a:r>
              <a:rPr lang="en-US" dirty="0"/>
              <a:t>Single trial betas linked to object presentation</a:t>
            </a:r>
          </a:p>
          <a:p>
            <a:r>
              <a:rPr lang="en-US" dirty="0"/>
              <a:t>Didn’t yet incorporate memory data</a:t>
            </a:r>
          </a:p>
          <a:p>
            <a:r>
              <a:rPr lang="en-US" dirty="0"/>
              <a:t>I learned about how to run Word2Vec + DNNs because </a:t>
            </a:r>
            <a:r>
              <a:rPr lang="en-US" dirty="0" err="1"/>
              <a:t>Lifu</a:t>
            </a:r>
            <a:r>
              <a:rPr lang="en-US" dirty="0"/>
              <a:t> didn’t yet try applying these to the scene images</a:t>
            </a:r>
          </a:p>
          <a:p>
            <a:pPr lvl="1"/>
            <a:r>
              <a:rPr lang="en-US" dirty="0"/>
              <a:t>However, I didn’t do the word2vec properly, so I don’t provide results on that</a:t>
            </a:r>
          </a:p>
          <a:p>
            <a:r>
              <a:rPr lang="en-US" dirty="0"/>
              <a:t>Analysis done with the </a:t>
            </a:r>
            <a:r>
              <a:rPr lang="en-US" dirty="0" err="1"/>
              <a:t>Brainnetome</a:t>
            </a:r>
            <a:r>
              <a:rPr lang="en-US" dirty="0"/>
              <a:t> (BN) atlas</a:t>
            </a:r>
          </a:p>
          <a:p>
            <a:pPr lvl="1"/>
            <a:r>
              <a:rPr lang="en-US" dirty="0"/>
              <a:t>Consistent with </a:t>
            </a:r>
            <a:r>
              <a:rPr lang="en-US" dirty="0" err="1"/>
              <a:t>Lifu</a:t>
            </a:r>
            <a:r>
              <a:rPr lang="en-US" dirty="0"/>
              <a:t> and Shenyang</a:t>
            </a:r>
          </a:p>
        </p:txBody>
      </p:sp>
      <p:pic>
        <p:nvPicPr>
          <p:cNvPr id="5" name="Picture 4">
            <a:extLst>
              <a:ext uri="{FF2B5EF4-FFF2-40B4-BE49-F238E27FC236}">
                <a16:creationId xmlns:a16="http://schemas.microsoft.com/office/drawing/2014/main" id="{DB52B615-26EA-1DBA-FEFA-63AADAC28403}"/>
              </a:ext>
            </a:extLst>
          </p:cNvPr>
          <p:cNvPicPr>
            <a:picLocks noChangeAspect="1"/>
          </p:cNvPicPr>
          <p:nvPr/>
        </p:nvPicPr>
        <p:blipFill>
          <a:blip r:embed="rId2"/>
          <a:stretch>
            <a:fillRect/>
          </a:stretch>
        </p:blipFill>
        <p:spPr>
          <a:xfrm>
            <a:off x="6096000" y="1763585"/>
            <a:ext cx="5929487" cy="3834245"/>
          </a:xfrm>
          <a:prstGeom prst="rect">
            <a:avLst/>
          </a:prstGeom>
        </p:spPr>
      </p:pic>
    </p:spTree>
    <p:extLst>
      <p:ext uri="{BB962C8B-B14F-4D97-AF65-F5344CB8AC3E}">
        <p14:creationId xmlns:p14="http://schemas.microsoft.com/office/powerpoint/2010/main" val="93052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288F-3618-88F3-339F-3554A9A6BD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E8E55C-1B9D-9B47-EDE2-4C945C7A47B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F531BC8-BAB9-F6A9-85AB-86C38A9B4BE8}"/>
              </a:ext>
            </a:extLst>
          </p:cNvPr>
          <p:cNvPicPr>
            <a:picLocks noChangeAspect="1"/>
          </p:cNvPicPr>
          <p:nvPr/>
        </p:nvPicPr>
        <p:blipFill>
          <a:blip r:embed="rId2"/>
          <a:stretch>
            <a:fillRect/>
          </a:stretch>
        </p:blipFill>
        <p:spPr>
          <a:xfrm>
            <a:off x="5759723" y="235220"/>
            <a:ext cx="6432277" cy="6486255"/>
          </a:xfrm>
          <a:prstGeom prst="rect">
            <a:avLst/>
          </a:prstGeom>
        </p:spPr>
      </p:pic>
    </p:spTree>
    <p:extLst>
      <p:ext uri="{BB962C8B-B14F-4D97-AF65-F5344CB8AC3E}">
        <p14:creationId xmlns:p14="http://schemas.microsoft.com/office/powerpoint/2010/main" val="30068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18364"/>
            <a:ext cx="10515600" cy="876313"/>
          </a:xfrm>
        </p:spPr>
        <p:txBody>
          <a:bodyPr/>
          <a:lstStyle/>
          <a:p>
            <a:r>
              <a:rPr lang="en-US" dirty="0"/>
              <a:t>Stimulus representations</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209550" y="855904"/>
            <a:ext cx="6456645" cy="5899373"/>
          </a:xfrm>
        </p:spPr>
        <p:txBody>
          <a:bodyPr>
            <a:normAutofit fontScale="92500" lnSpcReduction="20000"/>
          </a:bodyPr>
          <a:lstStyle/>
          <a:p>
            <a:r>
              <a:rPr lang="en-US" dirty="0"/>
              <a:t>Cognitive meaning of the difference vector:</a:t>
            </a:r>
          </a:p>
          <a:p>
            <a:pPr lvl="1"/>
            <a:r>
              <a:rPr lang="en-US" dirty="0"/>
              <a:t>Priming: </a:t>
            </a:r>
          </a:p>
          <a:p>
            <a:pPr lvl="2"/>
            <a:r>
              <a:rPr lang="en-US" dirty="0"/>
              <a:t>Scenes prime some representations, which will show weaker/stronger responses if activated again by the object</a:t>
            </a:r>
          </a:p>
          <a:p>
            <a:pPr lvl="1"/>
            <a:r>
              <a:rPr lang="en-US" dirty="0"/>
              <a:t>Relational memory:</a:t>
            </a:r>
          </a:p>
          <a:p>
            <a:pPr lvl="2"/>
            <a:r>
              <a:rPr lang="en-US" dirty="0"/>
              <a:t>Broadly: The informational content of items influences how an association is encoded</a:t>
            </a:r>
          </a:p>
          <a:p>
            <a:pPr lvl="2"/>
            <a:r>
              <a:rPr lang="en-US" dirty="0"/>
              <a:t>Specifically: Associative memories do not just blindly connect item representations. Rather, associations should be seen as representations that encode the relationship between the items</a:t>
            </a:r>
          </a:p>
          <a:p>
            <a:pPr lvl="1"/>
            <a:r>
              <a:rPr lang="en-US" dirty="0"/>
              <a:t>Prediction error: </a:t>
            </a:r>
          </a:p>
          <a:p>
            <a:pPr lvl="2"/>
            <a:r>
              <a:rPr lang="en-US" dirty="0"/>
              <a:t>Scenes establish an expectation (a “prediction”) that may be violated</a:t>
            </a:r>
          </a:p>
          <a:p>
            <a:pPr lvl="2"/>
            <a:r>
              <a:rPr lang="en-US" dirty="0"/>
              <a:t>Predictive coding theory argues that all information is processed as prediction errors</a:t>
            </a:r>
          </a:p>
          <a:p>
            <a:pPr lvl="1"/>
            <a:r>
              <a:rPr lang="en-US" dirty="0"/>
              <a:t>Unclear meaning yet informative</a:t>
            </a:r>
          </a:p>
          <a:p>
            <a:pPr lvl="2"/>
            <a:r>
              <a:rPr lang="en-US" dirty="0"/>
              <a:t>There is no clear psychological meaning of a “difference vector”. Nonetheless, because the measure combines object and scene information, findings must reflect some type of interaction between representations</a:t>
            </a:r>
          </a:p>
        </p:txBody>
      </p:sp>
      <p:pic>
        <p:nvPicPr>
          <p:cNvPr id="4" name="Picture 3">
            <a:extLst>
              <a:ext uri="{FF2B5EF4-FFF2-40B4-BE49-F238E27FC236}">
                <a16:creationId xmlns:a16="http://schemas.microsoft.com/office/drawing/2014/main" id="{3049168C-F2CD-A5A6-41BF-C317088DB086}"/>
              </a:ext>
            </a:extLst>
          </p:cNvPr>
          <p:cNvPicPr>
            <a:picLocks noChangeAspect="1"/>
          </p:cNvPicPr>
          <p:nvPr/>
        </p:nvPicPr>
        <p:blipFill rotWithShape="1">
          <a:blip r:embed="rId2"/>
          <a:srcRect l="26687" t="54667" r="53475" b="14256"/>
          <a:stretch/>
        </p:blipFill>
        <p:spPr>
          <a:xfrm>
            <a:off x="6938616" y="1030876"/>
            <a:ext cx="1176338" cy="1191624"/>
          </a:xfrm>
          <a:prstGeom prst="rect">
            <a:avLst/>
          </a:prstGeom>
        </p:spPr>
      </p:pic>
      <p:pic>
        <p:nvPicPr>
          <p:cNvPr id="5" name="Picture 4">
            <a:extLst>
              <a:ext uri="{FF2B5EF4-FFF2-40B4-BE49-F238E27FC236}">
                <a16:creationId xmlns:a16="http://schemas.microsoft.com/office/drawing/2014/main" id="{2DFCB511-91FB-CF26-1142-F039262BBEB5}"/>
              </a:ext>
            </a:extLst>
          </p:cNvPr>
          <p:cNvPicPr>
            <a:picLocks noChangeAspect="1"/>
          </p:cNvPicPr>
          <p:nvPr/>
        </p:nvPicPr>
        <p:blipFill rotWithShape="1">
          <a:blip r:embed="rId2"/>
          <a:srcRect l="50552" t="54668" r="29609" b="14254"/>
          <a:stretch/>
        </p:blipFill>
        <p:spPr>
          <a:xfrm>
            <a:off x="8690662" y="1030876"/>
            <a:ext cx="1176338" cy="1191624"/>
          </a:xfrm>
          <a:prstGeom prst="rect">
            <a:avLst/>
          </a:prstGeom>
        </p:spPr>
      </p:pic>
      <p:sp>
        <p:nvSpPr>
          <p:cNvPr id="6" name="Rectangle 5">
            <a:extLst>
              <a:ext uri="{FF2B5EF4-FFF2-40B4-BE49-F238E27FC236}">
                <a16:creationId xmlns:a16="http://schemas.microsoft.com/office/drawing/2014/main" id="{5F7C2078-DCA7-B9B3-C174-D7A5D94AA104}"/>
              </a:ext>
            </a:extLst>
          </p:cNvPr>
          <p:cNvSpPr/>
          <p:nvPr/>
        </p:nvSpPr>
        <p:spPr>
          <a:xfrm>
            <a:off x="7444779" y="2333172"/>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1EFDD6-0BFF-9672-8882-CBBD22ED4191}"/>
              </a:ext>
            </a:extLst>
          </p:cNvPr>
          <p:cNvSpPr/>
          <p:nvPr/>
        </p:nvSpPr>
        <p:spPr>
          <a:xfrm>
            <a:off x="7444779" y="2538839"/>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1870F9-A353-2443-E7B7-5BA5B0C76095}"/>
              </a:ext>
            </a:extLst>
          </p:cNvPr>
          <p:cNvSpPr/>
          <p:nvPr/>
        </p:nvSpPr>
        <p:spPr>
          <a:xfrm>
            <a:off x="7444890" y="2744506"/>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A0FF4F-E367-2D21-4C5D-8F0913820890}"/>
              </a:ext>
            </a:extLst>
          </p:cNvPr>
          <p:cNvSpPr/>
          <p:nvPr/>
        </p:nvSpPr>
        <p:spPr>
          <a:xfrm>
            <a:off x="7443690" y="2950173"/>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112E56-16E2-217E-858B-BB5B67C9A253}"/>
              </a:ext>
            </a:extLst>
          </p:cNvPr>
          <p:cNvSpPr/>
          <p:nvPr/>
        </p:nvSpPr>
        <p:spPr>
          <a:xfrm>
            <a:off x="7444051" y="3155840"/>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F959E1-73DA-C99B-710E-D0109BD36B4F}"/>
              </a:ext>
            </a:extLst>
          </p:cNvPr>
          <p:cNvSpPr/>
          <p:nvPr/>
        </p:nvSpPr>
        <p:spPr>
          <a:xfrm>
            <a:off x="7445629" y="3361507"/>
            <a:ext cx="189411" cy="189411"/>
          </a:xfrm>
          <a:prstGeom prst="rect">
            <a:avLst/>
          </a:prstGeom>
          <a:solidFill>
            <a:srgbClr val="A6A6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FF82F9-B65A-84C0-6163-5AD1F8432D52}"/>
              </a:ext>
            </a:extLst>
          </p:cNvPr>
          <p:cNvSpPr/>
          <p:nvPr/>
        </p:nvSpPr>
        <p:spPr>
          <a:xfrm>
            <a:off x="9197379" y="2333172"/>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EC8558-E951-512C-DF4A-B3680DE79094}"/>
              </a:ext>
            </a:extLst>
          </p:cNvPr>
          <p:cNvSpPr/>
          <p:nvPr/>
        </p:nvSpPr>
        <p:spPr>
          <a:xfrm>
            <a:off x="9197379" y="2538839"/>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A5F9D-2D7C-7A55-06B5-FBFD1C921390}"/>
              </a:ext>
            </a:extLst>
          </p:cNvPr>
          <p:cNvSpPr/>
          <p:nvPr/>
        </p:nvSpPr>
        <p:spPr>
          <a:xfrm>
            <a:off x="9197490" y="2744506"/>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CFB69B-D5CC-0859-38FE-A068FB9EE06A}"/>
              </a:ext>
            </a:extLst>
          </p:cNvPr>
          <p:cNvSpPr/>
          <p:nvPr/>
        </p:nvSpPr>
        <p:spPr>
          <a:xfrm>
            <a:off x="9196290" y="2950173"/>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46FE7A-2A9D-BE6D-1F65-1710912C1E19}"/>
              </a:ext>
            </a:extLst>
          </p:cNvPr>
          <p:cNvSpPr/>
          <p:nvPr/>
        </p:nvSpPr>
        <p:spPr>
          <a:xfrm>
            <a:off x="9196651" y="3155840"/>
            <a:ext cx="189411" cy="189411"/>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A86753-EA15-6762-D8F3-E8336F7B7C89}"/>
              </a:ext>
            </a:extLst>
          </p:cNvPr>
          <p:cNvSpPr/>
          <p:nvPr/>
        </p:nvSpPr>
        <p:spPr>
          <a:xfrm>
            <a:off x="9198229" y="336150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8F4B69-202F-9AB7-26AE-DD6AC7A2445B}"/>
              </a:ext>
            </a:extLst>
          </p:cNvPr>
          <p:cNvSpPr/>
          <p:nvPr/>
        </p:nvSpPr>
        <p:spPr>
          <a:xfrm>
            <a:off x="10930929" y="2333172"/>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9E8ABE5-D1D6-BF19-2959-345CA92737ED}"/>
              </a:ext>
            </a:extLst>
          </p:cNvPr>
          <p:cNvSpPr/>
          <p:nvPr/>
        </p:nvSpPr>
        <p:spPr>
          <a:xfrm>
            <a:off x="10930929" y="2538839"/>
            <a:ext cx="189411" cy="189411"/>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1FA26B4-90B3-F263-8479-1EF0FD39EE3E}"/>
              </a:ext>
            </a:extLst>
          </p:cNvPr>
          <p:cNvSpPr/>
          <p:nvPr/>
        </p:nvSpPr>
        <p:spPr>
          <a:xfrm>
            <a:off x="10931040" y="2744506"/>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BF775ED-AADF-76DB-09B8-0013050F777F}"/>
              </a:ext>
            </a:extLst>
          </p:cNvPr>
          <p:cNvSpPr/>
          <p:nvPr/>
        </p:nvSpPr>
        <p:spPr>
          <a:xfrm>
            <a:off x="10929840" y="2950173"/>
            <a:ext cx="189411" cy="189411"/>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064FDE-6490-0529-F195-4BF9BC45D56F}"/>
              </a:ext>
            </a:extLst>
          </p:cNvPr>
          <p:cNvSpPr/>
          <p:nvPr/>
        </p:nvSpPr>
        <p:spPr>
          <a:xfrm>
            <a:off x="10930201" y="3155840"/>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A042064-4BAA-CCBC-219A-EEC672B2DF58}"/>
              </a:ext>
            </a:extLst>
          </p:cNvPr>
          <p:cNvSpPr/>
          <p:nvPr/>
        </p:nvSpPr>
        <p:spPr>
          <a:xfrm>
            <a:off x="10931779" y="3361507"/>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9D073D8-EA5C-C531-8DB7-B472EB104AC9}"/>
              </a:ext>
            </a:extLst>
          </p:cNvPr>
          <p:cNvSpPr txBox="1"/>
          <p:nvPr/>
        </p:nvSpPr>
        <p:spPr>
          <a:xfrm>
            <a:off x="8238909" y="2604214"/>
            <a:ext cx="338554"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EEBEE57B-A293-F3C6-750A-33A542D46620}"/>
              </a:ext>
            </a:extLst>
          </p:cNvPr>
          <p:cNvSpPr txBox="1"/>
          <p:nvPr/>
        </p:nvSpPr>
        <p:spPr>
          <a:xfrm>
            <a:off x="9937452" y="2645589"/>
            <a:ext cx="453970"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9" name="TextBox 28">
            <a:extLst>
              <a:ext uri="{FF2B5EF4-FFF2-40B4-BE49-F238E27FC236}">
                <a16:creationId xmlns:a16="http://schemas.microsoft.com/office/drawing/2014/main" id="{A0596581-EA83-24AF-0A07-D37D3129F7C8}"/>
              </a:ext>
            </a:extLst>
          </p:cNvPr>
          <p:cNvSpPr txBox="1"/>
          <p:nvPr/>
        </p:nvSpPr>
        <p:spPr>
          <a:xfrm>
            <a:off x="9693164" y="3214353"/>
            <a:ext cx="966867"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absolute</a:t>
            </a:r>
          </a:p>
          <a:p>
            <a:pPr algn="ctr"/>
            <a:r>
              <a:rPr lang="en-US" sz="1400" dirty="0">
                <a:latin typeface="Arial" panose="020B0604020202020204" pitchFamily="34" charset="0"/>
                <a:cs typeface="Arial" panose="020B0604020202020204" pitchFamily="34" charset="0"/>
              </a:rPr>
              <a:t>difference</a:t>
            </a:r>
          </a:p>
        </p:txBody>
      </p:sp>
      <p:pic>
        <p:nvPicPr>
          <p:cNvPr id="1026" name="Picture 2" descr="Squiggly line doodle | Line doodles, Elements of art, Pattern drawing">
            <a:extLst>
              <a:ext uri="{FF2B5EF4-FFF2-40B4-BE49-F238E27FC236}">
                <a16:creationId xmlns:a16="http://schemas.microsoft.com/office/drawing/2014/main" id="{C057F522-E979-18AA-9CBC-2BD88DB512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0640369" y="1075542"/>
            <a:ext cx="768350" cy="1077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003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B6C1E-9FD2-4A94-1703-8C3CA284CF67}"/>
              </a:ext>
            </a:extLst>
          </p:cNvPr>
          <p:cNvSpPr>
            <a:spLocks noGrp="1"/>
          </p:cNvSpPr>
          <p:nvPr>
            <p:ph type="title"/>
          </p:nvPr>
        </p:nvSpPr>
        <p:spPr>
          <a:xfrm>
            <a:off x="838200" y="190954"/>
            <a:ext cx="10515600" cy="1325563"/>
          </a:xfrm>
        </p:spPr>
        <p:txBody>
          <a:bodyPr/>
          <a:lstStyle/>
          <a:p>
            <a:r>
              <a:rPr lang="en-US" dirty="0"/>
              <a:t>Object RSA</a:t>
            </a:r>
          </a:p>
        </p:txBody>
      </p:sp>
      <p:sp>
        <p:nvSpPr>
          <p:cNvPr id="3" name="Content Placeholder 2">
            <a:extLst>
              <a:ext uri="{FF2B5EF4-FFF2-40B4-BE49-F238E27FC236}">
                <a16:creationId xmlns:a16="http://schemas.microsoft.com/office/drawing/2014/main" id="{ED898757-EB06-6FA7-0145-4EC9380199BB}"/>
              </a:ext>
            </a:extLst>
          </p:cNvPr>
          <p:cNvSpPr>
            <a:spLocks noGrp="1"/>
          </p:cNvSpPr>
          <p:nvPr>
            <p:ph idx="1"/>
          </p:nvPr>
        </p:nvSpPr>
        <p:spPr>
          <a:xfrm>
            <a:off x="838200" y="1468396"/>
            <a:ext cx="10515600" cy="1102137"/>
          </a:xfrm>
        </p:spPr>
        <p:txBody>
          <a:bodyPr>
            <a:normAutofit fontScale="77500" lnSpcReduction="20000"/>
          </a:bodyPr>
          <a:lstStyle/>
          <a:p>
            <a:r>
              <a:rPr lang="en-US" dirty="0"/>
              <a:t>Clear occipital patterns for YA</a:t>
            </a:r>
          </a:p>
          <a:p>
            <a:r>
              <a:rPr lang="en-US" dirty="0"/>
              <a:t>As expected, OA show less although this is still more than I figured would arise</a:t>
            </a:r>
          </a:p>
          <a:p>
            <a:r>
              <a:rPr lang="en-US" dirty="0"/>
              <a:t>Appears if looking at hits or misses but more so hits</a:t>
            </a:r>
          </a:p>
        </p:txBody>
      </p:sp>
      <p:pic>
        <p:nvPicPr>
          <p:cNvPr id="5" name="Picture 4">
            <a:extLst>
              <a:ext uri="{FF2B5EF4-FFF2-40B4-BE49-F238E27FC236}">
                <a16:creationId xmlns:a16="http://schemas.microsoft.com/office/drawing/2014/main" id="{75392F0B-48CA-1479-D925-8A97A802C8A9}"/>
              </a:ext>
            </a:extLst>
          </p:cNvPr>
          <p:cNvPicPr>
            <a:picLocks noChangeAspect="1"/>
          </p:cNvPicPr>
          <p:nvPr/>
        </p:nvPicPr>
        <p:blipFill>
          <a:blip r:embed="rId2"/>
          <a:stretch>
            <a:fillRect/>
          </a:stretch>
        </p:blipFill>
        <p:spPr>
          <a:xfrm>
            <a:off x="1994470" y="2533949"/>
            <a:ext cx="5457632" cy="4093224"/>
          </a:xfrm>
          <a:prstGeom prst="rect">
            <a:avLst/>
          </a:prstGeom>
        </p:spPr>
      </p:pic>
      <p:pic>
        <p:nvPicPr>
          <p:cNvPr id="7" name="Picture 6">
            <a:extLst>
              <a:ext uri="{FF2B5EF4-FFF2-40B4-BE49-F238E27FC236}">
                <a16:creationId xmlns:a16="http://schemas.microsoft.com/office/drawing/2014/main" id="{CC1A1A89-B396-3CED-6F79-EAEDCC00BEA4}"/>
              </a:ext>
            </a:extLst>
          </p:cNvPr>
          <p:cNvPicPr>
            <a:picLocks noChangeAspect="1"/>
          </p:cNvPicPr>
          <p:nvPr/>
        </p:nvPicPr>
        <p:blipFill rotWithShape="1">
          <a:blip r:embed="rId3"/>
          <a:srcRect r="6055"/>
          <a:stretch/>
        </p:blipFill>
        <p:spPr>
          <a:xfrm>
            <a:off x="6987368" y="2570534"/>
            <a:ext cx="5131288" cy="4096512"/>
          </a:xfrm>
          <a:prstGeom prst="rect">
            <a:avLst/>
          </a:prstGeom>
        </p:spPr>
      </p:pic>
      <p:sp>
        <p:nvSpPr>
          <p:cNvPr id="8" name="Oval 7">
            <a:extLst>
              <a:ext uri="{FF2B5EF4-FFF2-40B4-BE49-F238E27FC236}">
                <a16:creationId xmlns:a16="http://schemas.microsoft.com/office/drawing/2014/main" id="{5DD41811-E70A-C805-714A-77DD4DB3578C}"/>
              </a:ext>
            </a:extLst>
          </p:cNvPr>
          <p:cNvSpPr/>
          <p:nvPr/>
        </p:nvSpPr>
        <p:spPr>
          <a:xfrm>
            <a:off x="5370468" y="3036342"/>
            <a:ext cx="1165414" cy="1001105"/>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5C71393-F647-D328-7E26-C8AC3B116E1A}"/>
              </a:ext>
            </a:extLst>
          </p:cNvPr>
          <p:cNvSpPr txBox="1"/>
          <p:nvPr/>
        </p:nvSpPr>
        <p:spPr>
          <a:xfrm>
            <a:off x="187059" y="3429000"/>
            <a:ext cx="1807411" cy="1815882"/>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Dashed line = FDR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correction cutoff for 246 ROIs (overly conservative because it doesn’t account for the ROIs not being independent)</a:t>
            </a:r>
          </a:p>
        </p:txBody>
      </p:sp>
    </p:spTree>
    <p:extLst>
      <p:ext uri="{BB962C8B-B14F-4D97-AF65-F5344CB8AC3E}">
        <p14:creationId xmlns:p14="http://schemas.microsoft.com/office/powerpoint/2010/main" val="432234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D5F5F-EAAA-A0CD-D198-B44597B8A268}"/>
              </a:ext>
            </a:extLst>
          </p:cNvPr>
          <p:cNvSpPr>
            <a:spLocks noGrp="1"/>
          </p:cNvSpPr>
          <p:nvPr>
            <p:ph type="title"/>
          </p:nvPr>
        </p:nvSpPr>
        <p:spPr/>
        <p:txBody>
          <a:bodyPr/>
          <a:lstStyle/>
          <a:p>
            <a:r>
              <a:rPr lang="en-US" dirty="0"/>
              <a:t>Object RSA with word2vec</a:t>
            </a:r>
          </a:p>
        </p:txBody>
      </p:sp>
      <p:sp>
        <p:nvSpPr>
          <p:cNvPr id="3" name="Content Placeholder 2">
            <a:extLst>
              <a:ext uri="{FF2B5EF4-FFF2-40B4-BE49-F238E27FC236}">
                <a16:creationId xmlns:a16="http://schemas.microsoft.com/office/drawing/2014/main" id="{8AB9F29A-71F1-DB35-1861-762AB6B1B01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F67B5CD-7594-2BF9-1789-400966EE3ECB}"/>
              </a:ext>
            </a:extLst>
          </p:cNvPr>
          <p:cNvPicPr>
            <a:picLocks noChangeAspect="1"/>
          </p:cNvPicPr>
          <p:nvPr/>
        </p:nvPicPr>
        <p:blipFill>
          <a:blip r:embed="rId2"/>
          <a:stretch>
            <a:fillRect/>
          </a:stretch>
        </p:blipFill>
        <p:spPr>
          <a:xfrm>
            <a:off x="5948856" y="1715294"/>
            <a:ext cx="6096000" cy="4572000"/>
          </a:xfrm>
          <a:prstGeom prst="rect">
            <a:avLst/>
          </a:prstGeom>
        </p:spPr>
      </p:pic>
    </p:spTree>
    <p:extLst>
      <p:ext uri="{BB962C8B-B14F-4D97-AF65-F5344CB8AC3E}">
        <p14:creationId xmlns:p14="http://schemas.microsoft.com/office/powerpoint/2010/main" val="1812673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1414C-3336-2CA0-5C64-A9729738DE14}"/>
              </a:ext>
            </a:extLst>
          </p:cNvPr>
          <p:cNvSpPr>
            <a:spLocks noGrp="1"/>
          </p:cNvSpPr>
          <p:nvPr>
            <p:ph type="title"/>
          </p:nvPr>
        </p:nvSpPr>
        <p:spPr/>
        <p:txBody>
          <a:bodyPr/>
          <a:lstStyle/>
          <a:p>
            <a:r>
              <a:rPr lang="en-US" dirty="0"/>
              <a:t>Scene RSA</a:t>
            </a:r>
          </a:p>
        </p:txBody>
      </p:sp>
      <p:sp>
        <p:nvSpPr>
          <p:cNvPr id="3" name="Content Placeholder 2">
            <a:extLst>
              <a:ext uri="{FF2B5EF4-FFF2-40B4-BE49-F238E27FC236}">
                <a16:creationId xmlns:a16="http://schemas.microsoft.com/office/drawing/2014/main" id="{71D553BB-2C56-0DD2-3453-F83F97E3DB56}"/>
              </a:ext>
            </a:extLst>
          </p:cNvPr>
          <p:cNvSpPr>
            <a:spLocks noGrp="1"/>
          </p:cNvSpPr>
          <p:nvPr>
            <p:ph idx="1"/>
          </p:nvPr>
        </p:nvSpPr>
        <p:spPr>
          <a:xfrm>
            <a:off x="838200" y="1825625"/>
            <a:ext cx="5475514" cy="4794250"/>
          </a:xfrm>
        </p:spPr>
        <p:txBody>
          <a:bodyPr/>
          <a:lstStyle/>
          <a:p>
            <a:r>
              <a:rPr lang="en-US" dirty="0"/>
              <a:t>Decoding scene from the parahippocampal gyrus may be interesting</a:t>
            </a:r>
          </a:p>
          <a:p>
            <a:pPr lvl="1"/>
            <a:r>
              <a:rPr lang="en-US" dirty="0"/>
              <a:t>YA only, no OA patterns</a:t>
            </a:r>
          </a:p>
          <a:p>
            <a:r>
              <a:rPr lang="en-US" dirty="0"/>
              <a:t>Future direction:</a:t>
            </a:r>
          </a:p>
          <a:p>
            <a:pPr lvl="1"/>
            <a:r>
              <a:rPr lang="en-US" dirty="0"/>
              <a:t>Look into the exact anatomy of the PHG ROI to see whether it corresponds to the PPA</a:t>
            </a:r>
          </a:p>
          <a:p>
            <a:pPr lvl="1"/>
            <a:r>
              <a:rPr lang="en-US" dirty="0"/>
              <a:t>Use larger ROIs to test the robustness of this pattern</a:t>
            </a:r>
          </a:p>
          <a:p>
            <a:pPr lvl="1"/>
            <a:r>
              <a:rPr lang="en-US" dirty="0"/>
              <a:t>Use single trial betas from scene presentation</a:t>
            </a:r>
          </a:p>
        </p:txBody>
      </p:sp>
      <p:pic>
        <p:nvPicPr>
          <p:cNvPr id="5" name="Picture 4">
            <a:extLst>
              <a:ext uri="{FF2B5EF4-FFF2-40B4-BE49-F238E27FC236}">
                <a16:creationId xmlns:a16="http://schemas.microsoft.com/office/drawing/2014/main" id="{FEE75A60-2E2E-D5A6-4B7A-E9A95DDD5BF8}"/>
              </a:ext>
            </a:extLst>
          </p:cNvPr>
          <p:cNvPicPr>
            <a:picLocks noChangeAspect="1"/>
          </p:cNvPicPr>
          <p:nvPr/>
        </p:nvPicPr>
        <p:blipFill>
          <a:blip r:embed="rId2"/>
          <a:stretch>
            <a:fillRect/>
          </a:stretch>
        </p:blipFill>
        <p:spPr>
          <a:xfrm>
            <a:off x="6096000" y="1825625"/>
            <a:ext cx="6096000" cy="4572000"/>
          </a:xfrm>
          <a:prstGeom prst="rect">
            <a:avLst/>
          </a:prstGeom>
        </p:spPr>
      </p:pic>
      <p:sp>
        <p:nvSpPr>
          <p:cNvPr id="6" name="Oval 5">
            <a:extLst>
              <a:ext uri="{FF2B5EF4-FFF2-40B4-BE49-F238E27FC236}">
                <a16:creationId xmlns:a16="http://schemas.microsoft.com/office/drawing/2014/main" id="{BB1FDDC8-9B54-3664-5A46-86852BB3D486}"/>
              </a:ext>
            </a:extLst>
          </p:cNvPr>
          <p:cNvSpPr/>
          <p:nvPr/>
        </p:nvSpPr>
        <p:spPr>
          <a:xfrm>
            <a:off x="8882596" y="2636521"/>
            <a:ext cx="363682" cy="36368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518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8482-BDB4-F1BE-6C74-AFCE70CC922D}"/>
              </a:ext>
            </a:extLst>
          </p:cNvPr>
          <p:cNvSpPr>
            <a:spLocks noGrp="1"/>
          </p:cNvSpPr>
          <p:nvPr>
            <p:ph type="title"/>
          </p:nvPr>
        </p:nvSpPr>
        <p:spPr>
          <a:xfrm>
            <a:off x="838200" y="18255"/>
            <a:ext cx="10515600" cy="1325563"/>
          </a:xfrm>
        </p:spPr>
        <p:txBody>
          <a:bodyPr/>
          <a:lstStyle/>
          <a:p>
            <a:r>
              <a:rPr lang="en-US" dirty="0"/>
              <a:t>Difference RSA</a:t>
            </a:r>
          </a:p>
        </p:txBody>
      </p:sp>
      <p:sp>
        <p:nvSpPr>
          <p:cNvPr id="3" name="Content Placeholder 2">
            <a:extLst>
              <a:ext uri="{FF2B5EF4-FFF2-40B4-BE49-F238E27FC236}">
                <a16:creationId xmlns:a16="http://schemas.microsoft.com/office/drawing/2014/main" id="{C5175022-E163-8959-64FB-42EC9C0E2940}"/>
              </a:ext>
            </a:extLst>
          </p:cNvPr>
          <p:cNvSpPr>
            <a:spLocks noGrp="1"/>
          </p:cNvSpPr>
          <p:nvPr>
            <p:ph idx="1"/>
          </p:nvPr>
        </p:nvSpPr>
        <p:spPr>
          <a:xfrm>
            <a:off x="660059" y="1191779"/>
            <a:ext cx="5375564" cy="5209020"/>
          </a:xfrm>
        </p:spPr>
        <p:txBody>
          <a:bodyPr>
            <a:normAutofit fontScale="85000" lnSpcReduction="20000"/>
          </a:bodyPr>
          <a:lstStyle/>
          <a:p>
            <a:r>
              <a:rPr lang="en-US" dirty="0"/>
              <a:t>Interestingly, a clear difference effect is seen in the PFC</a:t>
            </a:r>
          </a:p>
          <a:p>
            <a:pPr lvl="1"/>
            <a:r>
              <a:rPr lang="en-US" dirty="0"/>
              <a:t>SFG, MFG, IFG</a:t>
            </a:r>
          </a:p>
          <a:p>
            <a:pPr lvl="1"/>
            <a:r>
              <a:rPr lang="en-US" dirty="0"/>
              <a:t>Absolute difference</a:t>
            </a:r>
          </a:p>
          <a:p>
            <a:r>
              <a:rPr lang="en-US" dirty="0"/>
              <a:t>Striking that for virtually all </a:t>
            </a:r>
            <a:br>
              <a:rPr lang="en-US" dirty="0"/>
            </a:br>
            <a:r>
              <a:rPr lang="en-US" dirty="0"/>
              <a:t>~40 ROIs tested, the 2</a:t>
            </a:r>
            <a:r>
              <a:rPr lang="en-US" baseline="30000" dirty="0"/>
              <a:t>nd</a:t>
            </a:r>
            <a:r>
              <a:rPr lang="en-US" dirty="0"/>
              <a:t> order correlation was above zero</a:t>
            </a:r>
          </a:p>
          <a:p>
            <a:pPr lvl="1"/>
            <a:r>
              <a:rPr lang="en-US" dirty="0"/>
              <a:t>Similar results regardless of whether object decoding effects is regressed out</a:t>
            </a:r>
          </a:p>
          <a:p>
            <a:pPr lvl="1"/>
            <a:r>
              <a:rPr lang="en-US" dirty="0"/>
              <a:t>Specifically linked to memory encoding (results not shown)</a:t>
            </a:r>
          </a:p>
          <a:p>
            <a:pPr lvl="1"/>
            <a:r>
              <a:rPr lang="en-US" dirty="0"/>
              <a:t>OA do not show this effect. We would expect the opposite if they are using semantic knowledge (schema) to process the object</a:t>
            </a:r>
          </a:p>
          <a:p>
            <a:r>
              <a:rPr lang="en-US" dirty="0"/>
              <a:t>Future:</a:t>
            </a:r>
          </a:p>
          <a:p>
            <a:pPr lvl="1"/>
            <a:r>
              <a:rPr lang="en-US" dirty="0"/>
              <a:t>Use larger ROIs to test robustness</a:t>
            </a:r>
          </a:p>
          <a:p>
            <a:pPr lvl="1"/>
            <a:r>
              <a:rPr lang="en-US" dirty="0">
                <a:solidFill>
                  <a:srgbClr val="FF0000"/>
                </a:solidFill>
              </a:rPr>
              <a:t>Investigate Object-Scene-Difference connectivity?</a:t>
            </a:r>
          </a:p>
          <a:p>
            <a:pPr lvl="1"/>
            <a:endParaRPr lang="en-US" dirty="0">
              <a:solidFill>
                <a:srgbClr val="FF0000"/>
              </a:solidFill>
            </a:endParaRPr>
          </a:p>
          <a:p>
            <a:endParaRPr lang="en-US" dirty="0"/>
          </a:p>
        </p:txBody>
      </p:sp>
      <p:pic>
        <p:nvPicPr>
          <p:cNvPr id="5" name="Picture 4">
            <a:extLst>
              <a:ext uri="{FF2B5EF4-FFF2-40B4-BE49-F238E27FC236}">
                <a16:creationId xmlns:a16="http://schemas.microsoft.com/office/drawing/2014/main" id="{ED472C50-27FC-C022-B761-93F315E95604}"/>
              </a:ext>
            </a:extLst>
          </p:cNvPr>
          <p:cNvPicPr>
            <a:picLocks noChangeAspect="1"/>
          </p:cNvPicPr>
          <p:nvPr/>
        </p:nvPicPr>
        <p:blipFill>
          <a:blip r:embed="rId3"/>
          <a:stretch>
            <a:fillRect/>
          </a:stretch>
        </p:blipFill>
        <p:spPr>
          <a:xfrm>
            <a:off x="6035040" y="1604963"/>
            <a:ext cx="6096000" cy="4572000"/>
          </a:xfrm>
          <a:prstGeom prst="rect">
            <a:avLst/>
          </a:prstGeom>
        </p:spPr>
      </p:pic>
      <p:sp>
        <p:nvSpPr>
          <p:cNvPr id="7" name="Oval 6">
            <a:extLst>
              <a:ext uri="{FF2B5EF4-FFF2-40B4-BE49-F238E27FC236}">
                <a16:creationId xmlns:a16="http://schemas.microsoft.com/office/drawing/2014/main" id="{931585C0-C39E-078B-9E59-4B44186E40B1}"/>
              </a:ext>
            </a:extLst>
          </p:cNvPr>
          <p:cNvSpPr/>
          <p:nvPr/>
        </p:nvSpPr>
        <p:spPr>
          <a:xfrm rot="20882407">
            <a:off x="6915318" y="1995391"/>
            <a:ext cx="825978" cy="239072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9450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D71B77B-D84E-8095-660B-B54BED6298E3}"/>
              </a:ext>
            </a:extLst>
          </p:cNvPr>
          <p:cNvPicPr>
            <a:picLocks noChangeAspect="1"/>
          </p:cNvPicPr>
          <p:nvPr/>
        </p:nvPicPr>
        <p:blipFill rotWithShape="1">
          <a:blip r:embed="rId2"/>
          <a:srcRect l="1974" t="14290" r="10954" b="7407"/>
          <a:stretch/>
        </p:blipFill>
        <p:spPr>
          <a:xfrm>
            <a:off x="5553075" y="1345150"/>
            <a:ext cx="5971388" cy="5369976"/>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838200" y="365126"/>
            <a:ext cx="10515600" cy="917856"/>
          </a:xfrm>
        </p:spPr>
        <p:txBody>
          <a:bodyPr/>
          <a:lstStyle/>
          <a:p>
            <a:r>
              <a:rPr lang="en-US" dirty="0"/>
              <a:t>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38200" y="1825625"/>
            <a:ext cx="4410075" cy="4351338"/>
          </a:xfrm>
        </p:spPr>
        <p:txBody>
          <a:bodyPr>
            <a:normAutofit lnSpcReduction="10000"/>
          </a:bodyPr>
          <a:lstStyle/>
          <a:p>
            <a:r>
              <a:rPr lang="en-US" dirty="0"/>
              <a:t>Similar to beta series correlations</a:t>
            </a:r>
          </a:p>
          <a:p>
            <a:pPr lvl="1"/>
            <a:r>
              <a:rPr lang="en-US" dirty="0"/>
              <a:t>Use difference-vector IRAF for one region</a:t>
            </a:r>
          </a:p>
          <a:p>
            <a:r>
              <a:rPr lang="en-US" dirty="0"/>
              <a:t>PFC IRAF linked to stronger occipital connectivity and </a:t>
            </a:r>
            <a:r>
              <a:rPr lang="en-US" dirty="0" err="1"/>
              <a:t>PhG</a:t>
            </a:r>
            <a:r>
              <a:rPr lang="en-US" dirty="0"/>
              <a:t>/</a:t>
            </a:r>
            <a:r>
              <a:rPr lang="en-US" dirty="0" err="1"/>
              <a:t>FuG</a:t>
            </a:r>
            <a:r>
              <a:rPr lang="en-US" dirty="0"/>
              <a:t> connectivity</a:t>
            </a:r>
          </a:p>
          <a:p>
            <a:r>
              <a:rPr lang="en-US" dirty="0"/>
              <a:t>This effect only arises for objects that yield subsequent hit</a:t>
            </a:r>
          </a:p>
        </p:txBody>
      </p:sp>
      <p:sp>
        <p:nvSpPr>
          <p:cNvPr id="6" name="Oval 5">
            <a:extLst>
              <a:ext uri="{FF2B5EF4-FFF2-40B4-BE49-F238E27FC236}">
                <a16:creationId xmlns:a16="http://schemas.microsoft.com/office/drawing/2014/main" id="{321F282F-4487-41A6-34D1-6A14B4EE86FB}"/>
              </a:ext>
            </a:extLst>
          </p:cNvPr>
          <p:cNvSpPr/>
          <p:nvPr/>
        </p:nvSpPr>
        <p:spPr>
          <a:xfrm>
            <a:off x="6231314" y="2426218"/>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5A5C02D-247F-B529-32B9-EBB0D1D7D713}"/>
              </a:ext>
            </a:extLst>
          </p:cNvPr>
          <p:cNvSpPr/>
          <p:nvPr/>
        </p:nvSpPr>
        <p:spPr>
          <a:xfrm>
            <a:off x="6240840" y="4001294"/>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39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AD76F-2194-E7EF-F09F-DAC3023CBA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CA6159-7136-3755-5555-5B32764F04AA}"/>
              </a:ext>
            </a:extLst>
          </p:cNvPr>
          <p:cNvSpPr>
            <a:spLocks noGrp="1"/>
          </p:cNvSpPr>
          <p:nvPr>
            <p:ph idx="1"/>
          </p:nvPr>
        </p:nvSpPr>
        <p:spPr>
          <a:xfrm>
            <a:off x="838200" y="1825625"/>
            <a:ext cx="4797973" cy="4351338"/>
          </a:xfrm>
        </p:spPr>
        <p:txBody>
          <a:bodyPr/>
          <a:lstStyle/>
          <a:p>
            <a:r>
              <a:rPr lang="en-US" dirty="0"/>
              <a:t>The amygdala also shows an interesting pattern</a:t>
            </a:r>
          </a:p>
          <a:p>
            <a:pPr lvl="1"/>
            <a:r>
              <a:rPr lang="en-US" dirty="0"/>
              <a:t>Stronger representation in the </a:t>
            </a:r>
            <a:r>
              <a:rPr lang="en-US" dirty="0" err="1"/>
              <a:t>amgydala</a:t>
            </a:r>
            <a:r>
              <a:rPr lang="en-US" dirty="0"/>
              <a:t> is linked to decreased connectivity with everything else</a:t>
            </a:r>
          </a:p>
          <a:p>
            <a:pPr lvl="1"/>
            <a:r>
              <a:rPr lang="en-US" dirty="0"/>
              <a:t>Beyond the present focus?</a:t>
            </a:r>
          </a:p>
        </p:txBody>
      </p:sp>
      <p:pic>
        <p:nvPicPr>
          <p:cNvPr id="5" name="Picture 4">
            <a:extLst>
              <a:ext uri="{FF2B5EF4-FFF2-40B4-BE49-F238E27FC236}">
                <a16:creationId xmlns:a16="http://schemas.microsoft.com/office/drawing/2014/main" id="{C0F3EED6-B5B6-BDC6-5F62-4563E7EE975D}"/>
              </a:ext>
            </a:extLst>
          </p:cNvPr>
          <p:cNvPicPr>
            <a:picLocks noChangeAspect="1"/>
          </p:cNvPicPr>
          <p:nvPr/>
        </p:nvPicPr>
        <p:blipFill>
          <a:blip r:embed="rId2"/>
          <a:stretch>
            <a:fillRect/>
          </a:stretch>
        </p:blipFill>
        <p:spPr>
          <a:xfrm>
            <a:off x="6555829" y="0"/>
            <a:ext cx="5215759" cy="5215759"/>
          </a:xfrm>
          <a:prstGeom prst="rect">
            <a:avLst/>
          </a:prstGeom>
        </p:spPr>
      </p:pic>
    </p:spTree>
    <p:extLst>
      <p:ext uri="{BB962C8B-B14F-4D97-AF65-F5344CB8AC3E}">
        <p14:creationId xmlns:p14="http://schemas.microsoft.com/office/powerpoint/2010/main" val="3161105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A9933-DCA8-D8A9-7C9B-F2E4F218F8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11EDD6-A2A9-C703-BAF7-908774F416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A8DA34D-C4DA-002B-AD65-555C44572A0F}"/>
              </a:ext>
            </a:extLst>
          </p:cNvPr>
          <p:cNvPicPr>
            <a:picLocks noChangeAspect="1"/>
          </p:cNvPicPr>
          <p:nvPr/>
        </p:nvPicPr>
        <p:blipFill>
          <a:blip r:embed="rId2"/>
          <a:stretch>
            <a:fillRect/>
          </a:stretch>
        </p:blipFill>
        <p:spPr>
          <a:xfrm>
            <a:off x="4611058" y="4001294"/>
            <a:ext cx="7392111" cy="2576151"/>
          </a:xfrm>
          <a:prstGeom prst="rect">
            <a:avLst/>
          </a:prstGeom>
        </p:spPr>
      </p:pic>
      <p:pic>
        <p:nvPicPr>
          <p:cNvPr id="6" name="Picture 5">
            <a:extLst>
              <a:ext uri="{FF2B5EF4-FFF2-40B4-BE49-F238E27FC236}">
                <a16:creationId xmlns:a16="http://schemas.microsoft.com/office/drawing/2014/main" id="{7C769819-F276-068F-0799-EF2B1E6F2567}"/>
              </a:ext>
            </a:extLst>
          </p:cNvPr>
          <p:cNvPicPr>
            <a:picLocks noChangeAspect="1"/>
          </p:cNvPicPr>
          <p:nvPr/>
        </p:nvPicPr>
        <p:blipFill>
          <a:blip r:embed="rId3"/>
          <a:stretch>
            <a:fillRect/>
          </a:stretch>
        </p:blipFill>
        <p:spPr>
          <a:xfrm>
            <a:off x="165182" y="3400569"/>
            <a:ext cx="4445876" cy="3334407"/>
          </a:xfrm>
          <a:prstGeom prst="rect">
            <a:avLst/>
          </a:prstGeom>
        </p:spPr>
      </p:pic>
    </p:spTree>
    <p:extLst>
      <p:ext uri="{BB962C8B-B14F-4D97-AF65-F5344CB8AC3E}">
        <p14:creationId xmlns:p14="http://schemas.microsoft.com/office/powerpoint/2010/main" val="3941828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200" y="0"/>
            <a:ext cx="10515600" cy="1325563"/>
          </a:xfrm>
        </p:spPr>
        <p:txBody>
          <a:bodyPr/>
          <a:lstStyle/>
          <a:p>
            <a:r>
              <a:rPr lang="en-US" dirty="0"/>
              <a:t>Decoding object representation</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7714304" y="1469101"/>
            <a:ext cx="3540162" cy="570156"/>
          </a:xfrm>
        </p:spPr>
        <p:txBody>
          <a:bodyPr/>
          <a:lstStyle/>
          <a:p>
            <a:pPr marL="0" indent="0">
              <a:buNone/>
            </a:pPr>
            <a:r>
              <a:rPr lang="en-US" dirty="0"/>
              <a:t>Semantic decoding</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405563" y="1584090"/>
            <a:ext cx="3540162"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Perceptual decoding</a:t>
            </a:r>
          </a:p>
        </p:txBody>
      </p:sp>
      <p:pic>
        <p:nvPicPr>
          <p:cNvPr id="12" name="Picture 11">
            <a:extLst>
              <a:ext uri="{FF2B5EF4-FFF2-40B4-BE49-F238E27FC236}">
                <a16:creationId xmlns:a16="http://schemas.microsoft.com/office/drawing/2014/main" id="{306F7147-A813-B0A0-BB21-024B6802E298}"/>
              </a:ext>
            </a:extLst>
          </p:cNvPr>
          <p:cNvPicPr>
            <a:picLocks noChangeAspect="1"/>
          </p:cNvPicPr>
          <p:nvPr/>
        </p:nvPicPr>
        <p:blipFill>
          <a:blip r:embed="rId2"/>
          <a:stretch>
            <a:fillRect/>
          </a:stretch>
        </p:blipFill>
        <p:spPr>
          <a:xfrm>
            <a:off x="6096000" y="2039257"/>
            <a:ext cx="6096000" cy="4572000"/>
          </a:xfrm>
          <a:prstGeom prst="rect">
            <a:avLst/>
          </a:prstGeom>
        </p:spPr>
      </p:pic>
      <p:pic>
        <p:nvPicPr>
          <p:cNvPr id="14" name="Picture 13">
            <a:extLst>
              <a:ext uri="{FF2B5EF4-FFF2-40B4-BE49-F238E27FC236}">
                <a16:creationId xmlns:a16="http://schemas.microsoft.com/office/drawing/2014/main" id="{C4826DA4-7364-CDBF-01BB-619F0AA183B2}"/>
              </a:ext>
            </a:extLst>
          </p:cNvPr>
          <p:cNvPicPr>
            <a:picLocks noChangeAspect="1"/>
          </p:cNvPicPr>
          <p:nvPr/>
        </p:nvPicPr>
        <p:blipFill>
          <a:blip r:embed="rId3"/>
          <a:stretch>
            <a:fillRect/>
          </a:stretch>
        </p:blipFill>
        <p:spPr>
          <a:xfrm>
            <a:off x="127644" y="2154246"/>
            <a:ext cx="6096000" cy="4572000"/>
          </a:xfrm>
          <a:prstGeom prst="rect">
            <a:avLst/>
          </a:prstGeom>
        </p:spPr>
      </p:pic>
    </p:spTree>
    <p:extLst>
      <p:ext uri="{BB962C8B-B14F-4D97-AF65-F5344CB8AC3E}">
        <p14:creationId xmlns:p14="http://schemas.microsoft.com/office/powerpoint/2010/main" val="105308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Clean</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972617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E682-0829-416B-60F9-B8CAFCA9BD7F}"/>
              </a:ext>
            </a:extLst>
          </p:cNvPr>
          <p:cNvSpPr>
            <a:spLocks noGrp="1"/>
          </p:cNvSpPr>
          <p:nvPr>
            <p:ph type="title"/>
          </p:nvPr>
        </p:nvSpPr>
        <p:spPr/>
        <p:txBody>
          <a:bodyPr/>
          <a:lstStyle/>
          <a:p>
            <a:r>
              <a:rPr lang="en-US" dirty="0"/>
              <a:t>Link condition to RDM…</a:t>
            </a:r>
          </a:p>
        </p:txBody>
      </p:sp>
      <p:sp>
        <p:nvSpPr>
          <p:cNvPr id="3" name="Content Placeholder 2">
            <a:extLst>
              <a:ext uri="{FF2B5EF4-FFF2-40B4-BE49-F238E27FC236}">
                <a16:creationId xmlns:a16="http://schemas.microsoft.com/office/drawing/2014/main" id="{6B85F758-0ABD-4372-29A8-F2CFC204B75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34817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1A/1B: Object representation</a:t>
            </a:r>
          </a:p>
        </p:txBody>
      </p:sp>
      <p:pic>
        <p:nvPicPr>
          <p:cNvPr id="13" name="Picture 12">
            <a:extLst>
              <a:ext uri="{FF2B5EF4-FFF2-40B4-BE49-F238E27FC236}">
                <a16:creationId xmlns:a16="http://schemas.microsoft.com/office/drawing/2014/main" id="{B91EB1BC-8C96-BBFD-F74D-6F1653BFB1B6}"/>
              </a:ext>
            </a:extLst>
          </p:cNvPr>
          <p:cNvPicPr>
            <a:picLocks noChangeAspect="1"/>
          </p:cNvPicPr>
          <p:nvPr/>
        </p:nvPicPr>
        <p:blipFill>
          <a:blip r:embed="rId2"/>
          <a:stretch>
            <a:fillRect/>
          </a:stretch>
        </p:blipFill>
        <p:spPr>
          <a:xfrm>
            <a:off x="108993" y="1529792"/>
            <a:ext cx="6096000" cy="4572000"/>
          </a:xfrm>
          <a:prstGeom prst="rect">
            <a:avLst/>
          </a:prstGeom>
        </p:spPr>
      </p:pic>
      <p:pic>
        <p:nvPicPr>
          <p:cNvPr id="16" name="Picture 15">
            <a:extLst>
              <a:ext uri="{FF2B5EF4-FFF2-40B4-BE49-F238E27FC236}">
                <a16:creationId xmlns:a16="http://schemas.microsoft.com/office/drawing/2014/main" id="{DF60881F-B58A-F901-363D-1DB1BAE4A572}"/>
              </a:ext>
            </a:extLst>
          </p:cNvPr>
          <p:cNvPicPr>
            <a:picLocks noChangeAspect="1"/>
          </p:cNvPicPr>
          <p:nvPr/>
        </p:nvPicPr>
        <p:blipFill>
          <a:blip r:embed="rId3"/>
          <a:stretch>
            <a:fillRect/>
          </a:stretch>
        </p:blipFill>
        <p:spPr>
          <a:xfrm>
            <a:off x="5987007" y="1529792"/>
            <a:ext cx="6096000" cy="4572000"/>
          </a:xfrm>
          <a:prstGeom prst="rect">
            <a:avLst/>
          </a:prstGeom>
        </p:spPr>
      </p:pic>
      <p:sp>
        <p:nvSpPr>
          <p:cNvPr id="17" name="Content Placeholder 2">
            <a:extLst>
              <a:ext uri="{FF2B5EF4-FFF2-40B4-BE49-F238E27FC236}">
                <a16:creationId xmlns:a16="http://schemas.microsoft.com/office/drawing/2014/main" id="{0C0A3CD8-10F5-F7CD-247C-4982C4FCD6CF}"/>
              </a:ext>
            </a:extLst>
          </p:cNvPr>
          <p:cNvSpPr txBox="1">
            <a:spLocks/>
          </p:cNvSpPr>
          <p:nvPr/>
        </p:nvSpPr>
        <p:spPr>
          <a:xfrm>
            <a:off x="2448910" y="6271600"/>
            <a:ext cx="729417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Reproducing patterns from </a:t>
            </a:r>
            <a:r>
              <a:rPr lang="en-US" sz="2400" dirty="0" err="1"/>
              <a:t>Lifu’s</a:t>
            </a:r>
            <a:r>
              <a:rPr lang="en-US" sz="2400" dirty="0"/>
              <a:t> thesis</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838198" y="1168642"/>
            <a:ext cx="476949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object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83355" y="1187803"/>
            <a:ext cx="4702356" cy="570156"/>
          </a:xfrm>
        </p:spPr>
        <p:txBody>
          <a:bodyPr>
            <a:normAutofit/>
          </a:bodyPr>
          <a:lstStyle/>
          <a:p>
            <a:pPr marL="0" indent="0" algn="ctr">
              <a:buNone/>
            </a:pPr>
            <a:r>
              <a:rPr lang="en-US" dirty="0"/>
              <a:t>Semantic object decoding</a:t>
            </a:r>
          </a:p>
        </p:txBody>
      </p:sp>
    </p:spTree>
    <p:extLst>
      <p:ext uri="{BB962C8B-B14F-4D97-AF65-F5344CB8AC3E}">
        <p14:creationId xmlns:p14="http://schemas.microsoft.com/office/powerpoint/2010/main" val="384037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D9684AB-95DA-742E-0310-1B949179CBFC}"/>
              </a:ext>
            </a:extLst>
          </p:cNvPr>
          <p:cNvPicPr>
            <a:picLocks noChangeAspect="1"/>
          </p:cNvPicPr>
          <p:nvPr/>
        </p:nvPicPr>
        <p:blipFill>
          <a:blip r:embed="rId3"/>
          <a:stretch>
            <a:fillRect/>
          </a:stretch>
        </p:blipFill>
        <p:spPr>
          <a:xfrm>
            <a:off x="269032" y="1360227"/>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838200" y="-33112"/>
            <a:ext cx="10515600" cy="1325563"/>
          </a:xfrm>
        </p:spPr>
        <p:txBody>
          <a:bodyPr>
            <a:normAutofit/>
          </a:bodyPr>
          <a:lstStyle/>
          <a:p>
            <a:r>
              <a:rPr lang="en-US" sz="4000" dirty="0"/>
              <a:t>Result 2A/2B/2C: Schema-object integration</a:t>
            </a:r>
          </a:p>
        </p:txBody>
      </p:sp>
      <p:sp>
        <p:nvSpPr>
          <p:cNvPr id="10" name="Oval 9">
            <a:extLst>
              <a:ext uri="{FF2B5EF4-FFF2-40B4-BE49-F238E27FC236}">
                <a16:creationId xmlns:a16="http://schemas.microsoft.com/office/drawing/2014/main" id="{D0A40B5E-B11E-4636-4978-77451EFA2F8D}"/>
              </a:ext>
            </a:extLst>
          </p:cNvPr>
          <p:cNvSpPr/>
          <p:nvPr/>
        </p:nvSpPr>
        <p:spPr>
          <a:xfrm>
            <a:off x="1232069" y="1975945"/>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915241" y="2086698"/>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sp>
        <p:nvSpPr>
          <p:cNvPr id="12" name="Content Placeholder 2">
            <a:extLst>
              <a:ext uri="{FF2B5EF4-FFF2-40B4-BE49-F238E27FC236}">
                <a16:creationId xmlns:a16="http://schemas.microsoft.com/office/drawing/2014/main" id="{708F8071-8A66-374A-E2DF-E701505326F3}"/>
              </a:ext>
            </a:extLst>
          </p:cNvPr>
          <p:cNvSpPr>
            <a:spLocks noGrp="1"/>
          </p:cNvSpPr>
          <p:nvPr>
            <p:ph idx="1"/>
          </p:nvPr>
        </p:nvSpPr>
        <p:spPr>
          <a:xfrm>
            <a:off x="6562726" y="1292451"/>
            <a:ext cx="5050154" cy="5389596"/>
          </a:xfrm>
        </p:spPr>
        <p:txBody>
          <a:bodyPr>
            <a:normAutofit lnSpcReduction="10000"/>
          </a:bodyPr>
          <a:lstStyle/>
          <a:p>
            <a:r>
              <a:rPr lang="en-US" dirty="0"/>
              <a:t>Confirmed by an additional “macro-level” analysis focusing on the LPFC overall</a:t>
            </a:r>
          </a:p>
          <a:p>
            <a:pPr lvl="1"/>
            <a:r>
              <a:rPr lang="en-US" dirty="0"/>
              <a:t>26 ROIs</a:t>
            </a:r>
          </a:p>
          <a:p>
            <a:pPr lvl="1"/>
            <a:r>
              <a:rPr lang="en-US" dirty="0"/>
              <a:t>Activation averaged across ROI</a:t>
            </a:r>
          </a:p>
          <a:p>
            <a:pPr lvl="1"/>
            <a:r>
              <a:rPr lang="en-US" dirty="0"/>
              <a:t>fMRI vector calculated using ROI-activation in place of voxel-activation</a:t>
            </a:r>
          </a:p>
          <a:p>
            <a:pPr lvl="1"/>
            <a:r>
              <a:rPr lang="en-US" dirty="0"/>
              <a:t>Submitted to RDM</a:t>
            </a:r>
          </a:p>
          <a:p>
            <a:pPr lvl="1"/>
            <a:r>
              <a:rPr lang="en-US" dirty="0"/>
              <a:t>Yields significant RSA effect </a:t>
            </a:r>
            <a:br>
              <a:rPr lang="en-US" dirty="0"/>
            </a:br>
            <a:r>
              <a:rPr lang="en-US" dirty="0"/>
              <a:t>(</a:t>
            </a:r>
            <a:r>
              <a:rPr lang="en-US" i="1" dirty="0"/>
              <a:t>t</a:t>
            </a:r>
            <a:r>
              <a:rPr lang="en-US" dirty="0"/>
              <a:t> = 2.1, </a:t>
            </a:r>
            <a:r>
              <a:rPr lang="en-US" i="1" dirty="0"/>
              <a:t>p </a:t>
            </a:r>
            <a:r>
              <a:rPr lang="en-US" dirty="0"/>
              <a:t>= .02)</a:t>
            </a:r>
          </a:p>
          <a:p>
            <a:r>
              <a:rPr lang="en-US" dirty="0"/>
              <a:t>Trend suggests that high LPFC IRAF linked to subsequent memory hit</a:t>
            </a:r>
          </a:p>
        </p:txBody>
      </p:sp>
      <p:sp>
        <p:nvSpPr>
          <p:cNvPr id="15" name="Oval 14">
            <a:extLst>
              <a:ext uri="{FF2B5EF4-FFF2-40B4-BE49-F238E27FC236}">
                <a16:creationId xmlns:a16="http://schemas.microsoft.com/office/drawing/2014/main" id="{86910CFC-365D-A63A-F7F3-D833A099DE4E}"/>
              </a:ext>
            </a:extLst>
          </p:cNvPr>
          <p:cNvSpPr/>
          <p:nvPr/>
        </p:nvSpPr>
        <p:spPr>
          <a:xfrm>
            <a:off x="4986085" y="1925181"/>
            <a:ext cx="304372" cy="3043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1BD4892-A308-0620-B43E-9912687E7C95}"/>
              </a:ext>
            </a:extLst>
          </p:cNvPr>
          <p:cNvSpPr txBox="1"/>
          <p:nvPr/>
        </p:nvSpPr>
        <p:spPr>
          <a:xfrm>
            <a:off x="4173799" y="2197452"/>
            <a:ext cx="904415" cy="461665"/>
          </a:xfrm>
          <a:prstGeom prst="rect">
            <a:avLst/>
          </a:prstGeom>
          <a:noFill/>
        </p:spPr>
        <p:txBody>
          <a:bodyPr wrap="none" rtlCol="0">
            <a:spAutoFit/>
          </a:bodyPr>
          <a:lstStyle/>
          <a:p>
            <a:r>
              <a:rPr lang="en-US" sz="2400" dirty="0" err="1">
                <a:latin typeface="Arial" panose="020B0604020202020204" pitchFamily="34" charset="0"/>
                <a:cs typeface="Arial" panose="020B0604020202020204" pitchFamily="34" charset="0"/>
              </a:rPr>
              <a:t>Hipp</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386350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018D3E-2AD3-5277-CA7B-ECAE2E8BA230}"/>
              </a:ext>
            </a:extLst>
          </p:cNvPr>
          <p:cNvPicPr>
            <a:picLocks noChangeAspect="1"/>
          </p:cNvPicPr>
          <p:nvPr/>
        </p:nvPicPr>
        <p:blipFill rotWithShape="1">
          <a:blip r:embed="rId2"/>
          <a:srcRect l="2433" t="13756" r="8677" b="8922"/>
          <a:stretch/>
        </p:blipFill>
        <p:spPr>
          <a:xfrm>
            <a:off x="5613916" y="1352588"/>
            <a:ext cx="6068463" cy="5278750"/>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838200" y="365126"/>
            <a:ext cx="10515600" cy="917856"/>
          </a:xfrm>
        </p:spPr>
        <p:txBody>
          <a:bodyPr/>
          <a:lstStyle/>
          <a:p>
            <a:r>
              <a:rPr lang="en-US" dirty="0"/>
              <a:t>Result 3: 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38200" y="1825625"/>
            <a:ext cx="4410075" cy="4351338"/>
          </a:xfrm>
        </p:spPr>
        <p:txBody>
          <a:bodyPr>
            <a:normAutofit lnSpcReduction="10000"/>
          </a:bodyPr>
          <a:lstStyle/>
          <a:p>
            <a:r>
              <a:rPr lang="en-US" dirty="0"/>
              <a:t>Similar to beta series correlations</a:t>
            </a:r>
          </a:p>
          <a:p>
            <a:pPr lvl="1"/>
            <a:r>
              <a:rPr lang="en-US" dirty="0"/>
              <a:t>Use difference-vector IRAF for one region</a:t>
            </a:r>
          </a:p>
          <a:p>
            <a:r>
              <a:rPr lang="en-US" dirty="0"/>
              <a:t>PFC IRAF linked to stronger occipital connectivity and </a:t>
            </a:r>
            <a:r>
              <a:rPr lang="en-US" dirty="0" err="1"/>
              <a:t>PhG</a:t>
            </a:r>
            <a:r>
              <a:rPr lang="en-US" dirty="0"/>
              <a:t>/</a:t>
            </a:r>
            <a:r>
              <a:rPr lang="en-US" dirty="0" err="1"/>
              <a:t>FuG</a:t>
            </a:r>
            <a:r>
              <a:rPr lang="en-US" dirty="0"/>
              <a:t> connectivity</a:t>
            </a:r>
          </a:p>
          <a:p>
            <a:r>
              <a:rPr lang="en-US" dirty="0"/>
              <a:t>This effect only arises for objects that yield subsequent hit</a:t>
            </a:r>
          </a:p>
        </p:txBody>
      </p:sp>
      <p:sp>
        <p:nvSpPr>
          <p:cNvPr id="6" name="Oval 5">
            <a:extLst>
              <a:ext uri="{FF2B5EF4-FFF2-40B4-BE49-F238E27FC236}">
                <a16:creationId xmlns:a16="http://schemas.microsoft.com/office/drawing/2014/main" id="{321F282F-4487-41A6-34D1-6A14B4EE86FB}"/>
              </a:ext>
            </a:extLst>
          </p:cNvPr>
          <p:cNvSpPr/>
          <p:nvPr/>
        </p:nvSpPr>
        <p:spPr>
          <a:xfrm>
            <a:off x="6231314" y="2426218"/>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5A5C02D-247F-B529-32B9-EBB0D1D7D713}"/>
              </a:ext>
            </a:extLst>
          </p:cNvPr>
          <p:cNvSpPr/>
          <p:nvPr/>
        </p:nvSpPr>
        <p:spPr>
          <a:xfrm>
            <a:off x="6240840" y="4001294"/>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80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Speculative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92259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75060"/>
            <a:ext cx="10515600" cy="870155"/>
          </a:xfrm>
        </p:spPr>
        <p:txBody>
          <a:bodyPr/>
          <a:lstStyle/>
          <a:p>
            <a:r>
              <a:rPr lang="en-US" dirty="0"/>
              <a:t>Scene representation</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838198" y="978726"/>
            <a:ext cx="476949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scene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83355" y="997887"/>
            <a:ext cx="4702356" cy="570156"/>
          </a:xfrm>
        </p:spPr>
        <p:txBody>
          <a:bodyPr>
            <a:normAutofit/>
          </a:bodyPr>
          <a:lstStyle/>
          <a:p>
            <a:pPr marL="0" indent="0" algn="ctr">
              <a:buNone/>
            </a:pPr>
            <a:r>
              <a:rPr lang="en-US" dirty="0"/>
              <a:t>Semantic scene decoding</a:t>
            </a:r>
          </a:p>
        </p:txBody>
      </p:sp>
      <p:pic>
        <p:nvPicPr>
          <p:cNvPr id="4" name="Picture 3">
            <a:extLst>
              <a:ext uri="{FF2B5EF4-FFF2-40B4-BE49-F238E27FC236}">
                <a16:creationId xmlns:a16="http://schemas.microsoft.com/office/drawing/2014/main" id="{01C3308A-1400-6CE1-466B-49EBE32AB561}"/>
              </a:ext>
            </a:extLst>
          </p:cNvPr>
          <p:cNvPicPr>
            <a:picLocks noChangeAspect="1"/>
          </p:cNvPicPr>
          <p:nvPr/>
        </p:nvPicPr>
        <p:blipFill>
          <a:blip r:embed="rId2"/>
          <a:stretch>
            <a:fillRect/>
          </a:stretch>
        </p:blipFill>
        <p:spPr>
          <a:xfrm>
            <a:off x="308283" y="1399081"/>
            <a:ext cx="6096000" cy="4572000"/>
          </a:xfrm>
          <a:prstGeom prst="rect">
            <a:avLst/>
          </a:prstGeom>
        </p:spPr>
      </p:pic>
      <p:pic>
        <p:nvPicPr>
          <p:cNvPr id="5" name="Content Placeholder 4">
            <a:extLst>
              <a:ext uri="{FF2B5EF4-FFF2-40B4-BE49-F238E27FC236}">
                <a16:creationId xmlns:a16="http://schemas.microsoft.com/office/drawing/2014/main" id="{84138D4D-5A58-15B7-E1BD-3A35D5EAF316}"/>
              </a:ext>
            </a:extLst>
          </p:cNvPr>
          <p:cNvPicPr>
            <a:picLocks noChangeAspect="1"/>
          </p:cNvPicPr>
          <p:nvPr/>
        </p:nvPicPr>
        <p:blipFill>
          <a:blip r:embed="rId3"/>
          <a:stretch>
            <a:fillRect/>
          </a:stretch>
        </p:blipFill>
        <p:spPr>
          <a:xfrm>
            <a:off x="6110067" y="1509412"/>
            <a:ext cx="5801784" cy="4351338"/>
          </a:xfrm>
          <a:prstGeom prst="rect">
            <a:avLst/>
          </a:prstGeom>
        </p:spPr>
      </p:pic>
      <p:sp>
        <p:nvSpPr>
          <p:cNvPr id="6" name="Content Placeholder 2">
            <a:extLst>
              <a:ext uri="{FF2B5EF4-FFF2-40B4-BE49-F238E27FC236}">
                <a16:creationId xmlns:a16="http://schemas.microsoft.com/office/drawing/2014/main" id="{3A1809FB-7001-4489-D1FB-56AF2F4AFC1A}"/>
              </a:ext>
            </a:extLst>
          </p:cNvPr>
          <p:cNvSpPr txBox="1">
            <a:spLocks/>
          </p:cNvSpPr>
          <p:nvPr/>
        </p:nvSpPr>
        <p:spPr>
          <a:xfrm>
            <a:off x="963637" y="6194080"/>
            <a:ext cx="10192043"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Need scene single-trial betas. For object, difficult to distinguish from object decoding</a:t>
            </a:r>
          </a:p>
        </p:txBody>
      </p:sp>
    </p:spTree>
    <p:extLst>
      <p:ext uri="{BB962C8B-B14F-4D97-AF65-F5344CB8AC3E}">
        <p14:creationId xmlns:p14="http://schemas.microsoft.com/office/powerpoint/2010/main" val="1362715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1832D-FAFB-814E-F629-08503A1AF267}"/>
              </a:ext>
            </a:extLst>
          </p:cNvPr>
          <p:cNvSpPr>
            <a:spLocks noGrp="1"/>
          </p:cNvSpPr>
          <p:nvPr>
            <p:ph type="title"/>
          </p:nvPr>
        </p:nvSpPr>
        <p:spPr>
          <a:xfrm>
            <a:off x="838199" y="0"/>
            <a:ext cx="10515600" cy="1325563"/>
          </a:xfrm>
        </p:spPr>
        <p:txBody>
          <a:bodyPr/>
          <a:lstStyle/>
          <a:p>
            <a:r>
              <a:rPr lang="en-US" dirty="0"/>
              <a:t>Addition &amp; Product RSA</a:t>
            </a:r>
          </a:p>
        </p:txBody>
      </p:sp>
      <p:pic>
        <p:nvPicPr>
          <p:cNvPr id="5" name="Picture 4">
            <a:extLst>
              <a:ext uri="{FF2B5EF4-FFF2-40B4-BE49-F238E27FC236}">
                <a16:creationId xmlns:a16="http://schemas.microsoft.com/office/drawing/2014/main" id="{DEB777EA-1B47-F5CB-8A67-C9686FE98845}"/>
              </a:ext>
            </a:extLst>
          </p:cNvPr>
          <p:cNvPicPr>
            <a:picLocks noChangeAspect="1"/>
          </p:cNvPicPr>
          <p:nvPr/>
        </p:nvPicPr>
        <p:blipFill>
          <a:blip r:embed="rId3"/>
          <a:stretch>
            <a:fillRect/>
          </a:stretch>
        </p:blipFill>
        <p:spPr>
          <a:xfrm>
            <a:off x="8107680" y="2448231"/>
            <a:ext cx="4023360" cy="3017520"/>
          </a:xfrm>
          <a:prstGeom prst="rect">
            <a:avLst/>
          </a:prstGeom>
        </p:spPr>
      </p:pic>
      <p:pic>
        <p:nvPicPr>
          <p:cNvPr id="7" name="Picture 6">
            <a:extLst>
              <a:ext uri="{FF2B5EF4-FFF2-40B4-BE49-F238E27FC236}">
                <a16:creationId xmlns:a16="http://schemas.microsoft.com/office/drawing/2014/main" id="{950CE3A5-42AE-4C50-4E96-C655823356BA}"/>
              </a:ext>
            </a:extLst>
          </p:cNvPr>
          <p:cNvPicPr>
            <a:picLocks noChangeAspect="1"/>
          </p:cNvPicPr>
          <p:nvPr/>
        </p:nvPicPr>
        <p:blipFill>
          <a:blip r:embed="rId4"/>
          <a:stretch>
            <a:fillRect/>
          </a:stretch>
        </p:blipFill>
        <p:spPr>
          <a:xfrm>
            <a:off x="4084320" y="2448231"/>
            <a:ext cx="4023360" cy="3017520"/>
          </a:xfrm>
          <a:prstGeom prst="rect">
            <a:avLst/>
          </a:prstGeom>
        </p:spPr>
      </p:pic>
      <p:pic>
        <p:nvPicPr>
          <p:cNvPr id="9" name="Picture 8">
            <a:extLst>
              <a:ext uri="{FF2B5EF4-FFF2-40B4-BE49-F238E27FC236}">
                <a16:creationId xmlns:a16="http://schemas.microsoft.com/office/drawing/2014/main" id="{127B3A1D-410E-A036-93E4-CF10B644078D}"/>
              </a:ext>
            </a:extLst>
          </p:cNvPr>
          <p:cNvPicPr>
            <a:picLocks noChangeAspect="1"/>
          </p:cNvPicPr>
          <p:nvPr/>
        </p:nvPicPr>
        <p:blipFill>
          <a:blip r:embed="rId5"/>
          <a:stretch>
            <a:fillRect/>
          </a:stretch>
        </p:blipFill>
        <p:spPr>
          <a:xfrm>
            <a:off x="214812" y="2448231"/>
            <a:ext cx="4023360" cy="3017520"/>
          </a:xfrm>
          <a:prstGeom prst="rect">
            <a:avLst/>
          </a:prstGeom>
        </p:spPr>
      </p:pic>
      <p:sp>
        <p:nvSpPr>
          <p:cNvPr id="12" name="Content Placeholder 2">
            <a:extLst>
              <a:ext uri="{FF2B5EF4-FFF2-40B4-BE49-F238E27FC236}">
                <a16:creationId xmlns:a16="http://schemas.microsoft.com/office/drawing/2014/main" id="{11903C17-6866-FBFC-B0B7-1389977F2709}"/>
              </a:ext>
            </a:extLst>
          </p:cNvPr>
          <p:cNvSpPr txBox="1">
            <a:spLocks/>
          </p:cNvSpPr>
          <p:nvPr/>
        </p:nvSpPr>
        <p:spPr>
          <a:xfrm>
            <a:off x="0" y="1446745"/>
            <a:ext cx="4769499"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a:t>
            </a:r>
            <a:r>
              <a:rPr lang="en-US" u="sng" dirty="0"/>
              <a:t>addition</a:t>
            </a:r>
            <a:r>
              <a:rPr lang="en-US" dirty="0"/>
              <a:t> </a:t>
            </a:r>
          </a:p>
          <a:p>
            <a:pPr marL="0" indent="0" algn="ctr">
              <a:buFont typeface="Arial" panose="020B0604020202020204" pitchFamily="34" charset="0"/>
              <a:buNone/>
            </a:pPr>
            <a:r>
              <a:rPr lang="en-US" dirty="0"/>
              <a:t>decoding</a:t>
            </a:r>
          </a:p>
        </p:txBody>
      </p:sp>
      <p:sp>
        <p:nvSpPr>
          <p:cNvPr id="13" name="Content Placeholder 2">
            <a:extLst>
              <a:ext uri="{FF2B5EF4-FFF2-40B4-BE49-F238E27FC236}">
                <a16:creationId xmlns:a16="http://schemas.microsoft.com/office/drawing/2014/main" id="{46FEA16E-4AAD-6BAE-C68F-FC068F0D7F57}"/>
              </a:ext>
            </a:extLst>
          </p:cNvPr>
          <p:cNvSpPr txBox="1">
            <a:spLocks/>
          </p:cNvSpPr>
          <p:nvPr/>
        </p:nvSpPr>
        <p:spPr>
          <a:xfrm>
            <a:off x="3711250" y="1446745"/>
            <a:ext cx="4769499"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Semantic </a:t>
            </a:r>
            <a:r>
              <a:rPr lang="en-US" u="sng" dirty="0"/>
              <a:t>addition</a:t>
            </a:r>
            <a:r>
              <a:rPr lang="en-US" dirty="0"/>
              <a:t> </a:t>
            </a:r>
          </a:p>
          <a:p>
            <a:pPr marL="0" indent="0" algn="ctr">
              <a:buFont typeface="Arial" panose="020B0604020202020204" pitchFamily="34" charset="0"/>
              <a:buNone/>
            </a:pPr>
            <a:r>
              <a:rPr lang="en-US" dirty="0"/>
              <a:t>decoding</a:t>
            </a:r>
          </a:p>
        </p:txBody>
      </p:sp>
      <p:sp>
        <p:nvSpPr>
          <p:cNvPr id="14" name="Content Placeholder 2">
            <a:extLst>
              <a:ext uri="{FF2B5EF4-FFF2-40B4-BE49-F238E27FC236}">
                <a16:creationId xmlns:a16="http://schemas.microsoft.com/office/drawing/2014/main" id="{EC42A75C-CFF0-522B-09C5-40891B27AEF9}"/>
              </a:ext>
            </a:extLst>
          </p:cNvPr>
          <p:cNvSpPr txBox="1">
            <a:spLocks/>
          </p:cNvSpPr>
          <p:nvPr/>
        </p:nvSpPr>
        <p:spPr>
          <a:xfrm>
            <a:off x="7734610" y="1446745"/>
            <a:ext cx="4769499"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Semantic </a:t>
            </a:r>
            <a:r>
              <a:rPr lang="en-US" u="sng" dirty="0"/>
              <a:t>product</a:t>
            </a:r>
          </a:p>
          <a:p>
            <a:pPr marL="0" indent="0" algn="ctr">
              <a:buFont typeface="Arial" panose="020B0604020202020204" pitchFamily="34" charset="0"/>
              <a:buNone/>
            </a:pPr>
            <a:r>
              <a:rPr lang="en-US" dirty="0"/>
              <a:t>decoding</a:t>
            </a:r>
          </a:p>
        </p:txBody>
      </p:sp>
      <p:sp>
        <p:nvSpPr>
          <p:cNvPr id="16" name="Content Placeholder 2">
            <a:extLst>
              <a:ext uri="{FF2B5EF4-FFF2-40B4-BE49-F238E27FC236}">
                <a16:creationId xmlns:a16="http://schemas.microsoft.com/office/drawing/2014/main" id="{B4C19B86-6C20-5E0C-77C2-3E736BF28CBC}"/>
              </a:ext>
            </a:extLst>
          </p:cNvPr>
          <p:cNvSpPr txBox="1">
            <a:spLocks/>
          </p:cNvSpPr>
          <p:nvPr/>
        </p:nvSpPr>
        <p:spPr>
          <a:xfrm>
            <a:off x="464456" y="5725886"/>
            <a:ext cx="11263085"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Similar patterns when taking the absolute value of the addition or product vector. Note the null PFC results</a:t>
            </a:r>
          </a:p>
        </p:txBody>
      </p:sp>
    </p:spTree>
    <p:extLst>
      <p:ext uri="{BB962C8B-B14F-4D97-AF65-F5344CB8AC3E}">
        <p14:creationId xmlns:p14="http://schemas.microsoft.com/office/powerpoint/2010/main" val="873269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377CE-5D11-291E-9F09-544A7F556256}"/>
              </a:ext>
            </a:extLst>
          </p:cNvPr>
          <p:cNvSpPr>
            <a:spLocks noGrp="1"/>
          </p:cNvSpPr>
          <p:nvPr>
            <p:ph type="title"/>
          </p:nvPr>
        </p:nvSpPr>
        <p:spPr/>
        <p:txBody>
          <a:bodyPr/>
          <a:lstStyle/>
          <a:p>
            <a:r>
              <a:rPr lang="en-US" dirty="0"/>
              <a:t>TODO</a:t>
            </a:r>
          </a:p>
        </p:txBody>
      </p:sp>
      <p:sp>
        <p:nvSpPr>
          <p:cNvPr id="3" name="Content Placeholder 2">
            <a:extLst>
              <a:ext uri="{FF2B5EF4-FFF2-40B4-BE49-F238E27FC236}">
                <a16:creationId xmlns:a16="http://schemas.microsoft.com/office/drawing/2014/main" id="{0F13D3B6-DEC1-3A9B-6DDF-30123D103757}"/>
              </a:ext>
            </a:extLst>
          </p:cNvPr>
          <p:cNvSpPr>
            <a:spLocks noGrp="1"/>
          </p:cNvSpPr>
          <p:nvPr>
            <p:ph idx="1"/>
          </p:nvPr>
        </p:nvSpPr>
        <p:spPr/>
        <p:txBody>
          <a:bodyPr/>
          <a:lstStyle/>
          <a:p>
            <a:r>
              <a:rPr lang="en-US" dirty="0"/>
              <a:t>Look at scene presentation single-trial betas</a:t>
            </a:r>
          </a:p>
        </p:txBody>
      </p:sp>
    </p:spTree>
    <p:extLst>
      <p:ext uri="{BB962C8B-B14F-4D97-AF65-F5344CB8AC3E}">
        <p14:creationId xmlns:p14="http://schemas.microsoft.com/office/powerpoint/2010/main" val="1065609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RSA Connectivity</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75938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A05B9-7D7B-E2F1-EB85-83886E334030}"/>
              </a:ext>
            </a:extLst>
          </p:cNvPr>
          <p:cNvSpPr>
            <a:spLocks noGrp="1"/>
          </p:cNvSpPr>
          <p:nvPr>
            <p:ph type="title"/>
          </p:nvPr>
        </p:nvSpPr>
        <p:spPr>
          <a:xfrm>
            <a:off x="838200" y="153483"/>
            <a:ext cx="10515600" cy="1325563"/>
          </a:xfrm>
        </p:spPr>
        <p:txBody>
          <a:bodyPr/>
          <a:lstStyle/>
          <a:p>
            <a:r>
              <a:rPr lang="en-US" dirty="0"/>
              <a:t>Overview: How do multiple brain regions work together to represent stimuli?</a:t>
            </a:r>
          </a:p>
        </p:txBody>
      </p:sp>
      <p:sp>
        <p:nvSpPr>
          <p:cNvPr id="3" name="Content Placeholder 2">
            <a:extLst>
              <a:ext uri="{FF2B5EF4-FFF2-40B4-BE49-F238E27FC236}">
                <a16:creationId xmlns:a16="http://schemas.microsoft.com/office/drawing/2014/main" id="{F2284D1E-524F-4C6F-4C0E-C7806E2E5386}"/>
              </a:ext>
            </a:extLst>
          </p:cNvPr>
          <p:cNvSpPr>
            <a:spLocks noGrp="1"/>
          </p:cNvSpPr>
          <p:nvPr>
            <p:ph idx="1"/>
          </p:nvPr>
        </p:nvSpPr>
        <p:spPr>
          <a:xfrm>
            <a:off x="502276" y="1651758"/>
            <a:ext cx="11494394" cy="5206241"/>
          </a:xfrm>
        </p:spPr>
        <p:txBody>
          <a:bodyPr>
            <a:normAutofit/>
          </a:bodyPr>
          <a:lstStyle/>
          <a:p>
            <a:r>
              <a:rPr lang="en-US" sz="2400" dirty="0"/>
              <a:t>Linking regions based on their sensitivity to particular types of representations (IRAF)</a:t>
            </a:r>
          </a:p>
          <a:p>
            <a:pPr lvl="1"/>
            <a:r>
              <a:rPr lang="en-US" sz="2000" dirty="0"/>
              <a:t>Trial-by-trial correlations between regions</a:t>
            </a:r>
          </a:p>
          <a:p>
            <a:pPr lvl="1"/>
            <a:r>
              <a:rPr lang="en-US" sz="2000" dirty="0"/>
              <a:t>Similar to beta series correlations but with IRAF values</a:t>
            </a:r>
          </a:p>
          <a:p>
            <a:r>
              <a:rPr lang="en-US" sz="2400" dirty="0"/>
              <a:t>Does one region’s activity upregulate representational sensitivity in another region?</a:t>
            </a:r>
          </a:p>
          <a:p>
            <a:pPr lvl="1"/>
            <a:r>
              <a:rPr lang="en-US" sz="2000" dirty="0"/>
              <a:t>Trial-by-trial correlation between activity in one region x IRAF in another region</a:t>
            </a:r>
          </a:p>
          <a:p>
            <a:pPr lvl="1"/>
            <a:r>
              <a:rPr lang="en-US" sz="2000" dirty="0"/>
              <a:t>Consistent with the boosting/linking point in the grant</a:t>
            </a:r>
          </a:p>
          <a:p>
            <a:r>
              <a:rPr lang="en-US" sz="2400" dirty="0"/>
              <a:t>Representation of stimuli as connectivity</a:t>
            </a:r>
          </a:p>
          <a:p>
            <a:pPr lvl="1"/>
            <a:r>
              <a:rPr lang="en-US" sz="2000" dirty="0"/>
              <a:t>Are stimuli represented as interactions between multiple voxels or regions?</a:t>
            </a:r>
          </a:p>
          <a:p>
            <a:pPr lvl="1"/>
            <a:r>
              <a:rPr lang="en-US" sz="2000" dirty="0"/>
              <a:t>Investigate connectivity between pairs of regions or among multiple regions in a network</a:t>
            </a:r>
          </a:p>
          <a:p>
            <a:r>
              <a:rPr lang="en-US" sz="2400" dirty="0"/>
              <a:t>These types of results may speak to compensation if these connectivity patterns are more prominent among OAs</a:t>
            </a:r>
          </a:p>
        </p:txBody>
      </p:sp>
    </p:spTree>
    <p:extLst>
      <p:ext uri="{BB962C8B-B14F-4D97-AF65-F5344CB8AC3E}">
        <p14:creationId xmlns:p14="http://schemas.microsoft.com/office/powerpoint/2010/main" val="1312166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DA879-656E-48B4-B866-55CD7EBD9AD2}"/>
              </a:ext>
            </a:extLst>
          </p:cNvPr>
          <p:cNvSpPr>
            <a:spLocks noGrp="1"/>
          </p:cNvSpPr>
          <p:nvPr>
            <p:ph type="title"/>
          </p:nvPr>
        </p:nvSpPr>
        <p:spPr>
          <a:xfrm>
            <a:off x="838200" y="0"/>
            <a:ext cx="10515600" cy="1325563"/>
          </a:xfrm>
        </p:spPr>
        <p:txBody>
          <a:bodyPr/>
          <a:lstStyle/>
          <a:p>
            <a:r>
              <a:rPr lang="en-US" dirty="0"/>
              <a:t>IRAF x IRAF connectivity</a:t>
            </a:r>
          </a:p>
        </p:txBody>
      </p:sp>
      <p:sp>
        <p:nvSpPr>
          <p:cNvPr id="3" name="Content Placeholder 2">
            <a:extLst>
              <a:ext uri="{FF2B5EF4-FFF2-40B4-BE49-F238E27FC236}">
                <a16:creationId xmlns:a16="http://schemas.microsoft.com/office/drawing/2014/main" id="{0C2AE440-9768-4CF6-B3DB-71C4B16F9ADB}"/>
              </a:ext>
            </a:extLst>
          </p:cNvPr>
          <p:cNvSpPr>
            <a:spLocks noGrp="1"/>
          </p:cNvSpPr>
          <p:nvPr>
            <p:ph idx="1"/>
          </p:nvPr>
        </p:nvSpPr>
        <p:spPr>
          <a:xfrm>
            <a:off x="838200" y="1211782"/>
            <a:ext cx="10515600" cy="2787939"/>
          </a:xfrm>
        </p:spPr>
        <p:txBody>
          <a:bodyPr>
            <a:normAutofit/>
          </a:bodyPr>
          <a:lstStyle/>
          <a:p>
            <a:r>
              <a:rPr lang="en-US" sz="2400" dirty="0"/>
              <a:t>Plain IRAF x IRAF doesn’t really work</a:t>
            </a:r>
          </a:p>
          <a:p>
            <a:r>
              <a:rPr lang="en-US" sz="2400" dirty="0"/>
              <a:t>In part because IRAF patterns for a given stimulus are similar across all ROIs, which makes some connectivity measurements artificial</a:t>
            </a:r>
          </a:p>
          <a:p>
            <a:pPr lvl="1"/>
            <a:r>
              <a:rPr lang="en-US" sz="2000" dirty="0"/>
              <a:t>Virtually every region shows positive IRAF connectivity with every other region</a:t>
            </a:r>
          </a:p>
          <a:p>
            <a:r>
              <a:rPr lang="en-US" sz="2400" dirty="0"/>
              <a:t>Three participant IRAF values are plotted here over time for every ROI</a:t>
            </a:r>
          </a:p>
        </p:txBody>
      </p:sp>
      <p:pic>
        <p:nvPicPr>
          <p:cNvPr id="7" name="Picture 6">
            <a:extLst>
              <a:ext uri="{FF2B5EF4-FFF2-40B4-BE49-F238E27FC236}">
                <a16:creationId xmlns:a16="http://schemas.microsoft.com/office/drawing/2014/main" id="{484019F2-3163-067C-D2BE-A01CACF6D881}"/>
              </a:ext>
            </a:extLst>
          </p:cNvPr>
          <p:cNvPicPr>
            <a:picLocks noChangeAspect="1"/>
          </p:cNvPicPr>
          <p:nvPr/>
        </p:nvPicPr>
        <p:blipFill>
          <a:blip r:embed="rId2"/>
          <a:stretch>
            <a:fillRect/>
          </a:stretch>
        </p:blipFill>
        <p:spPr>
          <a:xfrm>
            <a:off x="3186545" y="3388021"/>
            <a:ext cx="2212245" cy="2926080"/>
          </a:xfrm>
          <a:prstGeom prst="rect">
            <a:avLst/>
          </a:prstGeom>
        </p:spPr>
      </p:pic>
      <p:pic>
        <p:nvPicPr>
          <p:cNvPr id="9" name="Picture 8">
            <a:extLst>
              <a:ext uri="{FF2B5EF4-FFF2-40B4-BE49-F238E27FC236}">
                <a16:creationId xmlns:a16="http://schemas.microsoft.com/office/drawing/2014/main" id="{8DAAE461-29CA-2E3F-CEFD-476C11D7801D}"/>
              </a:ext>
            </a:extLst>
          </p:cNvPr>
          <p:cNvPicPr>
            <a:picLocks noChangeAspect="1"/>
          </p:cNvPicPr>
          <p:nvPr/>
        </p:nvPicPr>
        <p:blipFill>
          <a:blip r:embed="rId3"/>
          <a:stretch>
            <a:fillRect/>
          </a:stretch>
        </p:blipFill>
        <p:spPr>
          <a:xfrm>
            <a:off x="6042132" y="3388021"/>
            <a:ext cx="2059094" cy="2926080"/>
          </a:xfrm>
          <a:prstGeom prst="rect">
            <a:avLst/>
          </a:prstGeom>
        </p:spPr>
      </p:pic>
      <p:pic>
        <p:nvPicPr>
          <p:cNvPr id="13" name="Picture 12">
            <a:extLst>
              <a:ext uri="{FF2B5EF4-FFF2-40B4-BE49-F238E27FC236}">
                <a16:creationId xmlns:a16="http://schemas.microsoft.com/office/drawing/2014/main" id="{D5428D3D-CF90-1830-3620-87CA5918D97B}"/>
              </a:ext>
            </a:extLst>
          </p:cNvPr>
          <p:cNvPicPr>
            <a:picLocks noChangeAspect="1"/>
          </p:cNvPicPr>
          <p:nvPr/>
        </p:nvPicPr>
        <p:blipFill>
          <a:blip r:embed="rId4"/>
          <a:stretch>
            <a:fillRect/>
          </a:stretch>
        </p:blipFill>
        <p:spPr>
          <a:xfrm>
            <a:off x="8744568" y="3388021"/>
            <a:ext cx="2158686" cy="2926080"/>
          </a:xfrm>
          <a:prstGeom prst="rect">
            <a:avLst/>
          </a:prstGeom>
        </p:spPr>
      </p:pic>
      <p:sp>
        <p:nvSpPr>
          <p:cNvPr id="4" name="TextBox 3">
            <a:extLst>
              <a:ext uri="{FF2B5EF4-FFF2-40B4-BE49-F238E27FC236}">
                <a16:creationId xmlns:a16="http://schemas.microsoft.com/office/drawing/2014/main" id="{464DC858-1ABE-33BD-0DF7-FD089B01CE60}"/>
              </a:ext>
            </a:extLst>
          </p:cNvPr>
          <p:cNvSpPr txBox="1"/>
          <p:nvPr/>
        </p:nvSpPr>
        <p:spPr>
          <a:xfrm>
            <a:off x="516529" y="3429000"/>
            <a:ext cx="2348345" cy="313932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There are other issues with correlating IRAF between different regions that are harder to describe. Essentially, correlations between IRAFs will arise even if the stimulus vector is randomized.</a:t>
            </a:r>
          </a:p>
        </p:txBody>
      </p:sp>
      <p:sp>
        <p:nvSpPr>
          <p:cNvPr id="5" name="TextBox 4">
            <a:extLst>
              <a:ext uri="{FF2B5EF4-FFF2-40B4-BE49-F238E27FC236}">
                <a16:creationId xmlns:a16="http://schemas.microsoft.com/office/drawing/2014/main" id="{8CA7F4B6-30D5-5E0E-BE71-0A083FDCE541}"/>
              </a:ext>
            </a:extLst>
          </p:cNvPr>
          <p:cNvSpPr txBox="1"/>
          <p:nvPr/>
        </p:nvSpPr>
        <p:spPr>
          <a:xfrm>
            <a:off x="4371110" y="6403123"/>
            <a:ext cx="603019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 played around with normalizing with respect to stimulus</a:t>
            </a:r>
          </a:p>
        </p:txBody>
      </p:sp>
    </p:spTree>
    <p:extLst>
      <p:ext uri="{BB962C8B-B14F-4D97-AF65-F5344CB8AC3E}">
        <p14:creationId xmlns:p14="http://schemas.microsoft.com/office/powerpoint/2010/main" val="1226400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6A01CB-803A-CB09-6FC4-9C56EA560DB4}"/>
              </a:ext>
            </a:extLst>
          </p:cNvPr>
          <p:cNvSpPr>
            <a:spLocks noGrp="1"/>
          </p:cNvSpPr>
          <p:nvPr>
            <p:ph idx="1"/>
          </p:nvPr>
        </p:nvSpPr>
        <p:spPr>
          <a:xfrm>
            <a:off x="523876" y="1544277"/>
            <a:ext cx="5859508" cy="5095009"/>
          </a:xfrm>
        </p:spPr>
        <p:txBody>
          <a:bodyPr>
            <a:normAutofit fontScale="92500"/>
          </a:bodyPr>
          <a:lstStyle/>
          <a:p>
            <a:r>
              <a:rPr lang="en-US" dirty="0"/>
              <a:t>Related to the </a:t>
            </a:r>
            <a:r>
              <a:rPr lang="en-US" u="sng" dirty="0"/>
              <a:t>linking</a:t>
            </a:r>
            <a:r>
              <a:rPr lang="en-US" dirty="0"/>
              <a:t> and </a:t>
            </a:r>
            <a:r>
              <a:rPr lang="en-US" u="sng" dirty="0"/>
              <a:t>boosting</a:t>
            </a:r>
            <a:r>
              <a:rPr lang="en-US" dirty="0"/>
              <a:t> points made in the grant/papers</a:t>
            </a:r>
          </a:p>
          <a:p>
            <a:r>
              <a:rPr lang="en-US" dirty="0"/>
              <a:t>Correlate:</a:t>
            </a:r>
          </a:p>
          <a:p>
            <a:pPr lvl="1"/>
            <a:r>
              <a:rPr lang="en-US" dirty="0"/>
              <a:t>Region A: Mean connectivity across all voxels for a given trial</a:t>
            </a:r>
          </a:p>
          <a:p>
            <a:pPr lvl="1"/>
            <a:r>
              <a:rPr lang="en-US" dirty="0"/>
              <a:t>Region B: IRAF</a:t>
            </a:r>
          </a:p>
          <a:p>
            <a:r>
              <a:rPr lang="en-US" dirty="0"/>
              <a:t>Correlation matrix plotted</a:t>
            </a:r>
          </a:p>
          <a:p>
            <a:pPr lvl="1"/>
            <a:r>
              <a:rPr lang="en-US" dirty="0"/>
              <a:t>Not symmetrical, so it looks different from most connectivity matrices</a:t>
            </a:r>
          </a:p>
          <a:p>
            <a:r>
              <a:rPr lang="en-US" dirty="0"/>
              <a:t>Hard to say whether this is meaningful, but it is encouraging to see patterns linked to occipital IRAF</a:t>
            </a:r>
          </a:p>
        </p:txBody>
      </p:sp>
      <p:pic>
        <p:nvPicPr>
          <p:cNvPr id="8" name="Picture 7">
            <a:extLst>
              <a:ext uri="{FF2B5EF4-FFF2-40B4-BE49-F238E27FC236}">
                <a16:creationId xmlns:a16="http://schemas.microsoft.com/office/drawing/2014/main" id="{DD5913A5-7579-7320-E92A-8DE88EAEA114}"/>
              </a:ext>
            </a:extLst>
          </p:cNvPr>
          <p:cNvPicPr>
            <a:picLocks noChangeAspect="1"/>
          </p:cNvPicPr>
          <p:nvPr/>
        </p:nvPicPr>
        <p:blipFill>
          <a:blip r:embed="rId2"/>
          <a:stretch>
            <a:fillRect/>
          </a:stretch>
        </p:blipFill>
        <p:spPr>
          <a:xfrm>
            <a:off x="6445827" y="1111827"/>
            <a:ext cx="5746173" cy="5746173"/>
          </a:xfrm>
          <a:prstGeom prst="rect">
            <a:avLst/>
          </a:prstGeom>
        </p:spPr>
      </p:pic>
      <p:sp>
        <p:nvSpPr>
          <p:cNvPr id="2" name="Title 1">
            <a:extLst>
              <a:ext uri="{FF2B5EF4-FFF2-40B4-BE49-F238E27FC236}">
                <a16:creationId xmlns:a16="http://schemas.microsoft.com/office/drawing/2014/main" id="{CDB941E0-FB87-F0CC-676D-412B7104D627}"/>
              </a:ext>
            </a:extLst>
          </p:cNvPr>
          <p:cNvSpPr>
            <a:spLocks noGrp="1"/>
          </p:cNvSpPr>
          <p:nvPr>
            <p:ph type="title"/>
          </p:nvPr>
        </p:nvSpPr>
        <p:spPr>
          <a:xfrm>
            <a:off x="838200" y="218714"/>
            <a:ext cx="10515600" cy="1325563"/>
          </a:xfrm>
        </p:spPr>
        <p:txBody>
          <a:bodyPr>
            <a:normAutofit/>
          </a:bodyPr>
          <a:lstStyle/>
          <a:p>
            <a:r>
              <a:rPr lang="en-US" sz="4000" dirty="0"/>
              <a:t>One area modulating IRAF in another region</a:t>
            </a:r>
          </a:p>
        </p:txBody>
      </p:sp>
      <p:sp>
        <p:nvSpPr>
          <p:cNvPr id="11" name="Oval 10">
            <a:extLst>
              <a:ext uri="{FF2B5EF4-FFF2-40B4-BE49-F238E27FC236}">
                <a16:creationId xmlns:a16="http://schemas.microsoft.com/office/drawing/2014/main" id="{1271C90C-04A9-CE23-B7E1-3F87B74D819F}"/>
              </a:ext>
            </a:extLst>
          </p:cNvPr>
          <p:cNvSpPr/>
          <p:nvPr/>
        </p:nvSpPr>
        <p:spPr>
          <a:xfrm>
            <a:off x="9798627" y="2192482"/>
            <a:ext cx="488374" cy="3688773"/>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5643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3D93-70F1-4823-1A5B-CB211406C2CF}"/>
              </a:ext>
            </a:extLst>
          </p:cNvPr>
          <p:cNvSpPr>
            <a:spLocks noGrp="1"/>
          </p:cNvSpPr>
          <p:nvPr>
            <p:ph type="title"/>
          </p:nvPr>
        </p:nvSpPr>
        <p:spPr>
          <a:xfrm>
            <a:off x="838200" y="50800"/>
            <a:ext cx="10515600" cy="1325563"/>
          </a:xfrm>
        </p:spPr>
        <p:txBody>
          <a:bodyPr/>
          <a:lstStyle/>
          <a:p>
            <a:r>
              <a:rPr lang="en-US" dirty="0"/>
              <a:t>RSA single-trial connectivity</a:t>
            </a:r>
          </a:p>
        </p:txBody>
      </p:sp>
      <p:sp>
        <p:nvSpPr>
          <p:cNvPr id="3" name="Content Placeholder 2">
            <a:extLst>
              <a:ext uri="{FF2B5EF4-FFF2-40B4-BE49-F238E27FC236}">
                <a16:creationId xmlns:a16="http://schemas.microsoft.com/office/drawing/2014/main" id="{B56840AC-04E7-483A-9332-14DAE8482B72}"/>
              </a:ext>
            </a:extLst>
          </p:cNvPr>
          <p:cNvSpPr>
            <a:spLocks noGrp="1"/>
          </p:cNvSpPr>
          <p:nvPr>
            <p:ph idx="1"/>
          </p:nvPr>
        </p:nvSpPr>
        <p:spPr>
          <a:xfrm>
            <a:off x="838200" y="1273147"/>
            <a:ext cx="5902234" cy="4967981"/>
          </a:xfrm>
        </p:spPr>
        <p:txBody>
          <a:bodyPr>
            <a:normAutofit/>
          </a:bodyPr>
          <a:lstStyle/>
          <a:p>
            <a:r>
              <a:rPr lang="en-US" dirty="0"/>
              <a:t>Single trial connectivity can be represented as the product of voxel activations </a:t>
            </a:r>
          </a:p>
          <a:p>
            <a:pPr lvl="1"/>
            <a:r>
              <a:rPr lang="en-US" dirty="0"/>
              <a:t>E.g., Connectivity between voxel 0 from region </a:t>
            </a:r>
            <a:r>
              <a:rPr lang="en-US" i="1" dirty="0"/>
              <a:t>a</a:t>
            </a:r>
            <a:r>
              <a:rPr lang="en-US" dirty="0"/>
              <a:t> with voxel 0 from region </a:t>
            </a:r>
            <a:r>
              <a:rPr lang="en-US" i="1" dirty="0"/>
              <a:t>b</a:t>
            </a:r>
            <a:endParaRPr lang="en-US" dirty="0"/>
          </a:p>
          <a:p>
            <a:pPr lvl="1"/>
            <a:r>
              <a:rPr lang="en-US" dirty="0"/>
              <a:t>If region </a:t>
            </a:r>
            <a:r>
              <a:rPr lang="en-US" i="1" dirty="0"/>
              <a:t>a </a:t>
            </a:r>
            <a:r>
              <a:rPr lang="en-US" dirty="0"/>
              <a:t>has 100 voxels and region </a:t>
            </a:r>
            <a:r>
              <a:rPr lang="en-US" i="1" dirty="0"/>
              <a:t>b </a:t>
            </a:r>
            <a:r>
              <a:rPr lang="en-US" dirty="0"/>
              <a:t>has 50 voxels, there are 5000 combinations </a:t>
            </a:r>
          </a:p>
          <a:p>
            <a:pPr lvl="1"/>
            <a:r>
              <a:rPr lang="en-US" dirty="0"/>
              <a:t>Can correlate these product vectors between trials to calculate fMRI RDM</a:t>
            </a:r>
          </a:p>
          <a:p>
            <a:r>
              <a:rPr lang="en-US" dirty="0"/>
              <a:t>Didn’t really pan out to anything meaningful</a:t>
            </a:r>
          </a:p>
        </p:txBody>
      </p:sp>
      <p:pic>
        <p:nvPicPr>
          <p:cNvPr id="5" name="Picture 4">
            <a:extLst>
              <a:ext uri="{FF2B5EF4-FFF2-40B4-BE49-F238E27FC236}">
                <a16:creationId xmlns:a16="http://schemas.microsoft.com/office/drawing/2014/main" id="{AD9CC5CF-C87C-CB20-9B19-39BC8A40C1DE}"/>
              </a:ext>
            </a:extLst>
          </p:cNvPr>
          <p:cNvPicPr>
            <a:picLocks noChangeAspect="1"/>
          </p:cNvPicPr>
          <p:nvPr/>
        </p:nvPicPr>
        <p:blipFill>
          <a:blip r:embed="rId2"/>
          <a:stretch>
            <a:fillRect/>
          </a:stretch>
        </p:blipFill>
        <p:spPr>
          <a:xfrm>
            <a:off x="6968176" y="1150654"/>
            <a:ext cx="5090474" cy="5090474"/>
          </a:xfrm>
          <a:prstGeom prst="rect">
            <a:avLst/>
          </a:prstGeom>
        </p:spPr>
      </p:pic>
    </p:spTree>
    <p:extLst>
      <p:ext uri="{BB962C8B-B14F-4D97-AF65-F5344CB8AC3E}">
        <p14:creationId xmlns:p14="http://schemas.microsoft.com/office/powerpoint/2010/main" val="3408021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56DA8-1899-D6CD-2D7C-C2CAFD67C822}"/>
              </a:ext>
            </a:extLst>
          </p:cNvPr>
          <p:cNvSpPr>
            <a:spLocks noGrp="1"/>
          </p:cNvSpPr>
          <p:nvPr>
            <p:ph type="title"/>
          </p:nvPr>
        </p:nvSpPr>
        <p:spPr/>
        <p:txBody>
          <a:bodyPr/>
          <a:lstStyle/>
          <a:p>
            <a:r>
              <a:rPr lang="en-US" dirty="0"/>
              <a:t>RSA connectivity as triple 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D1433B-2FBE-24A2-937A-D360950F14BE}"/>
                  </a:ext>
                </a:extLst>
              </p:cNvPr>
              <p:cNvSpPr>
                <a:spLocks noGrp="1"/>
              </p:cNvSpPr>
              <p:nvPr>
                <p:ph idx="1"/>
              </p:nvPr>
            </p:nvSpPr>
            <p:spPr>
              <a:xfrm>
                <a:off x="647700" y="1758950"/>
                <a:ext cx="10515600" cy="4351338"/>
              </a:xfrm>
            </p:spPr>
            <p:txBody>
              <a:bodyPr/>
              <a:lstStyle/>
              <a:p>
                <a:r>
                  <a:rPr lang="en-US" dirty="0"/>
                  <a:t>Normally, to do RSA, you get a correlation coefficient (r) for each ROI by correlating the fMRI and stimulus vectors:</a:t>
                </a:r>
              </a:p>
              <a:p>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den>
                    </m:f>
                    <m:nary>
                      <m:naryPr>
                        <m:chr m:val="∑"/>
                        <m:subHide m:val="on"/>
                        <m:supHide m:val="on"/>
                        <m:ctrlPr>
                          <a:rPr lang="en-US" i="1" smtClean="0">
                            <a:latin typeface="Cambria Math" panose="02040503050406030204" pitchFamily="18" charset="0"/>
                          </a:rPr>
                        </m:ctrlPr>
                      </m:naryP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𝑘</m:t>
                        </m:r>
                      </m:sub>
                    </m:sSub>
                  </m:oMath>
                </a14:m>
                <a:r>
                  <a:rPr lang="en-US" dirty="0"/>
                  <a:t>,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sub>
                    </m:sSub>
                  </m:oMath>
                </a14:m>
                <a:r>
                  <a:rPr lang="en-US" dirty="0"/>
                  <a:t> is a normalized fMRI RDM value for ROI </a:t>
                </a:r>
                <a:r>
                  <a:rPr lang="en-US" i="1" dirty="0"/>
                  <a:t>a </a:t>
                </a:r>
                <a:r>
                  <a:rPr lang="en-US" dirty="0"/>
                  <a:t>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𝑘</m:t>
                        </m:r>
                      </m:sub>
                    </m:sSub>
                  </m:oMath>
                </a14:m>
                <a:r>
                  <a:rPr lang="en-US" dirty="0"/>
                  <a:t> is a normalized stimulus RDM value</a:t>
                </a:r>
              </a:p>
              <a:p>
                <a:r>
                  <a:rPr lang="en-US" dirty="0"/>
                  <a:t>To measure connectivity, you could instead:</a:t>
                </a:r>
              </a:p>
              <a:p>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den>
                    </m:f>
                    <m:nary>
                      <m:naryPr>
                        <m:chr m:val="∑"/>
                        <m:subHide m:val="on"/>
                        <m:supHide m:val="on"/>
                        <m:ctrlPr>
                          <a:rPr lang="en-US" i="1" smtClean="0">
                            <a:latin typeface="Cambria Math" panose="02040503050406030204" pitchFamily="18" charset="0"/>
                          </a:rPr>
                        </m:ctrlPr>
                      </m:naryP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𝑘</m:t>
                        </m:r>
                      </m:sub>
                    </m:sSub>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𝑘</m:t>
                        </m:r>
                      </m:sub>
                    </m:sSub>
                  </m:oMath>
                </a14:m>
                <a:r>
                  <a:rPr lang="en-US" dirty="0"/>
                  <a:t>, where </a:t>
                </a:r>
                <a:r>
                  <a:rPr lang="en-US" i="1" dirty="0"/>
                  <a:t>b </a:t>
                </a:r>
                <a:r>
                  <a:rPr lang="en-US" dirty="0"/>
                  <a:t>represents another </a:t>
                </a:r>
                <a:br>
                  <a:rPr lang="en-US" dirty="0"/>
                </a:br>
                <a:r>
                  <a:rPr lang="en-US" dirty="0"/>
                  <a:t>region’s RDM</a:t>
                </a:r>
              </a:p>
              <a:p>
                <a:r>
                  <a:rPr lang="en-US" dirty="0"/>
                  <a:t>This avoids biases described in earlier slide</a:t>
                </a:r>
              </a:p>
              <a:p>
                <a:endParaRPr lang="en-US" dirty="0"/>
              </a:p>
            </p:txBody>
          </p:sp>
        </mc:Choice>
        <mc:Fallback xmlns="">
          <p:sp>
            <p:nvSpPr>
              <p:cNvPr id="3" name="Content Placeholder 2">
                <a:extLst>
                  <a:ext uri="{FF2B5EF4-FFF2-40B4-BE49-F238E27FC236}">
                    <a16:creationId xmlns:a16="http://schemas.microsoft.com/office/drawing/2014/main" id="{0AD1433B-2FBE-24A2-937A-D360950F14BE}"/>
                  </a:ext>
                </a:extLst>
              </p:cNvPr>
              <p:cNvSpPr>
                <a:spLocks noGrp="1" noRot="1" noChangeAspect="1" noMove="1" noResize="1" noEditPoints="1" noAdjustHandles="1" noChangeArrowheads="1" noChangeShapeType="1" noTextEdit="1"/>
              </p:cNvSpPr>
              <p:nvPr>
                <p:ph idx="1"/>
              </p:nvPr>
            </p:nvSpPr>
            <p:spPr>
              <a:xfrm>
                <a:off x="647700" y="1758950"/>
                <a:ext cx="10515600" cy="4351338"/>
              </a:xfrm>
              <a:blipFill>
                <a:blip r:embed="rId2"/>
                <a:stretch>
                  <a:fillRect l="-1043" t="-2525" r="-52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28D5CD4-5B2E-CBB1-EAF9-030C2C8BBF50}"/>
              </a:ext>
            </a:extLst>
          </p:cNvPr>
          <p:cNvPicPr>
            <a:picLocks noChangeAspect="1"/>
          </p:cNvPicPr>
          <p:nvPr/>
        </p:nvPicPr>
        <p:blipFill rotWithShape="1">
          <a:blip r:embed="rId3"/>
          <a:srcRect t="12347" r="9401" b="7824"/>
          <a:stretch/>
        </p:blipFill>
        <p:spPr>
          <a:xfrm>
            <a:off x="8142514" y="3315788"/>
            <a:ext cx="3892731" cy="3429974"/>
          </a:xfrm>
          <a:prstGeom prst="rect">
            <a:avLst/>
          </a:prstGeom>
        </p:spPr>
      </p:pic>
      <p:sp>
        <p:nvSpPr>
          <p:cNvPr id="5" name="Oval 4">
            <a:extLst>
              <a:ext uri="{FF2B5EF4-FFF2-40B4-BE49-F238E27FC236}">
                <a16:creationId xmlns:a16="http://schemas.microsoft.com/office/drawing/2014/main" id="{870E7BF0-13C3-D802-6AA1-B54F9A2BBF8E}"/>
              </a:ext>
            </a:extLst>
          </p:cNvPr>
          <p:cNvSpPr/>
          <p:nvPr/>
        </p:nvSpPr>
        <p:spPr>
          <a:xfrm>
            <a:off x="8690065" y="4014651"/>
            <a:ext cx="2663735" cy="36576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436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D5E1-0773-C500-F8FB-3C5CB06C50DD}"/>
              </a:ext>
            </a:extLst>
          </p:cNvPr>
          <p:cNvSpPr>
            <a:spLocks noGrp="1"/>
          </p:cNvSpPr>
          <p:nvPr>
            <p:ph type="title"/>
          </p:nvPr>
        </p:nvSpPr>
        <p:spPr/>
        <p:txBody>
          <a:bodyPr/>
          <a:lstStyle/>
          <a:p>
            <a:r>
              <a:rPr lang="en-US" dirty="0"/>
              <a:t>RSA network</a:t>
            </a:r>
          </a:p>
        </p:txBody>
      </p:sp>
      <p:sp>
        <p:nvSpPr>
          <p:cNvPr id="3" name="Content Placeholder 2">
            <a:extLst>
              <a:ext uri="{FF2B5EF4-FFF2-40B4-BE49-F238E27FC236}">
                <a16:creationId xmlns:a16="http://schemas.microsoft.com/office/drawing/2014/main" id="{E7DF590B-39CB-FDDF-CAC7-FF214E449EAB}"/>
              </a:ext>
            </a:extLst>
          </p:cNvPr>
          <p:cNvSpPr>
            <a:spLocks noGrp="1"/>
          </p:cNvSpPr>
          <p:nvPr>
            <p:ph idx="1"/>
          </p:nvPr>
        </p:nvSpPr>
        <p:spPr/>
        <p:txBody>
          <a:bodyPr/>
          <a:lstStyle/>
          <a:p>
            <a:r>
              <a:rPr lang="en-US" dirty="0"/>
              <a:t>Next steps, examine multiple regions</a:t>
            </a:r>
          </a:p>
          <a:p>
            <a:r>
              <a:rPr lang="en-US" dirty="0"/>
              <a:t>May employee some of the modularity methods used in </a:t>
            </a:r>
            <a:r>
              <a:rPr lang="en-US" dirty="0" err="1"/>
              <a:t>Lifu’s</a:t>
            </a:r>
            <a:r>
              <a:rPr lang="en-US" dirty="0"/>
              <a:t> thesis</a:t>
            </a:r>
          </a:p>
        </p:txBody>
      </p:sp>
    </p:spTree>
    <p:extLst>
      <p:ext uri="{BB962C8B-B14F-4D97-AF65-F5344CB8AC3E}">
        <p14:creationId xmlns:p14="http://schemas.microsoft.com/office/powerpoint/2010/main" val="3698414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Leftover slides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3379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8D1FA-462C-034B-08E2-B9FBF52233B0}"/>
              </a:ext>
            </a:extLst>
          </p:cNvPr>
          <p:cNvSpPr>
            <a:spLocks noGrp="1"/>
          </p:cNvSpPr>
          <p:nvPr>
            <p:ph type="title"/>
          </p:nvPr>
        </p:nvSpPr>
        <p:spPr/>
        <p:txBody>
          <a:bodyPr/>
          <a:lstStyle/>
          <a:p>
            <a:r>
              <a:rPr lang="en-US" dirty="0"/>
              <a:t>Brief exploration</a:t>
            </a:r>
          </a:p>
        </p:txBody>
      </p:sp>
      <p:sp>
        <p:nvSpPr>
          <p:cNvPr id="3" name="Content Placeholder 2">
            <a:extLst>
              <a:ext uri="{FF2B5EF4-FFF2-40B4-BE49-F238E27FC236}">
                <a16:creationId xmlns:a16="http://schemas.microsoft.com/office/drawing/2014/main" id="{3C8AB766-4441-DC45-0B0F-F208E1E416E1}"/>
              </a:ext>
            </a:extLst>
          </p:cNvPr>
          <p:cNvSpPr>
            <a:spLocks noGrp="1"/>
          </p:cNvSpPr>
          <p:nvPr>
            <p:ph idx="1"/>
          </p:nvPr>
        </p:nvSpPr>
        <p:spPr/>
        <p:txBody>
          <a:bodyPr/>
          <a:lstStyle/>
          <a:p>
            <a:r>
              <a:rPr lang="en-US" dirty="0"/>
              <a:t>What if… </a:t>
            </a:r>
          </a:p>
          <a:p>
            <a:pPr lvl="1"/>
            <a:r>
              <a:rPr lang="en-US" dirty="0"/>
              <a:t>Instead of representing an fMRI vector as all the voxel activations within a given ROI, you instead calculated the ROI vector as the product of all voxel weights (a measure of connectivity)?</a:t>
            </a:r>
          </a:p>
          <a:p>
            <a:r>
              <a:rPr lang="en-US" dirty="0"/>
              <a:t>What happens?</a:t>
            </a:r>
          </a:p>
          <a:p>
            <a:pPr lvl="1"/>
            <a:r>
              <a:rPr lang="en-US" dirty="0"/>
              <a:t>You get null results</a:t>
            </a:r>
          </a:p>
          <a:p>
            <a:pPr lvl="1"/>
            <a:r>
              <a:rPr lang="en-US" dirty="0"/>
              <a:t>Even things like RSA of object in the occipital lobe is fail</a:t>
            </a:r>
          </a:p>
        </p:txBody>
      </p:sp>
    </p:spTree>
    <p:extLst>
      <p:ext uri="{BB962C8B-B14F-4D97-AF65-F5344CB8AC3E}">
        <p14:creationId xmlns:p14="http://schemas.microsoft.com/office/powerpoint/2010/main" val="4151288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285C-24A4-DAD6-547B-D877DACC309A}"/>
              </a:ext>
            </a:extLst>
          </p:cNvPr>
          <p:cNvSpPr>
            <a:spLocks noGrp="1"/>
          </p:cNvSpPr>
          <p:nvPr>
            <p:ph type="title"/>
          </p:nvPr>
        </p:nvSpPr>
        <p:spPr/>
        <p:txBody>
          <a:bodyPr/>
          <a:lstStyle/>
          <a:p>
            <a:r>
              <a:rPr lang="en-US" dirty="0"/>
              <a:t>Investigating difference vector</a:t>
            </a:r>
          </a:p>
        </p:txBody>
      </p:sp>
      <p:sp>
        <p:nvSpPr>
          <p:cNvPr id="3" name="Content Placeholder 2">
            <a:extLst>
              <a:ext uri="{FF2B5EF4-FFF2-40B4-BE49-F238E27FC236}">
                <a16:creationId xmlns:a16="http://schemas.microsoft.com/office/drawing/2014/main" id="{27297277-5B76-6A8C-0721-B6C35648960F}"/>
              </a:ext>
            </a:extLst>
          </p:cNvPr>
          <p:cNvSpPr>
            <a:spLocks noGrp="1"/>
          </p:cNvSpPr>
          <p:nvPr>
            <p:ph idx="1"/>
          </p:nvPr>
        </p:nvSpPr>
        <p:spPr>
          <a:xfrm>
            <a:off x="838200" y="1825624"/>
            <a:ext cx="10515600" cy="4937125"/>
          </a:xfrm>
        </p:spPr>
        <p:txBody>
          <a:bodyPr/>
          <a:lstStyle/>
          <a:p>
            <a:r>
              <a:rPr lang="en-US" dirty="0"/>
              <a:t>Difference vector: (x0 – x1)</a:t>
            </a:r>
          </a:p>
          <a:p>
            <a:r>
              <a:rPr lang="en-US" dirty="0"/>
              <a:t>If (x0 – x1) yields an RSA effect, it may hard to distinguish from whether it is:</a:t>
            </a:r>
          </a:p>
          <a:p>
            <a:pPr lvl="1"/>
            <a:r>
              <a:rPr lang="en-US" dirty="0"/>
              <a:t>Indeed a difference effect</a:t>
            </a:r>
          </a:p>
          <a:p>
            <a:pPr lvl="1"/>
            <a:r>
              <a:rPr lang="en-US" dirty="0"/>
              <a:t>Driven by x0</a:t>
            </a:r>
          </a:p>
          <a:p>
            <a:pPr lvl="1"/>
            <a:r>
              <a:rPr lang="en-US" dirty="0"/>
              <a:t>Driven by –x1</a:t>
            </a:r>
          </a:p>
          <a:p>
            <a:r>
              <a:rPr lang="en-US" dirty="0"/>
              <a:t>Analogous to how for regressions, people advice against using terms like (x0 – x1) but instead to just put x0 and x1 separately</a:t>
            </a:r>
          </a:p>
          <a:p>
            <a:r>
              <a:rPr lang="en-US" dirty="0"/>
              <a:t>This would be particularly problematic if the difference vector effect is in the same spot as the object effect</a:t>
            </a:r>
          </a:p>
          <a:p>
            <a:endParaRPr lang="en-US" dirty="0"/>
          </a:p>
          <a:p>
            <a:endParaRPr lang="en-US" dirty="0"/>
          </a:p>
        </p:txBody>
      </p:sp>
    </p:spTree>
    <p:extLst>
      <p:ext uri="{BB962C8B-B14F-4D97-AF65-F5344CB8AC3E}">
        <p14:creationId xmlns:p14="http://schemas.microsoft.com/office/powerpoint/2010/main" val="3205081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7023</TotalTime>
  <Words>1399</Words>
  <Application>Microsoft Office PowerPoint</Application>
  <PresentationFormat>Widescreen</PresentationFormat>
  <Paragraphs>162</Paragraphs>
  <Slides>32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Cambria Math</vt:lpstr>
      <vt:lpstr>Courier New</vt:lpstr>
      <vt:lpstr>Wingdings</vt:lpstr>
      <vt:lpstr>Office Theme</vt:lpstr>
      <vt:lpstr>Paul Update</vt:lpstr>
      <vt:lpstr>Overview</vt:lpstr>
      <vt:lpstr>Data</vt:lpstr>
      <vt:lpstr>PowerPoint Presentation</vt:lpstr>
      <vt:lpstr>Stimulus representations</vt:lpstr>
      <vt:lpstr>Object RSA</vt:lpstr>
      <vt:lpstr>Object RSA with word2vec</vt:lpstr>
      <vt:lpstr>Scene RSA</vt:lpstr>
      <vt:lpstr>Difference RSA</vt:lpstr>
      <vt:lpstr>Difference RSA x connectivity</vt:lpstr>
      <vt:lpstr>PowerPoint Presentation</vt:lpstr>
      <vt:lpstr>PowerPoint Presentation</vt:lpstr>
      <vt:lpstr>Decoding object representation</vt:lpstr>
      <vt:lpstr>Clean</vt:lpstr>
      <vt:lpstr>Link condition to RDM…</vt:lpstr>
      <vt:lpstr>Result 1A/1B: Object representation</vt:lpstr>
      <vt:lpstr>Result 2A/2B/2C: Schema-object integration</vt:lpstr>
      <vt:lpstr>Result 3: Difference RSA x connectivity</vt:lpstr>
      <vt:lpstr>Speculative</vt:lpstr>
      <vt:lpstr>Scene representation</vt:lpstr>
      <vt:lpstr>Addition &amp; Product RSA</vt:lpstr>
      <vt:lpstr>TODO</vt:lpstr>
      <vt:lpstr>RSA Connectivity</vt:lpstr>
      <vt:lpstr>Overview: How do multiple brain regions work together to represent stimuli?</vt:lpstr>
      <vt:lpstr>IRAF x IRAF connectivity</vt:lpstr>
      <vt:lpstr>One area modulating IRAF in another region</vt:lpstr>
      <vt:lpstr>RSA single-trial connectivity</vt:lpstr>
      <vt:lpstr>RSA connectivity as triple correlation</vt:lpstr>
      <vt:lpstr>RSA network</vt:lpstr>
      <vt:lpstr>Leftover slides</vt:lpstr>
      <vt:lpstr>Brief exploration</vt:lpstr>
      <vt:lpstr>Investigating difference vector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6</cp:revision>
  <dcterms:created xsi:type="dcterms:W3CDTF">2023-09-14T13:36:35Z</dcterms:created>
  <dcterms:modified xsi:type="dcterms:W3CDTF">2023-09-24T17:47:17Z</dcterms:modified>
</cp:coreProperties>
</file>