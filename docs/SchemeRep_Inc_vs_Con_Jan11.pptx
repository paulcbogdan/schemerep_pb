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6" r:id="rId2"/>
    <p:sldId id="304" r:id="rId3"/>
    <p:sldId id="267" r:id="rId4"/>
    <p:sldId id="271" r:id="rId5"/>
    <p:sldId id="274" r:id="rId6"/>
    <p:sldId id="312" r:id="rId7"/>
    <p:sldId id="276" r:id="rId8"/>
    <p:sldId id="313" r:id="rId9"/>
    <p:sldId id="278" r:id="rId10"/>
    <p:sldId id="279" r:id="rId11"/>
    <p:sldId id="277" r:id="rId12"/>
    <p:sldId id="284" r:id="rId13"/>
    <p:sldId id="283" r:id="rId14"/>
    <p:sldId id="305" r:id="rId15"/>
    <p:sldId id="310" r:id="rId16"/>
    <p:sldId id="311" r:id="rId17"/>
    <p:sldId id="306" r:id="rId18"/>
    <p:sldId id="309" r:id="rId19"/>
    <p:sldId id="308" r:id="rId20"/>
    <p:sldId id="30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6" autoAdjust="0"/>
    <p:restoredTop sz="89520" autoAdjust="0"/>
  </p:normalViewPr>
  <p:slideViewPr>
    <p:cSldViewPr snapToGrid="0">
      <p:cViewPr>
        <p:scale>
          <a:sx n="150" d="100"/>
          <a:sy n="150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11268-7A0B-4448-98B7-B695368F7E0E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984D3-8271-419D-89C9-B49E490F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13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99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91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14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31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8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Could do the models to formally test YA vs. OA. Look at between/within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Correlate item accuracy with between/</a:t>
            </a:r>
            <a:r>
              <a:rPr lang="en-US"/>
              <a:t>within average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44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0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5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11, 2024</a:t>
            </a:r>
          </a:p>
        </p:txBody>
      </p:sp>
    </p:spTree>
    <p:extLst>
      <p:ext uri="{BB962C8B-B14F-4D97-AF65-F5344CB8AC3E}">
        <p14:creationId xmlns:p14="http://schemas.microsoft.com/office/powerpoint/2010/main" val="297594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84D1-F078-164D-7AE2-5CA99746F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D90F-1A97-16A8-9441-7000533B5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Older adults process schemas more intensely</a:t>
            </a:r>
          </a:p>
          <a:p>
            <a:pPr lvl="1"/>
            <a:r>
              <a:rPr lang="en-US" dirty="0"/>
              <a:t>They represent schema content more strongly (RSA analysis using BOLD data; does not measure connectivity)</a:t>
            </a:r>
          </a:p>
          <a:p>
            <a:pPr lvl="1"/>
            <a:r>
              <a:rPr lang="en-US" dirty="0"/>
              <a:t>Reflected by stronger representation in medial occipital areas, inferior parietal areas, and the ATL</a:t>
            </a:r>
          </a:p>
          <a:p>
            <a:r>
              <a:rPr lang="en-US" dirty="0"/>
              <a:t>Older adults are more sensitive to schema-object congruency</a:t>
            </a:r>
          </a:p>
          <a:p>
            <a:pPr lvl="1"/>
            <a:r>
              <a:rPr lang="en-US" dirty="0"/>
              <a:t>Reflected by effects of congruency on connectivity between the IPL and ventral stream</a:t>
            </a:r>
          </a:p>
          <a:p>
            <a:pPr lvl="1"/>
            <a:r>
              <a:rPr lang="en-US" dirty="0"/>
              <a:t>Greater impact on perceptual processing</a:t>
            </a:r>
          </a:p>
        </p:txBody>
      </p:sp>
    </p:spTree>
    <p:extLst>
      <p:ext uri="{BB962C8B-B14F-4D97-AF65-F5344CB8AC3E}">
        <p14:creationId xmlns:p14="http://schemas.microsoft.com/office/powerpoint/2010/main" val="655294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Object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1864" y="1399646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6C2EC4-622B-48C5-C14F-6FCB45C0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919815"/>
            <a:ext cx="3810000" cy="4762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8A3CAC-870A-C688-0477-75B360B64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1" y="1919815"/>
            <a:ext cx="3810000" cy="47625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7611531" y="1399645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779738-E097-A929-A7D3-1AB7773137AC}"/>
              </a:ext>
            </a:extLst>
          </p:cNvPr>
          <p:cNvSpPr txBox="1"/>
          <p:nvPr/>
        </p:nvSpPr>
        <p:spPr>
          <a:xfrm>
            <a:off x="0" y="1625863"/>
            <a:ext cx="295275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RSA performed: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Model RDM is based on word2vec embeddings of the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scene’s image’s name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fMRI RDM is based on the object betas (next slide would show similar results suing the scene betas)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OA show significant RSA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Thresholding is liberal (p &lt; .05, uncorrected)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Hence, some activation patterns may be Type I Errors (e.g., the YA ITG and/or MFG effect)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DB0F4-9855-B45A-D1D1-B95BC8BC6C42}"/>
              </a:ext>
            </a:extLst>
          </p:cNvPr>
          <p:cNvSpPr txBox="1"/>
          <p:nvPr/>
        </p:nvSpPr>
        <p:spPr>
          <a:xfrm>
            <a:off x="4543562" y="5898621"/>
            <a:ext cx="83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t-value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F5170F-5F9E-C8C0-D6FC-D6970664A397}"/>
              </a:ext>
            </a:extLst>
          </p:cNvPr>
          <p:cNvSpPr txBox="1"/>
          <p:nvPr/>
        </p:nvSpPr>
        <p:spPr>
          <a:xfrm>
            <a:off x="9107097" y="5898620"/>
            <a:ext cx="83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t-value</a:t>
            </a:r>
          </a:p>
        </p:txBody>
      </p:sp>
    </p:spTree>
    <p:extLst>
      <p:ext uri="{BB962C8B-B14F-4D97-AF65-F5344CB8AC3E}">
        <p14:creationId xmlns:p14="http://schemas.microsoft.com/office/powerpoint/2010/main" val="315190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Scene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263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6620930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36340-DECA-F354-2BB4-9C324707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330" y="1953683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BC9E1F-B94A-7830-8A87-C738A309C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96" y="1953683"/>
            <a:ext cx="3810000" cy="4762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5CE43-3516-A883-B38F-DD8A909FC0C8}"/>
              </a:ext>
            </a:extLst>
          </p:cNvPr>
          <p:cNvSpPr txBox="1"/>
          <p:nvPr/>
        </p:nvSpPr>
        <p:spPr>
          <a:xfrm>
            <a:off x="14820" y="1939122"/>
            <a:ext cx="21526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Similar results when using the scene betas as when using the object betas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OA show significant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772473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B8BB-E455-915C-9B16-6FEC0A24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Scene beta RSA using perceptual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29D315-F58F-3778-EEF8-B6F947356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620044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08D93D-7BD2-2955-529D-0115D96D5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100" y="1620044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48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D15F4E5-13C0-ADE7-4D6D-B4FB5CC01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1" y="1953683"/>
            <a:ext cx="3810000" cy="4762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1E6778-8E8B-E699-61EA-59748337E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467" y="1953683"/>
            <a:ext cx="3810000" cy="4762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u="sng" dirty="0"/>
              <a:t>Object</a:t>
            </a:r>
            <a:r>
              <a:rPr lang="en-US" dirty="0"/>
              <a:t> RSA: Object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534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8331201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4FA5A2-5173-0719-900C-0B329B1ED9ED}"/>
              </a:ext>
            </a:extLst>
          </p:cNvPr>
          <p:cNvSpPr txBox="1">
            <a:spLocks/>
          </p:cNvSpPr>
          <p:nvPr/>
        </p:nvSpPr>
        <p:spPr>
          <a:xfrm>
            <a:off x="152399" y="1885949"/>
            <a:ext cx="3454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Sanity check</a:t>
            </a:r>
          </a:p>
          <a:p>
            <a:r>
              <a:rPr lang="en-US" sz="2000" dirty="0"/>
              <a:t>RSA performed using word2vec embeddings of the </a:t>
            </a:r>
            <a:r>
              <a:rPr lang="en-US" sz="2000" u="sng" dirty="0"/>
              <a:t>object’s name</a:t>
            </a:r>
          </a:p>
          <a:p>
            <a:r>
              <a:rPr lang="en-US" sz="2000" dirty="0"/>
              <a:t>These results show that OA aren’t representing objects particularly more intensely, just the scenes</a:t>
            </a:r>
          </a:p>
        </p:txBody>
      </p:sp>
    </p:spTree>
    <p:extLst>
      <p:ext uri="{BB962C8B-B14F-4D97-AF65-F5344CB8AC3E}">
        <p14:creationId xmlns:p14="http://schemas.microsoft.com/office/powerpoint/2010/main" val="869853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DC273-017B-DFB6-C0B1-42D8F637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RSA, object betas perceptual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B4BD7-B1DF-E43A-DF1A-4FE9BDCF1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50" y="1620044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50CBF0-AC81-D3C7-A56F-A19AE51CA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850" y="149860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21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1B4AFDB-1BDE-A252-5233-2C5E7503373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55" r="226"/>
          <a:stretch/>
        </p:blipFill>
        <p:spPr>
          <a:xfrm>
            <a:off x="5679182" y="1344667"/>
            <a:ext cx="888513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Inferior parietal lobule (IPL)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39528-386B-5F02-444E-A1F7A52327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 r="37635"/>
          <a:stretch/>
        </p:blipFill>
        <p:spPr>
          <a:xfrm>
            <a:off x="2827820" y="1345213"/>
            <a:ext cx="2975932" cy="297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5EA447-5242-5F5D-5505-136D5B223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5" y="1752258"/>
            <a:ext cx="2743200" cy="2286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6126A0-12AD-5CDE-77EC-A6F0E07F4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5" y="4478864"/>
            <a:ext cx="2743200" cy="228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D42784-F30A-9346-2F41-626B5609BE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8046" y="4478864"/>
            <a:ext cx="27432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EB70C8-67EA-8BC8-1621-F7DCDE2A00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380" y="4478864"/>
            <a:ext cx="2743200" cy="228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0CC730-49FB-D013-4C20-F3D8AB20FD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890" y="1752258"/>
            <a:ext cx="2743200" cy="228600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80CDDD-9373-AA21-C16D-1D6144A735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8254" y="4478864"/>
            <a:ext cx="2743200" cy="228600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/>
          <p:nvPr/>
        </p:nvCxnSpPr>
        <p:spPr>
          <a:xfrm flipH="1">
            <a:off x="6998171" y="26209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F53181-C376-6142-F9FE-60D9A2E6A168}"/>
              </a:ext>
            </a:extLst>
          </p:cNvPr>
          <p:cNvCxnSpPr>
            <a:cxnSpLocks/>
          </p:cNvCxnSpPr>
          <p:nvPr/>
        </p:nvCxnSpPr>
        <p:spPr>
          <a:xfrm>
            <a:off x="7469099" y="26209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63699" y="23587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30308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3636735-C579-2BD9-BEFB-84FD44536D9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1" t="10326" r="37548"/>
          <a:stretch/>
        </p:blipFill>
        <p:spPr>
          <a:xfrm>
            <a:off x="10129352" y="102895"/>
            <a:ext cx="1711009" cy="149566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003891-3C36-2F51-7C38-128056AFB0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05" r="9899"/>
          <a:stretch/>
        </p:blipFill>
        <p:spPr>
          <a:xfrm>
            <a:off x="5093115" y="3424125"/>
            <a:ext cx="687395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F5E3EB-BD2F-9CBB-010F-5E6D396042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1" t="12180" r="72657" b="8591"/>
          <a:stretch/>
        </p:blipFill>
        <p:spPr>
          <a:xfrm>
            <a:off x="4545705" y="3777872"/>
            <a:ext cx="530834" cy="5207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B3245C-9BC0-A00E-3DBE-2EAB323FDA8C}"/>
              </a:ext>
            </a:extLst>
          </p:cNvPr>
          <p:cNvSpPr txBox="1"/>
          <p:nvPr/>
        </p:nvSpPr>
        <p:spPr>
          <a:xfrm>
            <a:off x="7296966" y="24960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3C17C-C743-DF08-F21B-7CA474A1EBBC}"/>
              </a:ext>
            </a:extLst>
          </p:cNvPr>
          <p:cNvSpPr txBox="1"/>
          <p:nvPr/>
        </p:nvSpPr>
        <p:spPr>
          <a:xfrm>
            <a:off x="168245" y="42336"/>
            <a:ext cx="23372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Focus on IPL is justified by classifier-based analyses showing that it’s connectivity is impacted by congruency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PCun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showed a prominent RSA effect, but it doesn’t show connectivity effects linked to congruency</a:t>
            </a:r>
          </a:p>
        </p:txBody>
      </p:sp>
    </p:spTree>
    <p:extLst>
      <p:ext uri="{BB962C8B-B14F-4D97-AF65-F5344CB8AC3E}">
        <p14:creationId xmlns:p14="http://schemas.microsoft.com/office/powerpoint/2010/main" val="271807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A860-1FEC-7394-5BD7-E4DBC6583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16"/>
            <a:ext cx="10515600" cy="1155745"/>
          </a:xfrm>
        </p:spPr>
        <p:txBody>
          <a:bodyPr>
            <a:normAutofit/>
          </a:bodyPr>
          <a:lstStyle/>
          <a:p>
            <a:r>
              <a:rPr lang="en-US" sz="4000" dirty="0"/>
              <a:t>Mean connectivity by age and condition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FDFD4-871A-26B5-5E13-08FEECF5A82F}"/>
              </a:ext>
            </a:extLst>
          </p:cNvPr>
          <p:cNvSpPr txBox="1"/>
          <p:nvPr/>
        </p:nvSpPr>
        <p:spPr>
          <a:xfrm>
            <a:off x="1121140" y="1644059"/>
            <a:ext cx="5719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Younger adults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EEE43-BDAF-D7E4-49EE-8C47AC000671}"/>
              </a:ext>
            </a:extLst>
          </p:cNvPr>
          <p:cNvSpPr txBox="1"/>
          <p:nvPr/>
        </p:nvSpPr>
        <p:spPr>
          <a:xfrm>
            <a:off x="6418541" y="1653348"/>
            <a:ext cx="5719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Older adults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A374BA-FBDE-0B18-3A7F-A3D71C1F5B21}"/>
              </a:ext>
            </a:extLst>
          </p:cNvPr>
          <p:cNvSpPr txBox="1"/>
          <p:nvPr/>
        </p:nvSpPr>
        <p:spPr>
          <a:xfrm rot="16200000">
            <a:off x="-654617" y="2984647"/>
            <a:ext cx="278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Incongruent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F28392-831D-3C6C-C9C0-927D01E975A6}"/>
              </a:ext>
            </a:extLst>
          </p:cNvPr>
          <p:cNvSpPr txBox="1"/>
          <p:nvPr/>
        </p:nvSpPr>
        <p:spPr>
          <a:xfrm rot="16200000">
            <a:off x="-654618" y="5351685"/>
            <a:ext cx="278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Congruent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1A5AA37-C145-46D9-BCBD-397186CC7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008" y="2388848"/>
            <a:ext cx="5243871" cy="1828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0BB6C6E-9763-3782-A132-15B7D807B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009" y="4573143"/>
            <a:ext cx="5243871" cy="1828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AAE76A7-19DE-5560-9F97-83C780E53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537" y="2390545"/>
            <a:ext cx="5243871" cy="1828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3BB4443-1AE5-C7FC-B555-5E5FC83545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537" y="4573143"/>
            <a:ext cx="5243871" cy="18288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18A3A1-CBFF-F9CA-DE70-80617B3DFD95}"/>
              </a:ext>
            </a:extLst>
          </p:cNvPr>
          <p:cNvSpPr txBox="1"/>
          <p:nvPr/>
        </p:nvSpPr>
        <p:spPr>
          <a:xfrm>
            <a:off x="1676400" y="1177761"/>
            <a:ext cx="8870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OA vs. YA numerical differences are small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499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4587360-5997-69EB-3DB5-1AB63E288D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97"/>
          <a:stretch/>
        </p:blipFill>
        <p:spPr>
          <a:xfrm>
            <a:off x="5722289" y="1343300"/>
            <a:ext cx="921283" cy="2971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D15E87-9DA2-498B-9B41-563605C858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8" r="37882"/>
          <a:stretch/>
        </p:blipFill>
        <p:spPr>
          <a:xfrm>
            <a:off x="2839487" y="1348956"/>
            <a:ext cx="2989739" cy="297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FA14B-E9B3-6422-975B-0B58CBA129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2" t="11894" r="37254"/>
          <a:stretch/>
        </p:blipFill>
        <p:spPr>
          <a:xfrm>
            <a:off x="10144721" y="169726"/>
            <a:ext cx="1669608" cy="14314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Anterior temporal lobe (ATL)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>
            <a:cxnSpLocks/>
          </p:cNvCxnSpPr>
          <p:nvPr/>
        </p:nvCxnSpPr>
        <p:spPr>
          <a:xfrm flipH="1" flipV="1">
            <a:off x="6993633" y="3424125"/>
            <a:ext cx="1451728" cy="58195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 flipH="1" flipV="1">
            <a:off x="7707617" y="3579832"/>
            <a:ext cx="795706" cy="33840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09836" y="233315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28403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6E81B-F641-884D-DBD8-51E289171016}"/>
              </a:ext>
            </a:extLst>
          </p:cNvPr>
          <p:cNvSpPr txBox="1"/>
          <p:nvPr/>
        </p:nvSpPr>
        <p:spPr>
          <a:xfrm>
            <a:off x="7290813" y="2493392"/>
            <a:ext cx="405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F68237-B46F-6EE7-AF54-51B7C7D8E2C4}"/>
              </a:ext>
            </a:extLst>
          </p:cNvPr>
          <p:cNvCxnSpPr>
            <a:cxnSpLocks/>
          </p:cNvCxnSpPr>
          <p:nvPr/>
        </p:nvCxnSpPr>
        <p:spPr>
          <a:xfrm flipH="1">
            <a:off x="8556825" y="3011168"/>
            <a:ext cx="319230" cy="92095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43E0FC-F21E-300D-FC9E-5EE7CEC37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2" y="1807149"/>
            <a:ext cx="2743200" cy="2286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FFEC89-C9E0-5E87-1542-F83411674E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32" y="4437720"/>
            <a:ext cx="2743200" cy="2286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9DB4725-C862-11D8-EDDB-C3602BCB4F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2881" y="4437720"/>
            <a:ext cx="2743200" cy="2286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9F8BA83-0AEC-6AC2-9FFF-380824F883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8566" y="1790216"/>
            <a:ext cx="2743200" cy="2286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5B3A941-80DD-4212-5063-45A89F1D27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8566" y="4437720"/>
            <a:ext cx="2743200" cy="2286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DA5A50A-AA21-B1A0-4BFD-A73CA40F6B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0150" y="443772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3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8757-C158-D541-D0CD-F12EA5A7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49712-A725-93FC-17ED-7C20E3B19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would be good if we can argue that these OA vs. YA differences do not just reflect differences in task engagement</a:t>
            </a:r>
          </a:p>
          <a:p>
            <a:pPr lvl="1"/>
            <a:r>
              <a:rPr lang="en-US" dirty="0"/>
              <a:t>The behavioral data may support this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04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A860-1FEC-7394-5BD7-E4DBC6583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740" y="0"/>
            <a:ext cx="10515600" cy="1325563"/>
          </a:xfrm>
        </p:spPr>
        <p:txBody>
          <a:bodyPr>
            <a:noAutofit/>
          </a:bodyPr>
          <a:lstStyle/>
          <a:p>
            <a:r>
              <a:rPr lang="en-US" sz="2800" dirty="0"/>
              <a:t>Activation-based analyses on congruency vs. incongruency </a:t>
            </a:r>
            <a:br>
              <a:rPr lang="en-US" sz="2800" dirty="0"/>
            </a:br>
            <a:r>
              <a:rPr lang="en-US" sz="2800" dirty="0"/>
              <a:t>(not much; ignore this slide)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FDFD4-871A-26B5-5E13-08FEECF5A82F}"/>
              </a:ext>
            </a:extLst>
          </p:cNvPr>
          <p:cNvSpPr txBox="1"/>
          <p:nvPr/>
        </p:nvSpPr>
        <p:spPr>
          <a:xfrm>
            <a:off x="1174680" y="1278934"/>
            <a:ext cx="5719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Younger adults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EEE43-BDAF-D7E4-49EE-8C47AC000671}"/>
              </a:ext>
            </a:extLst>
          </p:cNvPr>
          <p:cNvSpPr txBox="1"/>
          <p:nvPr/>
        </p:nvSpPr>
        <p:spPr>
          <a:xfrm>
            <a:off x="6472081" y="1288223"/>
            <a:ext cx="5719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Older adults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A374BA-FBDE-0B18-3A7F-A3D71C1F5B21}"/>
              </a:ext>
            </a:extLst>
          </p:cNvPr>
          <p:cNvSpPr txBox="1"/>
          <p:nvPr/>
        </p:nvSpPr>
        <p:spPr>
          <a:xfrm rot="16200000">
            <a:off x="-601077" y="2681076"/>
            <a:ext cx="278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Univariate t-test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F28392-831D-3C6C-C9C0-927D01E975A6}"/>
              </a:ext>
            </a:extLst>
          </p:cNvPr>
          <p:cNvSpPr txBox="1"/>
          <p:nvPr/>
        </p:nvSpPr>
        <p:spPr>
          <a:xfrm rot="16200000">
            <a:off x="-601078" y="4894227"/>
            <a:ext cx="278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Subject-specific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classifier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A05E54-B1AC-2828-50A5-E6CF7A144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37" y="2149475"/>
            <a:ext cx="5247633" cy="1828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8012FF-D023-BE83-4CEC-1F37F144C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703" y="2149475"/>
            <a:ext cx="5247633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AFF192-2FF4-E04B-D716-C7C6C7CB7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750" y="4254752"/>
            <a:ext cx="5301405" cy="182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63727C-2E89-4666-848F-8B82A51F3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489" y="4264041"/>
            <a:ext cx="5275587" cy="1828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E000D2-0BDB-B2FF-6AA2-53B0FAF35F0D}"/>
              </a:ext>
            </a:extLst>
          </p:cNvPr>
          <p:cNvSpPr txBox="1"/>
          <p:nvPr/>
        </p:nvSpPr>
        <p:spPr>
          <a:xfrm>
            <a:off x="2168979" y="6186457"/>
            <a:ext cx="8897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Activity effects are small looking at just a single ROI or a small set may not be enough. Classification greatly improves if looking at large areas (e.g., full occipital + some ventral stream or full PFC)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BF6B6B-B43C-1F49-DCFF-7DD9939F4052}"/>
              </a:ext>
            </a:extLst>
          </p:cNvPr>
          <p:cNvSpPr txBox="1"/>
          <p:nvPr/>
        </p:nvSpPr>
        <p:spPr>
          <a:xfrm>
            <a:off x="-73382" y="675327"/>
            <a:ext cx="20327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Colors reflect t-test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Positive = greater for incongruent, 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negative = greater for congruent</a:t>
            </a:r>
          </a:p>
        </p:txBody>
      </p:sp>
    </p:spTree>
    <p:extLst>
      <p:ext uri="{BB962C8B-B14F-4D97-AF65-F5344CB8AC3E}">
        <p14:creationId xmlns:p14="http://schemas.microsoft.com/office/powerpoint/2010/main" val="1588093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15, 2024</a:t>
            </a:r>
          </a:p>
        </p:txBody>
      </p:sp>
    </p:spTree>
    <p:extLst>
      <p:ext uri="{BB962C8B-B14F-4D97-AF65-F5344CB8AC3E}">
        <p14:creationId xmlns:p14="http://schemas.microsoft.com/office/powerpoint/2010/main" val="1563550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FF79-E745-BDDF-AAA7-A601EB6C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A09E1-B69F-3AE4-7ACE-58A5EF25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Older adults represent schemas more strongly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 OA, congruency is processed by separate ventral and dorsal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YA-OA differences in connectivity are more larger when processing congruent information</a:t>
            </a:r>
          </a:p>
          <a:p>
            <a:pPr lvl="1"/>
            <a:r>
              <a:rPr lang="en-US" dirty="0"/>
              <a:t>The effect of aging is greatest when applying schemas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831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Scene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263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6620930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36340-DECA-F354-2BB4-9C324707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330" y="1953683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BC9E1F-B94A-7830-8A87-C738A309C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96" y="1953683"/>
            <a:ext cx="3810000" cy="4762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5CE43-3516-A883-B38F-DD8A909FC0C8}"/>
              </a:ext>
            </a:extLst>
          </p:cNvPr>
          <p:cNvSpPr txBox="1"/>
          <p:nvPr/>
        </p:nvSpPr>
        <p:spPr>
          <a:xfrm>
            <a:off x="14820" y="1939122"/>
            <a:ext cx="21526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Similar results when using the scene betas as when using the object betas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OA show significant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276385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4239-44B3-0FD7-B95C-C256CA2A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Modularity analysis of the congruency t-graph</a:t>
            </a:r>
            <a:endParaRPr lang="en-US" sz="1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C7AC97-3823-CE42-C815-C0391CE98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6" y="2172789"/>
            <a:ext cx="5068951" cy="201168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D3CFB9-9E58-E536-C172-4DF5DD2CC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4401642"/>
            <a:ext cx="5068950" cy="2011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AC3A46-3017-ECD0-DA5D-8EF669609A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524" y="4503691"/>
            <a:ext cx="5068948" cy="2011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2862F4-3F9B-2E21-121C-9450629F2C38}"/>
              </a:ext>
            </a:extLst>
          </p:cNvPr>
          <p:cNvSpPr txBox="1"/>
          <p:nvPr/>
        </p:nvSpPr>
        <p:spPr>
          <a:xfrm>
            <a:off x="2118398" y="1629103"/>
            <a:ext cx="2125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F75F9-8BCA-6334-ED7B-334DEE3673AD}"/>
              </a:ext>
            </a:extLst>
          </p:cNvPr>
          <p:cNvSpPr txBox="1"/>
          <p:nvPr/>
        </p:nvSpPr>
        <p:spPr>
          <a:xfrm>
            <a:off x="8004848" y="1629103"/>
            <a:ext cx="2345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92B46A-7ABF-924F-EFF0-1A5DEFE020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524" y="2322167"/>
            <a:ext cx="5068950" cy="201168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0548B2A-6851-2BA1-E40E-85DC72954B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3238" y="1211915"/>
            <a:ext cx="1766571" cy="168618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79AB9D46-639C-A5EB-0684-3C10F2238585}"/>
              </a:ext>
            </a:extLst>
          </p:cNvPr>
          <p:cNvSpPr txBox="1"/>
          <p:nvPr/>
        </p:nvSpPr>
        <p:spPr>
          <a:xfrm rot="776336">
            <a:off x="6081529" y="1385229"/>
            <a:ext cx="11496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5A1A40-D511-6A03-CF27-6B0577BB47DB}"/>
              </a:ext>
            </a:extLst>
          </p:cNvPr>
          <p:cNvSpPr txBox="1"/>
          <p:nvPr/>
        </p:nvSpPr>
        <p:spPr>
          <a:xfrm rot="1119358">
            <a:off x="6912469" y="2259289"/>
            <a:ext cx="12586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D36E75-BC6F-CAE1-DBC7-DE07CC765C69}"/>
              </a:ext>
            </a:extLst>
          </p:cNvPr>
          <p:cNvSpPr txBox="1"/>
          <p:nvPr/>
        </p:nvSpPr>
        <p:spPr>
          <a:xfrm>
            <a:off x="411733" y="971620"/>
            <a:ext cx="4374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Aging leads to a dorsal-ventral division of congruency processing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5FE813-3609-9CC7-222B-074A37627F4A}"/>
              </a:ext>
            </a:extLst>
          </p:cNvPr>
          <p:cNvSpPr txBox="1"/>
          <p:nvPr/>
        </p:nvSpPr>
        <p:spPr>
          <a:xfrm>
            <a:off x="164082" y="6457890"/>
            <a:ext cx="11284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connectivity within one of these “modules” does not predict subsequent memory</a:t>
            </a:r>
          </a:p>
        </p:txBody>
      </p:sp>
    </p:spTree>
    <p:extLst>
      <p:ext uri="{BB962C8B-B14F-4D97-AF65-F5344CB8AC3E}">
        <p14:creationId xmlns:p14="http://schemas.microsoft.com/office/powerpoint/2010/main" val="1910543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2759A-374F-7ECE-53BB-389F54C9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230" y="42861"/>
            <a:ext cx="10515600" cy="1325563"/>
          </a:xfrm>
        </p:spPr>
        <p:txBody>
          <a:bodyPr/>
          <a:lstStyle/>
          <a:p>
            <a:r>
              <a:rPr lang="en-US" dirty="0"/>
              <a:t>Main effect of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C9692-CC97-CEA1-2B84-FDC0D2F4A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86" y="1253331"/>
            <a:ext cx="6419850" cy="4351338"/>
          </a:xfrm>
        </p:spPr>
        <p:txBody>
          <a:bodyPr/>
          <a:lstStyle/>
          <a:p>
            <a:r>
              <a:rPr lang="en-US" dirty="0"/>
              <a:t>Positive (bright color) = higher in YA</a:t>
            </a:r>
          </a:p>
          <a:p>
            <a:r>
              <a:rPr lang="en-US" dirty="0"/>
              <a:t>Negative (dark) = higher in OA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D15E5-F219-F59E-6731-114862066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992" y="2328861"/>
            <a:ext cx="5524322" cy="1925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4EE8BF-6BD4-84C2-226F-AE54CF1F5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12" y="2328861"/>
            <a:ext cx="5524322" cy="1925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BB3754-6BE3-6CDF-71A0-E5D1A6CD3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587" y="4423262"/>
            <a:ext cx="2743200" cy="2286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5FD8D86-1F04-6890-1113-FA00722FE8EB}"/>
              </a:ext>
            </a:extLst>
          </p:cNvPr>
          <p:cNvSpPr/>
          <p:nvPr/>
        </p:nvSpPr>
        <p:spPr>
          <a:xfrm rot="12576151">
            <a:off x="5068999" y="5629710"/>
            <a:ext cx="910028" cy="252181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0A19FC-7AA6-5339-4BD2-A35006231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954" y="4423262"/>
            <a:ext cx="274320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1BBA9A-A991-0736-35A1-B42E1C8BE6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3303" y="4423262"/>
            <a:ext cx="2743200" cy="228600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D7D8269-44C7-7B61-A103-F60E7A13A713}"/>
              </a:ext>
            </a:extLst>
          </p:cNvPr>
          <p:cNvSpPr/>
          <p:nvPr/>
        </p:nvSpPr>
        <p:spPr>
          <a:xfrm rot="8383476">
            <a:off x="8072022" y="5812097"/>
            <a:ext cx="910028" cy="252181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4431441-98E3-19A0-BA7E-937A507E2EEE}"/>
              </a:ext>
            </a:extLst>
          </p:cNvPr>
          <p:cNvSpPr/>
          <p:nvPr/>
        </p:nvSpPr>
        <p:spPr>
          <a:xfrm rot="9579896">
            <a:off x="10799204" y="5906063"/>
            <a:ext cx="910028" cy="252181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96122-F42B-111C-3C0C-30DFD11985BE}"/>
              </a:ext>
            </a:extLst>
          </p:cNvPr>
          <p:cNvSpPr txBox="1">
            <a:spLocks/>
          </p:cNvSpPr>
          <p:nvPr/>
        </p:nvSpPr>
        <p:spPr>
          <a:xfrm>
            <a:off x="81859" y="4429660"/>
            <a:ext cx="3436495" cy="1310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50"/>
                </a:solidFill>
              </a:rPr>
              <a:t>Incongruency leads to YA becoming more like OA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AA2F191-3132-FB7F-35CB-8BD852BBB389}"/>
              </a:ext>
            </a:extLst>
          </p:cNvPr>
          <p:cNvSpPr txBox="1">
            <a:spLocks/>
          </p:cNvSpPr>
          <p:nvPr/>
        </p:nvSpPr>
        <p:spPr>
          <a:xfrm>
            <a:off x="81859" y="5704172"/>
            <a:ext cx="3156863" cy="1310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Maybe could look at a contrast with </a:t>
            </a:r>
            <a:r>
              <a:rPr lang="en-US" sz="1800" dirty="0" err="1"/>
              <a:t>rs</a:t>
            </a:r>
            <a:r>
              <a:rPr lang="en-US" sz="1800" dirty="0"/>
              <a:t>-fMRI to establish that these are task-related differences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D6A78D-C59F-91CC-C0D3-B6F2C2EA5C77}"/>
              </a:ext>
            </a:extLst>
          </p:cNvPr>
          <p:cNvSpPr/>
          <p:nvPr/>
        </p:nvSpPr>
        <p:spPr>
          <a:xfrm>
            <a:off x="2628900" y="2891288"/>
            <a:ext cx="203200" cy="203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503F46F-0A8F-B054-45F8-A532C5419244}"/>
              </a:ext>
            </a:extLst>
          </p:cNvPr>
          <p:cNvSpPr/>
          <p:nvPr/>
        </p:nvSpPr>
        <p:spPr>
          <a:xfrm>
            <a:off x="8902483" y="3545561"/>
            <a:ext cx="203200" cy="203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3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D903-0E9A-FEB0-F895-7EDBF097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Tried regressing memory accuracy on scene 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837AE-A2A6-00ED-D96C-AC13C64AE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77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Hit ~ IPL * MFG + LOC * ATL + (1 | subject)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Does not yield reliably significant results</a:t>
            </a:r>
          </a:p>
          <a:p>
            <a:pPr lvl="1"/>
            <a:r>
              <a:rPr lang="en-US" dirty="0"/>
              <a:t>I tried switching around the dependent variable (visual vs. conceptual hit) and the terms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693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089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10217</TotalTime>
  <Words>712</Words>
  <Application>Microsoft Office PowerPoint</Application>
  <PresentationFormat>Widescreen</PresentationFormat>
  <Paragraphs>119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Wingdings</vt:lpstr>
      <vt:lpstr>Office Theme</vt:lpstr>
      <vt:lpstr>SchemeRep</vt:lpstr>
      <vt:lpstr>3-session fMRI study (SchemRep)</vt:lpstr>
      <vt:lpstr>Results overview</vt:lpstr>
      <vt:lpstr>Scene RSA: Object presentation betas</vt:lpstr>
      <vt:lpstr>Scene RSA: Scene presentation betas</vt:lpstr>
      <vt:lpstr>Scene beta RSA using perceptual model</vt:lpstr>
      <vt:lpstr>Object RSA: Object presentation betas</vt:lpstr>
      <vt:lpstr>Object RSA, object betas perceptual</vt:lpstr>
      <vt:lpstr>Inferior parietal lobule (IPL)</vt:lpstr>
      <vt:lpstr>Mean connectivity by age and condition</vt:lpstr>
      <vt:lpstr>Anterior temporal lobe (ATL)</vt:lpstr>
      <vt:lpstr>Note</vt:lpstr>
      <vt:lpstr>Activation-based analyses on congruency vs. incongruency  (not much; ignore this slide)</vt:lpstr>
      <vt:lpstr>SchemeRep</vt:lpstr>
      <vt:lpstr>Results</vt:lpstr>
      <vt:lpstr>Scene RSA: Scene presentation betas</vt:lpstr>
      <vt:lpstr>Modularity analysis of the congruency t-graph</vt:lpstr>
      <vt:lpstr>Main effect of age</vt:lpstr>
      <vt:lpstr>Tried regressing memory accuracy on scene RSA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41</cp:revision>
  <dcterms:created xsi:type="dcterms:W3CDTF">2024-01-08T13:56:24Z</dcterms:created>
  <dcterms:modified xsi:type="dcterms:W3CDTF">2024-01-15T16:14:03Z</dcterms:modified>
</cp:coreProperties>
</file>