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61" r:id="rId4"/>
    <p:sldId id="257" r:id="rId5"/>
    <p:sldId id="262" r:id="rId6"/>
    <p:sldId id="446" r:id="rId7"/>
    <p:sldId id="265" r:id="rId8"/>
    <p:sldId id="304" r:id="rId9"/>
    <p:sldId id="441" r:id="rId10"/>
    <p:sldId id="445" r:id="rId11"/>
    <p:sldId id="263" r:id="rId12"/>
    <p:sldId id="264" r:id="rId13"/>
    <p:sldId id="448" r:id="rId14"/>
    <p:sldId id="444" r:id="rId15"/>
    <p:sldId id="447" r:id="rId16"/>
    <p:sldId id="259" r:id="rId17"/>
    <p:sldId id="442" r:id="rId18"/>
    <p:sldId id="443" r:id="rId19"/>
    <p:sldId id="26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3195" autoAdjust="0"/>
  </p:normalViewPr>
  <p:slideViewPr>
    <p:cSldViewPr snapToGrid="0">
      <p:cViewPr varScale="1">
        <p:scale>
          <a:sx n="85" d="100"/>
          <a:sy n="85" d="100"/>
        </p:scale>
        <p:origin x="102" y="15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9C5F78-04CE-4EEF-B13A-9C9048BDF607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9C42BB-EA19-4439-9E1F-2A1A9246A1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907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Mouse research shows how reciprocal loops among cortical regions are necessary for working memory maintenance (</a:t>
            </a:r>
            <a:r>
              <a:rPr lang="en-US" dirty="0" err="1"/>
              <a:t>Voitov</a:t>
            </a:r>
            <a:r>
              <a:rPr lang="en-US" dirty="0"/>
              <a:t> &amp; </a:t>
            </a:r>
            <a:r>
              <a:rPr lang="en-US" dirty="0" err="1"/>
              <a:t>Mrsic-Flogel</a:t>
            </a:r>
            <a:r>
              <a:rPr lang="en-US" dirty="0"/>
              <a:t>, 2022)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C42BB-EA19-4439-9E1F-2A1A9246A11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918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Could measure connectivity between session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665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D00B-6584-4BEB-BB07-D320C4244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93775-97DA-4F0C-8091-7243A71F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E7B29-494F-46C3-98E5-9F2CFE6B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11/26/2023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9F06-03E1-4DE2-98E0-74887BAC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5F46-6594-4C1E-B5CA-1F1D6F2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8E2B-D6F1-4EA2-8F10-7D5D1797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061B-03B3-4665-AA43-89C80159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A43-9AA0-4950-B1EC-6BFB6F75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B70E-48FE-49D7-B925-546DA100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68AE-EABA-4A35-AFE9-C39F595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B53F-ED2E-4673-A940-F01A32CB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96FD-D16C-4F81-BDA1-928AE471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1EED-EFC9-4E32-A27E-A04910AB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C3AC-D4C3-43A1-B81B-0FE71E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31A4-C8E4-40B1-8060-9CD773F0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4271-11DA-4E97-B187-22F01CD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5DB8-CF97-4315-BD7D-836111B75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2452B-E913-4410-8B5A-FEA37D31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FC7-4A31-4ECB-B9E2-E3F4794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0980-53A5-4B2D-8BF1-430BA18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7DF36-9C11-43B0-AFBB-13D8E0B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380-5819-47C0-B6DB-1BCA49A3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1FCE-3703-4337-967E-C2A5382D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31D9-4835-412C-88CC-3CD3C6FA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8CEF9-828A-4745-997E-A7DBBAD10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2CBA7-3ACA-46DD-B733-BAC85603B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5A09-EDB5-46E6-893D-EFB70025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2CA3-1581-43C3-98FC-59A33E3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09075-C4B1-42AC-8C75-4FB48837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10F9-1F70-4CC0-A1BC-D1C42C2B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85726-DBEF-4CA3-839B-3520755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A00EA-3C23-4588-BF03-F22ABBE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3800-C9A5-4235-B574-19A01268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CECA6-D996-452B-AD6A-269CA184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A0586-0096-41A3-A9AF-EE9CB38C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7BFA-2216-49F0-AF38-B46C9D8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C996-C8A9-4FB0-A317-2E7E908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7B42-DBC2-47A8-A40D-BAE9775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1C7B-35CB-4880-A0AC-805BFB5B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47D0-2081-45E3-9C7E-BF43B9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C9F89-7930-49B0-A81E-736C95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24FF2-1361-4D73-A914-D030278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A0EA-C4AE-4F36-8754-7F92C6FD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1EA3-D358-4C88-8CEE-AF58C034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2496-CC08-4831-A9A9-D5744A80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ED85-6938-40CE-A6E8-A23E8105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890F1-7ABC-438C-86BC-16AABE5A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9E24A-6694-40DE-A232-40F924D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043-E298-4666-8D40-3D14B1C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29ED-D0CE-46BF-BF1D-C444FE7C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E7BF-BCB2-4C76-9FCF-0BC64869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8F2D-07AF-4D6E-8EE6-F00A819F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9C9D-03F5-4136-A115-2B5FC467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8F8E-91D5-4268-9E68-89B29C78C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A7A88-61E4-488E-96E2-DC43AFC7C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047E-85C8-4E09-8CD6-618AA4BB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3190-D85C-4508-A9FB-2F4F4CA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CC3-2A4A-4F7B-970D-92630A69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8FB9C-8843-415F-A091-7ADDE32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4287-E011-453F-99FD-D95C1BD6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418-76C4-4EDB-91EF-C8E4A73B4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B2E29-6454-4170-AF87-B006FFB35D00}" type="datetimeFigureOut">
              <a:rPr lang="en-US" smtClean="0"/>
              <a:t>11/26/2023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4509-FFF9-4164-B6C3-46DDB68E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2CDD-6359-4BCA-92D7-C7A8CB3D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Distributed Semantic Representations in the Prefrontal Cortex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907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B1B3D-14E6-A553-FA53-D3BAA4607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Introduction 1: Conceptual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7554D-B661-B56D-0A3B-6956F514E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1" y="1155720"/>
            <a:ext cx="5384800" cy="55056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Cognitive neuroscience has increasingly focused on how cognitive functions are distributed across multiple regions</a:t>
            </a:r>
          </a:p>
          <a:p>
            <a:pPr lvl="1"/>
            <a:r>
              <a:rPr lang="en-US" dirty="0"/>
              <a:t>Functional modules</a:t>
            </a:r>
          </a:p>
          <a:p>
            <a:r>
              <a:rPr lang="en-US" dirty="0"/>
              <a:t>Different types of information are processed in a distributed fashion</a:t>
            </a:r>
          </a:p>
          <a:p>
            <a:pPr lvl="1"/>
            <a:r>
              <a:rPr lang="en-US" dirty="0"/>
              <a:t>fMRI research demonstrates how brain areas specialize in representing specific features (Deniz, … Gallant, 2019)</a:t>
            </a:r>
          </a:p>
          <a:p>
            <a:pPr lvl="1"/>
            <a:r>
              <a:rPr lang="en-US" dirty="0"/>
              <a:t>PFC in particular is thought to…</a:t>
            </a:r>
          </a:p>
          <a:p>
            <a:r>
              <a:rPr lang="en-US" dirty="0"/>
              <a:t>Yet there is little reach on how these different regions work together to represent stimuli</a:t>
            </a:r>
          </a:p>
          <a:p>
            <a:pPr lvl="1"/>
            <a:r>
              <a:rPr lang="en-US" dirty="0"/>
              <a:t>Analyses typically target “micro” levels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5F76CA-B56E-EA79-717A-05740EF1A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623" y="1245661"/>
            <a:ext cx="6150977" cy="49674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EEE032-819E-7219-0DE2-DF3400520B63}"/>
              </a:ext>
            </a:extLst>
          </p:cNvPr>
          <p:cNvSpPr txBox="1"/>
          <p:nvPr/>
        </p:nvSpPr>
        <p:spPr>
          <a:xfrm>
            <a:off x="7981950" y="6322766"/>
            <a:ext cx="24257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(Deniz, … Gallant, 2019)</a:t>
            </a:r>
          </a:p>
        </p:txBody>
      </p:sp>
    </p:spTree>
    <p:extLst>
      <p:ext uri="{BB962C8B-B14F-4D97-AF65-F5344CB8AC3E}">
        <p14:creationId xmlns:p14="http://schemas.microsoft.com/office/powerpoint/2010/main" val="1625608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3BF0F-84A3-4B8A-B18F-EBB9166A3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2: Methodological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F4BBA-09C1-4BBA-F618-987DAFC2E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Usually, representations are studied in terms of voxel-level (BOLD) activation</a:t>
            </a:r>
          </a:p>
          <a:p>
            <a:r>
              <a:rPr lang="en-US" dirty="0"/>
              <a:t>Such data are submitted to RSA</a:t>
            </a:r>
          </a:p>
          <a:p>
            <a:r>
              <a:rPr lang="en-US" dirty="0"/>
              <a:t>This is thought to tap into information processing of neural populations</a:t>
            </a:r>
          </a:p>
          <a:p>
            <a:r>
              <a:rPr lang="en-US" dirty="0"/>
              <a:t>Can this framework be adapted to research possible distributed representations?</a:t>
            </a:r>
          </a:p>
        </p:txBody>
      </p:sp>
    </p:spTree>
    <p:extLst>
      <p:ext uri="{BB962C8B-B14F-4D97-AF65-F5344CB8AC3E}">
        <p14:creationId xmlns:p14="http://schemas.microsoft.com/office/powerpoint/2010/main" val="2321123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DA879-656E-48B4-B866-55CD7EBD9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analytic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AE440-9768-4CF6-B3DB-71C4B16F9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47517" cy="4351338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Average betas by ROI, such that you get one scalar per trial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 each trial, measure the similarity between all scalars</a:t>
            </a:r>
          </a:p>
          <a:p>
            <a:pPr lvl="1"/>
            <a:r>
              <a:rPr lang="en-US" dirty="0"/>
              <a:t>This may reflect the interaction between ROIs</a:t>
            </a:r>
          </a:p>
          <a:p>
            <a:pPr lvl="1"/>
            <a:r>
              <a:rPr lang="en-US" dirty="0"/>
              <a:t>Connectivity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Flatten this triangle. The resulting vector is the neural measure for a given trial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Submit to standard analytic pipelines </a:t>
            </a:r>
          </a:p>
          <a:p>
            <a:pPr lvl="1"/>
            <a:r>
              <a:rPr lang="en-US" dirty="0"/>
              <a:t>RSA</a:t>
            </a:r>
          </a:p>
          <a:p>
            <a:pPr lvl="1"/>
            <a:r>
              <a:rPr lang="en-US" dirty="0"/>
              <a:t>Item pattern similarity</a:t>
            </a:r>
          </a:p>
        </p:txBody>
      </p:sp>
    </p:spTree>
    <p:extLst>
      <p:ext uri="{BB962C8B-B14F-4D97-AF65-F5344CB8AC3E}">
        <p14:creationId xmlns:p14="http://schemas.microsoft.com/office/powerpoint/2010/main" val="1226400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84375-7149-D76A-F4F8-35113C27D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177"/>
            <a:ext cx="10515600" cy="860634"/>
          </a:xfrm>
        </p:spPr>
        <p:txBody>
          <a:bodyPr/>
          <a:lstStyle/>
          <a:p>
            <a:r>
              <a:rPr lang="en-US" dirty="0"/>
              <a:t>Present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0C307-9820-BE8D-0EBD-E44F72E5C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1906"/>
            <a:ext cx="10515600" cy="571721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Perform standard voxel-based RSA, and map out the regions that represent semantic information</a:t>
            </a:r>
          </a:p>
          <a:p>
            <a:pPr lvl="1"/>
            <a:r>
              <a:rPr lang="en-US" dirty="0"/>
              <a:t>Identify regions that represent stimulus information across all four tasks: Baseline, encoding, visual retrieval, conceptual retrieval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Perform distribution-based RSA and examine whether the PFC represents semantic information in a distributed manner</a:t>
            </a:r>
          </a:p>
          <a:p>
            <a:pPr lvl="1"/>
            <a:r>
              <a:rPr lang="en-US" dirty="0"/>
              <a:t>Control for activation-based </a:t>
            </a:r>
            <a:r>
              <a:rPr lang="en-US" dirty="0" err="1"/>
              <a:t>iRAF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Also, perform item pattern similarity analysis</a:t>
            </a:r>
          </a:p>
          <a:p>
            <a:pPr lvl="1"/>
            <a:r>
              <a:rPr lang="en-US" dirty="0"/>
              <a:t>For both the voxel- and distribution-based data</a:t>
            </a:r>
          </a:p>
          <a:p>
            <a:pPr lvl="1"/>
            <a:r>
              <a:rPr lang="en-US" dirty="0"/>
              <a:t>Attempt to identify similar patterns and thus converging evidence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Examine specific tasks</a:t>
            </a:r>
          </a:p>
          <a:p>
            <a:pPr lvl="1"/>
            <a:r>
              <a:rPr lang="en-US" dirty="0"/>
              <a:t>Conceptual retrieval task is relatively unique among these and of particular interest because…</a:t>
            </a:r>
          </a:p>
        </p:txBody>
      </p:sp>
    </p:spTree>
    <p:extLst>
      <p:ext uri="{BB962C8B-B14F-4D97-AF65-F5344CB8AC3E}">
        <p14:creationId xmlns:p14="http://schemas.microsoft.com/office/powerpoint/2010/main" val="274865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966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7437A-87F5-1A65-10A2-D1B9AFE85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Participants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891C3-8739-10D6-781B-864D5ABCF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Examining 30 young adults with data on all four tasks</a:t>
            </a:r>
          </a:p>
          <a:p>
            <a:pPr lvl="1"/>
            <a:r>
              <a:rPr lang="en-US" dirty="0"/>
              <a:t>No participants with partial data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704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0" y="1954212"/>
            <a:ext cx="4985773" cy="47672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b="1" dirty="0"/>
              <a:t>Baseline</a:t>
            </a:r>
            <a:r>
              <a:rPr lang="en-US" altLang="zh-CN" dirty="0"/>
              <a:t>: rated image-label typicality for objects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Encoding</a:t>
            </a:r>
            <a:r>
              <a:rPr lang="en-US" dirty="0"/>
              <a:t>: Presentation of scene and object. Rated how likely one is to find the object in the scene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Retrieval</a:t>
            </a:r>
            <a:r>
              <a:rPr lang="en-US" dirty="0"/>
              <a:t>: conceptual old/new followed by visual old/similar/new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383D4-A18D-BBFA-1BDA-099C2F8C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9CECC-3013-1697-DB76-D42854B95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08" y="2371725"/>
            <a:ext cx="6371892" cy="361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1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7E7E7-84C6-62F5-31BD-7FA8EAD2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452"/>
            <a:ext cx="10515600" cy="1325563"/>
          </a:xfrm>
        </p:spPr>
        <p:txBody>
          <a:bodyPr/>
          <a:lstStyle/>
          <a:p>
            <a:r>
              <a:rPr lang="en-US" dirty="0"/>
              <a:t>Multi-session analyses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5906C9-AD2C-7696-56C5-DB5475DFF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63086"/>
            <a:ext cx="5448300" cy="309020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FAA08CD-5669-38BA-35A0-929393D84D57}"/>
              </a:ext>
            </a:extLst>
          </p:cNvPr>
          <p:cNvSpPr/>
          <p:nvPr/>
        </p:nvSpPr>
        <p:spPr>
          <a:xfrm>
            <a:off x="6562724" y="2562430"/>
            <a:ext cx="742951" cy="5238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CB6DDB-9A3C-0464-641B-3EF8C19E9DBA}"/>
              </a:ext>
            </a:extLst>
          </p:cNvPr>
          <p:cNvSpPr/>
          <p:nvPr/>
        </p:nvSpPr>
        <p:spPr>
          <a:xfrm>
            <a:off x="9324974" y="2571955"/>
            <a:ext cx="742951" cy="5238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D045E6D-760D-5180-0D49-6EDDA4CEF99B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7305675" y="2824368"/>
            <a:ext cx="2019299" cy="9525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72836EF-E909-0C32-7D9A-FA38754CA005}"/>
              </a:ext>
            </a:extLst>
          </p:cNvPr>
          <p:cNvSpPr txBox="1"/>
          <p:nvPr/>
        </p:nvSpPr>
        <p:spPr>
          <a:xfrm>
            <a:off x="7699792" y="2231734"/>
            <a:ext cx="1435008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Similarity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46550DA-C53B-C811-2739-A8450FCF316E}"/>
              </a:ext>
            </a:extLst>
          </p:cNvPr>
          <p:cNvCxnSpPr>
            <a:cxnSpLocks/>
          </p:cNvCxnSpPr>
          <p:nvPr/>
        </p:nvCxnSpPr>
        <p:spPr>
          <a:xfrm flipH="1">
            <a:off x="6404718" y="3072863"/>
            <a:ext cx="167531" cy="466725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EA9999A-A775-E1A4-56D1-30D7A5949F77}"/>
              </a:ext>
            </a:extLst>
          </p:cNvPr>
          <p:cNvSpPr txBox="1"/>
          <p:nvPr/>
        </p:nvSpPr>
        <p:spPr>
          <a:xfrm>
            <a:off x="5999785" y="3611416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11F386-1033-1144-D525-811A6CE5A6DD}"/>
              </a:ext>
            </a:extLst>
          </p:cNvPr>
          <p:cNvSpPr/>
          <p:nvPr/>
        </p:nvSpPr>
        <p:spPr>
          <a:xfrm>
            <a:off x="9511477" y="4460733"/>
            <a:ext cx="742951" cy="5238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[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82DA349-7837-F0E6-4117-2F8303926847}"/>
              </a:ext>
            </a:extLst>
          </p:cNvPr>
          <p:cNvCxnSpPr>
            <a:cxnSpLocks/>
            <a:stCxn id="5" idx="0"/>
            <a:endCxn id="7" idx="2"/>
          </p:cNvCxnSpPr>
          <p:nvPr/>
        </p:nvCxnSpPr>
        <p:spPr>
          <a:xfrm flipH="1" flipV="1">
            <a:off x="9696450" y="3095830"/>
            <a:ext cx="186503" cy="1364903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AF2583F-9142-2FC6-6B58-1BF27CA1E694}"/>
              </a:ext>
            </a:extLst>
          </p:cNvPr>
          <p:cNvCxnSpPr>
            <a:cxnSpLocks/>
          </p:cNvCxnSpPr>
          <p:nvPr/>
        </p:nvCxnSpPr>
        <p:spPr>
          <a:xfrm flipH="1" flipV="1">
            <a:off x="7323115" y="3062531"/>
            <a:ext cx="2188362" cy="1398202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5C937FB-8BC6-E703-3B15-6E59E95BD144}"/>
              </a:ext>
            </a:extLst>
          </p:cNvPr>
          <p:cNvCxnSpPr>
            <a:cxnSpLocks/>
          </p:cNvCxnSpPr>
          <p:nvPr/>
        </p:nvCxnSpPr>
        <p:spPr>
          <a:xfrm flipH="1">
            <a:off x="9715421" y="4986568"/>
            <a:ext cx="167531" cy="466725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AEFB495-9599-0DEF-911C-868DCBA4BC4A}"/>
              </a:ext>
            </a:extLst>
          </p:cNvPr>
          <p:cNvSpPr txBox="1"/>
          <p:nvPr/>
        </p:nvSpPr>
        <p:spPr>
          <a:xfrm>
            <a:off x="9324974" y="5456304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RSA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FE9C906-380C-D54F-2903-CE143B95D79A}"/>
              </a:ext>
            </a:extLst>
          </p:cNvPr>
          <p:cNvCxnSpPr>
            <a:cxnSpLocks/>
          </p:cNvCxnSpPr>
          <p:nvPr/>
        </p:nvCxnSpPr>
        <p:spPr>
          <a:xfrm flipV="1">
            <a:off x="10058400" y="2198712"/>
            <a:ext cx="279029" cy="373243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1A531662-41EB-A43B-7B45-ACB9F7557517}"/>
              </a:ext>
            </a:extLst>
          </p:cNvPr>
          <p:cNvSpPr txBox="1"/>
          <p:nvPr/>
        </p:nvSpPr>
        <p:spPr>
          <a:xfrm>
            <a:off x="10272184" y="1839211"/>
            <a:ext cx="659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B57208-C5D0-5AE6-606A-F01EC33A93D4}"/>
              </a:ext>
            </a:extLst>
          </p:cNvPr>
          <p:cNvSpPr/>
          <p:nvPr/>
        </p:nvSpPr>
        <p:spPr>
          <a:xfrm>
            <a:off x="6558727" y="4101398"/>
            <a:ext cx="742951" cy="5238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[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59813AD-CDC3-05FA-DF19-E6EDF2C43E24}"/>
              </a:ext>
            </a:extLst>
          </p:cNvPr>
          <p:cNvCxnSpPr>
            <a:cxnSpLocks/>
          </p:cNvCxnSpPr>
          <p:nvPr/>
        </p:nvCxnSpPr>
        <p:spPr>
          <a:xfrm flipH="1">
            <a:off x="6405485" y="4615879"/>
            <a:ext cx="167531" cy="466725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2C62802-6C75-1E0B-77E1-DB7B5F8A038E}"/>
              </a:ext>
            </a:extLst>
          </p:cNvPr>
          <p:cNvSpPr txBox="1"/>
          <p:nvPr/>
        </p:nvSpPr>
        <p:spPr>
          <a:xfrm>
            <a:off x="6000552" y="5154432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RSA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9265F23-785E-E47F-04F3-F04753F45E04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7301678" y="4363335"/>
            <a:ext cx="2209799" cy="359336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2818492-631C-03EF-E2E2-497E4D0D0015}"/>
              </a:ext>
            </a:extLst>
          </p:cNvPr>
          <p:cNvCxnSpPr>
            <a:cxnSpLocks/>
            <a:stCxn id="9" idx="0"/>
            <a:endCxn id="6" idx="2"/>
          </p:cNvCxnSpPr>
          <p:nvPr/>
        </p:nvCxnSpPr>
        <p:spPr>
          <a:xfrm flipV="1">
            <a:off x="6930203" y="3086305"/>
            <a:ext cx="3997" cy="1015093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21B15B3-8E98-1EC1-458A-3869D84444A5}"/>
              </a:ext>
            </a:extLst>
          </p:cNvPr>
          <p:cNvCxnSpPr>
            <a:cxnSpLocks/>
          </p:cNvCxnSpPr>
          <p:nvPr/>
        </p:nvCxnSpPr>
        <p:spPr>
          <a:xfrm flipV="1">
            <a:off x="7273009" y="3078859"/>
            <a:ext cx="2051965" cy="1005296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ontent Placeholder 2">
            <a:extLst>
              <a:ext uri="{FF2B5EF4-FFF2-40B4-BE49-F238E27FC236}">
                <a16:creationId xmlns:a16="http://schemas.microsoft.com/office/drawing/2014/main" id="{6933406F-AC87-338E-826C-7AB1CEB9D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954213"/>
            <a:ext cx="4985773" cy="4502336"/>
          </a:xfrm>
        </p:spPr>
        <p:txBody>
          <a:bodyPr>
            <a:normAutofit/>
          </a:bodyPr>
          <a:lstStyle/>
          <a:p>
            <a:r>
              <a:rPr lang="en-US" dirty="0"/>
              <a:t>Leverage the large amount of data</a:t>
            </a:r>
          </a:p>
          <a:p>
            <a:r>
              <a:rPr lang="en-US" dirty="0"/>
              <a:t>RSA focused on semantic (word2vec) information</a:t>
            </a:r>
          </a:p>
          <a:p>
            <a:pPr lvl="1"/>
            <a:r>
              <a:rPr lang="en-US" dirty="0"/>
              <a:t>Increase validity by requiring patterns across both pictorial and verbal stimuli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081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7437A-87F5-1A65-10A2-D1B9AFE85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the PFC for the distribution-based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891C3-8739-10D6-781B-864D5ABCF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82447"/>
            <a:ext cx="10515600" cy="4351338"/>
          </a:xfrm>
        </p:spPr>
        <p:txBody>
          <a:bodyPr/>
          <a:lstStyle/>
          <a:p>
            <a:r>
              <a:rPr lang="en-US" dirty="0"/>
              <a:t>Distribution-analysis focused on the PFC, combining 52 ROIs</a:t>
            </a:r>
          </a:p>
          <a:p>
            <a:pPr lvl="1"/>
            <a:r>
              <a:rPr lang="en-US" dirty="0"/>
              <a:t>SFG,</a:t>
            </a:r>
          </a:p>
          <a:p>
            <a:pPr lvl="1"/>
            <a:r>
              <a:rPr lang="en-US" dirty="0"/>
              <a:t>MFG,</a:t>
            </a:r>
          </a:p>
          <a:p>
            <a:pPr lvl="1"/>
            <a:r>
              <a:rPr lang="en-US" dirty="0"/>
              <a:t>IFG,</a:t>
            </a:r>
          </a:p>
          <a:p>
            <a:pPr lvl="1"/>
            <a:r>
              <a:rPr lang="en-US" dirty="0"/>
              <a:t>Orbital gyrus</a:t>
            </a:r>
          </a:p>
          <a:p>
            <a:pPr lvl="1"/>
            <a:r>
              <a:rPr lang="en-US" dirty="0"/>
              <a:t>Defined based on </a:t>
            </a:r>
            <a:r>
              <a:rPr lang="en-US" dirty="0" err="1"/>
              <a:t>Brainnetome</a:t>
            </a:r>
            <a:r>
              <a:rPr lang="en-US" dirty="0"/>
              <a:t> Atlas labels</a:t>
            </a:r>
          </a:p>
          <a:p>
            <a:r>
              <a:rPr lang="en-US" dirty="0"/>
              <a:t>Could look into, instead, defining it based on graph theory modules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652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09893-5274-B580-85B7-719E76E3C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iRAF</a:t>
            </a:r>
            <a:r>
              <a:rPr lang="en-US" dirty="0"/>
              <a:t> procedures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A1DE2-D25B-4D83-FB24-8E3C54939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For all four tasks, calculate trial-by-trial </a:t>
            </a:r>
            <a:r>
              <a:rPr lang="en-US" dirty="0" err="1"/>
              <a:t>iRAFs</a:t>
            </a:r>
            <a:r>
              <a:rPr lang="en-US" dirty="0"/>
              <a:t> based on voxel- or distribution-level data</a:t>
            </a:r>
          </a:p>
          <a:p>
            <a:r>
              <a:rPr lang="en-US" dirty="0"/>
              <a:t>Submit to multilevel regressions:</a:t>
            </a:r>
            <a:br>
              <a:rPr lang="en-US" dirty="0"/>
            </a:br>
            <a:endParaRPr lang="en-US" dirty="0"/>
          </a:p>
          <a:p>
            <a:pPr marL="0" indent="0" algn="ctr">
              <a:buNone/>
            </a:pPr>
            <a:r>
              <a:rPr lang="en-US" dirty="0" err="1"/>
              <a:t>iRAF</a:t>
            </a:r>
            <a:r>
              <a:rPr lang="en-US" dirty="0"/>
              <a:t> ~ 1 +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(1 | subject) + (1 | task)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 significant positive intercept indicates that a stimulus is represented across all four tasks</a:t>
            </a:r>
          </a:p>
          <a:p>
            <a:r>
              <a:rPr lang="en-US" dirty="0"/>
              <a:t>This should not be seen as merely averaging across the four tasks</a:t>
            </a:r>
          </a:p>
          <a:p>
            <a:pPr lvl="1"/>
            <a:r>
              <a:rPr lang="en-US" dirty="0"/>
              <a:t>If standard RSA procedures were performed on each task separately and identified </a:t>
            </a:r>
            <a:br>
              <a:rPr lang="en-US" dirty="0"/>
            </a:br>
            <a:r>
              <a:rPr lang="en-US" dirty="0"/>
              <a:t>t-values of [2, 4, 3, -2], the multilevel regression would likely yield an insignificant result</a:t>
            </a:r>
          </a:p>
          <a:p>
            <a:pPr lvl="1"/>
            <a:r>
              <a:rPr lang="en-US" dirty="0"/>
              <a:t>However, if standard procedures identified [1, 2, 1, 2], the multilevel regression would likely yield a significant result</a:t>
            </a:r>
          </a:p>
        </p:txBody>
      </p:sp>
    </p:spTree>
    <p:extLst>
      <p:ext uri="{BB962C8B-B14F-4D97-AF65-F5344CB8AC3E}">
        <p14:creationId xmlns:p14="http://schemas.microsoft.com/office/powerpoint/2010/main" val="2736117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09893-5274-B580-85B7-719E76E3C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iRAF</a:t>
            </a:r>
            <a:r>
              <a:rPr lang="en-US" dirty="0"/>
              <a:t> procedures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A1DE2-D25B-4D83-FB24-8E3C54939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dirty="0"/>
              <a:t>To ensure that the distribution-results are “more than the sum of their parts”, control for ROI-level </a:t>
            </a:r>
            <a:r>
              <a:rPr lang="en-US" dirty="0" err="1"/>
              <a:t>iRAFs</a:t>
            </a:r>
            <a:endParaRPr lang="en-US" dirty="0"/>
          </a:p>
          <a:p>
            <a:r>
              <a:rPr lang="en-US" dirty="0"/>
              <a:t>Submit to multilevel regressions:</a:t>
            </a:r>
            <a:br>
              <a:rPr lang="en-US" dirty="0"/>
            </a:br>
            <a:endParaRPr lang="en-US" dirty="0"/>
          </a:p>
          <a:p>
            <a:pPr marL="0" indent="0" algn="ctr">
              <a:buNone/>
            </a:pPr>
            <a:r>
              <a:rPr lang="en-US" sz="2400" dirty="0" err="1"/>
              <a:t>iRAF</a:t>
            </a:r>
            <a:r>
              <a:rPr lang="en-US" sz="2400" baseline="-25000" dirty="0" err="1"/>
              <a:t>dist</a:t>
            </a:r>
            <a:r>
              <a:rPr lang="en-US" sz="2400" baseline="-25000" dirty="0"/>
              <a:t>-PFC</a:t>
            </a:r>
            <a:r>
              <a:rPr lang="en-US" sz="2400" dirty="0"/>
              <a:t> ~ 1 + IRAF</a:t>
            </a:r>
            <a:r>
              <a:rPr lang="en-US" sz="2400" baseline="-25000" dirty="0"/>
              <a:t>SFG-1</a:t>
            </a:r>
            <a:r>
              <a:rPr lang="en-US" sz="2400" dirty="0"/>
              <a:t> + … + IRAF</a:t>
            </a:r>
            <a:r>
              <a:rPr lang="en-US" sz="2400" baseline="-25000" dirty="0"/>
              <a:t>Orbital-2</a:t>
            </a:r>
            <a:r>
              <a:rPr lang="en-US" sz="2400" dirty="0"/>
              <a:t> + (1 | subject) + (1 | task)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Control for 52 ROI-level </a:t>
            </a:r>
            <a:r>
              <a:rPr lang="en-US" dirty="0" err="1"/>
              <a:t>iRAFs</a:t>
            </a:r>
            <a:r>
              <a:rPr lang="en-US" dirty="0"/>
              <a:t> in total</a:t>
            </a:r>
          </a:p>
        </p:txBody>
      </p:sp>
    </p:spTree>
    <p:extLst>
      <p:ext uri="{BB962C8B-B14F-4D97-AF65-F5344CB8AC3E}">
        <p14:creationId xmlns:p14="http://schemas.microsoft.com/office/powerpoint/2010/main" val="2440287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09893-5274-B580-85B7-719E76E3C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Item-pattern similarity procedures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A1DE2-D25B-4D83-FB24-8E3C54939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13842"/>
          </a:xfrm>
        </p:spPr>
        <p:txBody>
          <a:bodyPr>
            <a:normAutofit/>
          </a:bodyPr>
          <a:lstStyle/>
          <a:p>
            <a:r>
              <a:rPr lang="en-US" dirty="0"/>
              <a:t>Item-pattern similarity (IPS) can be measured in slightly different ways</a:t>
            </a:r>
          </a:p>
          <a:p>
            <a:r>
              <a:rPr lang="en-US" dirty="0"/>
              <a:t>Can calculate IPS score for each participant and each pair of tasks </a:t>
            </a:r>
          </a:p>
          <a:p>
            <a:pPr lvl="1"/>
            <a:r>
              <a:rPr lang="en-US" dirty="0"/>
              <a:t>IPS score = similarity between the neural responses toward the same stimulus being presented in different tasks</a:t>
            </a:r>
          </a:p>
          <a:p>
            <a:pPr lvl="2"/>
            <a:r>
              <a:rPr lang="en-US" dirty="0"/>
              <a:t>Subtract similarity between the neural responses toward different stimuli</a:t>
            </a:r>
          </a:p>
          <a:p>
            <a:pPr lvl="1"/>
            <a:r>
              <a:rPr lang="en-US" dirty="0"/>
              <a:t>For each participant, average their score across the six pairs of tasks and submit the data to a one-sample t-test</a:t>
            </a:r>
          </a:p>
          <a:p>
            <a:r>
              <a:rPr lang="en-US" dirty="0"/>
              <a:t>This strategy is easy to understand</a:t>
            </a:r>
          </a:p>
          <a:p>
            <a:pPr lvl="1"/>
            <a:r>
              <a:rPr lang="en-US" dirty="0"/>
              <a:t>Although most papers do not combine data across 3+ tasks, this strategy should still feel mostly familiar to readers</a:t>
            </a:r>
          </a:p>
        </p:txBody>
      </p:sp>
    </p:spTree>
    <p:extLst>
      <p:ext uri="{BB962C8B-B14F-4D97-AF65-F5344CB8AC3E}">
        <p14:creationId xmlns:p14="http://schemas.microsoft.com/office/powerpoint/2010/main" val="9931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09893-5274-B580-85B7-719E76E3C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Alternative item-pattern similarity procedures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A1DE2-D25B-4D83-FB24-8E3C54939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67086"/>
          </a:xfrm>
        </p:spPr>
        <p:txBody>
          <a:bodyPr>
            <a:normAutofit/>
          </a:bodyPr>
          <a:lstStyle/>
          <a:p>
            <a:r>
              <a:rPr lang="en-US" dirty="0"/>
              <a:t>Much like how RDM-fit can be evaluated </a:t>
            </a:r>
            <a:r>
              <a:rPr lang="en-US" dirty="0" err="1"/>
              <a:t>itemwise</a:t>
            </a:r>
            <a:r>
              <a:rPr lang="en-US" dirty="0"/>
              <a:t> to yield </a:t>
            </a:r>
            <a:r>
              <a:rPr lang="en-US" dirty="0" err="1"/>
              <a:t>iRAFs</a:t>
            </a:r>
            <a:r>
              <a:rPr lang="en-US" dirty="0"/>
              <a:t>, a similar strategy can be used for item-pattern similarity</a:t>
            </a:r>
          </a:p>
          <a:p>
            <a:pPr lvl="1"/>
            <a:r>
              <a:rPr lang="en-US" dirty="0"/>
              <a:t>For a given participant, pair of tasks, </a:t>
            </a:r>
            <a:r>
              <a:rPr lang="en-US" u="sng" dirty="0"/>
              <a:t>and stimulus</a:t>
            </a:r>
            <a:r>
              <a:rPr lang="en-US" dirty="0"/>
              <a:t>, measure the neural similarity </a:t>
            </a:r>
          </a:p>
          <a:p>
            <a:pPr lvl="1"/>
            <a:r>
              <a:rPr lang="en-US" dirty="0"/>
              <a:t>Then, perform the same multilevel regressions as for the RSA analysis</a:t>
            </a:r>
          </a:p>
          <a:p>
            <a:r>
              <a:rPr lang="en-US" dirty="0"/>
              <a:t>Doesn’t make a big difference for the results</a:t>
            </a:r>
          </a:p>
          <a:p>
            <a:pPr lvl="1"/>
            <a:r>
              <a:rPr lang="en-US" dirty="0"/>
              <a:t>Could just do whatever is simplest</a:t>
            </a:r>
          </a:p>
        </p:txBody>
      </p:sp>
    </p:spTree>
    <p:extLst>
      <p:ext uri="{BB962C8B-B14F-4D97-AF65-F5344CB8AC3E}">
        <p14:creationId xmlns:p14="http://schemas.microsoft.com/office/powerpoint/2010/main" val="13104062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5855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6C922-B020-C710-7231-66C582ADC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1: Voxel-based RSA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D79BB-388B-CAC4-4B31-4137451D0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024" y="1854200"/>
            <a:ext cx="5715001" cy="4351338"/>
          </a:xfrm>
        </p:spPr>
        <p:txBody>
          <a:bodyPr/>
          <a:lstStyle/>
          <a:p>
            <a:r>
              <a:rPr lang="en-US" dirty="0"/>
              <a:t>Voxel-level techniques only yield RSA results in perceptual regions</a:t>
            </a:r>
          </a:p>
          <a:p>
            <a:pPr lvl="1"/>
            <a:r>
              <a:rPr lang="en-US" dirty="0"/>
              <a:t>Note, that other regions often showed effects for the baseline, encoding, and visual retrieval tasks but not the conceptual task</a:t>
            </a:r>
          </a:p>
          <a:p>
            <a:pPr lvl="1"/>
            <a:r>
              <a:rPr lang="en-US" dirty="0"/>
              <a:t>We even see PFC action if only looking at those three pictorial tasks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A3184E3-891C-2E89-7588-B388EF12E61A}"/>
              </a:ext>
            </a:extLst>
          </p:cNvPr>
          <p:cNvSpPr/>
          <p:nvPr/>
        </p:nvSpPr>
        <p:spPr>
          <a:xfrm>
            <a:off x="6724650" y="2668587"/>
            <a:ext cx="4762500" cy="3189287"/>
          </a:xfrm>
          <a:custGeom>
            <a:avLst/>
            <a:gdLst>
              <a:gd name="connsiteX0" fmla="*/ 3143250 w 6212958"/>
              <a:gd name="connsiteY0" fmla="*/ 2800350 h 4706542"/>
              <a:gd name="connsiteX1" fmla="*/ 3143250 w 6212958"/>
              <a:gd name="connsiteY1" fmla="*/ 2800350 h 4706542"/>
              <a:gd name="connsiteX2" fmla="*/ 2905125 w 6212958"/>
              <a:gd name="connsiteY2" fmla="*/ 2809875 h 4706542"/>
              <a:gd name="connsiteX3" fmla="*/ 2524125 w 6212958"/>
              <a:gd name="connsiteY3" fmla="*/ 2876550 h 4706542"/>
              <a:gd name="connsiteX4" fmla="*/ 2362200 w 6212958"/>
              <a:gd name="connsiteY4" fmla="*/ 2895600 h 4706542"/>
              <a:gd name="connsiteX5" fmla="*/ 2057400 w 6212958"/>
              <a:gd name="connsiteY5" fmla="*/ 2943225 h 4706542"/>
              <a:gd name="connsiteX6" fmla="*/ 1876425 w 6212958"/>
              <a:gd name="connsiteY6" fmla="*/ 3000375 h 4706542"/>
              <a:gd name="connsiteX7" fmla="*/ 1438275 w 6212958"/>
              <a:gd name="connsiteY7" fmla="*/ 3124200 h 4706542"/>
              <a:gd name="connsiteX8" fmla="*/ 1371600 w 6212958"/>
              <a:gd name="connsiteY8" fmla="*/ 3190875 h 4706542"/>
              <a:gd name="connsiteX9" fmla="*/ 1238250 w 6212958"/>
              <a:gd name="connsiteY9" fmla="*/ 3333750 h 4706542"/>
              <a:gd name="connsiteX10" fmla="*/ 1143000 w 6212958"/>
              <a:gd name="connsiteY10" fmla="*/ 3648075 h 4706542"/>
              <a:gd name="connsiteX11" fmla="*/ 1114425 w 6212958"/>
              <a:gd name="connsiteY11" fmla="*/ 3752850 h 4706542"/>
              <a:gd name="connsiteX12" fmla="*/ 1133475 w 6212958"/>
              <a:gd name="connsiteY12" fmla="*/ 4076700 h 4706542"/>
              <a:gd name="connsiteX13" fmla="*/ 1171575 w 6212958"/>
              <a:gd name="connsiteY13" fmla="*/ 4162425 h 4706542"/>
              <a:gd name="connsiteX14" fmla="*/ 1352550 w 6212958"/>
              <a:gd name="connsiteY14" fmla="*/ 4333875 h 4706542"/>
              <a:gd name="connsiteX15" fmla="*/ 1581150 w 6212958"/>
              <a:gd name="connsiteY15" fmla="*/ 4467225 h 4706542"/>
              <a:gd name="connsiteX16" fmla="*/ 1752600 w 6212958"/>
              <a:gd name="connsiteY16" fmla="*/ 4524375 h 4706542"/>
              <a:gd name="connsiteX17" fmla="*/ 2257425 w 6212958"/>
              <a:gd name="connsiteY17" fmla="*/ 4638675 h 4706542"/>
              <a:gd name="connsiteX18" fmla="*/ 2562225 w 6212958"/>
              <a:gd name="connsiteY18" fmla="*/ 4676775 h 4706542"/>
              <a:gd name="connsiteX19" fmla="*/ 2847975 w 6212958"/>
              <a:gd name="connsiteY19" fmla="*/ 4705350 h 4706542"/>
              <a:gd name="connsiteX20" fmla="*/ 3781425 w 6212958"/>
              <a:gd name="connsiteY20" fmla="*/ 4676775 h 4706542"/>
              <a:gd name="connsiteX21" fmla="*/ 4191000 w 6212958"/>
              <a:gd name="connsiteY21" fmla="*/ 4600575 h 4706542"/>
              <a:gd name="connsiteX22" fmla="*/ 4429125 w 6212958"/>
              <a:gd name="connsiteY22" fmla="*/ 4524375 h 4706542"/>
              <a:gd name="connsiteX23" fmla="*/ 4714875 w 6212958"/>
              <a:gd name="connsiteY23" fmla="*/ 4419600 h 4706542"/>
              <a:gd name="connsiteX24" fmla="*/ 4838700 w 6212958"/>
              <a:gd name="connsiteY24" fmla="*/ 4391025 h 4706542"/>
              <a:gd name="connsiteX25" fmla="*/ 5057775 w 6212958"/>
              <a:gd name="connsiteY25" fmla="*/ 4314825 h 4706542"/>
              <a:gd name="connsiteX26" fmla="*/ 5162550 w 6212958"/>
              <a:gd name="connsiteY26" fmla="*/ 4276725 h 4706542"/>
              <a:gd name="connsiteX27" fmla="*/ 5257800 w 6212958"/>
              <a:gd name="connsiteY27" fmla="*/ 4248150 h 4706542"/>
              <a:gd name="connsiteX28" fmla="*/ 5476875 w 6212958"/>
              <a:gd name="connsiteY28" fmla="*/ 4133850 h 4706542"/>
              <a:gd name="connsiteX29" fmla="*/ 5610225 w 6212958"/>
              <a:gd name="connsiteY29" fmla="*/ 4038600 h 4706542"/>
              <a:gd name="connsiteX30" fmla="*/ 5829300 w 6212958"/>
              <a:gd name="connsiteY30" fmla="*/ 3743325 h 4706542"/>
              <a:gd name="connsiteX31" fmla="*/ 6086475 w 6212958"/>
              <a:gd name="connsiteY31" fmla="*/ 3190875 h 4706542"/>
              <a:gd name="connsiteX32" fmla="*/ 6191250 w 6212958"/>
              <a:gd name="connsiteY32" fmla="*/ 2771775 h 4706542"/>
              <a:gd name="connsiteX33" fmla="*/ 6210300 w 6212958"/>
              <a:gd name="connsiteY33" fmla="*/ 2333625 h 4706542"/>
              <a:gd name="connsiteX34" fmla="*/ 6181725 w 6212958"/>
              <a:gd name="connsiteY34" fmla="*/ 1933575 h 4706542"/>
              <a:gd name="connsiteX35" fmla="*/ 6086475 w 6212958"/>
              <a:gd name="connsiteY35" fmla="*/ 1571625 h 4706542"/>
              <a:gd name="connsiteX36" fmla="*/ 6010275 w 6212958"/>
              <a:gd name="connsiteY36" fmla="*/ 1419225 h 4706542"/>
              <a:gd name="connsiteX37" fmla="*/ 5800725 w 6212958"/>
              <a:gd name="connsiteY37" fmla="*/ 1152525 h 4706542"/>
              <a:gd name="connsiteX38" fmla="*/ 5343525 w 6212958"/>
              <a:gd name="connsiteY38" fmla="*/ 809625 h 4706542"/>
              <a:gd name="connsiteX39" fmla="*/ 5210175 w 6212958"/>
              <a:gd name="connsiteY39" fmla="*/ 723900 h 4706542"/>
              <a:gd name="connsiteX40" fmla="*/ 5048250 w 6212958"/>
              <a:gd name="connsiteY40" fmla="*/ 628650 h 4706542"/>
              <a:gd name="connsiteX41" fmla="*/ 4895850 w 6212958"/>
              <a:gd name="connsiteY41" fmla="*/ 533400 h 4706542"/>
              <a:gd name="connsiteX42" fmla="*/ 4552950 w 6212958"/>
              <a:gd name="connsiteY42" fmla="*/ 361950 h 4706542"/>
              <a:gd name="connsiteX43" fmla="*/ 4391025 w 6212958"/>
              <a:gd name="connsiteY43" fmla="*/ 285750 h 4706542"/>
              <a:gd name="connsiteX44" fmla="*/ 4238625 w 6212958"/>
              <a:gd name="connsiteY44" fmla="*/ 238125 h 4706542"/>
              <a:gd name="connsiteX45" fmla="*/ 3695700 w 6212958"/>
              <a:gd name="connsiteY45" fmla="*/ 47625 h 4706542"/>
              <a:gd name="connsiteX46" fmla="*/ 3286125 w 6212958"/>
              <a:gd name="connsiteY46" fmla="*/ 9525 h 4706542"/>
              <a:gd name="connsiteX47" fmla="*/ 2819400 w 6212958"/>
              <a:gd name="connsiteY47" fmla="*/ 0 h 4706542"/>
              <a:gd name="connsiteX48" fmla="*/ 2076450 w 6212958"/>
              <a:gd name="connsiteY48" fmla="*/ 66675 h 4706542"/>
              <a:gd name="connsiteX49" fmla="*/ 1800225 w 6212958"/>
              <a:gd name="connsiteY49" fmla="*/ 114300 h 4706542"/>
              <a:gd name="connsiteX50" fmla="*/ 1447800 w 6212958"/>
              <a:gd name="connsiteY50" fmla="*/ 219075 h 4706542"/>
              <a:gd name="connsiteX51" fmla="*/ 1295400 w 6212958"/>
              <a:gd name="connsiteY51" fmla="*/ 238125 h 4706542"/>
              <a:gd name="connsiteX52" fmla="*/ 1190625 w 6212958"/>
              <a:gd name="connsiteY52" fmla="*/ 266700 h 4706542"/>
              <a:gd name="connsiteX53" fmla="*/ 800100 w 6212958"/>
              <a:gd name="connsiteY53" fmla="*/ 352425 h 4706542"/>
              <a:gd name="connsiteX54" fmla="*/ 666750 w 6212958"/>
              <a:gd name="connsiteY54" fmla="*/ 390525 h 4706542"/>
              <a:gd name="connsiteX55" fmla="*/ 514350 w 6212958"/>
              <a:gd name="connsiteY55" fmla="*/ 457200 h 4706542"/>
              <a:gd name="connsiteX56" fmla="*/ 333375 w 6212958"/>
              <a:gd name="connsiteY56" fmla="*/ 552450 h 4706542"/>
              <a:gd name="connsiteX57" fmla="*/ 114300 w 6212958"/>
              <a:gd name="connsiteY57" fmla="*/ 762000 h 4706542"/>
              <a:gd name="connsiteX58" fmla="*/ 19050 w 6212958"/>
              <a:gd name="connsiteY58" fmla="*/ 1047750 h 4706542"/>
              <a:gd name="connsiteX59" fmla="*/ 0 w 6212958"/>
              <a:gd name="connsiteY59" fmla="*/ 1200150 h 4706542"/>
              <a:gd name="connsiteX60" fmla="*/ 19050 w 6212958"/>
              <a:gd name="connsiteY60" fmla="*/ 1647825 h 4706542"/>
              <a:gd name="connsiteX61" fmla="*/ 38100 w 6212958"/>
              <a:gd name="connsiteY61" fmla="*/ 1762125 h 4706542"/>
              <a:gd name="connsiteX62" fmla="*/ 47625 w 6212958"/>
              <a:gd name="connsiteY62" fmla="*/ 1876425 h 4706542"/>
              <a:gd name="connsiteX63" fmla="*/ 95250 w 6212958"/>
              <a:gd name="connsiteY63" fmla="*/ 2133600 h 4706542"/>
              <a:gd name="connsiteX64" fmla="*/ 114300 w 6212958"/>
              <a:gd name="connsiteY64" fmla="*/ 2276475 h 4706542"/>
              <a:gd name="connsiteX65" fmla="*/ 266700 w 6212958"/>
              <a:gd name="connsiteY65" fmla="*/ 2619375 h 4706542"/>
              <a:gd name="connsiteX66" fmla="*/ 352425 w 6212958"/>
              <a:gd name="connsiteY66" fmla="*/ 2724150 h 4706542"/>
              <a:gd name="connsiteX67" fmla="*/ 419100 w 6212958"/>
              <a:gd name="connsiteY67" fmla="*/ 2828925 h 4706542"/>
              <a:gd name="connsiteX68" fmla="*/ 571500 w 6212958"/>
              <a:gd name="connsiteY68" fmla="*/ 2981325 h 4706542"/>
              <a:gd name="connsiteX69" fmla="*/ 657225 w 6212958"/>
              <a:gd name="connsiteY69" fmla="*/ 3067050 h 4706542"/>
              <a:gd name="connsiteX70" fmla="*/ 762000 w 6212958"/>
              <a:gd name="connsiteY70" fmla="*/ 3143250 h 4706542"/>
              <a:gd name="connsiteX71" fmla="*/ 971550 w 6212958"/>
              <a:gd name="connsiteY71" fmla="*/ 3248025 h 4706542"/>
              <a:gd name="connsiteX72" fmla="*/ 1066800 w 6212958"/>
              <a:gd name="connsiteY72" fmla="*/ 3267075 h 4706542"/>
              <a:gd name="connsiteX73" fmla="*/ 1285875 w 6212958"/>
              <a:gd name="connsiteY73" fmla="*/ 3314700 h 4706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6212958" h="4706542">
                <a:moveTo>
                  <a:pt x="3143250" y="2800350"/>
                </a:moveTo>
                <a:lnTo>
                  <a:pt x="3143250" y="2800350"/>
                </a:lnTo>
                <a:cubicBezTo>
                  <a:pt x="3063875" y="2803525"/>
                  <a:pt x="2984184" y="2802124"/>
                  <a:pt x="2905125" y="2809875"/>
                </a:cubicBezTo>
                <a:cubicBezTo>
                  <a:pt x="2539697" y="2845701"/>
                  <a:pt x="2778792" y="2835475"/>
                  <a:pt x="2524125" y="2876550"/>
                </a:cubicBezTo>
                <a:cubicBezTo>
                  <a:pt x="2470471" y="2885204"/>
                  <a:pt x="2415934" y="2887458"/>
                  <a:pt x="2362200" y="2895600"/>
                </a:cubicBezTo>
                <a:cubicBezTo>
                  <a:pt x="1884364" y="2967999"/>
                  <a:pt x="2533596" y="2883700"/>
                  <a:pt x="2057400" y="2943225"/>
                </a:cubicBezTo>
                <a:cubicBezTo>
                  <a:pt x="1997075" y="2962275"/>
                  <a:pt x="1937213" y="2982860"/>
                  <a:pt x="1876425" y="3000375"/>
                </a:cubicBezTo>
                <a:cubicBezTo>
                  <a:pt x="1359708" y="3149260"/>
                  <a:pt x="1638119" y="3057585"/>
                  <a:pt x="1438275" y="3124200"/>
                </a:cubicBezTo>
                <a:cubicBezTo>
                  <a:pt x="1416050" y="3146425"/>
                  <a:pt x="1393046" y="3167897"/>
                  <a:pt x="1371600" y="3190875"/>
                </a:cubicBezTo>
                <a:cubicBezTo>
                  <a:pt x="1196855" y="3378102"/>
                  <a:pt x="1410157" y="3161843"/>
                  <a:pt x="1238250" y="3333750"/>
                </a:cubicBezTo>
                <a:cubicBezTo>
                  <a:pt x="1170826" y="3502311"/>
                  <a:pt x="1211642" y="3388761"/>
                  <a:pt x="1143000" y="3648075"/>
                </a:cubicBezTo>
                <a:cubicBezTo>
                  <a:pt x="1133737" y="3683070"/>
                  <a:pt x="1114425" y="3752850"/>
                  <a:pt x="1114425" y="3752850"/>
                </a:cubicBezTo>
                <a:cubicBezTo>
                  <a:pt x="1098959" y="3892047"/>
                  <a:pt x="1093447" y="3882278"/>
                  <a:pt x="1133475" y="4076700"/>
                </a:cubicBezTo>
                <a:cubicBezTo>
                  <a:pt x="1139781" y="4107328"/>
                  <a:pt x="1155720" y="4135472"/>
                  <a:pt x="1171575" y="4162425"/>
                </a:cubicBezTo>
                <a:cubicBezTo>
                  <a:pt x="1222333" y="4248714"/>
                  <a:pt x="1265287" y="4271046"/>
                  <a:pt x="1352550" y="4333875"/>
                </a:cubicBezTo>
                <a:cubicBezTo>
                  <a:pt x="1425181" y="4386169"/>
                  <a:pt x="1497628" y="4433816"/>
                  <a:pt x="1581150" y="4467225"/>
                </a:cubicBezTo>
                <a:cubicBezTo>
                  <a:pt x="1637083" y="4489598"/>
                  <a:pt x="1694899" y="4507065"/>
                  <a:pt x="1752600" y="4524375"/>
                </a:cubicBezTo>
                <a:cubicBezTo>
                  <a:pt x="1934532" y="4578955"/>
                  <a:pt x="2063233" y="4607851"/>
                  <a:pt x="2257425" y="4638675"/>
                </a:cubicBezTo>
                <a:cubicBezTo>
                  <a:pt x="2358550" y="4654727"/>
                  <a:pt x="2460481" y="4665288"/>
                  <a:pt x="2562225" y="4676775"/>
                </a:cubicBezTo>
                <a:cubicBezTo>
                  <a:pt x="2657346" y="4687514"/>
                  <a:pt x="2752725" y="4695825"/>
                  <a:pt x="2847975" y="4705350"/>
                </a:cubicBezTo>
                <a:cubicBezTo>
                  <a:pt x="2972178" y="4703758"/>
                  <a:pt x="3520357" y="4718214"/>
                  <a:pt x="3781425" y="4676775"/>
                </a:cubicBezTo>
                <a:cubicBezTo>
                  <a:pt x="3918576" y="4655005"/>
                  <a:pt x="4058739" y="4642899"/>
                  <a:pt x="4191000" y="4600575"/>
                </a:cubicBezTo>
                <a:cubicBezTo>
                  <a:pt x="4270375" y="4575175"/>
                  <a:pt x="4351746" y="4555327"/>
                  <a:pt x="4429125" y="4524375"/>
                </a:cubicBezTo>
                <a:cubicBezTo>
                  <a:pt x="4537067" y="4481198"/>
                  <a:pt x="4603145" y="4451523"/>
                  <a:pt x="4714875" y="4419600"/>
                </a:cubicBezTo>
                <a:cubicBezTo>
                  <a:pt x="4755605" y="4407963"/>
                  <a:pt x="4798189" y="4403403"/>
                  <a:pt x="4838700" y="4391025"/>
                </a:cubicBezTo>
                <a:cubicBezTo>
                  <a:pt x="4912642" y="4368432"/>
                  <a:pt x="4984866" y="4340557"/>
                  <a:pt x="5057775" y="4314825"/>
                </a:cubicBezTo>
                <a:cubicBezTo>
                  <a:pt x="5092819" y="4302457"/>
                  <a:pt x="5126955" y="4287404"/>
                  <a:pt x="5162550" y="4276725"/>
                </a:cubicBezTo>
                <a:cubicBezTo>
                  <a:pt x="5194300" y="4267200"/>
                  <a:pt x="5226824" y="4259951"/>
                  <a:pt x="5257800" y="4248150"/>
                </a:cubicBezTo>
                <a:cubicBezTo>
                  <a:pt x="5330511" y="4220451"/>
                  <a:pt x="5412471" y="4175961"/>
                  <a:pt x="5476875" y="4133850"/>
                </a:cubicBezTo>
                <a:cubicBezTo>
                  <a:pt x="5522594" y="4103957"/>
                  <a:pt x="5570025" y="4075584"/>
                  <a:pt x="5610225" y="4038600"/>
                </a:cubicBezTo>
                <a:cubicBezTo>
                  <a:pt x="5685774" y="3969094"/>
                  <a:pt x="5778497" y="3824148"/>
                  <a:pt x="5829300" y="3743325"/>
                </a:cubicBezTo>
                <a:cubicBezTo>
                  <a:pt x="5937296" y="3571513"/>
                  <a:pt x="6032673" y="3388150"/>
                  <a:pt x="6086475" y="3190875"/>
                </a:cubicBezTo>
                <a:cubicBezTo>
                  <a:pt x="6162472" y="2912218"/>
                  <a:pt x="6127579" y="3051926"/>
                  <a:pt x="6191250" y="2771775"/>
                </a:cubicBezTo>
                <a:cubicBezTo>
                  <a:pt x="6197600" y="2625725"/>
                  <a:pt x="6220715" y="2479441"/>
                  <a:pt x="6210300" y="2333625"/>
                </a:cubicBezTo>
                <a:cubicBezTo>
                  <a:pt x="6200775" y="2200275"/>
                  <a:pt x="6197217" y="2066364"/>
                  <a:pt x="6181725" y="1933575"/>
                </a:cubicBezTo>
                <a:cubicBezTo>
                  <a:pt x="6173151" y="1860083"/>
                  <a:pt x="6110726" y="1633985"/>
                  <a:pt x="6086475" y="1571625"/>
                </a:cubicBezTo>
                <a:cubicBezTo>
                  <a:pt x="6065889" y="1518691"/>
                  <a:pt x="6038794" y="1468342"/>
                  <a:pt x="6010275" y="1419225"/>
                </a:cubicBezTo>
                <a:cubicBezTo>
                  <a:pt x="5945777" y="1308146"/>
                  <a:pt x="5893091" y="1241339"/>
                  <a:pt x="5800725" y="1152525"/>
                </a:cubicBezTo>
                <a:cubicBezTo>
                  <a:pt x="5667116" y="1024055"/>
                  <a:pt x="5489355" y="909883"/>
                  <a:pt x="5343525" y="809625"/>
                </a:cubicBezTo>
                <a:cubicBezTo>
                  <a:pt x="5299981" y="779688"/>
                  <a:pt x="5255229" y="751514"/>
                  <a:pt x="5210175" y="723900"/>
                </a:cubicBezTo>
                <a:cubicBezTo>
                  <a:pt x="5156784" y="691177"/>
                  <a:pt x="5101803" y="661106"/>
                  <a:pt x="5048250" y="628650"/>
                </a:cubicBezTo>
                <a:cubicBezTo>
                  <a:pt x="4997019" y="597601"/>
                  <a:pt x="4949431" y="560191"/>
                  <a:pt x="4895850" y="533400"/>
                </a:cubicBezTo>
                <a:lnTo>
                  <a:pt x="4552950" y="361950"/>
                </a:lnTo>
                <a:cubicBezTo>
                  <a:pt x="4499394" y="335677"/>
                  <a:pt x="4447962" y="303543"/>
                  <a:pt x="4391025" y="285750"/>
                </a:cubicBezTo>
                <a:cubicBezTo>
                  <a:pt x="4340225" y="269875"/>
                  <a:pt x="4288499" y="256706"/>
                  <a:pt x="4238625" y="238125"/>
                </a:cubicBezTo>
                <a:cubicBezTo>
                  <a:pt x="3979410" y="141555"/>
                  <a:pt x="3935191" y="97751"/>
                  <a:pt x="3695700" y="47625"/>
                </a:cubicBezTo>
                <a:cubicBezTo>
                  <a:pt x="3550670" y="17270"/>
                  <a:pt x="3434003" y="13691"/>
                  <a:pt x="3286125" y="9525"/>
                </a:cubicBezTo>
                <a:lnTo>
                  <a:pt x="2819400" y="0"/>
                </a:lnTo>
                <a:cubicBezTo>
                  <a:pt x="1993834" y="44227"/>
                  <a:pt x="2549410" y="-8003"/>
                  <a:pt x="2076450" y="66675"/>
                </a:cubicBezTo>
                <a:cubicBezTo>
                  <a:pt x="1927076" y="90260"/>
                  <a:pt x="1936652" y="74808"/>
                  <a:pt x="1800225" y="114300"/>
                </a:cubicBezTo>
                <a:cubicBezTo>
                  <a:pt x="1715583" y="138802"/>
                  <a:pt x="1552999" y="200289"/>
                  <a:pt x="1447800" y="219075"/>
                </a:cubicBezTo>
                <a:cubicBezTo>
                  <a:pt x="1397402" y="228075"/>
                  <a:pt x="1295400" y="238125"/>
                  <a:pt x="1295400" y="238125"/>
                </a:cubicBezTo>
                <a:cubicBezTo>
                  <a:pt x="1260475" y="247650"/>
                  <a:pt x="1225943" y="258754"/>
                  <a:pt x="1190625" y="266700"/>
                </a:cubicBezTo>
                <a:cubicBezTo>
                  <a:pt x="961075" y="318349"/>
                  <a:pt x="970059" y="306667"/>
                  <a:pt x="800100" y="352425"/>
                </a:cubicBezTo>
                <a:cubicBezTo>
                  <a:pt x="755461" y="364443"/>
                  <a:pt x="710153" y="374611"/>
                  <a:pt x="666750" y="390525"/>
                </a:cubicBezTo>
                <a:cubicBezTo>
                  <a:pt x="614690" y="409614"/>
                  <a:pt x="564227" y="432974"/>
                  <a:pt x="514350" y="457200"/>
                </a:cubicBezTo>
                <a:cubicBezTo>
                  <a:pt x="453030" y="486984"/>
                  <a:pt x="390888" y="515851"/>
                  <a:pt x="333375" y="552450"/>
                </a:cubicBezTo>
                <a:cubicBezTo>
                  <a:pt x="250389" y="605259"/>
                  <a:pt x="167293" y="677211"/>
                  <a:pt x="114300" y="762000"/>
                </a:cubicBezTo>
                <a:cubicBezTo>
                  <a:pt x="58341" y="851534"/>
                  <a:pt x="37766" y="944810"/>
                  <a:pt x="19050" y="1047750"/>
                </a:cubicBezTo>
                <a:cubicBezTo>
                  <a:pt x="9892" y="1098120"/>
                  <a:pt x="6350" y="1149350"/>
                  <a:pt x="0" y="1200150"/>
                </a:cubicBezTo>
                <a:cubicBezTo>
                  <a:pt x="6350" y="1349375"/>
                  <a:pt x="8947" y="1498807"/>
                  <a:pt x="19050" y="1647825"/>
                </a:cubicBezTo>
                <a:cubicBezTo>
                  <a:pt x="21663" y="1686362"/>
                  <a:pt x="33309" y="1723798"/>
                  <a:pt x="38100" y="1762125"/>
                </a:cubicBezTo>
                <a:cubicBezTo>
                  <a:pt x="42842" y="1800062"/>
                  <a:pt x="41812" y="1838638"/>
                  <a:pt x="47625" y="1876425"/>
                </a:cubicBezTo>
                <a:cubicBezTo>
                  <a:pt x="60882" y="1962594"/>
                  <a:pt x="83728" y="2047182"/>
                  <a:pt x="95250" y="2133600"/>
                </a:cubicBezTo>
                <a:cubicBezTo>
                  <a:pt x="101600" y="2181225"/>
                  <a:pt x="100170" y="2230553"/>
                  <a:pt x="114300" y="2276475"/>
                </a:cubicBezTo>
                <a:cubicBezTo>
                  <a:pt x="121103" y="2298583"/>
                  <a:pt x="226727" y="2558083"/>
                  <a:pt x="266700" y="2619375"/>
                </a:cubicBezTo>
                <a:cubicBezTo>
                  <a:pt x="291350" y="2657172"/>
                  <a:pt x="325884" y="2687656"/>
                  <a:pt x="352425" y="2724150"/>
                </a:cubicBezTo>
                <a:cubicBezTo>
                  <a:pt x="376774" y="2757629"/>
                  <a:pt x="394262" y="2795807"/>
                  <a:pt x="419100" y="2828925"/>
                </a:cubicBezTo>
                <a:cubicBezTo>
                  <a:pt x="485396" y="2917319"/>
                  <a:pt x="495065" y="2909387"/>
                  <a:pt x="571500" y="2981325"/>
                </a:cubicBezTo>
                <a:cubicBezTo>
                  <a:pt x="600927" y="3009021"/>
                  <a:pt x="626434" y="3040878"/>
                  <a:pt x="657225" y="3067050"/>
                </a:cubicBezTo>
                <a:cubicBezTo>
                  <a:pt x="690129" y="3095018"/>
                  <a:pt x="725828" y="3119660"/>
                  <a:pt x="762000" y="3143250"/>
                </a:cubicBezTo>
                <a:cubicBezTo>
                  <a:pt x="827835" y="3186186"/>
                  <a:pt x="895819" y="3225306"/>
                  <a:pt x="971550" y="3248025"/>
                </a:cubicBezTo>
                <a:cubicBezTo>
                  <a:pt x="1002563" y="3257329"/>
                  <a:pt x="1035268" y="3259718"/>
                  <a:pt x="1066800" y="3267075"/>
                </a:cubicBezTo>
                <a:cubicBezTo>
                  <a:pt x="1280808" y="3317010"/>
                  <a:pt x="1189770" y="3314700"/>
                  <a:pt x="1285875" y="331470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5F3349B-D08E-E4E2-BC02-F1239C1BEDF1}"/>
              </a:ext>
            </a:extLst>
          </p:cNvPr>
          <p:cNvSpPr/>
          <p:nvPr/>
        </p:nvSpPr>
        <p:spPr>
          <a:xfrm>
            <a:off x="10172700" y="4230685"/>
            <a:ext cx="1143000" cy="114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A4A2746-A8E7-8168-35AF-DABE68FE6B5F}"/>
              </a:ext>
            </a:extLst>
          </p:cNvPr>
          <p:cNvSpPr/>
          <p:nvPr/>
        </p:nvSpPr>
        <p:spPr>
          <a:xfrm>
            <a:off x="8858250" y="4587080"/>
            <a:ext cx="1143000" cy="114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755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6C922-B020-C710-7231-66C582ADC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2: Distribution-based RSA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D79BB-388B-CAC4-4B31-4137451D0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024" y="1854200"/>
            <a:ext cx="10706101" cy="4351338"/>
          </a:xfrm>
        </p:spPr>
        <p:txBody>
          <a:bodyPr/>
          <a:lstStyle/>
          <a:p>
            <a:r>
              <a:rPr lang="en-US" dirty="0"/>
              <a:t>Significant PFC result (p = .01)</a:t>
            </a:r>
          </a:p>
          <a:p>
            <a:r>
              <a:rPr lang="en-US" dirty="0"/>
              <a:t>Remains significant when controlling for its constituent ROI’s IRAFs (p = .02)</a:t>
            </a:r>
          </a:p>
        </p:txBody>
      </p:sp>
    </p:spTree>
    <p:extLst>
      <p:ext uri="{BB962C8B-B14F-4D97-AF65-F5344CB8AC3E}">
        <p14:creationId xmlns:p14="http://schemas.microsoft.com/office/powerpoint/2010/main" val="1149322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8D695-E6D3-CC1D-EA6C-3CC5A493B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3: Item-pattern similarity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732A3-9F83-17F3-303A-F1A9B9A19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31312" cy="4351338"/>
          </a:xfrm>
        </p:spPr>
        <p:txBody>
          <a:bodyPr/>
          <a:lstStyle/>
          <a:p>
            <a:r>
              <a:rPr lang="en-US" dirty="0"/>
              <a:t>Voxel-based analysis gives limited results</a:t>
            </a:r>
          </a:p>
          <a:p>
            <a:pPr lvl="1"/>
            <a:r>
              <a:rPr lang="en-US" dirty="0"/>
              <a:t>Only in perceptual regions</a:t>
            </a:r>
          </a:p>
          <a:p>
            <a:pPr lvl="1"/>
            <a:r>
              <a:rPr lang="en-US" dirty="0"/>
              <a:t>Results are limited, again, because of the conceptual task data standing out</a:t>
            </a:r>
          </a:p>
          <a:p>
            <a:r>
              <a:rPr lang="en-US" dirty="0"/>
              <a:t>Distribution-level analysis, again, shows a PFC effect (p = .004)</a:t>
            </a:r>
          </a:p>
          <a:p>
            <a:pPr lvl="1"/>
            <a:r>
              <a:rPr lang="en-US" dirty="0"/>
              <a:t>Notably, this same result also yields a significant effect in older adults </a:t>
            </a:r>
            <a:br>
              <a:rPr lang="en-US" dirty="0"/>
            </a:br>
            <a:r>
              <a:rPr lang="en-US" dirty="0"/>
              <a:t>(p = …), speaking to the validity of the pattern</a:t>
            </a:r>
          </a:p>
          <a:p>
            <a:pPr lvl="1"/>
            <a:r>
              <a:rPr lang="en-US" dirty="0"/>
              <a:t>Remains strong if controlling for voxel-based </a:t>
            </a:r>
            <a:r>
              <a:rPr lang="en-US" dirty="0" err="1"/>
              <a:t>itemwise</a:t>
            </a:r>
            <a:r>
              <a:rPr lang="en-US" dirty="0"/>
              <a:t> scores (p = .006)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8507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9A211-B6F8-AC83-3A9E-09060BD29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C0137-E658-50ED-A3DE-3460E4AD0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240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9C6B1436-0ACE-4CC3-BC66-C2BCB97D7D52}" vid="{95E57EA4-F55F-474A-9811-FDC52FAD54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964</TotalTime>
  <Words>966</Words>
  <Application>Microsoft Office PowerPoint</Application>
  <PresentationFormat>Widescreen</PresentationFormat>
  <Paragraphs>110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Courier New</vt:lpstr>
      <vt:lpstr>Wingdings</vt:lpstr>
      <vt:lpstr>Office Theme</vt:lpstr>
      <vt:lpstr>Distributed Semantic Representations in the Prefrontal Cortex</vt:lpstr>
      <vt:lpstr>Introduction 1: Conceptual</vt:lpstr>
      <vt:lpstr>Introduction 2: Methodological</vt:lpstr>
      <vt:lpstr>Proposed analytic approach</vt:lpstr>
      <vt:lpstr>Present Study</vt:lpstr>
      <vt:lpstr>Methods</vt:lpstr>
      <vt:lpstr>Participants</vt:lpstr>
      <vt:lpstr>Task procedures</vt:lpstr>
      <vt:lpstr>Multi-session analyses </vt:lpstr>
      <vt:lpstr>Defining the PFC for the distribution-based analysis</vt:lpstr>
      <vt:lpstr>iRAF procedures 1</vt:lpstr>
      <vt:lpstr>iRAF procedures 2</vt:lpstr>
      <vt:lpstr>Item-pattern similarity procedures</vt:lpstr>
      <vt:lpstr>Alternative item-pattern similarity procedures</vt:lpstr>
      <vt:lpstr>Methods</vt:lpstr>
      <vt:lpstr>Result 1: Voxel-based RSA </vt:lpstr>
      <vt:lpstr>Result 2: Distribution-based RSA </vt:lpstr>
      <vt:lpstr>Result 3: Item-pattern similarity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Bogdan, Paul Christian</dc:creator>
  <cp:lastModifiedBy>Bogdan, Paul Christian</cp:lastModifiedBy>
  <cp:revision>11</cp:revision>
  <dcterms:created xsi:type="dcterms:W3CDTF">2023-11-26T22:46:52Z</dcterms:created>
  <dcterms:modified xsi:type="dcterms:W3CDTF">2023-11-27T14:51:08Z</dcterms:modified>
</cp:coreProperties>
</file>