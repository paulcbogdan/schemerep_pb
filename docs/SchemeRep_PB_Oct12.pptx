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45" r:id="rId3"/>
    <p:sldId id="304" r:id="rId4"/>
    <p:sldId id="337" r:id="rId5"/>
    <p:sldId id="338" r:id="rId6"/>
    <p:sldId id="340" r:id="rId7"/>
    <p:sldId id="341" r:id="rId8"/>
    <p:sldId id="342" r:id="rId9"/>
    <p:sldId id="346" r:id="rId10"/>
    <p:sldId id="321" r:id="rId11"/>
    <p:sldId id="323" r:id="rId12"/>
    <p:sldId id="344" r:id="rId13"/>
    <p:sldId id="264" r:id="rId14"/>
    <p:sldId id="312" r:id="rId15"/>
    <p:sldId id="313" r:id="rId16"/>
    <p:sldId id="302" r:id="rId17"/>
    <p:sldId id="263" r:id="rId18"/>
    <p:sldId id="343" r:id="rId19"/>
    <p:sldId id="348" r:id="rId20"/>
    <p:sldId id="280" r:id="rId21"/>
    <p:sldId id="306" r:id="rId22"/>
    <p:sldId id="292" r:id="rId23"/>
    <p:sldId id="310" r:id="rId24"/>
    <p:sldId id="309" r:id="rId25"/>
    <p:sldId id="347" r:id="rId26"/>
    <p:sldId id="293" r:id="rId27"/>
    <p:sldId id="322" r:id="rId28"/>
    <p:sldId id="291" r:id="rId29"/>
    <p:sldId id="303" r:id="rId30"/>
    <p:sldId id="297" r:id="rId31"/>
    <p:sldId id="279" r:id="rId32"/>
    <p:sldId id="324" r:id="rId33"/>
    <p:sldId id="307" r:id="rId34"/>
    <p:sldId id="290" r:id="rId35"/>
    <p:sldId id="284" r:id="rId36"/>
    <p:sldId id="314" r:id="rId37"/>
    <p:sldId id="311" r:id="rId38"/>
    <p:sldId id="325" r:id="rId39"/>
    <p:sldId id="319" r:id="rId40"/>
    <p:sldId id="320" r:id="rId41"/>
    <p:sldId id="316" r:id="rId42"/>
    <p:sldId id="318" r:id="rId43"/>
    <p:sldId id="326" r:id="rId44"/>
    <p:sldId id="327" r:id="rId45"/>
    <p:sldId id="328" r:id="rId46"/>
    <p:sldId id="331" r:id="rId47"/>
    <p:sldId id="336" r:id="rId48"/>
    <p:sldId id="329" r:id="rId49"/>
    <p:sldId id="333" r:id="rId50"/>
    <p:sldId id="339" r:id="rId51"/>
    <p:sldId id="332" r:id="rId52"/>
    <p:sldId id="335" r:id="rId53"/>
    <p:sldId id="334" r:id="rId54"/>
    <p:sldId id="34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82" d="100"/>
          <a:sy n="82" d="100"/>
        </p:scale>
        <p:origin x="21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10/3/2023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dissertation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9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860-80A0-A5D8-31FD-5B678AD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2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DB2-12DF-FE7B-2599-AD2C9B0CA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33" y="1389591"/>
            <a:ext cx="9626600" cy="52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7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D68-F79D-B51D-788F-4F35332A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0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C341-A9D3-D198-B0CC-9EE3631214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641" y="1024466"/>
            <a:ext cx="8657518" cy="56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6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1A18-F415-5ED1-9132-CF7DEB0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E3A3-2685-9FD4-0629-F08BD078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065EB-3E6B-DC6B-8FAD-231C96BE68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283" y="1630891"/>
            <a:ext cx="1062743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5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7164-22BE-C244-BF7E-2CC91AF6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AF47-1FEB-CE73-2786-BC73614A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77CD-76FA-4D53-3344-629C9632F8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349" y="1589088"/>
            <a:ext cx="7783301" cy="50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724A-15D9-E3AC-8A14-1D336E38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DBC8-F1B4-99DA-03A3-4A943988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A8033-FECC-1A17-76DD-9761D168FD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269" y="1825625"/>
            <a:ext cx="11445024" cy="42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Warning: Results may shift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9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40" y="2692667"/>
            <a:ext cx="4572000" cy="342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66" y="2692667"/>
            <a:ext cx="457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36" r="3889"/>
          <a:stretch/>
        </p:blipFill>
        <p:spPr>
          <a:xfrm>
            <a:off x="174861" y="2692667"/>
            <a:ext cx="3939940" cy="3429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3931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294998" y="2331449"/>
            <a:ext cx="3428134" cy="4389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593665" y="2339441"/>
            <a:ext cx="3344972" cy="438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784967" y="2352141"/>
            <a:ext cx="334497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4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33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34" y="1835755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FAF-5918-2D50-EFD8-881BF2A3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87327"/>
            <a:ext cx="10515600" cy="786342"/>
          </a:xfrm>
        </p:spPr>
        <p:txBody>
          <a:bodyPr/>
          <a:lstStyle/>
          <a:p>
            <a:r>
              <a:rPr lang="en-US" dirty="0"/>
              <a:t>Behavioral results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916DB2-2281-46CE-1977-3C7B87D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1" y="980225"/>
            <a:ext cx="3840480" cy="2880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CA28F7-CB2E-401F-1897-69DB257E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4" y="3824181"/>
            <a:ext cx="3840480" cy="28803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0EA0D1-7436-224E-A259-1FD5321A6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51" y="980225"/>
            <a:ext cx="3840480" cy="28803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84443-7A11-3C75-C718-1EFA8EFBB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919" y="3824181"/>
            <a:ext cx="3840480" cy="28803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326F6F7-D1DD-19FE-FBAC-EDC7CC118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399" y="980225"/>
            <a:ext cx="3840480" cy="28803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7B24EA-D0E5-4501-C7BF-CC281A4BA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399" y="3824181"/>
            <a:ext cx="38404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6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pPr lvl="1"/>
            <a:r>
              <a:rPr lang="en-US" dirty="0"/>
              <a:t>Unsigned prediction error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Autofit/>
          </a:bodyPr>
          <a:lstStyle/>
          <a:p>
            <a:r>
              <a:rPr lang="en-US" sz="3600" dirty="0"/>
              <a:t>Many ways to interpret the abs-difference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DD1-DDEB-A70A-82D6-75F14738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6CD2-4D8A-6A53-533D-7C9C597C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674C9-0D65-6B86-530F-C0F40337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91" y="2066634"/>
            <a:ext cx="5412510" cy="40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3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RSA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Stimulus RDM based on:</a:t>
            </a:r>
          </a:p>
          <a:p>
            <a:pPr lvl="1"/>
            <a:r>
              <a:rPr lang="en-US" sz="3200" dirty="0"/>
              <a:t>Object stimulus vector</a:t>
            </a:r>
          </a:p>
          <a:p>
            <a:pPr lvl="1"/>
            <a:r>
              <a:rPr lang="en-US" sz="3200" dirty="0"/>
              <a:t>Scene stimulus vector</a:t>
            </a:r>
          </a:p>
          <a:p>
            <a:pPr lvl="1"/>
            <a:r>
              <a:rPr lang="en-US" sz="3200" dirty="0"/>
              <a:t>Object/scene abs-difference vector</a:t>
            </a:r>
          </a:p>
          <a:p>
            <a:r>
              <a:rPr lang="en-US" sz="3600" dirty="0"/>
              <a:t>fMRI RDM based on:</a:t>
            </a:r>
          </a:p>
          <a:p>
            <a:pPr lvl="1"/>
            <a:r>
              <a:rPr lang="en-US" sz="3200" dirty="0"/>
              <a:t>Scene-presentation single-trial betas</a:t>
            </a:r>
          </a:p>
          <a:p>
            <a:pPr lvl="1"/>
            <a:r>
              <a:rPr lang="en-US" sz="3200" dirty="0"/>
              <a:t>Object-presentation single-trial betas</a:t>
            </a:r>
          </a:p>
          <a:p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/>
      <p:bldP spid="22" grpId="0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231466" y="1392149"/>
            <a:ext cx="5249333" cy="49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972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391030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391030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391030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391030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391030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391030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391030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391030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391030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391030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391030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391030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391030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391030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391030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391030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391030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391030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0942065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0942065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0942065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466704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466704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466704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9987381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026258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931245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pPr lvl="1"/>
            <a:r>
              <a:rPr lang="en-US" dirty="0"/>
              <a:t>Note: A x B ≠ B x A</a:t>
            </a:r>
          </a:p>
          <a:p>
            <a:pPr lvl="1"/>
            <a:r>
              <a:rPr lang="en-US" dirty="0"/>
              <a:t>Test if significantly above zero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233BFB-F0F2-E157-60C0-BBDD828C00E8}"/>
              </a:ext>
            </a:extLst>
          </p:cNvPr>
          <p:cNvSpPr/>
          <p:nvPr/>
        </p:nvSpPr>
        <p:spPr>
          <a:xfrm>
            <a:off x="972570" y="2575453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364ED2-281E-2BD2-0358-380216403FD9}"/>
              </a:ext>
            </a:extLst>
          </p:cNvPr>
          <p:cNvSpPr/>
          <p:nvPr/>
        </p:nvSpPr>
        <p:spPr>
          <a:xfrm>
            <a:off x="6941570" y="24569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>
                <a:solidFill>
                  <a:srgbClr val="FF0000"/>
                </a:solidFill>
              </a:rPr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638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vectors, like for </a:t>
            </a:r>
            <a:r>
              <a:rPr lang="en-US" dirty="0" err="1">
                <a:latin typeface="Roboto" panose="02000000000000000000" pitchFamily="2" charset="0"/>
              </a:rPr>
              <a:t>SchemeRep</a:t>
            </a:r>
            <a:endParaRPr lang="en-US" dirty="0"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559"/>
            <a:ext cx="10515600" cy="272097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</a:t>
            </a:r>
          </a:p>
          <a:p>
            <a:pPr lvl="1"/>
            <a:r>
              <a:rPr lang="en-US" dirty="0"/>
              <a:t>The past-generalizing vs. future-pinpointing directionality effect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14297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(Beyond the task) </a:t>
            </a:r>
            <a:br>
              <a:rPr lang="en-US" sz="4000" dirty="0"/>
            </a:br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50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732-E844-B90D-9B27-DEB448D8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possible aging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B978-14C2-4BFA-DCA5-0D8CCB3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4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 with combination features (not done)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prototype…?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hopefully,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7A1A-4DE7-9D35-4F89-F245812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/>
              <a:t>removing outliers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1C30-C101-F6A2-FB8E-347F6352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ABEE2-7FFF-D3D7-48F6-505218944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56" y="3013304"/>
            <a:ext cx="377242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29281</TotalTime>
  <Words>2689</Words>
  <Application>Microsoft Office PowerPoint</Application>
  <PresentationFormat>Widescreen</PresentationFormat>
  <Paragraphs>356</Paragraphs>
  <Slides>54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Lifu dissertation results</vt:lpstr>
      <vt:lpstr>3-session fMRI study (SchemRep)</vt:lpstr>
      <vt:lpstr>Lifu results 1.1</vt:lpstr>
      <vt:lpstr>Lifu Results 1.2</vt:lpstr>
      <vt:lpstr>Lifu Results 2.1</vt:lpstr>
      <vt:lpstr>Lifu Results 2.2</vt:lpstr>
      <vt:lpstr>Lifu Results 2.3</vt:lpstr>
      <vt:lpstr>Warning: Results may shift</vt:lpstr>
      <vt:lpstr>Preprocessing</vt:lpstr>
      <vt:lpstr>Emerging property</vt:lpstr>
      <vt:lpstr>Proposed direction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Behavioral results</vt:lpstr>
      <vt:lpstr>Brainnetome atlas</vt:lpstr>
      <vt:lpstr>Stimulus representations</vt:lpstr>
      <vt:lpstr>Many ways to interpret the abs-difference vector</vt:lpstr>
      <vt:lpstr>Perceptual vectors</vt:lpstr>
      <vt:lpstr>Abs-dif vector</vt:lpstr>
      <vt:lpstr>PowerPoint Presentation</vt:lpstr>
      <vt:lpstr>RSA overview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Episodic memories as state transitions</vt:lpstr>
      <vt:lpstr>Investigating hippocampal traces</vt:lpstr>
      <vt:lpstr>Possible aging effects</vt:lpstr>
      <vt:lpstr>(Beyond the task)  Older adults prototype rather than generalize</vt:lpstr>
      <vt:lpstr>Analyzing generalizing and prototyping</vt:lpstr>
      <vt:lpstr>Other possible aging effect</vt:lpstr>
      <vt:lpstr>Analyzing generalizing and prototyping with combination features (not done)</vt:lpstr>
      <vt:lpstr>Extension into decision-making</vt:lpstr>
      <vt:lpstr>Expanding to incorporate others’ interests</vt:lpstr>
      <vt:lpstr>After removing outliers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67</cp:revision>
  <dcterms:created xsi:type="dcterms:W3CDTF">2023-09-14T13:36:35Z</dcterms:created>
  <dcterms:modified xsi:type="dcterms:W3CDTF">2023-10-12T15:47:15Z</dcterms:modified>
</cp:coreProperties>
</file>