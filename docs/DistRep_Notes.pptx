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67" r:id="rId4"/>
    <p:sldId id="265" r:id="rId5"/>
    <p:sldId id="263" r:id="rId6"/>
    <p:sldId id="264" r:id="rId7"/>
    <p:sldId id="257" r:id="rId8"/>
    <p:sldId id="258" r:id="rId9"/>
    <p:sldId id="260" r:id="rId10"/>
    <p:sldId id="259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94605" autoAdjust="0"/>
  </p:normalViewPr>
  <p:slideViewPr>
    <p:cSldViewPr snapToGrid="0">
      <p:cViewPr>
        <p:scale>
          <a:sx n="100" d="100"/>
          <a:sy n="100" d="100"/>
        </p:scale>
        <p:origin x="1980" y="1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F6EB1-A955-467E-AC9E-AC5540CA929F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6DE717-B21B-4614-9079-DB269821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25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Mouse research shows how reciprocal loops among cortical regions are necessary for working memory maintenance (</a:t>
            </a:r>
            <a:r>
              <a:rPr lang="en-US" dirty="0" err="1"/>
              <a:t>Voitov</a:t>
            </a:r>
            <a:r>
              <a:rPr lang="en-US" dirty="0"/>
              <a:t> &amp; </a:t>
            </a:r>
            <a:r>
              <a:rPr lang="en-US" dirty="0" err="1"/>
              <a:t>Mrsic-Flogel</a:t>
            </a:r>
            <a:r>
              <a:rPr lang="en-US" dirty="0"/>
              <a:t>, 2022)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C42BB-EA19-4439-9E1F-2A1A9246A1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18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BNA atlas</a:t>
            </a:r>
          </a:p>
          <a:p>
            <a:r>
              <a:rPr lang="en-US" dirty="0"/>
              <a:t>Left side figure is p &lt; .01 (one-tailed) threshold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FDR correction still leads to only one surviving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Yet, of the 52 ROIs, 48 show a numerically positive effect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6DE717-B21B-4614-9079-DB2698212F5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346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BNA atlas</a:t>
            </a:r>
          </a:p>
          <a:p>
            <a:r>
              <a:rPr lang="en-US" dirty="0"/>
              <a:t>Left side figure is p &lt; .01 (one-tailed) threshold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6DE717-B21B-4614-9079-DB2698212F5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4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B1B3D-14E6-A553-FA53-D3BAA4607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Introduction 1: Conceptual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7554D-B661-B56D-0A3B-6956F514E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1" y="1155720"/>
            <a:ext cx="5384800" cy="5505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Cognitive neuroscience has increasingly focused on how cognitive functions are distributed across multiple regions</a:t>
            </a:r>
          </a:p>
          <a:p>
            <a:pPr lvl="1"/>
            <a:r>
              <a:rPr lang="en-US" dirty="0"/>
              <a:t>Functional modules</a:t>
            </a:r>
          </a:p>
          <a:p>
            <a:r>
              <a:rPr lang="en-US" dirty="0"/>
              <a:t>Different types of information are processed in a distributed fashion</a:t>
            </a:r>
          </a:p>
          <a:p>
            <a:pPr lvl="1"/>
            <a:r>
              <a:rPr lang="en-US" dirty="0"/>
              <a:t>fMRI research demonstrates how brain areas specialize in representing specific features (Deniz, … Gallant, 2019)</a:t>
            </a:r>
          </a:p>
          <a:p>
            <a:pPr lvl="1"/>
            <a:r>
              <a:rPr lang="en-US" dirty="0"/>
              <a:t>PFC in particular is thought to…</a:t>
            </a:r>
          </a:p>
          <a:p>
            <a:r>
              <a:rPr lang="en-US" dirty="0"/>
              <a:t>Yet there is little reach on how these different regions work together to represent stimuli</a:t>
            </a:r>
          </a:p>
          <a:p>
            <a:pPr lvl="1"/>
            <a:r>
              <a:rPr lang="en-US" dirty="0"/>
              <a:t>Analyses typically target “micro” levels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5F76CA-B56E-EA79-717A-05740EF1A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623" y="1245661"/>
            <a:ext cx="6150977" cy="49674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EEE032-819E-7219-0DE2-DF3400520B63}"/>
              </a:ext>
            </a:extLst>
          </p:cNvPr>
          <p:cNvSpPr txBox="1"/>
          <p:nvPr/>
        </p:nvSpPr>
        <p:spPr>
          <a:xfrm>
            <a:off x="7981950" y="6322766"/>
            <a:ext cx="2425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(Deniz, … Gallant, 2019)</a:t>
            </a:r>
          </a:p>
        </p:txBody>
      </p:sp>
    </p:spTree>
    <p:extLst>
      <p:ext uri="{BB962C8B-B14F-4D97-AF65-F5344CB8AC3E}">
        <p14:creationId xmlns:p14="http://schemas.microsoft.com/office/powerpoint/2010/main" val="1625608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3BF0F-84A3-4B8A-B18F-EBB9166A3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2: Methodological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F4BBA-09C1-4BBA-F618-987DAFC2E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Usually, representations are studied in terms of voxel-level (BOLD) activation</a:t>
            </a:r>
          </a:p>
          <a:p>
            <a:r>
              <a:rPr lang="en-US" dirty="0"/>
              <a:t>Such data are submitted to RSA</a:t>
            </a:r>
          </a:p>
          <a:p>
            <a:r>
              <a:rPr lang="en-US" dirty="0"/>
              <a:t>This is thought to tap into information processing of neural populations</a:t>
            </a:r>
          </a:p>
          <a:p>
            <a:r>
              <a:rPr lang="en-US" dirty="0"/>
              <a:t>Can this framework be adapted to research possible distributed representations?</a:t>
            </a:r>
          </a:p>
        </p:txBody>
      </p:sp>
    </p:spTree>
    <p:extLst>
      <p:ext uri="{BB962C8B-B14F-4D97-AF65-F5344CB8AC3E}">
        <p14:creationId xmlns:p14="http://schemas.microsoft.com/office/powerpoint/2010/main" val="2321123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F7494-8349-070E-6C6C-95BEA5BC2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55"/>
            <a:ext cx="10515600" cy="1325563"/>
          </a:xfrm>
        </p:spPr>
        <p:txBody>
          <a:bodyPr/>
          <a:lstStyle/>
          <a:p>
            <a:r>
              <a:rPr lang="en-US" dirty="0"/>
              <a:t>ROI-based visualization (RSA)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F20F16-4118-F234-9305-53E5D6BBD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850" y="1293317"/>
            <a:ext cx="4151640" cy="518954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CE983FC-9405-5A63-43E6-7DFA64FA4DFF}"/>
              </a:ext>
            </a:extLst>
          </p:cNvPr>
          <p:cNvSpPr txBox="1"/>
          <p:nvPr/>
        </p:nvSpPr>
        <p:spPr>
          <a:xfrm>
            <a:off x="51596" y="1552456"/>
            <a:ext cx="260905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Here, I plotted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 &lt; .01 uncorrected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symmetry is nice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these ROIs, one survives following Bonferroni correction for 52 tests (t = 3.4)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FDR correction does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not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yield more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7AA00F-DC40-D065-4D00-18E11DA0D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898" y="1293317"/>
            <a:ext cx="4642338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5BACF5-526A-F466-8AD7-70EBD7867C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898" y="4950917"/>
            <a:ext cx="4642338" cy="1828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BEFFFA-802F-2AFA-9982-23FF41094B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898" y="3122117"/>
            <a:ext cx="464233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785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F7494-8349-070E-6C6C-95BEA5BC2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55"/>
            <a:ext cx="10515600" cy="1325563"/>
          </a:xfrm>
        </p:spPr>
        <p:txBody>
          <a:bodyPr/>
          <a:lstStyle/>
          <a:p>
            <a:r>
              <a:rPr lang="en-US" dirty="0"/>
              <a:t>ROI-based visualization (IPS)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45BB81-EF34-56D1-035A-2B7DA0BF1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503" y="1411249"/>
            <a:ext cx="4410222" cy="17373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2386C9-D99A-3A7A-802E-DD1D8D6BF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503" y="3148609"/>
            <a:ext cx="4410221" cy="17373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A905AE-340B-606B-D6A5-87EFDAC4C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503" y="4885969"/>
            <a:ext cx="4410221" cy="17373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179B267-9D4C-A7F0-1905-6277862C27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2100" y="1492250"/>
            <a:ext cx="3810000" cy="47625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677F5D0-469C-E291-4B2C-6696AB4A10BE}"/>
              </a:ext>
            </a:extLst>
          </p:cNvPr>
          <p:cNvSpPr txBox="1"/>
          <p:nvPr/>
        </p:nvSpPr>
        <p:spPr>
          <a:xfrm>
            <a:off x="51596" y="1552456"/>
            <a:ext cx="26090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Consistency with the L MFG result for RSA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However, this one is t = 2.6 and would not survive Bonferroni correction for 52 tests</a:t>
            </a:r>
          </a:p>
        </p:txBody>
      </p:sp>
    </p:spTree>
    <p:extLst>
      <p:ext uri="{BB962C8B-B14F-4D97-AF65-F5344CB8AC3E}">
        <p14:creationId xmlns:p14="http://schemas.microsoft.com/office/powerpoint/2010/main" val="396351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4DF7E-F4B7-AC80-B903-67B71E932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Sub-region pair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DBC83-52CC-F476-9BF1-BA288E514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AFF27A-0C08-4106-609D-A4B778007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050" y="1765300"/>
            <a:ext cx="5365750" cy="21137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E922A4-EC10-B47A-557E-B65FFB5F6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243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A879-656E-48B4-B866-55CD7EBD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AE440-9768-4CF6-B3DB-71C4B16F9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9D854B-26FF-9364-8B29-E96811C76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8" y="1825625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752C86-5404-52B3-E8D9-45DA63746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385" y="1920875"/>
            <a:ext cx="6096000" cy="45720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4B4D4AD9-F518-CD61-0010-D19CD8173929}"/>
              </a:ext>
            </a:extLst>
          </p:cNvPr>
          <p:cNvSpPr/>
          <p:nvPr/>
        </p:nvSpPr>
        <p:spPr>
          <a:xfrm>
            <a:off x="1504949" y="4475163"/>
            <a:ext cx="1671638" cy="167163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8EA2D1-89AE-466D-B723-A9647754C414}"/>
              </a:ext>
            </a:extLst>
          </p:cNvPr>
          <p:cNvSpPr/>
          <p:nvPr/>
        </p:nvSpPr>
        <p:spPr>
          <a:xfrm>
            <a:off x="1504949" y="3305175"/>
            <a:ext cx="1671638" cy="167163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379C35-5999-251B-28ED-857703CA8FF2}"/>
              </a:ext>
            </a:extLst>
          </p:cNvPr>
          <p:cNvSpPr txBox="1"/>
          <p:nvPr/>
        </p:nvSpPr>
        <p:spPr>
          <a:xfrm>
            <a:off x="1504949" y="6228603"/>
            <a:ext cx="4029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Differences like this aren’t accounted for by dropping within-run</a:t>
            </a:r>
          </a:p>
        </p:txBody>
      </p:sp>
    </p:spTree>
    <p:extLst>
      <p:ext uri="{BB962C8B-B14F-4D97-AF65-F5344CB8AC3E}">
        <p14:creationId xmlns:p14="http://schemas.microsoft.com/office/powerpoint/2010/main" val="1226400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4AD29-9C6D-0850-2D97-21CF1053B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02496-9D15-F7D4-E705-096987931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59400" cy="4351338"/>
          </a:xfrm>
        </p:spPr>
        <p:txBody>
          <a:bodyPr/>
          <a:lstStyle/>
          <a:p>
            <a:r>
              <a:rPr lang="en-US" dirty="0"/>
              <a:t>Spearman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3463B0-CF03-D7B4-B525-E605F3DD4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441" y="296333"/>
            <a:ext cx="6265334" cy="62653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D7F60D-4343-E443-45E3-87D500D93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2068" y="0"/>
            <a:ext cx="6858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F207B27-AE3E-4C0F-5868-A54DC2D1867A}"/>
              </a:ext>
            </a:extLst>
          </p:cNvPr>
          <p:cNvSpPr/>
          <p:nvPr/>
        </p:nvSpPr>
        <p:spPr>
          <a:xfrm>
            <a:off x="5643806" y="4766584"/>
            <a:ext cx="699038" cy="67654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44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426CD-1222-36B2-0636-1E1EBC8BB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F1B99-176B-1323-47E0-A6EA76783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CAB14A-0F9A-5910-3800-8C6DFD8BB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556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281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E3A05-35A4-A977-657E-C07B28098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772E6-D5AB-FEE5-D521-3BF0388CC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9444" cy="43513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94CAFE-5B07-E78F-E185-0640AC668DA5}"/>
              </a:ext>
            </a:extLst>
          </p:cNvPr>
          <p:cNvSpPr txBox="1"/>
          <p:nvPr/>
        </p:nvSpPr>
        <p:spPr>
          <a:xfrm>
            <a:off x="7584945" y="3224330"/>
            <a:ext cx="386198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Only one edge: PCL_L, PCL_L</a:t>
            </a:r>
          </a:p>
          <a:p>
            <a:r>
              <a:rPr lang="en-US" dirty="0"/>
              <a:t>Only one edge: PCL_R, PCL_R</a:t>
            </a:r>
          </a:p>
          <a:p>
            <a:r>
              <a:rPr lang="en-US" dirty="0"/>
              <a:t>Only one edge: </a:t>
            </a:r>
            <a:r>
              <a:rPr lang="en-US" dirty="0" err="1"/>
              <a:t>pSTS_L</a:t>
            </a:r>
            <a:r>
              <a:rPr lang="en-US" dirty="0"/>
              <a:t>, </a:t>
            </a:r>
            <a:r>
              <a:rPr lang="en-US" dirty="0" err="1"/>
              <a:t>pSTS_L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pSTS_R</a:t>
            </a:r>
            <a:r>
              <a:rPr lang="en-US" dirty="0"/>
              <a:t>, </a:t>
            </a:r>
            <a:r>
              <a:rPr lang="en-US" dirty="0" err="1"/>
              <a:t>pSTS_R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sOcG_L</a:t>
            </a:r>
            <a:r>
              <a:rPr lang="en-US" dirty="0"/>
              <a:t>, </a:t>
            </a:r>
            <a:r>
              <a:rPr lang="en-US" dirty="0" err="1"/>
              <a:t>sOcG_L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sOcG_R</a:t>
            </a:r>
            <a:r>
              <a:rPr lang="en-US" dirty="0"/>
              <a:t>, </a:t>
            </a:r>
            <a:r>
              <a:rPr lang="en-US" dirty="0" err="1"/>
              <a:t>sOcG_R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Amyg_L</a:t>
            </a:r>
            <a:r>
              <a:rPr lang="en-US" dirty="0"/>
              <a:t>, </a:t>
            </a:r>
            <a:r>
              <a:rPr lang="en-US" dirty="0" err="1"/>
              <a:t>Amyg_L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Amyg_R</a:t>
            </a:r>
            <a:r>
              <a:rPr lang="en-US" dirty="0"/>
              <a:t>, </a:t>
            </a:r>
            <a:r>
              <a:rPr lang="en-US" dirty="0" err="1"/>
              <a:t>Amyg_R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Hipp_L</a:t>
            </a:r>
            <a:r>
              <a:rPr lang="en-US" dirty="0"/>
              <a:t>, </a:t>
            </a:r>
            <a:r>
              <a:rPr lang="en-US" dirty="0" err="1"/>
              <a:t>Hipp_L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Hipp_R</a:t>
            </a:r>
            <a:r>
              <a:rPr lang="en-US" dirty="0"/>
              <a:t>, </a:t>
            </a:r>
            <a:r>
              <a:rPr lang="en-US" dirty="0" err="1"/>
              <a:t>Hipp_R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803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5BBD7-A7B4-813E-37A4-57C722906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5D86E-8457-36A2-CB46-B9721045D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482F73-9F6E-8215-E6A3-E349A4E6D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667" y="441325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687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6FC1A-47A1-AB69-075D-B7655F00D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38E41-519A-7884-41CE-170B03D21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2FBB7B-0656-A6FF-0926-09157EAF3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1219200"/>
            <a:ext cx="3810000" cy="4762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FC27DB-7AFB-FDC4-B468-AB9ABF810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356" y="1546226"/>
            <a:ext cx="3810000" cy="4762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5A8571-003C-E43A-7373-AE51EDA38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156" y="1047750"/>
            <a:ext cx="3810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762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3991</TotalTime>
  <Words>401</Words>
  <Application>Microsoft Office PowerPoint</Application>
  <PresentationFormat>Widescreen</PresentationFormat>
  <Paragraphs>47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Wingdings</vt:lpstr>
      <vt:lpstr>Office Theme</vt:lpstr>
      <vt:lpstr>PowerPoint Presentation</vt:lpstr>
      <vt:lpstr>Introduction 1: Conceptual</vt:lpstr>
      <vt:lpstr>Introduction 2: Methodological</vt:lpstr>
      <vt:lpstr>ROI-based visualization (RSA)</vt:lpstr>
      <vt:lpstr>ROI-based visualization (IPS)</vt:lpstr>
      <vt:lpstr>Sub-region pair visualization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11</cp:revision>
  <dcterms:created xsi:type="dcterms:W3CDTF">2023-11-27T22:20:22Z</dcterms:created>
  <dcterms:modified xsi:type="dcterms:W3CDTF">2023-12-01T22:19:51Z</dcterms:modified>
</cp:coreProperties>
</file>