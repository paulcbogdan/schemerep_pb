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6" r:id="rId3"/>
    <p:sldId id="267" r:id="rId4"/>
    <p:sldId id="459" r:id="rId5"/>
    <p:sldId id="458" r:id="rId6"/>
    <p:sldId id="265" r:id="rId7"/>
    <p:sldId id="263" r:id="rId8"/>
    <p:sldId id="264" r:id="rId9"/>
    <p:sldId id="257" r:id="rId10"/>
    <p:sldId id="258" r:id="rId11"/>
    <p:sldId id="260" r:id="rId12"/>
    <p:sldId id="259" r:id="rId13"/>
    <p:sldId id="261" r:id="rId14"/>
    <p:sldId id="262" r:id="rId15"/>
    <p:sldId id="46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460A"/>
    <a:srgbClr val="616161"/>
    <a:srgbClr val="93E000"/>
    <a:srgbClr val="F89C3C"/>
    <a:srgbClr val="FF0000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9" autoAdjust="0"/>
    <p:restoredTop sz="94605" autoAdjust="0"/>
  </p:normalViewPr>
  <p:slideViewPr>
    <p:cSldViewPr snapToGrid="0">
      <p:cViewPr>
        <p:scale>
          <a:sx n="100" d="100"/>
          <a:sy n="100" d="100"/>
        </p:scale>
        <p:origin x="2322" y="1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F6EB1-A955-467E-AC9E-AC5540CA929F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6DE717-B21B-4614-9079-DB269821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25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Mouse research shows how reciprocal loops among cortical regions are necessary for working memory maintenance (</a:t>
            </a:r>
            <a:r>
              <a:rPr lang="en-US" dirty="0" err="1"/>
              <a:t>Voitov</a:t>
            </a:r>
            <a:r>
              <a:rPr lang="en-US" dirty="0"/>
              <a:t> &amp; </a:t>
            </a:r>
            <a:r>
              <a:rPr lang="en-US" dirty="0" err="1"/>
              <a:t>Mrsic-Flogel</a:t>
            </a:r>
            <a:r>
              <a:rPr lang="en-US" dirty="0"/>
              <a:t>, 2022)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C42BB-EA19-4439-9E1F-2A1A9246A1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18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at specific edges or sub-regions and maybe look at specific tasks. Plot specific edges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C42BB-EA19-4439-9E1F-2A1A9246A1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80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BNA atlas</a:t>
            </a:r>
          </a:p>
          <a:p>
            <a:r>
              <a:rPr lang="en-US" dirty="0"/>
              <a:t>Left side figure is p &lt; .01 (one-tailed) threshold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FDR correction still leads to only one surviving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Yet, of the 52 ROIs, 48 show a numerically positive effect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6DE717-B21B-4614-9079-DB2698212F5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3468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BNA atlas</a:t>
            </a:r>
          </a:p>
          <a:p>
            <a:r>
              <a:rPr lang="en-US" dirty="0"/>
              <a:t>Left side figure is p &lt; .01 (one-tailed) threshold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6DE717-B21B-4614-9079-DB2698212F5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4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B1B3D-14E6-A553-FA53-D3BAA4607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Oft speculated rarely tested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7554D-B661-B56D-0A3B-6956F514E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1" y="1155720"/>
            <a:ext cx="5384800" cy="5505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Cognitive neuroscience has increasingly focused on how cognitive functions are distributed across multiple regions</a:t>
            </a:r>
          </a:p>
          <a:p>
            <a:pPr lvl="1"/>
            <a:r>
              <a:rPr lang="en-US" dirty="0"/>
              <a:t>Functional modules</a:t>
            </a:r>
          </a:p>
          <a:p>
            <a:r>
              <a:rPr lang="en-US" dirty="0"/>
              <a:t>Different types of information are processed in a distributed fashion</a:t>
            </a:r>
          </a:p>
          <a:p>
            <a:pPr lvl="1"/>
            <a:r>
              <a:rPr lang="en-US" dirty="0"/>
              <a:t>fMRI research demonstrates how brain areas specialize in representing specific features (Deniz, … Gallant, 2019)</a:t>
            </a:r>
          </a:p>
          <a:p>
            <a:pPr lvl="1"/>
            <a:r>
              <a:rPr lang="en-US" dirty="0"/>
              <a:t>PFC in particular is thought to…</a:t>
            </a:r>
          </a:p>
          <a:p>
            <a:r>
              <a:rPr lang="en-US" dirty="0"/>
              <a:t>Yet there is little reach on how these different regions work together to represent stimuli</a:t>
            </a:r>
          </a:p>
          <a:p>
            <a:pPr lvl="1"/>
            <a:r>
              <a:rPr lang="en-US" dirty="0"/>
              <a:t>Analyses typically target “micro” levels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5F76CA-B56E-EA79-717A-05740EF1A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623" y="1245661"/>
            <a:ext cx="6150977" cy="49674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EEE032-819E-7219-0DE2-DF3400520B63}"/>
              </a:ext>
            </a:extLst>
          </p:cNvPr>
          <p:cNvSpPr txBox="1"/>
          <p:nvPr/>
        </p:nvSpPr>
        <p:spPr>
          <a:xfrm>
            <a:off x="7981950" y="6322766"/>
            <a:ext cx="2425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(Deniz, … Gallant, 2019)</a:t>
            </a:r>
          </a:p>
        </p:txBody>
      </p:sp>
    </p:spTree>
    <p:extLst>
      <p:ext uri="{BB962C8B-B14F-4D97-AF65-F5344CB8AC3E}">
        <p14:creationId xmlns:p14="http://schemas.microsoft.com/office/powerpoint/2010/main" val="1625608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3BF0F-84A3-4B8A-B18F-EBB9166A3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F4BBA-09C1-4BBA-F618-987DAFC2E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Usually, representations are studied in terms of voxel-level (BOLD) activation</a:t>
            </a:r>
          </a:p>
          <a:p>
            <a:r>
              <a:rPr lang="en-US" dirty="0"/>
              <a:t>Such data are submitted to RSA</a:t>
            </a:r>
          </a:p>
          <a:p>
            <a:r>
              <a:rPr lang="en-US" dirty="0"/>
              <a:t>This is thought to tap into information processing of neural populations</a:t>
            </a:r>
          </a:p>
          <a:p>
            <a:r>
              <a:rPr lang="en-US" dirty="0"/>
              <a:t>Can this framework be adapted to research possible distributed representations?</a:t>
            </a:r>
          </a:p>
        </p:txBody>
      </p:sp>
    </p:spTree>
    <p:extLst>
      <p:ext uri="{BB962C8B-B14F-4D97-AF65-F5344CB8AC3E}">
        <p14:creationId xmlns:p14="http://schemas.microsoft.com/office/powerpoint/2010/main" val="2321123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55884-6B71-E1A1-F1AA-B6E3E262C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62"/>
            <a:ext cx="10515600" cy="1325563"/>
          </a:xfrm>
        </p:spPr>
        <p:txBody>
          <a:bodyPr/>
          <a:lstStyle/>
          <a:p>
            <a:r>
              <a:rPr lang="en-US" dirty="0"/>
              <a:t>Traditional RSA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5799E-691C-9F7C-BE73-BC8C7144C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9699"/>
            <a:ext cx="10515600" cy="199553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To perform traditional RSA, you need a vector of measurements for each trial</a:t>
            </a:r>
          </a:p>
          <a:p>
            <a:r>
              <a:rPr lang="en-US" dirty="0"/>
              <a:t>Typically, the vector represents BOLD activation</a:t>
            </a:r>
          </a:p>
          <a:p>
            <a:pPr lvl="1"/>
            <a:r>
              <a:rPr lang="en-US" dirty="0"/>
              <a:t>Each element is the beta for a given voxel in an ROI</a:t>
            </a:r>
          </a:p>
          <a:p>
            <a:pPr lvl="1"/>
            <a:r>
              <a:rPr lang="en-US" dirty="0"/>
              <a:t>The vector length is equal to the number of voxels in the ROI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3FE17E-0373-900F-A175-17932E436D5D}"/>
              </a:ext>
            </a:extLst>
          </p:cNvPr>
          <p:cNvSpPr/>
          <p:nvPr/>
        </p:nvSpPr>
        <p:spPr>
          <a:xfrm rot="5400000" flipV="1">
            <a:off x="2978639" y="4092154"/>
            <a:ext cx="189411" cy="1866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D56FD-9D93-779A-6E4E-4E29443A19A8}"/>
              </a:ext>
            </a:extLst>
          </p:cNvPr>
          <p:cNvSpPr/>
          <p:nvPr/>
        </p:nvSpPr>
        <p:spPr>
          <a:xfrm rot="5400000" flipV="1">
            <a:off x="3181357" y="4092154"/>
            <a:ext cx="189411" cy="186695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7470A9-BF07-9D1D-7F9C-72CDFBA19F06}"/>
              </a:ext>
            </a:extLst>
          </p:cNvPr>
          <p:cNvSpPr/>
          <p:nvPr/>
        </p:nvSpPr>
        <p:spPr>
          <a:xfrm rot="5400000" flipV="1">
            <a:off x="3384075" y="4092154"/>
            <a:ext cx="189411" cy="186695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07076C-3341-E2F3-CC22-C5125D582D2D}"/>
              </a:ext>
            </a:extLst>
          </p:cNvPr>
          <p:cNvSpPr/>
          <p:nvPr/>
        </p:nvSpPr>
        <p:spPr>
          <a:xfrm rot="5400000" flipV="1">
            <a:off x="3586793" y="4092154"/>
            <a:ext cx="189411" cy="186695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2B5FCC-19D7-475D-E837-0972570D6EF9}"/>
              </a:ext>
            </a:extLst>
          </p:cNvPr>
          <p:cNvSpPr/>
          <p:nvPr/>
        </p:nvSpPr>
        <p:spPr>
          <a:xfrm rot="5400000" flipV="1">
            <a:off x="3789511" y="4092154"/>
            <a:ext cx="189411" cy="186695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1FF5B-5B32-F98E-9E4B-08F707DF8960}"/>
              </a:ext>
            </a:extLst>
          </p:cNvPr>
          <p:cNvSpPr/>
          <p:nvPr/>
        </p:nvSpPr>
        <p:spPr>
          <a:xfrm rot="5400000" flipV="1">
            <a:off x="3992229" y="4092154"/>
            <a:ext cx="189411" cy="186695"/>
          </a:xfrm>
          <a:prstGeom prst="rect">
            <a:avLst/>
          </a:prstGeom>
          <a:solidFill>
            <a:srgbClr val="98B3F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2322DF-CBDC-1D87-A940-432BFDEFDE03}"/>
                  </a:ext>
                </a:extLst>
              </p:cNvPr>
              <p:cNvSpPr txBox="1"/>
              <p:nvPr/>
            </p:nvSpPr>
            <p:spPr>
              <a:xfrm>
                <a:off x="408632" y="4961298"/>
                <a:ext cx="7365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ROI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2322DF-CBDC-1D87-A940-432BFDEFD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32" y="4961298"/>
                <a:ext cx="736548" cy="276999"/>
              </a:xfrm>
              <a:prstGeom prst="rect">
                <a:avLst/>
              </a:prstGeom>
              <a:blipFill>
                <a:blip r:embed="rId2"/>
                <a:stretch>
                  <a:fillRect l="-18644" t="-26087" b="-47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895969F-01F0-1031-3CE7-C222B6BD5EB6}"/>
              </a:ext>
            </a:extLst>
          </p:cNvPr>
          <p:cNvSpPr txBox="1"/>
          <p:nvPr/>
        </p:nvSpPr>
        <p:spPr>
          <a:xfrm>
            <a:off x="2871531" y="3421587"/>
            <a:ext cx="148758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Neural vectors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0D8F62-D6B5-3790-8A1C-C454E596AF09}"/>
              </a:ext>
            </a:extLst>
          </p:cNvPr>
          <p:cNvSpPr txBox="1"/>
          <p:nvPr/>
        </p:nvSpPr>
        <p:spPr>
          <a:xfrm>
            <a:off x="1501806" y="4031612"/>
            <a:ext cx="6326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F149DD-D3BB-CB03-D6C3-945358DB067D}"/>
              </a:ext>
            </a:extLst>
          </p:cNvPr>
          <p:cNvSpPr/>
          <p:nvPr/>
        </p:nvSpPr>
        <p:spPr>
          <a:xfrm rot="5400000" flipV="1">
            <a:off x="2984330" y="4346940"/>
            <a:ext cx="189411" cy="1866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3FFD0F-DE93-308D-EFE7-40F09AD21F9F}"/>
              </a:ext>
            </a:extLst>
          </p:cNvPr>
          <p:cNvSpPr/>
          <p:nvPr/>
        </p:nvSpPr>
        <p:spPr>
          <a:xfrm rot="5400000" flipV="1">
            <a:off x="3187048" y="4346940"/>
            <a:ext cx="189411" cy="1866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089A08-E799-4FA6-63AF-32E33DD37563}"/>
              </a:ext>
            </a:extLst>
          </p:cNvPr>
          <p:cNvSpPr/>
          <p:nvPr/>
        </p:nvSpPr>
        <p:spPr>
          <a:xfrm rot="5400000" flipV="1">
            <a:off x="3389766" y="4346940"/>
            <a:ext cx="189411" cy="186695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A83409-01A7-9C91-EA64-D6C90A25498D}"/>
              </a:ext>
            </a:extLst>
          </p:cNvPr>
          <p:cNvSpPr/>
          <p:nvPr/>
        </p:nvSpPr>
        <p:spPr>
          <a:xfrm rot="5400000" flipV="1">
            <a:off x="3592484" y="4346940"/>
            <a:ext cx="189411" cy="18669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F4DB2E-8370-DE30-B54D-26FBC1036181}"/>
              </a:ext>
            </a:extLst>
          </p:cNvPr>
          <p:cNvSpPr/>
          <p:nvPr/>
        </p:nvSpPr>
        <p:spPr>
          <a:xfrm rot="5400000" flipV="1">
            <a:off x="3795202" y="4346940"/>
            <a:ext cx="189411" cy="186695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C675CE-8E02-406F-CFC3-E1602EB1D035}"/>
              </a:ext>
            </a:extLst>
          </p:cNvPr>
          <p:cNvSpPr/>
          <p:nvPr/>
        </p:nvSpPr>
        <p:spPr>
          <a:xfrm rot="5400000" flipV="1">
            <a:off x="3997920" y="4346940"/>
            <a:ext cx="189411" cy="186695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D90B29-72FF-D4C4-4376-D409ABF3056D}"/>
              </a:ext>
            </a:extLst>
          </p:cNvPr>
          <p:cNvSpPr txBox="1"/>
          <p:nvPr/>
        </p:nvSpPr>
        <p:spPr>
          <a:xfrm>
            <a:off x="1501806" y="4291334"/>
            <a:ext cx="6326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322D3D-5066-A37C-6E89-5A1C05C9B93E}"/>
              </a:ext>
            </a:extLst>
          </p:cNvPr>
          <p:cNvSpPr/>
          <p:nvPr/>
        </p:nvSpPr>
        <p:spPr>
          <a:xfrm rot="5400000" flipV="1">
            <a:off x="2978639" y="4601726"/>
            <a:ext cx="189411" cy="186695"/>
          </a:xfrm>
          <a:prstGeom prst="rect">
            <a:avLst/>
          </a:prstGeom>
          <a:solidFill>
            <a:srgbClr val="98B3F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25F888-597B-4E94-4FB3-84F5738BE81D}"/>
              </a:ext>
            </a:extLst>
          </p:cNvPr>
          <p:cNvSpPr/>
          <p:nvPr/>
        </p:nvSpPr>
        <p:spPr>
          <a:xfrm rot="5400000" flipV="1">
            <a:off x="3181357" y="4601726"/>
            <a:ext cx="189411" cy="186695"/>
          </a:xfrm>
          <a:prstGeom prst="rect">
            <a:avLst/>
          </a:prstGeom>
          <a:solidFill>
            <a:srgbClr val="FDD4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B5F3FE-73BF-F33B-C433-D90ED5226D44}"/>
              </a:ext>
            </a:extLst>
          </p:cNvPr>
          <p:cNvSpPr/>
          <p:nvPr/>
        </p:nvSpPr>
        <p:spPr>
          <a:xfrm rot="5400000" flipV="1">
            <a:off x="3384075" y="4601726"/>
            <a:ext cx="189411" cy="1866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76BE34-32AC-A6A9-F58E-249962BB5AC6}"/>
              </a:ext>
            </a:extLst>
          </p:cNvPr>
          <p:cNvSpPr/>
          <p:nvPr/>
        </p:nvSpPr>
        <p:spPr>
          <a:xfrm rot="5400000" flipV="1">
            <a:off x="3586793" y="4601726"/>
            <a:ext cx="189411" cy="186695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370056-2D6E-734F-B9E5-490584116774}"/>
              </a:ext>
            </a:extLst>
          </p:cNvPr>
          <p:cNvSpPr/>
          <p:nvPr/>
        </p:nvSpPr>
        <p:spPr>
          <a:xfrm rot="5400000" flipV="1">
            <a:off x="3789511" y="4601726"/>
            <a:ext cx="189411" cy="186695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D6139A2-5B6E-465E-E2F7-7EEB9E3B88CD}"/>
              </a:ext>
            </a:extLst>
          </p:cNvPr>
          <p:cNvSpPr/>
          <p:nvPr/>
        </p:nvSpPr>
        <p:spPr>
          <a:xfrm rot="5400000" flipV="1">
            <a:off x="3992229" y="4601726"/>
            <a:ext cx="189411" cy="186695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43BB4F-9923-860B-DB80-BA7172557E37}"/>
              </a:ext>
            </a:extLst>
          </p:cNvPr>
          <p:cNvSpPr/>
          <p:nvPr/>
        </p:nvSpPr>
        <p:spPr>
          <a:xfrm rot="5400000" flipV="1">
            <a:off x="2984330" y="4856512"/>
            <a:ext cx="189411" cy="186695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608DD0-45DE-FDA3-E8AF-787D2FF61703}"/>
              </a:ext>
            </a:extLst>
          </p:cNvPr>
          <p:cNvSpPr/>
          <p:nvPr/>
        </p:nvSpPr>
        <p:spPr>
          <a:xfrm rot="5400000" flipV="1">
            <a:off x="3187048" y="4856512"/>
            <a:ext cx="189411" cy="18669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FAA98D-A35A-17B2-6987-0935ACF4AE31}"/>
              </a:ext>
            </a:extLst>
          </p:cNvPr>
          <p:cNvSpPr/>
          <p:nvPr/>
        </p:nvSpPr>
        <p:spPr>
          <a:xfrm rot="5400000" flipV="1">
            <a:off x="3389766" y="4856512"/>
            <a:ext cx="189411" cy="186695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D75A8C-E7D7-7C26-7CFD-62D016F1424B}"/>
              </a:ext>
            </a:extLst>
          </p:cNvPr>
          <p:cNvSpPr/>
          <p:nvPr/>
        </p:nvSpPr>
        <p:spPr>
          <a:xfrm rot="5400000" flipV="1">
            <a:off x="3592484" y="4856512"/>
            <a:ext cx="189411" cy="186695"/>
          </a:xfrm>
          <a:prstGeom prst="rect">
            <a:avLst/>
          </a:prstGeom>
          <a:solidFill>
            <a:srgbClr val="FDD4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5BD263-675A-6108-0682-0292B58613ED}"/>
              </a:ext>
            </a:extLst>
          </p:cNvPr>
          <p:cNvSpPr/>
          <p:nvPr/>
        </p:nvSpPr>
        <p:spPr>
          <a:xfrm rot="5400000" flipV="1">
            <a:off x="3795202" y="4856512"/>
            <a:ext cx="189411" cy="186695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4AEBED2-2A73-1CA6-87D6-E3E04C509456}"/>
              </a:ext>
            </a:extLst>
          </p:cNvPr>
          <p:cNvSpPr/>
          <p:nvPr/>
        </p:nvSpPr>
        <p:spPr>
          <a:xfrm rot="5400000" flipV="1">
            <a:off x="3997920" y="4856512"/>
            <a:ext cx="189411" cy="186695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6557C93-B1C8-BA9C-613E-74C241E6B362}"/>
              </a:ext>
            </a:extLst>
          </p:cNvPr>
          <p:cNvSpPr/>
          <p:nvPr/>
        </p:nvSpPr>
        <p:spPr>
          <a:xfrm rot="5400000" flipV="1">
            <a:off x="2985073" y="5111298"/>
            <a:ext cx="189411" cy="186695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A1487C-E35E-551F-AA3B-119C1BE8B008}"/>
              </a:ext>
            </a:extLst>
          </p:cNvPr>
          <p:cNvSpPr/>
          <p:nvPr/>
        </p:nvSpPr>
        <p:spPr>
          <a:xfrm rot="5400000" flipV="1">
            <a:off x="3187791" y="5111298"/>
            <a:ext cx="189411" cy="186695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1D2661-523E-BBD3-526C-825A4920494E}"/>
              </a:ext>
            </a:extLst>
          </p:cNvPr>
          <p:cNvSpPr/>
          <p:nvPr/>
        </p:nvSpPr>
        <p:spPr>
          <a:xfrm rot="5400000" flipV="1">
            <a:off x="3390509" y="5111298"/>
            <a:ext cx="189411" cy="1866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F6F651E-6A23-9E73-B2BC-6C4FC74903DA}"/>
              </a:ext>
            </a:extLst>
          </p:cNvPr>
          <p:cNvSpPr/>
          <p:nvPr/>
        </p:nvSpPr>
        <p:spPr>
          <a:xfrm rot="5400000" flipV="1">
            <a:off x="3593227" y="5111298"/>
            <a:ext cx="189411" cy="18669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D28440-E2CF-945C-001C-7CE23AE45888}"/>
              </a:ext>
            </a:extLst>
          </p:cNvPr>
          <p:cNvSpPr/>
          <p:nvPr/>
        </p:nvSpPr>
        <p:spPr>
          <a:xfrm rot="5400000" flipV="1">
            <a:off x="3795945" y="5111298"/>
            <a:ext cx="189411" cy="1866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E598B4D-2758-68F9-1AEE-196F2185F48D}"/>
              </a:ext>
            </a:extLst>
          </p:cNvPr>
          <p:cNvSpPr/>
          <p:nvPr/>
        </p:nvSpPr>
        <p:spPr>
          <a:xfrm rot="5400000" flipV="1">
            <a:off x="3998663" y="5111298"/>
            <a:ext cx="189411" cy="186695"/>
          </a:xfrm>
          <a:prstGeom prst="rect">
            <a:avLst/>
          </a:prstGeom>
          <a:solidFill>
            <a:srgbClr val="FDD4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01F8C8E-0E57-6893-7578-55C1DB53C85B}"/>
              </a:ext>
            </a:extLst>
          </p:cNvPr>
          <p:cNvSpPr/>
          <p:nvPr/>
        </p:nvSpPr>
        <p:spPr>
          <a:xfrm rot="5400000" flipV="1">
            <a:off x="2990764" y="5366083"/>
            <a:ext cx="189411" cy="186695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D938812-7B08-FCBA-9EF4-8C493C8653F4}"/>
              </a:ext>
            </a:extLst>
          </p:cNvPr>
          <p:cNvSpPr/>
          <p:nvPr/>
        </p:nvSpPr>
        <p:spPr>
          <a:xfrm rot="5400000" flipV="1">
            <a:off x="3193482" y="5366083"/>
            <a:ext cx="189411" cy="186695"/>
          </a:xfrm>
          <a:prstGeom prst="rect">
            <a:avLst/>
          </a:prstGeom>
          <a:solidFill>
            <a:srgbClr val="FA41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6C7392C-9EDF-6C43-3B67-670B0F42E17F}"/>
              </a:ext>
            </a:extLst>
          </p:cNvPr>
          <p:cNvSpPr/>
          <p:nvPr/>
        </p:nvSpPr>
        <p:spPr>
          <a:xfrm rot="5400000" flipV="1">
            <a:off x="3396200" y="5366083"/>
            <a:ext cx="189411" cy="186695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8E95476-4B62-B9B4-1E15-B96436C3819B}"/>
              </a:ext>
            </a:extLst>
          </p:cNvPr>
          <p:cNvSpPr/>
          <p:nvPr/>
        </p:nvSpPr>
        <p:spPr>
          <a:xfrm rot="5400000" flipV="1">
            <a:off x="3598918" y="5366083"/>
            <a:ext cx="189411" cy="186695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C6AE931-6AB4-B8F7-AC64-55F5C736641B}"/>
              </a:ext>
            </a:extLst>
          </p:cNvPr>
          <p:cNvSpPr/>
          <p:nvPr/>
        </p:nvSpPr>
        <p:spPr>
          <a:xfrm rot="5400000" flipV="1">
            <a:off x="3801636" y="5366083"/>
            <a:ext cx="189411" cy="186695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08CD4D6-5369-4274-9BCA-5EC3BC36AD9F}"/>
              </a:ext>
            </a:extLst>
          </p:cNvPr>
          <p:cNvSpPr/>
          <p:nvPr/>
        </p:nvSpPr>
        <p:spPr>
          <a:xfrm rot="5400000" flipV="1">
            <a:off x="4004354" y="5366083"/>
            <a:ext cx="189411" cy="18669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077A09-EC1C-F4E3-88D1-3314D118DEC8}"/>
              </a:ext>
            </a:extLst>
          </p:cNvPr>
          <p:cNvSpPr txBox="1"/>
          <p:nvPr/>
        </p:nvSpPr>
        <p:spPr>
          <a:xfrm>
            <a:off x="1501806" y="4551056"/>
            <a:ext cx="6326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6630A06-ABB7-967C-92CB-F7B6F4AF68A1}"/>
              </a:ext>
            </a:extLst>
          </p:cNvPr>
          <p:cNvSpPr txBox="1"/>
          <p:nvPr/>
        </p:nvSpPr>
        <p:spPr>
          <a:xfrm>
            <a:off x="1501806" y="4810778"/>
            <a:ext cx="6326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577D64A-2D39-9268-0A63-63D66CF96B05}"/>
              </a:ext>
            </a:extLst>
          </p:cNvPr>
          <p:cNvSpPr txBox="1"/>
          <p:nvPr/>
        </p:nvSpPr>
        <p:spPr>
          <a:xfrm>
            <a:off x="1501806" y="5070500"/>
            <a:ext cx="6326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78391EC-6B08-F1E0-300B-708CBE545C19}"/>
              </a:ext>
            </a:extLst>
          </p:cNvPr>
          <p:cNvSpPr txBox="1"/>
          <p:nvPr/>
        </p:nvSpPr>
        <p:spPr>
          <a:xfrm>
            <a:off x="1501806" y="5330220"/>
            <a:ext cx="6326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Trial 6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A3543C3-9C1F-9AD5-1F75-5349BD059880}"/>
              </a:ext>
            </a:extLst>
          </p:cNvPr>
          <p:cNvGrpSpPr/>
          <p:nvPr/>
        </p:nvGrpSpPr>
        <p:grpSpPr>
          <a:xfrm flipH="1">
            <a:off x="1771034" y="5680302"/>
            <a:ext cx="45719" cy="256660"/>
            <a:chOff x="5767592" y="3420762"/>
            <a:chExt cx="55380" cy="313458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E8156C6-4723-C8E7-55BE-6995E88F4766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81B18CF-D47F-CEBC-F5AC-8E2CB97051BB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04C1205-CA79-FADE-935C-B3504E4AB017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52FC23EC-45CF-DC28-269F-CA4F2809B580}"/>
              </a:ext>
            </a:extLst>
          </p:cNvPr>
          <p:cNvSpPr/>
          <p:nvPr/>
        </p:nvSpPr>
        <p:spPr>
          <a:xfrm rot="5400000" flipV="1">
            <a:off x="2979196" y="6030136"/>
            <a:ext cx="189411" cy="186695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EAD767E-B9E3-0DE5-D78A-8B0A348918A4}"/>
              </a:ext>
            </a:extLst>
          </p:cNvPr>
          <p:cNvSpPr/>
          <p:nvPr/>
        </p:nvSpPr>
        <p:spPr>
          <a:xfrm rot="5400000" flipV="1">
            <a:off x="3181914" y="6030136"/>
            <a:ext cx="189411" cy="186695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3897F2E-4791-9DA2-328C-BE43A1E5BD1A}"/>
              </a:ext>
            </a:extLst>
          </p:cNvPr>
          <p:cNvSpPr/>
          <p:nvPr/>
        </p:nvSpPr>
        <p:spPr>
          <a:xfrm rot="5400000" flipV="1">
            <a:off x="3384632" y="6030136"/>
            <a:ext cx="189411" cy="186695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1369B31-0FCB-50C3-8336-15B80129F36F}"/>
              </a:ext>
            </a:extLst>
          </p:cNvPr>
          <p:cNvSpPr/>
          <p:nvPr/>
        </p:nvSpPr>
        <p:spPr>
          <a:xfrm rot="5400000" flipV="1">
            <a:off x="3587350" y="6030136"/>
            <a:ext cx="189411" cy="1866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14C2B2A-E7E5-2E8B-7EE0-979EF94F5796}"/>
              </a:ext>
            </a:extLst>
          </p:cNvPr>
          <p:cNvSpPr/>
          <p:nvPr/>
        </p:nvSpPr>
        <p:spPr>
          <a:xfrm rot="5400000" flipV="1">
            <a:off x="3790068" y="6030136"/>
            <a:ext cx="189411" cy="18669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999F1C0-F5A0-940C-F42D-AEEFDE844C74}"/>
              </a:ext>
            </a:extLst>
          </p:cNvPr>
          <p:cNvSpPr/>
          <p:nvPr/>
        </p:nvSpPr>
        <p:spPr>
          <a:xfrm rot="5400000" flipV="1">
            <a:off x="3992786" y="6030136"/>
            <a:ext cx="189411" cy="186695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160781F-2CA2-8071-4A00-A1643B12A4AB}"/>
                  </a:ext>
                </a:extLst>
              </p:cNvPr>
              <p:cNvSpPr txBox="1"/>
              <p:nvPr/>
            </p:nvSpPr>
            <p:spPr>
              <a:xfrm>
                <a:off x="1490238" y="5994273"/>
                <a:ext cx="6413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Trial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160781F-2CA2-8071-4A00-A1643B12A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238" y="5994273"/>
                <a:ext cx="641394" cy="276999"/>
              </a:xfrm>
              <a:prstGeom prst="rect">
                <a:avLst/>
              </a:prstGeom>
              <a:blipFill>
                <a:blip r:embed="rId3"/>
                <a:stretch>
                  <a:fillRect l="-21569" t="-21739" r="-7843" b="-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ight Arrow 58">
            <a:extLst>
              <a:ext uri="{FF2B5EF4-FFF2-40B4-BE49-F238E27FC236}">
                <a16:creationId xmlns:a16="http://schemas.microsoft.com/office/drawing/2014/main" id="{D1F1EF4A-CA3E-3A1D-BE14-2FB951F9E6BD}"/>
              </a:ext>
            </a:extLst>
          </p:cNvPr>
          <p:cNvSpPr/>
          <p:nvPr/>
        </p:nvSpPr>
        <p:spPr>
          <a:xfrm>
            <a:off x="4919185" y="4773514"/>
            <a:ext cx="294326" cy="25247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8AAF424-459A-6408-210F-F637D98DDFEB}"/>
              </a:ext>
            </a:extLst>
          </p:cNvPr>
          <p:cNvGrpSpPr/>
          <p:nvPr/>
        </p:nvGrpSpPr>
        <p:grpSpPr>
          <a:xfrm rot="8100000">
            <a:off x="7534592" y="5644378"/>
            <a:ext cx="55380" cy="313458"/>
            <a:chOff x="5767592" y="3420762"/>
            <a:chExt cx="55380" cy="313458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EE4BD1C-DE12-B41A-952B-7B048CAA027A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55720DE-88C9-C439-F3BD-929EF526F8BB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0EACEC3-432B-9704-306A-1469D221FB10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5B0A05A7-BF60-FA66-CB6A-8A7711DF3465}"/>
              </a:ext>
            </a:extLst>
          </p:cNvPr>
          <p:cNvSpPr/>
          <p:nvPr/>
        </p:nvSpPr>
        <p:spPr>
          <a:xfrm rot="5400000" flipV="1">
            <a:off x="5999340" y="4376334"/>
            <a:ext cx="189411" cy="18669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33071A-6A43-9F78-339A-321047DF3C41}"/>
              </a:ext>
            </a:extLst>
          </p:cNvPr>
          <p:cNvSpPr/>
          <p:nvPr/>
        </p:nvSpPr>
        <p:spPr>
          <a:xfrm rot="5400000" flipV="1">
            <a:off x="5999340" y="4623538"/>
            <a:ext cx="189411" cy="186695"/>
          </a:xfrm>
          <a:prstGeom prst="rect">
            <a:avLst/>
          </a:prstGeom>
          <a:solidFill>
            <a:srgbClr val="D6D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9B4C0E9-2D80-DB6C-2F43-F96422D11452}"/>
              </a:ext>
            </a:extLst>
          </p:cNvPr>
          <p:cNvSpPr/>
          <p:nvPr/>
        </p:nvSpPr>
        <p:spPr>
          <a:xfrm rot="5400000" flipV="1">
            <a:off x="5995442" y="4870742"/>
            <a:ext cx="189411" cy="18669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543F892-EC09-E1F0-0393-BDC510760289}"/>
              </a:ext>
            </a:extLst>
          </p:cNvPr>
          <p:cNvSpPr/>
          <p:nvPr/>
        </p:nvSpPr>
        <p:spPr>
          <a:xfrm rot="5400000" flipV="1">
            <a:off x="5995442" y="5122402"/>
            <a:ext cx="189411" cy="186695"/>
          </a:xfrm>
          <a:prstGeom prst="rect">
            <a:avLst/>
          </a:prstGeom>
          <a:solidFill>
            <a:srgbClr val="E9E9E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B84C496-36EF-F92A-537A-7B37B4D43EE8}"/>
              </a:ext>
            </a:extLst>
          </p:cNvPr>
          <p:cNvSpPr/>
          <p:nvPr/>
        </p:nvSpPr>
        <p:spPr>
          <a:xfrm rot="5400000" flipV="1">
            <a:off x="5995442" y="5369606"/>
            <a:ext cx="189411" cy="18669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166356C-421D-DC6E-DF06-0D3C6B65BB1B}"/>
              </a:ext>
            </a:extLst>
          </p:cNvPr>
          <p:cNvSpPr/>
          <p:nvPr/>
        </p:nvSpPr>
        <p:spPr>
          <a:xfrm rot="5400000" flipV="1">
            <a:off x="6247652" y="4623538"/>
            <a:ext cx="189411" cy="186695"/>
          </a:xfrm>
          <a:prstGeom prst="rect">
            <a:avLst/>
          </a:prstGeom>
          <a:solidFill>
            <a:srgbClr val="E9E9E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03E4A88-3B8C-545C-F43E-0DA8266AD70E}"/>
              </a:ext>
            </a:extLst>
          </p:cNvPr>
          <p:cNvSpPr/>
          <p:nvPr/>
        </p:nvSpPr>
        <p:spPr>
          <a:xfrm rot="5400000" flipV="1">
            <a:off x="6243754" y="4870742"/>
            <a:ext cx="189411" cy="186695"/>
          </a:xfrm>
          <a:prstGeom prst="rect">
            <a:avLst/>
          </a:prstGeom>
          <a:solidFill>
            <a:srgbClr val="D6D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EE18279-4DDE-DCF1-4AD9-6CD49BB17CB1}"/>
              </a:ext>
            </a:extLst>
          </p:cNvPr>
          <p:cNvSpPr/>
          <p:nvPr/>
        </p:nvSpPr>
        <p:spPr>
          <a:xfrm rot="5400000" flipV="1">
            <a:off x="6243754" y="5122402"/>
            <a:ext cx="189411" cy="18669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A4EACFF-FFD2-74B8-8881-8DC83AD3E6CB}"/>
              </a:ext>
            </a:extLst>
          </p:cNvPr>
          <p:cNvSpPr/>
          <p:nvPr/>
        </p:nvSpPr>
        <p:spPr>
          <a:xfrm rot="5400000" flipV="1">
            <a:off x="6243754" y="5369606"/>
            <a:ext cx="189411" cy="186695"/>
          </a:xfrm>
          <a:prstGeom prst="rect">
            <a:avLst/>
          </a:prstGeom>
          <a:solidFill>
            <a:srgbClr val="E9E9E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8FA5DDF-CCA5-2E38-EEA9-930A1CFE1CF6}"/>
              </a:ext>
            </a:extLst>
          </p:cNvPr>
          <p:cNvSpPr/>
          <p:nvPr/>
        </p:nvSpPr>
        <p:spPr>
          <a:xfrm rot="5400000" flipV="1">
            <a:off x="6518390" y="4869180"/>
            <a:ext cx="189411" cy="18669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1E6BD00-E90E-D0A0-AB6F-B927B66D2BF7}"/>
              </a:ext>
            </a:extLst>
          </p:cNvPr>
          <p:cNvSpPr/>
          <p:nvPr/>
        </p:nvSpPr>
        <p:spPr>
          <a:xfrm rot="5400000" flipV="1">
            <a:off x="6518390" y="5120840"/>
            <a:ext cx="189411" cy="18669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2D59F39-AA51-1B46-F3CA-F9397A753F65}"/>
              </a:ext>
            </a:extLst>
          </p:cNvPr>
          <p:cNvSpPr/>
          <p:nvPr/>
        </p:nvSpPr>
        <p:spPr>
          <a:xfrm rot="5400000" flipV="1">
            <a:off x="6518390" y="5368044"/>
            <a:ext cx="189411" cy="186695"/>
          </a:xfrm>
          <a:prstGeom prst="rect">
            <a:avLst/>
          </a:prstGeom>
          <a:solidFill>
            <a:srgbClr val="D6D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817DAE4-F975-129A-4FBE-FD92F49F645A}"/>
              </a:ext>
            </a:extLst>
          </p:cNvPr>
          <p:cNvSpPr/>
          <p:nvPr/>
        </p:nvSpPr>
        <p:spPr>
          <a:xfrm rot="5400000" flipV="1">
            <a:off x="6803507" y="5120840"/>
            <a:ext cx="189411" cy="186695"/>
          </a:xfrm>
          <a:prstGeom prst="rect">
            <a:avLst/>
          </a:prstGeom>
          <a:solidFill>
            <a:srgbClr val="E9E9E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2EF17C0-EABA-6C65-4CC8-F0C56BBF45C8}"/>
              </a:ext>
            </a:extLst>
          </p:cNvPr>
          <p:cNvSpPr/>
          <p:nvPr/>
        </p:nvSpPr>
        <p:spPr>
          <a:xfrm rot="5400000" flipV="1">
            <a:off x="6803507" y="5368044"/>
            <a:ext cx="189411" cy="18669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47961C3-C8F8-3DA5-3AC0-F11D377E8C18}"/>
              </a:ext>
            </a:extLst>
          </p:cNvPr>
          <p:cNvSpPr/>
          <p:nvPr/>
        </p:nvSpPr>
        <p:spPr>
          <a:xfrm rot="5400000" flipV="1">
            <a:off x="7086355" y="5368044"/>
            <a:ext cx="189411" cy="186695"/>
          </a:xfrm>
          <a:prstGeom prst="rect">
            <a:avLst/>
          </a:prstGeom>
          <a:solidFill>
            <a:srgbClr val="D6D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0C8116B-81D3-07AD-7255-AF85BBD8F239}"/>
              </a:ext>
            </a:extLst>
          </p:cNvPr>
          <p:cNvGrpSpPr/>
          <p:nvPr/>
        </p:nvGrpSpPr>
        <p:grpSpPr>
          <a:xfrm>
            <a:off x="6590222" y="5670260"/>
            <a:ext cx="55380" cy="313458"/>
            <a:chOff x="5767592" y="3420762"/>
            <a:chExt cx="55380" cy="313458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D5B89A32-0C8D-1A0F-C2E6-CBD4C2BF74D0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FE45ADBF-5781-8E28-109F-D9DCEF51E290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FC9C62F9-CB9E-E6CC-FA02-5A25B993DBCD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3" name="Rectangle 82">
            <a:extLst>
              <a:ext uri="{FF2B5EF4-FFF2-40B4-BE49-F238E27FC236}">
                <a16:creationId xmlns:a16="http://schemas.microsoft.com/office/drawing/2014/main" id="{F9D582C0-B48B-32ED-1E19-1BC270584FB2}"/>
              </a:ext>
            </a:extLst>
          </p:cNvPr>
          <p:cNvSpPr/>
          <p:nvPr/>
        </p:nvSpPr>
        <p:spPr>
          <a:xfrm rot="5400000" flipV="1">
            <a:off x="6001232" y="6060555"/>
            <a:ext cx="189411" cy="18669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09D169E-BE6E-A31F-7FDE-0F202E79B4EA}"/>
              </a:ext>
            </a:extLst>
          </p:cNvPr>
          <p:cNvSpPr/>
          <p:nvPr/>
        </p:nvSpPr>
        <p:spPr>
          <a:xfrm rot="5400000" flipV="1">
            <a:off x="6249544" y="6060555"/>
            <a:ext cx="189411" cy="18669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46F4412-9F6F-4081-3289-BD351D5BFC05}"/>
              </a:ext>
            </a:extLst>
          </p:cNvPr>
          <p:cNvSpPr/>
          <p:nvPr/>
        </p:nvSpPr>
        <p:spPr>
          <a:xfrm rot="5400000" flipV="1">
            <a:off x="6524180" y="6058993"/>
            <a:ext cx="189411" cy="186695"/>
          </a:xfrm>
          <a:prstGeom prst="rect">
            <a:avLst/>
          </a:prstGeom>
          <a:solidFill>
            <a:srgbClr val="D6D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3CE11D8-ACD4-6D7F-809A-E45FD9CA8069}"/>
              </a:ext>
            </a:extLst>
          </p:cNvPr>
          <p:cNvSpPr/>
          <p:nvPr/>
        </p:nvSpPr>
        <p:spPr>
          <a:xfrm rot="5400000" flipV="1">
            <a:off x="6809297" y="6058993"/>
            <a:ext cx="189411" cy="186695"/>
          </a:xfrm>
          <a:prstGeom prst="rect">
            <a:avLst/>
          </a:prstGeom>
          <a:solidFill>
            <a:srgbClr val="D6D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13D14B8-76AA-421A-DAB5-E9D0A3E4117E}"/>
              </a:ext>
            </a:extLst>
          </p:cNvPr>
          <p:cNvSpPr/>
          <p:nvPr/>
        </p:nvSpPr>
        <p:spPr>
          <a:xfrm rot="5400000" flipV="1">
            <a:off x="7092145" y="6058993"/>
            <a:ext cx="189411" cy="186695"/>
          </a:xfrm>
          <a:prstGeom prst="rect">
            <a:avLst/>
          </a:prstGeom>
          <a:solidFill>
            <a:srgbClr val="E9E9E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C9984DA-102E-E1C9-BF1E-493C2EC4AA73}"/>
              </a:ext>
            </a:extLst>
          </p:cNvPr>
          <p:cNvSpPr txBox="1"/>
          <p:nvPr/>
        </p:nvSpPr>
        <p:spPr>
          <a:xfrm>
            <a:off x="6043397" y="3644474"/>
            <a:ext cx="199734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Build neural RSM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A673539-C190-E460-C771-83BCC7645CD1}"/>
              </a:ext>
            </a:extLst>
          </p:cNvPr>
          <p:cNvSpPr txBox="1"/>
          <p:nvPr/>
        </p:nvSpPr>
        <p:spPr>
          <a:xfrm>
            <a:off x="9481700" y="3644474"/>
            <a:ext cx="1667123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Neural RSM x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Model RSM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F2C1CB5-ED1F-FAA6-63BB-E5351A1D2940}"/>
                  </a:ext>
                </a:extLst>
              </p:cNvPr>
              <p:cNvSpPr txBox="1"/>
              <p:nvPr/>
            </p:nvSpPr>
            <p:spPr>
              <a:xfrm>
                <a:off x="6337469" y="4098148"/>
                <a:ext cx="1667123" cy="2327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𝑐𝑜𝑟𝑟</m:t>
                    </m:r>
                  </m:oMath>
                </a14:m>
                <a:r>
                  <a:rPr lang="en-US" sz="14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F2C1CB5-ED1F-FAA6-63BB-E5351A1D2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469" y="4098148"/>
                <a:ext cx="1667123" cy="232756"/>
              </a:xfrm>
              <a:prstGeom prst="rect">
                <a:avLst/>
              </a:prstGeom>
              <a:blipFill>
                <a:blip r:embed="rId4"/>
                <a:stretch>
                  <a:fillRect l="-3030" t="-21053" b="-4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DFC3B3AE-36F2-6E80-6E3A-9FE4DC53B161}"/>
              </a:ext>
            </a:extLst>
          </p:cNvPr>
          <p:cNvGrpSpPr/>
          <p:nvPr/>
        </p:nvGrpSpPr>
        <p:grpSpPr>
          <a:xfrm rot="5400000">
            <a:off x="7505390" y="5980659"/>
            <a:ext cx="55380" cy="313458"/>
            <a:chOff x="5767592" y="3420762"/>
            <a:chExt cx="55380" cy="313458"/>
          </a:xfrm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1D112659-B1F8-1309-D2FC-D92A2F3C7BDB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6D2290C1-A78F-85FF-EBDE-AE150AE789CC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51130B38-60E4-3EFD-AF86-4525FE889227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5EBF588-F01B-E566-663D-3DAAD7B561E3}"/>
              </a:ext>
            </a:extLst>
          </p:cNvPr>
          <p:cNvGrpSpPr/>
          <p:nvPr/>
        </p:nvGrpSpPr>
        <p:grpSpPr>
          <a:xfrm>
            <a:off x="3560461" y="5644788"/>
            <a:ext cx="55380" cy="313458"/>
            <a:chOff x="5767592" y="3420762"/>
            <a:chExt cx="55380" cy="313458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6BDCF760-BDCC-B20F-1110-0D891FC0509D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7198DE76-647F-C814-3A71-D120841CCF02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F5014286-61A2-21C9-83DA-87EF7BB28C12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A93C7D3-B321-DB69-6239-6515DA24694C}"/>
              </a:ext>
            </a:extLst>
          </p:cNvPr>
          <p:cNvGrpSpPr/>
          <p:nvPr/>
        </p:nvGrpSpPr>
        <p:grpSpPr>
          <a:xfrm>
            <a:off x="9288810" y="4969361"/>
            <a:ext cx="769226" cy="851293"/>
            <a:chOff x="5997905" y="1176020"/>
            <a:chExt cx="1693009" cy="1873632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D4B8E146-F075-80BC-6A99-EA801473F18B}"/>
                </a:ext>
              </a:extLst>
            </p:cNvPr>
            <p:cNvGrpSpPr/>
            <p:nvPr/>
          </p:nvGrpSpPr>
          <p:grpSpPr>
            <a:xfrm rot="8100000">
              <a:off x="7535697" y="2445422"/>
              <a:ext cx="55380" cy="313458"/>
              <a:chOff x="5767592" y="3420762"/>
              <a:chExt cx="55380" cy="313458"/>
            </a:xfrm>
          </p:grpSpPr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83C310F6-1E62-D2A2-77BA-B16AAB8D9C09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FD8A11FF-C318-F0FB-F2B8-621C4A405279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5D21834C-F8F0-ED82-4811-E815163CC5AB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95173D26-C4B3-862C-8728-79C9E66AD680}"/>
                </a:ext>
              </a:extLst>
            </p:cNvPr>
            <p:cNvSpPr/>
            <p:nvPr/>
          </p:nvSpPr>
          <p:spPr>
            <a:xfrm rot="5400000" flipV="1">
              <a:off x="6000445" y="1177378"/>
              <a:ext cx="189411" cy="18669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26F081E-B74F-A996-57BD-D49EFF322665}"/>
                </a:ext>
              </a:extLst>
            </p:cNvPr>
            <p:cNvSpPr/>
            <p:nvPr/>
          </p:nvSpPr>
          <p:spPr>
            <a:xfrm rot="5400000" flipV="1">
              <a:off x="6000445" y="1424582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1C92E784-7C46-6932-BE0B-8C2972FBE191}"/>
                </a:ext>
              </a:extLst>
            </p:cNvPr>
            <p:cNvSpPr/>
            <p:nvPr/>
          </p:nvSpPr>
          <p:spPr>
            <a:xfrm rot="5400000" flipV="1">
              <a:off x="5996547" y="1671786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D781E78-A06B-B140-3BA5-ED6E356CB9A0}"/>
                </a:ext>
              </a:extLst>
            </p:cNvPr>
            <p:cNvSpPr/>
            <p:nvPr/>
          </p:nvSpPr>
          <p:spPr>
            <a:xfrm rot="5400000" flipV="1">
              <a:off x="5996547" y="1923446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48928296-78AF-1550-1272-D8113B430EF5}"/>
                </a:ext>
              </a:extLst>
            </p:cNvPr>
            <p:cNvSpPr/>
            <p:nvPr/>
          </p:nvSpPr>
          <p:spPr>
            <a:xfrm rot="5400000" flipV="1">
              <a:off x="5996547" y="2170650"/>
              <a:ext cx="189411" cy="18669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BD961FA1-E4F8-B877-CCA5-686BA15C60B7}"/>
                </a:ext>
              </a:extLst>
            </p:cNvPr>
            <p:cNvSpPr/>
            <p:nvPr/>
          </p:nvSpPr>
          <p:spPr>
            <a:xfrm rot="5400000" flipV="1">
              <a:off x="6248757" y="1424582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F2436DC3-0F32-A196-A06B-4495AB07958F}"/>
                </a:ext>
              </a:extLst>
            </p:cNvPr>
            <p:cNvSpPr/>
            <p:nvPr/>
          </p:nvSpPr>
          <p:spPr>
            <a:xfrm rot="5400000" flipV="1">
              <a:off x="6244859" y="1671786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A8C4BCDE-21E7-7979-1DDC-0C0ECC4AD874}"/>
                </a:ext>
              </a:extLst>
            </p:cNvPr>
            <p:cNvSpPr/>
            <p:nvPr/>
          </p:nvSpPr>
          <p:spPr>
            <a:xfrm rot="5400000" flipV="1">
              <a:off x="6244859" y="1923446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953461B8-05AD-5CCD-2F2E-DFEC9D176D0E}"/>
                </a:ext>
              </a:extLst>
            </p:cNvPr>
            <p:cNvSpPr/>
            <p:nvPr/>
          </p:nvSpPr>
          <p:spPr>
            <a:xfrm rot="5400000" flipV="1">
              <a:off x="6244859" y="2170650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95B5C566-4F7D-6531-189F-94DFB0E721F4}"/>
                </a:ext>
              </a:extLst>
            </p:cNvPr>
            <p:cNvSpPr/>
            <p:nvPr/>
          </p:nvSpPr>
          <p:spPr>
            <a:xfrm rot="5400000" flipV="1">
              <a:off x="6519495" y="1670224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BDF3C1E-9732-84D8-2A26-73B3F3CF16B4}"/>
                </a:ext>
              </a:extLst>
            </p:cNvPr>
            <p:cNvSpPr/>
            <p:nvPr/>
          </p:nvSpPr>
          <p:spPr>
            <a:xfrm rot="5400000" flipV="1">
              <a:off x="6519495" y="1921884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7B3FFDCA-59E1-0B00-1047-A59FBDFD32F0}"/>
                </a:ext>
              </a:extLst>
            </p:cNvPr>
            <p:cNvSpPr/>
            <p:nvPr/>
          </p:nvSpPr>
          <p:spPr>
            <a:xfrm rot="5400000" flipV="1">
              <a:off x="6519495" y="2169088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FA0F74C-0155-AC09-FE14-C81BEAB7662A}"/>
                </a:ext>
              </a:extLst>
            </p:cNvPr>
            <p:cNvSpPr/>
            <p:nvPr/>
          </p:nvSpPr>
          <p:spPr>
            <a:xfrm rot="5400000" flipV="1">
              <a:off x="6804612" y="1921884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01AEF33D-5350-E0A0-A52A-37894E395EF7}"/>
                </a:ext>
              </a:extLst>
            </p:cNvPr>
            <p:cNvSpPr/>
            <p:nvPr/>
          </p:nvSpPr>
          <p:spPr>
            <a:xfrm rot="5400000" flipV="1">
              <a:off x="6804612" y="2169088"/>
              <a:ext cx="189411" cy="18669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BED18E8F-B1CB-BCBC-DD41-6F597B303FDA}"/>
                </a:ext>
              </a:extLst>
            </p:cNvPr>
            <p:cNvSpPr/>
            <p:nvPr/>
          </p:nvSpPr>
          <p:spPr>
            <a:xfrm rot="5400000" flipV="1">
              <a:off x="7087460" y="2169088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0EBB6F34-8BDD-12A1-C489-2C937F8648F6}"/>
                </a:ext>
              </a:extLst>
            </p:cNvPr>
            <p:cNvGrpSpPr/>
            <p:nvPr/>
          </p:nvGrpSpPr>
          <p:grpSpPr>
            <a:xfrm>
              <a:off x="6591327" y="2471304"/>
              <a:ext cx="55380" cy="313458"/>
              <a:chOff x="5767592" y="3420762"/>
              <a:chExt cx="55380" cy="313458"/>
            </a:xfrm>
          </p:grpSpPr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B5E22225-FE87-1772-F9D9-BE3D81226C0F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7C08F1DC-99B9-EC11-2A0D-699D098FCFE2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7B5A1C8C-8FC4-C0B3-5799-A75AE70762AD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82E5B15F-FA85-6E05-DAB2-B97865BB897A}"/>
                </a:ext>
              </a:extLst>
            </p:cNvPr>
            <p:cNvSpPr/>
            <p:nvPr/>
          </p:nvSpPr>
          <p:spPr>
            <a:xfrm rot="5400000" flipV="1">
              <a:off x="6002337" y="2861599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DA1232D8-2B49-055B-522C-26A3208BE4CB}"/>
                </a:ext>
              </a:extLst>
            </p:cNvPr>
            <p:cNvSpPr/>
            <p:nvPr/>
          </p:nvSpPr>
          <p:spPr>
            <a:xfrm rot="5400000" flipV="1">
              <a:off x="6250649" y="2861599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B82732A9-040D-C768-AEC8-BECAEDB60D84}"/>
                </a:ext>
              </a:extLst>
            </p:cNvPr>
            <p:cNvSpPr/>
            <p:nvPr/>
          </p:nvSpPr>
          <p:spPr>
            <a:xfrm rot="5400000" flipV="1">
              <a:off x="6525285" y="2860037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C96C5B6D-18B2-13FD-ED7B-38D744722D4F}"/>
                </a:ext>
              </a:extLst>
            </p:cNvPr>
            <p:cNvSpPr/>
            <p:nvPr/>
          </p:nvSpPr>
          <p:spPr>
            <a:xfrm rot="5400000" flipV="1">
              <a:off x="6810402" y="2860037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580954CB-30BC-1CEB-B720-B5329F903A09}"/>
                </a:ext>
              </a:extLst>
            </p:cNvPr>
            <p:cNvSpPr/>
            <p:nvPr/>
          </p:nvSpPr>
          <p:spPr>
            <a:xfrm rot="5400000" flipV="1">
              <a:off x="7093250" y="2860037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E227D3CE-50E6-BEAB-D8CA-69E99C38A7C7}"/>
                </a:ext>
              </a:extLst>
            </p:cNvPr>
            <p:cNvGrpSpPr/>
            <p:nvPr/>
          </p:nvGrpSpPr>
          <p:grpSpPr>
            <a:xfrm rot="5400000">
              <a:off x="7506495" y="2781703"/>
              <a:ext cx="55380" cy="313458"/>
              <a:chOff x="5767592" y="3420762"/>
              <a:chExt cx="55380" cy="313458"/>
            </a:xfrm>
          </p:grpSpPr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D5EE1B93-FBDC-EEDC-0FB4-D6C4AA448207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1B2F00FD-6518-F654-F619-037F11FE3266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74170D8C-B1A1-CD41-B071-8E32843D93F1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E0C4883-0CA6-4FB3-ABDF-AB0470D2F729}"/>
              </a:ext>
            </a:extLst>
          </p:cNvPr>
          <p:cNvGrpSpPr/>
          <p:nvPr/>
        </p:nvGrpSpPr>
        <p:grpSpPr>
          <a:xfrm>
            <a:off x="10608191" y="4997572"/>
            <a:ext cx="713859" cy="790019"/>
            <a:chOff x="5997905" y="1176020"/>
            <a:chExt cx="1693009" cy="1873632"/>
          </a:xfrm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457A7EE0-4D01-B3FE-2A8E-DF6BC59983BC}"/>
                </a:ext>
              </a:extLst>
            </p:cNvPr>
            <p:cNvGrpSpPr/>
            <p:nvPr/>
          </p:nvGrpSpPr>
          <p:grpSpPr>
            <a:xfrm rot="8100000">
              <a:off x="7535697" y="2445422"/>
              <a:ext cx="55380" cy="313458"/>
              <a:chOff x="5767592" y="3420762"/>
              <a:chExt cx="55380" cy="313458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6379085F-EA17-8311-261B-23BFD3142EAC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823C58DB-4E6D-9527-7CAA-0AF161137504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6D574AA1-F237-13AF-FFEB-F6E65AD1EF9E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0733AA0-94E7-B5F1-80C6-C02AE02C2146}"/>
                </a:ext>
              </a:extLst>
            </p:cNvPr>
            <p:cNvSpPr/>
            <p:nvPr/>
          </p:nvSpPr>
          <p:spPr>
            <a:xfrm rot="5400000" flipV="1">
              <a:off x="6000445" y="1177378"/>
              <a:ext cx="189411" cy="18669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7C2B6EAD-F4F0-B499-33EA-998B373C24B5}"/>
                </a:ext>
              </a:extLst>
            </p:cNvPr>
            <p:cNvSpPr/>
            <p:nvPr/>
          </p:nvSpPr>
          <p:spPr>
            <a:xfrm rot="5400000" flipV="1">
              <a:off x="6000445" y="1424582"/>
              <a:ext cx="189411" cy="18669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9A620374-302D-9ED1-F259-2AD9A0F28643}"/>
                </a:ext>
              </a:extLst>
            </p:cNvPr>
            <p:cNvSpPr/>
            <p:nvPr/>
          </p:nvSpPr>
          <p:spPr>
            <a:xfrm rot="5400000" flipV="1">
              <a:off x="5996547" y="1671786"/>
              <a:ext cx="189411" cy="18669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8566FF09-8E89-E2CA-5E47-7E90F5512BC1}"/>
                </a:ext>
              </a:extLst>
            </p:cNvPr>
            <p:cNvSpPr/>
            <p:nvPr/>
          </p:nvSpPr>
          <p:spPr>
            <a:xfrm rot="5400000" flipV="1">
              <a:off x="5996547" y="1923446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87383095-E4D1-FF86-DDCE-A72CDC0C40F7}"/>
                </a:ext>
              </a:extLst>
            </p:cNvPr>
            <p:cNvSpPr/>
            <p:nvPr/>
          </p:nvSpPr>
          <p:spPr>
            <a:xfrm rot="5400000" flipV="1">
              <a:off x="5996547" y="2170650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E9225F41-CA51-4294-896F-9FAC49FE12E1}"/>
                </a:ext>
              </a:extLst>
            </p:cNvPr>
            <p:cNvSpPr/>
            <p:nvPr/>
          </p:nvSpPr>
          <p:spPr>
            <a:xfrm rot="5400000" flipV="1">
              <a:off x="6248757" y="1424582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7FB602A0-3EA4-2BB3-C149-8D963B0F2740}"/>
                </a:ext>
              </a:extLst>
            </p:cNvPr>
            <p:cNvSpPr/>
            <p:nvPr/>
          </p:nvSpPr>
          <p:spPr>
            <a:xfrm rot="5400000" flipV="1">
              <a:off x="6244859" y="1671786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C9F830EF-D319-1526-9FF3-355F7AC318EA}"/>
                </a:ext>
              </a:extLst>
            </p:cNvPr>
            <p:cNvSpPr/>
            <p:nvPr/>
          </p:nvSpPr>
          <p:spPr>
            <a:xfrm rot="5400000" flipV="1">
              <a:off x="6244859" y="1923446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ABDD0349-9400-CD74-3ED4-628DAD708092}"/>
                </a:ext>
              </a:extLst>
            </p:cNvPr>
            <p:cNvSpPr/>
            <p:nvPr/>
          </p:nvSpPr>
          <p:spPr>
            <a:xfrm rot="5400000" flipV="1">
              <a:off x="6244859" y="2170650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BCB8AA94-F007-95E0-7440-98B51C447DB2}"/>
                </a:ext>
              </a:extLst>
            </p:cNvPr>
            <p:cNvSpPr/>
            <p:nvPr/>
          </p:nvSpPr>
          <p:spPr>
            <a:xfrm rot="5400000" flipV="1">
              <a:off x="6519495" y="1670224"/>
              <a:ext cx="189411" cy="1866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77607EE6-7665-78B7-4999-D08FCC519485}"/>
                </a:ext>
              </a:extLst>
            </p:cNvPr>
            <p:cNvSpPr/>
            <p:nvPr/>
          </p:nvSpPr>
          <p:spPr>
            <a:xfrm rot="5400000" flipV="1">
              <a:off x="6519495" y="1921884"/>
              <a:ext cx="189411" cy="18669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2297148F-2943-0198-01C1-42B3386812DD}"/>
                </a:ext>
              </a:extLst>
            </p:cNvPr>
            <p:cNvSpPr/>
            <p:nvPr/>
          </p:nvSpPr>
          <p:spPr>
            <a:xfrm rot="5400000" flipV="1">
              <a:off x="6519495" y="2169088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EF218CD3-2C20-B25F-DD81-53AC9932920A}"/>
                </a:ext>
              </a:extLst>
            </p:cNvPr>
            <p:cNvSpPr/>
            <p:nvPr/>
          </p:nvSpPr>
          <p:spPr>
            <a:xfrm rot="5400000" flipV="1">
              <a:off x="6804612" y="1921884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494C56EE-D0BA-30E2-25F5-DE184E596D93}"/>
                </a:ext>
              </a:extLst>
            </p:cNvPr>
            <p:cNvSpPr/>
            <p:nvPr/>
          </p:nvSpPr>
          <p:spPr>
            <a:xfrm rot="5400000" flipV="1">
              <a:off x="6804612" y="2169088"/>
              <a:ext cx="189411" cy="18669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A8302F76-F253-DE8D-C924-8AA1E62B3590}"/>
                </a:ext>
              </a:extLst>
            </p:cNvPr>
            <p:cNvSpPr/>
            <p:nvPr/>
          </p:nvSpPr>
          <p:spPr>
            <a:xfrm rot="5400000" flipV="1">
              <a:off x="7087460" y="2169088"/>
              <a:ext cx="189411" cy="18669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FE27505-7108-0AC1-9C83-C0EBC3CD8E48}"/>
                </a:ext>
              </a:extLst>
            </p:cNvPr>
            <p:cNvGrpSpPr/>
            <p:nvPr/>
          </p:nvGrpSpPr>
          <p:grpSpPr>
            <a:xfrm>
              <a:off x="6591327" y="2471304"/>
              <a:ext cx="55380" cy="313458"/>
              <a:chOff x="5767592" y="3420762"/>
              <a:chExt cx="55380" cy="313458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128B7751-35EA-0527-1C68-5A1C62EABB40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185C34C8-6684-17FB-EACE-276073B1D4C9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2C9A5790-E94E-FDD8-8237-D8CD2FEFF4BC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9BE2341F-A495-FC3F-1C91-DEB23DD344B6}"/>
                </a:ext>
              </a:extLst>
            </p:cNvPr>
            <p:cNvSpPr/>
            <p:nvPr/>
          </p:nvSpPr>
          <p:spPr>
            <a:xfrm rot="5400000" flipV="1">
              <a:off x="6002337" y="2861599"/>
              <a:ext cx="189411" cy="1866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BD32C12-D989-AEFA-C2A5-78E1CF9F1F0D}"/>
                </a:ext>
              </a:extLst>
            </p:cNvPr>
            <p:cNvSpPr/>
            <p:nvPr/>
          </p:nvSpPr>
          <p:spPr>
            <a:xfrm rot="5400000" flipV="1">
              <a:off x="6250649" y="2861599"/>
              <a:ext cx="189411" cy="18669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DC8F882B-B3B0-237D-060E-29FAB6AF3280}"/>
                </a:ext>
              </a:extLst>
            </p:cNvPr>
            <p:cNvSpPr/>
            <p:nvPr/>
          </p:nvSpPr>
          <p:spPr>
            <a:xfrm rot="5400000" flipV="1">
              <a:off x="6525285" y="2860037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52B21460-2D8C-19A5-68DF-C5881007DF77}"/>
                </a:ext>
              </a:extLst>
            </p:cNvPr>
            <p:cNvSpPr/>
            <p:nvPr/>
          </p:nvSpPr>
          <p:spPr>
            <a:xfrm rot="5400000" flipV="1">
              <a:off x="6810402" y="2860037"/>
              <a:ext cx="189411" cy="1866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6736EA83-231F-EC61-52B1-D7BFBACC46A7}"/>
                </a:ext>
              </a:extLst>
            </p:cNvPr>
            <p:cNvSpPr/>
            <p:nvPr/>
          </p:nvSpPr>
          <p:spPr>
            <a:xfrm rot="5400000" flipV="1">
              <a:off x="7093250" y="2860037"/>
              <a:ext cx="189411" cy="18669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D2EBE524-5527-12A7-9718-CCE83DF4F1BB}"/>
                </a:ext>
              </a:extLst>
            </p:cNvPr>
            <p:cNvGrpSpPr/>
            <p:nvPr/>
          </p:nvGrpSpPr>
          <p:grpSpPr>
            <a:xfrm rot="5400000">
              <a:off x="7506495" y="2781703"/>
              <a:ext cx="55380" cy="313458"/>
              <a:chOff x="5767592" y="3420762"/>
              <a:chExt cx="55380" cy="313458"/>
            </a:xfrm>
          </p:grpSpPr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CB9A8B15-66FB-274D-01B6-E91A593C0E0F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55D982F4-4446-4722-ABCB-360B730B68B0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A57AED64-9493-E487-8177-A1612F979C09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D71BC768-C910-F98F-78D5-30D313AD800A}"/>
              </a:ext>
            </a:extLst>
          </p:cNvPr>
          <p:cNvSpPr txBox="1"/>
          <p:nvPr/>
        </p:nvSpPr>
        <p:spPr>
          <a:xfrm>
            <a:off x="10109271" y="5193288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</a:p>
        </p:txBody>
      </p:sp>
      <p:sp>
        <p:nvSpPr>
          <p:cNvPr id="166" name="Right Arrow 165">
            <a:extLst>
              <a:ext uri="{FF2B5EF4-FFF2-40B4-BE49-F238E27FC236}">
                <a16:creationId xmlns:a16="http://schemas.microsoft.com/office/drawing/2014/main" id="{59489910-00BA-D2DB-63F7-3890C9F6E10E}"/>
              </a:ext>
            </a:extLst>
          </p:cNvPr>
          <p:cNvSpPr/>
          <p:nvPr/>
        </p:nvSpPr>
        <p:spPr>
          <a:xfrm>
            <a:off x="8314199" y="4793857"/>
            <a:ext cx="294326" cy="25247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Left Brace 166">
            <a:extLst>
              <a:ext uri="{FF2B5EF4-FFF2-40B4-BE49-F238E27FC236}">
                <a16:creationId xmlns:a16="http://schemas.microsoft.com/office/drawing/2014/main" id="{FF4162F5-C45B-9DF6-6740-960D4C0B496F}"/>
              </a:ext>
            </a:extLst>
          </p:cNvPr>
          <p:cNvSpPr/>
          <p:nvPr/>
        </p:nvSpPr>
        <p:spPr>
          <a:xfrm>
            <a:off x="1231401" y="4033599"/>
            <a:ext cx="198897" cy="2181516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A8BEB7AA-F075-7472-F972-A6234DAF0632}"/>
              </a:ext>
            </a:extLst>
          </p:cNvPr>
          <p:cNvSpPr txBox="1"/>
          <p:nvPr/>
        </p:nvSpPr>
        <p:spPr>
          <a:xfrm>
            <a:off x="9075510" y="5875504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Neural RSM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7D8D1B74-83E5-1E05-D87E-753A14D5A69F}"/>
              </a:ext>
            </a:extLst>
          </p:cNvPr>
          <p:cNvSpPr txBox="1"/>
          <p:nvPr/>
        </p:nvSpPr>
        <p:spPr>
          <a:xfrm>
            <a:off x="10428589" y="5875504"/>
            <a:ext cx="1120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Model RSM</a:t>
            </a:r>
          </a:p>
        </p:txBody>
      </p:sp>
    </p:spTree>
    <p:extLst>
      <p:ext uri="{BB962C8B-B14F-4D97-AF65-F5344CB8AC3E}">
        <p14:creationId xmlns:p14="http://schemas.microsoft.com/office/powerpoint/2010/main" val="211781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9" grpId="0"/>
      <p:bldP spid="44" grpId="0"/>
      <p:bldP spid="45" grpId="0"/>
      <p:bldP spid="46" grpId="0"/>
      <p:bldP spid="47" grpId="0"/>
      <p:bldP spid="58" grpId="0"/>
      <p:bldP spid="88" grpId="0"/>
      <p:bldP spid="8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C3562336-044C-8DDC-A3FC-F8C13444240C}"/>
              </a:ext>
            </a:extLst>
          </p:cNvPr>
          <p:cNvSpPr/>
          <p:nvPr/>
        </p:nvSpPr>
        <p:spPr>
          <a:xfrm>
            <a:off x="10538460" y="4936640"/>
            <a:ext cx="1571095" cy="598875"/>
          </a:xfrm>
          <a:prstGeom prst="rect">
            <a:avLst/>
          </a:prstGeom>
          <a:solidFill>
            <a:srgbClr val="E9E9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49F8BEAF-FDCF-E6B8-A86B-53E9E305A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544"/>
            <a:ext cx="10515600" cy="937122"/>
          </a:xfrm>
        </p:spPr>
        <p:txBody>
          <a:bodyPr/>
          <a:lstStyle/>
          <a:p>
            <a:r>
              <a:rPr lang="en-US" dirty="0"/>
              <a:t>Measuring single-trial connectivity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64F7AC31-0DD9-804B-FBC4-EFFFC362F4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1763" y="1481135"/>
                <a:ext cx="11179936" cy="1899274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Perform the below procedures </a:t>
                </a:r>
                <a:r>
                  <a:rPr lang="en-US" i="1" dirty="0"/>
                  <a:t>independently </a:t>
                </a:r>
                <a:r>
                  <a:rPr lang="en-US" dirty="0"/>
                  <a:t>for </a:t>
                </a:r>
                <a:r>
                  <a:rPr lang="en-US" i="1" dirty="0"/>
                  <a:t>each </a:t>
                </a:r>
                <a:r>
                  <a:rPr lang="en-US" dirty="0"/>
                  <a:t>trial</a:t>
                </a:r>
              </a:p>
              <a:p>
                <a:r>
                  <a:rPr lang="en-US" dirty="0"/>
                  <a:t>The resulting vector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represents the connectivity between every pair of ROIs for trial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lvl="1"/>
                <a:r>
                  <a:rPr lang="en-US" dirty="0"/>
                  <a:t>Because this is done for each trial, you will have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vectors</a:t>
                </a:r>
              </a:p>
              <a:p>
                <a:r>
                  <a:rPr lang="en-US" dirty="0"/>
                  <a:t>The connectivity vectors can be used for RSA by correlating</a:t>
                </a:r>
                <a:r>
                  <a:rPr lang="en-US" sz="2800" b="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between trials </a:t>
                </a:r>
              </a:p>
            </p:txBody>
          </p:sp>
        </mc:Choice>
        <mc:Fallback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64F7AC31-0DD9-804B-FBC4-EFFFC362F4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1763" y="1481135"/>
                <a:ext cx="11179936" cy="1899274"/>
              </a:xfrm>
              <a:blipFill>
                <a:blip r:embed="rId3"/>
                <a:stretch>
                  <a:fillRect l="-763" t="-6090" b="-3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DD0608A-1E70-D936-2A4D-DF4B8B2A8F2A}"/>
              </a:ext>
            </a:extLst>
          </p:cNvPr>
          <p:cNvSpPr/>
          <p:nvPr/>
        </p:nvSpPr>
        <p:spPr>
          <a:xfrm rot="5400000" flipV="1">
            <a:off x="2049494" y="4601237"/>
            <a:ext cx="158586" cy="15631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ACF666-22DD-6DEC-EAE7-034207CD64ED}"/>
              </a:ext>
            </a:extLst>
          </p:cNvPr>
          <p:cNvSpPr/>
          <p:nvPr/>
        </p:nvSpPr>
        <p:spPr>
          <a:xfrm rot="5400000" flipV="1">
            <a:off x="2219222" y="4601237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B13739-94B7-5F15-CD1A-F71A0E533694}"/>
              </a:ext>
            </a:extLst>
          </p:cNvPr>
          <p:cNvSpPr/>
          <p:nvPr/>
        </p:nvSpPr>
        <p:spPr>
          <a:xfrm rot="5400000" flipV="1">
            <a:off x="2388949" y="4601237"/>
            <a:ext cx="158586" cy="156312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1CD19B-CD4B-D177-B748-CEFE9B73571C}"/>
              </a:ext>
            </a:extLst>
          </p:cNvPr>
          <p:cNvSpPr/>
          <p:nvPr/>
        </p:nvSpPr>
        <p:spPr>
          <a:xfrm rot="5400000" flipV="1">
            <a:off x="2558676" y="4601237"/>
            <a:ext cx="158586" cy="156312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4A2BBD-C2E6-D693-624E-11F09AA77FAB}"/>
              </a:ext>
            </a:extLst>
          </p:cNvPr>
          <p:cNvSpPr/>
          <p:nvPr/>
        </p:nvSpPr>
        <p:spPr>
          <a:xfrm rot="5400000" flipV="1">
            <a:off x="2728404" y="4601237"/>
            <a:ext cx="158586" cy="15631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56A303-6F54-EF99-201E-E78EC5876ECA}"/>
              </a:ext>
            </a:extLst>
          </p:cNvPr>
          <p:cNvSpPr/>
          <p:nvPr/>
        </p:nvSpPr>
        <p:spPr>
          <a:xfrm rot="5400000" flipV="1">
            <a:off x="2898131" y="4601237"/>
            <a:ext cx="158586" cy="156312"/>
          </a:xfrm>
          <a:prstGeom prst="rect">
            <a:avLst/>
          </a:prstGeom>
          <a:solidFill>
            <a:srgbClr val="98B3F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CABF17-A96C-0E80-C6CE-558D246972AB}"/>
              </a:ext>
            </a:extLst>
          </p:cNvPr>
          <p:cNvSpPr txBox="1"/>
          <p:nvPr/>
        </p:nvSpPr>
        <p:spPr>
          <a:xfrm>
            <a:off x="1124019" y="4548925"/>
            <a:ext cx="504640" cy="2319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 1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D96A4A05-02D8-5C06-D876-501EE1FB8881}"/>
              </a:ext>
            </a:extLst>
          </p:cNvPr>
          <p:cNvSpPr/>
          <p:nvPr/>
        </p:nvSpPr>
        <p:spPr>
          <a:xfrm>
            <a:off x="873790" y="4548925"/>
            <a:ext cx="166528" cy="1826492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BA390D8-F088-D8D0-C959-14BC90D174A1}"/>
                  </a:ext>
                </a:extLst>
              </p:cNvPr>
              <p:cNvSpPr txBox="1"/>
              <p:nvPr/>
            </p:nvSpPr>
            <p:spPr>
              <a:xfrm>
                <a:off x="63758" y="5317831"/>
                <a:ext cx="596979" cy="2576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Trial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BA390D8-F088-D8D0-C959-14BC90D17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8" y="5317831"/>
                <a:ext cx="596979" cy="257689"/>
              </a:xfrm>
              <a:prstGeom prst="rect">
                <a:avLst/>
              </a:prstGeom>
              <a:blipFill>
                <a:blip r:embed="rId4"/>
                <a:stretch>
                  <a:fillRect l="-25510" t="-27907" r="-28571" b="-79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B878A35-420C-E23F-3EE4-BC748668CB79}"/>
                  </a:ext>
                </a:extLst>
              </p:cNvPr>
              <p:cNvSpPr txBox="1"/>
              <p:nvPr/>
            </p:nvSpPr>
            <p:spPr>
              <a:xfrm>
                <a:off x="1129415" y="6111710"/>
                <a:ext cx="82701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ROI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</m:oMath>
                </a14:m>
                <a:endParaRPr lang="en-US" sz="20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B878A35-420C-E23F-3EE4-BC748668C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415" y="6111710"/>
                <a:ext cx="827010" cy="307777"/>
              </a:xfrm>
              <a:prstGeom prst="rect">
                <a:avLst/>
              </a:prstGeom>
              <a:blipFill>
                <a:blip r:embed="rId5"/>
                <a:stretch>
                  <a:fillRect l="-16912" t="-16000" b="-4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7198778E-ADCC-69A3-9344-102761CD440C}"/>
              </a:ext>
            </a:extLst>
          </p:cNvPr>
          <p:cNvSpPr txBox="1"/>
          <p:nvPr/>
        </p:nvSpPr>
        <p:spPr>
          <a:xfrm>
            <a:off x="3732378" y="3779621"/>
            <a:ext cx="139781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across voxels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4E789AE-4838-A51F-4809-6C8F795DA403}"/>
              </a:ext>
            </a:extLst>
          </p:cNvPr>
          <p:cNvGrpSpPr/>
          <p:nvPr/>
        </p:nvGrpSpPr>
        <p:grpSpPr>
          <a:xfrm rot="8100000">
            <a:off x="6788822" y="5821676"/>
            <a:ext cx="46367" cy="262445"/>
            <a:chOff x="5767592" y="3420762"/>
            <a:chExt cx="55380" cy="31345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CEB6B05-C242-8A31-658C-818B35817C74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239BCD2B-E37C-4E03-0EC6-29DCAB3828FB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6223F52D-6CA3-7D5A-8725-C5672F9E38A8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6B3DEDF2-DB88-77C0-3F18-831668410244}"/>
              </a:ext>
            </a:extLst>
          </p:cNvPr>
          <p:cNvSpPr txBox="1"/>
          <p:nvPr/>
        </p:nvSpPr>
        <p:spPr>
          <a:xfrm>
            <a:off x="5543773" y="3756761"/>
            <a:ext cx="2039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ROI-ROI coherence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216EF9B-B591-F9A5-94DB-2561DF3CBCAC}"/>
              </a:ext>
            </a:extLst>
          </p:cNvPr>
          <p:cNvSpPr/>
          <p:nvPr/>
        </p:nvSpPr>
        <p:spPr>
          <a:xfrm rot="5400000" flipV="1">
            <a:off x="2049494" y="4811942"/>
            <a:ext cx="158586" cy="156312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F03565E-C624-679C-68FC-4C0EDF1DC4EC}"/>
              </a:ext>
            </a:extLst>
          </p:cNvPr>
          <p:cNvSpPr/>
          <p:nvPr/>
        </p:nvSpPr>
        <p:spPr>
          <a:xfrm rot="5400000" flipV="1">
            <a:off x="2219222" y="4811942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B95E2F6-D183-7610-78EA-EE4782702468}"/>
              </a:ext>
            </a:extLst>
          </p:cNvPr>
          <p:cNvSpPr/>
          <p:nvPr/>
        </p:nvSpPr>
        <p:spPr>
          <a:xfrm rot="5400000" flipV="1">
            <a:off x="2388949" y="4811942"/>
            <a:ext cx="158586" cy="156312"/>
          </a:xfrm>
          <a:prstGeom prst="rect">
            <a:avLst/>
          </a:prstGeom>
          <a:solidFill>
            <a:srgbClr val="98B3F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E84C471-7DB2-6BBC-8BA4-9D3437C5951B}"/>
              </a:ext>
            </a:extLst>
          </p:cNvPr>
          <p:cNvSpPr/>
          <p:nvPr/>
        </p:nvSpPr>
        <p:spPr>
          <a:xfrm rot="5400000" flipV="1">
            <a:off x="2558676" y="4811942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749EFAF-09FB-FA3E-F515-5248F746A625}"/>
              </a:ext>
            </a:extLst>
          </p:cNvPr>
          <p:cNvSpPr/>
          <p:nvPr/>
        </p:nvSpPr>
        <p:spPr>
          <a:xfrm rot="5400000" flipV="1">
            <a:off x="2728404" y="4811942"/>
            <a:ext cx="158586" cy="156312"/>
          </a:xfrm>
          <a:prstGeom prst="rect">
            <a:avLst/>
          </a:prstGeom>
          <a:solidFill>
            <a:srgbClr val="8B5E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E46509-B532-DCEF-98D1-076DDD509F69}"/>
              </a:ext>
            </a:extLst>
          </p:cNvPr>
          <p:cNvSpPr/>
          <p:nvPr/>
        </p:nvSpPr>
        <p:spPr>
          <a:xfrm rot="5400000" flipV="1">
            <a:off x="2049494" y="5018915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259C8-82FA-BD7E-E436-55D76C0D5E7B}"/>
              </a:ext>
            </a:extLst>
          </p:cNvPr>
          <p:cNvSpPr/>
          <p:nvPr/>
        </p:nvSpPr>
        <p:spPr>
          <a:xfrm rot="5400000" flipV="1">
            <a:off x="2219222" y="5018915"/>
            <a:ext cx="158586" cy="15631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E3815A-E793-53F3-8268-971C529EE5DD}"/>
              </a:ext>
            </a:extLst>
          </p:cNvPr>
          <p:cNvSpPr/>
          <p:nvPr/>
        </p:nvSpPr>
        <p:spPr>
          <a:xfrm rot="5400000" flipV="1">
            <a:off x="2388949" y="5018915"/>
            <a:ext cx="158586" cy="156312"/>
          </a:xfrm>
          <a:prstGeom prst="rect">
            <a:avLst/>
          </a:prstGeom>
          <a:solidFill>
            <a:srgbClr val="F9E7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03FFD1-3550-DCD9-8C60-8201B5A73105}"/>
              </a:ext>
            </a:extLst>
          </p:cNvPr>
          <p:cNvSpPr/>
          <p:nvPr/>
        </p:nvSpPr>
        <p:spPr>
          <a:xfrm rot="5400000" flipV="1">
            <a:off x="2046231" y="5225889"/>
            <a:ext cx="158586" cy="156312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45C6BF-DD3D-B90E-603E-9E393C03225E}"/>
              </a:ext>
            </a:extLst>
          </p:cNvPr>
          <p:cNvSpPr/>
          <p:nvPr/>
        </p:nvSpPr>
        <p:spPr>
          <a:xfrm rot="5400000" flipV="1">
            <a:off x="2215958" y="5225889"/>
            <a:ext cx="158586" cy="156312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BB2DD34-E34F-9E62-4802-6754185E339F}"/>
              </a:ext>
            </a:extLst>
          </p:cNvPr>
          <p:cNvSpPr/>
          <p:nvPr/>
        </p:nvSpPr>
        <p:spPr>
          <a:xfrm rot="5400000" flipV="1">
            <a:off x="2385685" y="5225889"/>
            <a:ext cx="158586" cy="156312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BE2D27-401F-7C97-6039-584EC5C71CEB}"/>
              </a:ext>
            </a:extLst>
          </p:cNvPr>
          <p:cNvSpPr/>
          <p:nvPr/>
        </p:nvSpPr>
        <p:spPr>
          <a:xfrm rot="5400000" flipV="1">
            <a:off x="2555413" y="5225889"/>
            <a:ext cx="158586" cy="156312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7C2A42-3233-205E-6C34-AF85B07D39B3}"/>
              </a:ext>
            </a:extLst>
          </p:cNvPr>
          <p:cNvSpPr/>
          <p:nvPr/>
        </p:nvSpPr>
        <p:spPr>
          <a:xfrm rot="5400000" flipV="1">
            <a:off x="2725140" y="5225889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D2074D-3470-FA9C-80C5-020B402A7AA4}"/>
              </a:ext>
            </a:extLst>
          </p:cNvPr>
          <p:cNvSpPr/>
          <p:nvPr/>
        </p:nvSpPr>
        <p:spPr>
          <a:xfrm rot="5400000" flipV="1">
            <a:off x="2894867" y="5225889"/>
            <a:ext cx="158586" cy="156312"/>
          </a:xfrm>
          <a:prstGeom prst="rect">
            <a:avLst/>
          </a:prstGeom>
          <a:solidFill>
            <a:srgbClr val="8B5E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818AE0-50F5-6959-F12F-020E6975FC5D}"/>
              </a:ext>
            </a:extLst>
          </p:cNvPr>
          <p:cNvSpPr/>
          <p:nvPr/>
        </p:nvSpPr>
        <p:spPr>
          <a:xfrm rot="5400000" flipV="1">
            <a:off x="2046231" y="5436593"/>
            <a:ext cx="158586" cy="156312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CBD5AB2-A2F7-9C66-09DF-43AD7B3288F9}"/>
              </a:ext>
            </a:extLst>
          </p:cNvPr>
          <p:cNvSpPr/>
          <p:nvPr/>
        </p:nvSpPr>
        <p:spPr>
          <a:xfrm rot="5400000" flipV="1">
            <a:off x="2215958" y="5436593"/>
            <a:ext cx="158586" cy="156312"/>
          </a:xfrm>
          <a:prstGeom prst="rect">
            <a:avLst/>
          </a:prstGeom>
          <a:solidFill>
            <a:srgbClr val="F9E7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6CE2EE6-196B-8EB1-735E-8455B0976B6B}"/>
              </a:ext>
            </a:extLst>
          </p:cNvPr>
          <p:cNvSpPr/>
          <p:nvPr/>
        </p:nvSpPr>
        <p:spPr>
          <a:xfrm rot="5400000" flipV="1">
            <a:off x="2385685" y="5436593"/>
            <a:ext cx="158586" cy="156312"/>
          </a:xfrm>
          <a:prstGeom prst="rect">
            <a:avLst/>
          </a:prstGeom>
          <a:solidFill>
            <a:srgbClr val="FA41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5CD897A-08DF-BA62-C090-DECCE60346CA}"/>
              </a:ext>
            </a:extLst>
          </p:cNvPr>
          <p:cNvSpPr/>
          <p:nvPr/>
        </p:nvSpPr>
        <p:spPr>
          <a:xfrm rot="5400000" flipV="1">
            <a:off x="2555413" y="5436593"/>
            <a:ext cx="158586" cy="156312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6FC59D0-C5AD-B839-6A8D-E8121F7E8D7D}"/>
              </a:ext>
            </a:extLst>
          </p:cNvPr>
          <p:cNvSpPr/>
          <p:nvPr/>
        </p:nvSpPr>
        <p:spPr>
          <a:xfrm rot="5400000" flipV="1">
            <a:off x="2046231" y="5643567"/>
            <a:ext cx="158586" cy="15631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A65C9BD-A6DB-BF44-E6DA-7A860CC5D347}"/>
              </a:ext>
            </a:extLst>
          </p:cNvPr>
          <p:cNvSpPr/>
          <p:nvPr/>
        </p:nvSpPr>
        <p:spPr>
          <a:xfrm rot="5400000" flipV="1">
            <a:off x="2215958" y="5643567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2620070-8B5D-8B02-B524-44C1B381D30C}"/>
              </a:ext>
            </a:extLst>
          </p:cNvPr>
          <p:cNvSpPr/>
          <p:nvPr/>
        </p:nvSpPr>
        <p:spPr>
          <a:xfrm rot="5400000" flipV="1">
            <a:off x="2385685" y="5643567"/>
            <a:ext cx="158586" cy="15631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E770602-D4F6-4B84-9593-212D5BB1C81E}"/>
              </a:ext>
            </a:extLst>
          </p:cNvPr>
          <p:cNvSpPr/>
          <p:nvPr/>
        </p:nvSpPr>
        <p:spPr>
          <a:xfrm rot="5400000" flipV="1">
            <a:off x="2555413" y="5643567"/>
            <a:ext cx="158586" cy="156312"/>
          </a:xfrm>
          <a:prstGeom prst="rect">
            <a:avLst/>
          </a:prstGeom>
          <a:solidFill>
            <a:srgbClr val="F9E7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4ABA275-F1B6-401F-4796-E5F579E25A1E}"/>
              </a:ext>
            </a:extLst>
          </p:cNvPr>
          <p:cNvSpPr/>
          <p:nvPr/>
        </p:nvSpPr>
        <p:spPr>
          <a:xfrm rot="5400000" flipV="1">
            <a:off x="2725140" y="5643567"/>
            <a:ext cx="158586" cy="15631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1F1691-9042-7389-4B01-D45986169C9D}"/>
              </a:ext>
            </a:extLst>
          </p:cNvPr>
          <p:cNvSpPr txBox="1"/>
          <p:nvPr/>
        </p:nvSpPr>
        <p:spPr>
          <a:xfrm>
            <a:off x="1130726" y="4760313"/>
            <a:ext cx="504640" cy="2319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 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37531DC-4BFE-EE3A-C338-42AC9A42D380}"/>
              </a:ext>
            </a:extLst>
          </p:cNvPr>
          <p:cNvSpPr txBox="1"/>
          <p:nvPr/>
        </p:nvSpPr>
        <p:spPr>
          <a:xfrm>
            <a:off x="1124712" y="4971701"/>
            <a:ext cx="504640" cy="2319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 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7314336-11F6-D74A-1C32-EBD2BC7782CE}"/>
              </a:ext>
            </a:extLst>
          </p:cNvPr>
          <p:cNvSpPr txBox="1"/>
          <p:nvPr/>
        </p:nvSpPr>
        <p:spPr>
          <a:xfrm>
            <a:off x="1118301" y="5183090"/>
            <a:ext cx="504640" cy="2319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 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9E8833F-608E-A495-5A57-3E0C39B0608C}"/>
              </a:ext>
            </a:extLst>
          </p:cNvPr>
          <p:cNvSpPr txBox="1"/>
          <p:nvPr/>
        </p:nvSpPr>
        <p:spPr>
          <a:xfrm>
            <a:off x="1113310" y="5394478"/>
            <a:ext cx="504640" cy="2319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 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12068AC-BB0B-2109-A208-1B7B7E0D3292}"/>
              </a:ext>
            </a:extLst>
          </p:cNvPr>
          <p:cNvSpPr txBox="1"/>
          <p:nvPr/>
        </p:nvSpPr>
        <p:spPr>
          <a:xfrm>
            <a:off x="1120363" y="5605868"/>
            <a:ext cx="504640" cy="2319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 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52E02EA-A854-0538-F714-CCDFEBE3943B}"/>
              </a:ext>
            </a:extLst>
          </p:cNvPr>
          <p:cNvSpPr txBox="1"/>
          <p:nvPr/>
        </p:nvSpPr>
        <p:spPr>
          <a:xfrm>
            <a:off x="2094722" y="3779621"/>
            <a:ext cx="119269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Voxel betas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B901B73-CF98-8646-83E5-FF5091AB873C}"/>
              </a:ext>
            </a:extLst>
          </p:cNvPr>
          <p:cNvSpPr/>
          <p:nvPr/>
        </p:nvSpPr>
        <p:spPr>
          <a:xfrm rot="5400000" flipV="1">
            <a:off x="4179958" y="4599098"/>
            <a:ext cx="158586" cy="156312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A5AF73A-01CB-E3E4-44D0-F06E341EDAC3}"/>
              </a:ext>
            </a:extLst>
          </p:cNvPr>
          <p:cNvSpPr/>
          <p:nvPr/>
        </p:nvSpPr>
        <p:spPr>
          <a:xfrm rot="5400000" flipV="1">
            <a:off x="4179958" y="4809802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15CC82D-C483-3601-A390-16E578EAC476}"/>
              </a:ext>
            </a:extLst>
          </p:cNvPr>
          <p:cNvSpPr/>
          <p:nvPr/>
        </p:nvSpPr>
        <p:spPr>
          <a:xfrm rot="5400000" flipV="1">
            <a:off x="4179958" y="5016776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56D7EE6-2FE9-50AE-21A4-3AE4EA19A1F6}"/>
              </a:ext>
            </a:extLst>
          </p:cNvPr>
          <p:cNvSpPr/>
          <p:nvPr/>
        </p:nvSpPr>
        <p:spPr>
          <a:xfrm rot="5400000" flipV="1">
            <a:off x="4176694" y="5223750"/>
            <a:ext cx="158586" cy="156312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049CD66-448D-1185-DAA1-3CB9C409B388}"/>
              </a:ext>
            </a:extLst>
          </p:cNvPr>
          <p:cNvSpPr/>
          <p:nvPr/>
        </p:nvSpPr>
        <p:spPr>
          <a:xfrm rot="5400000" flipV="1">
            <a:off x="4176694" y="5434454"/>
            <a:ext cx="158586" cy="156312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223B8AF-345C-3E8F-FB87-AAB4FB62A2D1}"/>
              </a:ext>
            </a:extLst>
          </p:cNvPr>
          <p:cNvSpPr/>
          <p:nvPr/>
        </p:nvSpPr>
        <p:spPr>
          <a:xfrm rot="5400000" flipV="1">
            <a:off x="4176694" y="5641428"/>
            <a:ext cx="158586" cy="156312"/>
          </a:xfrm>
          <a:prstGeom prst="rect">
            <a:avLst/>
          </a:prstGeom>
          <a:solidFill>
            <a:srgbClr val="FA41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781CF11-33E1-68D3-DCE3-DD78545230BC}"/>
              </a:ext>
            </a:extLst>
          </p:cNvPr>
          <p:cNvSpPr/>
          <p:nvPr/>
        </p:nvSpPr>
        <p:spPr>
          <a:xfrm rot="5400000" flipV="1">
            <a:off x="5511863" y="4809149"/>
            <a:ext cx="158586" cy="156312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BB4822-AC03-3E70-CA84-FA948DE6E497}"/>
              </a:ext>
            </a:extLst>
          </p:cNvPr>
          <p:cNvSpPr/>
          <p:nvPr/>
        </p:nvSpPr>
        <p:spPr>
          <a:xfrm rot="5400000" flipV="1">
            <a:off x="5511863" y="5016122"/>
            <a:ext cx="158586" cy="156312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DDEDD5F-C218-F003-CC7E-CEE1A81552EF}"/>
              </a:ext>
            </a:extLst>
          </p:cNvPr>
          <p:cNvSpPr/>
          <p:nvPr/>
        </p:nvSpPr>
        <p:spPr>
          <a:xfrm rot="5400000" flipV="1">
            <a:off x="5508600" y="5223096"/>
            <a:ext cx="158586" cy="156312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27A0F7D-4409-2A9D-F3DB-0EEA3D35667A}"/>
              </a:ext>
            </a:extLst>
          </p:cNvPr>
          <p:cNvSpPr/>
          <p:nvPr/>
        </p:nvSpPr>
        <p:spPr>
          <a:xfrm rot="5400000" flipV="1">
            <a:off x="5508600" y="5433800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7607EB3-B057-6197-24A2-D7EACD03BA24}"/>
              </a:ext>
            </a:extLst>
          </p:cNvPr>
          <p:cNvSpPr/>
          <p:nvPr/>
        </p:nvSpPr>
        <p:spPr>
          <a:xfrm rot="5400000" flipV="1">
            <a:off x="5508600" y="5640774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1C3BA48-90D1-4C37-E0AF-86AE6CB68F92}"/>
              </a:ext>
            </a:extLst>
          </p:cNvPr>
          <p:cNvSpPr/>
          <p:nvPr/>
        </p:nvSpPr>
        <p:spPr>
          <a:xfrm rot="5400000" flipV="1">
            <a:off x="5719765" y="5016122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E24BD84-4C43-73A8-1E6E-A2A99BDE6E28}"/>
              </a:ext>
            </a:extLst>
          </p:cNvPr>
          <p:cNvSpPr/>
          <p:nvPr/>
        </p:nvSpPr>
        <p:spPr>
          <a:xfrm rot="5400000" flipV="1">
            <a:off x="5716501" y="5223096"/>
            <a:ext cx="158586" cy="156312"/>
          </a:xfrm>
          <a:prstGeom prst="rect">
            <a:avLst/>
          </a:prstGeom>
          <a:solidFill>
            <a:srgbClr val="8B5E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153555B-BC19-EF43-9AE2-1D761ABCC0BC}"/>
              </a:ext>
            </a:extLst>
          </p:cNvPr>
          <p:cNvSpPr/>
          <p:nvPr/>
        </p:nvSpPr>
        <p:spPr>
          <a:xfrm rot="5400000" flipV="1">
            <a:off x="5716501" y="5433800"/>
            <a:ext cx="158586" cy="156312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BA135E2-610E-49E9-5585-56457B5BAA01}"/>
              </a:ext>
            </a:extLst>
          </p:cNvPr>
          <p:cNvSpPr/>
          <p:nvPr/>
        </p:nvSpPr>
        <p:spPr>
          <a:xfrm rot="5400000" flipV="1">
            <a:off x="5716501" y="5640774"/>
            <a:ext cx="158586" cy="15631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CF86CAC-521C-CAEB-7A89-9E00B656F793}"/>
              </a:ext>
            </a:extLst>
          </p:cNvPr>
          <p:cNvSpPr/>
          <p:nvPr/>
        </p:nvSpPr>
        <p:spPr>
          <a:xfrm rot="5400000" flipV="1">
            <a:off x="5946442" y="5221788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2D33FF3E-F3DB-7ED6-21A9-47EE9E7C851D}"/>
              </a:ext>
            </a:extLst>
          </p:cNvPr>
          <p:cNvSpPr/>
          <p:nvPr/>
        </p:nvSpPr>
        <p:spPr>
          <a:xfrm rot="5400000" flipV="1">
            <a:off x="5946442" y="5432492"/>
            <a:ext cx="158586" cy="156312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0B6EB09-E003-6245-7BC0-F121B4824646}"/>
              </a:ext>
            </a:extLst>
          </p:cNvPr>
          <p:cNvSpPr/>
          <p:nvPr/>
        </p:nvSpPr>
        <p:spPr>
          <a:xfrm rot="5400000" flipV="1">
            <a:off x="5946442" y="5639466"/>
            <a:ext cx="158586" cy="156312"/>
          </a:xfrm>
          <a:prstGeom prst="rect">
            <a:avLst/>
          </a:prstGeom>
          <a:solidFill>
            <a:srgbClr val="8B5E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FB956B4-E614-CD38-1B60-892A2B6FAD5F}"/>
              </a:ext>
            </a:extLst>
          </p:cNvPr>
          <p:cNvSpPr/>
          <p:nvPr/>
        </p:nvSpPr>
        <p:spPr>
          <a:xfrm rot="5400000" flipV="1">
            <a:off x="6185159" y="5432492"/>
            <a:ext cx="158586" cy="156312"/>
          </a:xfrm>
          <a:prstGeom prst="rect">
            <a:avLst/>
          </a:prstGeom>
          <a:solidFill>
            <a:srgbClr val="8B5E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64EC15E-86EE-ACA9-3F0B-74574B0DCB8E}"/>
              </a:ext>
            </a:extLst>
          </p:cNvPr>
          <p:cNvSpPr/>
          <p:nvPr/>
        </p:nvSpPr>
        <p:spPr>
          <a:xfrm rot="5400000" flipV="1">
            <a:off x="6185159" y="5639466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D9C7E128-4511-5815-7AC0-0648E8A8FE25}"/>
              </a:ext>
            </a:extLst>
          </p:cNvPr>
          <p:cNvSpPr/>
          <p:nvPr/>
        </p:nvSpPr>
        <p:spPr>
          <a:xfrm rot="5400000" flipV="1">
            <a:off x="6421976" y="5639466"/>
            <a:ext cx="158586" cy="156312"/>
          </a:xfrm>
          <a:prstGeom prst="rect">
            <a:avLst/>
          </a:prstGeom>
          <a:solidFill>
            <a:srgbClr val="F9E7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342E97C-953D-9CB2-F4DB-3C355E3F6D1E}"/>
              </a:ext>
            </a:extLst>
          </p:cNvPr>
          <p:cNvGrpSpPr/>
          <p:nvPr/>
        </p:nvGrpSpPr>
        <p:grpSpPr>
          <a:xfrm>
            <a:off x="6006584" y="5873116"/>
            <a:ext cx="46367" cy="262445"/>
            <a:chOff x="5767592" y="3420762"/>
            <a:chExt cx="55380" cy="313458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F2A544DA-707E-9140-5082-50A9606BC8C5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E13295D2-0658-1564-8F49-FCAF79561138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847DA318-E4B8-62F6-A333-469100852006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1" name="Rectangle 140">
            <a:extLst>
              <a:ext uri="{FF2B5EF4-FFF2-40B4-BE49-F238E27FC236}">
                <a16:creationId xmlns:a16="http://schemas.microsoft.com/office/drawing/2014/main" id="{BD4F188C-FE24-B83D-FAA6-8B86891FF762}"/>
              </a:ext>
            </a:extLst>
          </p:cNvPr>
          <p:cNvSpPr/>
          <p:nvPr/>
        </p:nvSpPr>
        <p:spPr>
          <a:xfrm rot="5400000" flipV="1">
            <a:off x="5513448" y="6199894"/>
            <a:ext cx="158586" cy="156312"/>
          </a:xfrm>
          <a:prstGeom prst="rect">
            <a:avLst/>
          </a:prstGeom>
          <a:solidFill>
            <a:srgbClr val="F9E7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31B20C6E-57A2-C88D-DC85-A2CC219E416D}"/>
              </a:ext>
            </a:extLst>
          </p:cNvPr>
          <p:cNvSpPr/>
          <p:nvPr/>
        </p:nvSpPr>
        <p:spPr>
          <a:xfrm rot="5400000" flipV="1">
            <a:off x="5721349" y="6199894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FF122733-0186-66E6-3AD0-FF165242E231}"/>
              </a:ext>
            </a:extLst>
          </p:cNvPr>
          <p:cNvSpPr/>
          <p:nvPr/>
        </p:nvSpPr>
        <p:spPr>
          <a:xfrm rot="5400000" flipV="1">
            <a:off x="5951290" y="6198586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3EC0118F-F9C3-0546-17E7-2DCB6F759B67}"/>
              </a:ext>
            </a:extLst>
          </p:cNvPr>
          <p:cNvSpPr/>
          <p:nvPr/>
        </p:nvSpPr>
        <p:spPr>
          <a:xfrm rot="5400000" flipV="1">
            <a:off x="6190007" y="6198586"/>
            <a:ext cx="158586" cy="156312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533761F-F69A-30A6-7497-92A9839BCF40}"/>
              </a:ext>
            </a:extLst>
          </p:cNvPr>
          <p:cNvSpPr/>
          <p:nvPr/>
        </p:nvSpPr>
        <p:spPr>
          <a:xfrm rot="5400000" flipV="1">
            <a:off x="6426823" y="6198586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1E5876BA-4130-3CCB-AB5C-B5822380F40A}"/>
                  </a:ext>
                </a:extLst>
              </p:cNvPr>
              <p:cNvSpPr txBox="1"/>
              <p:nvPr/>
            </p:nvSpPr>
            <p:spPr>
              <a:xfrm>
                <a:off x="3074814" y="4484774"/>
                <a:ext cx="46769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1E5876BA-4130-3CCB-AB5C-B5822380F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814" y="4484774"/>
                <a:ext cx="467698" cy="338554"/>
              </a:xfrm>
              <a:prstGeom prst="rect">
                <a:avLst/>
              </a:prstGeom>
              <a:blipFill>
                <a:blip r:embed="rId6"/>
                <a:stretch>
                  <a:fillRect r="-18182"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8A42A699-B30C-DFA3-DADD-9337B0DE3081}"/>
                  </a:ext>
                </a:extLst>
              </p:cNvPr>
              <p:cNvSpPr txBox="1"/>
              <p:nvPr/>
            </p:nvSpPr>
            <p:spPr>
              <a:xfrm>
                <a:off x="5873949" y="4240868"/>
                <a:ext cx="1564907" cy="2993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8A42A699-B30C-DFA3-DADD-9337B0DE3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3949" y="4240868"/>
                <a:ext cx="1564907" cy="299313"/>
              </a:xfrm>
              <a:prstGeom prst="rect">
                <a:avLst/>
              </a:prstGeom>
              <a:blipFill>
                <a:blip r:embed="rId7"/>
                <a:stretch>
                  <a:fillRect l="-3906" t="-24490" r="-6641" b="-40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8" name="Group 157">
            <a:extLst>
              <a:ext uri="{FF2B5EF4-FFF2-40B4-BE49-F238E27FC236}">
                <a16:creationId xmlns:a16="http://schemas.microsoft.com/office/drawing/2014/main" id="{2EEBE682-0B56-E120-CFD0-E094B6DD7FC3}"/>
              </a:ext>
            </a:extLst>
          </p:cNvPr>
          <p:cNvGrpSpPr/>
          <p:nvPr/>
        </p:nvGrpSpPr>
        <p:grpSpPr>
          <a:xfrm flipH="1">
            <a:off x="1323793" y="5874447"/>
            <a:ext cx="38279" cy="214891"/>
            <a:chOff x="5767592" y="3420762"/>
            <a:chExt cx="55380" cy="313458"/>
          </a:xfrm>
        </p:grpSpPr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74D54656-5A8D-1427-8EF8-EC6EF1AE767B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CCE12ABF-D960-A533-D4DD-332DE6046734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053E01D3-B227-4F6C-F35D-FDE55B0270C0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2" name="Right Arrow 161">
            <a:extLst>
              <a:ext uri="{FF2B5EF4-FFF2-40B4-BE49-F238E27FC236}">
                <a16:creationId xmlns:a16="http://schemas.microsoft.com/office/drawing/2014/main" id="{7E3579A7-B531-6816-2DE9-637D34E08338}"/>
              </a:ext>
            </a:extLst>
          </p:cNvPr>
          <p:cNvSpPr/>
          <p:nvPr/>
        </p:nvSpPr>
        <p:spPr>
          <a:xfrm>
            <a:off x="3551191" y="5224838"/>
            <a:ext cx="246427" cy="21138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ight Arrow 162">
            <a:extLst>
              <a:ext uri="{FF2B5EF4-FFF2-40B4-BE49-F238E27FC236}">
                <a16:creationId xmlns:a16="http://schemas.microsoft.com/office/drawing/2014/main" id="{E8E68822-757A-0D2D-D03A-6F350C3782BE}"/>
              </a:ext>
            </a:extLst>
          </p:cNvPr>
          <p:cNvSpPr/>
          <p:nvPr/>
        </p:nvSpPr>
        <p:spPr>
          <a:xfrm>
            <a:off x="4947493" y="5254446"/>
            <a:ext cx="246427" cy="21138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CA62866-3C9C-0C82-EA66-732D1807E50C}"/>
              </a:ext>
            </a:extLst>
          </p:cNvPr>
          <p:cNvSpPr txBox="1"/>
          <p:nvPr/>
        </p:nvSpPr>
        <p:spPr>
          <a:xfrm>
            <a:off x="8054970" y="3782161"/>
            <a:ext cx="160471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Vectorize 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triangle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2AA166E0-8DBD-E823-5A93-A4F7E1AF2BF7}"/>
                  </a:ext>
                </a:extLst>
              </p:cNvPr>
              <p:cNvSpPr txBox="1"/>
              <p:nvPr/>
            </p:nvSpPr>
            <p:spPr>
              <a:xfrm>
                <a:off x="8713633" y="5316234"/>
                <a:ext cx="1055825" cy="3315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−1)(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−2)/2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2AA166E0-8DBD-E823-5A93-A4F7E1AF2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633" y="5316234"/>
                <a:ext cx="1055825" cy="331559"/>
              </a:xfrm>
              <a:prstGeom prst="rect">
                <a:avLst/>
              </a:prstGeom>
              <a:blipFill>
                <a:blip r:embed="rId8"/>
                <a:stretch>
                  <a:fillRect r="-40230" b="-3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220D23AB-A592-B94E-0D49-E473B55148C0}"/>
                  </a:ext>
                </a:extLst>
              </p:cNvPr>
              <p:cNvSpPr txBox="1"/>
              <p:nvPr/>
            </p:nvSpPr>
            <p:spPr>
              <a:xfrm>
                <a:off x="7848439" y="5308190"/>
                <a:ext cx="10558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220D23AB-A592-B94E-0D49-E473B5514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8439" y="5308190"/>
                <a:ext cx="105582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8FFFBBDE-BBF2-C483-3BE3-3F7BF3D95432}"/>
              </a:ext>
            </a:extLst>
          </p:cNvPr>
          <p:cNvGrpSpPr/>
          <p:nvPr/>
        </p:nvGrpSpPr>
        <p:grpSpPr>
          <a:xfrm rot="16200000">
            <a:off x="8767628" y="4373641"/>
            <a:ext cx="76559" cy="1707561"/>
            <a:chOff x="9683315" y="4497212"/>
            <a:chExt cx="91440" cy="2039467"/>
          </a:xfrm>
        </p:grpSpPr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EE88A52F-E4F6-DF82-9EEE-A4D30FE99642}"/>
                </a:ext>
              </a:extLst>
            </p:cNvPr>
            <p:cNvGrpSpPr/>
            <p:nvPr/>
          </p:nvGrpSpPr>
          <p:grpSpPr>
            <a:xfrm>
              <a:off x="9683315" y="4497212"/>
              <a:ext cx="91440" cy="1463040"/>
              <a:chOff x="8853743" y="2812833"/>
              <a:chExt cx="186695" cy="2925564"/>
            </a:xfrm>
          </p:grpSpPr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4A3C8F59-26B8-D8CA-8DDD-E78D896F6EDF}"/>
                  </a:ext>
                </a:extLst>
              </p:cNvPr>
              <p:cNvSpPr/>
              <p:nvPr/>
            </p:nvSpPr>
            <p:spPr>
              <a:xfrm rot="5400000" flipV="1">
                <a:off x="8855651" y="2810925"/>
                <a:ext cx="182880" cy="186695"/>
              </a:xfrm>
              <a:prstGeom prst="rect">
                <a:avLst/>
              </a:prstGeom>
              <a:solidFill>
                <a:srgbClr val="93E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7D35DDE8-CE66-F442-4A69-D563A7DF0531}"/>
                  </a:ext>
                </a:extLst>
              </p:cNvPr>
              <p:cNvSpPr/>
              <p:nvPr/>
            </p:nvSpPr>
            <p:spPr>
              <a:xfrm rot="5400000" flipV="1">
                <a:off x="8855651" y="3060260"/>
                <a:ext cx="182880" cy="186695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55E50EE8-7CCB-0116-F9E4-0358AEAD2D9F}"/>
                  </a:ext>
                </a:extLst>
              </p:cNvPr>
              <p:cNvSpPr/>
              <p:nvPr/>
            </p:nvSpPr>
            <p:spPr>
              <a:xfrm rot="5400000" flipV="1">
                <a:off x="8855651" y="3309595"/>
                <a:ext cx="182880" cy="186695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6848CCE1-92E1-5C10-FDB3-DC11434A4E42}"/>
                  </a:ext>
                </a:extLst>
              </p:cNvPr>
              <p:cNvSpPr/>
              <p:nvPr/>
            </p:nvSpPr>
            <p:spPr>
              <a:xfrm rot="5400000" flipV="1">
                <a:off x="8855651" y="3558930"/>
                <a:ext cx="182880" cy="186695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63D24B16-C74E-8ED4-7109-403E389A31CF}"/>
                  </a:ext>
                </a:extLst>
              </p:cNvPr>
              <p:cNvSpPr/>
              <p:nvPr/>
            </p:nvSpPr>
            <p:spPr>
              <a:xfrm rot="5400000" flipV="1">
                <a:off x="8855651" y="3808265"/>
                <a:ext cx="182880" cy="186695"/>
              </a:xfrm>
              <a:prstGeom prst="rect">
                <a:avLst/>
              </a:prstGeom>
              <a:solidFill>
                <a:srgbClr val="F89C3C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DBDBDCC4-DA8F-48E5-5A5F-A2A78FE23900}"/>
                  </a:ext>
                </a:extLst>
              </p:cNvPr>
              <p:cNvSpPr/>
              <p:nvPr/>
            </p:nvSpPr>
            <p:spPr>
              <a:xfrm rot="5400000" flipV="1">
                <a:off x="8855651" y="4057600"/>
                <a:ext cx="182880" cy="186695"/>
              </a:xfrm>
              <a:prstGeom prst="rect">
                <a:avLst/>
              </a:prstGeom>
              <a:solidFill>
                <a:srgbClr val="F89C3C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FA090329-5122-5C52-BDED-A807FA607192}"/>
                  </a:ext>
                </a:extLst>
              </p:cNvPr>
              <p:cNvSpPr/>
              <p:nvPr/>
            </p:nvSpPr>
            <p:spPr>
              <a:xfrm rot="5400000" flipV="1">
                <a:off x="8855651" y="4306935"/>
                <a:ext cx="182880" cy="186695"/>
              </a:xfrm>
              <a:prstGeom prst="rect">
                <a:avLst/>
              </a:prstGeom>
              <a:solidFill>
                <a:srgbClr val="8B5ED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5FF60838-CB88-C872-FAAA-2880B4CE89BF}"/>
                  </a:ext>
                </a:extLst>
              </p:cNvPr>
              <p:cNvSpPr/>
              <p:nvPr/>
            </p:nvSpPr>
            <p:spPr>
              <a:xfrm rot="5400000" flipV="1">
                <a:off x="8855651" y="4556270"/>
                <a:ext cx="182880" cy="186695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C3648763-63FD-A654-5DBF-65480748FBE1}"/>
                  </a:ext>
                </a:extLst>
              </p:cNvPr>
              <p:cNvSpPr/>
              <p:nvPr/>
            </p:nvSpPr>
            <p:spPr>
              <a:xfrm rot="5400000" flipV="1">
                <a:off x="8855651" y="4805605"/>
                <a:ext cx="182880" cy="186695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EE575522-42DD-85D1-8129-AD3CAE25CC1F}"/>
                  </a:ext>
                </a:extLst>
              </p:cNvPr>
              <p:cNvSpPr/>
              <p:nvPr/>
            </p:nvSpPr>
            <p:spPr>
              <a:xfrm rot="5400000" flipV="1">
                <a:off x="8855651" y="5054940"/>
                <a:ext cx="182880" cy="186695"/>
              </a:xfrm>
              <a:prstGeom prst="rect">
                <a:avLst/>
              </a:prstGeom>
              <a:solidFill>
                <a:srgbClr val="F89C3C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8AAF707B-3507-E300-7263-E75CF7329B91}"/>
                  </a:ext>
                </a:extLst>
              </p:cNvPr>
              <p:cNvSpPr/>
              <p:nvPr/>
            </p:nvSpPr>
            <p:spPr>
              <a:xfrm rot="5400000" flipV="1">
                <a:off x="8855651" y="5304275"/>
                <a:ext cx="182880" cy="186695"/>
              </a:xfrm>
              <a:prstGeom prst="rect">
                <a:avLst/>
              </a:prstGeom>
              <a:solidFill>
                <a:srgbClr val="93E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6006E1FD-7C23-B64C-A837-6839614F15C2}"/>
                  </a:ext>
                </a:extLst>
              </p:cNvPr>
              <p:cNvSpPr/>
              <p:nvPr/>
            </p:nvSpPr>
            <p:spPr>
              <a:xfrm rot="5400000" flipV="1">
                <a:off x="8855651" y="5553609"/>
                <a:ext cx="182880" cy="186695"/>
              </a:xfrm>
              <a:prstGeom prst="rect">
                <a:avLst/>
              </a:prstGeom>
              <a:solidFill>
                <a:srgbClr val="8B5ED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8C3C7FF3-4675-6D74-7889-C63DB63FE618}"/>
                </a:ext>
              </a:extLst>
            </p:cNvPr>
            <p:cNvSpPr/>
            <p:nvPr/>
          </p:nvSpPr>
          <p:spPr>
            <a:xfrm rot="5400000" flipV="1">
              <a:off x="9683307" y="6445231"/>
              <a:ext cx="91456" cy="91440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6515EA1C-F6BC-61A7-3098-1E72208999F1}"/>
                </a:ext>
              </a:extLst>
            </p:cNvPr>
            <p:cNvGrpSpPr/>
            <p:nvPr/>
          </p:nvGrpSpPr>
          <p:grpSpPr>
            <a:xfrm>
              <a:off x="9716761" y="6142429"/>
              <a:ext cx="27432" cy="155448"/>
              <a:chOff x="5767592" y="3420762"/>
              <a:chExt cx="55380" cy="313458"/>
            </a:xfrm>
          </p:grpSpPr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1888A86A-3ABA-DDBE-0B32-23E708A219A8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E5AB876E-C8F1-07A4-7647-22AF34EFCAAF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4A424F7A-5EAA-C573-3627-5F408390C0A0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0F2015DE-A301-6DE4-54AD-95D75D303008}"/>
              </a:ext>
            </a:extLst>
          </p:cNvPr>
          <p:cNvSpPr/>
          <p:nvPr/>
        </p:nvSpPr>
        <p:spPr>
          <a:xfrm rot="5400000" flipV="1">
            <a:off x="2055719" y="6197015"/>
            <a:ext cx="158586" cy="156312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5D789B-6360-4B64-A609-4AA67E91DA51}"/>
              </a:ext>
            </a:extLst>
          </p:cNvPr>
          <p:cNvSpPr/>
          <p:nvPr/>
        </p:nvSpPr>
        <p:spPr>
          <a:xfrm rot="5400000" flipV="1">
            <a:off x="2225913" y="6197015"/>
            <a:ext cx="158586" cy="15631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251282-6A5D-90FF-36C6-59CC886C6A1D}"/>
              </a:ext>
            </a:extLst>
          </p:cNvPr>
          <p:cNvSpPr/>
          <p:nvPr/>
        </p:nvSpPr>
        <p:spPr>
          <a:xfrm rot="5400000" flipV="1">
            <a:off x="2395174" y="6197015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81F37F-B0A2-602E-3198-295F045560B3}"/>
              </a:ext>
            </a:extLst>
          </p:cNvPr>
          <p:cNvSpPr/>
          <p:nvPr/>
        </p:nvSpPr>
        <p:spPr>
          <a:xfrm rot="5400000" flipV="1">
            <a:off x="2564901" y="6197015"/>
            <a:ext cx="158586" cy="15631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D5D1A6-5C1E-4D03-AA83-09C3F78FECB3}"/>
              </a:ext>
            </a:extLst>
          </p:cNvPr>
          <p:cNvSpPr/>
          <p:nvPr/>
        </p:nvSpPr>
        <p:spPr>
          <a:xfrm rot="5400000" flipV="1">
            <a:off x="4186183" y="6194875"/>
            <a:ext cx="158586" cy="15631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25AC10C-F1C8-641A-62ED-E26717D6EA90}"/>
              </a:ext>
            </a:extLst>
          </p:cNvPr>
          <p:cNvGrpSpPr/>
          <p:nvPr/>
        </p:nvGrpSpPr>
        <p:grpSpPr>
          <a:xfrm>
            <a:off x="4228819" y="5865213"/>
            <a:ext cx="46367" cy="262445"/>
            <a:chOff x="5767592" y="3420762"/>
            <a:chExt cx="55380" cy="313458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C9BB0D0-BF66-14EA-86AE-8225364265F8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4780269-10CC-44FD-728A-5892FFAB033F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3EE6B930-A054-4C99-4D3E-86BC79D27B75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E9D7057-082D-4D6C-BA89-45CEC3754F12}"/>
              </a:ext>
            </a:extLst>
          </p:cNvPr>
          <p:cNvGrpSpPr/>
          <p:nvPr/>
        </p:nvGrpSpPr>
        <p:grpSpPr>
          <a:xfrm>
            <a:off x="2446990" y="5875799"/>
            <a:ext cx="46367" cy="262445"/>
            <a:chOff x="5767592" y="3420762"/>
            <a:chExt cx="55380" cy="313458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8B3ED54-C1EE-C492-F5C9-CB2CE0EA997D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6F3E85E-ED0D-E4E1-869B-B862EDA042DA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9B9D5BA-CB84-88C0-162E-BE501090BCB5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82" name="Right Arrow 581">
            <a:extLst>
              <a:ext uri="{FF2B5EF4-FFF2-40B4-BE49-F238E27FC236}">
                <a16:creationId xmlns:a16="http://schemas.microsoft.com/office/drawing/2014/main" id="{3914183A-E7C2-EA2F-3D08-CA89C2FDBB5F}"/>
              </a:ext>
            </a:extLst>
          </p:cNvPr>
          <p:cNvSpPr/>
          <p:nvPr/>
        </p:nvSpPr>
        <p:spPr>
          <a:xfrm>
            <a:off x="7498635" y="5221554"/>
            <a:ext cx="246427" cy="21138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4" name="Straight Connector 593">
            <a:extLst>
              <a:ext uri="{FF2B5EF4-FFF2-40B4-BE49-F238E27FC236}">
                <a16:creationId xmlns:a16="http://schemas.microsoft.com/office/drawing/2014/main" id="{C2994D3D-89C1-AC88-FD3F-FCACEF2A89AA}"/>
              </a:ext>
            </a:extLst>
          </p:cNvPr>
          <p:cNvCxnSpPr>
            <a:stCxn id="585" idx="5"/>
            <a:endCxn id="588" idx="1"/>
          </p:cNvCxnSpPr>
          <p:nvPr/>
        </p:nvCxnSpPr>
        <p:spPr>
          <a:xfrm>
            <a:off x="6387005" y="5091919"/>
            <a:ext cx="161030" cy="18633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F53F5FDD-2C2B-34D9-8742-62B224180AD3}"/>
              </a:ext>
            </a:extLst>
          </p:cNvPr>
          <p:cNvCxnSpPr>
            <a:cxnSpLocks/>
            <a:stCxn id="585" idx="6"/>
            <a:endCxn id="589" idx="1"/>
          </p:cNvCxnSpPr>
          <p:nvPr/>
        </p:nvCxnSpPr>
        <p:spPr>
          <a:xfrm>
            <a:off x="6406783" y="5044171"/>
            <a:ext cx="477295" cy="234083"/>
          </a:xfrm>
          <a:prstGeom prst="line">
            <a:avLst/>
          </a:prstGeom>
          <a:ln w="28575">
            <a:solidFill>
              <a:srgbClr val="F89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Straight Connector 598">
            <a:extLst>
              <a:ext uri="{FF2B5EF4-FFF2-40B4-BE49-F238E27FC236}">
                <a16:creationId xmlns:a16="http://schemas.microsoft.com/office/drawing/2014/main" id="{3517AA0E-EDF0-3AAA-7F5A-56BD1FF04AA1}"/>
              </a:ext>
            </a:extLst>
          </p:cNvPr>
          <p:cNvCxnSpPr>
            <a:cxnSpLocks/>
            <a:stCxn id="585" idx="6"/>
            <a:endCxn id="592" idx="2"/>
          </p:cNvCxnSpPr>
          <p:nvPr/>
        </p:nvCxnSpPr>
        <p:spPr>
          <a:xfrm flipV="1">
            <a:off x="6406783" y="5040151"/>
            <a:ext cx="716285" cy="4021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2" name="Straight Connector 601">
            <a:extLst>
              <a:ext uri="{FF2B5EF4-FFF2-40B4-BE49-F238E27FC236}">
                <a16:creationId xmlns:a16="http://schemas.microsoft.com/office/drawing/2014/main" id="{121DDF62-3284-27FD-9CB9-178DC0E5EFAF}"/>
              </a:ext>
            </a:extLst>
          </p:cNvPr>
          <p:cNvCxnSpPr>
            <a:cxnSpLocks/>
            <a:stCxn id="585" idx="6"/>
            <a:endCxn id="591" idx="3"/>
          </p:cNvCxnSpPr>
          <p:nvPr/>
        </p:nvCxnSpPr>
        <p:spPr>
          <a:xfrm flipV="1">
            <a:off x="6406783" y="4814889"/>
            <a:ext cx="477296" cy="229282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Straight Connector 604">
            <a:extLst>
              <a:ext uri="{FF2B5EF4-FFF2-40B4-BE49-F238E27FC236}">
                <a16:creationId xmlns:a16="http://schemas.microsoft.com/office/drawing/2014/main" id="{C6A1E239-866C-5C27-EC5A-05CE14D28969}"/>
              </a:ext>
            </a:extLst>
          </p:cNvPr>
          <p:cNvCxnSpPr>
            <a:cxnSpLocks/>
            <a:stCxn id="585" idx="7"/>
            <a:endCxn id="590" idx="3"/>
          </p:cNvCxnSpPr>
          <p:nvPr/>
        </p:nvCxnSpPr>
        <p:spPr>
          <a:xfrm flipV="1">
            <a:off x="6387005" y="4814889"/>
            <a:ext cx="164049" cy="181533"/>
          </a:xfrm>
          <a:prstGeom prst="line">
            <a:avLst/>
          </a:prstGeom>
          <a:ln w="28575">
            <a:solidFill>
              <a:srgbClr val="93E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8" name="Straight Connector 607">
            <a:extLst>
              <a:ext uri="{FF2B5EF4-FFF2-40B4-BE49-F238E27FC236}">
                <a16:creationId xmlns:a16="http://schemas.microsoft.com/office/drawing/2014/main" id="{863C8FDC-0A88-E98F-CFC7-0C554A7CBA29}"/>
              </a:ext>
            </a:extLst>
          </p:cNvPr>
          <p:cNvCxnSpPr>
            <a:cxnSpLocks/>
            <a:stCxn id="588" idx="0"/>
            <a:endCxn id="590" idx="4"/>
          </p:cNvCxnSpPr>
          <p:nvPr/>
        </p:nvCxnSpPr>
        <p:spPr>
          <a:xfrm flipV="1">
            <a:off x="6595784" y="4834667"/>
            <a:ext cx="3019" cy="42381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F665721A-DE3B-1901-D42A-0C2F0DB268B1}"/>
              </a:ext>
            </a:extLst>
          </p:cNvPr>
          <p:cNvCxnSpPr>
            <a:cxnSpLocks/>
            <a:stCxn id="588" idx="0"/>
            <a:endCxn id="591" idx="4"/>
          </p:cNvCxnSpPr>
          <p:nvPr/>
        </p:nvCxnSpPr>
        <p:spPr>
          <a:xfrm flipV="1">
            <a:off x="6595784" y="4834667"/>
            <a:ext cx="336044" cy="423810"/>
          </a:xfrm>
          <a:prstGeom prst="line">
            <a:avLst/>
          </a:prstGeom>
          <a:ln w="28575">
            <a:solidFill>
              <a:srgbClr val="93E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8B6F2878-484A-DB66-6143-A9CC2F2A2831}"/>
              </a:ext>
            </a:extLst>
          </p:cNvPr>
          <p:cNvCxnSpPr>
            <a:cxnSpLocks/>
            <a:stCxn id="589" idx="0"/>
            <a:endCxn id="590" idx="4"/>
          </p:cNvCxnSpPr>
          <p:nvPr/>
        </p:nvCxnSpPr>
        <p:spPr>
          <a:xfrm flipH="1" flipV="1">
            <a:off x="6598803" y="4834667"/>
            <a:ext cx="333024" cy="42381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Straight Connector 616">
            <a:extLst>
              <a:ext uri="{FF2B5EF4-FFF2-40B4-BE49-F238E27FC236}">
                <a16:creationId xmlns:a16="http://schemas.microsoft.com/office/drawing/2014/main" id="{0C031414-2004-CB60-3303-97E0E9FDBB8A}"/>
              </a:ext>
            </a:extLst>
          </p:cNvPr>
          <p:cNvCxnSpPr>
            <a:cxnSpLocks/>
            <a:stCxn id="590" idx="6"/>
            <a:endCxn id="591" idx="2"/>
          </p:cNvCxnSpPr>
          <p:nvPr/>
        </p:nvCxnSpPr>
        <p:spPr>
          <a:xfrm>
            <a:off x="6666329" y="4767141"/>
            <a:ext cx="197972" cy="0"/>
          </a:xfrm>
          <a:prstGeom prst="line">
            <a:avLst/>
          </a:prstGeom>
          <a:ln w="28575">
            <a:solidFill>
              <a:srgbClr val="F89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4EFDB0A8-7BEC-2EE1-A72D-824D461C4013}"/>
              </a:ext>
            </a:extLst>
          </p:cNvPr>
          <p:cNvCxnSpPr>
            <a:cxnSpLocks/>
            <a:stCxn id="592" idx="2"/>
            <a:endCxn id="590" idx="5"/>
          </p:cNvCxnSpPr>
          <p:nvPr/>
        </p:nvCxnSpPr>
        <p:spPr>
          <a:xfrm flipH="1" flipV="1">
            <a:off x="6646551" y="4814889"/>
            <a:ext cx="476517" cy="225262"/>
          </a:xfrm>
          <a:prstGeom prst="line">
            <a:avLst/>
          </a:prstGeom>
          <a:ln w="28575">
            <a:solidFill>
              <a:srgbClr val="8B5E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Connector 622">
            <a:extLst>
              <a:ext uri="{FF2B5EF4-FFF2-40B4-BE49-F238E27FC236}">
                <a16:creationId xmlns:a16="http://schemas.microsoft.com/office/drawing/2014/main" id="{19660CF1-C05E-6C34-24E7-B19459BAF1B4}"/>
              </a:ext>
            </a:extLst>
          </p:cNvPr>
          <p:cNvCxnSpPr>
            <a:cxnSpLocks/>
            <a:stCxn id="589" idx="0"/>
            <a:endCxn id="591" idx="4"/>
          </p:cNvCxnSpPr>
          <p:nvPr/>
        </p:nvCxnSpPr>
        <p:spPr>
          <a:xfrm flipV="1">
            <a:off x="6931827" y="4834667"/>
            <a:ext cx="1" cy="423810"/>
          </a:xfrm>
          <a:prstGeom prst="line">
            <a:avLst/>
          </a:prstGeom>
          <a:ln w="28575">
            <a:solidFill>
              <a:srgbClr val="8B5E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Straight Connector 625">
            <a:extLst>
              <a:ext uri="{FF2B5EF4-FFF2-40B4-BE49-F238E27FC236}">
                <a16:creationId xmlns:a16="http://schemas.microsoft.com/office/drawing/2014/main" id="{724B5393-3C51-2A61-9317-B198CC9174DF}"/>
              </a:ext>
            </a:extLst>
          </p:cNvPr>
          <p:cNvCxnSpPr>
            <a:cxnSpLocks/>
            <a:stCxn id="589" idx="7"/>
            <a:endCxn id="592" idx="3"/>
          </p:cNvCxnSpPr>
          <p:nvPr/>
        </p:nvCxnSpPr>
        <p:spPr>
          <a:xfrm flipV="1">
            <a:off x="6979575" y="5087899"/>
            <a:ext cx="163271" cy="190356"/>
          </a:xfrm>
          <a:prstGeom prst="line">
            <a:avLst/>
          </a:prstGeom>
          <a:ln w="28575">
            <a:solidFill>
              <a:srgbClr val="F89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" name="Straight Connector 628">
            <a:extLst>
              <a:ext uri="{FF2B5EF4-FFF2-40B4-BE49-F238E27FC236}">
                <a16:creationId xmlns:a16="http://schemas.microsoft.com/office/drawing/2014/main" id="{C84CCFF6-D0EB-BAB0-09BC-BD54455EE109}"/>
              </a:ext>
            </a:extLst>
          </p:cNvPr>
          <p:cNvCxnSpPr>
            <a:cxnSpLocks/>
            <a:stCxn id="592" idx="1"/>
            <a:endCxn id="591" idx="5"/>
          </p:cNvCxnSpPr>
          <p:nvPr/>
        </p:nvCxnSpPr>
        <p:spPr>
          <a:xfrm flipH="1" flipV="1">
            <a:off x="6979576" y="4814889"/>
            <a:ext cx="163270" cy="177513"/>
          </a:xfrm>
          <a:prstGeom prst="line">
            <a:avLst/>
          </a:prstGeom>
          <a:ln w="28575">
            <a:solidFill>
              <a:srgbClr val="F89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3" name="Straight Connector 632">
            <a:extLst>
              <a:ext uri="{FF2B5EF4-FFF2-40B4-BE49-F238E27FC236}">
                <a16:creationId xmlns:a16="http://schemas.microsoft.com/office/drawing/2014/main" id="{C63ABEB6-12A1-56AA-FCA5-8C018554F1FC}"/>
              </a:ext>
            </a:extLst>
          </p:cNvPr>
          <p:cNvCxnSpPr>
            <a:cxnSpLocks/>
            <a:stCxn id="592" idx="2"/>
            <a:endCxn id="588" idx="7"/>
          </p:cNvCxnSpPr>
          <p:nvPr/>
        </p:nvCxnSpPr>
        <p:spPr>
          <a:xfrm flipH="1">
            <a:off x="6643532" y="5040151"/>
            <a:ext cx="479536" cy="238104"/>
          </a:xfrm>
          <a:prstGeom prst="line">
            <a:avLst/>
          </a:prstGeom>
          <a:ln w="28575">
            <a:solidFill>
              <a:srgbClr val="8B5E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Straight Connector 640">
            <a:extLst>
              <a:ext uri="{FF2B5EF4-FFF2-40B4-BE49-F238E27FC236}">
                <a16:creationId xmlns:a16="http://schemas.microsoft.com/office/drawing/2014/main" id="{D9B089D5-BB5B-40DC-E20C-E7BA660CD1C0}"/>
              </a:ext>
            </a:extLst>
          </p:cNvPr>
          <p:cNvCxnSpPr>
            <a:cxnSpLocks/>
            <a:stCxn id="589" idx="2"/>
            <a:endCxn id="588" idx="6"/>
          </p:cNvCxnSpPr>
          <p:nvPr/>
        </p:nvCxnSpPr>
        <p:spPr>
          <a:xfrm flipH="1">
            <a:off x="6663310" y="5326003"/>
            <a:ext cx="200991" cy="0"/>
          </a:xfrm>
          <a:prstGeom prst="line">
            <a:avLst/>
          </a:prstGeom>
          <a:ln w="28575">
            <a:solidFill>
              <a:srgbClr val="F9E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2" name="Group 661">
            <a:extLst>
              <a:ext uri="{FF2B5EF4-FFF2-40B4-BE49-F238E27FC236}">
                <a16:creationId xmlns:a16="http://schemas.microsoft.com/office/drawing/2014/main" id="{6DC8A77A-B8FB-DEC1-C382-09954953A0A9}"/>
              </a:ext>
            </a:extLst>
          </p:cNvPr>
          <p:cNvGrpSpPr/>
          <p:nvPr/>
        </p:nvGrpSpPr>
        <p:grpSpPr>
          <a:xfrm rot="5400000">
            <a:off x="6769695" y="6141808"/>
            <a:ext cx="46367" cy="262445"/>
            <a:chOff x="5767592" y="3420762"/>
            <a:chExt cx="55380" cy="313458"/>
          </a:xfrm>
        </p:grpSpPr>
        <p:sp>
          <p:nvSpPr>
            <p:cNvPr id="663" name="Oval 662">
              <a:extLst>
                <a:ext uri="{FF2B5EF4-FFF2-40B4-BE49-F238E27FC236}">
                  <a16:creationId xmlns:a16="http://schemas.microsoft.com/office/drawing/2014/main" id="{471087C9-10B0-91C9-C53E-F443E2159972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4" name="Oval 663">
              <a:extLst>
                <a:ext uri="{FF2B5EF4-FFF2-40B4-BE49-F238E27FC236}">
                  <a16:creationId xmlns:a16="http://schemas.microsoft.com/office/drawing/2014/main" id="{A6523B82-66F7-F414-741F-DB8350A83071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5" name="Oval 664">
              <a:extLst>
                <a:ext uri="{FF2B5EF4-FFF2-40B4-BE49-F238E27FC236}">
                  <a16:creationId xmlns:a16="http://schemas.microsoft.com/office/drawing/2014/main" id="{F0B38C72-98F7-CA94-13EC-9F31F3AF4C11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ADF403CB-28CF-580D-F5D3-3FBA44294942}"/>
              </a:ext>
            </a:extLst>
          </p:cNvPr>
          <p:cNvSpPr/>
          <p:nvPr/>
        </p:nvSpPr>
        <p:spPr>
          <a:xfrm rot="5400000" flipV="1">
            <a:off x="7038621" y="6194875"/>
            <a:ext cx="158586" cy="15631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9" name="Arc 448">
            <a:extLst>
              <a:ext uri="{FF2B5EF4-FFF2-40B4-BE49-F238E27FC236}">
                <a16:creationId xmlns:a16="http://schemas.microsoft.com/office/drawing/2014/main" id="{B2C2F61E-6F61-B9DE-95AC-D9E2A5F3F51A}"/>
              </a:ext>
            </a:extLst>
          </p:cNvPr>
          <p:cNvSpPr/>
          <p:nvPr/>
        </p:nvSpPr>
        <p:spPr>
          <a:xfrm rot="19274413">
            <a:off x="5488577" y="4682973"/>
            <a:ext cx="1071655" cy="1031766"/>
          </a:xfrm>
          <a:prstGeom prst="arc">
            <a:avLst/>
          </a:prstGeom>
          <a:ln w="2540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ight Arrow 581">
            <a:extLst>
              <a:ext uri="{FF2B5EF4-FFF2-40B4-BE49-F238E27FC236}">
                <a16:creationId xmlns:a16="http://schemas.microsoft.com/office/drawing/2014/main" id="{C5E23DDE-B827-B6A8-31BF-5138AB987E7F}"/>
              </a:ext>
            </a:extLst>
          </p:cNvPr>
          <p:cNvSpPr/>
          <p:nvPr/>
        </p:nvSpPr>
        <p:spPr>
          <a:xfrm>
            <a:off x="10151154" y="5145870"/>
            <a:ext cx="246427" cy="21138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D45F909B-B762-A208-C6C4-1A2EA4714E5D}"/>
                  </a:ext>
                </a:extLst>
              </p:cNvPr>
              <p:cNvSpPr txBox="1"/>
              <p:nvPr/>
            </p:nvSpPr>
            <p:spPr>
              <a:xfrm>
                <a:off x="3073882" y="6092828"/>
                <a:ext cx="46769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D45F909B-B762-A208-C6C4-1A2EA4714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3882" y="6092828"/>
                <a:ext cx="467698" cy="338554"/>
              </a:xfrm>
              <a:prstGeom prst="rect">
                <a:avLst/>
              </a:prstGeom>
              <a:blipFill>
                <a:blip r:embed="rId10"/>
                <a:stretch>
                  <a:fillRect r="-31169"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1" name="TextBox 460">
                <a:extLst>
                  <a:ext uri="{FF2B5EF4-FFF2-40B4-BE49-F238E27FC236}">
                    <a16:creationId xmlns:a16="http://schemas.microsoft.com/office/drawing/2014/main" id="{5E3A3E79-83AA-035D-20F5-EDC14DAB9661}"/>
                  </a:ext>
                </a:extLst>
              </p:cNvPr>
              <p:cNvSpPr txBox="1"/>
              <p:nvPr/>
            </p:nvSpPr>
            <p:spPr>
              <a:xfrm>
                <a:off x="4375176" y="4484774"/>
                <a:ext cx="46769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61" name="TextBox 460">
                <a:extLst>
                  <a:ext uri="{FF2B5EF4-FFF2-40B4-BE49-F238E27FC236}">
                    <a16:creationId xmlns:a16="http://schemas.microsoft.com/office/drawing/2014/main" id="{5E3A3E79-83AA-035D-20F5-EDC14DAB9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176" y="4484774"/>
                <a:ext cx="467698" cy="338554"/>
              </a:xfrm>
              <a:prstGeom prst="rect">
                <a:avLst/>
              </a:prstGeom>
              <a:blipFill>
                <a:blip r:embed="rId11"/>
                <a:stretch>
                  <a:fillRect l="-1316" r="-18421"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9A96466A-3290-F6EC-6AE7-4D4E4E41BA37}"/>
                  </a:ext>
                </a:extLst>
              </p:cNvPr>
              <p:cNvSpPr txBox="1"/>
              <p:nvPr/>
            </p:nvSpPr>
            <p:spPr>
              <a:xfrm>
                <a:off x="4374244" y="6092828"/>
                <a:ext cx="46769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9A96466A-3290-F6EC-6AE7-4D4E4E41B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244" y="6092828"/>
                <a:ext cx="467698" cy="338554"/>
              </a:xfrm>
              <a:prstGeom prst="rect">
                <a:avLst/>
              </a:prstGeom>
              <a:blipFill>
                <a:blip r:embed="rId12"/>
                <a:stretch>
                  <a:fillRect l="-1316" r="-31579"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5" name="Oval 584">
            <a:extLst>
              <a:ext uri="{FF2B5EF4-FFF2-40B4-BE49-F238E27FC236}">
                <a16:creationId xmlns:a16="http://schemas.microsoft.com/office/drawing/2014/main" id="{860F9085-D85E-69CC-8A53-F9AF929B4B1A}"/>
              </a:ext>
            </a:extLst>
          </p:cNvPr>
          <p:cNvSpPr/>
          <p:nvPr/>
        </p:nvSpPr>
        <p:spPr>
          <a:xfrm>
            <a:off x="6271731" y="4976645"/>
            <a:ext cx="135052" cy="13505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88" name="Oval 587">
            <a:extLst>
              <a:ext uri="{FF2B5EF4-FFF2-40B4-BE49-F238E27FC236}">
                <a16:creationId xmlns:a16="http://schemas.microsoft.com/office/drawing/2014/main" id="{E9B89298-2A11-FF89-FA2A-837A8CAB329E}"/>
              </a:ext>
            </a:extLst>
          </p:cNvPr>
          <p:cNvSpPr/>
          <p:nvPr/>
        </p:nvSpPr>
        <p:spPr>
          <a:xfrm>
            <a:off x="6528257" y="5258477"/>
            <a:ext cx="135052" cy="13505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589" name="Oval 588">
            <a:extLst>
              <a:ext uri="{FF2B5EF4-FFF2-40B4-BE49-F238E27FC236}">
                <a16:creationId xmlns:a16="http://schemas.microsoft.com/office/drawing/2014/main" id="{033D388D-6F0A-FD45-874B-B0208A8C7132}"/>
              </a:ext>
            </a:extLst>
          </p:cNvPr>
          <p:cNvSpPr/>
          <p:nvPr/>
        </p:nvSpPr>
        <p:spPr>
          <a:xfrm>
            <a:off x="6864300" y="5258477"/>
            <a:ext cx="135052" cy="13505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590" name="Oval 589">
            <a:extLst>
              <a:ext uri="{FF2B5EF4-FFF2-40B4-BE49-F238E27FC236}">
                <a16:creationId xmlns:a16="http://schemas.microsoft.com/office/drawing/2014/main" id="{22B10EE5-4EED-5A97-FD2B-A7C5A171E28E}"/>
              </a:ext>
            </a:extLst>
          </p:cNvPr>
          <p:cNvSpPr/>
          <p:nvPr/>
        </p:nvSpPr>
        <p:spPr>
          <a:xfrm>
            <a:off x="6531276" y="4699614"/>
            <a:ext cx="135052" cy="13505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91" name="Oval 590">
            <a:extLst>
              <a:ext uri="{FF2B5EF4-FFF2-40B4-BE49-F238E27FC236}">
                <a16:creationId xmlns:a16="http://schemas.microsoft.com/office/drawing/2014/main" id="{5260528A-7670-77DC-757D-2656F0E64666}"/>
              </a:ext>
            </a:extLst>
          </p:cNvPr>
          <p:cNvSpPr/>
          <p:nvPr/>
        </p:nvSpPr>
        <p:spPr>
          <a:xfrm>
            <a:off x="6864301" y="4699614"/>
            <a:ext cx="135052" cy="13505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592" name="Oval 591">
            <a:extLst>
              <a:ext uri="{FF2B5EF4-FFF2-40B4-BE49-F238E27FC236}">
                <a16:creationId xmlns:a16="http://schemas.microsoft.com/office/drawing/2014/main" id="{CD7CB7EB-4F63-81CF-8372-D8EA26B322A6}"/>
              </a:ext>
            </a:extLst>
          </p:cNvPr>
          <p:cNvSpPr/>
          <p:nvPr/>
        </p:nvSpPr>
        <p:spPr>
          <a:xfrm>
            <a:off x="7123068" y="4972624"/>
            <a:ext cx="135052" cy="13505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7CC62F7-2DB0-6378-18C7-E03524C3ECF1}"/>
              </a:ext>
            </a:extLst>
          </p:cNvPr>
          <p:cNvSpPr/>
          <p:nvPr/>
        </p:nvSpPr>
        <p:spPr>
          <a:xfrm rot="5400000" flipV="1">
            <a:off x="2727840" y="6194875"/>
            <a:ext cx="158586" cy="15631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1AD8042-F73B-FC82-5BB8-953533E4C908}"/>
              </a:ext>
            </a:extLst>
          </p:cNvPr>
          <p:cNvSpPr/>
          <p:nvPr/>
        </p:nvSpPr>
        <p:spPr>
          <a:xfrm rot="5400000" flipV="1">
            <a:off x="2897997" y="6194875"/>
            <a:ext cx="158586" cy="15631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468878-F99D-5196-76F0-08C11B2F1AC2}"/>
              </a:ext>
            </a:extLst>
          </p:cNvPr>
          <p:cNvSpPr txBox="1"/>
          <p:nvPr/>
        </p:nvSpPr>
        <p:spPr>
          <a:xfrm>
            <a:off x="10454431" y="4992233"/>
            <a:ext cx="1696266" cy="4924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Further analysis (e.g., RSA, IPS)</a:t>
            </a:r>
          </a:p>
        </p:txBody>
      </p:sp>
    </p:spTree>
    <p:extLst>
      <p:ext uri="{BB962C8B-B14F-4D97-AF65-F5344CB8AC3E}">
        <p14:creationId xmlns:p14="http://schemas.microsoft.com/office/powerpoint/2010/main" val="3682895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F7494-8349-070E-6C6C-95BEA5BC2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55"/>
            <a:ext cx="10515600" cy="1325563"/>
          </a:xfrm>
        </p:spPr>
        <p:txBody>
          <a:bodyPr/>
          <a:lstStyle/>
          <a:p>
            <a:r>
              <a:rPr lang="en-US" dirty="0"/>
              <a:t>ROI-based visualization (RSA)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F20F16-4118-F234-9305-53E5D6BBD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850" y="1293317"/>
            <a:ext cx="4151640" cy="518954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CE983FC-9405-5A63-43E6-7DFA64FA4DFF}"/>
              </a:ext>
            </a:extLst>
          </p:cNvPr>
          <p:cNvSpPr txBox="1"/>
          <p:nvPr/>
        </p:nvSpPr>
        <p:spPr>
          <a:xfrm>
            <a:off x="51596" y="1552456"/>
            <a:ext cx="260905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Here, I plotted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 &lt; .01 uncorrected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symmetry is nice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these ROIs, one survives following Bonferroni correction for 52 tests (t = 3.4)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FDR correction does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not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yield more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7AA00F-DC40-D065-4D00-18E11DA0D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898" y="1293317"/>
            <a:ext cx="4642338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5BACF5-526A-F466-8AD7-70EBD7867C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898" y="4950917"/>
            <a:ext cx="4642338" cy="1828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BEFFFA-802F-2AFA-9982-23FF41094B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898" y="3122117"/>
            <a:ext cx="4642338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785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F7494-8349-070E-6C6C-95BEA5BC2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55"/>
            <a:ext cx="10515600" cy="1325563"/>
          </a:xfrm>
        </p:spPr>
        <p:txBody>
          <a:bodyPr/>
          <a:lstStyle/>
          <a:p>
            <a:r>
              <a:rPr lang="en-US" dirty="0"/>
              <a:t>ROI-based visualization (IPS)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45BB81-EF34-56D1-035A-2B7DA0BF1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503" y="1411249"/>
            <a:ext cx="4410222" cy="17373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2386C9-D99A-3A7A-802E-DD1D8D6BF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503" y="3148609"/>
            <a:ext cx="4410221" cy="17373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A905AE-340B-606B-D6A5-87EFDAC4C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503" y="4885969"/>
            <a:ext cx="4410221" cy="17373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179B267-9D4C-A7F0-1905-6277862C27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2100" y="1492250"/>
            <a:ext cx="3810000" cy="47625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677F5D0-469C-E291-4B2C-6696AB4A10BE}"/>
              </a:ext>
            </a:extLst>
          </p:cNvPr>
          <p:cNvSpPr txBox="1"/>
          <p:nvPr/>
        </p:nvSpPr>
        <p:spPr>
          <a:xfrm>
            <a:off x="51596" y="1552456"/>
            <a:ext cx="26090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Consistency with the L MFG result for RSA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However, this one is t = 2.6 and would not survive Bonferroni correction for 52 tests</a:t>
            </a:r>
          </a:p>
        </p:txBody>
      </p:sp>
    </p:spTree>
    <p:extLst>
      <p:ext uri="{BB962C8B-B14F-4D97-AF65-F5344CB8AC3E}">
        <p14:creationId xmlns:p14="http://schemas.microsoft.com/office/powerpoint/2010/main" val="396351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4DF7E-F4B7-AC80-B903-67B71E932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Sub-region pair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DBC83-52CC-F476-9BF1-BA288E514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7575" y="2107672"/>
            <a:ext cx="5426075" cy="1679575"/>
          </a:xfrm>
        </p:spPr>
        <p:txBody>
          <a:bodyPr/>
          <a:lstStyle/>
          <a:p>
            <a:r>
              <a:rPr lang="en-US" dirty="0"/>
              <a:t>RSA effects seen based on the connectivity between pairs of PFC gyri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E922A4-EC10-B47A-557E-B65FFB5F6F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159" r="9724" b="11393"/>
          <a:stretch/>
        </p:blipFill>
        <p:spPr>
          <a:xfrm>
            <a:off x="7112000" y="1780643"/>
            <a:ext cx="4981575" cy="42185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E884A0-F639-84DA-5A4F-A9612EB79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75" y="4016375"/>
            <a:ext cx="6286500" cy="2476500"/>
          </a:xfrm>
          <a:prstGeom prst="rect">
            <a:avLst/>
          </a:prstGeom>
          <a:ln w="38100">
            <a:solidFill>
              <a:srgbClr val="E5460A"/>
            </a:solidFill>
          </a:ln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E76B8A-FAA0-3C83-DA59-5153F2D9CE4E}"/>
              </a:ext>
            </a:extLst>
          </p:cNvPr>
          <p:cNvCxnSpPr>
            <a:cxnSpLocks/>
          </p:cNvCxnSpPr>
          <p:nvPr/>
        </p:nvCxnSpPr>
        <p:spPr>
          <a:xfrm>
            <a:off x="6924675" y="5075238"/>
            <a:ext cx="906463" cy="155575"/>
          </a:xfrm>
          <a:prstGeom prst="line">
            <a:avLst/>
          </a:prstGeom>
          <a:ln w="38100">
            <a:solidFill>
              <a:srgbClr val="E546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C0ABC4-AD4A-46D5-3368-4B27E2DC6CBE}"/>
              </a:ext>
            </a:extLst>
          </p:cNvPr>
          <p:cNvCxnSpPr>
            <a:cxnSpLocks/>
          </p:cNvCxnSpPr>
          <p:nvPr/>
        </p:nvCxnSpPr>
        <p:spPr>
          <a:xfrm flipV="1">
            <a:off x="6926792" y="5095344"/>
            <a:ext cx="73025" cy="44979"/>
          </a:xfrm>
          <a:prstGeom prst="line">
            <a:avLst/>
          </a:prstGeom>
          <a:ln w="38100">
            <a:solidFill>
              <a:srgbClr val="E546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4E895D99-9E30-EB61-C441-8CABE60ECFC6}"/>
              </a:ext>
            </a:extLst>
          </p:cNvPr>
          <p:cNvSpPr/>
          <p:nvPr/>
        </p:nvSpPr>
        <p:spPr>
          <a:xfrm>
            <a:off x="7720684" y="4988971"/>
            <a:ext cx="632170" cy="643839"/>
          </a:xfrm>
          <a:prstGeom prst="triangle">
            <a:avLst>
              <a:gd name="adj" fmla="val 10000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F4C9A1-3B90-27F6-0E12-F5420842010E}"/>
              </a:ext>
            </a:extLst>
          </p:cNvPr>
          <p:cNvSpPr txBox="1"/>
          <p:nvPr/>
        </p:nvSpPr>
        <p:spPr>
          <a:xfrm>
            <a:off x="8310725" y="529068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</p:spTree>
    <p:extLst>
      <p:ext uri="{BB962C8B-B14F-4D97-AF65-F5344CB8AC3E}">
        <p14:creationId xmlns:p14="http://schemas.microsoft.com/office/powerpoint/2010/main" val="4185243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A879-656E-48B4-B866-55CD7EBD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AE440-9768-4CF6-B3DB-71C4B16F9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9D854B-26FF-9364-8B29-E96811C76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8" y="1825625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752C86-5404-52B3-E8D9-45DA63746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385" y="1920875"/>
            <a:ext cx="6096000" cy="45720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4B4D4AD9-F518-CD61-0010-D19CD8173929}"/>
              </a:ext>
            </a:extLst>
          </p:cNvPr>
          <p:cNvSpPr/>
          <p:nvPr/>
        </p:nvSpPr>
        <p:spPr>
          <a:xfrm>
            <a:off x="1504949" y="4475163"/>
            <a:ext cx="1671638" cy="167163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08EA2D1-89AE-466D-B723-A9647754C414}"/>
              </a:ext>
            </a:extLst>
          </p:cNvPr>
          <p:cNvSpPr/>
          <p:nvPr/>
        </p:nvSpPr>
        <p:spPr>
          <a:xfrm>
            <a:off x="1504949" y="3305175"/>
            <a:ext cx="1671638" cy="167163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379C35-5999-251B-28ED-857703CA8FF2}"/>
              </a:ext>
            </a:extLst>
          </p:cNvPr>
          <p:cNvSpPr txBox="1"/>
          <p:nvPr/>
        </p:nvSpPr>
        <p:spPr>
          <a:xfrm>
            <a:off x="1504949" y="6228603"/>
            <a:ext cx="4029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Differences like this aren’t accounted for by dropping within-run</a:t>
            </a:r>
          </a:p>
        </p:txBody>
      </p:sp>
    </p:spTree>
    <p:extLst>
      <p:ext uri="{BB962C8B-B14F-4D97-AF65-F5344CB8AC3E}">
        <p14:creationId xmlns:p14="http://schemas.microsoft.com/office/powerpoint/2010/main" val="1226400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4AD29-9C6D-0850-2D97-21CF1053B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02496-9D15-F7D4-E705-096987931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59400" cy="4351338"/>
          </a:xfrm>
        </p:spPr>
        <p:txBody>
          <a:bodyPr/>
          <a:lstStyle/>
          <a:p>
            <a:r>
              <a:rPr lang="en-US" dirty="0"/>
              <a:t>Spearman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3463B0-CF03-D7B4-B525-E605F3DD4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441" y="296333"/>
            <a:ext cx="6265334" cy="62653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D7F60D-4343-E443-45E3-87D500D93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62068" y="0"/>
            <a:ext cx="6858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F207B27-AE3E-4C0F-5868-A54DC2D1867A}"/>
              </a:ext>
            </a:extLst>
          </p:cNvPr>
          <p:cNvSpPr/>
          <p:nvPr/>
        </p:nvSpPr>
        <p:spPr>
          <a:xfrm>
            <a:off x="5643806" y="4766584"/>
            <a:ext cx="699038" cy="67654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344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426CD-1222-36B2-0636-1E1EBC8BB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F1B99-176B-1323-47E0-A6EA76783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CAB14A-0F9A-5910-3800-8C6DFD8BB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556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281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E3A05-35A4-A977-657E-C07B28098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772E6-D5AB-FEE5-D521-3BF0388CC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9444" cy="43513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94CAFE-5B07-E78F-E185-0640AC668DA5}"/>
              </a:ext>
            </a:extLst>
          </p:cNvPr>
          <p:cNvSpPr txBox="1"/>
          <p:nvPr/>
        </p:nvSpPr>
        <p:spPr>
          <a:xfrm>
            <a:off x="7584945" y="3224330"/>
            <a:ext cx="386198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Only one edge: PCL_L, PCL_L</a:t>
            </a:r>
          </a:p>
          <a:p>
            <a:r>
              <a:rPr lang="en-US" dirty="0"/>
              <a:t>Only one edge: PCL_R, PCL_R</a:t>
            </a:r>
          </a:p>
          <a:p>
            <a:r>
              <a:rPr lang="en-US" dirty="0"/>
              <a:t>Only one edge: </a:t>
            </a:r>
            <a:r>
              <a:rPr lang="en-US" dirty="0" err="1"/>
              <a:t>pSTS_L</a:t>
            </a:r>
            <a:r>
              <a:rPr lang="en-US" dirty="0"/>
              <a:t>, </a:t>
            </a:r>
            <a:r>
              <a:rPr lang="en-US" dirty="0" err="1"/>
              <a:t>pSTS_L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pSTS_R</a:t>
            </a:r>
            <a:r>
              <a:rPr lang="en-US" dirty="0"/>
              <a:t>, </a:t>
            </a:r>
            <a:r>
              <a:rPr lang="en-US" dirty="0" err="1"/>
              <a:t>pSTS_R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sOcG_L</a:t>
            </a:r>
            <a:r>
              <a:rPr lang="en-US" dirty="0"/>
              <a:t>, </a:t>
            </a:r>
            <a:r>
              <a:rPr lang="en-US" dirty="0" err="1"/>
              <a:t>sOcG_L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sOcG_R</a:t>
            </a:r>
            <a:r>
              <a:rPr lang="en-US" dirty="0"/>
              <a:t>, </a:t>
            </a:r>
            <a:r>
              <a:rPr lang="en-US" dirty="0" err="1"/>
              <a:t>sOcG_R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Amyg_L</a:t>
            </a:r>
            <a:r>
              <a:rPr lang="en-US" dirty="0"/>
              <a:t>, </a:t>
            </a:r>
            <a:r>
              <a:rPr lang="en-US" dirty="0" err="1"/>
              <a:t>Amyg_L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Amyg_R</a:t>
            </a:r>
            <a:r>
              <a:rPr lang="en-US" dirty="0"/>
              <a:t>, </a:t>
            </a:r>
            <a:r>
              <a:rPr lang="en-US" dirty="0" err="1"/>
              <a:t>Amyg_R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Hipp_L</a:t>
            </a:r>
            <a:r>
              <a:rPr lang="en-US" dirty="0"/>
              <a:t>, </a:t>
            </a:r>
            <a:r>
              <a:rPr lang="en-US" dirty="0" err="1"/>
              <a:t>Hipp_L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Hipp_R</a:t>
            </a:r>
            <a:r>
              <a:rPr lang="en-US" dirty="0"/>
              <a:t>, </a:t>
            </a:r>
            <a:r>
              <a:rPr lang="en-US" dirty="0" err="1"/>
              <a:t>Hipp_R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803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5BBD7-A7B4-813E-37A4-57C722906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5D86E-8457-36A2-CB46-B9721045D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482F73-9F6E-8215-E6A3-E349A4E6D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667" y="441325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687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6FC1A-47A1-AB69-075D-B7655F00D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38E41-519A-7884-41CE-170B03D21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2FBB7B-0656-A6FF-0926-09157EAF3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1219200"/>
            <a:ext cx="3810000" cy="4762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FC27DB-7AFB-FDC4-B468-AB9ABF810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356" y="1546226"/>
            <a:ext cx="3810000" cy="4762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5A8571-003C-E43A-7373-AE51EDA38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156" y="1047750"/>
            <a:ext cx="3810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762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ECF4C-F7DD-093C-9BC3-422B6B267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01C77-61E8-0A28-05B2-5E6531958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024AD2-906C-0260-44EC-4C0623C0E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047750"/>
            <a:ext cx="3810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257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4140</TotalTime>
  <Words>637</Words>
  <Application>Microsoft Office PowerPoint</Application>
  <PresentationFormat>Widescreen</PresentationFormat>
  <Paragraphs>104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 Math</vt:lpstr>
      <vt:lpstr>Courier New</vt:lpstr>
      <vt:lpstr>Wingdings</vt:lpstr>
      <vt:lpstr>Office Theme</vt:lpstr>
      <vt:lpstr>PowerPoint Presentation</vt:lpstr>
      <vt:lpstr>Oft speculated rarely tested</vt:lpstr>
      <vt:lpstr>Traditional methodology</vt:lpstr>
      <vt:lpstr>Traditional RSA</vt:lpstr>
      <vt:lpstr>Measuring single-trial connectivity</vt:lpstr>
      <vt:lpstr>ROI-based visualization (RSA)</vt:lpstr>
      <vt:lpstr>ROI-based visualization (IPS)</vt:lpstr>
      <vt:lpstr>Sub-region pair visualization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13</cp:revision>
  <dcterms:created xsi:type="dcterms:W3CDTF">2023-11-27T22:20:22Z</dcterms:created>
  <dcterms:modified xsi:type="dcterms:W3CDTF">2023-12-02T00:48:50Z</dcterms:modified>
</cp:coreProperties>
</file>