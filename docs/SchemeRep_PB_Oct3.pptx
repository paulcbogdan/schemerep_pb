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64" r:id="rId3"/>
    <p:sldId id="312" r:id="rId4"/>
    <p:sldId id="313" r:id="rId5"/>
    <p:sldId id="302" r:id="rId6"/>
    <p:sldId id="263" r:id="rId7"/>
    <p:sldId id="304" r:id="rId8"/>
    <p:sldId id="280" r:id="rId9"/>
    <p:sldId id="306" r:id="rId10"/>
    <p:sldId id="292" r:id="rId11"/>
    <p:sldId id="310" r:id="rId12"/>
    <p:sldId id="309" r:id="rId13"/>
    <p:sldId id="293" r:id="rId14"/>
    <p:sldId id="321" r:id="rId15"/>
    <p:sldId id="323" r:id="rId16"/>
    <p:sldId id="322" r:id="rId17"/>
    <p:sldId id="291" r:id="rId18"/>
    <p:sldId id="303" r:id="rId19"/>
    <p:sldId id="297" r:id="rId20"/>
    <p:sldId id="279" r:id="rId21"/>
    <p:sldId id="324" r:id="rId22"/>
    <p:sldId id="307" r:id="rId23"/>
    <p:sldId id="290" r:id="rId24"/>
    <p:sldId id="284" r:id="rId25"/>
    <p:sldId id="314" r:id="rId26"/>
    <p:sldId id="311" r:id="rId27"/>
    <p:sldId id="325" r:id="rId28"/>
    <p:sldId id="319" r:id="rId29"/>
    <p:sldId id="320" r:id="rId30"/>
    <p:sldId id="316" r:id="rId31"/>
    <p:sldId id="318" r:id="rId32"/>
    <p:sldId id="326" r:id="rId33"/>
    <p:sldId id="327" r:id="rId34"/>
    <p:sldId id="331" r:id="rId35"/>
    <p:sldId id="328" r:id="rId36"/>
    <p:sldId id="329" r:id="rId37"/>
    <p:sldId id="333" r:id="rId38"/>
    <p:sldId id="336" r:id="rId39"/>
    <p:sldId id="332" r:id="rId40"/>
    <p:sldId id="335" r:id="rId41"/>
    <p:sldId id="334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7C80"/>
    <a:srgbClr val="804710"/>
    <a:srgbClr val="00FFCC"/>
    <a:srgbClr val="D2E935"/>
    <a:srgbClr val="452A4F"/>
    <a:srgbClr val="FE962B"/>
    <a:srgbClr val="33CC33"/>
    <a:srgbClr val="FDA631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2" autoAdjust="0"/>
    <p:restoredTop sz="83292" autoAdjust="0"/>
  </p:normalViewPr>
  <p:slideViewPr>
    <p:cSldViewPr snapToGrid="0">
      <p:cViewPr>
        <p:scale>
          <a:sx n="66" d="100"/>
          <a:sy n="66" d="100"/>
        </p:scale>
        <p:origin x="107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98493-CA63-4D0A-8042-ED8AF27DCFF3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3E675-13CA-4196-84E5-E684757D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21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Prediction error is not just an “outcome” of processing information but rather is a computational mechanism that influences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Example of perceptional prediction error: car honking feels louder in a classroom than on a busy street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Meta analysis: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Corlett, P. R.,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Mollick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 A.,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Kober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H. (2022). Meta-analysis of human prediction error for incentives, perception, cognition, and action.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Neuropsychopharmacology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47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(7), 1339-1349.</a:t>
            </a:r>
          </a:p>
          <a:p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Perception results: Iglesias, S.,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Mathys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C.,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Brodersen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K. H., Kasper, L.,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Piccirelli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den Ouden, H. E., &amp; Stephan, K. E. (2013). Hierarchical prediction errors in midbrain and basal forebrain during sensory learning.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80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519-530.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*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dlPFC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result (IFG and MFG)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03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32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learned about how to run Word2Vec + DNNs because </a:t>
            </a:r>
            <a:r>
              <a:rPr lang="en-US" dirty="0" err="1"/>
              <a:t>Lifu</a:t>
            </a:r>
            <a:r>
              <a:rPr lang="en-US" dirty="0"/>
              <a:t> didn’t yet try applying these to the scene images</a:t>
            </a:r>
          </a:p>
          <a:p>
            <a:pPr lvl="1"/>
            <a:r>
              <a:rPr lang="en-US" dirty="0"/>
              <a:t>However, I didn’t do the word2vec properly, so I don’t provide results on that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49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Notably organized into:</a:t>
            </a:r>
          </a:p>
          <a:p>
            <a:pPr lvl="1"/>
            <a:r>
              <a:rPr lang="en-US" dirty="0"/>
              <a:t>EVC</a:t>
            </a:r>
          </a:p>
          <a:p>
            <a:pPr lvl="1"/>
            <a:r>
              <a:rPr lang="en-US" dirty="0"/>
              <a:t>LOC</a:t>
            </a:r>
          </a:p>
          <a:p>
            <a:pPr lvl="1"/>
            <a:r>
              <a:rPr lang="en-US" dirty="0" err="1"/>
              <a:t>FuG</a:t>
            </a:r>
            <a:endParaRPr lang="en-US" dirty="0"/>
          </a:p>
          <a:p>
            <a:pPr lvl="1"/>
            <a:r>
              <a:rPr lang="en-US" dirty="0"/>
              <a:t>ATL</a:t>
            </a:r>
          </a:p>
          <a:p>
            <a:pPr lvl="1"/>
            <a:r>
              <a:rPr lang="en-US" dirty="0"/>
              <a:t>Hippocampus</a:t>
            </a:r>
          </a:p>
          <a:p>
            <a:pPr lvl="1"/>
            <a:r>
              <a:rPr lang="en-US" dirty="0"/>
              <a:t>IFG</a:t>
            </a:r>
          </a:p>
          <a:p>
            <a:pPr lvl="1"/>
            <a:r>
              <a:rPr lang="en-US" dirty="0"/>
              <a:t>MFG</a:t>
            </a:r>
          </a:p>
          <a:p>
            <a:pPr lvl="1"/>
            <a:r>
              <a:rPr lang="en-US" dirty="0"/>
              <a:t>SFG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93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5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0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34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hoc tests on bilateral SFG, for the eight </a:t>
            </a:r>
            <a:r>
              <a:rPr lang="en-US" dirty="0" err="1"/>
              <a:t>dmPFC</a:t>
            </a:r>
            <a:r>
              <a:rPr lang="en-US" dirty="0"/>
              <a:t> ROIs, t = 4.14. For the six </a:t>
            </a:r>
            <a:r>
              <a:rPr lang="en-US" dirty="0" err="1"/>
              <a:t>dlPFC</a:t>
            </a:r>
            <a:r>
              <a:rPr lang="en-US" dirty="0"/>
              <a:t> ROIs, t = 2.94. SFG bilateral altogether is 4.17.</a:t>
            </a:r>
          </a:p>
          <a:p>
            <a:r>
              <a:rPr lang="en-US" dirty="0" err="1"/>
              <a:t>mPFC</a:t>
            </a:r>
            <a:r>
              <a:rPr lang="en-US" dirty="0"/>
              <a:t> overall (including some orbital and CG, yields 3.85. Excluding CG, we get 3.6.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63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57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14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amygdala also shows an interesting pattern</a:t>
            </a:r>
          </a:p>
          <a:p>
            <a:pPr lvl="1"/>
            <a:r>
              <a:rPr lang="en-US" dirty="0"/>
              <a:t>Stronger representation in the </a:t>
            </a:r>
            <a:r>
              <a:rPr lang="en-US" dirty="0" err="1"/>
              <a:t>amgydala</a:t>
            </a:r>
            <a:r>
              <a:rPr lang="en-US" dirty="0"/>
              <a:t> is linked to decreased connectivity with everything else</a:t>
            </a:r>
          </a:p>
          <a:p>
            <a:pPr lvl="1"/>
            <a:r>
              <a:rPr lang="en-US" dirty="0"/>
              <a:t>Beyond the present focus?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18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758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5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94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/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84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Paul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10/3/2023</a:t>
            </a:r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A4B5-A432-541F-65E4-23FD52947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200"/>
            <a:ext cx="10515600" cy="974558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C6084-ED24-0F80-EB4D-A00B47A1B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22"/>
            <a:ext cx="10689000" cy="5391278"/>
          </a:xfrm>
        </p:spPr>
        <p:txBody>
          <a:bodyPr>
            <a:normAutofit/>
          </a:bodyPr>
          <a:lstStyle/>
          <a:p>
            <a:r>
              <a:rPr lang="en-US" dirty="0"/>
              <a:t>Predictive coding theory argues that all information is processed in terms of prediction errors</a:t>
            </a:r>
          </a:p>
          <a:p>
            <a:pPr lvl="1"/>
            <a:r>
              <a:rPr lang="en-US" dirty="0"/>
              <a:t>Prediction error is a computational mechanism used across the brain</a:t>
            </a:r>
          </a:p>
          <a:p>
            <a:pPr lvl="2"/>
            <a:r>
              <a:rPr lang="en-US" dirty="0"/>
              <a:t>Goes well beyond early theories that </a:t>
            </a:r>
            <a:r>
              <a:rPr lang="en-US" i="1" dirty="0"/>
              <a:t>reward prediction error </a:t>
            </a:r>
            <a:r>
              <a:rPr lang="en-US" dirty="0"/>
              <a:t>underlies behavioral learning and ventral striatum processing</a:t>
            </a:r>
          </a:p>
          <a:p>
            <a:pPr lvl="1"/>
            <a:r>
              <a:rPr lang="en-US" i="1" dirty="0"/>
              <a:t>Perceptual prediction error</a:t>
            </a:r>
          </a:p>
          <a:p>
            <a:pPr lvl="2"/>
            <a:r>
              <a:rPr lang="en-US" dirty="0"/>
              <a:t>Perception depends on the perceived likelihood of encountering a stimulus</a:t>
            </a:r>
          </a:p>
          <a:p>
            <a:pPr lvl="1"/>
            <a:r>
              <a:rPr lang="en-US" i="1" dirty="0"/>
              <a:t>Cognitive prediction error</a:t>
            </a:r>
          </a:p>
          <a:p>
            <a:pPr lvl="2"/>
            <a:r>
              <a:rPr lang="en-US" dirty="0"/>
              <a:t>Information is processed in terms of prior beliefs and updating</a:t>
            </a:r>
          </a:p>
          <a:p>
            <a:r>
              <a:rPr lang="en-US" dirty="0"/>
              <a:t>Predictive coding has been studied with univariate analyses</a:t>
            </a:r>
          </a:p>
          <a:p>
            <a:pPr lvl="1"/>
            <a:r>
              <a:rPr lang="en-US" dirty="0"/>
              <a:t>Perceptual prediction error correlated with activity in both cortical and subcortical regions</a:t>
            </a:r>
          </a:p>
        </p:txBody>
      </p:sp>
    </p:spTree>
    <p:extLst>
      <p:ext uri="{BB962C8B-B14F-4D97-AF65-F5344CB8AC3E}">
        <p14:creationId xmlns:p14="http://schemas.microsoft.com/office/powerpoint/2010/main" val="239747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2C74-7939-7509-0F4F-EB79CECC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525"/>
            <a:ext cx="10515600" cy="1325563"/>
          </a:xfrm>
        </p:spPr>
        <p:txBody>
          <a:bodyPr/>
          <a:lstStyle/>
          <a:p>
            <a:r>
              <a:rPr lang="en-US" dirty="0"/>
              <a:t>Primary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DC41D-33FB-7658-8B99-25CE7E0DA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889"/>
            <a:ext cx="10515600" cy="4960586"/>
          </a:xfrm>
        </p:spPr>
        <p:txBody>
          <a:bodyPr>
            <a:normAutofit/>
          </a:bodyPr>
          <a:lstStyle/>
          <a:p>
            <a:r>
              <a:rPr lang="en-US" dirty="0"/>
              <a:t>Are stimuli </a:t>
            </a:r>
            <a:r>
              <a:rPr lang="en-US" i="1" dirty="0"/>
              <a:t>represented </a:t>
            </a:r>
            <a:r>
              <a:rPr lang="en-US" dirty="0"/>
              <a:t>as prediction errors?</a:t>
            </a:r>
          </a:p>
          <a:p>
            <a:pPr lvl="1"/>
            <a:r>
              <a:rPr lang="en-US" dirty="0"/>
              <a:t>No study has genuinely investigated this question </a:t>
            </a:r>
          </a:p>
          <a:p>
            <a:pPr lvl="2"/>
            <a:r>
              <a:rPr lang="en-US" dirty="0"/>
              <a:t>“Genuinely” = beyond univariate tests</a:t>
            </a:r>
          </a:p>
          <a:p>
            <a:pPr lvl="1"/>
            <a:r>
              <a:rPr lang="en-US" dirty="0"/>
              <a:t>Yet, this idea is a central element of predictive coding theory</a:t>
            </a:r>
          </a:p>
          <a:p>
            <a:pPr lvl="1"/>
            <a:r>
              <a:rPr lang="en-US" dirty="0"/>
              <a:t>This question gets at a critical point of contention</a:t>
            </a:r>
          </a:p>
          <a:p>
            <a:pPr lvl="2"/>
            <a:r>
              <a:rPr lang="en-US" dirty="0"/>
              <a:t>Opponents of the theory accept that prediction error plays some role in the brain (e.g., in the striatum) but push back against these bolder higher-order claims</a:t>
            </a:r>
          </a:p>
          <a:p>
            <a:r>
              <a:rPr lang="en-US" dirty="0"/>
              <a:t>Multivariate analyses of representations are strong tests of predictive coding theory</a:t>
            </a:r>
          </a:p>
          <a:p>
            <a:pPr lvl="1"/>
            <a:r>
              <a:rPr lang="en-US" dirty="0"/>
              <a:t>Other neural theories, supported by univariate results, broke down when tested via multivariate methods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21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60B6-D308-6B57-292E-427E3DA4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Present Study and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83511-B5DF-1D7E-BAA1-FED76B024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800" y="1395488"/>
            <a:ext cx="10941000" cy="492611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Identify areas that make </a:t>
            </a:r>
            <a:r>
              <a:rPr lang="en-US" i="1" dirty="0"/>
              <a:t>predictions</a:t>
            </a:r>
          </a:p>
          <a:p>
            <a:pPr lvl="1"/>
            <a:r>
              <a:rPr lang="en-US" dirty="0"/>
              <a:t>Based on schema (scene) presentation, which regions represent the schema?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Among the regions representing the scene, does any area represent the object as a </a:t>
            </a:r>
            <a:r>
              <a:rPr lang="en-US" i="1" dirty="0"/>
              <a:t>prediction error </a:t>
            </a:r>
            <a:r>
              <a:rPr lang="en-US" dirty="0"/>
              <a:t>relative to the scene?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Is prediction error used as a computational mechanism?</a:t>
            </a:r>
          </a:p>
          <a:p>
            <a:pPr lvl="1"/>
            <a:r>
              <a:rPr lang="en-US" dirty="0"/>
              <a:t>Specifically, is object information encoded as a prediction error?</a:t>
            </a:r>
          </a:p>
          <a:p>
            <a:pPr lvl="2"/>
            <a:r>
              <a:rPr lang="en-US" dirty="0"/>
              <a:t>Does stronger prediction-error representation predict subsequent memory?</a:t>
            </a:r>
          </a:p>
          <a:p>
            <a:pPr lvl="2"/>
            <a:r>
              <a:rPr lang="en-US" dirty="0"/>
              <a:t>Are there signatures of prediction error during retrieval, even when the original scheme is no longer shown?</a:t>
            </a:r>
          </a:p>
        </p:txBody>
      </p:sp>
    </p:spTree>
    <p:extLst>
      <p:ext uri="{BB962C8B-B14F-4D97-AF65-F5344CB8AC3E}">
        <p14:creationId xmlns:p14="http://schemas.microsoft.com/office/powerpoint/2010/main" val="427520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319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02D1-35A2-0961-5D36-E0E9AA71E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119"/>
            <a:ext cx="10515600" cy="1325563"/>
          </a:xfrm>
        </p:spPr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9C058-A51C-1556-7D96-EBE2AAA36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267" y="1766262"/>
            <a:ext cx="4991100" cy="2564718"/>
          </a:xfrm>
        </p:spPr>
        <p:txBody>
          <a:bodyPr>
            <a:normAutofit/>
          </a:bodyPr>
          <a:lstStyle/>
          <a:p>
            <a:r>
              <a:rPr lang="en-US" dirty="0"/>
              <a:t>I looked at the encoding data for </a:t>
            </a:r>
            <a:r>
              <a:rPr lang="en-US" dirty="0" err="1"/>
              <a:t>SchemeRep</a:t>
            </a:r>
            <a:endParaRPr lang="en-US" dirty="0"/>
          </a:p>
          <a:p>
            <a:pPr lvl="1"/>
            <a:r>
              <a:rPr lang="en-US" dirty="0"/>
              <a:t>Object presentation screen</a:t>
            </a:r>
          </a:p>
          <a:p>
            <a:pPr lvl="1"/>
            <a:r>
              <a:rPr lang="en-US" dirty="0"/>
              <a:t>Scene presentation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52B615-26EA-1DBA-FEFA-63AADAC28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67780"/>
            <a:ext cx="5929487" cy="38342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D0B90D-9868-3B52-205D-0F4752E87869}"/>
              </a:ext>
            </a:extLst>
          </p:cNvPr>
          <p:cNvSpPr txBox="1"/>
          <p:nvPr/>
        </p:nvSpPr>
        <p:spPr>
          <a:xfrm>
            <a:off x="8072010" y="56017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23DE0-4791-3361-89F0-78F8E84800FD}"/>
              </a:ext>
            </a:extLst>
          </p:cNvPr>
          <p:cNvSpPr txBox="1"/>
          <p:nvPr/>
        </p:nvSpPr>
        <p:spPr>
          <a:xfrm>
            <a:off x="8674640" y="5601737"/>
            <a:ext cx="620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jitter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B9B45-5711-97E7-7B90-45543FA7075F}"/>
              </a:ext>
            </a:extLst>
          </p:cNvPr>
          <p:cNvSpPr txBox="1"/>
          <p:nvPr/>
        </p:nvSpPr>
        <p:spPr>
          <a:xfrm>
            <a:off x="9405510" y="56017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 s</a:t>
            </a:r>
          </a:p>
        </p:txBody>
      </p:sp>
    </p:spTree>
    <p:extLst>
      <p:ext uri="{BB962C8B-B14F-4D97-AF65-F5344CB8AC3E}">
        <p14:creationId xmlns:p14="http://schemas.microsoft.com/office/powerpoint/2010/main" val="93052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954212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Presentation of scene and object. Rated how likely one is to find the object in the scene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3288F-3618-88F3-339F-3554A9A6B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49" y="497367"/>
            <a:ext cx="5054600" cy="1325563"/>
          </a:xfrm>
        </p:spPr>
        <p:txBody>
          <a:bodyPr/>
          <a:lstStyle/>
          <a:p>
            <a:r>
              <a:rPr lang="en-US" dirty="0" err="1"/>
              <a:t>Brainnetome</a:t>
            </a:r>
            <a:r>
              <a:rPr lang="en-US" dirty="0"/>
              <a:t> atlas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8E55C-1B9D-9B47-EDE2-4C945C7A4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549" y="2035702"/>
            <a:ext cx="4216400" cy="2416811"/>
          </a:xfrm>
        </p:spPr>
        <p:txBody>
          <a:bodyPr>
            <a:normAutofit/>
          </a:bodyPr>
          <a:lstStyle/>
          <a:p>
            <a:r>
              <a:rPr lang="en-US" dirty="0"/>
              <a:t>Used by </a:t>
            </a:r>
            <a:r>
              <a:rPr lang="en-US" dirty="0" err="1"/>
              <a:t>Lifu</a:t>
            </a:r>
            <a:r>
              <a:rPr lang="en-US" dirty="0"/>
              <a:t> and Shenyang</a:t>
            </a:r>
          </a:p>
          <a:p>
            <a:r>
              <a:rPr lang="en-US" dirty="0"/>
              <a:t>246 ROIs</a:t>
            </a:r>
          </a:p>
          <a:p>
            <a:pPr lvl="1"/>
            <a:r>
              <a:rPr lang="en-US" dirty="0"/>
              <a:t>Cortical and subcortical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31BC8-BAB9-F6A9-85AB-86C38A9B4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54320"/>
            <a:ext cx="5892798" cy="594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6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71DA3CBB-0E70-024A-EBC2-5261289C45C8}"/>
              </a:ext>
            </a:extLst>
          </p:cNvPr>
          <p:cNvSpPr/>
          <p:nvPr/>
        </p:nvSpPr>
        <p:spPr>
          <a:xfrm>
            <a:off x="499026" y="1280761"/>
            <a:ext cx="5237310" cy="30003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64"/>
            <a:ext cx="10515600" cy="673309"/>
          </a:xfrm>
        </p:spPr>
        <p:txBody>
          <a:bodyPr>
            <a:normAutofit fontScale="90000"/>
          </a:bodyPr>
          <a:lstStyle/>
          <a:p>
            <a:r>
              <a:rPr lang="en-US" dirty="0"/>
              <a:t>Stimulus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787" y="969487"/>
            <a:ext cx="5489285" cy="5472839"/>
          </a:xfrm>
        </p:spPr>
        <p:txBody>
          <a:bodyPr>
            <a:normAutofit/>
          </a:bodyPr>
          <a:lstStyle/>
          <a:p>
            <a:r>
              <a:rPr lang="en-US" dirty="0"/>
              <a:t>Presentation of the scheme serves to inform the </a:t>
            </a:r>
            <a:r>
              <a:rPr lang="en-US" i="1" dirty="0"/>
              <a:t>prediction</a:t>
            </a:r>
          </a:p>
          <a:p>
            <a:pPr lvl="1"/>
            <a:r>
              <a:rPr lang="en-US" dirty="0"/>
              <a:t>RSA: scene vector x scene presentation fMRI</a:t>
            </a:r>
          </a:p>
          <a:p>
            <a:r>
              <a:rPr lang="en-US" dirty="0"/>
              <a:t>Presentation of the object may elicit a </a:t>
            </a:r>
            <a:r>
              <a:rPr lang="en-US" i="1" dirty="0"/>
              <a:t>prediction error</a:t>
            </a:r>
            <a:endParaRPr lang="en-US" dirty="0"/>
          </a:p>
          <a:p>
            <a:pPr lvl="1"/>
            <a:r>
              <a:rPr lang="en-US" dirty="0"/>
              <a:t>RSA with the absolute-difference vector x object presentation fMRI</a:t>
            </a:r>
          </a:p>
          <a:p>
            <a:pPr lvl="1"/>
            <a:r>
              <a:rPr lang="en-US" dirty="0"/>
              <a:t>Confound risk:</a:t>
            </a:r>
          </a:p>
          <a:p>
            <a:pPr lvl="2"/>
            <a:r>
              <a:rPr lang="en-US" dirty="0"/>
              <a:t>Driven by solely the object</a:t>
            </a:r>
          </a:p>
          <a:p>
            <a:pPr lvl="2"/>
            <a:r>
              <a:rPr lang="en-US" dirty="0"/>
              <a:t>Driven by solely the scene</a:t>
            </a:r>
          </a:p>
          <a:p>
            <a:pPr lvl="1"/>
            <a:r>
              <a:rPr lang="en-US" dirty="0"/>
              <a:t>Hence:</a:t>
            </a:r>
          </a:p>
          <a:p>
            <a:pPr lvl="2"/>
            <a:r>
              <a:rPr lang="en-US" dirty="0"/>
              <a:t>Regress out object RSA z-score and scene RSA z-score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9168C-F2CD-A5A6-41BF-C317088DB0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87" t="54667" r="53475" b="14256"/>
          <a:stretch/>
        </p:blipFill>
        <p:spPr>
          <a:xfrm>
            <a:off x="768702" y="1444863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FCB511-91FB-CF26-1142-F039262BBE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552" t="54668" r="29609" b="14254"/>
          <a:stretch/>
        </p:blipFill>
        <p:spPr>
          <a:xfrm>
            <a:off x="2520748" y="1444863"/>
            <a:ext cx="1176338" cy="1191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C2078-DCA7-B9B3-C174-D7A5D94AA104}"/>
              </a:ext>
            </a:extLst>
          </p:cNvPr>
          <p:cNvSpPr/>
          <p:nvPr/>
        </p:nvSpPr>
        <p:spPr>
          <a:xfrm>
            <a:off x="1274865" y="2747159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EFDD6-0BFF-9672-8882-CBBD22ED4191}"/>
              </a:ext>
            </a:extLst>
          </p:cNvPr>
          <p:cNvSpPr/>
          <p:nvPr/>
        </p:nvSpPr>
        <p:spPr>
          <a:xfrm>
            <a:off x="1274865" y="2952826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870F9-A353-2443-E7B7-5BA5B0C76095}"/>
              </a:ext>
            </a:extLst>
          </p:cNvPr>
          <p:cNvSpPr/>
          <p:nvPr/>
        </p:nvSpPr>
        <p:spPr>
          <a:xfrm>
            <a:off x="1274976" y="3158493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0FF4F-E367-2D21-4C5D-8F0913820890}"/>
              </a:ext>
            </a:extLst>
          </p:cNvPr>
          <p:cNvSpPr/>
          <p:nvPr/>
        </p:nvSpPr>
        <p:spPr>
          <a:xfrm>
            <a:off x="1273776" y="3364160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112E56-16E2-217E-858B-BB5B67C9A253}"/>
              </a:ext>
            </a:extLst>
          </p:cNvPr>
          <p:cNvSpPr/>
          <p:nvPr/>
        </p:nvSpPr>
        <p:spPr>
          <a:xfrm>
            <a:off x="127413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959E1-73DA-C99B-710E-D0109BD36B4F}"/>
              </a:ext>
            </a:extLst>
          </p:cNvPr>
          <p:cNvSpPr/>
          <p:nvPr/>
        </p:nvSpPr>
        <p:spPr>
          <a:xfrm>
            <a:off x="1275715" y="3775494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F82F9-B65A-84C0-6163-5AD1F8432D52}"/>
              </a:ext>
            </a:extLst>
          </p:cNvPr>
          <p:cNvSpPr/>
          <p:nvPr/>
        </p:nvSpPr>
        <p:spPr>
          <a:xfrm>
            <a:off x="3027465" y="2747159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EC8558-E951-512C-DF4A-B3680DE79094}"/>
              </a:ext>
            </a:extLst>
          </p:cNvPr>
          <p:cNvSpPr/>
          <p:nvPr/>
        </p:nvSpPr>
        <p:spPr>
          <a:xfrm>
            <a:off x="3027465" y="2952826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CA5F9D-2D7C-7A55-06B5-FBFD1C921390}"/>
              </a:ext>
            </a:extLst>
          </p:cNvPr>
          <p:cNvSpPr/>
          <p:nvPr/>
        </p:nvSpPr>
        <p:spPr>
          <a:xfrm>
            <a:off x="3027576" y="3158493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CFB69B-D5CC-0859-38FE-A068FB9EE06A}"/>
              </a:ext>
            </a:extLst>
          </p:cNvPr>
          <p:cNvSpPr/>
          <p:nvPr/>
        </p:nvSpPr>
        <p:spPr>
          <a:xfrm>
            <a:off x="3026376" y="3364160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46FE7A-2A9D-BE6D-1F65-1710912C1E19}"/>
              </a:ext>
            </a:extLst>
          </p:cNvPr>
          <p:cNvSpPr/>
          <p:nvPr/>
        </p:nvSpPr>
        <p:spPr>
          <a:xfrm>
            <a:off x="3026737" y="3569827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A86753-EA15-6762-D8F3-E8336F7B7C89}"/>
              </a:ext>
            </a:extLst>
          </p:cNvPr>
          <p:cNvSpPr/>
          <p:nvPr/>
        </p:nvSpPr>
        <p:spPr>
          <a:xfrm>
            <a:off x="3028315" y="377549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F4B69-202F-9AB7-26AE-DD6AC7A2445B}"/>
              </a:ext>
            </a:extLst>
          </p:cNvPr>
          <p:cNvSpPr/>
          <p:nvPr/>
        </p:nvSpPr>
        <p:spPr>
          <a:xfrm>
            <a:off x="4761015" y="2747159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E8ABE5-D1D6-BF19-2959-345CA92737ED}"/>
              </a:ext>
            </a:extLst>
          </p:cNvPr>
          <p:cNvSpPr/>
          <p:nvPr/>
        </p:nvSpPr>
        <p:spPr>
          <a:xfrm>
            <a:off x="4761015" y="2952826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A26B4-90B3-F263-8479-1EF0FD39EE3E}"/>
              </a:ext>
            </a:extLst>
          </p:cNvPr>
          <p:cNvSpPr/>
          <p:nvPr/>
        </p:nvSpPr>
        <p:spPr>
          <a:xfrm>
            <a:off x="4761126" y="3158493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775ED-AADF-76DB-09B8-0013050F777F}"/>
              </a:ext>
            </a:extLst>
          </p:cNvPr>
          <p:cNvSpPr/>
          <p:nvPr/>
        </p:nvSpPr>
        <p:spPr>
          <a:xfrm>
            <a:off x="4759926" y="3364160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064FDE-6490-0529-F195-4BF9BC45D56F}"/>
              </a:ext>
            </a:extLst>
          </p:cNvPr>
          <p:cNvSpPr/>
          <p:nvPr/>
        </p:nvSpPr>
        <p:spPr>
          <a:xfrm>
            <a:off x="476028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042064-4BAA-CCBC-219A-EEC672B2DF58}"/>
              </a:ext>
            </a:extLst>
          </p:cNvPr>
          <p:cNvSpPr/>
          <p:nvPr/>
        </p:nvSpPr>
        <p:spPr>
          <a:xfrm>
            <a:off x="4761865" y="377549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D073D8-EA5C-C531-8DB7-B472EB104AC9}"/>
              </a:ext>
            </a:extLst>
          </p:cNvPr>
          <p:cNvSpPr txBox="1"/>
          <p:nvPr/>
        </p:nvSpPr>
        <p:spPr>
          <a:xfrm>
            <a:off x="2068995" y="3018201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EE57B-A293-F3C6-750A-33A542D46620}"/>
              </a:ext>
            </a:extLst>
          </p:cNvPr>
          <p:cNvSpPr txBox="1"/>
          <p:nvPr/>
        </p:nvSpPr>
        <p:spPr>
          <a:xfrm>
            <a:off x="3767538" y="3059576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596581-EA83-24AF-0A07-D37D3129F7C8}"/>
              </a:ext>
            </a:extLst>
          </p:cNvPr>
          <p:cNvSpPr txBox="1"/>
          <p:nvPr/>
        </p:nvSpPr>
        <p:spPr>
          <a:xfrm>
            <a:off x="3523250" y="3628340"/>
            <a:ext cx="966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absolute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</a:p>
        </p:txBody>
      </p:sp>
      <p:pic>
        <p:nvPicPr>
          <p:cNvPr id="1026" name="Picture 2" descr="Squiggly line doodle | Line doodles, Elements of art, Pattern drawing">
            <a:extLst>
              <a:ext uri="{FF2B5EF4-FFF2-40B4-BE49-F238E27FC236}">
                <a16:creationId xmlns:a16="http://schemas.microsoft.com/office/drawing/2014/main" id="{C057F522-E979-18AA-9CBC-2BD88DB5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470455" y="1489529"/>
            <a:ext cx="768350" cy="107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4D0E3313-A857-EBF1-D8EC-E02A6EDF0F08}"/>
              </a:ext>
            </a:extLst>
          </p:cNvPr>
          <p:cNvSpPr txBox="1"/>
          <p:nvPr/>
        </p:nvSpPr>
        <p:spPr>
          <a:xfrm>
            <a:off x="499026" y="889564"/>
            <a:ext cx="522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trial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61F192B-343B-C4DC-5678-4ACC02F53778}"/>
              </a:ext>
            </a:extLst>
          </p:cNvPr>
          <p:cNvSpPr/>
          <p:nvPr/>
        </p:nvSpPr>
        <p:spPr>
          <a:xfrm>
            <a:off x="875686" y="532439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8888FC6-35E9-75ED-8200-50A4897D7407}"/>
              </a:ext>
            </a:extLst>
          </p:cNvPr>
          <p:cNvSpPr/>
          <p:nvPr/>
        </p:nvSpPr>
        <p:spPr>
          <a:xfrm>
            <a:off x="882036" y="5530058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9159CA4-ED9B-CE03-0560-FE6BC93E538D}"/>
              </a:ext>
            </a:extLst>
          </p:cNvPr>
          <p:cNvSpPr/>
          <p:nvPr/>
        </p:nvSpPr>
        <p:spPr>
          <a:xfrm>
            <a:off x="882147" y="5735725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D8EB8E62-49A1-43D5-6180-DC8238187EF2}"/>
              </a:ext>
            </a:extLst>
          </p:cNvPr>
          <p:cNvSpPr/>
          <p:nvPr/>
        </p:nvSpPr>
        <p:spPr>
          <a:xfrm>
            <a:off x="880947" y="594139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21B294A-21D1-E7C6-88BC-275DCDABBB23}"/>
              </a:ext>
            </a:extLst>
          </p:cNvPr>
          <p:cNvSpPr/>
          <p:nvPr/>
        </p:nvSpPr>
        <p:spPr>
          <a:xfrm>
            <a:off x="881308" y="614705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7BC6558-DFCB-3345-0095-40E6AC05C306}"/>
              </a:ext>
            </a:extLst>
          </p:cNvPr>
          <p:cNvSpPr/>
          <p:nvPr/>
        </p:nvSpPr>
        <p:spPr>
          <a:xfrm>
            <a:off x="1088624" y="5327019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061B90B-3B11-0C61-3ECA-29F9F821EF95}"/>
              </a:ext>
            </a:extLst>
          </p:cNvPr>
          <p:cNvSpPr/>
          <p:nvPr/>
        </p:nvSpPr>
        <p:spPr>
          <a:xfrm>
            <a:off x="1085449" y="553268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F33B847-6F53-C54D-D496-3F65BC916CCF}"/>
              </a:ext>
            </a:extLst>
          </p:cNvPr>
          <p:cNvSpPr/>
          <p:nvPr/>
        </p:nvSpPr>
        <p:spPr>
          <a:xfrm>
            <a:off x="1088735" y="573835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41D1C2DE-7816-F7CD-F41C-248F444BEACD}"/>
              </a:ext>
            </a:extLst>
          </p:cNvPr>
          <p:cNvSpPr/>
          <p:nvPr/>
        </p:nvSpPr>
        <p:spPr>
          <a:xfrm>
            <a:off x="1087535" y="594402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12E92-0F78-A864-2E89-6DAA636B61D0}"/>
              </a:ext>
            </a:extLst>
          </p:cNvPr>
          <p:cNvSpPr/>
          <p:nvPr/>
        </p:nvSpPr>
        <p:spPr>
          <a:xfrm>
            <a:off x="1087896" y="6149687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7B6C71C-2374-C1EB-A801-EA0A8E23ABD2}"/>
              </a:ext>
            </a:extLst>
          </p:cNvPr>
          <p:cNvSpPr/>
          <p:nvPr/>
        </p:nvSpPr>
        <p:spPr>
          <a:xfrm>
            <a:off x="1296883" y="5330361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957C6C8-D85C-99E4-BE8B-BBAB253720DB}"/>
              </a:ext>
            </a:extLst>
          </p:cNvPr>
          <p:cNvSpPr/>
          <p:nvPr/>
        </p:nvSpPr>
        <p:spPr>
          <a:xfrm>
            <a:off x="1296883" y="553602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7DE68A5D-DCD6-1DDC-805D-F988530D7D9A}"/>
              </a:ext>
            </a:extLst>
          </p:cNvPr>
          <p:cNvSpPr/>
          <p:nvPr/>
        </p:nvSpPr>
        <p:spPr>
          <a:xfrm>
            <a:off x="1296994" y="5741695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D4C95B2-3824-56D8-9747-096D936398FE}"/>
              </a:ext>
            </a:extLst>
          </p:cNvPr>
          <p:cNvSpPr/>
          <p:nvPr/>
        </p:nvSpPr>
        <p:spPr>
          <a:xfrm>
            <a:off x="1295794" y="594736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637B578-9D37-BF2F-81B9-BEE325B8088C}"/>
              </a:ext>
            </a:extLst>
          </p:cNvPr>
          <p:cNvSpPr/>
          <p:nvPr/>
        </p:nvSpPr>
        <p:spPr>
          <a:xfrm>
            <a:off x="1296155" y="6153029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10D886AB-A7A5-8904-928F-49F0B58D09B8}"/>
              </a:ext>
            </a:extLst>
          </p:cNvPr>
          <p:cNvSpPr/>
          <p:nvPr/>
        </p:nvSpPr>
        <p:spPr>
          <a:xfrm>
            <a:off x="1503471" y="5329021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74CA5B2-EB7A-161B-47DB-3C22D977C4E5}"/>
              </a:ext>
            </a:extLst>
          </p:cNvPr>
          <p:cNvSpPr/>
          <p:nvPr/>
        </p:nvSpPr>
        <p:spPr>
          <a:xfrm>
            <a:off x="1503471" y="553468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8BC4F8D2-E7E1-58EB-4819-98E800A921B9}"/>
              </a:ext>
            </a:extLst>
          </p:cNvPr>
          <p:cNvSpPr/>
          <p:nvPr/>
        </p:nvSpPr>
        <p:spPr>
          <a:xfrm>
            <a:off x="1503582" y="5740355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5832DC68-32B9-CC9F-4611-74137F5B732F}"/>
              </a:ext>
            </a:extLst>
          </p:cNvPr>
          <p:cNvSpPr/>
          <p:nvPr/>
        </p:nvSpPr>
        <p:spPr>
          <a:xfrm>
            <a:off x="1502382" y="595316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090A4416-C4A9-9476-F782-87BC446C9F41}"/>
              </a:ext>
            </a:extLst>
          </p:cNvPr>
          <p:cNvSpPr/>
          <p:nvPr/>
        </p:nvSpPr>
        <p:spPr>
          <a:xfrm>
            <a:off x="1502743" y="6154070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867F2BF-232B-FEFF-E579-219384FBEFDB}"/>
              </a:ext>
            </a:extLst>
          </p:cNvPr>
          <p:cNvSpPr/>
          <p:nvPr/>
        </p:nvSpPr>
        <p:spPr>
          <a:xfrm>
            <a:off x="1706530" y="533036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02938C82-8445-E4DB-0A5B-01D2CF2AA9F9}"/>
              </a:ext>
            </a:extLst>
          </p:cNvPr>
          <p:cNvSpPr/>
          <p:nvPr/>
        </p:nvSpPr>
        <p:spPr>
          <a:xfrm>
            <a:off x="1706530" y="5536030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307AE4D0-FEC8-840D-C404-658644533B29}"/>
              </a:ext>
            </a:extLst>
          </p:cNvPr>
          <p:cNvSpPr/>
          <p:nvPr/>
        </p:nvSpPr>
        <p:spPr>
          <a:xfrm>
            <a:off x="1706641" y="574169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DFEDA45-B166-9CE8-A686-676938900F01}"/>
              </a:ext>
            </a:extLst>
          </p:cNvPr>
          <p:cNvSpPr/>
          <p:nvPr/>
        </p:nvSpPr>
        <p:spPr>
          <a:xfrm>
            <a:off x="1705441" y="5947364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1998D44C-CAD7-0292-860C-F410535A3047}"/>
              </a:ext>
            </a:extLst>
          </p:cNvPr>
          <p:cNvSpPr/>
          <p:nvPr/>
        </p:nvSpPr>
        <p:spPr>
          <a:xfrm>
            <a:off x="1708183" y="615779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ED6C1D37-A616-04A6-B51B-9CC389820A8D}"/>
              </a:ext>
            </a:extLst>
          </p:cNvPr>
          <p:cNvSpPr txBox="1"/>
          <p:nvPr/>
        </p:nvSpPr>
        <p:spPr>
          <a:xfrm>
            <a:off x="377894" y="5330741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4E58F4F-027A-2851-DAE8-31E783920643}"/>
              </a:ext>
            </a:extLst>
          </p:cNvPr>
          <p:cNvSpPr txBox="1"/>
          <p:nvPr/>
        </p:nvSpPr>
        <p:spPr>
          <a:xfrm>
            <a:off x="377894" y="553640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F54CD22-7939-CB7E-3C6D-78A7B99280CD}"/>
              </a:ext>
            </a:extLst>
          </p:cNvPr>
          <p:cNvSpPr txBox="1"/>
          <p:nvPr/>
        </p:nvSpPr>
        <p:spPr>
          <a:xfrm>
            <a:off x="377894" y="574207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D36B1B08-FE41-C1B4-F4C4-A030C4B8F65F}"/>
              </a:ext>
            </a:extLst>
          </p:cNvPr>
          <p:cNvSpPr txBox="1"/>
          <p:nvPr/>
        </p:nvSpPr>
        <p:spPr>
          <a:xfrm>
            <a:off x="377894" y="594774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B255B512-7AD5-739E-AE4B-E4581688137C}"/>
              </a:ext>
            </a:extLst>
          </p:cNvPr>
          <p:cNvSpPr txBox="1"/>
          <p:nvPr/>
        </p:nvSpPr>
        <p:spPr>
          <a:xfrm>
            <a:off x="377894" y="615340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55168102-463C-5602-3568-6096DF771FB0}"/>
              </a:ext>
            </a:extLst>
          </p:cNvPr>
          <p:cNvSpPr txBox="1"/>
          <p:nvPr/>
        </p:nvSpPr>
        <p:spPr>
          <a:xfrm>
            <a:off x="926822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31F0F18E-56E1-BA72-5CD2-DA8AB4EB13F5}"/>
              </a:ext>
            </a:extLst>
          </p:cNvPr>
          <p:cNvSpPr txBox="1"/>
          <p:nvPr/>
        </p:nvSpPr>
        <p:spPr>
          <a:xfrm>
            <a:off x="1135861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83778C76-A844-0571-C098-5A28B9915D08}"/>
              </a:ext>
            </a:extLst>
          </p:cNvPr>
          <p:cNvSpPr txBox="1"/>
          <p:nvPr/>
        </p:nvSpPr>
        <p:spPr>
          <a:xfrm>
            <a:off x="1344900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E16FDFFF-7934-E91C-FBD2-785AFD8D0D91}"/>
              </a:ext>
            </a:extLst>
          </p:cNvPr>
          <p:cNvSpPr txBox="1"/>
          <p:nvPr/>
        </p:nvSpPr>
        <p:spPr>
          <a:xfrm>
            <a:off x="1553939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AB839C31-A100-3728-8963-A4772A59C260}"/>
              </a:ext>
            </a:extLst>
          </p:cNvPr>
          <p:cNvSpPr txBox="1"/>
          <p:nvPr/>
        </p:nvSpPr>
        <p:spPr>
          <a:xfrm>
            <a:off x="1774115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4F73087F-4E1C-D838-68BF-B031FB54B02C}"/>
              </a:ext>
            </a:extLst>
          </p:cNvPr>
          <p:cNvSpPr/>
          <p:nvPr/>
        </p:nvSpPr>
        <p:spPr>
          <a:xfrm>
            <a:off x="882036" y="5330360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3308AF80-0B4A-E913-D125-47EAE24BDABE}"/>
              </a:ext>
            </a:extLst>
          </p:cNvPr>
          <p:cNvSpPr/>
          <p:nvPr/>
        </p:nvSpPr>
        <p:spPr>
          <a:xfrm>
            <a:off x="2625006" y="532363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49B0FC4-B332-DCAC-1C11-6BE1D1D92D89}"/>
              </a:ext>
            </a:extLst>
          </p:cNvPr>
          <p:cNvSpPr/>
          <p:nvPr/>
        </p:nvSpPr>
        <p:spPr>
          <a:xfrm>
            <a:off x="2631356" y="552930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27D89914-F6E7-6490-D0BC-0FF236112D5F}"/>
              </a:ext>
            </a:extLst>
          </p:cNvPr>
          <p:cNvSpPr/>
          <p:nvPr/>
        </p:nvSpPr>
        <p:spPr>
          <a:xfrm>
            <a:off x="2631467" y="5734970"/>
            <a:ext cx="189411" cy="189411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B97F6709-CF41-96F9-3A33-783A7F42BE6A}"/>
              </a:ext>
            </a:extLst>
          </p:cNvPr>
          <p:cNvSpPr/>
          <p:nvPr/>
        </p:nvSpPr>
        <p:spPr>
          <a:xfrm>
            <a:off x="2630267" y="5940637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BFF1AB2A-2828-D83C-4FB7-999C1E2FC2F6}"/>
              </a:ext>
            </a:extLst>
          </p:cNvPr>
          <p:cNvSpPr/>
          <p:nvPr/>
        </p:nvSpPr>
        <p:spPr>
          <a:xfrm>
            <a:off x="2630628" y="6146304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F35A1772-6935-32BD-1B25-32C470F788CF}"/>
              </a:ext>
            </a:extLst>
          </p:cNvPr>
          <p:cNvSpPr/>
          <p:nvPr/>
        </p:nvSpPr>
        <p:spPr>
          <a:xfrm>
            <a:off x="2837944" y="5326264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13B2732-643E-45EC-0DDB-A1F8C99E09FE}"/>
              </a:ext>
            </a:extLst>
          </p:cNvPr>
          <p:cNvSpPr/>
          <p:nvPr/>
        </p:nvSpPr>
        <p:spPr>
          <a:xfrm>
            <a:off x="2834769" y="553193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D38C898D-25AF-456B-0FE2-0F72636D4950}"/>
              </a:ext>
            </a:extLst>
          </p:cNvPr>
          <p:cNvSpPr/>
          <p:nvPr/>
        </p:nvSpPr>
        <p:spPr>
          <a:xfrm>
            <a:off x="2838055" y="573759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664AC44A-1B9B-EDFC-981D-F40253EB13A9}"/>
              </a:ext>
            </a:extLst>
          </p:cNvPr>
          <p:cNvSpPr/>
          <p:nvPr/>
        </p:nvSpPr>
        <p:spPr>
          <a:xfrm>
            <a:off x="2836855" y="594326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1B38C61-0431-A969-8BCD-E44468010E04}"/>
              </a:ext>
            </a:extLst>
          </p:cNvPr>
          <p:cNvSpPr/>
          <p:nvPr/>
        </p:nvSpPr>
        <p:spPr>
          <a:xfrm>
            <a:off x="2837216" y="6148932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FD77E336-DDEB-CDD0-572E-6F56D37C78BD}"/>
              </a:ext>
            </a:extLst>
          </p:cNvPr>
          <p:cNvSpPr/>
          <p:nvPr/>
        </p:nvSpPr>
        <p:spPr>
          <a:xfrm>
            <a:off x="3046203" y="5329606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A06B5A45-A323-6269-2D84-F5690D3B00F9}"/>
              </a:ext>
            </a:extLst>
          </p:cNvPr>
          <p:cNvSpPr/>
          <p:nvPr/>
        </p:nvSpPr>
        <p:spPr>
          <a:xfrm>
            <a:off x="3046203" y="553527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021AAEC-0F65-C6F0-4913-326F38054739}"/>
              </a:ext>
            </a:extLst>
          </p:cNvPr>
          <p:cNvSpPr/>
          <p:nvPr/>
        </p:nvSpPr>
        <p:spPr>
          <a:xfrm>
            <a:off x="3046314" y="574094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00E8CADD-2238-34B6-9599-75A7AA780D19}"/>
              </a:ext>
            </a:extLst>
          </p:cNvPr>
          <p:cNvSpPr/>
          <p:nvPr/>
        </p:nvSpPr>
        <p:spPr>
          <a:xfrm>
            <a:off x="3045114" y="5946607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AEF2CCFA-C6E6-24A9-BBBE-223C1E307D3E}"/>
              </a:ext>
            </a:extLst>
          </p:cNvPr>
          <p:cNvSpPr/>
          <p:nvPr/>
        </p:nvSpPr>
        <p:spPr>
          <a:xfrm>
            <a:off x="3045475" y="6152274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E60D794C-CCA1-D1EA-DA45-0D2033A6C21A}"/>
              </a:ext>
            </a:extLst>
          </p:cNvPr>
          <p:cNvSpPr/>
          <p:nvPr/>
        </p:nvSpPr>
        <p:spPr>
          <a:xfrm>
            <a:off x="3252791" y="5328266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0D1C5E17-7FCB-33CC-55A5-755DAD84FEA9}"/>
              </a:ext>
            </a:extLst>
          </p:cNvPr>
          <p:cNvSpPr/>
          <p:nvPr/>
        </p:nvSpPr>
        <p:spPr>
          <a:xfrm>
            <a:off x="3252791" y="5533933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B8B2EC3-4CCF-8FFA-4F2E-56B168E4ECF7}"/>
              </a:ext>
            </a:extLst>
          </p:cNvPr>
          <p:cNvSpPr/>
          <p:nvPr/>
        </p:nvSpPr>
        <p:spPr>
          <a:xfrm>
            <a:off x="3252902" y="5739600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09954724-BE8F-3E96-9A66-29C440E64E3B}"/>
              </a:ext>
            </a:extLst>
          </p:cNvPr>
          <p:cNvSpPr/>
          <p:nvPr/>
        </p:nvSpPr>
        <p:spPr>
          <a:xfrm>
            <a:off x="3251702" y="595241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6EE58CAA-BBA3-40AD-0C5A-030953AD287F}"/>
              </a:ext>
            </a:extLst>
          </p:cNvPr>
          <p:cNvSpPr/>
          <p:nvPr/>
        </p:nvSpPr>
        <p:spPr>
          <a:xfrm>
            <a:off x="3252063" y="6153315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89009D07-CB1C-5FC7-4F79-D0187AB6706C}"/>
              </a:ext>
            </a:extLst>
          </p:cNvPr>
          <p:cNvSpPr/>
          <p:nvPr/>
        </p:nvSpPr>
        <p:spPr>
          <a:xfrm>
            <a:off x="3458780" y="532960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05643561-A6D3-2E91-CF96-48CD6E5FFB93}"/>
              </a:ext>
            </a:extLst>
          </p:cNvPr>
          <p:cNvSpPr/>
          <p:nvPr/>
        </p:nvSpPr>
        <p:spPr>
          <a:xfrm>
            <a:off x="3458780" y="5535275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DF2E4C72-2ABC-EA4D-A0F3-5DA04385FA2D}"/>
              </a:ext>
            </a:extLst>
          </p:cNvPr>
          <p:cNvSpPr/>
          <p:nvPr/>
        </p:nvSpPr>
        <p:spPr>
          <a:xfrm>
            <a:off x="3458891" y="5740942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1DCDF257-708E-2BE2-6664-A6CD58D909B6}"/>
              </a:ext>
            </a:extLst>
          </p:cNvPr>
          <p:cNvSpPr/>
          <p:nvPr/>
        </p:nvSpPr>
        <p:spPr>
          <a:xfrm>
            <a:off x="3457691" y="5946609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F5DBE20A-542C-FA5C-34C9-1800B043CDA5}"/>
              </a:ext>
            </a:extLst>
          </p:cNvPr>
          <p:cNvSpPr/>
          <p:nvPr/>
        </p:nvSpPr>
        <p:spPr>
          <a:xfrm>
            <a:off x="3460433" y="615703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BF107B2B-1F6A-3EE7-8435-97645B3612AD}"/>
              </a:ext>
            </a:extLst>
          </p:cNvPr>
          <p:cNvSpPr txBox="1"/>
          <p:nvPr/>
        </p:nvSpPr>
        <p:spPr>
          <a:xfrm>
            <a:off x="2127214" y="532998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AAFBFD53-F569-B34D-C08C-3B900214CC19}"/>
              </a:ext>
            </a:extLst>
          </p:cNvPr>
          <p:cNvSpPr txBox="1"/>
          <p:nvPr/>
        </p:nvSpPr>
        <p:spPr>
          <a:xfrm>
            <a:off x="2127214" y="5535653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61A2D6EE-9E1B-8B42-075E-CD06EEF67FFB}"/>
              </a:ext>
            </a:extLst>
          </p:cNvPr>
          <p:cNvSpPr txBox="1"/>
          <p:nvPr/>
        </p:nvSpPr>
        <p:spPr>
          <a:xfrm>
            <a:off x="2127214" y="5741320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0DD861D0-D2A9-7F63-1878-E362F0A885CC}"/>
              </a:ext>
            </a:extLst>
          </p:cNvPr>
          <p:cNvSpPr txBox="1"/>
          <p:nvPr/>
        </p:nvSpPr>
        <p:spPr>
          <a:xfrm>
            <a:off x="2127214" y="5946987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81CBCE39-A54D-1602-12BE-9F34E91B1A86}"/>
              </a:ext>
            </a:extLst>
          </p:cNvPr>
          <p:cNvSpPr txBox="1"/>
          <p:nvPr/>
        </p:nvSpPr>
        <p:spPr>
          <a:xfrm>
            <a:off x="2127214" y="6152654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60C4CC48-E0FD-04B7-A2A5-BCCBF182BFAA}"/>
              </a:ext>
            </a:extLst>
          </p:cNvPr>
          <p:cNvSpPr txBox="1"/>
          <p:nvPr/>
        </p:nvSpPr>
        <p:spPr>
          <a:xfrm>
            <a:off x="2676142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4DB0D961-2909-4EC6-05B5-AD3BE3F99B6C}"/>
              </a:ext>
            </a:extLst>
          </p:cNvPr>
          <p:cNvSpPr txBox="1"/>
          <p:nvPr/>
        </p:nvSpPr>
        <p:spPr>
          <a:xfrm>
            <a:off x="2885181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8B4DFD2A-2662-F778-9567-E5DCD7A826AC}"/>
              </a:ext>
            </a:extLst>
          </p:cNvPr>
          <p:cNvSpPr txBox="1"/>
          <p:nvPr/>
        </p:nvSpPr>
        <p:spPr>
          <a:xfrm>
            <a:off x="3094220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C811FEDA-2E0C-CC6A-C54D-C3841A794EC5}"/>
              </a:ext>
            </a:extLst>
          </p:cNvPr>
          <p:cNvSpPr txBox="1"/>
          <p:nvPr/>
        </p:nvSpPr>
        <p:spPr>
          <a:xfrm>
            <a:off x="3303259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2F0FDFDA-8DF6-34BA-52A3-FA1F8FC027F2}"/>
              </a:ext>
            </a:extLst>
          </p:cNvPr>
          <p:cNvSpPr txBox="1"/>
          <p:nvPr/>
        </p:nvSpPr>
        <p:spPr>
          <a:xfrm>
            <a:off x="3512297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1FDAC2F7-95CA-7595-0744-8B0A12E0C00E}"/>
              </a:ext>
            </a:extLst>
          </p:cNvPr>
          <p:cNvSpPr/>
          <p:nvPr/>
        </p:nvSpPr>
        <p:spPr>
          <a:xfrm>
            <a:off x="2631356" y="5329605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D3B496F-3B3A-256B-4C8F-685F4EAEF8B1}"/>
              </a:ext>
            </a:extLst>
          </p:cNvPr>
          <p:cNvSpPr/>
          <p:nvPr/>
        </p:nvSpPr>
        <p:spPr>
          <a:xfrm>
            <a:off x="4374446" y="533064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8795FAF4-C3FF-244F-CBEC-54B1FE92A41B}"/>
              </a:ext>
            </a:extLst>
          </p:cNvPr>
          <p:cNvSpPr/>
          <p:nvPr/>
        </p:nvSpPr>
        <p:spPr>
          <a:xfrm>
            <a:off x="4380796" y="5536315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0B0113C9-076B-B6B6-504A-BD4221205190}"/>
              </a:ext>
            </a:extLst>
          </p:cNvPr>
          <p:cNvSpPr/>
          <p:nvPr/>
        </p:nvSpPr>
        <p:spPr>
          <a:xfrm>
            <a:off x="4380907" y="574198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BEF87D7-2ADD-4248-7F69-FEC6C56149CA}"/>
              </a:ext>
            </a:extLst>
          </p:cNvPr>
          <p:cNvSpPr/>
          <p:nvPr/>
        </p:nvSpPr>
        <p:spPr>
          <a:xfrm>
            <a:off x="4379707" y="594764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510C789A-BD49-452F-8233-567441FC32E5}"/>
              </a:ext>
            </a:extLst>
          </p:cNvPr>
          <p:cNvSpPr/>
          <p:nvPr/>
        </p:nvSpPr>
        <p:spPr>
          <a:xfrm>
            <a:off x="4380068" y="6153316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C78B49DE-D355-AED7-5B43-9A79994B2CD8}"/>
              </a:ext>
            </a:extLst>
          </p:cNvPr>
          <p:cNvSpPr/>
          <p:nvPr/>
        </p:nvSpPr>
        <p:spPr>
          <a:xfrm>
            <a:off x="4587384" y="533327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B702B5B-EF20-C080-F232-3507952BFA61}"/>
              </a:ext>
            </a:extLst>
          </p:cNvPr>
          <p:cNvSpPr/>
          <p:nvPr/>
        </p:nvSpPr>
        <p:spPr>
          <a:xfrm>
            <a:off x="4584209" y="553894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BD135577-CB3C-DC4E-E12F-0302E8512964}"/>
              </a:ext>
            </a:extLst>
          </p:cNvPr>
          <p:cNvSpPr/>
          <p:nvPr/>
        </p:nvSpPr>
        <p:spPr>
          <a:xfrm>
            <a:off x="4587495" y="5744610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FDF10CE2-EADE-2D76-02DB-4E684E7C2B88}"/>
              </a:ext>
            </a:extLst>
          </p:cNvPr>
          <p:cNvSpPr/>
          <p:nvPr/>
        </p:nvSpPr>
        <p:spPr>
          <a:xfrm>
            <a:off x="4586295" y="5950277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D6C01A9D-44C4-5B49-110A-480C78A9116F}"/>
              </a:ext>
            </a:extLst>
          </p:cNvPr>
          <p:cNvSpPr/>
          <p:nvPr/>
        </p:nvSpPr>
        <p:spPr>
          <a:xfrm>
            <a:off x="4586656" y="6155944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6805282B-5D17-DA74-8A8A-F3A430B02AD1}"/>
              </a:ext>
            </a:extLst>
          </p:cNvPr>
          <p:cNvSpPr/>
          <p:nvPr/>
        </p:nvSpPr>
        <p:spPr>
          <a:xfrm>
            <a:off x="4795643" y="5336618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586B10C5-337A-7DAA-8A38-E85441904862}"/>
              </a:ext>
            </a:extLst>
          </p:cNvPr>
          <p:cNvSpPr/>
          <p:nvPr/>
        </p:nvSpPr>
        <p:spPr>
          <a:xfrm>
            <a:off x="4795643" y="5542285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1E38908C-60C3-E78F-5D19-C23CD6725C26}"/>
              </a:ext>
            </a:extLst>
          </p:cNvPr>
          <p:cNvSpPr/>
          <p:nvPr/>
        </p:nvSpPr>
        <p:spPr>
          <a:xfrm>
            <a:off x="4795754" y="5747952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5CAD34CB-83B4-7083-F6DF-6A4B1214D9C1}"/>
              </a:ext>
            </a:extLst>
          </p:cNvPr>
          <p:cNvSpPr/>
          <p:nvPr/>
        </p:nvSpPr>
        <p:spPr>
          <a:xfrm>
            <a:off x="4794554" y="5953619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8D86693D-B01C-C0AB-5DB1-163652333285}"/>
              </a:ext>
            </a:extLst>
          </p:cNvPr>
          <p:cNvSpPr/>
          <p:nvPr/>
        </p:nvSpPr>
        <p:spPr>
          <a:xfrm>
            <a:off x="4794915" y="6159286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766694FF-6481-B669-7D04-38FB8EA158D3}"/>
              </a:ext>
            </a:extLst>
          </p:cNvPr>
          <p:cNvSpPr/>
          <p:nvPr/>
        </p:nvSpPr>
        <p:spPr>
          <a:xfrm>
            <a:off x="5002231" y="5335278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8960AFEF-4AA4-1985-6B87-2E89B8773FCE}"/>
              </a:ext>
            </a:extLst>
          </p:cNvPr>
          <p:cNvSpPr/>
          <p:nvPr/>
        </p:nvSpPr>
        <p:spPr>
          <a:xfrm>
            <a:off x="5002231" y="554094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766D5F51-EE42-9D94-1D81-1E06A460AA3A}"/>
              </a:ext>
            </a:extLst>
          </p:cNvPr>
          <p:cNvSpPr/>
          <p:nvPr/>
        </p:nvSpPr>
        <p:spPr>
          <a:xfrm>
            <a:off x="5002342" y="5746612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B2C65A12-7B9E-7B06-2F64-32E5F25EAAD2}"/>
              </a:ext>
            </a:extLst>
          </p:cNvPr>
          <p:cNvSpPr/>
          <p:nvPr/>
        </p:nvSpPr>
        <p:spPr>
          <a:xfrm>
            <a:off x="5001142" y="595942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DAF8A47B-302C-E07E-3E72-9A101B28D8BE}"/>
              </a:ext>
            </a:extLst>
          </p:cNvPr>
          <p:cNvSpPr/>
          <p:nvPr/>
        </p:nvSpPr>
        <p:spPr>
          <a:xfrm>
            <a:off x="5001503" y="6160327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6293F2F2-1B97-7D50-62EE-D2C3A88A95C2}"/>
              </a:ext>
            </a:extLst>
          </p:cNvPr>
          <p:cNvSpPr/>
          <p:nvPr/>
        </p:nvSpPr>
        <p:spPr>
          <a:xfrm>
            <a:off x="5208220" y="5336620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65CD5945-D106-1E98-1844-FD2FE3531C08}"/>
              </a:ext>
            </a:extLst>
          </p:cNvPr>
          <p:cNvSpPr/>
          <p:nvPr/>
        </p:nvSpPr>
        <p:spPr>
          <a:xfrm>
            <a:off x="5208220" y="5542287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837A171E-0DA1-08FE-F2C6-745B75427164}"/>
              </a:ext>
            </a:extLst>
          </p:cNvPr>
          <p:cNvSpPr/>
          <p:nvPr/>
        </p:nvSpPr>
        <p:spPr>
          <a:xfrm>
            <a:off x="5208331" y="5747954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965D7D6A-1D6B-E429-413D-FE464BCB1526}"/>
              </a:ext>
            </a:extLst>
          </p:cNvPr>
          <p:cNvSpPr/>
          <p:nvPr/>
        </p:nvSpPr>
        <p:spPr>
          <a:xfrm>
            <a:off x="5207131" y="5953621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68D4DF1C-F28F-638C-4FA1-B5DC2FDE48A5}"/>
              </a:ext>
            </a:extLst>
          </p:cNvPr>
          <p:cNvSpPr/>
          <p:nvPr/>
        </p:nvSpPr>
        <p:spPr>
          <a:xfrm>
            <a:off x="5209873" y="616405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D5C65C1A-E2C1-049E-138F-ED6BB55F4A0C}"/>
              </a:ext>
            </a:extLst>
          </p:cNvPr>
          <p:cNvSpPr txBox="1"/>
          <p:nvPr/>
        </p:nvSpPr>
        <p:spPr>
          <a:xfrm>
            <a:off x="3876654" y="533699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73133EFF-FABA-84F0-EA6F-2C68DC561886}"/>
              </a:ext>
            </a:extLst>
          </p:cNvPr>
          <p:cNvSpPr txBox="1"/>
          <p:nvPr/>
        </p:nvSpPr>
        <p:spPr>
          <a:xfrm>
            <a:off x="3876654" y="554266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D1F39983-78E8-D156-96FA-13FBE38DEE88}"/>
              </a:ext>
            </a:extLst>
          </p:cNvPr>
          <p:cNvSpPr txBox="1"/>
          <p:nvPr/>
        </p:nvSpPr>
        <p:spPr>
          <a:xfrm>
            <a:off x="3876654" y="574833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1D878C6B-85CD-6944-3203-3ABA404BDC67}"/>
              </a:ext>
            </a:extLst>
          </p:cNvPr>
          <p:cNvSpPr txBox="1"/>
          <p:nvPr/>
        </p:nvSpPr>
        <p:spPr>
          <a:xfrm>
            <a:off x="3876654" y="595399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A44BAB99-BBEB-7E74-94E9-5132A3CBEDFB}"/>
              </a:ext>
            </a:extLst>
          </p:cNvPr>
          <p:cNvSpPr txBox="1"/>
          <p:nvPr/>
        </p:nvSpPr>
        <p:spPr>
          <a:xfrm>
            <a:off x="3876654" y="615966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3A470E50-7FA0-F6BE-137E-8D2287B71E14}"/>
              </a:ext>
            </a:extLst>
          </p:cNvPr>
          <p:cNvSpPr txBox="1"/>
          <p:nvPr/>
        </p:nvSpPr>
        <p:spPr>
          <a:xfrm>
            <a:off x="4425582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6A92020D-EE8D-61CA-10C1-508E782031E1}"/>
              </a:ext>
            </a:extLst>
          </p:cNvPr>
          <p:cNvSpPr txBox="1"/>
          <p:nvPr/>
        </p:nvSpPr>
        <p:spPr>
          <a:xfrm>
            <a:off x="4634621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6748257D-6019-66FA-1F49-7EE345B7ED47}"/>
              </a:ext>
            </a:extLst>
          </p:cNvPr>
          <p:cNvSpPr txBox="1"/>
          <p:nvPr/>
        </p:nvSpPr>
        <p:spPr>
          <a:xfrm>
            <a:off x="4843660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771A24CB-80B7-A800-3837-5130E18464B5}"/>
              </a:ext>
            </a:extLst>
          </p:cNvPr>
          <p:cNvSpPr txBox="1"/>
          <p:nvPr/>
        </p:nvSpPr>
        <p:spPr>
          <a:xfrm>
            <a:off x="5052699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5D44601-7434-E0B7-1FEA-8BF7F882761C}"/>
              </a:ext>
            </a:extLst>
          </p:cNvPr>
          <p:cNvSpPr txBox="1"/>
          <p:nvPr/>
        </p:nvSpPr>
        <p:spPr>
          <a:xfrm>
            <a:off x="5261737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052A2336-F9DC-5000-C446-0FE958681CAB}"/>
              </a:ext>
            </a:extLst>
          </p:cNvPr>
          <p:cNvSpPr/>
          <p:nvPr/>
        </p:nvSpPr>
        <p:spPr>
          <a:xfrm>
            <a:off x="4380796" y="5336617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6" name="Straight Arrow Connector 1155">
            <a:extLst>
              <a:ext uri="{FF2B5EF4-FFF2-40B4-BE49-F238E27FC236}">
                <a16:creationId xmlns:a16="http://schemas.microsoft.com/office/drawing/2014/main" id="{C03238F0-B669-49A9-07DC-F86D46FB25E5}"/>
              </a:ext>
            </a:extLst>
          </p:cNvPr>
          <p:cNvCxnSpPr>
            <a:cxnSpLocks/>
          </p:cNvCxnSpPr>
          <p:nvPr/>
        </p:nvCxnSpPr>
        <p:spPr>
          <a:xfrm>
            <a:off x="136818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E619CD30-A62C-A0B8-C019-4C7AF60730C6}"/>
              </a:ext>
            </a:extLst>
          </p:cNvPr>
          <p:cNvCxnSpPr>
            <a:cxnSpLocks/>
          </p:cNvCxnSpPr>
          <p:nvPr/>
        </p:nvCxnSpPr>
        <p:spPr>
          <a:xfrm>
            <a:off x="3131441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Arrow Connector 1159">
            <a:extLst>
              <a:ext uri="{FF2B5EF4-FFF2-40B4-BE49-F238E27FC236}">
                <a16:creationId xmlns:a16="http://schemas.microsoft.com/office/drawing/2014/main" id="{24407AEF-94AF-EF41-C232-A1BE4F2FC62C}"/>
              </a:ext>
            </a:extLst>
          </p:cNvPr>
          <p:cNvCxnSpPr>
            <a:cxnSpLocks/>
          </p:cNvCxnSpPr>
          <p:nvPr/>
        </p:nvCxnSpPr>
        <p:spPr>
          <a:xfrm>
            <a:off x="486599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DCBAB425-CE40-100A-B17B-AC722469D973}"/>
              </a:ext>
            </a:extLst>
          </p:cNvPr>
          <p:cNvSpPr txBox="1"/>
          <p:nvPr/>
        </p:nvSpPr>
        <p:spPr>
          <a:xfrm>
            <a:off x="806786" y="6377901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Object RDM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952434B0-BB8F-8E95-1484-1C0F663394CC}"/>
              </a:ext>
            </a:extLst>
          </p:cNvPr>
          <p:cNvSpPr txBox="1"/>
          <p:nvPr/>
        </p:nvSpPr>
        <p:spPr>
          <a:xfrm>
            <a:off x="2574855" y="6377901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Scene RDM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F457D580-29C4-114A-D4DC-1118A531979E}"/>
              </a:ext>
            </a:extLst>
          </p:cNvPr>
          <p:cNvSpPr txBox="1"/>
          <p:nvPr/>
        </p:nvSpPr>
        <p:spPr>
          <a:xfrm>
            <a:off x="4246473" y="6377901"/>
            <a:ext cx="1274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RDM</a:t>
            </a:r>
          </a:p>
        </p:txBody>
      </p:sp>
    </p:spTree>
    <p:extLst>
      <p:ext uri="{BB962C8B-B14F-4D97-AF65-F5344CB8AC3E}">
        <p14:creationId xmlns:p14="http://schemas.microsoft.com/office/powerpoint/2010/main" val="3734909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9" grpId="0"/>
      <p:bldP spid="1083" grpId="0" animBg="1"/>
      <p:bldP spid="1084" grpId="0" animBg="1"/>
      <p:bldP spid="1085" grpId="0" animBg="1"/>
      <p:bldP spid="1086" grpId="0" animBg="1"/>
      <p:bldP spid="1087" grpId="0" animBg="1"/>
      <p:bldP spid="1088" grpId="0" animBg="1"/>
      <p:bldP spid="1089" grpId="0" animBg="1"/>
      <p:bldP spid="1090" grpId="0" animBg="1"/>
      <p:bldP spid="1091" grpId="0" animBg="1"/>
      <p:bldP spid="1092" grpId="0" animBg="1"/>
      <p:bldP spid="1093" grpId="0" animBg="1"/>
      <p:bldP spid="1094" grpId="0" animBg="1"/>
      <p:bldP spid="1095" grpId="0" animBg="1"/>
      <p:bldP spid="1096" grpId="0" animBg="1"/>
      <p:bldP spid="1097" grpId="0" animBg="1"/>
      <p:bldP spid="1098" grpId="0" animBg="1"/>
      <p:bldP spid="1099" grpId="0" animBg="1"/>
      <p:bldP spid="1100" grpId="0" animBg="1"/>
      <p:bldP spid="1101" grpId="0" animBg="1"/>
      <p:bldP spid="1102" grpId="0" animBg="1"/>
      <p:bldP spid="1103" grpId="0" animBg="1"/>
      <p:bldP spid="1104" grpId="0" animBg="1"/>
      <p:bldP spid="1105" grpId="0" animBg="1"/>
      <p:bldP spid="1106" grpId="0" animBg="1"/>
      <p:bldP spid="1107" grpId="0" animBg="1"/>
      <p:bldP spid="1108" grpId="0"/>
      <p:bldP spid="1109" grpId="0"/>
      <p:bldP spid="1110" grpId="0"/>
      <p:bldP spid="1111" grpId="0"/>
      <p:bldP spid="1112" grpId="0"/>
      <p:bldP spid="1113" grpId="0"/>
      <p:bldP spid="1114" grpId="0"/>
      <p:bldP spid="1115" grpId="0"/>
      <p:bldP spid="1116" grpId="0"/>
      <p:bldP spid="1117" grpId="0"/>
      <p:bldP spid="1118" grpId="0" animBg="1"/>
      <p:bldP spid="1119" grpId="0" animBg="1"/>
      <p:bldP spid="1120" grpId="0" animBg="1"/>
      <p:bldP spid="1121" grpId="0" animBg="1"/>
      <p:bldP spid="1122" grpId="0" animBg="1"/>
      <p:bldP spid="1123" grpId="0" animBg="1"/>
      <p:bldP spid="1124" grpId="0" animBg="1"/>
      <p:bldP spid="1125" grpId="0" animBg="1"/>
      <p:bldP spid="1126" grpId="0" animBg="1"/>
      <p:bldP spid="1127" grpId="0" animBg="1"/>
      <p:bldP spid="1128" grpId="0" animBg="1"/>
      <p:bldP spid="1129" grpId="0" animBg="1"/>
      <p:bldP spid="1130" grpId="0" animBg="1"/>
      <p:bldP spid="1131" grpId="0" animBg="1"/>
      <p:bldP spid="1132" grpId="0" animBg="1"/>
      <p:bldP spid="1133" grpId="0" animBg="1"/>
      <p:bldP spid="1134" grpId="0" animBg="1"/>
      <p:bldP spid="1135" grpId="0" animBg="1"/>
      <p:bldP spid="1136" grpId="0" animBg="1"/>
      <p:bldP spid="1137" grpId="0" animBg="1"/>
      <p:bldP spid="1138" grpId="0" animBg="1"/>
      <p:bldP spid="1139" grpId="0" animBg="1"/>
      <p:bldP spid="1140" grpId="0" animBg="1"/>
      <p:bldP spid="1141" grpId="0" animBg="1"/>
      <p:bldP spid="1142" grpId="0" animBg="1"/>
      <p:bldP spid="1143" grpId="0" animBg="1"/>
      <p:bldP spid="1144" grpId="0"/>
      <p:bldP spid="1145" grpId="0"/>
      <p:bldP spid="1146" grpId="0"/>
      <p:bldP spid="1147" grpId="0"/>
      <p:bldP spid="1148" grpId="0"/>
      <p:bldP spid="1149" grpId="0"/>
      <p:bldP spid="1150" grpId="0"/>
      <p:bldP spid="1151" grpId="0"/>
      <p:bldP spid="1152" grpId="0"/>
      <p:bldP spid="1153" grpId="0"/>
      <p:bldP spid="1154" grpId="0" animBg="1"/>
      <p:bldP spid="1162" grpId="0"/>
      <p:bldP spid="116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490"/>
            <a:ext cx="10515600" cy="876313"/>
          </a:xfrm>
        </p:spPr>
        <p:txBody>
          <a:bodyPr>
            <a:normAutofit fontScale="90000"/>
          </a:bodyPr>
          <a:lstStyle/>
          <a:p>
            <a:r>
              <a:rPr lang="en-US" dirty="0"/>
              <a:t>Many ways to interpret the difference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800" y="1360799"/>
            <a:ext cx="11130092" cy="516960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Psychological meaning of the difference vector:</a:t>
            </a:r>
          </a:p>
          <a:p>
            <a:pPr lvl="1"/>
            <a:r>
              <a:rPr lang="en-US" dirty="0"/>
              <a:t>Prediction error: </a:t>
            </a:r>
          </a:p>
          <a:p>
            <a:pPr lvl="2"/>
            <a:r>
              <a:rPr lang="en-US" dirty="0"/>
              <a:t>Scenes establish a “prediction” that may be violated</a:t>
            </a:r>
          </a:p>
          <a:p>
            <a:pPr lvl="2"/>
            <a:r>
              <a:rPr lang="en-US" dirty="0"/>
              <a:t>Predictive coding theory argues that all information is processed as prediction errors</a:t>
            </a:r>
          </a:p>
          <a:p>
            <a:pPr lvl="1"/>
            <a:r>
              <a:rPr lang="en-US" dirty="0"/>
              <a:t>Priming: </a:t>
            </a:r>
          </a:p>
          <a:p>
            <a:pPr lvl="2"/>
            <a:r>
              <a:rPr lang="en-US" dirty="0"/>
              <a:t>Scenes prime some representations, which will show weaker/stronger responses if activated again by the object</a:t>
            </a:r>
          </a:p>
          <a:p>
            <a:pPr lvl="2"/>
            <a:r>
              <a:rPr lang="en-US" dirty="0"/>
              <a:t>Link to repetition suppression</a:t>
            </a:r>
          </a:p>
          <a:p>
            <a:pPr lvl="1"/>
            <a:r>
              <a:rPr lang="en-US" dirty="0"/>
              <a:t>Relational memory:</a:t>
            </a:r>
          </a:p>
          <a:p>
            <a:pPr lvl="2"/>
            <a:r>
              <a:rPr lang="en-US" dirty="0"/>
              <a:t>Broadly: The informational content of items influences how an association is encoded</a:t>
            </a:r>
          </a:p>
          <a:p>
            <a:pPr lvl="2"/>
            <a:r>
              <a:rPr lang="en-US" dirty="0"/>
              <a:t>Specifically: Associative memories do not just blindly connect item representations. Rather, associations should be seen as representations that encode the relationship between the items</a:t>
            </a:r>
          </a:p>
          <a:p>
            <a:r>
              <a:rPr lang="en-US" dirty="0"/>
              <a:t>Speculative:</a:t>
            </a:r>
          </a:p>
          <a:p>
            <a:pPr lvl="1"/>
            <a:r>
              <a:rPr lang="en-US" dirty="0"/>
              <a:t>Unclear meaning yet informative</a:t>
            </a:r>
          </a:p>
          <a:p>
            <a:pPr lvl="2"/>
            <a:r>
              <a:rPr lang="en-US" dirty="0"/>
              <a:t>There is no clear psychological meaning of a “difference vector”</a:t>
            </a:r>
          </a:p>
          <a:p>
            <a:pPr lvl="2"/>
            <a:r>
              <a:rPr lang="en-US" dirty="0"/>
              <a:t>Nonetheless, because this measure combines object and scene information, the findings must reflect some type of interaction between representations</a:t>
            </a:r>
          </a:p>
          <a:p>
            <a:pPr lvl="1"/>
            <a:r>
              <a:rPr lang="en-US" dirty="0"/>
              <a:t>Analogical reasoning</a:t>
            </a:r>
          </a:p>
          <a:p>
            <a:pPr lvl="2"/>
            <a:r>
              <a:rPr lang="en-US" dirty="0"/>
              <a:t>In the analysis, representational similarity entails parallels between trial 1’s scene-object relationship and trial 2’s scene-object relationship (i.e., an analogy)</a:t>
            </a:r>
          </a:p>
          <a:p>
            <a:pPr lvl="2"/>
            <a:r>
              <a:rPr lang="en-US" dirty="0"/>
              <a:t>Because the analysis is looking for analogies, this implies that this is related to how humans process analogies? </a:t>
            </a:r>
          </a:p>
          <a:p>
            <a:r>
              <a:rPr lang="en-US" dirty="0"/>
              <a:t>Framed as possible competing hypotheses?</a:t>
            </a:r>
          </a:p>
        </p:txBody>
      </p:sp>
    </p:spTree>
    <p:extLst>
      <p:ext uri="{BB962C8B-B14F-4D97-AF65-F5344CB8AC3E}">
        <p14:creationId xmlns:p14="http://schemas.microsoft.com/office/powerpoint/2010/main" val="1993664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F6B7C-CD14-6718-A840-E9F7F745D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350"/>
            <a:ext cx="10515600" cy="1325563"/>
          </a:xfrm>
        </p:spPr>
        <p:txBody>
          <a:bodyPr/>
          <a:lstStyle/>
          <a:p>
            <a:r>
              <a:rPr lang="en-US" dirty="0"/>
              <a:t>Perceptual vectors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C0434-B8A9-C66E-2089-3689BEA9B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648" y="2072486"/>
            <a:ext cx="5710152" cy="42826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E9A5B7-E80F-D711-F7C3-99E3B4ECDC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349" t="7884" r="5196" b="16252"/>
          <a:stretch/>
        </p:blipFill>
        <p:spPr>
          <a:xfrm>
            <a:off x="491838" y="2158688"/>
            <a:ext cx="5604162" cy="42826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D2E80-770C-7A5E-675F-02064152D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838" y="1496288"/>
            <a:ext cx="5604162" cy="66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Scene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1CCAF9-A782-97AA-7928-D6F0988DFE5B}"/>
              </a:ext>
            </a:extLst>
          </p:cNvPr>
          <p:cNvSpPr txBox="1">
            <a:spLocks/>
          </p:cNvSpPr>
          <p:nvPr/>
        </p:nvSpPr>
        <p:spPr>
          <a:xfrm>
            <a:off x="6314400" y="1496288"/>
            <a:ext cx="5550000" cy="662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dirty="0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387741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C048B-6995-A536-9102-2C894ADF8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200275" cy="1325563"/>
          </a:xfrm>
        </p:spPr>
        <p:txBody>
          <a:bodyPr/>
          <a:lstStyle/>
          <a:p>
            <a:r>
              <a:rPr lang="en-US" dirty="0"/>
              <a:t>Abs-</a:t>
            </a:r>
            <a:r>
              <a:rPr lang="en-US" dirty="0" err="1"/>
              <a:t>dif</a:t>
            </a:r>
            <a:r>
              <a:rPr lang="en-US" dirty="0"/>
              <a:t>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6AFDE-86CA-CD03-1EAC-ED71B92BF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750" y="2746375"/>
            <a:ext cx="2422525" cy="4286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Object   Scene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9F5F4F-9A7C-DC80-1400-0138A241E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1" y="87511"/>
            <a:ext cx="8910637" cy="668297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2C9FF80B-611C-7D23-5040-49E5CD09F6F4}"/>
              </a:ext>
            </a:extLst>
          </p:cNvPr>
          <p:cNvSpPr/>
          <p:nvPr/>
        </p:nvSpPr>
        <p:spPr>
          <a:xfrm>
            <a:off x="8324850" y="3079750"/>
            <a:ext cx="1270000" cy="5207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E7AE2A0-6ADC-AE3A-2C30-B2F18978D3C1}"/>
              </a:ext>
            </a:extLst>
          </p:cNvPr>
          <p:cNvSpPr/>
          <p:nvPr/>
        </p:nvSpPr>
        <p:spPr>
          <a:xfrm>
            <a:off x="6838950" y="4133850"/>
            <a:ext cx="920750" cy="38735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63E13B-3974-BE57-F5F1-309DAAB2AEAE}"/>
              </a:ext>
            </a:extLst>
          </p:cNvPr>
          <p:cNvSpPr/>
          <p:nvPr/>
        </p:nvSpPr>
        <p:spPr>
          <a:xfrm>
            <a:off x="5787230" y="4572000"/>
            <a:ext cx="1820070" cy="17399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F6C56-1EA4-4F91-2677-6E020AB52119}"/>
              </a:ext>
            </a:extLst>
          </p:cNvPr>
          <p:cNvSpPr txBox="1"/>
          <p:nvPr/>
        </p:nvSpPr>
        <p:spPr>
          <a:xfrm>
            <a:off x="5950243" y="632327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Green scene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9429E4-F6B0-B625-42C4-6D71DE421A6C}"/>
              </a:ext>
            </a:extLst>
          </p:cNvPr>
          <p:cNvSpPr/>
          <p:nvPr/>
        </p:nvSpPr>
        <p:spPr>
          <a:xfrm>
            <a:off x="565150" y="2559050"/>
            <a:ext cx="2473325" cy="74295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DAAAFA-9EA7-FED0-321A-4CA39E7A17BE}"/>
              </a:ext>
            </a:extLst>
          </p:cNvPr>
          <p:cNvCxnSpPr>
            <a:cxnSpLocks/>
          </p:cNvCxnSpPr>
          <p:nvPr/>
        </p:nvCxnSpPr>
        <p:spPr>
          <a:xfrm>
            <a:off x="1792175" y="2559050"/>
            <a:ext cx="0" cy="7429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AC701AF-8C01-E6B8-094D-C6FD65229E7D}"/>
              </a:ext>
            </a:extLst>
          </p:cNvPr>
          <p:cNvSpPr/>
          <p:nvPr/>
        </p:nvSpPr>
        <p:spPr>
          <a:xfrm>
            <a:off x="8519970" y="3821741"/>
            <a:ext cx="1270000" cy="64378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D730EC3-026F-A399-9B7D-3B87AED9D585}"/>
              </a:ext>
            </a:extLst>
          </p:cNvPr>
          <p:cNvSpPr/>
          <p:nvPr/>
        </p:nvSpPr>
        <p:spPr>
          <a:xfrm>
            <a:off x="7171151" y="1146132"/>
            <a:ext cx="2286000" cy="116492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AE857B-5274-5E44-36C3-C45A08D4168B}"/>
              </a:ext>
            </a:extLst>
          </p:cNvPr>
          <p:cNvSpPr txBox="1"/>
          <p:nvPr/>
        </p:nvSpPr>
        <p:spPr>
          <a:xfrm>
            <a:off x="3070300" y="3637075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Brown scene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CE621DD-AAD6-B534-57BB-71FD7AEF6D66}"/>
              </a:ext>
            </a:extLst>
          </p:cNvPr>
          <p:cNvSpPr/>
          <p:nvPr/>
        </p:nvSpPr>
        <p:spPr>
          <a:xfrm>
            <a:off x="4706214" y="2995808"/>
            <a:ext cx="1542185" cy="148411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CB105E-E5F2-569F-6B73-6ED42D0C74CB}"/>
              </a:ext>
            </a:extLst>
          </p:cNvPr>
          <p:cNvSpPr txBox="1"/>
          <p:nvPr/>
        </p:nvSpPr>
        <p:spPr>
          <a:xfrm>
            <a:off x="7646670" y="790544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Pink object</a:t>
            </a:r>
          </a:p>
        </p:txBody>
      </p:sp>
    </p:spTree>
    <p:extLst>
      <p:ext uri="{BB962C8B-B14F-4D97-AF65-F5344CB8AC3E}">
        <p14:creationId xmlns:p14="http://schemas.microsoft.com/office/powerpoint/2010/main" val="1584716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EB2B-4B13-E382-7A99-CCD991A1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482250"/>
            <a:ext cx="10515600" cy="939800"/>
          </a:xfrm>
        </p:spPr>
        <p:txBody>
          <a:bodyPr/>
          <a:lstStyle/>
          <a:p>
            <a:r>
              <a:rPr lang="en-US" dirty="0"/>
              <a:t>Analysis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2CEFE-C7F3-5D61-EDFD-7FC4A2DF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100" y="1693049"/>
            <a:ext cx="8487900" cy="4470151"/>
          </a:xfrm>
        </p:spPr>
        <p:txBody>
          <a:bodyPr>
            <a:normAutofit/>
          </a:bodyPr>
          <a:lstStyle/>
          <a:p>
            <a:r>
              <a:rPr lang="en-US" sz="3600" dirty="0"/>
              <a:t>Perform RSA</a:t>
            </a:r>
          </a:p>
          <a:p>
            <a:pPr lvl="1"/>
            <a:r>
              <a:rPr lang="en-US" sz="3200" dirty="0"/>
              <a:t>fMRI RDM based on:</a:t>
            </a:r>
          </a:p>
          <a:p>
            <a:pPr lvl="2"/>
            <a:r>
              <a:rPr lang="en-US" sz="2800" dirty="0"/>
              <a:t>Scene-presentation screen single-trial betas</a:t>
            </a:r>
          </a:p>
          <a:p>
            <a:pPr lvl="2"/>
            <a:r>
              <a:rPr lang="en-US" sz="2800" dirty="0"/>
              <a:t>Object-presentation screen single-trial betas</a:t>
            </a:r>
          </a:p>
          <a:p>
            <a:pPr lvl="1"/>
            <a:r>
              <a:rPr lang="en-US" sz="3200" dirty="0"/>
              <a:t>Stimulus RDM based on:</a:t>
            </a:r>
          </a:p>
          <a:p>
            <a:pPr lvl="2"/>
            <a:r>
              <a:rPr lang="en-US" sz="2800" dirty="0"/>
              <a:t>Object stimulus vector</a:t>
            </a:r>
          </a:p>
          <a:p>
            <a:pPr lvl="2"/>
            <a:r>
              <a:rPr lang="en-US" sz="2800" dirty="0"/>
              <a:t>Scene stimulus vector</a:t>
            </a:r>
          </a:p>
          <a:p>
            <a:pPr lvl="2"/>
            <a:r>
              <a:rPr lang="en-US" sz="2800" dirty="0"/>
              <a:t>Object-scene difference stimulus vector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B288ED-5577-B808-FB91-897C009D32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87" t="54667" r="53475" b="14256"/>
          <a:stretch/>
        </p:blipFill>
        <p:spPr>
          <a:xfrm>
            <a:off x="9156702" y="1286463"/>
            <a:ext cx="1176338" cy="11916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5DE59D-1DC3-9286-DB82-91F5D131D2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552" t="54668" r="29609" b="14254"/>
          <a:stretch/>
        </p:blipFill>
        <p:spPr>
          <a:xfrm>
            <a:off x="10671148" y="1286463"/>
            <a:ext cx="1176338" cy="11916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8269657-AD14-6D58-8F52-314B346E40F8}"/>
              </a:ext>
            </a:extLst>
          </p:cNvPr>
          <p:cNvSpPr/>
          <p:nvPr/>
        </p:nvSpPr>
        <p:spPr>
          <a:xfrm>
            <a:off x="9662865" y="2667959"/>
            <a:ext cx="189411" cy="1894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1CD011-FA63-412D-C2CC-8DA88EAE3BE3}"/>
              </a:ext>
            </a:extLst>
          </p:cNvPr>
          <p:cNvSpPr/>
          <p:nvPr/>
        </p:nvSpPr>
        <p:spPr>
          <a:xfrm>
            <a:off x="9662865" y="2873626"/>
            <a:ext cx="189411" cy="18941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F225A0-2531-819A-FD32-99B40E12EA27}"/>
              </a:ext>
            </a:extLst>
          </p:cNvPr>
          <p:cNvSpPr/>
          <p:nvPr/>
        </p:nvSpPr>
        <p:spPr>
          <a:xfrm>
            <a:off x="9662976" y="3079293"/>
            <a:ext cx="189411" cy="1894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486D94-8F41-8D4A-D9E4-D82AD62EE43C}"/>
              </a:ext>
            </a:extLst>
          </p:cNvPr>
          <p:cNvSpPr/>
          <p:nvPr/>
        </p:nvSpPr>
        <p:spPr>
          <a:xfrm>
            <a:off x="9661776" y="3284960"/>
            <a:ext cx="189411" cy="1894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99324E-8C3F-F9A1-CADD-8F465DC4C9E8}"/>
              </a:ext>
            </a:extLst>
          </p:cNvPr>
          <p:cNvSpPr/>
          <p:nvPr/>
        </p:nvSpPr>
        <p:spPr>
          <a:xfrm>
            <a:off x="9662137" y="349062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D3A0DD-8958-175A-60B0-2376E9F47728}"/>
              </a:ext>
            </a:extLst>
          </p:cNvPr>
          <p:cNvSpPr/>
          <p:nvPr/>
        </p:nvSpPr>
        <p:spPr>
          <a:xfrm>
            <a:off x="9663715" y="3696294"/>
            <a:ext cx="189411" cy="1894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9534C-E17A-A77F-9151-CE78D94487B8}"/>
              </a:ext>
            </a:extLst>
          </p:cNvPr>
          <p:cNvSpPr/>
          <p:nvPr/>
        </p:nvSpPr>
        <p:spPr>
          <a:xfrm>
            <a:off x="11177865" y="2667959"/>
            <a:ext cx="189411" cy="189411"/>
          </a:xfrm>
          <a:prstGeom prst="rect">
            <a:avLst/>
          </a:prstGeom>
          <a:solidFill>
            <a:srgbClr val="FF7C8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4F8DE7-62DE-9771-9AA7-A17BEA53EB83}"/>
              </a:ext>
            </a:extLst>
          </p:cNvPr>
          <p:cNvSpPr/>
          <p:nvPr/>
        </p:nvSpPr>
        <p:spPr>
          <a:xfrm>
            <a:off x="11177865" y="287362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ED019B-0605-2C8F-AD6C-C22171898583}"/>
              </a:ext>
            </a:extLst>
          </p:cNvPr>
          <p:cNvSpPr/>
          <p:nvPr/>
        </p:nvSpPr>
        <p:spPr>
          <a:xfrm>
            <a:off x="11177976" y="3079293"/>
            <a:ext cx="189411" cy="189411"/>
          </a:xfrm>
          <a:prstGeom prst="rect">
            <a:avLst/>
          </a:prstGeom>
          <a:solidFill>
            <a:srgbClr val="FFCC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A74018-6484-5ABC-50F3-590F76F8783A}"/>
              </a:ext>
            </a:extLst>
          </p:cNvPr>
          <p:cNvSpPr/>
          <p:nvPr/>
        </p:nvSpPr>
        <p:spPr>
          <a:xfrm>
            <a:off x="11176776" y="328496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98845C-F2D4-D98B-25F3-8D208BCF6E72}"/>
              </a:ext>
            </a:extLst>
          </p:cNvPr>
          <p:cNvSpPr/>
          <p:nvPr/>
        </p:nvSpPr>
        <p:spPr>
          <a:xfrm>
            <a:off x="11177137" y="3490627"/>
            <a:ext cx="189411" cy="189411"/>
          </a:xfrm>
          <a:prstGeom prst="rect">
            <a:avLst/>
          </a:prstGeom>
          <a:solidFill>
            <a:srgbClr val="FFCC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A56399-8A5A-CE07-1B8F-F8DEBBB9C86F}"/>
              </a:ext>
            </a:extLst>
          </p:cNvPr>
          <p:cNvSpPr/>
          <p:nvPr/>
        </p:nvSpPr>
        <p:spPr>
          <a:xfrm>
            <a:off x="11178715" y="3696294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45BF95-4961-CBE1-1673-B0798392F337}"/>
              </a:ext>
            </a:extLst>
          </p:cNvPr>
          <p:cNvSpPr txBox="1"/>
          <p:nvPr/>
        </p:nvSpPr>
        <p:spPr>
          <a:xfrm>
            <a:off x="9266400" y="393817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</a:p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fMRI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34B566-45B6-3974-CC61-8E01BC3F1A35}"/>
              </a:ext>
            </a:extLst>
          </p:cNvPr>
          <p:cNvSpPr txBox="1"/>
          <p:nvPr/>
        </p:nvSpPr>
        <p:spPr>
          <a:xfrm>
            <a:off x="10798814" y="393817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fMRI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A344DF-26EF-A5CC-D10F-190B9ABA17F4}"/>
              </a:ext>
            </a:extLst>
          </p:cNvPr>
          <p:cNvCxnSpPr>
            <a:cxnSpLocks/>
          </p:cNvCxnSpPr>
          <p:nvPr/>
        </p:nvCxnSpPr>
        <p:spPr>
          <a:xfrm>
            <a:off x="9748983" y="4663709"/>
            <a:ext cx="0" cy="604911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1060453-1B0A-07A1-D2E2-E7DAF86362A6}"/>
              </a:ext>
            </a:extLst>
          </p:cNvPr>
          <p:cNvCxnSpPr>
            <a:cxnSpLocks/>
          </p:cNvCxnSpPr>
          <p:nvPr/>
        </p:nvCxnSpPr>
        <p:spPr>
          <a:xfrm>
            <a:off x="11292910" y="4663709"/>
            <a:ext cx="0" cy="60491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A8B32EC-010F-EDED-C91A-AB0FB4A40607}"/>
              </a:ext>
            </a:extLst>
          </p:cNvPr>
          <p:cNvSpPr txBox="1"/>
          <p:nvPr/>
        </p:nvSpPr>
        <p:spPr>
          <a:xfrm>
            <a:off x="9266400" y="532264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</a:p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EF4FBF-5F57-BE7B-4E97-86BCF7C420CF}"/>
              </a:ext>
            </a:extLst>
          </p:cNvPr>
          <p:cNvSpPr txBox="1"/>
          <p:nvPr/>
        </p:nvSpPr>
        <p:spPr>
          <a:xfrm>
            <a:off x="10798814" y="532264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RDM</a:t>
            </a:r>
          </a:p>
        </p:txBody>
      </p:sp>
    </p:spTree>
    <p:extLst>
      <p:ext uri="{BB962C8B-B14F-4D97-AF65-F5344CB8AC3E}">
        <p14:creationId xmlns:p14="http://schemas.microsoft.com/office/powerpoint/2010/main" val="159647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8B651484-7A4A-6595-D8C4-5E593876A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8548" y="3034365"/>
            <a:ext cx="4023360" cy="30175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48884DF-FF34-E897-7836-C70AE094E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774" y="3034365"/>
            <a:ext cx="4023360" cy="3017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B40001-D83E-48BD-85C6-89975C927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124"/>
            <a:ext cx="10515600" cy="1325563"/>
          </a:xfrm>
        </p:spPr>
        <p:txBody>
          <a:bodyPr/>
          <a:lstStyle/>
          <a:p>
            <a:r>
              <a:rPr lang="en-US" dirty="0"/>
              <a:t>Preface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4CF99-FDDD-8605-DF0C-727704054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957"/>
            <a:ext cx="10515600" cy="4351338"/>
          </a:xfrm>
        </p:spPr>
        <p:txBody>
          <a:bodyPr/>
          <a:lstStyle/>
          <a:p>
            <a:r>
              <a:rPr lang="en-US" dirty="0"/>
              <a:t>As Cortney said, the data will be preprocessed again</a:t>
            </a:r>
          </a:p>
          <a:p>
            <a:r>
              <a:rPr lang="en-US" dirty="0"/>
              <a:t>Also, as we discussed in the lab meeting, we will need to discuss exactly what will be done about the within-run point</a:t>
            </a:r>
          </a:p>
          <a:p>
            <a:pPr lvl="1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1FFB0B6-5883-5045-0BE7-133580271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08" y="3034365"/>
            <a:ext cx="4023359" cy="301752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4DC3259-C257-2A25-AB85-CDC6B498ADD4}"/>
              </a:ext>
            </a:extLst>
          </p:cNvPr>
          <p:cNvSpPr txBox="1"/>
          <p:nvPr/>
        </p:nvSpPr>
        <p:spPr>
          <a:xfrm>
            <a:off x="731521" y="6121667"/>
            <a:ext cx="11271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are also questions about what exactly it means to “regress out” (e.g., should it be done run by run?)</a:t>
            </a:r>
          </a:p>
        </p:txBody>
      </p:sp>
    </p:spTree>
    <p:extLst>
      <p:ext uri="{BB962C8B-B14F-4D97-AF65-F5344CB8AC3E}">
        <p14:creationId xmlns:p14="http://schemas.microsoft.com/office/powerpoint/2010/main" val="141430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93E52-1763-99E7-19BE-A4ADDB51E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Emerging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B450B-8CD0-7D7E-BB6E-2C56A686C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153578"/>
          </a:xfrm>
        </p:spPr>
        <p:txBody>
          <a:bodyPr/>
          <a:lstStyle/>
          <a:p>
            <a:r>
              <a:rPr lang="en-US" dirty="0"/>
              <a:t>If including within-run analysis, then we see similar IRAF across all ROIs for a given trial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571A27-BDCB-B9FB-14A1-F081013706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895" r="5526"/>
          <a:stretch/>
        </p:blipFill>
        <p:spPr>
          <a:xfrm>
            <a:off x="1790299" y="2738388"/>
            <a:ext cx="3003083" cy="38449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CC8610-F2F4-95F1-378A-58A9CB1A2E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525" r="6316"/>
          <a:stretch/>
        </p:blipFill>
        <p:spPr>
          <a:xfrm>
            <a:off x="4923866" y="2733680"/>
            <a:ext cx="2933818" cy="38496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DE7C29-91B1-6E67-D58A-429182B787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368" r="6474"/>
          <a:stretch/>
        </p:blipFill>
        <p:spPr>
          <a:xfrm>
            <a:off x="7988168" y="2733680"/>
            <a:ext cx="2933818" cy="384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189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35657-DA82-192C-4BC7-A11E387C8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temporal trend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D802F-0399-CC87-099A-CEB06F735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75BE7F-D06B-A450-7A5E-CC384DB3C9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98"/>
          <a:stretch/>
        </p:blipFill>
        <p:spPr>
          <a:xfrm>
            <a:off x="279133" y="2614757"/>
            <a:ext cx="12192000" cy="387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628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656A-B113-00B4-2C2B-B4E8AF463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6"/>
            <a:ext cx="10515600" cy="1325563"/>
          </a:xfrm>
        </p:spPr>
        <p:txBody>
          <a:bodyPr/>
          <a:lstStyle/>
          <a:p>
            <a:r>
              <a:rPr lang="en-US" dirty="0"/>
              <a:t>Stimulus RSM/RDMs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7F4C0-E858-3747-E631-FE1DEA6E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83" y="5878191"/>
            <a:ext cx="10515600" cy="588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Although not visualized here, the congruent/incongruent/neutral conditions don’t have much bearing on the vectors or RSMs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53EFF8-37D1-8AD3-84BF-2D1F8081F6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53"/>
          <a:stretch/>
        </p:blipFill>
        <p:spPr>
          <a:xfrm>
            <a:off x="147320" y="2387281"/>
            <a:ext cx="4242526" cy="33832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6135DA-83D9-57DA-3DB1-1658F085B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939" y="2387281"/>
            <a:ext cx="4511040" cy="3383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0B223A-2B5E-A9A7-9476-487B8E87A4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143"/>
          <a:stretch/>
        </p:blipFill>
        <p:spPr>
          <a:xfrm>
            <a:off x="7894320" y="2387281"/>
            <a:ext cx="4188823" cy="3383280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568BBB0-ADDC-25C4-25E9-7AE8BCF39A94}"/>
              </a:ext>
            </a:extLst>
          </p:cNvPr>
          <p:cNvSpPr txBox="1">
            <a:spLocks/>
          </p:cNvSpPr>
          <p:nvPr/>
        </p:nvSpPr>
        <p:spPr>
          <a:xfrm>
            <a:off x="1062083" y="1350649"/>
            <a:ext cx="10515600" cy="1076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Perceptual representations (1</a:t>
            </a:r>
            <a:r>
              <a:rPr lang="en-US" baseline="30000" dirty="0"/>
              <a:t>st</a:t>
            </a:r>
            <a:r>
              <a:rPr lang="en-US" dirty="0"/>
              <a:t> layer of DNN)</a:t>
            </a:r>
          </a:p>
          <a:p>
            <a:r>
              <a:rPr lang="en-US" dirty="0"/>
              <a:t>The difference vector RSM doesn’t look particularly weird</a:t>
            </a:r>
          </a:p>
        </p:txBody>
      </p:sp>
    </p:spTree>
    <p:extLst>
      <p:ext uri="{BB962C8B-B14F-4D97-AF65-F5344CB8AC3E}">
        <p14:creationId xmlns:p14="http://schemas.microsoft.com/office/powerpoint/2010/main" val="2471976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992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94C0307-ED64-0827-0AC2-8C66081A1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81" y="1520751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1A: Schema representation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5C454-0847-D5A3-539E-785DCAA011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687" t="54667" r="53475" b="14256"/>
          <a:stretch/>
        </p:blipFill>
        <p:spPr>
          <a:xfrm>
            <a:off x="60374" y="572830"/>
            <a:ext cx="1176338" cy="11916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BEECFC-4E93-B729-18A9-FD7BA45DF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7006" y="1520751"/>
            <a:ext cx="6096000" cy="4572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272805" y="1168642"/>
            <a:ext cx="4322366" cy="5701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Perceptual scene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829" y="1187803"/>
            <a:ext cx="4702356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Semantic scene decoding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E13E75-8F47-C208-EADC-6BDF1ADCEFF0}"/>
              </a:ext>
            </a:extLst>
          </p:cNvPr>
          <p:cNvSpPr txBox="1"/>
          <p:nvPr/>
        </p:nvSpPr>
        <p:spPr>
          <a:xfrm>
            <a:off x="4243408" y="6250435"/>
            <a:ext cx="4283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Establishes the prediction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28BE08-E5C7-8D5E-EE89-6C88F88B0DE3}"/>
              </a:ext>
            </a:extLst>
          </p:cNvPr>
          <p:cNvSpPr/>
          <p:nvPr/>
        </p:nvSpPr>
        <p:spPr>
          <a:xfrm>
            <a:off x="1049511" y="2628000"/>
            <a:ext cx="858489" cy="176024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DDB7D3-CEF3-F5C3-8EC1-BCB430634C8C}"/>
              </a:ext>
            </a:extLst>
          </p:cNvPr>
          <p:cNvSpPr txBox="1"/>
          <p:nvPr/>
        </p:nvSpPr>
        <p:spPr>
          <a:xfrm>
            <a:off x="1736697" y="245588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</p:spTree>
    <p:extLst>
      <p:ext uri="{BB962C8B-B14F-4D97-AF65-F5344CB8AC3E}">
        <p14:creationId xmlns:p14="http://schemas.microsoft.com/office/powerpoint/2010/main" val="2466956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1C/1D: Object representation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C0A3CD8-10F5-F7CD-247C-4982C4FCD6CF}"/>
              </a:ext>
            </a:extLst>
          </p:cNvPr>
          <p:cNvSpPr txBox="1">
            <a:spLocks/>
          </p:cNvSpPr>
          <p:nvPr/>
        </p:nvSpPr>
        <p:spPr>
          <a:xfrm>
            <a:off x="2448910" y="6271600"/>
            <a:ext cx="7294179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Reproducing patterns from </a:t>
            </a:r>
            <a:r>
              <a:rPr lang="en-US" sz="2400" dirty="0" err="1"/>
              <a:t>Lifu’s</a:t>
            </a:r>
            <a:r>
              <a:rPr lang="en-US" sz="2400" dirty="0"/>
              <a:t> thesis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397000" y="1168642"/>
            <a:ext cx="4210697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Perceptual object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0201" y="1187803"/>
            <a:ext cx="4805510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Semantic object decoding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04CAE8B-86A9-C9E3-84F2-7D7EE788E2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552" t="54668" r="29609" b="14254"/>
          <a:stretch/>
        </p:blipFill>
        <p:spPr>
          <a:xfrm>
            <a:off x="152400" y="380620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ACE3EA-77A5-2739-A6A7-19BBFF2B3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614696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6E31F0-D5F8-84BD-0947-659B14855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133" y="1529792"/>
            <a:ext cx="6096000" cy="4572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6B237AD-3B29-504D-A6A7-35343FE29138}"/>
              </a:ext>
            </a:extLst>
          </p:cNvPr>
          <p:cNvSpPr/>
          <p:nvPr/>
        </p:nvSpPr>
        <p:spPr>
          <a:xfrm>
            <a:off x="1077014" y="2542710"/>
            <a:ext cx="895786" cy="164769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44FB2C-30AC-B6B9-EF9C-DE2CB4E34ABF}"/>
              </a:ext>
            </a:extLst>
          </p:cNvPr>
          <p:cNvSpPr txBox="1"/>
          <p:nvPr/>
        </p:nvSpPr>
        <p:spPr>
          <a:xfrm>
            <a:off x="2109014" y="2542710"/>
            <a:ext cx="15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Weak/Null PFC</a:t>
            </a:r>
          </a:p>
        </p:txBody>
      </p:sp>
    </p:spTree>
    <p:extLst>
      <p:ext uri="{BB962C8B-B14F-4D97-AF65-F5344CB8AC3E}">
        <p14:creationId xmlns:p14="http://schemas.microsoft.com/office/powerpoint/2010/main" val="3840370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CD782045-1A11-F3B0-3310-98ADC92F4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43" y="1392149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1"/>
            <a:ext cx="10515600" cy="980982"/>
          </a:xfrm>
        </p:spPr>
        <p:txBody>
          <a:bodyPr>
            <a:normAutofit/>
          </a:bodyPr>
          <a:lstStyle/>
          <a:p>
            <a:r>
              <a:rPr lang="en-US" sz="4000" dirty="0"/>
              <a:t>Result 2A/2B: Schema-object prediction error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099569" y="1971299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782741" y="204923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3F5E214-84F7-5DB4-CAC7-277AA064ACE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3995" b="10380"/>
          <a:stretch/>
        </p:blipFill>
        <p:spPr>
          <a:xfrm>
            <a:off x="6579810" y="1877318"/>
            <a:ext cx="4211660" cy="398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89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CD782045-1A11-F3B0-3310-98ADC92F4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43" y="1392149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1"/>
            <a:ext cx="10515600" cy="980982"/>
          </a:xfrm>
        </p:spPr>
        <p:txBody>
          <a:bodyPr>
            <a:normAutofit/>
          </a:bodyPr>
          <a:lstStyle/>
          <a:p>
            <a:r>
              <a:rPr lang="en-US" sz="4000" dirty="0"/>
              <a:t>Result 2A/2B: Schema-object prediction error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099569" y="1971299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782741" y="204923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08F8071-8A66-374A-E2DF-E70150532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218036"/>
            <a:ext cx="3851176" cy="5479290"/>
          </a:xfrm>
        </p:spPr>
        <p:txBody>
          <a:bodyPr>
            <a:normAutofit/>
          </a:bodyPr>
          <a:lstStyle/>
          <a:p>
            <a:r>
              <a:rPr lang="en-US" dirty="0"/>
              <a:t>Confirmed by an additional “macro-level” analysis focusing on the LPFC overall</a:t>
            </a:r>
          </a:p>
          <a:p>
            <a:pPr lvl="1"/>
            <a:r>
              <a:rPr lang="en-US" dirty="0"/>
              <a:t>Activation averaged by ROI</a:t>
            </a:r>
          </a:p>
          <a:p>
            <a:pPr lvl="2"/>
            <a:r>
              <a:rPr lang="en-US" dirty="0"/>
              <a:t>26 ROIs = 26-length vector</a:t>
            </a:r>
          </a:p>
          <a:p>
            <a:pPr lvl="2"/>
            <a:r>
              <a:rPr lang="en-US" dirty="0"/>
              <a:t>Submitted to RDM</a:t>
            </a:r>
          </a:p>
          <a:p>
            <a:pPr lvl="1"/>
            <a:r>
              <a:rPr lang="en-US" dirty="0"/>
              <a:t>Significant RSA effect 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 = 2.1, </a:t>
            </a:r>
            <a:r>
              <a:rPr lang="en-US" i="1" dirty="0"/>
              <a:t>p </a:t>
            </a:r>
            <a:r>
              <a:rPr lang="en-US" dirty="0"/>
              <a:t>= .02)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AA3943-B517-E798-DA43-951207643A12}"/>
              </a:ext>
            </a:extLst>
          </p:cNvPr>
          <p:cNvSpPr/>
          <p:nvPr/>
        </p:nvSpPr>
        <p:spPr>
          <a:xfrm>
            <a:off x="10507143" y="2370188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DA4999-7885-FF41-7720-BAF6464B9A64}"/>
              </a:ext>
            </a:extLst>
          </p:cNvPr>
          <p:cNvSpPr/>
          <p:nvPr/>
        </p:nvSpPr>
        <p:spPr>
          <a:xfrm>
            <a:off x="10507143" y="256991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B7B5A0-4AAE-5DB2-AD4C-960553D74DA2}"/>
              </a:ext>
            </a:extLst>
          </p:cNvPr>
          <p:cNvSpPr/>
          <p:nvPr/>
        </p:nvSpPr>
        <p:spPr>
          <a:xfrm>
            <a:off x="10507143" y="2769640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3E06F8-2A2C-D0B8-0FC8-CD454576B8D9}"/>
              </a:ext>
            </a:extLst>
          </p:cNvPr>
          <p:cNvSpPr/>
          <p:nvPr/>
        </p:nvSpPr>
        <p:spPr>
          <a:xfrm>
            <a:off x="10507143" y="2969366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F26C97-E041-0C7B-E355-2123F9D0B2E6}"/>
              </a:ext>
            </a:extLst>
          </p:cNvPr>
          <p:cNvSpPr/>
          <p:nvPr/>
        </p:nvSpPr>
        <p:spPr>
          <a:xfrm>
            <a:off x="10507143" y="3169092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294CCB-AD28-20F1-421F-79663BCBCCBB}"/>
              </a:ext>
            </a:extLst>
          </p:cNvPr>
          <p:cNvSpPr/>
          <p:nvPr/>
        </p:nvSpPr>
        <p:spPr>
          <a:xfrm>
            <a:off x="10507143" y="3368818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54D1F4-2C80-8365-CD56-C3C22F7F2A87}"/>
              </a:ext>
            </a:extLst>
          </p:cNvPr>
          <p:cNvSpPr/>
          <p:nvPr/>
        </p:nvSpPr>
        <p:spPr>
          <a:xfrm>
            <a:off x="10507143" y="3568544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28360C-98D8-9519-B6F9-17B7A0E69DC8}"/>
              </a:ext>
            </a:extLst>
          </p:cNvPr>
          <p:cNvSpPr/>
          <p:nvPr/>
        </p:nvSpPr>
        <p:spPr>
          <a:xfrm>
            <a:off x="10507143" y="3768270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211291-4412-9E28-84B0-9E669BE91AF8}"/>
              </a:ext>
            </a:extLst>
          </p:cNvPr>
          <p:cNvSpPr/>
          <p:nvPr/>
        </p:nvSpPr>
        <p:spPr>
          <a:xfrm>
            <a:off x="10507143" y="3967996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060388-B992-6D1D-B1D0-06ACBDDAF1E5}"/>
              </a:ext>
            </a:extLst>
          </p:cNvPr>
          <p:cNvSpPr/>
          <p:nvPr/>
        </p:nvSpPr>
        <p:spPr>
          <a:xfrm>
            <a:off x="10507143" y="4167722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7BC739-1C77-0A15-A368-C865B3483F69}"/>
              </a:ext>
            </a:extLst>
          </p:cNvPr>
          <p:cNvSpPr/>
          <p:nvPr/>
        </p:nvSpPr>
        <p:spPr>
          <a:xfrm>
            <a:off x="10507143" y="4367448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DEF091-104B-2B8F-2FEC-8CB21E108C53}"/>
              </a:ext>
            </a:extLst>
          </p:cNvPr>
          <p:cNvSpPr/>
          <p:nvPr/>
        </p:nvSpPr>
        <p:spPr>
          <a:xfrm>
            <a:off x="10507143" y="456717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48757A-4822-9336-8F58-3F7A86CE5303}"/>
              </a:ext>
            </a:extLst>
          </p:cNvPr>
          <p:cNvSpPr/>
          <p:nvPr/>
        </p:nvSpPr>
        <p:spPr>
          <a:xfrm>
            <a:off x="10507143" y="4766900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1C81F0-1437-A4E1-21EE-6EAD1C0266DB}"/>
              </a:ext>
            </a:extLst>
          </p:cNvPr>
          <p:cNvSpPr/>
          <p:nvPr/>
        </p:nvSpPr>
        <p:spPr>
          <a:xfrm>
            <a:off x="10507143" y="4966626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8190D8-9990-AA84-64C6-FC5E2263AB9C}"/>
              </a:ext>
            </a:extLst>
          </p:cNvPr>
          <p:cNvSpPr/>
          <p:nvPr/>
        </p:nvSpPr>
        <p:spPr>
          <a:xfrm>
            <a:off x="10507143" y="5166352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357D43-C4FD-5A97-3597-A83982C2535D}"/>
              </a:ext>
            </a:extLst>
          </p:cNvPr>
          <p:cNvSpPr/>
          <p:nvPr/>
        </p:nvSpPr>
        <p:spPr>
          <a:xfrm>
            <a:off x="10507143" y="5366078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697EE0-0379-6529-A5FF-5DA81BCE46B8}"/>
              </a:ext>
            </a:extLst>
          </p:cNvPr>
          <p:cNvSpPr/>
          <p:nvPr/>
        </p:nvSpPr>
        <p:spPr>
          <a:xfrm>
            <a:off x="10507143" y="5565804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16B0DF-5970-D5EC-175F-2C0613730EED}"/>
              </a:ext>
            </a:extLst>
          </p:cNvPr>
          <p:cNvSpPr/>
          <p:nvPr/>
        </p:nvSpPr>
        <p:spPr>
          <a:xfrm>
            <a:off x="10507143" y="5765534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4866AC9D-920C-F410-DE1B-BA767E44B525}"/>
              </a:ext>
            </a:extLst>
          </p:cNvPr>
          <p:cNvSpPr/>
          <p:nvPr/>
        </p:nvSpPr>
        <p:spPr>
          <a:xfrm>
            <a:off x="11058178" y="2403192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4F636BE4-FC78-DE52-ECE7-B0F7A837C498}"/>
              </a:ext>
            </a:extLst>
          </p:cNvPr>
          <p:cNvSpPr/>
          <p:nvPr/>
        </p:nvSpPr>
        <p:spPr>
          <a:xfrm>
            <a:off x="11058178" y="3595592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9E511F93-9368-8305-9D15-BF9FE84D2FEF}"/>
              </a:ext>
            </a:extLst>
          </p:cNvPr>
          <p:cNvSpPr/>
          <p:nvPr/>
        </p:nvSpPr>
        <p:spPr>
          <a:xfrm>
            <a:off x="11058178" y="4782936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202A34-B13C-C16B-E528-391968B2EE2C}"/>
              </a:ext>
            </a:extLst>
          </p:cNvPr>
          <p:cNvSpPr/>
          <p:nvPr/>
        </p:nvSpPr>
        <p:spPr>
          <a:xfrm>
            <a:off x="11582817" y="2817373"/>
            <a:ext cx="370640" cy="3706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2F9CF1-642F-C362-BB78-28A6E2C9A967}"/>
              </a:ext>
            </a:extLst>
          </p:cNvPr>
          <p:cNvSpPr/>
          <p:nvPr/>
        </p:nvSpPr>
        <p:spPr>
          <a:xfrm>
            <a:off x="11582817" y="4018416"/>
            <a:ext cx="370640" cy="370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C8F4BC-4DDA-B974-F2C3-6C30046CB7F8}"/>
              </a:ext>
            </a:extLst>
          </p:cNvPr>
          <p:cNvSpPr/>
          <p:nvPr/>
        </p:nvSpPr>
        <p:spPr>
          <a:xfrm>
            <a:off x="11582817" y="5198781"/>
            <a:ext cx="370640" cy="3706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ABD2D0-021A-9406-0EBF-DF02F4780444}"/>
              </a:ext>
            </a:extLst>
          </p:cNvPr>
          <p:cNvSpPr txBox="1"/>
          <p:nvPr/>
        </p:nvSpPr>
        <p:spPr>
          <a:xfrm>
            <a:off x="10103494" y="1370480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“Micro”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(standard)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ED383B-1366-70A9-0DC1-B52EF1FDD611}"/>
              </a:ext>
            </a:extLst>
          </p:cNvPr>
          <p:cNvSpPr txBox="1"/>
          <p:nvPr/>
        </p:nvSpPr>
        <p:spPr>
          <a:xfrm>
            <a:off x="11142371" y="1370480"/>
            <a:ext cx="10663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“Macro”</a:t>
            </a:r>
          </a:p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149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5E760-A46A-F959-E420-A54C3033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344"/>
            <a:ext cx="10515600" cy="1325563"/>
          </a:xfrm>
        </p:spPr>
        <p:txBody>
          <a:bodyPr/>
          <a:lstStyle/>
          <a:p>
            <a:r>
              <a:rPr lang="en-US" dirty="0"/>
              <a:t>Result 2C: Connectivity: Activity x IRAF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2870E-25E1-7272-892B-16761148B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412" y="1770378"/>
            <a:ext cx="10163175" cy="3563621"/>
          </a:xfrm>
        </p:spPr>
        <p:txBody>
          <a:bodyPr>
            <a:normAutofit/>
          </a:bodyPr>
          <a:lstStyle/>
          <a:p>
            <a:r>
              <a:rPr lang="en-US" dirty="0"/>
              <a:t>Related to the </a:t>
            </a:r>
            <a:r>
              <a:rPr lang="en-US" u="sng" dirty="0"/>
              <a:t>linking</a:t>
            </a:r>
            <a:r>
              <a:rPr lang="en-US" dirty="0"/>
              <a:t> and </a:t>
            </a:r>
            <a:r>
              <a:rPr lang="en-US" u="sng" dirty="0"/>
              <a:t>boosting</a:t>
            </a:r>
            <a:r>
              <a:rPr lang="en-US" dirty="0"/>
              <a:t> points made in the grant/papers</a:t>
            </a:r>
          </a:p>
          <a:p>
            <a:r>
              <a:rPr lang="en-US" dirty="0"/>
              <a:t>Correlate:</a:t>
            </a:r>
          </a:p>
          <a:p>
            <a:pPr lvl="1"/>
            <a:r>
              <a:rPr lang="en-US" sz="2000" dirty="0"/>
              <a:t>Region A: Mean connectivity across all voxels for a given trial</a:t>
            </a:r>
          </a:p>
          <a:p>
            <a:pPr lvl="1"/>
            <a:r>
              <a:rPr lang="en-US" sz="2000" dirty="0"/>
              <a:t>Region B: IRAF</a:t>
            </a:r>
          </a:p>
          <a:p>
            <a:pPr lvl="1"/>
            <a:r>
              <a:rPr lang="en-US" sz="2000" dirty="0"/>
              <a:t>Note: A x B ≠ B x A</a:t>
            </a:r>
          </a:p>
          <a:p>
            <a:pPr lvl="1"/>
            <a:r>
              <a:rPr lang="en-US" sz="2000" dirty="0"/>
              <a:t>Test if significantly above zero</a:t>
            </a:r>
            <a:endParaRPr lang="en-US" sz="1600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90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5EC70B-3E18-9DA3-C9E5-369E090A7D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799" r="7996" b="10648"/>
          <a:stretch/>
        </p:blipFill>
        <p:spPr>
          <a:xfrm>
            <a:off x="5365799" y="1332945"/>
            <a:ext cx="6309645" cy="53185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AD4DE0-0B64-9F84-DFE1-D26E4A71B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794" y="365126"/>
            <a:ext cx="10732750" cy="917856"/>
          </a:xfrm>
        </p:spPr>
        <p:txBody>
          <a:bodyPr/>
          <a:lstStyle/>
          <a:p>
            <a:r>
              <a:rPr lang="en-US" dirty="0"/>
              <a:t>Result 2C: Difference RSA x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3875F-37A6-A015-3CEF-182AC00EA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818" y="1554303"/>
            <a:ext cx="4410075" cy="4829174"/>
          </a:xfrm>
        </p:spPr>
        <p:txBody>
          <a:bodyPr>
            <a:normAutofit/>
          </a:bodyPr>
          <a:lstStyle/>
          <a:p>
            <a:r>
              <a:rPr lang="en-US" dirty="0"/>
              <a:t>MFG IRAF linked to stronger LOC connectivity</a:t>
            </a:r>
          </a:p>
          <a:p>
            <a:pPr lvl="1"/>
            <a:r>
              <a:rPr lang="en-US" dirty="0"/>
              <a:t>General pattern of LPFC-Occipital</a:t>
            </a:r>
          </a:p>
          <a:p>
            <a:pPr lvl="1"/>
            <a:r>
              <a:rPr lang="en-US" dirty="0"/>
              <a:t>Possible link to fusiform gyrus and posterior inferior temporal lobe as well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1F282F-4487-41A6-34D1-6A14B4EE86FB}"/>
              </a:ext>
            </a:extLst>
          </p:cNvPr>
          <p:cNvSpPr/>
          <p:nvPr/>
        </p:nvSpPr>
        <p:spPr>
          <a:xfrm>
            <a:off x="6213830" y="2538385"/>
            <a:ext cx="431839" cy="4318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D4D20B-C54B-1338-D7E9-F541444E67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41456" y="365126"/>
            <a:ext cx="1176338" cy="119162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A27ECAF-5989-AB68-FE99-B4BDBA95F35B}"/>
              </a:ext>
            </a:extLst>
          </p:cNvPr>
          <p:cNvSpPr/>
          <p:nvPr/>
        </p:nvSpPr>
        <p:spPr>
          <a:xfrm>
            <a:off x="6277784" y="4127853"/>
            <a:ext cx="596145" cy="61515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05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1616F-448C-25B8-3907-B941FB36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3A: Prediction error IRAF predicts subsequent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79230-98CE-5856-FBD3-4D47056CE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LPFC abs-</a:t>
            </a:r>
            <a:r>
              <a:rPr lang="en-US" dirty="0" err="1"/>
              <a:t>dif</a:t>
            </a:r>
            <a:r>
              <a:rPr lang="en-US" dirty="0"/>
              <a:t> IRAF predicts subsequent memory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453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9F17E-1EE9-B525-4301-3DCC345C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295" y="171322"/>
            <a:ext cx="10515600" cy="1325563"/>
          </a:xfrm>
        </p:spPr>
        <p:txBody>
          <a:bodyPr/>
          <a:lstStyle/>
          <a:p>
            <a:r>
              <a:rPr lang="en-US" dirty="0"/>
              <a:t>Result 3B: Retrieval retrieves scene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F6187-0D0D-5642-D562-823A0E31D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1570037"/>
            <a:ext cx="5010912" cy="5111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Conceptual task: Scene RSA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A69BD-9E42-5222-0C2C-937DB1373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37" y="2081212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E18CFB-C6FA-34D4-42FE-130C4593A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095" y="2081212"/>
            <a:ext cx="6096000" cy="4572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CF343B-3C57-D3F3-CCA6-72F01CB3559D}"/>
              </a:ext>
            </a:extLst>
          </p:cNvPr>
          <p:cNvSpPr txBox="1">
            <a:spLocks/>
          </p:cNvSpPr>
          <p:nvPr/>
        </p:nvSpPr>
        <p:spPr>
          <a:xfrm>
            <a:off x="6843295" y="1570037"/>
            <a:ext cx="4673600" cy="511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Visual task: Scene RSA</a:t>
            </a:r>
          </a:p>
        </p:txBody>
      </p:sp>
    </p:spTree>
    <p:extLst>
      <p:ext uri="{BB962C8B-B14F-4D97-AF65-F5344CB8AC3E}">
        <p14:creationId xmlns:p14="http://schemas.microsoft.com/office/powerpoint/2010/main" val="877066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Other things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5999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F8A30-9097-C6DF-4F19-3F47E35C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</a:t>
            </a:r>
          </a:p>
        </p:txBody>
      </p:sp>
      <p:pic>
        <p:nvPicPr>
          <p:cNvPr id="7" name="Content Placeholder 6" descr="A diagram of a brain&#10;&#10;Description automatically generated">
            <a:extLst>
              <a:ext uri="{FF2B5EF4-FFF2-40B4-BE49-F238E27FC236}">
                <a16:creationId xmlns:a16="http://schemas.microsoft.com/office/drawing/2014/main" id="{F876F9C2-1A68-4477-18E0-142F7A385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00" t="10834"/>
          <a:stretch/>
        </p:blipFill>
        <p:spPr>
          <a:xfrm>
            <a:off x="6455028" y="1658919"/>
            <a:ext cx="5323645" cy="290720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1B3735-50A5-ED6C-FCA7-924BC8814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38" y="1658920"/>
            <a:ext cx="5323645" cy="290720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9D59E4-3E30-5031-69BE-D146CFE67648}"/>
              </a:ext>
            </a:extLst>
          </p:cNvPr>
          <p:cNvSpPr txBox="1">
            <a:spLocks/>
          </p:cNvSpPr>
          <p:nvPr/>
        </p:nvSpPr>
        <p:spPr>
          <a:xfrm>
            <a:off x="838200" y="5199080"/>
            <a:ext cx="10515600" cy="981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Replicate modules identified by </a:t>
            </a:r>
            <a:r>
              <a:rPr lang="en-US" dirty="0" err="1"/>
              <a:t>Lifu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5744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60B0-E6A5-35D9-2E2A-E5CEA68D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retrieval 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44C49-FBAE-6683-0B29-86BEFC65E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see correlations:</a:t>
            </a:r>
          </a:p>
          <a:p>
            <a:pPr lvl="1"/>
            <a:r>
              <a:rPr lang="en-US" dirty="0"/>
              <a:t>Baseline x encoding</a:t>
            </a:r>
          </a:p>
          <a:p>
            <a:pPr lvl="1"/>
            <a:r>
              <a:rPr lang="en-US" dirty="0"/>
              <a:t>Baseline x visual (ERS)</a:t>
            </a:r>
          </a:p>
          <a:p>
            <a:pPr lvl="1"/>
            <a:r>
              <a:rPr lang="en-US" dirty="0"/>
              <a:t>Encoding x visual (ERS)</a:t>
            </a:r>
          </a:p>
          <a:p>
            <a:r>
              <a:rPr lang="en-US" dirty="0"/>
              <a:t>Possibly interesting further work:</a:t>
            </a:r>
          </a:p>
          <a:p>
            <a:pPr lvl="1"/>
            <a:r>
              <a:rPr lang="en-US" dirty="0"/>
              <a:t>Similarity is, in part, due to the same representation being activated</a:t>
            </a:r>
          </a:p>
          <a:p>
            <a:pPr lvl="1"/>
            <a:r>
              <a:rPr lang="en-US" dirty="0"/>
              <a:t>Hence, we would expect to see an IRAF x ERS correlation</a:t>
            </a:r>
          </a:p>
          <a:p>
            <a:pPr lvl="2"/>
            <a:r>
              <a:rPr lang="en-US" dirty="0"/>
              <a:t>Further, we would expect the correlation to be stronger based on what type of stimulus properties are used to calculate IRAF </a:t>
            </a:r>
          </a:p>
          <a:p>
            <a:pPr lvl="2"/>
            <a:r>
              <a:rPr lang="en-US" dirty="0"/>
              <a:t>(e.g., if using DNN vectors, we would expect stronger IRAF x ERS in occipital, but if using word2vec vectors, we would expect stronger IRAF x ERS in ATL)</a:t>
            </a:r>
          </a:p>
          <a:p>
            <a:pPr lvl="1"/>
            <a:r>
              <a:rPr lang="en-US" dirty="0"/>
              <a:t>Not sure how this could be useful. Maybe this can prove to be a more sensitive measure than RDM x RDM correlations?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8464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Whiffs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512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B2EF9-B761-D3F7-853D-F40968FFE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78319"/>
          </a:xfrm>
        </p:spPr>
        <p:txBody>
          <a:bodyPr/>
          <a:lstStyle/>
          <a:p>
            <a:r>
              <a:rPr lang="en-US" dirty="0"/>
              <a:t>Other analyses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86783-DCF9-96A2-6BFD-5070AC584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3688"/>
            <a:ext cx="10877550" cy="5827281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Can you do RSA with respect to the fMRI difference vector?</a:t>
            </a:r>
          </a:p>
          <a:p>
            <a:pPr lvl="1"/>
            <a:r>
              <a:rPr lang="en-US" dirty="0"/>
              <a:t>E.g., examine whether presenting a scene shifts the neural representation of the object between baseline ➜ retrieval</a:t>
            </a:r>
          </a:p>
          <a:p>
            <a:pPr lvl="2"/>
            <a:r>
              <a:rPr lang="en-US" dirty="0"/>
              <a:t>[Scene stimulus vector] x [baseline-fMRI minus visual-fMRI]</a:t>
            </a:r>
          </a:p>
          <a:p>
            <a:pPr lvl="2"/>
            <a:r>
              <a:rPr lang="en-US" dirty="0"/>
              <a:t>Overlapping ideas with that journal club paper we read on semantic shifts after learning</a:t>
            </a:r>
          </a:p>
          <a:p>
            <a:pPr lvl="1"/>
            <a:r>
              <a:rPr lang="en-US" dirty="0"/>
              <a:t>No significant results</a:t>
            </a:r>
          </a:p>
          <a:p>
            <a:pPr lvl="2"/>
            <a:r>
              <a:rPr lang="en-US" dirty="0"/>
              <a:t>This route may have potential, but it may just be too much of a stretch given the present design</a:t>
            </a:r>
          </a:p>
          <a:p>
            <a:r>
              <a:rPr lang="en-US" dirty="0">
                <a:solidFill>
                  <a:srgbClr val="0070C0"/>
                </a:solidFill>
              </a:rPr>
              <a:t>Does congruency lead to connectivity patterns during scene presentation being more correlated with connectivity during object presentation?</a:t>
            </a:r>
          </a:p>
          <a:p>
            <a:pPr lvl="1"/>
            <a:r>
              <a:rPr lang="en-US" dirty="0"/>
              <a:t>No, it doesn’t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If you calculate single-trial connectivity based on the scene x object betas (binary connectivity), and submit the data to RSA, will you find significant results?</a:t>
            </a:r>
          </a:p>
          <a:p>
            <a:pPr lvl="1"/>
            <a:r>
              <a:rPr lang="en-US" dirty="0"/>
              <a:t>No, not really</a:t>
            </a:r>
          </a:p>
          <a:p>
            <a:pPr lvl="1"/>
            <a:r>
              <a:rPr lang="en-US" dirty="0"/>
              <a:t>Found one significant RSA result:</a:t>
            </a:r>
          </a:p>
          <a:p>
            <a:pPr lvl="2"/>
            <a:r>
              <a:rPr lang="en-US" dirty="0"/>
              <a:t>Within-occipital-lobe-connectivity x last-layer-activation-DNN</a:t>
            </a:r>
          </a:p>
          <a:p>
            <a:pPr lvl="2"/>
            <a:r>
              <a:rPr lang="en-US" dirty="0"/>
              <a:t>My guess is that this is spurious</a:t>
            </a:r>
          </a:p>
        </p:txBody>
      </p:sp>
    </p:spTree>
    <p:extLst>
      <p:ext uri="{BB962C8B-B14F-4D97-AF65-F5344CB8AC3E}">
        <p14:creationId xmlns:p14="http://schemas.microsoft.com/office/powerpoint/2010/main" val="39491506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Study ideas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6703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1F41E-4FDC-4A21-3C05-A8E96B1F2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2175"/>
          </a:xfrm>
        </p:spPr>
        <p:txBody>
          <a:bodyPr/>
          <a:lstStyle/>
          <a:p>
            <a:r>
              <a:rPr lang="en-US" dirty="0"/>
              <a:t>Generalize the past, pinpoint the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DD9B7-B465-539B-5376-9F1A7BB45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948237"/>
          </a:xfrm>
        </p:spPr>
        <p:txBody>
          <a:bodyPr/>
          <a:lstStyle/>
          <a:p>
            <a:r>
              <a:rPr lang="en-US" dirty="0"/>
              <a:t>Hypothesis: When people think about an event, they have a broad imagination about what could have led to it, but narrowly consider what will follow the event.</a:t>
            </a:r>
          </a:p>
          <a:p>
            <a:r>
              <a:rPr lang="en-US" dirty="0"/>
              <a:t>Encoding task (roughly):</a:t>
            </a:r>
          </a:p>
          <a:p>
            <a:pPr lvl="1"/>
            <a:r>
              <a:rPr lang="en-US" dirty="0"/>
              <a:t>Participants view a series of images, linked together sequentially (e.g., by telling participants that they’re traveling between locations)</a:t>
            </a:r>
          </a:p>
          <a:p>
            <a:pPr lvl="1"/>
            <a:r>
              <a:rPr lang="en-US" dirty="0"/>
              <a:t>Same images are shown repeatedly</a:t>
            </a:r>
          </a:p>
          <a:p>
            <a:r>
              <a:rPr lang="en-US" dirty="0"/>
              <a:t>Retrieval (roughly):</a:t>
            </a:r>
          </a:p>
          <a:p>
            <a:pPr lvl="1"/>
            <a:r>
              <a:rPr lang="en-US" dirty="0"/>
              <a:t>Cue participants with an image, and ask them to freely recall “all the images that may have preceded/followed” the cue</a:t>
            </a:r>
          </a:p>
          <a:p>
            <a:pPr lvl="1"/>
            <a:r>
              <a:rPr lang="en-US" dirty="0"/>
              <a:t>Different further design elements can be included to test hypothesis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094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98FD6-C505-D916-ED33-D7A1AEB82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81100"/>
          </a:xfrm>
        </p:spPr>
        <p:txBody>
          <a:bodyPr/>
          <a:lstStyle/>
          <a:p>
            <a:r>
              <a:rPr lang="en-US" dirty="0"/>
              <a:t>Investigating hippocampal traces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40A44-239D-2C1D-FD27-262169169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9499"/>
            <a:ext cx="10515600" cy="54832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Encoding an association between items X and Y requires:</a:t>
            </a:r>
          </a:p>
          <a:p>
            <a:pPr lvl="1"/>
            <a:r>
              <a:rPr lang="en-US" dirty="0"/>
              <a:t>Representing X</a:t>
            </a:r>
          </a:p>
          <a:p>
            <a:pPr lvl="1"/>
            <a:r>
              <a:rPr lang="en-US" dirty="0"/>
              <a:t>Representing Y</a:t>
            </a:r>
          </a:p>
          <a:p>
            <a:pPr lvl="1"/>
            <a:r>
              <a:rPr lang="en-US" dirty="0"/>
              <a:t>Binding the two</a:t>
            </a:r>
          </a:p>
          <a:p>
            <a:r>
              <a:rPr lang="en-US" dirty="0"/>
              <a:t>Analysis:</a:t>
            </a:r>
          </a:p>
          <a:p>
            <a:pPr lvl="1"/>
            <a:r>
              <a:rPr lang="en-US" dirty="0"/>
              <a:t>Investigate interplay between X-IRAF, Y-IRAF, BOLD activation, and memory accuracy</a:t>
            </a:r>
          </a:p>
          <a:p>
            <a:pPr lvl="1"/>
            <a:r>
              <a:rPr lang="en-US" dirty="0"/>
              <a:t>Looking at encoding fMRI data: </a:t>
            </a:r>
          </a:p>
          <a:p>
            <a:pPr lvl="2"/>
            <a:r>
              <a:rPr lang="en-US" dirty="0"/>
              <a:t>Accuracy ~ PFC</a:t>
            </a:r>
            <a:r>
              <a:rPr lang="en-US" baseline="-25000" dirty="0"/>
              <a:t>X-IRAF </a:t>
            </a:r>
            <a:r>
              <a:rPr lang="en-US" dirty="0"/>
              <a:t>× PFC</a:t>
            </a:r>
            <a:r>
              <a:rPr lang="en-US" baseline="-25000" dirty="0"/>
              <a:t>Y-IRAF  </a:t>
            </a:r>
            <a:r>
              <a:rPr lang="en-US" dirty="0"/>
              <a:t>× HC</a:t>
            </a:r>
            <a:r>
              <a:rPr lang="en-US" baseline="-25000" dirty="0"/>
              <a:t>BOLD</a:t>
            </a:r>
          </a:p>
          <a:p>
            <a:pPr lvl="1"/>
            <a:r>
              <a:rPr lang="en-US" dirty="0"/>
              <a:t>Looking at retrieval fMRI data, does cuing with X lead to activation of Y representations?</a:t>
            </a:r>
          </a:p>
          <a:p>
            <a:pPr lvl="2"/>
            <a:r>
              <a:rPr lang="en-US" dirty="0"/>
              <a:t>PFC</a:t>
            </a:r>
            <a:r>
              <a:rPr lang="en-US" baseline="-25000" dirty="0"/>
              <a:t>Y-IRAF </a:t>
            </a:r>
            <a:r>
              <a:rPr lang="en-US" dirty="0"/>
              <a:t>~ PFC</a:t>
            </a:r>
            <a:r>
              <a:rPr lang="en-US" baseline="-25000" dirty="0"/>
              <a:t>X-IRAF </a:t>
            </a:r>
            <a:r>
              <a:rPr lang="en-US" dirty="0"/>
              <a:t>× HC</a:t>
            </a:r>
            <a:r>
              <a:rPr lang="en-US" baseline="-25000" dirty="0"/>
              <a:t>BOLD</a:t>
            </a:r>
            <a:r>
              <a:rPr lang="en-US" dirty="0"/>
              <a:t> (hit trials only)</a:t>
            </a:r>
          </a:p>
          <a:p>
            <a:pPr lvl="2"/>
            <a:r>
              <a:rPr lang="en-US" dirty="0"/>
              <a:t>Linking X and Y without HC involvement may reflect consolidation</a:t>
            </a:r>
          </a:p>
          <a:p>
            <a:r>
              <a:rPr lang="en-US" dirty="0"/>
              <a:t>Maybe with some tweaks to the task, we can use it to compare different memory trace theories</a:t>
            </a:r>
          </a:p>
        </p:txBody>
      </p:sp>
    </p:spTree>
    <p:extLst>
      <p:ext uri="{BB962C8B-B14F-4D97-AF65-F5344CB8AC3E}">
        <p14:creationId xmlns:p14="http://schemas.microsoft.com/office/powerpoint/2010/main" val="3402791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B922-5678-3004-A3A4-42AE3234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950"/>
            <a:ext cx="10515600" cy="1325563"/>
          </a:xfrm>
        </p:spPr>
        <p:txBody>
          <a:bodyPr/>
          <a:lstStyle/>
          <a:p>
            <a:r>
              <a:rPr lang="en-US" dirty="0"/>
              <a:t>Episodic memories as state transitions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C80D7-42D4-7406-36F9-ED121BD41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3513"/>
            <a:ext cx="10763250" cy="51482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 participants encode episodic memories as “state transitions”?</a:t>
            </a:r>
          </a:p>
          <a:p>
            <a:pPr lvl="1"/>
            <a:r>
              <a:rPr lang="en-US" dirty="0"/>
              <a:t>Suppose participants view the sequence A-X-B and A-Y-B. Later, participants are asked to retrieve X and Y. In the retrieval test, will we see a positive correlation between X and Y activation patterns? </a:t>
            </a:r>
          </a:p>
          <a:p>
            <a:pPr lvl="2"/>
            <a:r>
              <a:rPr lang="en-US" dirty="0"/>
              <a:t>By “correlation” I mean in the sense of encoding-retrieval similarity</a:t>
            </a:r>
          </a:p>
          <a:p>
            <a:pPr lvl="1"/>
            <a:r>
              <a:rPr lang="en-US" dirty="0"/>
              <a:t>Confirmatory analysis: the X-Y similarity is greater than the “baseline” correlation between X and Y during encoding</a:t>
            </a:r>
          </a:p>
          <a:p>
            <a:r>
              <a:rPr lang="en-US" dirty="0"/>
              <a:t>Furthermore, if participants also view the sequence B-Z-A, is Z less correlated with X and Y?</a:t>
            </a:r>
          </a:p>
          <a:p>
            <a:pPr lvl="1"/>
            <a:r>
              <a:rPr lang="en-US" dirty="0"/>
              <a:t>Z × X &lt; </a:t>
            </a:r>
            <a:r>
              <a:rPr lang="en-US" dirty="0">
                <a:latin typeface="Roboto" panose="02000000000000000000" pitchFamily="2" charset="0"/>
              </a:rPr>
              <a:t>X </a:t>
            </a:r>
            <a:r>
              <a:rPr lang="en-US" b="0" i="0" dirty="0">
                <a:effectLst/>
                <a:latin typeface="Roboto" panose="02000000000000000000" pitchFamily="2" charset="0"/>
              </a:rPr>
              <a:t>×</a:t>
            </a:r>
            <a:r>
              <a:rPr lang="en-US" dirty="0">
                <a:latin typeface="Roboto" panose="02000000000000000000" pitchFamily="2" charset="0"/>
              </a:rPr>
              <a:t> Y</a:t>
            </a:r>
          </a:p>
          <a:p>
            <a:pPr lvl="1"/>
            <a:r>
              <a:rPr lang="en-US" dirty="0"/>
              <a:t>Z × Y &lt; </a:t>
            </a:r>
            <a:r>
              <a:rPr lang="en-US" dirty="0">
                <a:latin typeface="Roboto" panose="02000000000000000000" pitchFamily="2" charset="0"/>
              </a:rPr>
              <a:t>X </a:t>
            </a:r>
            <a:r>
              <a:rPr lang="en-US" b="0" i="0" dirty="0">
                <a:effectLst/>
                <a:latin typeface="Roboto" panose="02000000000000000000" pitchFamily="2" charset="0"/>
              </a:rPr>
              <a:t>×</a:t>
            </a:r>
            <a:r>
              <a:rPr lang="en-US" dirty="0">
                <a:latin typeface="Roboto" panose="02000000000000000000" pitchFamily="2" charset="0"/>
              </a:rPr>
              <a:t> Y</a:t>
            </a:r>
          </a:p>
          <a:p>
            <a:pPr lvl="1"/>
            <a:r>
              <a:rPr lang="en-US" dirty="0">
                <a:latin typeface="Roboto" panose="02000000000000000000" pitchFamily="2" charset="0"/>
              </a:rPr>
              <a:t>Evidence that the directionality of A ➜ B is imbued in the representation of X and Y</a:t>
            </a:r>
          </a:p>
          <a:p>
            <a:r>
              <a:rPr lang="en-US" dirty="0">
                <a:latin typeface="Roboto" panose="02000000000000000000" pitchFamily="2" charset="0"/>
              </a:rPr>
              <a:t>Could also look at difference vectors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2618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722C3-F583-BF77-2450-11AFE2621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13" y="301187"/>
            <a:ext cx="1105317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Older adults prototype rather than generalize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B8345-CF6A-C2AB-94BA-1A4AE2D2E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713" y="1623321"/>
            <a:ext cx="4790678" cy="2065811"/>
          </a:xfrm>
        </p:spPr>
        <p:txBody>
          <a:bodyPr>
            <a:normAutofit/>
          </a:bodyPr>
          <a:lstStyle/>
          <a:p>
            <a:r>
              <a:rPr lang="en-US" i="1" dirty="0"/>
              <a:t>Prototyping</a:t>
            </a:r>
            <a:r>
              <a:rPr lang="en-US" dirty="0"/>
              <a:t> = link stimuli to a previous similar “prototypical” stimulus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60AA76F-12E0-9B5C-35A7-E6E8EA1094B7}"/>
              </a:ext>
            </a:extLst>
          </p:cNvPr>
          <p:cNvSpPr/>
          <p:nvPr/>
        </p:nvSpPr>
        <p:spPr>
          <a:xfrm>
            <a:off x="2928308" y="4876698"/>
            <a:ext cx="323850" cy="32385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5430B2B-2DD5-EEE6-6847-852506D6858E}"/>
              </a:ext>
            </a:extLst>
          </p:cNvPr>
          <p:cNvSpPr/>
          <p:nvPr/>
        </p:nvSpPr>
        <p:spPr>
          <a:xfrm>
            <a:off x="3785558" y="48766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7AFF95E-6A3F-CB36-7A75-AEA58DC1B26D}"/>
              </a:ext>
            </a:extLst>
          </p:cNvPr>
          <p:cNvSpPr/>
          <p:nvPr/>
        </p:nvSpPr>
        <p:spPr>
          <a:xfrm>
            <a:off x="2928308" y="5720455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F8E08E-C0E1-81D7-939E-57AAB82954EA}"/>
              </a:ext>
            </a:extLst>
          </p:cNvPr>
          <p:cNvSpPr/>
          <p:nvPr/>
        </p:nvSpPr>
        <p:spPr>
          <a:xfrm>
            <a:off x="2071058" y="48766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8FDF158-64A6-9669-501B-3ADD66A32264}"/>
              </a:ext>
            </a:extLst>
          </p:cNvPr>
          <p:cNvSpPr/>
          <p:nvPr/>
        </p:nvSpPr>
        <p:spPr>
          <a:xfrm>
            <a:off x="2928308" y="40384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56725E-D96E-7F5F-73B4-EA3470F0F50A}"/>
              </a:ext>
            </a:extLst>
          </p:cNvPr>
          <p:cNvCxnSpPr>
            <a:stCxn id="8" idx="4"/>
            <a:endCxn id="4" idx="0"/>
          </p:cNvCxnSpPr>
          <p:nvPr/>
        </p:nvCxnSpPr>
        <p:spPr>
          <a:xfrm>
            <a:off x="3090233" y="4362348"/>
            <a:ext cx="0" cy="51435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33AB7A-28B5-0F0F-F41B-0BBDA8BAA4A4}"/>
              </a:ext>
            </a:extLst>
          </p:cNvPr>
          <p:cNvCxnSpPr>
            <a:cxnSpLocks/>
            <a:stCxn id="5" idx="2"/>
            <a:endCxn id="4" idx="6"/>
          </p:cNvCxnSpPr>
          <p:nvPr/>
        </p:nvCxnSpPr>
        <p:spPr>
          <a:xfrm flipH="1">
            <a:off x="3252158" y="50386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8D9173-BE1D-FE81-5C8A-2108C02B40B5}"/>
              </a:ext>
            </a:extLst>
          </p:cNvPr>
          <p:cNvCxnSpPr>
            <a:cxnSpLocks/>
            <a:stCxn id="4" idx="2"/>
            <a:endCxn id="7" idx="6"/>
          </p:cNvCxnSpPr>
          <p:nvPr/>
        </p:nvCxnSpPr>
        <p:spPr>
          <a:xfrm flipH="1">
            <a:off x="2394908" y="50386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AE00385-7B99-C91B-3639-B3CC96545AC2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>
            <a:off x="3090233" y="5200548"/>
            <a:ext cx="0" cy="519907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1BA51E1-2FE7-42F1-EF00-C4EB494EAA1C}"/>
              </a:ext>
            </a:extLst>
          </p:cNvPr>
          <p:cNvSpPr/>
          <p:nvPr/>
        </p:nvSpPr>
        <p:spPr>
          <a:xfrm>
            <a:off x="9966190" y="48089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B05FDE2-2A45-CF35-46EA-8E17C03246A7}"/>
              </a:ext>
            </a:extLst>
          </p:cNvPr>
          <p:cNvSpPr/>
          <p:nvPr/>
        </p:nvSpPr>
        <p:spPr>
          <a:xfrm>
            <a:off x="8651739" y="57064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70C5FB1-826B-D5A3-8E75-CCBAE2A45E43}"/>
              </a:ext>
            </a:extLst>
          </p:cNvPr>
          <p:cNvSpPr/>
          <p:nvPr/>
        </p:nvSpPr>
        <p:spPr>
          <a:xfrm>
            <a:off x="8332652" y="48089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7A143C3-3E5D-442E-2618-C6B0214BC815}"/>
              </a:ext>
            </a:extLst>
          </p:cNvPr>
          <p:cNvSpPr/>
          <p:nvPr/>
        </p:nvSpPr>
        <p:spPr>
          <a:xfrm>
            <a:off x="9642340" y="57064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4740C0-CFFD-1208-DC36-283E29289561}"/>
              </a:ext>
            </a:extLst>
          </p:cNvPr>
          <p:cNvSpPr txBox="1"/>
          <p:nvPr/>
        </p:nvSpPr>
        <p:spPr>
          <a:xfrm>
            <a:off x="4501874" y="4735747"/>
            <a:ext cx="3343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 = first stimulus presented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A3DCB2C-3AA2-C4FC-EA8E-7653A4D11D6A}"/>
              </a:ext>
            </a:extLst>
          </p:cNvPr>
          <p:cNvCxnSpPr>
            <a:cxnSpLocks/>
          </p:cNvCxnSpPr>
          <p:nvPr/>
        </p:nvCxnSpPr>
        <p:spPr>
          <a:xfrm flipH="1">
            <a:off x="8494577" y="4368460"/>
            <a:ext cx="766762" cy="60245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B19E9CA-9419-89B0-1622-B2F5A8270E93}"/>
              </a:ext>
            </a:extLst>
          </p:cNvPr>
          <p:cNvCxnSpPr>
            <a:cxnSpLocks/>
          </p:cNvCxnSpPr>
          <p:nvPr/>
        </p:nvCxnSpPr>
        <p:spPr>
          <a:xfrm>
            <a:off x="9296463" y="4330596"/>
            <a:ext cx="831652" cy="647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BB28748-1BE6-0707-0748-500C91B5665A}"/>
              </a:ext>
            </a:extLst>
          </p:cNvPr>
          <p:cNvCxnSpPr>
            <a:cxnSpLocks/>
          </p:cNvCxnSpPr>
          <p:nvPr/>
        </p:nvCxnSpPr>
        <p:spPr>
          <a:xfrm>
            <a:off x="8485053" y="4970916"/>
            <a:ext cx="328611" cy="91757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1268FC1-3684-C7AC-5900-B897E53D511C}"/>
              </a:ext>
            </a:extLst>
          </p:cNvPr>
          <p:cNvCxnSpPr>
            <a:cxnSpLocks/>
          </p:cNvCxnSpPr>
          <p:nvPr/>
        </p:nvCxnSpPr>
        <p:spPr>
          <a:xfrm flipH="1">
            <a:off x="9804265" y="4933372"/>
            <a:ext cx="321469" cy="935038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E943AF2-7D15-791B-3284-95898DF339F6}"/>
              </a:ext>
            </a:extLst>
          </p:cNvPr>
          <p:cNvCxnSpPr>
            <a:cxnSpLocks/>
            <a:stCxn id="24" idx="6"/>
            <a:endCxn id="26" idx="2"/>
          </p:cNvCxnSpPr>
          <p:nvPr/>
        </p:nvCxnSpPr>
        <p:spPr>
          <a:xfrm>
            <a:off x="8975589" y="5868410"/>
            <a:ext cx="666751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D1044BD-5631-4726-D7E7-DB030A7802CD}"/>
              </a:ext>
            </a:extLst>
          </p:cNvPr>
          <p:cNvCxnSpPr>
            <a:cxnSpLocks/>
          </p:cNvCxnSpPr>
          <p:nvPr/>
        </p:nvCxnSpPr>
        <p:spPr>
          <a:xfrm>
            <a:off x="9285152" y="4217647"/>
            <a:ext cx="516732" cy="1670845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8967B1C-1F8F-BB67-DF92-EB0F6C426BB8}"/>
              </a:ext>
            </a:extLst>
          </p:cNvPr>
          <p:cNvCxnSpPr>
            <a:cxnSpLocks/>
          </p:cNvCxnSpPr>
          <p:nvPr/>
        </p:nvCxnSpPr>
        <p:spPr>
          <a:xfrm flipH="1">
            <a:off x="8844025" y="4220028"/>
            <a:ext cx="431603" cy="1668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F80DF87-AA54-0AFE-9745-1D1C092AF1B0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8494577" y="4970916"/>
            <a:ext cx="1471613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814046D-EFAF-197C-DBF8-94DB575D6DAD}"/>
              </a:ext>
            </a:extLst>
          </p:cNvPr>
          <p:cNvCxnSpPr>
            <a:cxnSpLocks/>
          </p:cNvCxnSpPr>
          <p:nvPr/>
        </p:nvCxnSpPr>
        <p:spPr>
          <a:xfrm>
            <a:off x="8494576" y="4978060"/>
            <a:ext cx="1316832" cy="88320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A92D04E-757F-6E6F-3DAE-44A9DC4916B0}"/>
              </a:ext>
            </a:extLst>
          </p:cNvPr>
          <p:cNvCxnSpPr>
            <a:cxnSpLocks/>
          </p:cNvCxnSpPr>
          <p:nvPr/>
        </p:nvCxnSpPr>
        <p:spPr>
          <a:xfrm flipV="1">
            <a:off x="8808903" y="4970916"/>
            <a:ext cx="1316831" cy="89035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691D4A58-324F-8BEB-C0B3-373A37098E77}"/>
              </a:ext>
            </a:extLst>
          </p:cNvPr>
          <p:cNvSpPr/>
          <p:nvPr/>
        </p:nvSpPr>
        <p:spPr>
          <a:xfrm>
            <a:off x="9120846" y="4194071"/>
            <a:ext cx="323850" cy="32385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25B69ABD-169E-1AAD-8FE4-3582E5292F64}"/>
              </a:ext>
            </a:extLst>
          </p:cNvPr>
          <p:cNvSpPr txBox="1">
            <a:spLocks/>
          </p:cNvSpPr>
          <p:nvPr/>
        </p:nvSpPr>
        <p:spPr>
          <a:xfrm>
            <a:off x="7171808" y="1623321"/>
            <a:ext cx="4790678" cy="206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Generalization</a:t>
            </a:r>
            <a:r>
              <a:rPr lang="en-US" dirty="0"/>
              <a:t> = identifying patterns common across multiple stimuli</a:t>
            </a:r>
          </a:p>
        </p:txBody>
      </p:sp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A87C50B1-363B-2E76-CA36-AB9E083D39E6}"/>
              </a:ext>
            </a:extLst>
          </p:cNvPr>
          <p:cNvSpPr txBox="1">
            <a:spLocks/>
          </p:cNvSpPr>
          <p:nvPr/>
        </p:nvSpPr>
        <p:spPr>
          <a:xfrm>
            <a:off x="496457" y="2958717"/>
            <a:ext cx="4808934" cy="902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May reflect past knowledge influencing encoding</a:t>
            </a:r>
          </a:p>
        </p:txBody>
      </p:sp>
      <p:sp>
        <p:nvSpPr>
          <p:cNvPr id="104" name="Content Placeholder 2">
            <a:extLst>
              <a:ext uri="{FF2B5EF4-FFF2-40B4-BE49-F238E27FC236}">
                <a16:creationId xmlns:a16="http://schemas.microsoft.com/office/drawing/2014/main" id="{907E7BC7-E67C-516E-8D16-F0A2529C4C29}"/>
              </a:ext>
            </a:extLst>
          </p:cNvPr>
          <p:cNvSpPr txBox="1">
            <a:spLocks/>
          </p:cNvSpPr>
          <p:nvPr/>
        </p:nvSpPr>
        <p:spPr>
          <a:xfrm>
            <a:off x="3090233" y="6209938"/>
            <a:ext cx="6623759" cy="902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Testable behaviorally and via fMRI</a:t>
            </a:r>
          </a:p>
        </p:txBody>
      </p:sp>
    </p:spTree>
    <p:extLst>
      <p:ext uri="{BB962C8B-B14F-4D97-AF65-F5344CB8AC3E}">
        <p14:creationId xmlns:p14="http://schemas.microsoft.com/office/powerpoint/2010/main" val="10189385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F125C-B673-982D-DD9A-F86DB2C74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1325563"/>
          </a:xfrm>
        </p:spPr>
        <p:txBody>
          <a:bodyPr/>
          <a:lstStyle/>
          <a:p>
            <a:r>
              <a:rPr lang="en-US" dirty="0"/>
              <a:t>Analyzing generalizing and prototyping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98769-61E6-A918-3D54-08726A4D2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4788"/>
            <a:ext cx="10515600" cy="2259705"/>
          </a:xfrm>
        </p:spPr>
        <p:txBody>
          <a:bodyPr>
            <a:normAutofit/>
          </a:bodyPr>
          <a:lstStyle/>
          <a:p>
            <a:r>
              <a:rPr lang="en-US" dirty="0"/>
              <a:t>5-stimulus group (u, v, w, x, y)</a:t>
            </a:r>
          </a:p>
          <a:p>
            <a:r>
              <a:rPr lang="en-US" dirty="0"/>
              <a:t>During some experiment phase:</a:t>
            </a:r>
          </a:p>
          <a:p>
            <a:pPr lvl="1"/>
            <a:r>
              <a:rPr lang="en-US" dirty="0"/>
              <a:t>Measure pairwise correlations among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/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dirty="0"/>
              <a:t>, and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</a:p>
          <a:p>
            <a:pPr lvl="1"/>
            <a:r>
              <a:rPr lang="en-US" dirty="0"/>
              <a:t>Examine whether the correlations are more consistent with the diagram on the left vs. right 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C65C6F7-DB57-D3EF-87C6-3487973EC713}"/>
              </a:ext>
            </a:extLst>
          </p:cNvPr>
          <p:cNvSpPr/>
          <p:nvPr/>
        </p:nvSpPr>
        <p:spPr>
          <a:xfrm>
            <a:off x="2966408" y="48639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E75BD44-8CEB-99B8-7CCD-793D69A1935A}"/>
              </a:ext>
            </a:extLst>
          </p:cNvPr>
          <p:cNvSpPr/>
          <p:nvPr/>
        </p:nvSpPr>
        <p:spPr>
          <a:xfrm>
            <a:off x="3823658" y="48639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C45F2BA-01B0-2931-0525-96EB1D7755AC}"/>
              </a:ext>
            </a:extLst>
          </p:cNvPr>
          <p:cNvSpPr/>
          <p:nvPr/>
        </p:nvSpPr>
        <p:spPr>
          <a:xfrm>
            <a:off x="2966408" y="5707755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79E233D-BFE2-A289-47DF-11FC5ED85E55}"/>
              </a:ext>
            </a:extLst>
          </p:cNvPr>
          <p:cNvSpPr/>
          <p:nvPr/>
        </p:nvSpPr>
        <p:spPr>
          <a:xfrm>
            <a:off x="2109158" y="48639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5F6DFB9-A5BF-D5D2-1BB8-1D6FCB36A2B0}"/>
              </a:ext>
            </a:extLst>
          </p:cNvPr>
          <p:cNvSpPr/>
          <p:nvPr/>
        </p:nvSpPr>
        <p:spPr>
          <a:xfrm>
            <a:off x="2966408" y="40257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8CB9C4-F8B7-9C0F-C730-9663AFE76357}"/>
              </a:ext>
            </a:extLst>
          </p:cNvPr>
          <p:cNvCxnSpPr>
            <a:stCxn id="62" idx="4"/>
            <a:endCxn id="58" idx="0"/>
          </p:cNvCxnSpPr>
          <p:nvPr/>
        </p:nvCxnSpPr>
        <p:spPr>
          <a:xfrm>
            <a:off x="3128333" y="4349648"/>
            <a:ext cx="0" cy="51435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A61A38C-3516-99C2-516F-5B9BFC6B7CA6}"/>
              </a:ext>
            </a:extLst>
          </p:cNvPr>
          <p:cNvCxnSpPr>
            <a:cxnSpLocks/>
            <a:stCxn id="59" idx="2"/>
            <a:endCxn id="58" idx="6"/>
          </p:cNvCxnSpPr>
          <p:nvPr/>
        </p:nvCxnSpPr>
        <p:spPr>
          <a:xfrm flipH="1">
            <a:off x="3290258" y="50259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D38F946-12D8-AFA3-CFCF-5CDC56B95945}"/>
              </a:ext>
            </a:extLst>
          </p:cNvPr>
          <p:cNvCxnSpPr>
            <a:cxnSpLocks/>
            <a:stCxn id="58" idx="2"/>
            <a:endCxn id="61" idx="6"/>
          </p:cNvCxnSpPr>
          <p:nvPr/>
        </p:nvCxnSpPr>
        <p:spPr>
          <a:xfrm flipH="1">
            <a:off x="2433008" y="50259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C4AF690-7385-9367-BE36-AD46D9FAB915}"/>
              </a:ext>
            </a:extLst>
          </p:cNvPr>
          <p:cNvCxnSpPr>
            <a:cxnSpLocks/>
            <a:stCxn id="58" idx="4"/>
            <a:endCxn id="60" idx="0"/>
          </p:cNvCxnSpPr>
          <p:nvPr/>
        </p:nvCxnSpPr>
        <p:spPr>
          <a:xfrm>
            <a:off x="3128333" y="5187848"/>
            <a:ext cx="0" cy="519907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53D65922-7944-FFFE-D1BB-3268FABF5404}"/>
              </a:ext>
            </a:extLst>
          </p:cNvPr>
          <p:cNvSpPr/>
          <p:nvPr/>
        </p:nvSpPr>
        <p:spPr>
          <a:xfrm>
            <a:off x="10004290" y="47962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9A02E6D-377E-00F6-3771-05612AB8F0A4}"/>
              </a:ext>
            </a:extLst>
          </p:cNvPr>
          <p:cNvSpPr/>
          <p:nvPr/>
        </p:nvSpPr>
        <p:spPr>
          <a:xfrm>
            <a:off x="8689839" y="56937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DE8E9D6-5505-152D-9F41-8A5995058952}"/>
              </a:ext>
            </a:extLst>
          </p:cNvPr>
          <p:cNvSpPr/>
          <p:nvPr/>
        </p:nvSpPr>
        <p:spPr>
          <a:xfrm>
            <a:off x="8370752" y="47962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1916BFD-E075-1AA1-E7F6-3A882F4750EB}"/>
              </a:ext>
            </a:extLst>
          </p:cNvPr>
          <p:cNvSpPr/>
          <p:nvPr/>
        </p:nvSpPr>
        <p:spPr>
          <a:xfrm>
            <a:off x="9680440" y="56937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31F800B-F904-FF1D-4120-26A4F48611D5}"/>
              </a:ext>
            </a:extLst>
          </p:cNvPr>
          <p:cNvCxnSpPr>
            <a:cxnSpLocks/>
          </p:cNvCxnSpPr>
          <p:nvPr/>
        </p:nvCxnSpPr>
        <p:spPr>
          <a:xfrm flipH="1">
            <a:off x="8532677" y="4355760"/>
            <a:ext cx="766762" cy="60245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124F5BC-BD3B-F8C7-EA34-EEB96C4D2D00}"/>
              </a:ext>
            </a:extLst>
          </p:cNvPr>
          <p:cNvCxnSpPr>
            <a:cxnSpLocks/>
          </p:cNvCxnSpPr>
          <p:nvPr/>
        </p:nvCxnSpPr>
        <p:spPr>
          <a:xfrm>
            <a:off x="9334563" y="4317896"/>
            <a:ext cx="831652" cy="647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8D289F2-362C-531F-46BB-200CA4181D03}"/>
              </a:ext>
            </a:extLst>
          </p:cNvPr>
          <p:cNvCxnSpPr>
            <a:cxnSpLocks/>
          </p:cNvCxnSpPr>
          <p:nvPr/>
        </p:nvCxnSpPr>
        <p:spPr>
          <a:xfrm>
            <a:off x="8523153" y="4958216"/>
            <a:ext cx="328611" cy="91757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66D4DBD-51FD-F917-DCE6-FB1954C4956B}"/>
              </a:ext>
            </a:extLst>
          </p:cNvPr>
          <p:cNvCxnSpPr>
            <a:cxnSpLocks/>
          </p:cNvCxnSpPr>
          <p:nvPr/>
        </p:nvCxnSpPr>
        <p:spPr>
          <a:xfrm flipH="1">
            <a:off x="9842365" y="4920672"/>
            <a:ext cx="321469" cy="935038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8C46C5A-69F7-989C-BA4A-E0E121F5F598}"/>
              </a:ext>
            </a:extLst>
          </p:cNvPr>
          <p:cNvCxnSpPr>
            <a:cxnSpLocks/>
            <a:stCxn id="68" idx="6"/>
            <a:endCxn id="70" idx="2"/>
          </p:cNvCxnSpPr>
          <p:nvPr/>
        </p:nvCxnSpPr>
        <p:spPr>
          <a:xfrm>
            <a:off x="9013689" y="5855710"/>
            <a:ext cx="666751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0E43EC6-1A0D-AA62-2A55-1CC007CCE005}"/>
              </a:ext>
            </a:extLst>
          </p:cNvPr>
          <p:cNvCxnSpPr>
            <a:cxnSpLocks/>
          </p:cNvCxnSpPr>
          <p:nvPr/>
        </p:nvCxnSpPr>
        <p:spPr>
          <a:xfrm>
            <a:off x="9323252" y="4204947"/>
            <a:ext cx="516732" cy="1670845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112E795-6DFF-E9E3-6CDB-118038306399}"/>
              </a:ext>
            </a:extLst>
          </p:cNvPr>
          <p:cNvCxnSpPr>
            <a:cxnSpLocks/>
          </p:cNvCxnSpPr>
          <p:nvPr/>
        </p:nvCxnSpPr>
        <p:spPr>
          <a:xfrm flipH="1">
            <a:off x="8882125" y="4207328"/>
            <a:ext cx="431603" cy="1668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995EFC0-D308-ACEB-9FB9-7D1A0E27504B}"/>
              </a:ext>
            </a:extLst>
          </p:cNvPr>
          <p:cNvCxnSpPr>
            <a:cxnSpLocks/>
            <a:endCxn id="67" idx="2"/>
          </p:cNvCxnSpPr>
          <p:nvPr/>
        </p:nvCxnSpPr>
        <p:spPr>
          <a:xfrm>
            <a:off x="8532677" y="4958216"/>
            <a:ext cx="1471613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9F3EEEE-6BDC-DA56-066A-2052620B25DF}"/>
              </a:ext>
            </a:extLst>
          </p:cNvPr>
          <p:cNvCxnSpPr>
            <a:cxnSpLocks/>
          </p:cNvCxnSpPr>
          <p:nvPr/>
        </p:nvCxnSpPr>
        <p:spPr>
          <a:xfrm>
            <a:off x="8532676" y="4965360"/>
            <a:ext cx="1316832" cy="88320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1F68361-7B17-7221-458F-D6D9427FD079}"/>
              </a:ext>
            </a:extLst>
          </p:cNvPr>
          <p:cNvCxnSpPr>
            <a:cxnSpLocks/>
          </p:cNvCxnSpPr>
          <p:nvPr/>
        </p:nvCxnSpPr>
        <p:spPr>
          <a:xfrm flipV="1">
            <a:off x="8847003" y="4958216"/>
            <a:ext cx="1316831" cy="89035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F1CEFC69-AE25-4208-8BC1-433A56E6D797}"/>
              </a:ext>
            </a:extLst>
          </p:cNvPr>
          <p:cNvSpPr/>
          <p:nvPr/>
        </p:nvSpPr>
        <p:spPr>
          <a:xfrm>
            <a:off x="9158946" y="4181371"/>
            <a:ext cx="323850" cy="323850"/>
          </a:xfrm>
          <a:prstGeom prst="ellipse">
            <a:avLst/>
          </a:prstGeom>
          <a:solidFill>
            <a:schemeClr val="tx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8295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4556-6CCC-77E8-83A1-E4442C6E4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aging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567B0-D2EE-400A-DE3A-33D98734B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Instead of more prototyping, maybe they show the opposite: more generalization due to only encoding </a:t>
            </a:r>
            <a:r>
              <a:rPr lang="en-US" dirty="0" err="1"/>
              <a:t>gists</a:t>
            </a:r>
            <a:r>
              <a:rPr lang="en-US" dirty="0"/>
              <a:t> and using crystalized knowledge</a:t>
            </a:r>
          </a:p>
          <a:p>
            <a:pPr lvl="1"/>
            <a:r>
              <a:rPr lang="en-US" dirty="0"/>
              <a:t>Could get at this gist idea with an R/K test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Show less of a directionality effect (past generalizing vs. future pinpointing)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Retain representations of prior stimuli for longer/shorter intervals </a:t>
            </a:r>
          </a:p>
          <a:p>
            <a:pPr lvl="1"/>
            <a:r>
              <a:rPr lang="en-US" dirty="0"/>
              <a:t>To what extent is the trial n stimulus maintained in working memory for trials n+1 or n+2?</a:t>
            </a:r>
          </a:p>
        </p:txBody>
      </p:sp>
    </p:spTree>
    <p:extLst>
      <p:ext uri="{BB962C8B-B14F-4D97-AF65-F5344CB8AC3E}">
        <p14:creationId xmlns:p14="http://schemas.microsoft.com/office/powerpoint/2010/main" val="14010861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F125C-B673-982D-DD9A-F86DB2C74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1325563"/>
          </a:xfrm>
        </p:spPr>
        <p:txBody>
          <a:bodyPr/>
          <a:lstStyle/>
          <a:p>
            <a:r>
              <a:rPr lang="en-US" dirty="0"/>
              <a:t>Analyzing generalizing and prototyping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98769-61E6-A918-3D54-08726A4D2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688"/>
            <a:ext cx="10515600" cy="4951412"/>
          </a:xfrm>
        </p:spPr>
        <p:txBody>
          <a:bodyPr>
            <a:normAutofit/>
          </a:bodyPr>
          <a:lstStyle/>
          <a:p>
            <a:r>
              <a:rPr lang="en-US" dirty="0"/>
              <a:t>Identifying generalization:</a:t>
            </a:r>
          </a:p>
          <a:p>
            <a:pPr lvl="1"/>
            <a:r>
              <a:rPr lang="en-US" dirty="0"/>
              <a:t>Integrating stimulus vectors</a:t>
            </a:r>
          </a:p>
          <a:p>
            <a:pPr lvl="1"/>
            <a:r>
              <a:rPr lang="en-US" dirty="0"/>
              <a:t>One way to combine: Elementwise multiplication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/>
              <a:t>) will yield a product vector that represents features common across the two</a:t>
            </a:r>
          </a:p>
          <a:p>
            <a:pPr lvl="2"/>
            <a:r>
              <a:rPr lang="en-US" dirty="0"/>
              <a:t>Other ways may work better for 3+ stimuli</a:t>
            </a:r>
          </a:p>
          <a:p>
            <a:pPr lvl="2"/>
            <a:r>
              <a:rPr lang="en-US" dirty="0"/>
              <a:t>Definitions linked to computational memory theories?</a:t>
            </a:r>
          </a:p>
          <a:p>
            <a:pPr lvl="1"/>
            <a:r>
              <a:rPr lang="en-US" dirty="0"/>
              <a:t>Examine whether participants retrieve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dirty="0"/>
          </a:p>
          <a:p>
            <a:pPr lvl="2"/>
            <a:r>
              <a:rPr lang="en-US" dirty="0"/>
              <a:t>Perform RSA with the “generalization” vector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</a:p>
          <a:p>
            <a:r>
              <a:rPr lang="en-US" dirty="0"/>
              <a:t>Identifying prototyping</a:t>
            </a:r>
          </a:p>
          <a:p>
            <a:pPr lvl="1"/>
            <a:r>
              <a:rPr lang="en-US" dirty="0"/>
              <a:t>Again, integrating stimulus vectors, but now to create a “prototype” vector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/>
              <a:t> is the prototype, then examine whether features of </a:t>
            </a:r>
          </a:p>
        </p:txBody>
      </p:sp>
    </p:spTree>
    <p:extLst>
      <p:ext uri="{BB962C8B-B14F-4D97-AF65-F5344CB8AC3E}">
        <p14:creationId xmlns:p14="http://schemas.microsoft.com/office/powerpoint/2010/main" val="12180826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F118C-8A7E-19DC-938B-4FB4E2965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163"/>
            <a:ext cx="10515600" cy="993437"/>
          </a:xfrm>
        </p:spPr>
        <p:txBody>
          <a:bodyPr/>
          <a:lstStyle/>
          <a:p>
            <a:r>
              <a:rPr lang="en-US" dirty="0"/>
              <a:t>Extension into decision-making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982D2-157A-367E-6C01-69D7E9013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740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Idea: Replace every other “location” with a “decision” </a:t>
            </a:r>
          </a:p>
          <a:p>
            <a:r>
              <a:rPr lang="en-US" dirty="0"/>
              <a:t>Participants are given a choice that influences the next image that will be shown (what location they will travel to)</a:t>
            </a:r>
          </a:p>
          <a:p>
            <a:pPr lvl="1"/>
            <a:r>
              <a:rPr lang="en-US" dirty="0"/>
              <a:t>E.g., at location A, participants can choose between options X or Y, which will take them to locations B or C</a:t>
            </a:r>
          </a:p>
          <a:p>
            <a:pPr lvl="1"/>
            <a:r>
              <a:rPr lang="en-US" dirty="0"/>
              <a:t>The options themselves are stimuli (e.g., “X and Y are magical objects that will teleport you to a new location”)</a:t>
            </a:r>
          </a:p>
          <a:p>
            <a:pPr lvl="1"/>
            <a:r>
              <a:rPr lang="en-US" dirty="0"/>
              <a:t>“Selecting X/Y” is the episodic memory formed</a:t>
            </a:r>
          </a:p>
          <a:p>
            <a:r>
              <a:rPr lang="en-US" dirty="0"/>
              <a:t>Downsides:</a:t>
            </a:r>
          </a:p>
          <a:p>
            <a:pPr lvl="1"/>
            <a:r>
              <a:rPr lang="en-US" dirty="0"/>
              <a:t>Issue 1: different participants will see different stimuli, maybe some will not show diversity in their decision-making</a:t>
            </a:r>
          </a:p>
          <a:p>
            <a:pPr lvl="1"/>
            <a:r>
              <a:rPr lang="en-US" dirty="0"/>
              <a:t>Issue 2: less statistical power for investigating state transitions (half as many state transitions)</a:t>
            </a:r>
          </a:p>
          <a:p>
            <a:r>
              <a:rPr lang="en-US" dirty="0"/>
              <a:t>Retrieval task:</a:t>
            </a:r>
          </a:p>
          <a:p>
            <a:pPr lvl="1"/>
            <a:r>
              <a:rPr lang="en-US" dirty="0"/>
              <a:t>Could include a task where participants are asked “you are in A and you want to get to B, should you select X or Y?”</a:t>
            </a:r>
          </a:p>
        </p:txBody>
      </p:sp>
    </p:spTree>
    <p:extLst>
      <p:ext uri="{BB962C8B-B14F-4D97-AF65-F5344CB8AC3E}">
        <p14:creationId xmlns:p14="http://schemas.microsoft.com/office/powerpoint/2010/main" val="42852227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65621-EE6F-96CC-ADB9-377238738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Expanding to incorporate others’ interests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78F76-C90E-78BD-7BE0-59FC4517A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still on associative memory, so hopefully Cortney would like it </a:t>
            </a:r>
          </a:p>
          <a:p>
            <a:r>
              <a:rPr lang="en-US" dirty="0"/>
              <a:t>I think Ricky’s interest in task sets and the instructions about focusing on perception/semantic information could be incorporated?</a:t>
            </a:r>
          </a:p>
        </p:txBody>
      </p:sp>
    </p:spTree>
    <p:extLst>
      <p:ext uri="{BB962C8B-B14F-4D97-AF65-F5344CB8AC3E}">
        <p14:creationId xmlns:p14="http://schemas.microsoft.com/office/powerpoint/2010/main" val="2849000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18166</TotalTime>
  <Words>2595</Words>
  <Application>Microsoft Office PowerPoint</Application>
  <PresentationFormat>Widescreen</PresentationFormat>
  <Paragraphs>339</Paragraphs>
  <Slides>41</Slides>
  <Notes>15</Notes>
  <HiddenSlides>5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Courier New</vt:lpstr>
      <vt:lpstr>Roboto</vt:lpstr>
      <vt:lpstr>Times New Roman</vt:lpstr>
      <vt:lpstr>Wingdings</vt:lpstr>
      <vt:lpstr>Office Theme</vt:lpstr>
      <vt:lpstr>Paul Update</vt:lpstr>
      <vt:lpstr>Background</vt:lpstr>
      <vt:lpstr>Primary Question</vt:lpstr>
      <vt:lpstr>Present Study and Hypotheses</vt:lpstr>
      <vt:lpstr>Methods</vt:lpstr>
      <vt:lpstr>Data</vt:lpstr>
      <vt:lpstr>3-session fMRI study (SchemRep)</vt:lpstr>
      <vt:lpstr>Brainnetome atlas</vt:lpstr>
      <vt:lpstr>Stimulus representations</vt:lpstr>
      <vt:lpstr>Many ways to interpret the difference vector</vt:lpstr>
      <vt:lpstr>Perceptual vectors</vt:lpstr>
      <vt:lpstr>Abs-dif vector</vt:lpstr>
      <vt:lpstr>Analysis overview</vt:lpstr>
      <vt:lpstr>Preface</vt:lpstr>
      <vt:lpstr>Emerging property</vt:lpstr>
      <vt:lpstr>Further temporal trend testing</vt:lpstr>
      <vt:lpstr>Stimulus RSM/RDMs</vt:lpstr>
      <vt:lpstr>Results</vt:lpstr>
      <vt:lpstr>Result 1A: Schema representation</vt:lpstr>
      <vt:lpstr>Result 1C/1D: Object representation</vt:lpstr>
      <vt:lpstr>Result 2A/2B: Schema-object prediction error</vt:lpstr>
      <vt:lpstr>Result 2A/2B: Schema-object prediction error</vt:lpstr>
      <vt:lpstr>Result 2C: Connectivity: Activity x IRAF</vt:lpstr>
      <vt:lpstr>Result 2C: Difference RSA x connectivity</vt:lpstr>
      <vt:lpstr>Result 3A: Prediction error IRAF predicts subsequent memory</vt:lpstr>
      <vt:lpstr>Result 3B: Retrieval retrieves scene representation</vt:lpstr>
      <vt:lpstr>Other things</vt:lpstr>
      <vt:lpstr>Modularity</vt:lpstr>
      <vt:lpstr>Encoding retrieval similarity</vt:lpstr>
      <vt:lpstr>Whiffs </vt:lpstr>
      <vt:lpstr>Other analyses</vt:lpstr>
      <vt:lpstr>Study ideas</vt:lpstr>
      <vt:lpstr>Generalize the past, pinpoint the future</vt:lpstr>
      <vt:lpstr>Investigating hippocampal traces</vt:lpstr>
      <vt:lpstr>Episodic memories as state transitions</vt:lpstr>
      <vt:lpstr>Older adults prototype rather than generalize</vt:lpstr>
      <vt:lpstr>Analyzing generalizing and prototyping</vt:lpstr>
      <vt:lpstr>Other aging effects</vt:lpstr>
      <vt:lpstr>Analyzing generalizing and prototyping</vt:lpstr>
      <vt:lpstr>Extension into decision-making</vt:lpstr>
      <vt:lpstr>Expanding to incorporate others’ interests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59</cp:revision>
  <dcterms:created xsi:type="dcterms:W3CDTF">2023-09-14T13:36:35Z</dcterms:created>
  <dcterms:modified xsi:type="dcterms:W3CDTF">2023-10-03T18:03:59Z</dcterms:modified>
</cp:coreProperties>
</file>