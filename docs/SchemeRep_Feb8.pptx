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8" r:id="rId2"/>
    <p:sldId id="396" r:id="rId3"/>
    <p:sldId id="393" r:id="rId4"/>
    <p:sldId id="387" r:id="rId5"/>
    <p:sldId id="389" r:id="rId6"/>
    <p:sldId id="365" r:id="rId7"/>
    <p:sldId id="366" r:id="rId8"/>
    <p:sldId id="375" r:id="rId9"/>
    <p:sldId id="362" r:id="rId10"/>
    <p:sldId id="377" r:id="rId11"/>
    <p:sldId id="378" r:id="rId12"/>
    <p:sldId id="383" r:id="rId13"/>
    <p:sldId id="371" r:id="rId14"/>
    <p:sldId id="379" r:id="rId15"/>
    <p:sldId id="384" r:id="rId16"/>
    <p:sldId id="380" r:id="rId17"/>
    <p:sldId id="381" r:id="rId18"/>
    <p:sldId id="390" r:id="rId19"/>
    <p:sldId id="388" r:id="rId20"/>
    <p:sldId id="361" r:id="rId21"/>
    <p:sldId id="382" r:id="rId22"/>
    <p:sldId id="391" r:id="rId23"/>
    <p:sldId id="394" r:id="rId24"/>
    <p:sldId id="395" r:id="rId25"/>
    <p:sldId id="317" r:id="rId26"/>
    <p:sldId id="385" r:id="rId27"/>
    <p:sldId id="386" r:id="rId28"/>
    <p:sldId id="373" r:id="rId29"/>
    <p:sldId id="36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A901"/>
    <a:srgbClr val="08CE37"/>
    <a:srgbClr val="21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52" autoAdjust="0"/>
    <p:restoredTop sz="89713" autoAdjust="0"/>
  </p:normalViewPr>
  <p:slideViewPr>
    <p:cSldViewPr snapToGrid="0">
      <p:cViewPr>
        <p:scale>
          <a:sx n="100" d="100"/>
          <a:sy n="100" d="100"/>
        </p:scale>
        <p:origin x="2616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55612-1E31-4949-93F8-A93C58E09E58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39E74-3B91-4B91-90E7-C792E8251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3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fin_plot_conn_matrix.py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88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</a:t>
            </a:r>
            <a:r>
              <a:rPr lang="en-US" dirty="0" err="1"/>
              <a:t>matrix_mask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139E74-3B91-4B91-90E7-C792E825117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4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2/8/2024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7" Type="http://schemas.openxmlformats.org/officeDocument/2006/relationships/image" Target="../media/image26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Ven-Dor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2/2/2024</a:t>
            </a:r>
          </a:p>
        </p:txBody>
      </p:sp>
    </p:spTree>
    <p:extLst>
      <p:ext uri="{BB962C8B-B14F-4D97-AF65-F5344CB8AC3E}">
        <p14:creationId xmlns:p14="http://schemas.microsoft.com/office/powerpoint/2010/main" val="241044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A5336-E353-DE8F-2D52-21B760EDF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2BC9-D2BE-4D42-00E7-DA0C1A40E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45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human mind is continuously applying existing knowledge to incoming information</a:t>
            </a:r>
          </a:p>
          <a:p>
            <a:pPr lvl="1"/>
            <a:r>
              <a:rPr lang="en-US" dirty="0"/>
              <a:t>At the most basic level, pattern-detection is an example of this, as it is the process of evaluating whether stimuli are congruent with schemas</a:t>
            </a:r>
          </a:p>
          <a:p>
            <a:pPr lvl="1"/>
            <a:r>
              <a:rPr lang="en-US" dirty="0"/>
              <a:t>Evaluating matches</a:t>
            </a:r>
          </a:p>
          <a:p>
            <a:r>
              <a:rPr lang="en-US" dirty="0"/>
              <a:t>This topic is seeing ever-growing interest</a:t>
            </a:r>
          </a:p>
          <a:p>
            <a:pPr lvl="1"/>
            <a:r>
              <a:rPr lang="en-US" dirty="0"/>
              <a:t>Consider the rising popularity of neural and cognitive theories based on prediction errors</a:t>
            </a:r>
          </a:p>
          <a:p>
            <a:r>
              <a:rPr lang="en-US" dirty="0"/>
              <a:t>Yet there are limitations with existing research</a:t>
            </a:r>
          </a:p>
          <a:p>
            <a:pPr lvl="1"/>
            <a:r>
              <a:rPr lang="en-US" dirty="0"/>
              <a:t>Studies typically focus on small subsets of the brain (e.g., single regions), even though congruency-assessment is a whole-brain phenomena </a:t>
            </a:r>
          </a:p>
          <a:p>
            <a:pPr lvl="1"/>
            <a:r>
              <a:rPr lang="en-US" dirty="0"/>
              <a:t>Relatedly, most studies focus on “basic” forms of congruency (i.e., prediction error in decision-making) rather than the type of semantic-congruency assessment, which makes us human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03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014D-A4CB-5E96-4C55-3AFAFDCE0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0C642-6840-9F6A-1D88-B24082E9A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65712"/>
          </a:xfrm>
        </p:spPr>
        <p:txBody>
          <a:bodyPr>
            <a:normAutofit/>
          </a:bodyPr>
          <a:lstStyle/>
          <a:p>
            <a:r>
              <a:rPr lang="en-US" dirty="0"/>
              <a:t>This topic is of particular interest to aging research</a:t>
            </a:r>
          </a:p>
          <a:p>
            <a:r>
              <a:rPr lang="en-US" dirty="0"/>
              <a:t>Older adults show greater use of prior knowledge when processing incoming stimuli</a:t>
            </a:r>
          </a:p>
          <a:p>
            <a:pPr lvl="1"/>
            <a:r>
              <a:rPr lang="en-US" dirty="0"/>
              <a:t>This is a defining characteristic of aging</a:t>
            </a:r>
          </a:p>
          <a:p>
            <a:pPr lvl="1"/>
            <a:r>
              <a:rPr lang="en-US" i="1" dirty="0"/>
              <a:t>Behavioral studies </a:t>
            </a:r>
            <a:r>
              <a:rPr lang="en-US" dirty="0"/>
              <a:t>have demonstrated several downstream effects (e.g., on memory)</a:t>
            </a:r>
          </a:p>
          <a:p>
            <a:r>
              <a:rPr lang="en-US" dirty="0"/>
              <a:t>However, the neural correlates of how older adults evaluate apply their prior semantic knowledge (schemas) to incoming information remains mostly unclear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553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369E7-2304-2FEE-DBEC-3E79ECB30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/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40BB6-5553-B037-7290-73B609497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individuals (YA &amp; OA) process congruency?</a:t>
            </a:r>
          </a:p>
          <a:p>
            <a:r>
              <a:rPr lang="en-US" dirty="0"/>
              <a:t>How do OAs process congruency differently?</a:t>
            </a:r>
          </a:p>
          <a:p>
            <a:pPr lvl="1"/>
            <a:r>
              <a:rPr lang="en-US" dirty="0"/>
              <a:t>Do OA brains reflect a continuous search for congruency?</a:t>
            </a:r>
          </a:p>
          <a:p>
            <a:pPr lvl="1"/>
            <a:r>
              <a:rPr lang="en-US" dirty="0"/>
              <a:t>i.e., by default, are OAs always in a “processing congruency” state?</a:t>
            </a:r>
          </a:p>
          <a:p>
            <a:r>
              <a:rPr lang="en-US" dirty="0"/>
              <a:t>How are the neural correlates of congruency processing linked to other aspects of cognition</a:t>
            </a:r>
          </a:p>
          <a:p>
            <a:pPr lvl="1"/>
            <a:r>
              <a:rPr lang="en-US" dirty="0"/>
              <a:t>Stimulus representation</a:t>
            </a:r>
          </a:p>
          <a:p>
            <a:pPr lvl="1"/>
            <a:r>
              <a:rPr lang="en-US" dirty="0"/>
              <a:t>Memory</a:t>
            </a:r>
          </a:p>
        </p:txBody>
      </p:sp>
    </p:spTree>
    <p:extLst>
      <p:ext uri="{BB962C8B-B14F-4D97-AF65-F5344CB8AC3E}">
        <p14:creationId xmlns:p14="http://schemas.microsoft.com/office/powerpoint/2010/main" val="3312417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1: Identifying the Ven-Dor modules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88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D25B5D9-1445-EC1F-4285-A75434A50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262" y="1585571"/>
            <a:ext cx="5065819" cy="5065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0E9A87-E324-3773-D3FD-8BB3C097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Incongruency-congruency conn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EE75-698D-9D50-A4D2-6F1FEC87F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09483" cy="4351338"/>
          </a:xfrm>
        </p:spPr>
        <p:txBody>
          <a:bodyPr/>
          <a:lstStyle/>
          <a:p>
            <a:r>
              <a:rPr lang="en-US" dirty="0"/>
              <a:t>t-test compare congruent vs. incongruent</a:t>
            </a:r>
          </a:p>
          <a:p>
            <a:r>
              <a:rPr lang="en-US" dirty="0"/>
              <a:t>Combine YA and OA</a:t>
            </a:r>
          </a:p>
          <a:p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CB4C98B-590E-4D8E-BFCF-D14C973AB6D1}"/>
              </a:ext>
            </a:extLst>
          </p:cNvPr>
          <p:cNvSpPr/>
          <p:nvPr/>
        </p:nvSpPr>
        <p:spPr>
          <a:xfrm>
            <a:off x="7148033" y="3203050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324092A-C062-5A72-544B-000C2610255C}"/>
              </a:ext>
            </a:extLst>
          </p:cNvPr>
          <p:cNvSpPr/>
          <p:nvPr/>
        </p:nvSpPr>
        <p:spPr>
          <a:xfrm rot="8100000">
            <a:off x="7436627" y="2906842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6287ADA-7D8B-104A-92F3-A1AF658AFAF8}"/>
              </a:ext>
            </a:extLst>
          </p:cNvPr>
          <p:cNvSpPr/>
          <p:nvPr/>
        </p:nvSpPr>
        <p:spPr>
          <a:xfrm rot="8195692">
            <a:off x="7457649" y="3824924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202FE41-D80C-C5AF-3DDA-B9C64632E62A}"/>
              </a:ext>
            </a:extLst>
          </p:cNvPr>
          <p:cNvSpPr/>
          <p:nvPr/>
        </p:nvSpPr>
        <p:spPr>
          <a:xfrm rot="8100000">
            <a:off x="8961485" y="4549123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6DFDFD0-5EBD-09DB-F13F-7BA41D11393B}"/>
              </a:ext>
            </a:extLst>
          </p:cNvPr>
          <p:cNvSpPr/>
          <p:nvPr/>
        </p:nvSpPr>
        <p:spPr>
          <a:xfrm rot="8100000">
            <a:off x="8055285" y="4525373"/>
            <a:ext cx="572984" cy="283815"/>
          </a:xfrm>
          <a:prstGeom prst="rightArrow">
            <a:avLst/>
          </a:prstGeom>
          <a:solidFill>
            <a:srgbClr val="21FF6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EC38A34-B67C-DD9B-4178-0EDBE2322006}"/>
              </a:ext>
            </a:extLst>
          </p:cNvPr>
          <p:cNvSpPr/>
          <p:nvPr/>
        </p:nvSpPr>
        <p:spPr>
          <a:xfrm>
            <a:off x="7180328" y="4129332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9F8E6B0-3F96-08BF-5B78-DF3759AE4BCB}"/>
              </a:ext>
            </a:extLst>
          </p:cNvPr>
          <p:cNvSpPr/>
          <p:nvPr/>
        </p:nvSpPr>
        <p:spPr>
          <a:xfrm>
            <a:off x="7799057" y="4859487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864D366-3AAF-21E7-0505-D4B14E567CEC}"/>
              </a:ext>
            </a:extLst>
          </p:cNvPr>
          <p:cNvSpPr/>
          <p:nvPr/>
        </p:nvSpPr>
        <p:spPr>
          <a:xfrm>
            <a:off x="8680398" y="4859486"/>
            <a:ext cx="390891" cy="390891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66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14FD1-B83F-6147-CF40-48C8D03E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0495"/>
            <a:ext cx="10515600" cy="1325563"/>
          </a:xfrm>
        </p:spPr>
        <p:txBody>
          <a:bodyPr/>
          <a:lstStyle/>
          <a:p>
            <a:r>
              <a:rPr lang="en-US" dirty="0"/>
              <a:t>Modularity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EFDBA0-698D-64F9-7EEA-A96FDB5EB3D6}"/>
              </a:ext>
            </a:extLst>
          </p:cNvPr>
          <p:cNvSpPr txBox="1">
            <a:spLocks/>
          </p:cNvSpPr>
          <p:nvPr/>
        </p:nvSpPr>
        <p:spPr>
          <a:xfrm>
            <a:off x="396289" y="1244337"/>
            <a:ext cx="4813886" cy="3030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Submitted the thresholded connectivity matrix to a modularity-detection algorithm </a:t>
            </a:r>
          </a:p>
          <a:p>
            <a:pPr lvl="1"/>
            <a:r>
              <a:rPr lang="en-US" dirty="0"/>
              <a:t>I used a version of Louvain’s algorithm </a:t>
            </a:r>
          </a:p>
          <a:p>
            <a:r>
              <a:rPr lang="en-US" dirty="0"/>
              <a:t>These modules reflect t-tests done on </a:t>
            </a:r>
            <a:r>
              <a:rPr lang="en-US" i="1" dirty="0"/>
              <a:t>both </a:t>
            </a:r>
            <a:r>
              <a:rPr lang="en-US" dirty="0"/>
              <a:t>YA and OA data</a:t>
            </a:r>
          </a:p>
          <a:p>
            <a:pPr lvl="1"/>
            <a:r>
              <a:rPr lang="en-US" dirty="0"/>
              <a:t>If only OA were used, then later analyses of the modules comparing YA vs. OA would be circular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08D429-72EE-33CC-D13A-D0594DC340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9" y="1771836"/>
            <a:ext cx="6336186" cy="22088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576D9B-1B1A-2ED2-A61D-49B9BC902E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8" y="4494206"/>
            <a:ext cx="6336187" cy="220882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689C575-530A-BCFF-AAAA-3F940FCC39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54" r="1"/>
          <a:stretch/>
        </p:blipFill>
        <p:spPr>
          <a:xfrm>
            <a:off x="1480908" y="4383880"/>
            <a:ext cx="2677937" cy="2333625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8EBE9837-9090-93A9-AAED-D2171E381C5D}"/>
              </a:ext>
            </a:extLst>
          </p:cNvPr>
          <p:cNvSpPr/>
          <p:nvPr/>
        </p:nvSpPr>
        <p:spPr>
          <a:xfrm>
            <a:off x="2196992" y="5019964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6CE1EC5-839A-CFCE-C382-7B88EB808ED0}"/>
              </a:ext>
            </a:extLst>
          </p:cNvPr>
          <p:cNvSpPr/>
          <p:nvPr/>
        </p:nvSpPr>
        <p:spPr>
          <a:xfrm>
            <a:off x="3482120" y="5293544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C9F2E4C-FD4F-F489-2D68-480AC91578F0}"/>
              </a:ext>
            </a:extLst>
          </p:cNvPr>
          <p:cNvCxnSpPr>
            <a:cxnSpLocks/>
          </p:cNvCxnSpPr>
          <p:nvPr/>
        </p:nvCxnSpPr>
        <p:spPr>
          <a:xfrm>
            <a:off x="2219006" y="5087644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3B39F1E3-6A7A-ED74-DE68-A2E5B980EAAF}"/>
              </a:ext>
            </a:extLst>
          </p:cNvPr>
          <p:cNvSpPr/>
          <p:nvPr/>
        </p:nvSpPr>
        <p:spPr>
          <a:xfrm>
            <a:off x="2066072" y="4927037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F65548-CF0F-DD29-DA2D-7F389623F1D7}"/>
              </a:ext>
            </a:extLst>
          </p:cNvPr>
          <p:cNvSpPr txBox="1"/>
          <p:nvPr/>
        </p:nvSpPr>
        <p:spPr>
          <a:xfrm rot="815892">
            <a:off x="2313606" y="4825403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1CD904-7AE9-EFEE-94AE-A96CB60F5DB4}"/>
              </a:ext>
            </a:extLst>
          </p:cNvPr>
          <p:cNvSpPr txBox="1"/>
          <p:nvPr/>
        </p:nvSpPr>
        <p:spPr>
          <a:xfrm>
            <a:off x="3425463" y="533844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DED40E-6171-C3A4-DB3A-17C64F1B2F92}"/>
              </a:ext>
            </a:extLst>
          </p:cNvPr>
          <p:cNvSpPr txBox="1"/>
          <p:nvPr/>
        </p:nvSpPr>
        <p:spPr>
          <a:xfrm>
            <a:off x="2027823" y="4962751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77C179E-83C0-A743-8448-7B3469B5DD5C}"/>
              </a:ext>
            </a:extLst>
          </p:cNvPr>
          <p:cNvSpPr/>
          <p:nvPr/>
        </p:nvSpPr>
        <p:spPr>
          <a:xfrm>
            <a:off x="3099483" y="6137587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CDBE0D6-72FB-0FC3-AE77-95D9B01D67E4}"/>
              </a:ext>
            </a:extLst>
          </p:cNvPr>
          <p:cNvCxnSpPr>
            <a:cxnSpLocks/>
          </p:cNvCxnSpPr>
          <p:nvPr/>
        </p:nvCxnSpPr>
        <p:spPr>
          <a:xfrm>
            <a:off x="1802501" y="5803232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714410B0-9E7B-BFD5-740D-0B5C5F61C378}"/>
              </a:ext>
            </a:extLst>
          </p:cNvPr>
          <p:cNvSpPr/>
          <p:nvPr/>
        </p:nvSpPr>
        <p:spPr>
          <a:xfrm>
            <a:off x="1649567" y="564262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BDC40F-9645-8B9A-B209-EDC5FA13C229}"/>
              </a:ext>
            </a:extLst>
          </p:cNvPr>
          <p:cNvSpPr txBox="1"/>
          <p:nvPr/>
        </p:nvSpPr>
        <p:spPr>
          <a:xfrm>
            <a:off x="3042496" y="6164541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D430DE-2C10-C9C4-B79E-4F250556D4F8}"/>
              </a:ext>
            </a:extLst>
          </p:cNvPr>
          <p:cNvSpPr txBox="1"/>
          <p:nvPr/>
        </p:nvSpPr>
        <p:spPr>
          <a:xfrm>
            <a:off x="1592266" y="5673576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6481FD-7C7E-11C2-9AA4-0B5DE79AD2DE}"/>
              </a:ext>
            </a:extLst>
          </p:cNvPr>
          <p:cNvSpPr txBox="1"/>
          <p:nvPr/>
        </p:nvSpPr>
        <p:spPr>
          <a:xfrm rot="1053603">
            <a:off x="1899438" y="568443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AAAF8D6-3C81-7FCF-1314-13A0DF3E0DBF}"/>
              </a:ext>
            </a:extLst>
          </p:cNvPr>
          <p:cNvSpPr txBox="1"/>
          <p:nvPr/>
        </p:nvSpPr>
        <p:spPr>
          <a:xfrm rot="16200000">
            <a:off x="4595266" y="2427518"/>
            <a:ext cx="13692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Dorsal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ABA125-5609-980A-6DAC-1251826B8871}"/>
              </a:ext>
            </a:extLst>
          </p:cNvPr>
          <p:cNvSpPr txBox="1"/>
          <p:nvPr/>
        </p:nvSpPr>
        <p:spPr>
          <a:xfrm rot="16200000">
            <a:off x="4549677" y="5170489"/>
            <a:ext cx="14604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Ventral</a:t>
            </a:r>
          </a:p>
        </p:txBody>
      </p:sp>
    </p:spTree>
    <p:extLst>
      <p:ext uri="{BB962C8B-B14F-4D97-AF65-F5344CB8AC3E}">
        <p14:creationId xmlns:p14="http://schemas.microsoft.com/office/powerpoint/2010/main" val="1274465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14FD1-B83F-6147-CF40-48C8D03E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534"/>
            <a:ext cx="10515600" cy="1070333"/>
          </a:xfrm>
        </p:spPr>
        <p:txBody>
          <a:bodyPr/>
          <a:lstStyle/>
          <a:p>
            <a:r>
              <a:rPr lang="en-US" dirty="0"/>
              <a:t>Dort?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EFDBA0-698D-64F9-7EEA-A96FDB5EB3D6}"/>
              </a:ext>
            </a:extLst>
          </p:cNvPr>
          <p:cNvSpPr txBox="1">
            <a:spLocks/>
          </p:cNvSpPr>
          <p:nvPr/>
        </p:nvSpPr>
        <p:spPr>
          <a:xfrm>
            <a:off x="295280" y="1581259"/>
            <a:ext cx="5058874" cy="46444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Rather than a “dorsal” module, it’s actually more of a frontoparietal control network (FPCN) module</a:t>
            </a:r>
          </a:p>
          <a:p>
            <a:pPr lvl="1"/>
            <a:r>
              <a:rPr lang="en-US" dirty="0"/>
              <a:t>I know the FPCN is a construct based on resting-state fMRI</a:t>
            </a:r>
          </a:p>
          <a:p>
            <a:pPr lvl="1"/>
            <a:r>
              <a:rPr lang="en-US" dirty="0"/>
              <a:t>But it’s popped up in task studies</a:t>
            </a:r>
          </a:p>
          <a:p>
            <a:pPr lvl="1"/>
            <a:r>
              <a:rPr lang="en-US" dirty="0"/>
              <a:t>It’s striking to me that the MTG spot lands closely to where the temporal component of the FPCN typically appears</a:t>
            </a:r>
          </a:p>
          <a:p>
            <a:r>
              <a:rPr lang="en-US" dirty="0"/>
              <a:t>Instead of Ven-Dor, it may be more correct to say “Ventral-FPCN”</a:t>
            </a:r>
          </a:p>
          <a:p>
            <a:pPr lvl="1"/>
            <a:r>
              <a:rPr lang="en-US" dirty="0"/>
              <a:t>Nonetheless, I proceed with the Ven-Dor idea and the MTG component for now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08D429-72EE-33CC-D13A-D0594DC340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0"/>
          <a:stretch/>
        </p:blipFill>
        <p:spPr>
          <a:xfrm>
            <a:off x="5564119" y="1771836"/>
            <a:ext cx="6336186" cy="2208822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8689C575-530A-BCFF-AAAA-3F940FCC39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8091258" y="4418808"/>
            <a:ext cx="2677937" cy="2333625"/>
          </a:xfrm>
          <a:prstGeom prst="rect">
            <a:avLst/>
          </a:pr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8EBE9837-9090-93A9-AAED-D2171E381C5D}"/>
              </a:ext>
            </a:extLst>
          </p:cNvPr>
          <p:cNvSpPr/>
          <p:nvPr/>
        </p:nvSpPr>
        <p:spPr>
          <a:xfrm>
            <a:off x="8807342" y="505489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6CE1EC5-839A-CFCE-C382-7B88EB808ED0}"/>
              </a:ext>
            </a:extLst>
          </p:cNvPr>
          <p:cNvSpPr/>
          <p:nvPr/>
        </p:nvSpPr>
        <p:spPr>
          <a:xfrm>
            <a:off x="10092470" y="532847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C9F2E4C-FD4F-F489-2D68-480AC91578F0}"/>
              </a:ext>
            </a:extLst>
          </p:cNvPr>
          <p:cNvCxnSpPr>
            <a:cxnSpLocks/>
          </p:cNvCxnSpPr>
          <p:nvPr/>
        </p:nvCxnSpPr>
        <p:spPr>
          <a:xfrm>
            <a:off x="8829356" y="512257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3B39F1E3-6A7A-ED74-DE68-A2E5B980EAAF}"/>
              </a:ext>
            </a:extLst>
          </p:cNvPr>
          <p:cNvSpPr/>
          <p:nvPr/>
        </p:nvSpPr>
        <p:spPr>
          <a:xfrm>
            <a:off x="8676422" y="4961965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F65548-CF0F-DD29-DA2D-7F389623F1D7}"/>
              </a:ext>
            </a:extLst>
          </p:cNvPr>
          <p:cNvSpPr txBox="1"/>
          <p:nvPr/>
        </p:nvSpPr>
        <p:spPr>
          <a:xfrm rot="815892">
            <a:off x="8923956" y="486033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DED40E-6171-C3A4-DB3A-17C64F1B2F92}"/>
              </a:ext>
            </a:extLst>
          </p:cNvPr>
          <p:cNvSpPr txBox="1"/>
          <p:nvPr/>
        </p:nvSpPr>
        <p:spPr>
          <a:xfrm>
            <a:off x="8638173" y="499767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A6C800-B0D6-94DF-FA31-163680CDF05C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8859548" y="5259289"/>
            <a:ext cx="371722" cy="79080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255ED8-F643-EE61-9353-E88F68D902FE}"/>
              </a:ext>
            </a:extLst>
          </p:cNvPr>
          <p:cNvCxnSpPr>
            <a:cxnSpLocks/>
          </p:cNvCxnSpPr>
          <p:nvPr/>
        </p:nvCxnSpPr>
        <p:spPr>
          <a:xfrm flipH="1">
            <a:off x="9284974" y="5513803"/>
            <a:ext cx="928736" cy="50952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177C179E-83C0-A743-8448-7B3469B5DD5C}"/>
              </a:ext>
            </a:extLst>
          </p:cNvPr>
          <p:cNvSpPr/>
          <p:nvPr/>
        </p:nvSpPr>
        <p:spPr>
          <a:xfrm>
            <a:off x="9073698" y="585820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BDC40F-9645-8B9A-B209-EDC5FA13C229}"/>
              </a:ext>
            </a:extLst>
          </p:cNvPr>
          <p:cNvSpPr txBox="1"/>
          <p:nvPr/>
        </p:nvSpPr>
        <p:spPr>
          <a:xfrm>
            <a:off x="9015089" y="5902233"/>
            <a:ext cx="560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MTG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1CD904-7AE9-EFEE-94AE-A96CB60F5DB4}"/>
              </a:ext>
            </a:extLst>
          </p:cNvPr>
          <p:cNvSpPr txBox="1"/>
          <p:nvPr/>
        </p:nvSpPr>
        <p:spPr>
          <a:xfrm>
            <a:off x="10035813" y="537337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6E73F92-7F19-8755-28F6-14E217C6070B}"/>
              </a:ext>
            </a:extLst>
          </p:cNvPr>
          <p:cNvSpPr/>
          <p:nvPr/>
        </p:nvSpPr>
        <p:spPr>
          <a:xfrm>
            <a:off x="6296025" y="2876247"/>
            <a:ext cx="438150" cy="4381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114F19-44EB-2B0D-68C9-18073F63A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96855" y="5109272"/>
            <a:ext cx="1549629" cy="111573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B1579F9-DC2A-C6F3-495F-17DF51E31272}"/>
              </a:ext>
            </a:extLst>
          </p:cNvPr>
          <p:cNvSpPr txBox="1"/>
          <p:nvPr/>
        </p:nvSpPr>
        <p:spPr>
          <a:xfrm>
            <a:off x="6265147" y="4720587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FPCN</a:t>
            </a:r>
          </a:p>
        </p:txBody>
      </p:sp>
    </p:spTree>
    <p:extLst>
      <p:ext uri="{BB962C8B-B14F-4D97-AF65-F5344CB8AC3E}">
        <p14:creationId xmlns:p14="http://schemas.microsoft.com/office/powerpoint/2010/main" val="2178334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Quadrants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78582D8-45AF-6C0F-B362-0EC6507DF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F0C577A-0D90-DEBC-9669-54DD60BE8FE1}"/>
              </a:ext>
            </a:extLst>
          </p:cNvPr>
          <p:cNvSpPr/>
          <p:nvPr/>
        </p:nvSpPr>
        <p:spPr>
          <a:xfrm rot="4759015">
            <a:off x="5133089" y="2747323"/>
            <a:ext cx="696522" cy="32273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two modules can be split into quadrants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2EC166-DE6B-50EF-6C6E-1A6741C7A44C}"/>
              </a:ext>
            </a:extLst>
          </p:cNvPr>
          <p:cNvSpPr txBox="1"/>
          <p:nvPr/>
        </p:nvSpPr>
        <p:spPr>
          <a:xfrm>
            <a:off x="4922258" y="217500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34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36D8FAAA-505E-3DAA-4ABD-1E313CC7B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Quadrants (scrubbing)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two modules can be split into quadrants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B5D3095-D1DC-0403-A837-934DED0FC589}"/>
              </a:ext>
            </a:extLst>
          </p:cNvPr>
          <p:cNvSpPr/>
          <p:nvPr/>
        </p:nvSpPr>
        <p:spPr>
          <a:xfrm rot="4759015">
            <a:off x="5133089" y="2747323"/>
            <a:ext cx="696522" cy="32273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85199E-14F4-20F6-58F8-49ACE947B33E}"/>
              </a:ext>
            </a:extLst>
          </p:cNvPr>
          <p:cNvSpPr txBox="1"/>
          <p:nvPr/>
        </p:nvSpPr>
        <p:spPr>
          <a:xfrm>
            <a:off x="4922258" y="2175008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Outlier</a:t>
            </a:r>
          </a:p>
        </p:txBody>
      </p:sp>
    </p:spTree>
    <p:extLst>
      <p:ext uri="{BB962C8B-B14F-4D97-AF65-F5344CB8AC3E}">
        <p14:creationId xmlns:p14="http://schemas.microsoft.com/office/powerpoint/2010/main" val="59341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DF90356-8B7B-855D-BF2A-48FFC4AC2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Anatomical Quadrant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F1B327-874C-049A-2EFE-712C2F138A57}"/>
              </a:ext>
            </a:extLst>
          </p:cNvPr>
          <p:cNvSpPr txBox="1">
            <a:spLocks/>
          </p:cNvSpPr>
          <p:nvPr/>
        </p:nvSpPr>
        <p:spPr>
          <a:xfrm>
            <a:off x="914400" y="1581260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quadrants could be defined anatomically</a:t>
            </a:r>
          </a:p>
          <a:p>
            <a:pPr lvl="1"/>
            <a:r>
              <a:rPr lang="en-US" dirty="0"/>
              <a:t>Here, I picked regions based on the atlas region labels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B0212-A703-E44F-A9EB-02B2AD3474DE}"/>
              </a:ext>
            </a:extLst>
          </p:cNvPr>
          <p:cNvSpPr txBox="1"/>
          <p:nvPr/>
        </p:nvSpPr>
        <p:spPr>
          <a:xfrm>
            <a:off x="3969806" y="2523567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0F57-AF8E-41FF-B163-B1FDF0B50170}"/>
              </a:ext>
            </a:extLst>
          </p:cNvPr>
          <p:cNvSpPr txBox="1"/>
          <p:nvPr/>
        </p:nvSpPr>
        <p:spPr>
          <a:xfrm>
            <a:off x="4302345" y="503564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3430A-F295-F4FB-B4AC-25C2BDC856BC}"/>
              </a:ext>
            </a:extLst>
          </p:cNvPr>
          <p:cNvSpPr txBox="1"/>
          <p:nvPr/>
        </p:nvSpPr>
        <p:spPr>
          <a:xfrm>
            <a:off x="6644890" y="4881271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CA986-A1FF-5C2F-DE22-62F557A1D1A4}"/>
              </a:ext>
            </a:extLst>
          </p:cNvPr>
          <p:cNvSpPr txBox="1"/>
          <p:nvPr/>
        </p:nvSpPr>
        <p:spPr>
          <a:xfrm>
            <a:off x="6570767" y="25817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3E1DE-4162-080B-5C94-D2F894FBB587}"/>
              </a:ext>
            </a:extLst>
          </p:cNvPr>
          <p:cNvSpPr txBox="1">
            <a:spLocks/>
          </p:cNvSpPr>
          <p:nvPr/>
        </p:nvSpPr>
        <p:spPr>
          <a:xfrm>
            <a:off x="912919" y="5702409"/>
            <a:ext cx="11315695" cy="7904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 didn’t pursue this in the current slides’ results, but it’s an option</a:t>
            </a:r>
          </a:p>
        </p:txBody>
      </p:sp>
    </p:spTree>
    <p:extLst>
      <p:ext uri="{BB962C8B-B14F-4D97-AF65-F5344CB8AC3E}">
        <p14:creationId xmlns:p14="http://schemas.microsoft.com/office/powerpoint/2010/main" val="1499224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47D30-34BF-FAC0-142E-5CF5AA72E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6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Traditional modularity results (for reference)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06B6B-5B83-0519-2716-04D564168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644" y="1171010"/>
            <a:ext cx="10515600" cy="56474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Modules based on average connectivity (quite localized)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BA04A-94AC-95BE-E7C4-6F2788FAB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1799831"/>
            <a:ext cx="4032119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90E7E4-D107-2211-15CC-964CB406C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1757578"/>
            <a:ext cx="4032119" cy="160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C22515-A878-FDAF-CE8A-558A10735F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3454770"/>
            <a:ext cx="4032119" cy="1600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A7AC72-5C94-4603-4AD9-E741F076C0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3433644"/>
            <a:ext cx="4032119" cy="1600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6DC88B-0EB0-6527-B15C-F43760B5D0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797" y="5109709"/>
            <a:ext cx="4032119" cy="1600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AF1E12D-BD83-6564-CF27-280C18EF6A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158" y="5109709"/>
            <a:ext cx="4032119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27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9F03-E6B5-D49E-38E6-4279343DD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726" y="312127"/>
            <a:ext cx="5467350" cy="1325563"/>
          </a:xfrm>
        </p:spPr>
        <p:txBody>
          <a:bodyPr/>
          <a:lstStyle/>
          <a:p>
            <a:r>
              <a:rPr lang="en-US" dirty="0"/>
              <a:t>Quadrant seeds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6C1B65-FDA8-0817-0D47-49BE207B4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665" y="3573455"/>
            <a:ext cx="2194560" cy="27432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066B0-63A2-E535-2AB2-2A2059060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924" y="3573455"/>
            <a:ext cx="2194560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199E9E-7659-B85C-7F54-19806BBF4C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924" y="830255"/>
            <a:ext cx="2194560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FBB891-1B0C-218C-2EE8-3DD3E6401A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665" y="830255"/>
            <a:ext cx="2194560" cy="2743200"/>
          </a:xfrm>
          <a:prstGeom prst="rect">
            <a:avLst/>
          </a:prstGeom>
        </p:spPr>
      </p:pic>
      <p:pic>
        <p:nvPicPr>
          <p:cNvPr id="12" name="Content Placeholder 8">
            <a:extLst>
              <a:ext uri="{FF2B5EF4-FFF2-40B4-BE49-F238E27FC236}">
                <a16:creationId xmlns:a16="http://schemas.microsoft.com/office/drawing/2014/main" id="{A3C7AC70-9ED7-6C4B-530C-51F80CBDE93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03" r="29956"/>
          <a:stretch/>
        </p:blipFill>
        <p:spPr>
          <a:xfrm>
            <a:off x="2159492" y="1538288"/>
            <a:ext cx="3492087" cy="35146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210BB6-A31A-2103-D5B0-A4B2342DAB1F}"/>
              </a:ext>
            </a:extLst>
          </p:cNvPr>
          <p:cNvSpPr txBox="1"/>
          <p:nvPr/>
        </p:nvSpPr>
        <p:spPr>
          <a:xfrm>
            <a:off x="1501995" y="1802401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632F09-E86E-DF40-E2DE-C47553C0A4C3}"/>
              </a:ext>
            </a:extLst>
          </p:cNvPr>
          <p:cNvSpPr txBox="1"/>
          <p:nvPr/>
        </p:nvSpPr>
        <p:spPr>
          <a:xfrm>
            <a:off x="768155" y="3080531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278405-B808-FBBE-FB31-9B6740ABEC37}"/>
              </a:ext>
            </a:extLst>
          </p:cNvPr>
          <p:cNvSpPr txBox="1"/>
          <p:nvPr/>
        </p:nvSpPr>
        <p:spPr>
          <a:xfrm>
            <a:off x="4511290" y="4257973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1B39EC-E592-B476-570A-B5F5624F93D7}"/>
              </a:ext>
            </a:extLst>
          </p:cNvPr>
          <p:cNvSpPr txBox="1"/>
          <p:nvPr/>
        </p:nvSpPr>
        <p:spPr>
          <a:xfrm>
            <a:off x="5508857" y="242188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Content Placeholder 4">
            <a:extLst>
              <a:ext uri="{FF2B5EF4-FFF2-40B4-BE49-F238E27FC236}">
                <a16:creationId xmlns:a16="http://schemas.microsoft.com/office/drawing/2014/main" id="{4470B0C8-49DF-6F7F-E33B-CAD1EFB175F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60"/>
          <a:stretch/>
        </p:blipFill>
        <p:spPr>
          <a:xfrm>
            <a:off x="418878" y="4228568"/>
            <a:ext cx="1760462" cy="233978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3E15FA9-080C-AAE2-ECC2-8F6F75232BCC}"/>
              </a:ext>
            </a:extLst>
          </p:cNvPr>
          <p:cNvSpPr/>
          <p:nvPr/>
        </p:nvSpPr>
        <p:spPr>
          <a:xfrm>
            <a:off x="6888924" y="820729"/>
            <a:ext cx="2194560" cy="2743200"/>
          </a:xfrm>
          <a:prstGeom prst="rect">
            <a:avLst/>
          </a:prstGeom>
          <a:noFill/>
          <a:ln w="38100">
            <a:solidFill>
              <a:srgbClr val="08CE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245062-6A22-9D35-E37A-C12A6AB6300D}"/>
              </a:ext>
            </a:extLst>
          </p:cNvPr>
          <p:cNvSpPr/>
          <p:nvPr/>
        </p:nvSpPr>
        <p:spPr>
          <a:xfrm>
            <a:off x="6888924" y="3621079"/>
            <a:ext cx="2194560" cy="2743200"/>
          </a:xfrm>
          <a:prstGeom prst="rect">
            <a:avLst/>
          </a:prstGeom>
          <a:noFill/>
          <a:ln w="38100">
            <a:solidFill>
              <a:srgbClr val="E5A9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A9876A-D3B5-513F-97E0-630D65E1FB01}"/>
              </a:ext>
            </a:extLst>
          </p:cNvPr>
          <p:cNvSpPr/>
          <p:nvPr/>
        </p:nvSpPr>
        <p:spPr>
          <a:xfrm>
            <a:off x="9140190" y="3621079"/>
            <a:ext cx="2194560" cy="274320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954798-1BD3-FB2C-8D4A-0C1B33F7AB03}"/>
              </a:ext>
            </a:extLst>
          </p:cNvPr>
          <p:cNvSpPr/>
          <p:nvPr/>
        </p:nvSpPr>
        <p:spPr>
          <a:xfrm>
            <a:off x="9140190" y="820729"/>
            <a:ext cx="2194560" cy="2743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09755D-93C6-D848-FF7F-53B609AB6852}"/>
              </a:ext>
            </a:extLst>
          </p:cNvPr>
          <p:cNvSpPr txBox="1"/>
          <p:nvPr/>
        </p:nvSpPr>
        <p:spPr>
          <a:xfrm>
            <a:off x="9837360" y="34953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98654E-F61F-B1EA-2E4C-062B0C2CFC20}"/>
              </a:ext>
            </a:extLst>
          </p:cNvPr>
          <p:cNvSpPr txBox="1"/>
          <p:nvPr/>
        </p:nvSpPr>
        <p:spPr>
          <a:xfrm>
            <a:off x="9911483" y="6396335"/>
            <a:ext cx="726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6847A1-95C6-A905-8B1A-A589E8D141B0}"/>
              </a:ext>
            </a:extLst>
          </p:cNvPr>
          <p:cNvSpPr txBox="1"/>
          <p:nvPr/>
        </p:nvSpPr>
        <p:spPr>
          <a:xfrm>
            <a:off x="7303164" y="6396334"/>
            <a:ext cx="1484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solidFill>
                  <a:srgbClr val="E5A9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OccTemp</a:t>
            </a:r>
            <a:endParaRPr lang="en-US" dirty="0">
              <a:solidFill>
                <a:srgbClr val="E5A90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F18436-963C-8C29-C4CF-0A2D18768A89}"/>
              </a:ext>
            </a:extLst>
          </p:cNvPr>
          <p:cNvSpPr txBox="1"/>
          <p:nvPr/>
        </p:nvSpPr>
        <p:spPr>
          <a:xfrm>
            <a:off x="7371292" y="349538"/>
            <a:ext cx="122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Parietal</a:t>
            </a:r>
            <a:endParaRPr lang="en-US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908AC8-2E97-4DEC-B1AE-F77D72E56377}"/>
              </a:ext>
            </a:extLst>
          </p:cNvPr>
          <p:cNvSpPr txBox="1"/>
          <p:nvPr/>
        </p:nvSpPr>
        <p:spPr>
          <a:xfrm>
            <a:off x="3396836" y="5412937"/>
            <a:ext cx="2883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Each quadrant was tested as a seed</a:t>
            </a:r>
          </a:p>
        </p:txBody>
      </p:sp>
    </p:spTree>
    <p:extLst>
      <p:ext uri="{BB962C8B-B14F-4D97-AF65-F5344CB8AC3E}">
        <p14:creationId xmlns:p14="http://schemas.microsoft.com/office/powerpoint/2010/main" val="3701406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FFC3-35FA-9F3A-7BA0-69C4F1D5A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724"/>
          </a:xfrm>
        </p:spPr>
        <p:txBody>
          <a:bodyPr/>
          <a:lstStyle/>
          <a:p>
            <a:r>
              <a:rPr lang="en-US" dirty="0"/>
              <a:t>Ven vs. Dor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0B03B7F-31D1-2DAA-E9DF-0A8EAC78D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9253"/>
            <a:ext cx="7531678" cy="443039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D14D468-8423-320F-F8D2-1337481E32A1}"/>
              </a:ext>
            </a:extLst>
          </p:cNvPr>
          <p:cNvSpPr txBox="1"/>
          <p:nvPr/>
        </p:nvSpPr>
        <p:spPr>
          <a:xfrm>
            <a:off x="7611277" y="1261168"/>
            <a:ext cx="412632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Many interactions attempted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General hypothesis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There exists Ven-Dor “brain state”, characterized by a dissociation of the two modules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 within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Low between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People, YA and OA, enter this Ven-Dor state when processing congruency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state is heightened at all times for OA, reflecting a constant increased application of semantic knowledge in coming stimuli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occurs even when processing incongruency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However, this state is particularly heightened when processing congruency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Current interactions don’t significantly show this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to still look into ipsilateral only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ECC767-8C1C-E1FD-2633-AAB1C2ADFC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4" r="1"/>
          <a:stretch/>
        </p:blipFill>
        <p:spPr>
          <a:xfrm>
            <a:off x="155864" y="29923"/>
            <a:ext cx="2677937" cy="2333625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B63374-09E2-5CB4-FA1E-23C7AAE0B428}"/>
              </a:ext>
            </a:extLst>
          </p:cNvPr>
          <p:cNvCxnSpPr>
            <a:cxnSpLocks/>
          </p:cNvCxnSpPr>
          <p:nvPr/>
        </p:nvCxnSpPr>
        <p:spPr>
          <a:xfrm flipH="1">
            <a:off x="511332" y="768394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3108021-2C8B-5DA7-5878-B2ABDFB2200D}"/>
              </a:ext>
            </a:extLst>
          </p:cNvPr>
          <p:cNvCxnSpPr>
            <a:cxnSpLocks/>
          </p:cNvCxnSpPr>
          <p:nvPr/>
        </p:nvCxnSpPr>
        <p:spPr>
          <a:xfrm flipH="1">
            <a:off x="1991334" y="1191802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7E3C7A4C-48E4-5823-0D53-8A76779013CE}"/>
              </a:ext>
            </a:extLst>
          </p:cNvPr>
          <p:cNvSpPr/>
          <p:nvPr/>
        </p:nvSpPr>
        <p:spPr>
          <a:xfrm>
            <a:off x="871948" y="666007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492C8C3-2E6E-5998-4C3A-6E1D2EF48853}"/>
              </a:ext>
            </a:extLst>
          </p:cNvPr>
          <p:cNvSpPr/>
          <p:nvPr/>
        </p:nvSpPr>
        <p:spPr>
          <a:xfrm>
            <a:off x="2157076" y="939587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EC70D7-D1F4-F9FA-274C-7F52C7069638}"/>
              </a:ext>
            </a:extLst>
          </p:cNvPr>
          <p:cNvCxnSpPr>
            <a:cxnSpLocks/>
          </p:cNvCxnSpPr>
          <p:nvPr/>
        </p:nvCxnSpPr>
        <p:spPr>
          <a:xfrm>
            <a:off x="893962" y="733687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0CDC1A0-D39A-4A18-62E0-425D87E3B64F}"/>
              </a:ext>
            </a:extLst>
          </p:cNvPr>
          <p:cNvSpPr/>
          <p:nvPr/>
        </p:nvSpPr>
        <p:spPr>
          <a:xfrm>
            <a:off x="741028" y="573080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F216A9-E70A-5CB9-44BF-0CA804CE5E37}"/>
              </a:ext>
            </a:extLst>
          </p:cNvPr>
          <p:cNvSpPr txBox="1"/>
          <p:nvPr/>
        </p:nvSpPr>
        <p:spPr>
          <a:xfrm rot="1139387">
            <a:off x="898877" y="135775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39B811-D8C8-7597-6FB4-ACD5C8D479AE}"/>
              </a:ext>
            </a:extLst>
          </p:cNvPr>
          <p:cNvSpPr txBox="1"/>
          <p:nvPr/>
        </p:nvSpPr>
        <p:spPr>
          <a:xfrm>
            <a:off x="2100419" y="984492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40E2E2-608B-E37F-9967-09311034BF2F}"/>
              </a:ext>
            </a:extLst>
          </p:cNvPr>
          <p:cNvSpPr txBox="1"/>
          <p:nvPr/>
        </p:nvSpPr>
        <p:spPr>
          <a:xfrm>
            <a:off x="702779" y="608794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7331CE6-E0AC-A941-CF39-2652D309A0FA}"/>
              </a:ext>
            </a:extLst>
          </p:cNvPr>
          <p:cNvSpPr/>
          <p:nvPr/>
        </p:nvSpPr>
        <p:spPr>
          <a:xfrm>
            <a:off x="1774439" y="1783630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017885-2B76-EF33-0785-A797D8E608A3}"/>
              </a:ext>
            </a:extLst>
          </p:cNvPr>
          <p:cNvCxnSpPr>
            <a:cxnSpLocks/>
          </p:cNvCxnSpPr>
          <p:nvPr/>
        </p:nvCxnSpPr>
        <p:spPr>
          <a:xfrm>
            <a:off x="477457" y="1449275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0D47C4E-D545-C6ED-E14D-56AE0FBDBAFA}"/>
              </a:ext>
            </a:extLst>
          </p:cNvPr>
          <p:cNvSpPr/>
          <p:nvPr/>
        </p:nvSpPr>
        <p:spPr>
          <a:xfrm>
            <a:off x="324523" y="1288668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371762-885F-3428-EA77-C68F15D15E02}"/>
              </a:ext>
            </a:extLst>
          </p:cNvPr>
          <p:cNvSpPr txBox="1"/>
          <p:nvPr/>
        </p:nvSpPr>
        <p:spPr>
          <a:xfrm>
            <a:off x="1717452" y="1810584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A23297-B419-556A-D739-ED94D2540C76}"/>
              </a:ext>
            </a:extLst>
          </p:cNvPr>
          <p:cNvSpPr txBox="1"/>
          <p:nvPr/>
        </p:nvSpPr>
        <p:spPr>
          <a:xfrm>
            <a:off x="267222" y="1319619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8410FE-1CDF-C2AB-93D3-1B3EBBD96E5D}"/>
              </a:ext>
            </a:extLst>
          </p:cNvPr>
          <p:cNvSpPr txBox="1"/>
          <p:nvPr/>
        </p:nvSpPr>
        <p:spPr>
          <a:xfrm rot="791281">
            <a:off x="1293014" y="533518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A7F6E0-7D78-6196-CFAD-ABA07089B61E}"/>
              </a:ext>
            </a:extLst>
          </p:cNvPr>
          <p:cNvSpPr txBox="1"/>
          <p:nvPr/>
        </p:nvSpPr>
        <p:spPr>
          <a:xfrm rot="1001558">
            <a:off x="936407" y="1026964"/>
            <a:ext cx="108234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</a:p>
        </p:txBody>
      </p:sp>
    </p:spTree>
    <p:extLst>
      <p:ext uri="{BB962C8B-B14F-4D97-AF65-F5344CB8AC3E}">
        <p14:creationId xmlns:p14="http://schemas.microsoft.com/office/powerpoint/2010/main" val="104749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79B19-7CAE-F1C1-09F4-3861F799AAC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en-US" dirty="0"/>
              <a:t>Bar graphs for the four sides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46B03-A1AC-E614-3EFC-6569956EC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44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CD26-DE83-E453-29B8-94501671D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39"/>
            <a:ext cx="10515600" cy="1325563"/>
          </a:xfrm>
        </p:spPr>
        <p:txBody>
          <a:bodyPr/>
          <a:lstStyle/>
          <a:p>
            <a:r>
              <a:rPr lang="en-US" dirty="0"/>
              <a:t>Anatomical-based 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15DA07-A156-BACF-1907-20A5A3ECC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900" y="1686064"/>
            <a:ext cx="8026400" cy="47214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60D1B8-47BA-C5C8-EF32-21E535438B0B}"/>
              </a:ext>
            </a:extLst>
          </p:cNvPr>
          <p:cNvSpPr txBox="1"/>
          <p:nvPr/>
        </p:nvSpPr>
        <p:spPr>
          <a:xfrm>
            <a:off x="139700" y="1219026"/>
            <a:ext cx="419932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Results are a bit more attractive if we select the ROIs based on anatomical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upside to this approach, is that it avoids any circularity biases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there is a risk, with just plucking and choosing anatomical labels, that one is making arbitrary choices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(and massaging the data)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what it’s worth, I didn’t tweak the labels after seeing these results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Surprising that YAs do not show anything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 think the results on OA are more compelling if YA show weaker but still present Ven-Dor effect</a:t>
            </a:r>
          </a:p>
        </p:txBody>
      </p:sp>
    </p:spTree>
    <p:extLst>
      <p:ext uri="{BB962C8B-B14F-4D97-AF65-F5344CB8AC3E}">
        <p14:creationId xmlns:p14="http://schemas.microsoft.com/office/powerpoint/2010/main" val="1278047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E060E-DF92-E297-76AD-A5499C51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interlude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A6B8E-3B18-B299-DDED-E293EEA2D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high within-connectivity mean?</a:t>
            </a:r>
          </a:p>
          <a:p>
            <a:pPr lvl="1"/>
            <a:r>
              <a:rPr lang="en-US" dirty="0"/>
              <a:t>High dorsal?</a:t>
            </a:r>
          </a:p>
          <a:p>
            <a:pPr lvl="1"/>
            <a:r>
              <a:rPr lang="en-US" dirty="0"/>
              <a:t>High ventral?</a:t>
            </a:r>
          </a:p>
        </p:txBody>
      </p:sp>
    </p:spTree>
    <p:extLst>
      <p:ext uri="{BB962C8B-B14F-4D97-AF65-F5344CB8AC3E}">
        <p14:creationId xmlns:p14="http://schemas.microsoft.com/office/powerpoint/2010/main" val="722775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 2: The temporal properties of Ven-Dor and congruency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(Dynamic Ven-Dor)</a:t>
            </a:r>
          </a:p>
        </p:txBody>
      </p:sp>
    </p:spTree>
    <p:extLst>
      <p:ext uri="{BB962C8B-B14F-4D97-AF65-F5344CB8AC3E}">
        <p14:creationId xmlns:p14="http://schemas.microsoft.com/office/powerpoint/2010/main" val="1582838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49B57-9508-15B7-9A91-03C11A85E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AC364-E1FA-13C2-C293-5825353B7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90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32BE956F-5E6A-5B3F-E572-EABA1E1E5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236" y="644525"/>
            <a:ext cx="6635764" cy="60990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D18E89-B5C2-82EF-5A67-46E680AEA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78" y="95277"/>
            <a:ext cx="28575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Ven x Dor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77895-F93D-12D6-985A-7E7BA6858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595" y="1377975"/>
            <a:ext cx="3430029" cy="3703447"/>
          </a:xfrm>
        </p:spPr>
        <p:txBody>
          <a:bodyPr>
            <a:normAutofit fontScale="77500" lnSpcReduction="20000"/>
          </a:bodyPr>
          <a:lstStyle/>
          <a:p>
            <a:r>
              <a:rPr lang="en-US" sz="2000" dirty="0"/>
              <a:t>Method:</a:t>
            </a:r>
          </a:p>
          <a:p>
            <a:pPr lvl="1"/>
            <a:r>
              <a:rPr lang="en-US" sz="1600" dirty="0"/>
              <a:t>These analyses do not look at congruency</a:t>
            </a:r>
          </a:p>
          <a:p>
            <a:pPr lvl="1"/>
            <a:r>
              <a:rPr lang="en-US" sz="1600" dirty="0"/>
              <a:t>Measuring the correlation between average connectivity on a trial-by-trial-basis</a:t>
            </a:r>
          </a:p>
          <a:p>
            <a:pPr lvl="1"/>
            <a:r>
              <a:rPr lang="en-US" sz="1600" dirty="0"/>
              <a:t>The figure here just shows correlations but everything is consistent with multilevel regressions</a:t>
            </a:r>
          </a:p>
          <a:p>
            <a:r>
              <a:rPr lang="en-US" sz="2000" dirty="0"/>
              <a:t>Results:</a:t>
            </a:r>
          </a:p>
          <a:p>
            <a:pPr lvl="1"/>
            <a:r>
              <a:rPr lang="en-US" sz="1600" dirty="0"/>
              <a:t>In older adults, the Ven and Dor modules move in greater sync</a:t>
            </a:r>
          </a:p>
          <a:p>
            <a:pPr lvl="1"/>
            <a:r>
              <a:rPr lang="en-US" sz="1600" dirty="0"/>
              <a:t>Interestingly, so do the anterior and posterior connections</a:t>
            </a:r>
          </a:p>
          <a:p>
            <a:r>
              <a:rPr lang="en-US" sz="2000" dirty="0"/>
              <a:t>Constantly fluctuating</a:t>
            </a:r>
          </a:p>
          <a:p>
            <a:pPr lvl="1"/>
            <a:r>
              <a:rPr lang="en-US" sz="1600" dirty="0"/>
              <a:t>Fluctuation is evidenced by the negative correlation</a:t>
            </a:r>
          </a:p>
          <a:p>
            <a:pPr lvl="1"/>
            <a:r>
              <a:rPr lang="en-US" sz="1600" dirty="0"/>
              <a:t>Although it’s hard to judge magnitude based on the figure, the negative slopes are quite strong (up to r = -.38)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31ACBFC6-DE8F-0CA5-521D-577AD343B278}"/>
              </a:ext>
            </a:extLst>
          </p:cNvPr>
          <p:cNvSpPr/>
          <p:nvPr/>
        </p:nvSpPr>
        <p:spPr>
          <a:xfrm>
            <a:off x="6229350" y="2222500"/>
            <a:ext cx="1179342" cy="117934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A7F1083F-EE52-B86D-EB71-9E0A14673565}"/>
              </a:ext>
            </a:extLst>
          </p:cNvPr>
          <p:cNvSpPr/>
          <p:nvPr/>
        </p:nvSpPr>
        <p:spPr>
          <a:xfrm>
            <a:off x="8968195" y="4963801"/>
            <a:ext cx="1179342" cy="1179342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FA94A1EC-F0DD-6301-8EF2-B65E0E2A7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948" y="3623199"/>
            <a:ext cx="1364080" cy="1188720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23CB25DF-4303-C260-B92E-95436B979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948" y="5081423"/>
            <a:ext cx="1364080" cy="1188720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D9386487-816B-7403-E974-7ABC9D3D1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0975" y="2164975"/>
            <a:ext cx="1363190" cy="1188720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DF703322-3E32-AEAC-C51B-0563A2CF14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8824" y="706751"/>
            <a:ext cx="1364856" cy="1188720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7C5B9005-FF53-05EA-2620-783AEF5EFD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476" y="5130447"/>
            <a:ext cx="3895130" cy="1435093"/>
          </a:xfrm>
          <a:prstGeom prst="rect">
            <a:avLst/>
          </a:prstGeom>
        </p:spPr>
      </p:pic>
      <p:sp>
        <p:nvSpPr>
          <p:cNvPr id="127" name="Rectangle 126">
            <a:extLst>
              <a:ext uri="{FF2B5EF4-FFF2-40B4-BE49-F238E27FC236}">
                <a16:creationId xmlns:a16="http://schemas.microsoft.com/office/drawing/2014/main" id="{F52CC0BB-E7A8-9074-F3A0-512CEB857D23}"/>
              </a:ext>
            </a:extLst>
          </p:cNvPr>
          <p:cNvSpPr/>
          <p:nvPr/>
        </p:nvSpPr>
        <p:spPr>
          <a:xfrm>
            <a:off x="6229351" y="3497580"/>
            <a:ext cx="2586990" cy="271589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A07D186-FB1D-14B3-1081-76EF45EBA438}"/>
              </a:ext>
            </a:extLst>
          </p:cNvPr>
          <p:cNvSpPr txBox="1"/>
          <p:nvPr/>
        </p:nvSpPr>
        <p:spPr>
          <a:xfrm>
            <a:off x="6177518" y="1528300"/>
            <a:ext cx="1955243" cy="64633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 x Dor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Aging interaction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68A428E-902A-CC8F-D362-CB83A705A986}"/>
              </a:ext>
            </a:extLst>
          </p:cNvPr>
          <p:cNvSpPr txBox="1"/>
          <p:nvPr/>
        </p:nvSpPr>
        <p:spPr>
          <a:xfrm>
            <a:off x="8944954" y="4271750"/>
            <a:ext cx="1955243" cy="64633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Ven x Dor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Aging interaction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906C8EE-5281-71D8-86B6-11A2062D9EAD}"/>
              </a:ext>
            </a:extLst>
          </p:cNvPr>
          <p:cNvSpPr txBox="1"/>
          <p:nvPr/>
        </p:nvSpPr>
        <p:spPr>
          <a:xfrm>
            <a:off x="6316971" y="4532361"/>
            <a:ext cx="2411750" cy="646331"/>
          </a:xfrm>
          <a:prstGeom prst="rect">
            <a:avLst/>
          </a:prstGeom>
          <a:solidFill>
            <a:schemeClr val="bg1">
              <a:alpha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Negative correlations indicating fluctuation</a:t>
            </a:r>
          </a:p>
        </p:txBody>
      </p:sp>
    </p:spTree>
    <p:extLst>
      <p:ext uri="{BB962C8B-B14F-4D97-AF65-F5344CB8AC3E}">
        <p14:creationId xmlns:p14="http://schemas.microsoft.com/office/powerpoint/2010/main" val="1242003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B358-C225-5257-2356-A3D46F45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971"/>
            <a:ext cx="10515600" cy="1086785"/>
          </a:xfrm>
        </p:spPr>
        <p:txBody>
          <a:bodyPr/>
          <a:lstStyle/>
          <a:p>
            <a:r>
              <a:rPr lang="en-US" dirty="0"/>
              <a:t>Interim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42F85-B9AF-622F-D6AE-E91D64BAA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43" y="1175952"/>
            <a:ext cx="10849157" cy="2330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Considering the full set of results in light of this fluctuation…</a:t>
            </a:r>
          </a:p>
          <a:p>
            <a:r>
              <a:rPr lang="en-US" dirty="0"/>
              <a:t>Individuals (YA and OA) are continuously fluctuating between a Pos-Ant state &amp; Ven-Dor state</a:t>
            </a:r>
          </a:p>
          <a:p>
            <a:pPr lvl="1"/>
            <a:r>
              <a:rPr lang="en-US" dirty="0"/>
              <a:t>Processing congruency pushes individuals toward Ven-Dor</a:t>
            </a:r>
          </a:p>
          <a:p>
            <a:r>
              <a:rPr lang="en-US" dirty="0"/>
              <a:t>Aging influences the states</a:t>
            </a:r>
          </a:p>
          <a:p>
            <a:pPr lvl="1"/>
            <a:r>
              <a:rPr lang="en-US" dirty="0"/>
              <a:t>OAs show a greater tendency to be in the Ven-Dor state, particularly when processing congruency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9AE980-1F53-1457-8523-B0C615D9C61A}"/>
              </a:ext>
            </a:extLst>
          </p:cNvPr>
          <p:cNvSpPr txBox="1"/>
          <p:nvPr/>
        </p:nvSpPr>
        <p:spPr>
          <a:xfrm>
            <a:off x="9845179" y="3763148"/>
            <a:ext cx="11689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Pos-Ant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CB6633-3F43-5D4A-D4D6-B23039878408}"/>
              </a:ext>
            </a:extLst>
          </p:cNvPr>
          <p:cNvSpPr txBox="1"/>
          <p:nvPr/>
        </p:nvSpPr>
        <p:spPr>
          <a:xfrm>
            <a:off x="5565988" y="3763148"/>
            <a:ext cx="1169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Ven-Dor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3E4336C-8F79-D7E1-3C56-E0EA8509AF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846430" y="4182789"/>
            <a:ext cx="2677937" cy="2333625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47AE13-BB2E-5DDE-5478-18AF98DB4B1F}"/>
              </a:ext>
            </a:extLst>
          </p:cNvPr>
          <p:cNvSpPr/>
          <p:nvPr/>
        </p:nvSpPr>
        <p:spPr>
          <a:xfrm>
            <a:off x="5585996" y="4818873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C718546-1052-8B71-B1B3-B8F73D172F0F}"/>
              </a:ext>
            </a:extLst>
          </p:cNvPr>
          <p:cNvSpPr/>
          <p:nvPr/>
        </p:nvSpPr>
        <p:spPr>
          <a:xfrm>
            <a:off x="6871124" y="5092453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1D5FF58-3F0F-F84E-8B45-0DCB91A16C78}"/>
              </a:ext>
            </a:extLst>
          </p:cNvPr>
          <p:cNvCxnSpPr>
            <a:cxnSpLocks/>
          </p:cNvCxnSpPr>
          <p:nvPr/>
        </p:nvCxnSpPr>
        <p:spPr>
          <a:xfrm>
            <a:off x="5608010" y="4886553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C53599BC-74D7-5B5E-5168-01C336C17837}"/>
              </a:ext>
            </a:extLst>
          </p:cNvPr>
          <p:cNvSpPr/>
          <p:nvPr/>
        </p:nvSpPr>
        <p:spPr>
          <a:xfrm>
            <a:off x="5455076" y="4725946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CB21B1-F651-9B4D-4586-21C6CD97F87F}"/>
              </a:ext>
            </a:extLst>
          </p:cNvPr>
          <p:cNvSpPr txBox="1"/>
          <p:nvPr/>
        </p:nvSpPr>
        <p:spPr>
          <a:xfrm>
            <a:off x="6814467" y="5137358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7A8597-FEAA-90F7-F5BA-FE1024CE5FC7}"/>
              </a:ext>
            </a:extLst>
          </p:cNvPr>
          <p:cNvSpPr txBox="1"/>
          <p:nvPr/>
        </p:nvSpPr>
        <p:spPr>
          <a:xfrm>
            <a:off x="5416827" y="4761660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BAD9333-48F9-A15B-0665-8C6C0339A5BA}"/>
              </a:ext>
            </a:extLst>
          </p:cNvPr>
          <p:cNvSpPr/>
          <p:nvPr/>
        </p:nvSpPr>
        <p:spPr>
          <a:xfrm>
            <a:off x="6488487" y="593649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FB1D7A2-C60B-16B9-5902-2E9F9A6150BA}"/>
              </a:ext>
            </a:extLst>
          </p:cNvPr>
          <p:cNvCxnSpPr>
            <a:cxnSpLocks/>
          </p:cNvCxnSpPr>
          <p:nvPr/>
        </p:nvCxnSpPr>
        <p:spPr>
          <a:xfrm>
            <a:off x="5191505" y="5602141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7535BFA0-2D3F-1FB2-164E-5481527139B4}"/>
              </a:ext>
            </a:extLst>
          </p:cNvPr>
          <p:cNvSpPr/>
          <p:nvPr/>
        </p:nvSpPr>
        <p:spPr>
          <a:xfrm>
            <a:off x="5038571" y="5441534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47863A-2DA4-8E35-8A19-D0C10BEEE54A}"/>
              </a:ext>
            </a:extLst>
          </p:cNvPr>
          <p:cNvSpPr txBox="1"/>
          <p:nvPr/>
        </p:nvSpPr>
        <p:spPr>
          <a:xfrm>
            <a:off x="6431500" y="596345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CA96A7-8D2E-0121-C4D7-1D5845EF912E}"/>
              </a:ext>
            </a:extLst>
          </p:cNvPr>
          <p:cNvSpPr txBox="1"/>
          <p:nvPr/>
        </p:nvSpPr>
        <p:spPr>
          <a:xfrm>
            <a:off x="4981270" y="5472485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EC9FD6E7-D761-E905-8CF7-3C31D67512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9075688" y="4185404"/>
            <a:ext cx="2677937" cy="2333625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0D7BB32-3E39-D464-8669-44F26BAE3DBC}"/>
              </a:ext>
            </a:extLst>
          </p:cNvPr>
          <p:cNvCxnSpPr>
            <a:cxnSpLocks/>
          </p:cNvCxnSpPr>
          <p:nvPr/>
        </p:nvCxnSpPr>
        <p:spPr>
          <a:xfrm flipH="1">
            <a:off x="9431156" y="4923875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B670027-B834-E429-5064-F163BFB5D916}"/>
              </a:ext>
            </a:extLst>
          </p:cNvPr>
          <p:cNvCxnSpPr>
            <a:cxnSpLocks/>
          </p:cNvCxnSpPr>
          <p:nvPr/>
        </p:nvCxnSpPr>
        <p:spPr>
          <a:xfrm flipH="1">
            <a:off x="10911158" y="5347283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E4754E1F-E1DA-2C76-C53E-8A42973A2FB4}"/>
              </a:ext>
            </a:extLst>
          </p:cNvPr>
          <p:cNvSpPr/>
          <p:nvPr/>
        </p:nvSpPr>
        <p:spPr>
          <a:xfrm>
            <a:off x="9791772" y="4821488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A83CDD3-2DD2-14EB-43BF-180EF4EE1403}"/>
              </a:ext>
            </a:extLst>
          </p:cNvPr>
          <p:cNvSpPr/>
          <p:nvPr/>
        </p:nvSpPr>
        <p:spPr>
          <a:xfrm>
            <a:off x="11076900" y="5095068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82A8C9A5-3D53-09F9-CA89-B739A494F3DD}"/>
              </a:ext>
            </a:extLst>
          </p:cNvPr>
          <p:cNvSpPr/>
          <p:nvPr/>
        </p:nvSpPr>
        <p:spPr>
          <a:xfrm>
            <a:off x="9660852" y="4728561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505E35-758C-9657-3CE4-25973347F17B}"/>
              </a:ext>
            </a:extLst>
          </p:cNvPr>
          <p:cNvSpPr txBox="1"/>
          <p:nvPr/>
        </p:nvSpPr>
        <p:spPr>
          <a:xfrm>
            <a:off x="11020243" y="513997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5FDF71-8247-027F-F821-D7E80C02FA05}"/>
              </a:ext>
            </a:extLst>
          </p:cNvPr>
          <p:cNvSpPr txBox="1"/>
          <p:nvPr/>
        </p:nvSpPr>
        <p:spPr>
          <a:xfrm>
            <a:off x="9622603" y="476427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7CA5F78-0C03-75B7-5124-A947AE614260}"/>
              </a:ext>
            </a:extLst>
          </p:cNvPr>
          <p:cNvSpPr/>
          <p:nvPr/>
        </p:nvSpPr>
        <p:spPr>
          <a:xfrm>
            <a:off x="10694263" y="5939111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72F526-9907-FC5F-02B6-CC11092FE837}"/>
              </a:ext>
            </a:extLst>
          </p:cNvPr>
          <p:cNvSpPr/>
          <p:nvPr/>
        </p:nvSpPr>
        <p:spPr>
          <a:xfrm>
            <a:off x="9244347" y="5444149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58DBEB-9330-63C9-4D90-72137C5C5282}"/>
              </a:ext>
            </a:extLst>
          </p:cNvPr>
          <p:cNvSpPr txBox="1"/>
          <p:nvPr/>
        </p:nvSpPr>
        <p:spPr>
          <a:xfrm>
            <a:off x="10637276" y="596606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67F3C1-F41B-48F0-6472-58AB07C0224E}"/>
              </a:ext>
            </a:extLst>
          </p:cNvPr>
          <p:cNvSpPr txBox="1"/>
          <p:nvPr/>
        </p:nvSpPr>
        <p:spPr>
          <a:xfrm>
            <a:off x="9187046" y="547510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02E94C0-E225-CF39-35B6-2116E1EB5D51}"/>
              </a:ext>
            </a:extLst>
          </p:cNvPr>
          <p:cNvCxnSpPr>
            <a:cxnSpLocks/>
          </p:cNvCxnSpPr>
          <p:nvPr/>
        </p:nvCxnSpPr>
        <p:spPr>
          <a:xfrm>
            <a:off x="7717090" y="5295591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10D8AF4-DD10-F2BF-53A8-2B0935126E04}"/>
              </a:ext>
            </a:extLst>
          </p:cNvPr>
          <p:cNvSpPr txBox="1"/>
          <p:nvPr/>
        </p:nvSpPr>
        <p:spPr>
          <a:xfrm>
            <a:off x="7483356" y="4240841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B7AC2E41-9AFE-71C1-EFAA-851C25996A48}"/>
              </a:ext>
            </a:extLst>
          </p:cNvPr>
          <p:cNvSpPr txBox="1">
            <a:spLocks/>
          </p:cNvSpPr>
          <p:nvPr/>
        </p:nvSpPr>
        <p:spPr>
          <a:xfrm>
            <a:off x="504643" y="3698070"/>
            <a:ext cx="4134892" cy="28693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OA also influences fluctuation</a:t>
            </a:r>
          </a:p>
          <a:p>
            <a:pPr lvl="1"/>
            <a:r>
              <a:rPr lang="en-US" sz="2200" dirty="0"/>
              <a:t>Ven &amp; Dor move in sync more</a:t>
            </a:r>
          </a:p>
          <a:p>
            <a:pPr lvl="1"/>
            <a:r>
              <a:rPr lang="en-US" sz="2200" dirty="0"/>
              <a:t>Pos &amp; Ant move in sync more</a:t>
            </a:r>
          </a:p>
          <a:p>
            <a:pPr lvl="1"/>
            <a:r>
              <a:rPr lang="en-US" sz="2200" dirty="0"/>
              <a:t>Interpretable as OA showing less global processing?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7E503C-84EE-0177-C0C3-4C65D4F6723A}"/>
              </a:ext>
            </a:extLst>
          </p:cNvPr>
          <p:cNvSpPr txBox="1"/>
          <p:nvPr/>
        </p:nvSpPr>
        <p:spPr>
          <a:xfrm>
            <a:off x="4115442" y="6461404"/>
            <a:ext cx="696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Would it help to look at resting state data? See if we find that there too?</a:t>
            </a:r>
          </a:p>
        </p:txBody>
      </p:sp>
    </p:spTree>
    <p:extLst>
      <p:ext uri="{BB962C8B-B14F-4D97-AF65-F5344CB8AC3E}">
        <p14:creationId xmlns:p14="http://schemas.microsoft.com/office/powerpoint/2010/main" val="3837465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 3: Interpreting </a:t>
            </a:r>
            <a:br>
              <a:rPr lang="en-US" dirty="0"/>
            </a:br>
            <a:r>
              <a:rPr lang="en-US" dirty="0"/>
              <a:t>Ven &amp; Dor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(These analyses would be framed as exploratory)</a:t>
            </a:r>
          </a:p>
        </p:txBody>
      </p:sp>
    </p:spTree>
    <p:extLst>
      <p:ext uri="{BB962C8B-B14F-4D97-AF65-F5344CB8AC3E}">
        <p14:creationId xmlns:p14="http://schemas.microsoft.com/office/powerpoint/2010/main" val="343817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BC8E1-8964-5551-3AD2-18B33BD84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VEN module linked to scene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9A7A1-75E4-8AF0-2E24-FCD5822B2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260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57C39-2385-65C8-5C8B-17DFEB1E7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DOR linked to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EA368-0BC3-89F3-AFD6-B7C5B3B2A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59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0C06-6EBA-2AE3-54B9-FF25AEFAC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also have this RSA finding…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AA5401-A9BB-72A3-C129-4C98841EA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664" y="3018897"/>
            <a:ext cx="4876799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E8FC5E-106F-7935-D3ED-CB30B6F42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18897"/>
            <a:ext cx="2926080" cy="3657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F496A3-7088-11C1-41C0-B2955E563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399" y="3018897"/>
            <a:ext cx="2926080" cy="36576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E7B53-7D14-2DF2-C7BE-CD8A58198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875"/>
            <a:ext cx="10515600" cy="4351338"/>
          </a:xfrm>
        </p:spPr>
        <p:txBody>
          <a:bodyPr/>
          <a:lstStyle/>
          <a:p>
            <a:r>
              <a:rPr lang="en-US" dirty="0"/>
              <a:t>Trial-by-trial analyses do not show links between representation and Ven-Dor</a:t>
            </a:r>
          </a:p>
          <a:p>
            <a:r>
              <a:rPr lang="en-US" dirty="0"/>
              <a:t>Maybe this result isn’t necessary? </a:t>
            </a:r>
          </a:p>
        </p:txBody>
      </p:sp>
    </p:spTree>
    <p:extLst>
      <p:ext uri="{BB962C8B-B14F-4D97-AF65-F5344CB8AC3E}">
        <p14:creationId xmlns:p14="http://schemas.microsoft.com/office/powerpoint/2010/main" val="3074888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648D-AF16-58B1-7754-3CC144A61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D2F8D-72BF-FB65-0F2B-EEE50B9DB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139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DF44F-36E8-B65D-BEC5-5830D12C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7EF34-3D25-F855-1449-56D0E7A34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898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E303B548-641D-8CDB-36D9-3AE37DE312B0}"/>
              </a:ext>
            </a:extLst>
          </p:cNvPr>
          <p:cNvSpPr/>
          <p:nvPr/>
        </p:nvSpPr>
        <p:spPr>
          <a:xfrm>
            <a:off x="3197748" y="2528521"/>
            <a:ext cx="7047188" cy="255764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3C6B0-39A5-E38A-E332-D2C0F2D7F0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10256203" y="227318"/>
            <a:ext cx="2677937" cy="233362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38D48F4-2C19-F02A-6431-CD46737EC698}"/>
              </a:ext>
            </a:extLst>
          </p:cNvPr>
          <p:cNvSpPr/>
          <p:nvPr/>
        </p:nvSpPr>
        <p:spPr>
          <a:xfrm>
            <a:off x="10972287" y="86340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8C36D6-5DCC-ADE3-89C5-906689ACB6D4}"/>
              </a:ext>
            </a:extLst>
          </p:cNvPr>
          <p:cNvSpPr/>
          <p:nvPr/>
        </p:nvSpPr>
        <p:spPr>
          <a:xfrm>
            <a:off x="10331119" y="1494699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2D44BE4-8E7F-C91D-3248-118DC589FAC5}"/>
              </a:ext>
            </a:extLst>
          </p:cNvPr>
          <p:cNvSpPr/>
          <p:nvPr/>
        </p:nvSpPr>
        <p:spPr>
          <a:xfrm>
            <a:off x="11072084" y="173422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838E0E-A45B-6D5B-591B-F08B398FCA2A}"/>
              </a:ext>
            </a:extLst>
          </p:cNvPr>
          <p:cNvSpPr/>
          <p:nvPr/>
        </p:nvSpPr>
        <p:spPr>
          <a:xfrm>
            <a:off x="11894973" y="207289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880ABE3-284F-7F61-82F1-1CC409699A79}"/>
              </a:ext>
            </a:extLst>
          </p:cNvPr>
          <p:cNvSpPr/>
          <p:nvPr/>
        </p:nvSpPr>
        <p:spPr>
          <a:xfrm>
            <a:off x="12257415" y="1136982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4A4F11-1462-50CB-EDD0-BB7EEC982028}"/>
              </a:ext>
            </a:extLst>
          </p:cNvPr>
          <p:cNvCxnSpPr/>
          <p:nvPr/>
        </p:nvCxnSpPr>
        <p:spPr>
          <a:xfrm flipH="1">
            <a:off x="10523373" y="931082"/>
            <a:ext cx="474496" cy="7175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67D584-8A35-B4DE-B53B-F0C645345040}"/>
              </a:ext>
            </a:extLst>
          </p:cNvPr>
          <p:cNvCxnSpPr>
            <a:cxnSpLocks/>
          </p:cNvCxnSpPr>
          <p:nvPr/>
        </p:nvCxnSpPr>
        <p:spPr>
          <a:xfrm>
            <a:off x="10997869" y="931082"/>
            <a:ext cx="234950" cy="95885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55F204-A123-58C8-3A6B-CB96EFF913DC}"/>
              </a:ext>
            </a:extLst>
          </p:cNvPr>
          <p:cNvCxnSpPr>
            <a:cxnSpLocks/>
          </p:cNvCxnSpPr>
          <p:nvPr/>
        </p:nvCxnSpPr>
        <p:spPr>
          <a:xfrm>
            <a:off x="10997869" y="931082"/>
            <a:ext cx="1079500" cy="1320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4EAE98-A498-1C47-9C46-8C46EB13383F}"/>
              </a:ext>
            </a:extLst>
          </p:cNvPr>
          <p:cNvCxnSpPr>
            <a:cxnSpLocks/>
          </p:cNvCxnSpPr>
          <p:nvPr/>
        </p:nvCxnSpPr>
        <p:spPr>
          <a:xfrm>
            <a:off x="10994301" y="931082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4FE15F5-87DB-0597-B048-876447BDFE21}"/>
              </a:ext>
            </a:extLst>
          </p:cNvPr>
          <p:cNvSpPr/>
          <p:nvPr/>
        </p:nvSpPr>
        <p:spPr>
          <a:xfrm>
            <a:off x="10841367" y="77047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A68B25-9819-1E65-1AFD-ECDCDEA79023}"/>
              </a:ext>
            </a:extLst>
          </p:cNvPr>
          <p:cNvSpPr txBox="1"/>
          <p:nvPr/>
        </p:nvSpPr>
        <p:spPr>
          <a:xfrm rot="815892">
            <a:off x="11088901" y="66884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B96E6F-F136-F174-863D-E657A00F401B}"/>
              </a:ext>
            </a:extLst>
          </p:cNvPr>
          <p:cNvSpPr txBox="1"/>
          <p:nvPr/>
        </p:nvSpPr>
        <p:spPr>
          <a:xfrm>
            <a:off x="11016260" y="1767233"/>
            <a:ext cx="4587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FuG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DCF213-3F8E-10DE-EFC7-EB4A5C5769DA}"/>
              </a:ext>
            </a:extLst>
          </p:cNvPr>
          <p:cNvSpPr txBox="1"/>
          <p:nvPr/>
        </p:nvSpPr>
        <p:spPr>
          <a:xfrm>
            <a:off x="10271062" y="1540232"/>
            <a:ext cx="474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6D2459-4953-F105-89C7-FA22D9267C0B}"/>
              </a:ext>
            </a:extLst>
          </p:cNvPr>
          <p:cNvSpPr txBox="1"/>
          <p:nvPr/>
        </p:nvSpPr>
        <p:spPr>
          <a:xfrm>
            <a:off x="11852663" y="2103969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B54994-4DA4-D0FA-2831-02988261E77F}"/>
              </a:ext>
            </a:extLst>
          </p:cNvPr>
          <p:cNvSpPr txBox="1"/>
          <p:nvPr/>
        </p:nvSpPr>
        <p:spPr>
          <a:xfrm>
            <a:off x="12183138" y="1172512"/>
            <a:ext cx="4972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6C3B6B-0879-30CC-E8EB-4CFDC1B0A40C}"/>
              </a:ext>
            </a:extLst>
          </p:cNvPr>
          <p:cNvSpPr txBox="1"/>
          <p:nvPr/>
        </p:nvSpPr>
        <p:spPr>
          <a:xfrm>
            <a:off x="10822168" y="806189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IPL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CACC973-9E77-EFCC-2F00-BB821DCA51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461988" y="850974"/>
            <a:ext cx="2677937" cy="233362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0E54AF-3751-D4ED-92D1-9C31FCFA4BB0}"/>
              </a:ext>
            </a:extLst>
          </p:cNvPr>
          <p:cNvCxnSpPr>
            <a:cxnSpLocks/>
          </p:cNvCxnSpPr>
          <p:nvPr/>
        </p:nvCxnSpPr>
        <p:spPr>
          <a:xfrm flipH="1">
            <a:off x="840938" y="1589445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BB822CD-23BC-C207-C3FC-017E368E68B1}"/>
              </a:ext>
            </a:extLst>
          </p:cNvPr>
          <p:cNvCxnSpPr>
            <a:cxnSpLocks/>
          </p:cNvCxnSpPr>
          <p:nvPr/>
        </p:nvCxnSpPr>
        <p:spPr>
          <a:xfrm flipH="1">
            <a:off x="2320940" y="2012853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F7521B9C-2E0B-CF68-7AA8-55D181A9DAC2}"/>
              </a:ext>
            </a:extLst>
          </p:cNvPr>
          <p:cNvSpPr/>
          <p:nvPr/>
        </p:nvSpPr>
        <p:spPr>
          <a:xfrm>
            <a:off x="1201554" y="1487058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A2E3AA2-F481-13D5-F372-11E8511E79B6}"/>
              </a:ext>
            </a:extLst>
          </p:cNvPr>
          <p:cNvSpPr/>
          <p:nvPr/>
        </p:nvSpPr>
        <p:spPr>
          <a:xfrm>
            <a:off x="2486682" y="1760638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C4B5F53-E022-EF5C-0045-E86021BD483C}"/>
              </a:ext>
            </a:extLst>
          </p:cNvPr>
          <p:cNvCxnSpPr>
            <a:cxnSpLocks/>
          </p:cNvCxnSpPr>
          <p:nvPr/>
        </p:nvCxnSpPr>
        <p:spPr>
          <a:xfrm>
            <a:off x="1223568" y="1554738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3D32F802-9C46-E1A6-75C9-465456FC5EC9}"/>
              </a:ext>
            </a:extLst>
          </p:cNvPr>
          <p:cNvSpPr/>
          <p:nvPr/>
        </p:nvSpPr>
        <p:spPr>
          <a:xfrm>
            <a:off x="1070634" y="1394131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9FA972-B760-68FD-7C51-BB57C90A5E17}"/>
              </a:ext>
            </a:extLst>
          </p:cNvPr>
          <p:cNvSpPr txBox="1"/>
          <p:nvPr/>
        </p:nvSpPr>
        <p:spPr>
          <a:xfrm rot="815892">
            <a:off x="1318168" y="129249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9E0CC5-8365-3F19-96E7-5E063B2478CB}"/>
              </a:ext>
            </a:extLst>
          </p:cNvPr>
          <p:cNvSpPr txBox="1"/>
          <p:nvPr/>
        </p:nvSpPr>
        <p:spPr>
          <a:xfrm>
            <a:off x="2430025" y="180554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B62543-6084-EBC7-8941-7C41C71BFC42}"/>
              </a:ext>
            </a:extLst>
          </p:cNvPr>
          <p:cNvSpPr txBox="1"/>
          <p:nvPr/>
        </p:nvSpPr>
        <p:spPr>
          <a:xfrm>
            <a:off x="1032385" y="1429845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CBA7B5D-AD39-B5C5-D563-6853DD2B5C99}"/>
              </a:ext>
            </a:extLst>
          </p:cNvPr>
          <p:cNvSpPr/>
          <p:nvPr/>
        </p:nvSpPr>
        <p:spPr>
          <a:xfrm>
            <a:off x="2104045" y="2604681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BA92A1-4549-C248-5B3D-D76A2A4A1823}"/>
              </a:ext>
            </a:extLst>
          </p:cNvPr>
          <p:cNvCxnSpPr>
            <a:cxnSpLocks/>
          </p:cNvCxnSpPr>
          <p:nvPr/>
        </p:nvCxnSpPr>
        <p:spPr>
          <a:xfrm>
            <a:off x="807063" y="2270326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C83FBA30-B829-38C0-4538-6CD70BED7BD4}"/>
              </a:ext>
            </a:extLst>
          </p:cNvPr>
          <p:cNvSpPr/>
          <p:nvPr/>
        </p:nvSpPr>
        <p:spPr>
          <a:xfrm>
            <a:off x="654129" y="210971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61B9C6-4894-F784-9910-DBAACE6531DE}"/>
              </a:ext>
            </a:extLst>
          </p:cNvPr>
          <p:cNvSpPr txBox="1"/>
          <p:nvPr/>
        </p:nvSpPr>
        <p:spPr>
          <a:xfrm>
            <a:off x="2047058" y="2631635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FFA5B2-A3A6-9258-22FA-768575D5A38C}"/>
              </a:ext>
            </a:extLst>
          </p:cNvPr>
          <p:cNvSpPr txBox="1"/>
          <p:nvPr/>
        </p:nvSpPr>
        <p:spPr>
          <a:xfrm>
            <a:off x="596828" y="2140670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93C4F5-727F-CAA4-C7D2-032157EB77E6}"/>
              </a:ext>
            </a:extLst>
          </p:cNvPr>
          <p:cNvSpPr txBox="1"/>
          <p:nvPr/>
        </p:nvSpPr>
        <p:spPr>
          <a:xfrm rot="1053603">
            <a:off x="904000" y="215153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Congruency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CA94B21-11BB-2FC6-2D53-20651DAB87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-1006046" y="3068871"/>
            <a:ext cx="2677937" cy="2333625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B01E2B6-27F4-7FC7-FEB8-5121BACE84EC}"/>
              </a:ext>
            </a:extLst>
          </p:cNvPr>
          <p:cNvCxnSpPr>
            <a:cxnSpLocks/>
          </p:cNvCxnSpPr>
          <p:nvPr/>
        </p:nvCxnSpPr>
        <p:spPr>
          <a:xfrm flipH="1">
            <a:off x="-650578" y="3807342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39A6FA5-723C-3689-CA43-8943FD0F4B32}"/>
              </a:ext>
            </a:extLst>
          </p:cNvPr>
          <p:cNvCxnSpPr>
            <a:cxnSpLocks/>
          </p:cNvCxnSpPr>
          <p:nvPr/>
        </p:nvCxnSpPr>
        <p:spPr>
          <a:xfrm flipH="1">
            <a:off x="829424" y="4230750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D86C3B4C-6E68-B6F2-EC59-98A7ECFD6BC7}"/>
              </a:ext>
            </a:extLst>
          </p:cNvPr>
          <p:cNvSpPr/>
          <p:nvPr/>
        </p:nvSpPr>
        <p:spPr>
          <a:xfrm>
            <a:off x="-289962" y="3704955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704C8C1-61AF-DDD7-8026-7DEDF90856AC}"/>
              </a:ext>
            </a:extLst>
          </p:cNvPr>
          <p:cNvSpPr/>
          <p:nvPr/>
        </p:nvSpPr>
        <p:spPr>
          <a:xfrm>
            <a:off x="995166" y="397853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764A368-8B67-2E23-B904-270E59181AE6}"/>
              </a:ext>
            </a:extLst>
          </p:cNvPr>
          <p:cNvSpPr/>
          <p:nvPr/>
        </p:nvSpPr>
        <p:spPr>
          <a:xfrm>
            <a:off x="-420882" y="3612028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346A96-839B-9809-8B1A-0C6616A3F60A}"/>
              </a:ext>
            </a:extLst>
          </p:cNvPr>
          <p:cNvSpPr txBox="1"/>
          <p:nvPr/>
        </p:nvSpPr>
        <p:spPr>
          <a:xfrm rot="17902530">
            <a:off x="-794569" y="3880590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D99FAAF-C8E1-234C-CA8A-5BD7BBE8D159}"/>
              </a:ext>
            </a:extLst>
          </p:cNvPr>
          <p:cNvSpPr txBox="1"/>
          <p:nvPr/>
        </p:nvSpPr>
        <p:spPr>
          <a:xfrm>
            <a:off x="938509" y="4023440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5EDAA7-D128-85A5-E4FD-A8F4BED9EF99}"/>
              </a:ext>
            </a:extLst>
          </p:cNvPr>
          <p:cNvSpPr txBox="1"/>
          <p:nvPr/>
        </p:nvSpPr>
        <p:spPr>
          <a:xfrm>
            <a:off x="-459131" y="3647742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7581C05-1B2F-771B-7725-EB1FDFCE2781}"/>
              </a:ext>
            </a:extLst>
          </p:cNvPr>
          <p:cNvSpPr/>
          <p:nvPr/>
        </p:nvSpPr>
        <p:spPr>
          <a:xfrm>
            <a:off x="612529" y="4822578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B2B7DF1-6BB9-C7FC-7B5D-52F19347CE5B}"/>
              </a:ext>
            </a:extLst>
          </p:cNvPr>
          <p:cNvSpPr/>
          <p:nvPr/>
        </p:nvSpPr>
        <p:spPr>
          <a:xfrm>
            <a:off x="-837387" y="4327616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C5FB98-C49A-1B94-04A1-A6CDC082193B}"/>
              </a:ext>
            </a:extLst>
          </p:cNvPr>
          <p:cNvSpPr txBox="1"/>
          <p:nvPr/>
        </p:nvSpPr>
        <p:spPr>
          <a:xfrm>
            <a:off x="555542" y="4849532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DCEE16-6FE0-91CA-91CC-B22A2170D73F}"/>
              </a:ext>
            </a:extLst>
          </p:cNvPr>
          <p:cNvSpPr txBox="1"/>
          <p:nvPr/>
        </p:nvSpPr>
        <p:spPr>
          <a:xfrm>
            <a:off x="-894688" y="4358567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0B937B5-D7BA-C627-D74E-0F834AED8086}"/>
              </a:ext>
            </a:extLst>
          </p:cNvPr>
          <p:cNvSpPr txBox="1"/>
          <p:nvPr/>
        </p:nvSpPr>
        <p:spPr>
          <a:xfrm rot="17597976">
            <a:off x="-106709" y="4132607"/>
            <a:ext cx="156966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Incongruency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3D5535B0-37B1-BF7E-BB33-29206BF752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424530" y="2701482"/>
            <a:ext cx="2677937" cy="2333625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28298A92-F34C-259B-27F3-DA1836E09ED1}"/>
              </a:ext>
            </a:extLst>
          </p:cNvPr>
          <p:cNvSpPr/>
          <p:nvPr/>
        </p:nvSpPr>
        <p:spPr>
          <a:xfrm>
            <a:off x="8164096" y="3337566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C7B934B-ABB9-A390-9462-5A3917DD5BAB}"/>
              </a:ext>
            </a:extLst>
          </p:cNvPr>
          <p:cNvSpPr/>
          <p:nvPr/>
        </p:nvSpPr>
        <p:spPr>
          <a:xfrm>
            <a:off x="9449224" y="3611146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9DA4288-E02C-30D0-FF2F-5732EB6C2F9D}"/>
              </a:ext>
            </a:extLst>
          </p:cNvPr>
          <p:cNvCxnSpPr>
            <a:cxnSpLocks/>
          </p:cNvCxnSpPr>
          <p:nvPr/>
        </p:nvCxnSpPr>
        <p:spPr>
          <a:xfrm>
            <a:off x="8186110" y="3405246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C8FF1D90-7DAE-EC53-EB42-6EF539CD5CC1}"/>
              </a:ext>
            </a:extLst>
          </p:cNvPr>
          <p:cNvSpPr/>
          <p:nvPr/>
        </p:nvSpPr>
        <p:spPr>
          <a:xfrm>
            <a:off x="8033176" y="3244639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E1E5326-A897-E38D-2F94-01F1F1FEB382}"/>
              </a:ext>
            </a:extLst>
          </p:cNvPr>
          <p:cNvSpPr txBox="1"/>
          <p:nvPr/>
        </p:nvSpPr>
        <p:spPr>
          <a:xfrm>
            <a:off x="9392567" y="3656051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A2F1BB-F54B-A83E-799F-E4A7A7042EAF}"/>
              </a:ext>
            </a:extLst>
          </p:cNvPr>
          <p:cNvSpPr txBox="1"/>
          <p:nvPr/>
        </p:nvSpPr>
        <p:spPr>
          <a:xfrm>
            <a:off x="7994927" y="3280353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B671097A-2FD0-A93C-C7C7-0B16249020BE}"/>
              </a:ext>
            </a:extLst>
          </p:cNvPr>
          <p:cNvSpPr/>
          <p:nvPr/>
        </p:nvSpPr>
        <p:spPr>
          <a:xfrm>
            <a:off x="9066587" y="4455189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765E97D-30F5-359D-C070-F92E7D37DD5E}"/>
              </a:ext>
            </a:extLst>
          </p:cNvPr>
          <p:cNvCxnSpPr>
            <a:cxnSpLocks/>
          </p:cNvCxnSpPr>
          <p:nvPr/>
        </p:nvCxnSpPr>
        <p:spPr>
          <a:xfrm>
            <a:off x="7769605" y="4120834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1FCBE99E-FE1A-76B5-2279-0E1A867540C4}"/>
              </a:ext>
            </a:extLst>
          </p:cNvPr>
          <p:cNvSpPr/>
          <p:nvPr/>
        </p:nvSpPr>
        <p:spPr>
          <a:xfrm>
            <a:off x="7616671" y="3960227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E3A5B4D-0764-C7C5-BA2F-AC4EF82FAB15}"/>
              </a:ext>
            </a:extLst>
          </p:cNvPr>
          <p:cNvSpPr txBox="1"/>
          <p:nvPr/>
        </p:nvSpPr>
        <p:spPr>
          <a:xfrm>
            <a:off x="9009600" y="4482143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B68E44B-31C8-BB2B-9061-052F826C77B0}"/>
              </a:ext>
            </a:extLst>
          </p:cNvPr>
          <p:cNvSpPr txBox="1"/>
          <p:nvPr/>
        </p:nvSpPr>
        <p:spPr>
          <a:xfrm>
            <a:off x="7559370" y="3991178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E87777EC-FF18-4A52-FF54-3C8D98BFCD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360688" y="2704097"/>
            <a:ext cx="2677937" cy="2333625"/>
          </a:xfrm>
          <a:prstGeom prst="rect">
            <a:avLst/>
          </a:prstGeom>
        </p:spPr>
      </p:pic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706AF85-E0A0-E357-8C94-4C34B13BF5B2}"/>
              </a:ext>
            </a:extLst>
          </p:cNvPr>
          <p:cNvCxnSpPr>
            <a:cxnSpLocks/>
          </p:cNvCxnSpPr>
          <p:nvPr/>
        </p:nvCxnSpPr>
        <p:spPr>
          <a:xfrm flipH="1">
            <a:off x="3716156" y="3442568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DB7A108-EF51-04B8-B9FF-719C32C8E17C}"/>
              </a:ext>
            </a:extLst>
          </p:cNvPr>
          <p:cNvCxnSpPr>
            <a:cxnSpLocks/>
          </p:cNvCxnSpPr>
          <p:nvPr/>
        </p:nvCxnSpPr>
        <p:spPr>
          <a:xfrm flipH="1">
            <a:off x="5196158" y="3865976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AD9D64AF-3CA5-6F6E-71E8-83ED8F240BD2}"/>
              </a:ext>
            </a:extLst>
          </p:cNvPr>
          <p:cNvSpPr/>
          <p:nvPr/>
        </p:nvSpPr>
        <p:spPr>
          <a:xfrm>
            <a:off x="4076772" y="3340181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818D7599-C2C9-FB64-392A-EE02A5205E29}"/>
              </a:ext>
            </a:extLst>
          </p:cNvPr>
          <p:cNvSpPr/>
          <p:nvPr/>
        </p:nvSpPr>
        <p:spPr>
          <a:xfrm>
            <a:off x="5361900" y="3613761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DEF5CFD-F263-2B36-C5DE-6DFFFC010E52}"/>
              </a:ext>
            </a:extLst>
          </p:cNvPr>
          <p:cNvSpPr/>
          <p:nvPr/>
        </p:nvSpPr>
        <p:spPr>
          <a:xfrm>
            <a:off x="3945852" y="3247254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CAA50B2-A648-9402-98AE-B3DFDA1C2863}"/>
              </a:ext>
            </a:extLst>
          </p:cNvPr>
          <p:cNvSpPr txBox="1"/>
          <p:nvPr/>
        </p:nvSpPr>
        <p:spPr>
          <a:xfrm>
            <a:off x="5305243" y="3658666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2602E2-306E-E193-F224-5FC3BBD11851}"/>
              </a:ext>
            </a:extLst>
          </p:cNvPr>
          <p:cNvSpPr txBox="1"/>
          <p:nvPr/>
        </p:nvSpPr>
        <p:spPr>
          <a:xfrm>
            <a:off x="3907603" y="3282968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CE43761-56C3-EF62-A090-95104090C754}"/>
              </a:ext>
            </a:extLst>
          </p:cNvPr>
          <p:cNvSpPr/>
          <p:nvPr/>
        </p:nvSpPr>
        <p:spPr>
          <a:xfrm>
            <a:off x="4979263" y="4457804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5F912BB4-6C62-E818-74D0-0833A05606B0}"/>
              </a:ext>
            </a:extLst>
          </p:cNvPr>
          <p:cNvSpPr/>
          <p:nvPr/>
        </p:nvSpPr>
        <p:spPr>
          <a:xfrm>
            <a:off x="3529347" y="3962842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E472C2B-4241-7603-9138-25814FA88C6D}"/>
              </a:ext>
            </a:extLst>
          </p:cNvPr>
          <p:cNvSpPr txBox="1"/>
          <p:nvPr/>
        </p:nvSpPr>
        <p:spPr>
          <a:xfrm>
            <a:off x="4922276" y="4484758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3F69A16-062D-E25B-AD9A-2FEB098FCE02}"/>
              </a:ext>
            </a:extLst>
          </p:cNvPr>
          <p:cNvSpPr txBox="1"/>
          <p:nvPr/>
        </p:nvSpPr>
        <p:spPr>
          <a:xfrm>
            <a:off x="3472046" y="3993793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82BDBE3-0913-ED08-AFD1-A953CB6E3AD3}"/>
              </a:ext>
            </a:extLst>
          </p:cNvPr>
          <p:cNvCxnSpPr>
            <a:cxnSpLocks/>
          </p:cNvCxnSpPr>
          <p:nvPr/>
        </p:nvCxnSpPr>
        <p:spPr>
          <a:xfrm>
            <a:off x="6167690" y="3814284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32CFD4D-E6CE-503F-2BAC-719B7EC238A1}"/>
              </a:ext>
            </a:extLst>
          </p:cNvPr>
          <p:cNvSpPr txBox="1"/>
          <p:nvPr/>
        </p:nvSpPr>
        <p:spPr>
          <a:xfrm>
            <a:off x="5933956" y="2759534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2854FE8-664B-49E1-5613-11FF3FCE1DCD}"/>
              </a:ext>
            </a:extLst>
          </p:cNvPr>
          <p:cNvSpPr/>
          <p:nvPr/>
        </p:nvSpPr>
        <p:spPr>
          <a:xfrm>
            <a:off x="3197748" y="5366582"/>
            <a:ext cx="7047188" cy="2557642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D613952E-6F89-BB6E-60FE-31D4CEBA21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3297030" y="5539543"/>
            <a:ext cx="2677937" cy="2333625"/>
          </a:xfrm>
          <a:prstGeom prst="rect">
            <a:avLst/>
          </a:prstGeom>
        </p:spPr>
      </p:pic>
      <p:sp>
        <p:nvSpPr>
          <p:cNvPr id="106" name="Oval 105">
            <a:extLst>
              <a:ext uri="{FF2B5EF4-FFF2-40B4-BE49-F238E27FC236}">
                <a16:creationId xmlns:a16="http://schemas.microsoft.com/office/drawing/2014/main" id="{238DA74A-F9C5-31C6-83A6-9D8B55AC66D6}"/>
              </a:ext>
            </a:extLst>
          </p:cNvPr>
          <p:cNvSpPr/>
          <p:nvPr/>
        </p:nvSpPr>
        <p:spPr>
          <a:xfrm>
            <a:off x="4036596" y="6175627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34F83E0-D4FD-6EF2-F8C2-8974234F1577}"/>
              </a:ext>
            </a:extLst>
          </p:cNvPr>
          <p:cNvSpPr/>
          <p:nvPr/>
        </p:nvSpPr>
        <p:spPr>
          <a:xfrm>
            <a:off x="5321724" y="6449207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79473AF-88F3-DA63-1EB3-9C9374B5FE15}"/>
              </a:ext>
            </a:extLst>
          </p:cNvPr>
          <p:cNvCxnSpPr>
            <a:cxnSpLocks/>
          </p:cNvCxnSpPr>
          <p:nvPr/>
        </p:nvCxnSpPr>
        <p:spPr>
          <a:xfrm>
            <a:off x="4058610" y="6243307"/>
            <a:ext cx="1466316" cy="35465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E5ADA815-AA24-4D05-4CEF-8EEC19433326}"/>
              </a:ext>
            </a:extLst>
          </p:cNvPr>
          <p:cNvSpPr/>
          <p:nvPr/>
        </p:nvSpPr>
        <p:spPr>
          <a:xfrm>
            <a:off x="3905676" y="6082700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466D8CD-6516-D3B2-791C-E12D2CA6D3BA}"/>
              </a:ext>
            </a:extLst>
          </p:cNvPr>
          <p:cNvSpPr txBox="1"/>
          <p:nvPr/>
        </p:nvSpPr>
        <p:spPr>
          <a:xfrm>
            <a:off x="5265067" y="6494112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0CFE261-4A09-9E45-FF41-95237662DFA8}"/>
              </a:ext>
            </a:extLst>
          </p:cNvPr>
          <p:cNvSpPr txBox="1"/>
          <p:nvPr/>
        </p:nvSpPr>
        <p:spPr>
          <a:xfrm>
            <a:off x="3867427" y="6118414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EFCC46E9-5878-0B09-F0EC-5726AAEE141D}"/>
              </a:ext>
            </a:extLst>
          </p:cNvPr>
          <p:cNvSpPr/>
          <p:nvPr/>
        </p:nvSpPr>
        <p:spPr>
          <a:xfrm>
            <a:off x="4939087" y="7293250"/>
            <a:ext cx="338667" cy="33866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85011F1-E1CD-4451-C632-A129EDA67F73}"/>
              </a:ext>
            </a:extLst>
          </p:cNvPr>
          <p:cNvCxnSpPr>
            <a:cxnSpLocks/>
          </p:cNvCxnSpPr>
          <p:nvPr/>
        </p:nvCxnSpPr>
        <p:spPr>
          <a:xfrm>
            <a:off x="3642105" y="6958895"/>
            <a:ext cx="1369324" cy="470643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39EC617D-D427-39D3-C3D9-A99BDFF1F874}"/>
              </a:ext>
            </a:extLst>
          </p:cNvPr>
          <p:cNvSpPr/>
          <p:nvPr/>
        </p:nvSpPr>
        <p:spPr>
          <a:xfrm>
            <a:off x="3489171" y="6798288"/>
            <a:ext cx="338667" cy="338667"/>
          </a:xfrm>
          <a:prstGeom prst="ellipse">
            <a:avLst/>
          </a:pr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0E90497-B11A-B73C-59D0-685D2ECF9216}"/>
              </a:ext>
            </a:extLst>
          </p:cNvPr>
          <p:cNvSpPr txBox="1"/>
          <p:nvPr/>
        </p:nvSpPr>
        <p:spPr>
          <a:xfrm>
            <a:off x="4882100" y="7320204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4C6B3E-989A-7381-733C-EA787046B10B}"/>
              </a:ext>
            </a:extLst>
          </p:cNvPr>
          <p:cNvSpPr txBox="1"/>
          <p:nvPr/>
        </p:nvSpPr>
        <p:spPr>
          <a:xfrm>
            <a:off x="3431870" y="6829239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A8BF8316-06BE-F15C-5602-BBE5DB115A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4" r="1"/>
          <a:stretch/>
        </p:blipFill>
        <p:spPr>
          <a:xfrm>
            <a:off x="7526288" y="5542158"/>
            <a:ext cx="2677937" cy="2333625"/>
          </a:xfrm>
          <a:prstGeom prst="rect">
            <a:avLst/>
          </a:prstGeom>
        </p:spPr>
      </p:pic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C550079-CA42-9ED0-8B2F-DDD6C9BB29BE}"/>
              </a:ext>
            </a:extLst>
          </p:cNvPr>
          <p:cNvCxnSpPr>
            <a:cxnSpLocks/>
          </p:cNvCxnSpPr>
          <p:nvPr/>
        </p:nvCxnSpPr>
        <p:spPr>
          <a:xfrm flipH="1">
            <a:off x="7881756" y="6280629"/>
            <a:ext cx="407225" cy="70958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53C3E1E-49B1-316A-84FE-DC72D343DE4B}"/>
              </a:ext>
            </a:extLst>
          </p:cNvPr>
          <p:cNvCxnSpPr>
            <a:cxnSpLocks/>
          </p:cNvCxnSpPr>
          <p:nvPr/>
        </p:nvCxnSpPr>
        <p:spPr>
          <a:xfrm flipH="1">
            <a:off x="9361758" y="6704037"/>
            <a:ext cx="304497" cy="68813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6DA4E68A-9493-50F1-E074-C4F09C486A64}"/>
              </a:ext>
            </a:extLst>
          </p:cNvPr>
          <p:cNvSpPr/>
          <p:nvPr/>
        </p:nvSpPr>
        <p:spPr>
          <a:xfrm>
            <a:off x="8242372" y="6178242"/>
            <a:ext cx="338667" cy="338667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EFE0FE3E-184D-3AE3-F8B3-23AB06EA9629}"/>
              </a:ext>
            </a:extLst>
          </p:cNvPr>
          <p:cNvSpPr/>
          <p:nvPr/>
        </p:nvSpPr>
        <p:spPr>
          <a:xfrm>
            <a:off x="9527500" y="6451822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D1BEFA66-D2C5-A2A5-9F0A-2760261429FF}"/>
              </a:ext>
            </a:extLst>
          </p:cNvPr>
          <p:cNvSpPr/>
          <p:nvPr/>
        </p:nvSpPr>
        <p:spPr>
          <a:xfrm>
            <a:off x="8111452" y="6085315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68BD258-E307-C5E8-60BA-43AF69A2671B}"/>
              </a:ext>
            </a:extLst>
          </p:cNvPr>
          <p:cNvSpPr txBox="1"/>
          <p:nvPr/>
        </p:nvSpPr>
        <p:spPr>
          <a:xfrm>
            <a:off x="9470843" y="6496727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41EFDAF-1088-38FF-FCC2-93E13B377AD3}"/>
              </a:ext>
            </a:extLst>
          </p:cNvPr>
          <p:cNvSpPr txBox="1"/>
          <p:nvPr/>
        </p:nvSpPr>
        <p:spPr>
          <a:xfrm>
            <a:off x="8073203" y="6121029"/>
            <a:ext cx="4427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Par.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A13F45C8-A4AD-ED37-6756-5A0626C63501}"/>
              </a:ext>
            </a:extLst>
          </p:cNvPr>
          <p:cNvSpPr/>
          <p:nvPr/>
        </p:nvSpPr>
        <p:spPr>
          <a:xfrm>
            <a:off x="9144863" y="7295865"/>
            <a:ext cx="338667" cy="3386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5302BBC7-673F-13C3-B0B7-E567341C039A}"/>
              </a:ext>
            </a:extLst>
          </p:cNvPr>
          <p:cNvSpPr/>
          <p:nvPr/>
        </p:nvSpPr>
        <p:spPr>
          <a:xfrm>
            <a:off x="7694947" y="6800903"/>
            <a:ext cx="338667" cy="338667"/>
          </a:xfrm>
          <a:prstGeom prst="ellipse">
            <a:avLst/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CB8335D-A68E-59F0-37E9-4C844D79DC88}"/>
              </a:ext>
            </a:extLst>
          </p:cNvPr>
          <p:cNvSpPr txBox="1"/>
          <p:nvPr/>
        </p:nvSpPr>
        <p:spPr>
          <a:xfrm>
            <a:off x="9087876" y="7322819"/>
            <a:ext cx="5601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ATL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8EFFF43-9DD9-A1A3-3DEA-5E9332946BE4}"/>
              </a:ext>
            </a:extLst>
          </p:cNvPr>
          <p:cNvSpPr txBox="1"/>
          <p:nvPr/>
        </p:nvSpPr>
        <p:spPr>
          <a:xfrm>
            <a:off x="7637646" y="6831854"/>
            <a:ext cx="473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Occ.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C07677A-0648-07EB-93AA-83D45513959F}"/>
              </a:ext>
            </a:extLst>
          </p:cNvPr>
          <p:cNvCxnSpPr>
            <a:cxnSpLocks/>
          </p:cNvCxnSpPr>
          <p:nvPr/>
        </p:nvCxnSpPr>
        <p:spPr>
          <a:xfrm>
            <a:off x="6167690" y="6652345"/>
            <a:ext cx="112186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8D4CDDD3-F267-6E39-437B-C50E235830CF}"/>
              </a:ext>
            </a:extLst>
          </p:cNvPr>
          <p:cNvSpPr txBox="1"/>
          <p:nvPr/>
        </p:nvSpPr>
        <p:spPr>
          <a:xfrm>
            <a:off x="5933956" y="5597595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Fluctuation</a:t>
            </a:r>
          </a:p>
        </p:txBody>
      </p:sp>
    </p:spTree>
    <p:extLst>
      <p:ext uri="{BB962C8B-B14F-4D97-AF65-F5344CB8AC3E}">
        <p14:creationId xmlns:p14="http://schemas.microsoft.com/office/powerpoint/2010/main" val="1350206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Vendor effect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D244ED-15B1-5F1A-D660-BDF427657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20" y="1985645"/>
            <a:ext cx="6278350" cy="370141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D53DEE-B5FB-6865-5FD5-1C4C6B53C949}"/>
              </a:ext>
            </a:extLst>
          </p:cNvPr>
          <p:cNvSpPr txBox="1"/>
          <p:nvPr/>
        </p:nvSpPr>
        <p:spPr>
          <a:xfrm>
            <a:off x="8573771" y="72989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4FD8338-C954-4801-13D3-62DCC3074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844" y="1591754"/>
            <a:ext cx="3571004" cy="233019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072F000-6333-3BBF-D6D0-8CAF3E7ED7A8}"/>
              </a:ext>
            </a:extLst>
          </p:cNvPr>
          <p:cNvSpPr txBox="1"/>
          <p:nvPr/>
        </p:nvSpPr>
        <p:spPr>
          <a:xfrm>
            <a:off x="7714198" y="4079249"/>
            <a:ext cx="4363502" cy="181588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Plot VEN &amp; plot DOR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Could plot a triangle matrix for each pair?</a:t>
            </a:r>
          </a:p>
        </p:txBody>
      </p:sp>
    </p:spTree>
    <p:extLst>
      <p:ext uri="{BB962C8B-B14F-4D97-AF65-F5344CB8AC3E}">
        <p14:creationId xmlns:p14="http://schemas.microsoft.com/office/powerpoint/2010/main" val="3556227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1522</TotalTime>
  <Words>1119</Words>
  <Application>Microsoft Office PowerPoint</Application>
  <PresentationFormat>Widescreen</PresentationFormat>
  <Paragraphs>214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Courier New</vt:lpstr>
      <vt:lpstr>Wingdings</vt:lpstr>
      <vt:lpstr>Office Theme</vt:lpstr>
      <vt:lpstr>Ven-Dor</vt:lpstr>
      <vt:lpstr>Introduction</vt:lpstr>
      <vt:lpstr>Introduction</vt:lpstr>
      <vt:lpstr>Questions / Aims</vt:lpstr>
      <vt:lpstr>Result 1: Identifying the Ven-Dor modules</vt:lpstr>
      <vt:lpstr>Incongruency-congruency conn matrix</vt:lpstr>
      <vt:lpstr>Modularity</vt:lpstr>
      <vt:lpstr>Dort?</vt:lpstr>
      <vt:lpstr>Quadrants</vt:lpstr>
      <vt:lpstr>Quadrants (scrubbing)</vt:lpstr>
      <vt:lpstr>Anatomical Quadrant</vt:lpstr>
      <vt:lpstr>Traditional modularity results (for reference)</vt:lpstr>
      <vt:lpstr>Quadrant seeds</vt:lpstr>
      <vt:lpstr>Ven vs. Dor</vt:lpstr>
      <vt:lpstr>Bar graphs for the four sides</vt:lpstr>
      <vt:lpstr>Anatomical-based results</vt:lpstr>
      <vt:lpstr>An interlude</vt:lpstr>
      <vt:lpstr>Result 2: The temporal properties of Ven-Dor and congruency processing</vt:lpstr>
      <vt:lpstr>PowerPoint Presentation</vt:lpstr>
      <vt:lpstr>Ven x Dor</vt:lpstr>
      <vt:lpstr>Interim summary</vt:lpstr>
      <vt:lpstr>Result 3: Interpreting  Ven &amp; Dor</vt:lpstr>
      <vt:lpstr>VEN module linked to scene representation</vt:lpstr>
      <vt:lpstr>DOR linked to memory</vt:lpstr>
      <vt:lpstr>We also have this RSA finding…</vt:lpstr>
      <vt:lpstr>End</vt:lpstr>
      <vt:lpstr>PowerPoint Presentation</vt:lpstr>
      <vt:lpstr>PowerPoint Presentation</vt:lpstr>
      <vt:lpstr>Vendor effect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8</cp:revision>
  <dcterms:created xsi:type="dcterms:W3CDTF">2024-02-08T13:12:41Z</dcterms:created>
  <dcterms:modified xsi:type="dcterms:W3CDTF">2024-02-09T14:35:00Z</dcterms:modified>
</cp:coreProperties>
</file>