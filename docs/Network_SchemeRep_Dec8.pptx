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3" r:id="rId11"/>
    <p:sldId id="273" r:id="rId12"/>
    <p:sldId id="274" r:id="rId13"/>
    <p:sldId id="278" r:id="rId14"/>
    <p:sldId id="275" r:id="rId15"/>
    <p:sldId id="276" r:id="rId16"/>
    <p:sldId id="277" r:id="rId17"/>
    <p:sldId id="269" r:id="rId18"/>
    <p:sldId id="280" r:id="rId19"/>
    <p:sldId id="348" r:id="rId20"/>
    <p:sldId id="279" r:id="rId21"/>
    <p:sldId id="270" r:id="rId22"/>
    <p:sldId id="271" r:id="rId23"/>
    <p:sldId id="272" r:id="rId24"/>
    <p:sldId id="258" r:id="rId25"/>
    <p:sldId id="2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86560" autoAdjust="0"/>
  </p:normalViewPr>
  <p:slideViewPr>
    <p:cSldViewPr snapToGrid="0">
      <p:cViewPr>
        <p:scale>
          <a:sx n="50" d="100"/>
          <a:sy n="50" d="100"/>
        </p:scale>
        <p:origin x="1184" y="2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66567-4379-4FD7-80C9-A1748823A50E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DF913-E57F-4D35-83E0-D9136A0EC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9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thresholding at 0.95%tile leads to a dissociation in the PFC (dorsal PFC &amp; ventral PFC)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DF913-E57F-4D35-83E0-D9136A0ECF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3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DF913-E57F-4D35-83E0-D9136A0ECF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08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It is somewhat weak (only p &lt; .05)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Procedure may be seen as cherry picking (effects specific to one sub-module and effects rely on either within vs. between vs. integration)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Given this, I don’t think it’s a major loss that this result didn’t remain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DF913-E57F-4D35-83E0-D9136A0ECF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5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r>
              <a:rPr lang="en-US"/>
              <a:t>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14D-4B86-B0A0-25C0-5FF6F382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Methodological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9CEA-7934-8712-2E1F-67A0A7973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</a:t>
            </a:r>
          </a:p>
        </p:txBody>
      </p:sp>
    </p:spTree>
    <p:extLst>
      <p:ext uri="{BB962C8B-B14F-4D97-AF65-F5344CB8AC3E}">
        <p14:creationId xmlns:p14="http://schemas.microsoft.com/office/powerpoint/2010/main" val="388758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2F42-D4DC-DCB1-D650-32ED653F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/>
          <a:lstStyle/>
          <a:p>
            <a:r>
              <a:rPr lang="en-US" dirty="0"/>
              <a:t>Figure 15A</a:t>
            </a:r>
          </a:p>
        </p:txBody>
      </p:sp>
      <p:pic>
        <p:nvPicPr>
          <p:cNvPr id="23" name="Content Placeholder 22" descr="A diagram of a brain&#10;&#10;Description automatically generated">
            <a:extLst>
              <a:ext uri="{FF2B5EF4-FFF2-40B4-BE49-F238E27FC236}">
                <a16:creationId xmlns:a16="http://schemas.microsoft.com/office/drawing/2014/main" id="{1A095F78-720B-278F-2B7C-C600CD975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55"/>
          <a:stretch/>
        </p:blipFill>
        <p:spPr>
          <a:xfrm>
            <a:off x="7216918" y="1239356"/>
            <a:ext cx="2484621" cy="2743200"/>
          </a:xfrm>
        </p:spPr>
      </p:pic>
      <p:pic>
        <p:nvPicPr>
          <p:cNvPr id="14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45ECC919-7105-ABF9-D4D4-A24A7CC87F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4283"/>
          <a:stretch/>
        </p:blipFill>
        <p:spPr>
          <a:xfrm>
            <a:off x="4686305" y="1239356"/>
            <a:ext cx="2468758" cy="2743200"/>
          </a:xfrm>
          <a:prstGeom prst="rect">
            <a:avLst/>
          </a:prstGeom>
        </p:spPr>
      </p:pic>
      <p:pic>
        <p:nvPicPr>
          <p:cNvPr id="25" name="Picture 24" descr="A diagram of a brain&#10;&#10;Description automatically generated">
            <a:extLst>
              <a:ext uri="{FF2B5EF4-FFF2-40B4-BE49-F238E27FC236}">
                <a16:creationId xmlns:a16="http://schemas.microsoft.com/office/drawing/2014/main" id="{56D5E954-AB88-4C76-32BA-1C0D1E303B1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79"/>
          <a:stretch/>
        </p:blipFill>
        <p:spPr>
          <a:xfrm>
            <a:off x="9665600" y="1239356"/>
            <a:ext cx="2448374" cy="2743200"/>
          </a:xfrm>
          <a:prstGeom prst="rect">
            <a:avLst/>
          </a:prstGeom>
        </p:spPr>
      </p:pic>
      <p:pic>
        <p:nvPicPr>
          <p:cNvPr id="27" name="Picture 26" descr="A diagram of a brain&#10;&#10;Description automatically generated">
            <a:extLst>
              <a:ext uri="{FF2B5EF4-FFF2-40B4-BE49-F238E27FC236}">
                <a16:creationId xmlns:a16="http://schemas.microsoft.com/office/drawing/2014/main" id="{4CFF3D9D-3167-872C-D352-0CE2B5ECFC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72"/>
          <a:stretch/>
        </p:blipFill>
        <p:spPr>
          <a:xfrm>
            <a:off x="9637473" y="3750328"/>
            <a:ext cx="2476501" cy="2743200"/>
          </a:xfrm>
          <a:prstGeom prst="rect">
            <a:avLst/>
          </a:prstGeom>
        </p:spPr>
      </p:pic>
      <p:pic>
        <p:nvPicPr>
          <p:cNvPr id="29" name="Picture 28" descr="A diagram of a brain&#10;&#10;Description automatically generated">
            <a:extLst>
              <a:ext uri="{FF2B5EF4-FFF2-40B4-BE49-F238E27FC236}">
                <a16:creationId xmlns:a16="http://schemas.microsoft.com/office/drawing/2014/main" id="{35F84428-85BA-FD16-1054-0F74A4E923D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10"/>
          <a:stretch/>
        </p:blipFill>
        <p:spPr>
          <a:xfrm>
            <a:off x="7216918" y="3750328"/>
            <a:ext cx="2480821" cy="2743200"/>
          </a:xfrm>
          <a:prstGeom prst="rect">
            <a:avLst/>
          </a:prstGeom>
        </p:spPr>
      </p:pic>
      <p:pic>
        <p:nvPicPr>
          <p:cNvPr id="31" name="Picture 30" descr="A diagram of a brain&#10;&#10;Description automatically generated">
            <a:extLst>
              <a:ext uri="{FF2B5EF4-FFF2-40B4-BE49-F238E27FC236}">
                <a16:creationId xmlns:a16="http://schemas.microsoft.com/office/drawing/2014/main" id="{090D6A02-73E7-C0C0-4882-FBD49CF2E65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54"/>
          <a:stretch/>
        </p:blipFill>
        <p:spPr>
          <a:xfrm>
            <a:off x="4686305" y="3750328"/>
            <a:ext cx="2436244" cy="2743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BB32EC-B667-67BB-A1E5-AF6A4A5B6E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27" y="1151468"/>
            <a:ext cx="4653478" cy="3537273"/>
          </a:xfrm>
          <a:prstGeom prst="rect">
            <a:avLst/>
          </a:prstGeom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2DAA8DE-11F5-D1C3-5CF7-6F438A5BD8AF}"/>
              </a:ext>
            </a:extLst>
          </p:cNvPr>
          <p:cNvSpPr txBox="1">
            <a:spLocks/>
          </p:cNvSpPr>
          <p:nvPr/>
        </p:nvSpPr>
        <p:spPr>
          <a:xfrm>
            <a:off x="280245" y="4913048"/>
            <a:ext cx="4066734" cy="1628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Strikingly consistent</a:t>
            </a:r>
          </a:p>
          <a:p>
            <a:r>
              <a:rPr lang="en-US" dirty="0"/>
              <a:t>Slight differences</a:t>
            </a:r>
          </a:p>
          <a:p>
            <a:pPr lvl="1"/>
            <a:r>
              <a:rPr lang="en-US" dirty="0"/>
              <a:t>My PFC module doesn’t include temporal + parietal ROIs</a:t>
            </a:r>
          </a:p>
          <a:p>
            <a:pPr lvl="1"/>
            <a:r>
              <a:rPr lang="en-US" dirty="0"/>
              <a:t>My MTL+ is more exclusively anterior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6825-B66A-352D-573C-2D0776B5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brain&#10;&#10;Description automatically generated">
            <a:extLst>
              <a:ext uri="{FF2B5EF4-FFF2-40B4-BE49-F238E27FC236}">
                <a16:creationId xmlns:a16="http://schemas.microsoft.com/office/drawing/2014/main" id="{392C3702-FD43-ED32-A2D4-AB104EF22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85" y="564747"/>
            <a:ext cx="7217229" cy="2864253"/>
          </a:xfrm>
        </p:spPr>
      </p:pic>
      <p:pic>
        <p:nvPicPr>
          <p:cNvPr id="7" name="Picture 6" descr="A diagram of a brain&#10;&#10;Description automatically generated">
            <a:extLst>
              <a:ext uri="{FF2B5EF4-FFF2-40B4-BE49-F238E27FC236}">
                <a16:creationId xmlns:a16="http://schemas.microsoft.com/office/drawing/2014/main" id="{63EAFC7A-CD7D-DB3D-E190-4997D25CF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881" y="3756654"/>
            <a:ext cx="7211733" cy="28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7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7537-3B08-3018-A7F0-E031A7AD0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472"/>
            <a:ext cx="10515600" cy="1325563"/>
          </a:xfrm>
        </p:spPr>
        <p:txBody>
          <a:bodyPr/>
          <a:lstStyle/>
          <a:p>
            <a:r>
              <a:rPr lang="en-US" dirty="0"/>
              <a:t>Figure 15B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998B-F8F2-AA9F-5F0D-FD926B551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665967"/>
            <a:ext cx="3501571" cy="7981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err="1"/>
              <a:t>Lifu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6BA36-0844-67D1-B958-4B2AF12F45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26" r="30069" b="31196"/>
          <a:stretch/>
        </p:blipFill>
        <p:spPr>
          <a:xfrm>
            <a:off x="0" y="2738900"/>
            <a:ext cx="4702629" cy="3697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EBBE91-603B-521A-F12F-0834CFA8C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952" y="2738900"/>
            <a:ext cx="3813048" cy="3813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894853-6DA0-101A-0CF8-25AFE2484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738900"/>
            <a:ext cx="3810000" cy="3810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9CE7D73-B397-708A-3CC5-5E720113BA9C}"/>
              </a:ext>
            </a:extLst>
          </p:cNvPr>
          <p:cNvSpPr txBox="1">
            <a:spLocks/>
          </p:cNvSpPr>
          <p:nvPr/>
        </p:nvSpPr>
        <p:spPr>
          <a:xfrm>
            <a:off x="7027309" y="1665967"/>
            <a:ext cx="3501571" cy="798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dirty="0"/>
              <a:t>Paul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8253EF-4974-02C8-5603-9B90CF4B718D}"/>
              </a:ext>
            </a:extLst>
          </p:cNvPr>
          <p:cNvCxnSpPr/>
          <p:nvPr/>
        </p:nvCxnSpPr>
        <p:spPr>
          <a:xfrm flipH="1">
            <a:off x="7315200" y="3962400"/>
            <a:ext cx="30770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22B5133-4C46-5821-2536-3CD9723CF6C3}"/>
              </a:ext>
            </a:extLst>
          </p:cNvPr>
          <p:cNvSpPr txBox="1"/>
          <p:nvPr/>
        </p:nvSpPr>
        <p:spPr>
          <a:xfrm>
            <a:off x="7315200" y="3582927"/>
            <a:ext cx="3077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294741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C24E-7040-2787-7374-7EA5ECC2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8200" cy="1325563"/>
          </a:xfrm>
        </p:spPr>
        <p:txBody>
          <a:bodyPr/>
          <a:lstStyle/>
          <a:p>
            <a:r>
              <a:rPr lang="en-US" dirty="0"/>
              <a:t>Figure 16B &amp; 16C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0CBE-F6DD-E78B-2AF3-74523FBD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63" y="1451428"/>
            <a:ext cx="3212447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8CFD8-CB17-069E-172F-3A910A95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36" y="3465285"/>
            <a:ext cx="4107543" cy="3080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9BAFB-97E1-2219-8E4A-89DE2F5FA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236" y="348343"/>
            <a:ext cx="4107543" cy="3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5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C24E-7040-2787-7374-7EA5ECC2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8200" cy="1325563"/>
          </a:xfrm>
        </p:spPr>
        <p:txBody>
          <a:bodyPr/>
          <a:lstStyle/>
          <a:p>
            <a:r>
              <a:rPr lang="en-US" dirty="0"/>
              <a:t>Figure 16B &amp; 16C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0CBE-F6DD-E78B-2AF3-74523FBD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63" y="1451428"/>
            <a:ext cx="3212447" cy="487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21DEDE-6560-44F0-CEB4-33CF5E7D1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3559147"/>
            <a:ext cx="4301068" cy="3225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6D953A-3E00-ED5B-CBC3-503E25C04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2" y="365126"/>
            <a:ext cx="4258695" cy="31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2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E367-864B-9F87-31C8-8E19391C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42CB6-E176-403F-712F-2544CDCC44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1657"/>
          <a:stretch/>
        </p:blipFill>
        <p:spPr>
          <a:xfrm>
            <a:off x="398811" y="1395889"/>
            <a:ext cx="3719452" cy="4818942"/>
          </a:xfrm>
          <a:prstGeom prst="rect">
            <a:avLst/>
          </a:prstGeom>
        </p:spPr>
      </p:pic>
      <p:pic>
        <p:nvPicPr>
          <p:cNvPr id="7" name="Picture 6" descr="A diagram of a brain&#10;&#10;Description automatically generated">
            <a:extLst>
              <a:ext uri="{FF2B5EF4-FFF2-40B4-BE49-F238E27FC236}">
                <a16:creationId xmlns:a16="http://schemas.microsoft.com/office/drawing/2014/main" id="{E6BC4E98-BF84-C542-7DB1-3055BA2AB9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67"/>
          <a:stretch/>
        </p:blipFill>
        <p:spPr>
          <a:xfrm>
            <a:off x="4858492" y="2018556"/>
            <a:ext cx="2939474" cy="3255542"/>
          </a:xfrm>
          <a:prstGeom prst="rect">
            <a:avLst/>
          </a:prstGeom>
        </p:spPr>
      </p:pic>
      <p:pic>
        <p:nvPicPr>
          <p:cNvPr id="9" name="Picture 8" descr="A diagram of a brain&#10;&#10;Description automatically generated">
            <a:extLst>
              <a:ext uri="{FF2B5EF4-FFF2-40B4-BE49-F238E27FC236}">
                <a16:creationId xmlns:a16="http://schemas.microsoft.com/office/drawing/2014/main" id="{BEE77D6F-D422-1A80-AFF8-2BB0B20C55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48"/>
          <a:stretch/>
        </p:blipFill>
        <p:spPr>
          <a:xfrm>
            <a:off x="8073737" y="2018834"/>
            <a:ext cx="2948987" cy="32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1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E367-864B-9F87-31C8-8E19391C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09343" cy="1325563"/>
          </a:xfrm>
        </p:spPr>
        <p:txBody>
          <a:bodyPr/>
          <a:lstStyle/>
          <a:p>
            <a:r>
              <a:rPr lang="en-US" dirty="0"/>
              <a:t>Figure 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42CB6-E176-403F-712F-2544CDCC44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827"/>
          <a:stretch/>
        </p:blipFill>
        <p:spPr>
          <a:xfrm>
            <a:off x="252548" y="1429865"/>
            <a:ext cx="7209060" cy="36679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65FC3D-B0BD-6EAA-2994-011E92F62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622" y="97025"/>
            <a:ext cx="4445830" cy="3334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1D44E-92A4-4EC3-9B2A-24C3DC179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372" y="3429000"/>
            <a:ext cx="445008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75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6E0C-80E5-CA8C-BBC6-C5B19D858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57540" cy="1325563"/>
          </a:xfrm>
        </p:spPr>
        <p:txBody>
          <a:bodyPr/>
          <a:lstStyle/>
          <a:p>
            <a:r>
              <a:rPr lang="en-US" dirty="0"/>
              <a:t>Figure 16A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23248-576C-E093-9100-6900DB2904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6617"/>
          <a:stretch/>
        </p:blipFill>
        <p:spPr>
          <a:xfrm>
            <a:off x="3267920" y="1635240"/>
            <a:ext cx="3655640" cy="4463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8C29D0-AAD2-FA61-1E7B-7AF3D40FC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49" y="0"/>
            <a:ext cx="2286000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098E15-F8B7-1CC9-0861-80D9294A3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892" y="0"/>
            <a:ext cx="2286000" cy="228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52B7BD-EE0F-52BC-16F1-CE34BA14C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549" y="2186316"/>
            <a:ext cx="2286000" cy="228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446545-83E5-4729-57F9-BE4266CEC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892" y="2187019"/>
            <a:ext cx="2286000" cy="228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0E4DD9-967B-8EDE-32F3-0A2287C42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8549" y="4454876"/>
            <a:ext cx="2286000" cy="228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362CFD-2515-A3F8-26A9-C6A1C272F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0892" y="4454876"/>
            <a:ext cx="2286000" cy="2286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FB88B9-B60C-F007-4E92-ACFE20147D9C}"/>
              </a:ext>
            </a:extLst>
          </p:cNvPr>
          <p:cNvSpPr txBox="1"/>
          <p:nvPr/>
        </p:nvSpPr>
        <p:spPr>
          <a:xfrm>
            <a:off x="333279" y="1635240"/>
            <a:ext cx="28564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Measure, for each subject, the correlation between their connectivity for hit trials x connectivity for miss trials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correlation = more reconfiguration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Hence, a higher score here for YA relative to OA means that YA show greater effects of subsequent memory on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“z-score” as the unit is mysterious</a:t>
            </a:r>
          </a:p>
        </p:txBody>
      </p:sp>
    </p:spTree>
    <p:extLst>
      <p:ext uri="{BB962C8B-B14F-4D97-AF65-F5344CB8AC3E}">
        <p14:creationId xmlns:p14="http://schemas.microsoft.com/office/powerpoint/2010/main" val="424312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E45-4CF2-F008-54FB-AE86DC4C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YA show more variance </a:t>
            </a:r>
            <a:br>
              <a:rPr lang="en-US" dirty="0"/>
            </a:br>
            <a:r>
              <a:rPr lang="en-US" dirty="0"/>
              <a:t>in MTL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C045-B7ED-CE56-8400-6854E03B8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Analysis: Measure reconfiguration while randomly assigning trials to “hit” or “miss”</a:t>
            </a:r>
          </a:p>
          <a:p>
            <a:r>
              <a:rPr lang="en-US" dirty="0"/>
              <a:t>Consistently get a reasonably strong YA effect </a:t>
            </a:r>
          </a:p>
          <a:p>
            <a:pPr lvl="1"/>
            <a:r>
              <a:rPr lang="en-US" dirty="0"/>
              <a:t>(mean difference = 0.10, Cohen’s d = .40)</a:t>
            </a:r>
          </a:p>
          <a:p>
            <a:r>
              <a:rPr lang="en-US" dirty="0"/>
              <a:t>Hence, the results on the previous slide are because young adults generally just show more variability in their MTL connectivity</a:t>
            </a:r>
          </a:p>
          <a:p>
            <a:pPr lvl="1"/>
            <a:r>
              <a:rPr lang="en-US" dirty="0"/>
              <a:t>This is interesting, but it’s not a memory effect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09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7790-F46F-093D-ECDC-40653097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around this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F8BB2-E0E6-DA14-8B71-EA71B5472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77740" cy="4918075"/>
          </a:xfrm>
        </p:spPr>
        <p:txBody>
          <a:bodyPr/>
          <a:lstStyle/>
          <a:p>
            <a:r>
              <a:rPr lang="en-US" dirty="0"/>
              <a:t>Split remember trials into odd/even and forgotten trials into odd/even</a:t>
            </a:r>
          </a:p>
          <a:p>
            <a:r>
              <a:rPr lang="en-US" dirty="0"/>
              <a:t>With this layout, measure the similarity between R-F while controlling for R-R and F-F similarity</a:t>
            </a:r>
          </a:p>
          <a:p>
            <a:r>
              <a:rPr lang="en-US" dirty="0"/>
              <a:t>Essentially, measures the degree of “reconfiguration” between two conditions while controlling for the amount that would be expected solely due to chance</a:t>
            </a:r>
          </a:p>
          <a:p>
            <a:r>
              <a:rPr lang="en-US" dirty="0"/>
              <a:t>Null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0E3A7-22F4-042C-F1A4-4C9A230F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261" y="2403571"/>
            <a:ext cx="3439639" cy="2785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A6471-855B-3E0E-F4A6-CDBF60C5608B}"/>
              </a:ext>
            </a:extLst>
          </p:cNvPr>
          <p:cNvSpPr txBox="1"/>
          <p:nvPr/>
        </p:nvSpPr>
        <p:spPr>
          <a:xfrm>
            <a:off x="8206261" y="2991604"/>
            <a:ext cx="5806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5E89C-35C9-8F2C-D24C-186E8159C758}"/>
              </a:ext>
            </a:extLst>
          </p:cNvPr>
          <p:cNvSpPr txBox="1"/>
          <p:nvPr/>
        </p:nvSpPr>
        <p:spPr>
          <a:xfrm>
            <a:off x="8142761" y="4509254"/>
            <a:ext cx="63068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Even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D3B4-50C2-F27E-94EE-C1EA07263E59}"/>
              </a:ext>
            </a:extLst>
          </p:cNvPr>
          <p:cNvSpPr txBox="1"/>
          <p:nvPr/>
        </p:nvSpPr>
        <p:spPr>
          <a:xfrm>
            <a:off x="8631711" y="2370138"/>
            <a:ext cx="12225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Remember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B414B-1D7E-3C83-B806-5C8A384AC883}"/>
              </a:ext>
            </a:extLst>
          </p:cNvPr>
          <p:cNvSpPr txBox="1"/>
          <p:nvPr/>
        </p:nvSpPr>
        <p:spPr>
          <a:xfrm>
            <a:off x="10377961" y="2370138"/>
            <a:ext cx="11007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Forgotten</a:t>
            </a:r>
          </a:p>
        </p:txBody>
      </p:sp>
    </p:spTree>
    <p:extLst>
      <p:ext uri="{BB962C8B-B14F-4D97-AF65-F5344CB8AC3E}">
        <p14:creationId xmlns:p14="http://schemas.microsoft.com/office/powerpoint/2010/main" val="274593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2F3F-0536-D7F4-905D-A95DA441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966FF-B6AB-B904-C084-89033ECF1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each participant independently</a:t>
            </a:r>
          </a:p>
          <a:p>
            <a:pPr lvl="1"/>
            <a:r>
              <a:rPr lang="en-US" dirty="0"/>
              <a:t>Fit a classifier attempting to label some condition (e.g., Incongruent vs. Congruent)</a:t>
            </a:r>
          </a:p>
          <a:p>
            <a:pPr lvl="1"/>
            <a:r>
              <a:rPr lang="en-US" dirty="0"/>
              <a:t>Create one example per trial</a:t>
            </a:r>
          </a:p>
          <a:p>
            <a:pPr lvl="1"/>
            <a:r>
              <a:rPr lang="en-US" dirty="0"/>
              <a:t>For connectivity</a:t>
            </a:r>
          </a:p>
        </p:txBody>
      </p:sp>
    </p:spTree>
    <p:extLst>
      <p:ext uri="{BB962C8B-B14F-4D97-AF65-F5344CB8AC3E}">
        <p14:creationId xmlns:p14="http://schemas.microsoft.com/office/powerpoint/2010/main" val="408183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A274-C767-F9A0-19E4-12086C6A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a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324AD-A196-8FAB-8AA6-719F0BAD5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Activation based classifier on Schema (I vs. N vs. C) for object betas yields a significant MTL classification (35.1%) in older adults (t = 4.0) but not younger adults (t = 0.26)</a:t>
            </a:r>
          </a:p>
          <a:p>
            <a:pPr lvl="1"/>
            <a:r>
              <a:rPr lang="en-US" dirty="0"/>
              <a:t>Whereas both show effects in PFC and Visual</a:t>
            </a:r>
          </a:p>
          <a:p>
            <a:r>
              <a:rPr lang="en-US" dirty="0"/>
              <a:t>Generally, both YA and OA seem to show schema-related effects in the PFC</a:t>
            </a:r>
          </a:p>
          <a:p>
            <a:pPr lvl="1"/>
            <a:r>
              <a:rPr lang="en-US" dirty="0"/>
              <a:t>However, OA also show schema effects across the brain (MTL + Visual)</a:t>
            </a:r>
          </a:p>
        </p:txBody>
      </p:sp>
    </p:spTree>
    <p:extLst>
      <p:ext uri="{BB962C8B-B14F-4D97-AF65-F5344CB8AC3E}">
        <p14:creationId xmlns:p14="http://schemas.microsoft.com/office/powerpoint/2010/main" val="251311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C534-C13B-B63F-ECC6-5925185F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a group-cv classifier (object betas in encoding task)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6BA43-E5C7-117F-D3F4-A87E47B93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Connectivity-based classifier predicting I vs. N vs. C or I vs. C</a:t>
            </a:r>
          </a:p>
          <a:p>
            <a:pPr lvl="1"/>
            <a:r>
              <a:rPr lang="en-US" dirty="0"/>
              <a:t>YA and OA in PFC</a:t>
            </a:r>
          </a:p>
          <a:p>
            <a:pPr lvl="1"/>
            <a:r>
              <a:rPr lang="en-US" dirty="0"/>
              <a:t>Neither in MTL</a:t>
            </a:r>
          </a:p>
          <a:p>
            <a:pPr lvl="1"/>
            <a:r>
              <a:rPr lang="en-US" dirty="0"/>
              <a:t>OA only in Visual</a:t>
            </a:r>
          </a:p>
          <a:p>
            <a:pPr lvl="1"/>
            <a:r>
              <a:rPr lang="en-US" dirty="0"/>
              <a:t>Ergo, larger effect of schema congruency on connectivity within the visual lobe</a:t>
            </a:r>
          </a:p>
          <a:p>
            <a:r>
              <a:rPr lang="en-US" dirty="0"/>
              <a:t>Activity-based classifier</a:t>
            </a:r>
          </a:p>
          <a:p>
            <a:pPr lvl="1"/>
            <a:r>
              <a:rPr lang="en-US" dirty="0"/>
              <a:t>YA and OA in PFC</a:t>
            </a:r>
          </a:p>
          <a:p>
            <a:pPr lvl="1"/>
            <a:r>
              <a:rPr lang="en-US" dirty="0"/>
              <a:t>Maybe OA in MTL</a:t>
            </a:r>
          </a:p>
          <a:p>
            <a:pPr lvl="1"/>
            <a:r>
              <a:rPr lang="en-US" dirty="0"/>
              <a:t>OA only in visual</a:t>
            </a:r>
          </a:p>
        </p:txBody>
      </p:sp>
    </p:spTree>
    <p:extLst>
      <p:ext uri="{BB962C8B-B14F-4D97-AF65-F5344CB8AC3E}">
        <p14:creationId xmlns:p14="http://schemas.microsoft.com/office/powerpoint/2010/main" val="274385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9499-4CC4-03C7-E54C-00624B37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difference due to memory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4939-D58A-6106-75A1-D90C18A98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classifier approach</a:t>
            </a:r>
          </a:p>
          <a:p>
            <a:r>
              <a:rPr lang="en-US" dirty="0"/>
              <a:t>No OA vs. YA differences stood out to me, but I did not closely look as I’m not sure if they would be considered interesting	</a:t>
            </a:r>
          </a:p>
        </p:txBody>
      </p:sp>
    </p:spTree>
    <p:extLst>
      <p:ext uri="{BB962C8B-B14F-4D97-AF65-F5344CB8AC3E}">
        <p14:creationId xmlns:p14="http://schemas.microsoft.com/office/powerpoint/2010/main" val="4000269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90FA-E26D-4397-E277-AF58CC61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left with?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7C0E-9A1B-5207-AD28-9A87C05C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MTL is linked to higher integration than PFC	</a:t>
            </a:r>
          </a:p>
          <a:p>
            <a:pPr lvl="1"/>
            <a:r>
              <a:rPr lang="en-US" dirty="0"/>
              <a:t>No YA vs. OA differences</a:t>
            </a:r>
          </a:p>
          <a:p>
            <a:r>
              <a:rPr lang="en-US" dirty="0"/>
              <a:t>MTL is linked to greater inter-trial variability in its connectivity patterns for YA</a:t>
            </a:r>
          </a:p>
          <a:p>
            <a:pPr lvl="1"/>
            <a:r>
              <a:rPr lang="en-US" dirty="0"/>
              <a:t>MTL is linked to stronger memory-related reconfiguration for YA</a:t>
            </a:r>
          </a:p>
          <a:p>
            <a:r>
              <a:rPr lang="en-US" dirty="0"/>
              <a:t>Subsequent memory is linked to weaker connectivity between the PFC and MTL with other brain areas</a:t>
            </a:r>
          </a:p>
          <a:p>
            <a:pPr lvl="1"/>
            <a:r>
              <a:rPr lang="en-US" dirty="0"/>
              <a:t>No YA vs. OA differences</a:t>
            </a:r>
          </a:p>
        </p:txBody>
      </p:sp>
    </p:spTree>
    <p:extLst>
      <p:ext uri="{BB962C8B-B14F-4D97-AF65-F5344CB8AC3E}">
        <p14:creationId xmlns:p14="http://schemas.microsoft.com/office/powerpoint/2010/main" val="1859704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0715-5134-BB59-7564-18AA7141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Overlapping modules</a:t>
            </a:r>
          </a:p>
        </p:txBody>
      </p:sp>
      <p:pic>
        <p:nvPicPr>
          <p:cNvPr id="5" name="Content Placeholder 4" descr="A diagram of a brain&#10;&#10;Description automatically generated">
            <a:extLst>
              <a:ext uri="{FF2B5EF4-FFF2-40B4-BE49-F238E27FC236}">
                <a16:creationId xmlns:a16="http://schemas.microsoft.com/office/drawing/2014/main" id="{1FD81467-D06B-5483-A5A2-18E611DC9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24" y="1605280"/>
            <a:ext cx="5483684" cy="2176272"/>
          </a:xfrm>
        </p:spPr>
      </p:pic>
      <p:pic>
        <p:nvPicPr>
          <p:cNvPr id="7" name="Picture 6" descr="A diagram of a brain&#10;&#10;Description automatically generated">
            <a:extLst>
              <a:ext uri="{FF2B5EF4-FFF2-40B4-BE49-F238E27FC236}">
                <a16:creationId xmlns:a16="http://schemas.microsoft.com/office/drawing/2014/main" id="{03123915-C155-20BE-7E89-3BE6DC2D1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058" y="1518793"/>
            <a:ext cx="5486400" cy="2177351"/>
          </a:xfrm>
          <a:prstGeom prst="rect">
            <a:avLst/>
          </a:prstGeom>
        </p:spPr>
      </p:pic>
      <p:pic>
        <p:nvPicPr>
          <p:cNvPr id="9" name="Picture 8" descr="A diagram of a brain&#10;&#10;Description automatically generated">
            <a:extLst>
              <a:ext uri="{FF2B5EF4-FFF2-40B4-BE49-F238E27FC236}">
                <a16:creationId xmlns:a16="http://schemas.microsoft.com/office/drawing/2014/main" id="{02EFE5D6-F109-2764-8269-3E63D18D9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26" y="3797744"/>
            <a:ext cx="5483682" cy="2176272"/>
          </a:xfrm>
          <a:prstGeom prst="rect">
            <a:avLst/>
          </a:prstGeom>
        </p:spPr>
      </p:pic>
      <p:pic>
        <p:nvPicPr>
          <p:cNvPr id="11" name="Picture 10" descr="A diagram of a brain&#10;&#10;Description automatically generated">
            <a:extLst>
              <a:ext uri="{FF2B5EF4-FFF2-40B4-BE49-F238E27FC236}">
                <a16:creationId xmlns:a16="http://schemas.microsoft.com/office/drawing/2014/main" id="{8FBEE68B-9AC9-ECEE-C41C-BF982A478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666" y="3797744"/>
            <a:ext cx="5483682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00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FAF-5918-2D50-EFD8-881BF2A3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187327"/>
            <a:ext cx="10515600" cy="786342"/>
          </a:xfrm>
        </p:spPr>
        <p:txBody>
          <a:bodyPr/>
          <a:lstStyle/>
          <a:p>
            <a:r>
              <a:rPr lang="en-US" dirty="0"/>
              <a:t>Behavioral results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916DB2-2281-46CE-1977-3C7B87DC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1" y="980225"/>
            <a:ext cx="3840480" cy="2880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CA28F7-CB2E-401F-1897-69DB257E5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4" y="3824181"/>
            <a:ext cx="3840480" cy="28803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E0EA0D1-7436-224E-A259-1FD5321A6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51" y="980225"/>
            <a:ext cx="3840480" cy="28803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784443-7A11-3C75-C718-1EFA8EFBB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919" y="3824181"/>
            <a:ext cx="3840480" cy="28803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326F6F7-D1DD-19FE-FBAC-EDC7CC118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399" y="980225"/>
            <a:ext cx="3840480" cy="28803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7B24EA-D0E5-4501-C7BF-CC281A4BA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399" y="3824181"/>
            <a:ext cx="38404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6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2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FCCE-B076-051B-6E0D-51901C01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result: Schema-related reconfiguration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007E5-2DF6-E938-BC84-AAFD8490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89343" cy="4351338"/>
          </a:xfrm>
        </p:spPr>
        <p:txBody>
          <a:bodyPr/>
          <a:lstStyle/>
          <a:p>
            <a:r>
              <a:rPr lang="en-US" dirty="0"/>
              <a:t>Similar to the memory-related reconfiguration analysis from before but now looking at the correlation between connectivity associated with Incongruent vs. Neutral vs. Congruent</a:t>
            </a:r>
          </a:p>
          <a:p>
            <a:r>
              <a:rPr lang="en-US" dirty="0"/>
              <a:t>YA show larger effects of schema congruency on MTL connectivity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6E2E9-B0BC-9BD4-A019-384ACA56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880" y="3690372"/>
            <a:ext cx="3008087" cy="3008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D298B-D53A-567D-FFD8-CD4E9D1E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1" y="3667466"/>
            <a:ext cx="3008087" cy="3008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8362F-A3BB-F5AA-6E69-274A84493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887" y="3667466"/>
            <a:ext cx="3030993" cy="30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37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EFC1-47B5-A876-FE51-D36DF196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effect on PFC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DC32-0AF8-A5A4-AC48-5D06B9EE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A7004-3CFA-B572-F74B-951AF48C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57" y="2682875"/>
            <a:ext cx="3810000" cy="381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E6221-9F97-07B7-F100-95B0448D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459" y="2682875"/>
            <a:ext cx="3810000" cy="381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F7B6E-B379-AFC5-4DA9-CBD73AB6E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745" y="2682875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52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C4D5-8BD7-D858-7D97-D0A244D9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Sanity test: Ensure that YA don’t simply show more MTL reconfiguration between random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2EFEA-FD1F-6D54-143B-9CC7471F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Trials were randomly organized into Incongruent/Neutral/ Congruent</a:t>
            </a:r>
          </a:p>
          <a:p>
            <a:pPr lvl="1"/>
            <a:r>
              <a:rPr lang="en-US" dirty="0"/>
              <a:t>Mean </a:t>
            </a:r>
            <a:r>
              <a:rPr lang="en-US" dirty="0" err="1"/>
              <a:t>dif</a:t>
            </a:r>
            <a:r>
              <a:rPr lang="en-US" dirty="0"/>
              <a:t> = 0.08 (SD = 0.02), d = 0.34 (SD = 0.085)</a:t>
            </a:r>
          </a:p>
          <a:p>
            <a:r>
              <a:rPr lang="en-US" dirty="0"/>
              <a:t>Randomly split Hit/Miss</a:t>
            </a:r>
          </a:p>
          <a:p>
            <a:pPr lvl="1"/>
            <a:r>
              <a:rPr lang="en-US" dirty="0"/>
              <a:t>Mean </a:t>
            </a:r>
            <a:r>
              <a:rPr lang="en-US" dirty="0" err="1"/>
              <a:t>dif</a:t>
            </a:r>
            <a:r>
              <a:rPr lang="en-US" dirty="0"/>
              <a:t> = 0.10, d = 0.42</a:t>
            </a:r>
          </a:p>
        </p:txBody>
      </p:sp>
    </p:spTree>
    <p:extLst>
      <p:ext uri="{BB962C8B-B14F-4D97-AF65-F5344CB8AC3E}">
        <p14:creationId xmlns:p14="http://schemas.microsoft.com/office/powerpoint/2010/main" val="2119982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2F42-D4DC-DCB1-D650-32ED653F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/>
          <a:lstStyle/>
          <a:p>
            <a:r>
              <a:rPr lang="en-US" dirty="0"/>
              <a:t>Figure 15A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6FD8-9CE6-B039-3607-DF2F7F9E0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A2851-CD40-135E-CDF1-9146E0F5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089" y="1273073"/>
            <a:ext cx="5513832" cy="2188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EB0412-24FA-46DA-C771-11B400328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395" y="3467501"/>
            <a:ext cx="5510526" cy="2186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F7C431-4C41-516D-59F0-FE740939A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83" y="2424976"/>
            <a:ext cx="4229824" cy="3505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C3DCC0-3243-2DA1-BABC-856A2E22C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578" y="8954759"/>
            <a:ext cx="1698789" cy="1498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5E7C5B-F699-0C91-96BA-655B21B7D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230" y="5930427"/>
            <a:ext cx="2943636" cy="26959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F57D9A-4A69-E539-7B77-E608E18AE51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4079"/>
          <a:stretch/>
        </p:blipFill>
        <p:spPr>
          <a:xfrm>
            <a:off x="-4181989" y="4438721"/>
            <a:ext cx="4379495" cy="48385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C06FDB-D9D7-D827-EAE3-2735238EE42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4079"/>
          <a:stretch/>
        </p:blipFill>
        <p:spPr>
          <a:xfrm>
            <a:off x="13135803" y="3461311"/>
            <a:ext cx="4379495" cy="48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44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62472-6449-F411-4991-945B6593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302" y="2179175"/>
            <a:ext cx="7392137" cy="39977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C39C75-DA6F-97EE-F651-5C8C49F5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6046</TotalTime>
  <Words>707</Words>
  <Application>Microsoft Office PowerPoint</Application>
  <PresentationFormat>Widescreen</PresentationFormat>
  <Paragraphs>88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Wingdings</vt:lpstr>
      <vt:lpstr>Office Theme</vt:lpstr>
      <vt:lpstr>SchemeRep Networks</vt:lpstr>
      <vt:lpstr>Methodological note</vt:lpstr>
      <vt:lpstr>Figure 15A</vt:lpstr>
      <vt:lpstr>PowerPoint Presentation</vt:lpstr>
      <vt:lpstr>Figure 15B</vt:lpstr>
      <vt:lpstr>Figure 16B &amp; 16C</vt:lpstr>
      <vt:lpstr>Figure 16B &amp; 16C</vt:lpstr>
      <vt:lpstr>Figure 17</vt:lpstr>
      <vt:lpstr>Figure 17</vt:lpstr>
      <vt:lpstr>Figure 16A</vt:lpstr>
      <vt:lpstr>Problem: YA show more variance  in MTL connectivity</vt:lpstr>
      <vt:lpstr>Getting around this issue</vt:lpstr>
      <vt:lpstr>Classification-based analysis</vt:lpstr>
      <vt:lpstr>Fitting a classifier</vt:lpstr>
      <vt:lpstr>Fitting a group-cv classifier (object betas in encoding task)</vt:lpstr>
      <vt:lpstr>Various difference due to memory effects</vt:lpstr>
      <vt:lpstr>What are we left with?</vt:lpstr>
      <vt:lpstr>Overlapping modules</vt:lpstr>
      <vt:lpstr>Behavioral results</vt:lpstr>
      <vt:lpstr>End</vt:lpstr>
      <vt:lpstr>Proposed result: Schema-related reconfiguration</vt:lpstr>
      <vt:lpstr>Null effect on PFC</vt:lpstr>
      <vt:lpstr>Sanity test: Ensure that YA don’t simply show more MTL reconfiguration between random trials</vt:lpstr>
      <vt:lpstr>Figure 15A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20</cp:revision>
  <dcterms:created xsi:type="dcterms:W3CDTF">2023-12-06T13:14:51Z</dcterms:created>
  <dcterms:modified xsi:type="dcterms:W3CDTF">2023-12-11T13:45:49Z</dcterms:modified>
</cp:coreProperties>
</file>