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66" r:id="rId2"/>
    <p:sldId id="304" r:id="rId3"/>
    <p:sldId id="278" r:id="rId4"/>
    <p:sldId id="277" r:id="rId5"/>
    <p:sldId id="305" r:id="rId6"/>
    <p:sldId id="310" r:id="rId7"/>
    <p:sldId id="311" r:id="rId8"/>
    <p:sldId id="306" r:id="rId9"/>
    <p:sldId id="309" r:id="rId10"/>
    <p:sldId id="308" r:id="rId11"/>
    <p:sldId id="332" r:id="rId12"/>
    <p:sldId id="354" r:id="rId13"/>
    <p:sldId id="355" r:id="rId14"/>
    <p:sldId id="314" r:id="rId15"/>
    <p:sldId id="353" r:id="rId16"/>
    <p:sldId id="344" r:id="rId17"/>
    <p:sldId id="316" r:id="rId18"/>
    <p:sldId id="333" r:id="rId19"/>
    <p:sldId id="334" r:id="rId20"/>
    <p:sldId id="337" r:id="rId21"/>
    <p:sldId id="339" r:id="rId22"/>
    <p:sldId id="340" r:id="rId23"/>
    <p:sldId id="341" r:id="rId24"/>
    <p:sldId id="342" r:id="rId25"/>
    <p:sldId id="315" r:id="rId26"/>
    <p:sldId id="335" r:id="rId27"/>
    <p:sldId id="317" r:id="rId28"/>
    <p:sldId id="325" r:id="rId29"/>
    <p:sldId id="331" r:id="rId30"/>
    <p:sldId id="329" r:id="rId31"/>
    <p:sldId id="330" r:id="rId32"/>
    <p:sldId id="318" r:id="rId33"/>
    <p:sldId id="324" r:id="rId34"/>
    <p:sldId id="322" r:id="rId35"/>
    <p:sldId id="321" r:id="rId36"/>
    <p:sldId id="327" r:id="rId37"/>
    <p:sldId id="328" r:id="rId38"/>
    <p:sldId id="326" r:id="rId39"/>
    <p:sldId id="345" r:id="rId40"/>
    <p:sldId id="348" r:id="rId41"/>
    <p:sldId id="343" r:id="rId42"/>
    <p:sldId id="346" r:id="rId43"/>
    <p:sldId id="351" r:id="rId44"/>
    <p:sldId id="350" r:id="rId45"/>
    <p:sldId id="347" r:id="rId46"/>
    <p:sldId id="35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5" autoAdjust="0"/>
    <p:restoredTop sz="93446" autoAdjust="0"/>
  </p:normalViewPr>
  <p:slideViewPr>
    <p:cSldViewPr snapToGrid="0">
      <p:cViewPr varScale="1">
        <p:scale>
          <a:sx n="62" d="100"/>
          <a:sy n="62" d="100"/>
        </p:scale>
        <p:origin x="56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11268-7A0B-4448-98B7-B695368F7E0E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984D3-8271-419D-89C9-B49E490F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13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91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31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Could do the models to formally test YA vs. OA. Look at between/within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Correlate item accuracy with between/within average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44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0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last aim isn’t necessary, but I think the foundation funded a methodological project before, so I think this could help?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00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SchemeRep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January 11, 2024</a:t>
            </a:r>
          </a:p>
        </p:txBody>
      </p:sp>
    </p:spTree>
    <p:extLst>
      <p:ext uri="{BB962C8B-B14F-4D97-AF65-F5344CB8AC3E}">
        <p14:creationId xmlns:p14="http://schemas.microsoft.com/office/powerpoint/2010/main" val="2975946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766F0183-0222-2939-0785-E76FF29D0C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6731001" y="1917218"/>
            <a:ext cx="2677937" cy="2333625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FD586C6-CF99-187F-411F-57573F57C96D}"/>
              </a:ext>
            </a:extLst>
          </p:cNvPr>
          <p:cNvSpPr/>
          <p:nvPr/>
        </p:nvSpPr>
        <p:spPr>
          <a:xfrm>
            <a:off x="7447085" y="25533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1B4AFDB-1BDE-A252-5233-2C5E7503373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55" r="226"/>
          <a:stretch/>
        </p:blipFill>
        <p:spPr>
          <a:xfrm>
            <a:off x="5679182" y="1344667"/>
            <a:ext cx="888513" cy="2971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C623B4-BA7E-A996-425F-FDED8064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637"/>
            <a:ext cx="10515600" cy="700579"/>
          </a:xfrm>
        </p:spPr>
        <p:txBody>
          <a:bodyPr/>
          <a:lstStyle/>
          <a:p>
            <a:r>
              <a:rPr lang="en-US" dirty="0"/>
              <a:t>Inferior parietal lobule (IPL)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39528-386B-5F02-444E-A1F7A52327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7" r="37635"/>
          <a:stretch/>
        </p:blipFill>
        <p:spPr>
          <a:xfrm>
            <a:off x="2827820" y="1345213"/>
            <a:ext cx="2975932" cy="2971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5EA447-5242-5F5D-5505-136D5B223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5" y="1752258"/>
            <a:ext cx="2743200" cy="2286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6126A0-12AD-5CDE-77EC-A6F0E07F43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5" y="4478864"/>
            <a:ext cx="2743200" cy="228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5D42784-F30A-9346-2F41-626B5609BE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8046" y="4478864"/>
            <a:ext cx="2743200" cy="228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EB70C8-67EA-8BC8-1621-F7DCDE2A00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8380" y="4478864"/>
            <a:ext cx="2743200" cy="2286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0CC730-49FB-D013-4C20-F3D8AB20FD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890" y="1752258"/>
            <a:ext cx="2743200" cy="2286000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98BE630E-D643-A928-44FF-377799D34EBE}"/>
              </a:ext>
            </a:extLst>
          </p:cNvPr>
          <p:cNvSpPr/>
          <p:nvPr/>
        </p:nvSpPr>
        <p:spPr>
          <a:xfrm>
            <a:off x="6805917" y="3184599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A8D8D8-7E54-9752-C2BD-5EF4ACBF7ABD}"/>
              </a:ext>
            </a:extLst>
          </p:cNvPr>
          <p:cNvSpPr/>
          <p:nvPr/>
        </p:nvSpPr>
        <p:spPr>
          <a:xfrm>
            <a:off x="7546882" y="342412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280CDDD-9373-AA21-C16D-1D6144A735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8254" y="4478864"/>
            <a:ext cx="2743200" cy="2286000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D3819EFA-D5EF-2117-0504-B3AF83790E5D}"/>
              </a:ext>
            </a:extLst>
          </p:cNvPr>
          <p:cNvSpPr/>
          <p:nvPr/>
        </p:nvSpPr>
        <p:spPr>
          <a:xfrm>
            <a:off x="8369771" y="376279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FB836D-8443-4460-E82D-CDD9EDC06B96}"/>
              </a:ext>
            </a:extLst>
          </p:cNvPr>
          <p:cNvSpPr/>
          <p:nvPr/>
        </p:nvSpPr>
        <p:spPr>
          <a:xfrm>
            <a:off x="8732213" y="282688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A9F995-D922-9EB1-27D5-65D4CBB6292E}"/>
              </a:ext>
            </a:extLst>
          </p:cNvPr>
          <p:cNvCxnSpPr/>
          <p:nvPr/>
        </p:nvCxnSpPr>
        <p:spPr>
          <a:xfrm flipH="1">
            <a:off x="6998171" y="2620982"/>
            <a:ext cx="474496" cy="7175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51EEDC7-7102-FAB8-370B-253E6BBB87AA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234950" cy="9588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06BF6BA-BFD8-3061-1B0A-03AE799EAB73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CF53181-C376-6142-F9FE-60D9A2E6A168}"/>
              </a:ext>
            </a:extLst>
          </p:cNvPr>
          <p:cNvCxnSpPr>
            <a:cxnSpLocks/>
          </p:cNvCxnSpPr>
          <p:nvPr/>
        </p:nvCxnSpPr>
        <p:spPr>
          <a:xfrm>
            <a:off x="7469099" y="262098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F1BDB2E-1244-8DC2-41B0-645A3657D4BF}"/>
              </a:ext>
            </a:extLst>
          </p:cNvPr>
          <p:cNvSpPr/>
          <p:nvPr/>
        </p:nvSpPr>
        <p:spPr>
          <a:xfrm>
            <a:off x="7316165" y="246037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3A6F86-1CD5-16B0-CF6F-9215CD3EFED4}"/>
              </a:ext>
            </a:extLst>
          </p:cNvPr>
          <p:cNvSpPr txBox="1"/>
          <p:nvPr/>
        </p:nvSpPr>
        <p:spPr>
          <a:xfrm rot="815892">
            <a:off x="7563699" y="235874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68B0BB-6A1C-2CEE-D3A1-2F209FE6C0AC}"/>
              </a:ext>
            </a:extLst>
          </p:cNvPr>
          <p:cNvSpPr txBox="1"/>
          <p:nvPr/>
        </p:nvSpPr>
        <p:spPr>
          <a:xfrm rot="1113827">
            <a:off x="6828225" y="3836479"/>
            <a:ext cx="16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4EB335-5CD1-8668-616E-4EE90DC17088}"/>
              </a:ext>
            </a:extLst>
          </p:cNvPr>
          <p:cNvSpPr txBox="1"/>
          <p:nvPr/>
        </p:nvSpPr>
        <p:spPr>
          <a:xfrm>
            <a:off x="6930391" y="133695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4C8293-A8AC-C4F0-0DCD-20E4E48BA891}"/>
              </a:ext>
            </a:extLst>
          </p:cNvPr>
          <p:cNvSpPr txBox="1"/>
          <p:nvPr/>
        </p:nvSpPr>
        <p:spPr>
          <a:xfrm>
            <a:off x="4871714" y="1303082"/>
            <a:ext cx="10855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17981A-F5F3-E99B-0955-BD5BA78D71E6}"/>
              </a:ext>
            </a:extLst>
          </p:cNvPr>
          <p:cNvSpPr txBox="1"/>
          <p:nvPr/>
        </p:nvSpPr>
        <p:spPr>
          <a:xfrm>
            <a:off x="7491058" y="34571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55E460-7DB3-9C09-59FF-D2F3A74B8F0B}"/>
              </a:ext>
            </a:extLst>
          </p:cNvPr>
          <p:cNvSpPr txBox="1"/>
          <p:nvPr/>
        </p:nvSpPr>
        <p:spPr>
          <a:xfrm>
            <a:off x="6745860" y="32301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5BEC4-4565-816A-E7B9-EFABE3D6E9FC}"/>
              </a:ext>
            </a:extLst>
          </p:cNvPr>
          <p:cNvSpPr txBox="1"/>
          <p:nvPr/>
        </p:nvSpPr>
        <p:spPr>
          <a:xfrm>
            <a:off x="8327461" y="37938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B792F1-4369-080B-2B70-B004AD6E5D66}"/>
              </a:ext>
            </a:extLst>
          </p:cNvPr>
          <p:cNvSpPr txBox="1"/>
          <p:nvPr/>
        </p:nvSpPr>
        <p:spPr>
          <a:xfrm>
            <a:off x="8657936" y="28624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F3636735-C579-2BD9-BEFB-84FD44536D9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1" t="10326" r="37548"/>
          <a:stretch/>
        </p:blipFill>
        <p:spPr>
          <a:xfrm>
            <a:off x="10129352" y="102895"/>
            <a:ext cx="1711009" cy="149566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DC2366D-66A9-DC28-99F6-CB77354A8CE0}"/>
              </a:ext>
            </a:extLst>
          </p:cNvPr>
          <p:cNvSpPr txBox="1"/>
          <p:nvPr/>
        </p:nvSpPr>
        <p:spPr>
          <a:xfrm>
            <a:off x="10890043" y="1306577"/>
            <a:ext cx="97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 t-tests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003891-3C36-2F51-7C38-128056AFB0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05" r="9899"/>
          <a:stretch/>
        </p:blipFill>
        <p:spPr>
          <a:xfrm>
            <a:off x="5093115" y="3424125"/>
            <a:ext cx="687395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F5E3EB-BD2F-9CBB-010F-5E6D396042E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1" t="12180" r="72657" b="8591"/>
          <a:stretch/>
        </p:blipFill>
        <p:spPr>
          <a:xfrm>
            <a:off x="4545705" y="3777872"/>
            <a:ext cx="530834" cy="5207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B3245C-9BC0-A00E-3DBE-2EAB323FDA8C}"/>
              </a:ext>
            </a:extLst>
          </p:cNvPr>
          <p:cNvSpPr txBox="1"/>
          <p:nvPr/>
        </p:nvSpPr>
        <p:spPr>
          <a:xfrm>
            <a:off x="7296966" y="249608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B3C17C-C743-DF08-F21B-7CA474A1EBBC}"/>
              </a:ext>
            </a:extLst>
          </p:cNvPr>
          <p:cNvSpPr txBox="1"/>
          <p:nvPr/>
        </p:nvSpPr>
        <p:spPr>
          <a:xfrm>
            <a:off x="168245" y="42336"/>
            <a:ext cx="23372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Focus on IPL is justified by classifier-based analyses showing that it’s connectivity is impacted by congruency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PCun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showed a prominent RSA effect, but it doesn’t show connectivity effects linked to congruency</a:t>
            </a:r>
          </a:p>
        </p:txBody>
      </p:sp>
    </p:spTree>
    <p:extLst>
      <p:ext uri="{BB962C8B-B14F-4D97-AF65-F5344CB8AC3E}">
        <p14:creationId xmlns:p14="http://schemas.microsoft.com/office/powerpoint/2010/main" val="271807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4587360-5997-69EB-3DB5-1AB63E288D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97"/>
          <a:stretch/>
        </p:blipFill>
        <p:spPr>
          <a:xfrm>
            <a:off x="5722289" y="1343300"/>
            <a:ext cx="921283" cy="2971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7D15E87-9DA2-498B-9B41-563605C858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58" r="37882"/>
          <a:stretch/>
        </p:blipFill>
        <p:spPr>
          <a:xfrm>
            <a:off x="2839487" y="1348956"/>
            <a:ext cx="2989739" cy="297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7FA14B-E9B3-6422-975B-0B58CBA129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2" t="11894" r="37254"/>
          <a:stretch/>
        </p:blipFill>
        <p:spPr>
          <a:xfrm>
            <a:off x="10144721" y="169726"/>
            <a:ext cx="1669608" cy="143141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66F0183-0222-2939-0785-E76FF29D0C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4" r="1"/>
          <a:stretch/>
        </p:blipFill>
        <p:spPr>
          <a:xfrm>
            <a:off x="6731001" y="1917218"/>
            <a:ext cx="2677937" cy="2333625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FD586C6-CF99-187F-411F-57573F57C96D}"/>
              </a:ext>
            </a:extLst>
          </p:cNvPr>
          <p:cNvSpPr/>
          <p:nvPr/>
        </p:nvSpPr>
        <p:spPr>
          <a:xfrm>
            <a:off x="7447085" y="25533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623B4-BA7E-A996-425F-FDED8064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637"/>
            <a:ext cx="10515600" cy="700579"/>
          </a:xfrm>
        </p:spPr>
        <p:txBody>
          <a:bodyPr/>
          <a:lstStyle/>
          <a:p>
            <a:r>
              <a:rPr lang="en-US" dirty="0"/>
              <a:t>Anterior temporal lobe (ATL)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8BE630E-D643-A928-44FF-377799D34EBE}"/>
              </a:ext>
            </a:extLst>
          </p:cNvPr>
          <p:cNvSpPr/>
          <p:nvPr/>
        </p:nvSpPr>
        <p:spPr>
          <a:xfrm>
            <a:off x="6805917" y="318459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A8D8D8-7E54-9752-C2BD-5EF4ACBF7ABD}"/>
              </a:ext>
            </a:extLst>
          </p:cNvPr>
          <p:cNvSpPr/>
          <p:nvPr/>
        </p:nvSpPr>
        <p:spPr>
          <a:xfrm>
            <a:off x="7546882" y="342412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A9F995-D922-9EB1-27D5-65D4CBB6292E}"/>
              </a:ext>
            </a:extLst>
          </p:cNvPr>
          <p:cNvCxnSpPr>
            <a:cxnSpLocks/>
          </p:cNvCxnSpPr>
          <p:nvPr/>
        </p:nvCxnSpPr>
        <p:spPr>
          <a:xfrm flipH="1" flipV="1">
            <a:off x="6993633" y="3424125"/>
            <a:ext cx="1451728" cy="581954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51EEDC7-7102-FAB8-370B-253E6BBB87AA}"/>
              </a:ext>
            </a:extLst>
          </p:cNvPr>
          <p:cNvCxnSpPr>
            <a:cxnSpLocks/>
          </p:cNvCxnSpPr>
          <p:nvPr/>
        </p:nvCxnSpPr>
        <p:spPr>
          <a:xfrm flipH="1" flipV="1">
            <a:off x="7707617" y="3579832"/>
            <a:ext cx="795706" cy="33840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06BF6BA-BFD8-3061-1B0A-03AE799EAB73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F1BDB2E-1244-8DC2-41B0-645A3657D4BF}"/>
              </a:ext>
            </a:extLst>
          </p:cNvPr>
          <p:cNvSpPr/>
          <p:nvPr/>
        </p:nvSpPr>
        <p:spPr>
          <a:xfrm>
            <a:off x="7316165" y="2460375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3A6F86-1CD5-16B0-CF6F-9215CD3EFED4}"/>
              </a:ext>
            </a:extLst>
          </p:cNvPr>
          <p:cNvSpPr txBox="1"/>
          <p:nvPr/>
        </p:nvSpPr>
        <p:spPr>
          <a:xfrm rot="815892">
            <a:off x="7509836" y="233315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68B0BB-6A1C-2CEE-D3A1-2F209FE6C0AC}"/>
              </a:ext>
            </a:extLst>
          </p:cNvPr>
          <p:cNvSpPr txBox="1"/>
          <p:nvPr/>
        </p:nvSpPr>
        <p:spPr>
          <a:xfrm rot="1113827">
            <a:off x="6828225" y="3836479"/>
            <a:ext cx="16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4EB335-5CD1-8668-616E-4EE90DC17088}"/>
              </a:ext>
            </a:extLst>
          </p:cNvPr>
          <p:cNvSpPr txBox="1"/>
          <p:nvPr/>
        </p:nvSpPr>
        <p:spPr>
          <a:xfrm>
            <a:off x="6930391" y="133695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4C8293-A8AC-C4F0-0DCD-20E4E48BA891}"/>
              </a:ext>
            </a:extLst>
          </p:cNvPr>
          <p:cNvSpPr txBox="1"/>
          <p:nvPr/>
        </p:nvSpPr>
        <p:spPr>
          <a:xfrm>
            <a:off x="4871714" y="1284032"/>
            <a:ext cx="10855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17981A-F5F3-E99B-0955-BD5BA78D71E6}"/>
              </a:ext>
            </a:extLst>
          </p:cNvPr>
          <p:cNvSpPr txBox="1"/>
          <p:nvPr/>
        </p:nvSpPr>
        <p:spPr>
          <a:xfrm>
            <a:off x="7491058" y="34571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55E460-7DB3-9C09-59FF-D2F3A74B8F0B}"/>
              </a:ext>
            </a:extLst>
          </p:cNvPr>
          <p:cNvSpPr txBox="1"/>
          <p:nvPr/>
        </p:nvSpPr>
        <p:spPr>
          <a:xfrm>
            <a:off x="6745860" y="32301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C2366D-66A9-DC28-99F6-CB77354A8CE0}"/>
              </a:ext>
            </a:extLst>
          </p:cNvPr>
          <p:cNvSpPr txBox="1"/>
          <p:nvPr/>
        </p:nvSpPr>
        <p:spPr>
          <a:xfrm>
            <a:off x="10890043" y="1306577"/>
            <a:ext cx="97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 t-tests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6E81B-F641-884D-DBD8-51E289171016}"/>
              </a:ext>
            </a:extLst>
          </p:cNvPr>
          <p:cNvSpPr txBox="1"/>
          <p:nvPr/>
        </p:nvSpPr>
        <p:spPr>
          <a:xfrm>
            <a:off x="7290813" y="2493392"/>
            <a:ext cx="405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F68237-B46F-6EE7-AF54-51B7C7D8E2C4}"/>
              </a:ext>
            </a:extLst>
          </p:cNvPr>
          <p:cNvCxnSpPr>
            <a:cxnSpLocks/>
          </p:cNvCxnSpPr>
          <p:nvPr/>
        </p:nvCxnSpPr>
        <p:spPr>
          <a:xfrm flipH="1">
            <a:off x="8556825" y="3011168"/>
            <a:ext cx="319230" cy="92095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4DFB836D-8443-4460-E82D-CDD9EDC06B96}"/>
              </a:ext>
            </a:extLst>
          </p:cNvPr>
          <p:cNvSpPr/>
          <p:nvPr/>
        </p:nvSpPr>
        <p:spPr>
          <a:xfrm>
            <a:off x="8732213" y="2826882"/>
            <a:ext cx="338667" cy="3386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B792F1-4369-080B-2B70-B004AD6E5D66}"/>
              </a:ext>
            </a:extLst>
          </p:cNvPr>
          <p:cNvSpPr txBox="1"/>
          <p:nvPr/>
        </p:nvSpPr>
        <p:spPr>
          <a:xfrm>
            <a:off x="8657936" y="28624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3819EFA-D5EF-2117-0504-B3AF83790E5D}"/>
              </a:ext>
            </a:extLst>
          </p:cNvPr>
          <p:cNvSpPr/>
          <p:nvPr/>
        </p:nvSpPr>
        <p:spPr>
          <a:xfrm>
            <a:off x="8369771" y="376279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5BEC4-4565-816A-E7B9-EFABE3D6E9FC}"/>
              </a:ext>
            </a:extLst>
          </p:cNvPr>
          <p:cNvSpPr txBox="1"/>
          <p:nvPr/>
        </p:nvSpPr>
        <p:spPr>
          <a:xfrm>
            <a:off x="8327461" y="37938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D43E0FC-F21E-300D-FC9E-5EE7CEC37A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32" y="1807149"/>
            <a:ext cx="2743200" cy="2286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AFFEC89-C9E0-5E87-1542-F83411674E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32" y="4437720"/>
            <a:ext cx="2743200" cy="2286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9DB4725-C862-11D8-EDDB-C3602BCB4F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2881" y="4437720"/>
            <a:ext cx="2743200" cy="2286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9F8BA83-0AEC-6AC2-9FFF-380824F883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8566" y="1790216"/>
            <a:ext cx="2743200" cy="2286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5B3A941-80DD-4212-5063-45A89F1D27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8566" y="4437720"/>
            <a:ext cx="2743200" cy="2286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DA5A50A-AA21-B1A0-4BFD-A73CA40F6B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0150" y="4437720"/>
            <a:ext cx="2743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3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SchemeRep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January 15, 2024</a:t>
            </a:r>
          </a:p>
        </p:txBody>
      </p:sp>
    </p:spTree>
    <p:extLst>
      <p:ext uri="{BB962C8B-B14F-4D97-AF65-F5344CB8AC3E}">
        <p14:creationId xmlns:p14="http://schemas.microsoft.com/office/powerpoint/2010/main" val="1563550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FF79-E745-BDDF-AAA7-A601EB6C4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A09E1-B69F-3AE4-7ACE-58A5EF25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Older adults represent schemas more strongly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 OA, congruency is processed by separate ventral and dorsal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YA-OA differences in connectivity are more larger when processing congruent information</a:t>
            </a:r>
          </a:p>
          <a:p>
            <a:pPr lvl="1"/>
            <a:r>
              <a:rPr lang="en-US" dirty="0"/>
              <a:t>The effect of aging is greatest when applying schemas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831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0528-2F65-BCB9-401C-82F76D9A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2" y="74082"/>
            <a:ext cx="10515600" cy="1325563"/>
          </a:xfrm>
        </p:spPr>
        <p:txBody>
          <a:bodyPr/>
          <a:lstStyle/>
          <a:p>
            <a:r>
              <a:rPr lang="en-US" dirty="0"/>
              <a:t>Scene RSA: Scene presentation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4804-8491-FE80-EE29-0222248B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1263" y="1433513"/>
            <a:ext cx="3810001" cy="452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Younger adults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C29EB2-1DDC-34E9-4764-6F5E0252D96F}"/>
              </a:ext>
            </a:extLst>
          </p:cNvPr>
          <p:cNvSpPr txBox="1">
            <a:spLocks/>
          </p:cNvSpPr>
          <p:nvPr/>
        </p:nvSpPr>
        <p:spPr>
          <a:xfrm>
            <a:off x="6620930" y="1433512"/>
            <a:ext cx="3810001" cy="45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Older adults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36340-DECA-F354-2BB4-9C324707D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330" y="1953683"/>
            <a:ext cx="38100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BC9E1F-B94A-7830-8A87-C738A309C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196" y="1953683"/>
            <a:ext cx="3810000" cy="4762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45CE43-3516-A883-B38F-DD8A909FC0C8}"/>
              </a:ext>
            </a:extLst>
          </p:cNvPr>
          <p:cNvSpPr txBox="1"/>
          <p:nvPr/>
        </p:nvSpPr>
        <p:spPr>
          <a:xfrm>
            <a:off x="14820" y="1939122"/>
            <a:ext cx="21526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Similar results when using the scene betas as when using the object betas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OA show significant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276385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D4239-44B3-0FD7-B95C-C256CA2A5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Modularity analysis of the congruency t-graph</a:t>
            </a:r>
            <a:endParaRPr lang="en-US" sz="1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C7AC97-3823-CE42-C815-C0391CE98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6" y="2172789"/>
            <a:ext cx="5068951" cy="201168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D3CFB9-9E58-E536-C172-4DF5DD2CC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4401642"/>
            <a:ext cx="5068950" cy="2011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AC3A46-3017-ECD0-DA5D-8EF669609A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524" y="4503691"/>
            <a:ext cx="5068948" cy="2011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2862F4-3F9B-2E21-121C-9450629F2C38}"/>
              </a:ext>
            </a:extLst>
          </p:cNvPr>
          <p:cNvSpPr txBox="1"/>
          <p:nvPr/>
        </p:nvSpPr>
        <p:spPr>
          <a:xfrm>
            <a:off x="2118398" y="1629103"/>
            <a:ext cx="2125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EF75F9-8BCA-6334-ED7B-334DEE3673AD}"/>
              </a:ext>
            </a:extLst>
          </p:cNvPr>
          <p:cNvSpPr txBox="1"/>
          <p:nvPr/>
        </p:nvSpPr>
        <p:spPr>
          <a:xfrm>
            <a:off x="8004848" y="1629103"/>
            <a:ext cx="2345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92B46A-7ABF-924F-EFF0-1A5DEFE020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524" y="2322167"/>
            <a:ext cx="5068950" cy="201168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0548B2A-6851-2BA1-E40E-85DC72954B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3238" y="1211915"/>
            <a:ext cx="1766571" cy="168618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79AB9D46-639C-A5EB-0684-3C10F2238585}"/>
              </a:ext>
            </a:extLst>
          </p:cNvPr>
          <p:cNvSpPr txBox="1"/>
          <p:nvPr/>
        </p:nvSpPr>
        <p:spPr>
          <a:xfrm rot="776336">
            <a:off x="6081529" y="1385229"/>
            <a:ext cx="11496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5A1A40-D511-6A03-CF27-6B0577BB47DB}"/>
              </a:ext>
            </a:extLst>
          </p:cNvPr>
          <p:cNvSpPr txBox="1"/>
          <p:nvPr/>
        </p:nvSpPr>
        <p:spPr>
          <a:xfrm rot="1119358">
            <a:off x="6906119" y="2259289"/>
            <a:ext cx="125867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D36E75-BC6F-CAE1-DBC7-DE07CC765C69}"/>
              </a:ext>
            </a:extLst>
          </p:cNvPr>
          <p:cNvSpPr txBox="1"/>
          <p:nvPr/>
        </p:nvSpPr>
        <p:spPr>
          <a:xfrm>
            <a:off x="411733" y="971620"/>
            <a:ext cx="4374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Aging leads to a dorsal-ventral division of congruency processing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A5FE813-3609-9CC7-222B-074A37627F4A}"/>
              </a:ext>
            </a:extLst>
          </p:cNvPr>
          <p:cNvSpPr txBox="1"/>
          <p:nvPr/>
        </p:nvSpPr>
        <p:spPr>
          <a:xfrm>
            <a:off x="164082" y="6457890"/>
            <a:ext cx="11284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connectivity within one of these “modules” does not predict subsequent memory</a:t>
            </a:r>
          </a:p>
        </p:txBody>
      </p:sp>
    </p:spTree>
    <p:extLst>
      <p:ext uri="{BB962C8B-B14F-4D97-AF65-F5344CB8AC3E}">
        <p14:creationId xmlns:p14="http://schemas.microsoft.com/office/powerpoint/2010/main" val="1910543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2759A-374F-7ECE-53BB-389F54C9E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230" y="42861"/>
            <a:ext cx="10515600" cy="1325563"/>
          </a:xfrm>
        </p:spPr>
        <p:txBody>
          <a:bodyPr/>
          <a:lstStyle/>
          <a:p>
            <a:r>
              <a:rPr lang="en-US" dirty="0"/>
              <a:t>Main effect of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C9692-CC97-CEA1-2B84-FDC0D2F4A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86" y="1253331"/>
            <a:ext cx="6419850" cy="4351338"/>
          </a:xfrm>
        </p:spPr>
        <p:txBody>
          <a:bodyPr/>
          <a:lstStyle/>
          <a:p>
            <a:r>
              <a:rPr lang="en-US" dirty="0"/>
              <a:t>Positive (bright color) = higher in YA</a:t>
            </a:r>
          </a:p>
          <a:p>
            <a:r>
              <a:rPr lang="en-US" dirty="0"/>
              <a:t>Negative (dark) = higher in OA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6D15E5-F219-F59E-6731-114862066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992" y="2328861"/>
            <a:ext cx="5524322" cy="1925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4EE8BF-6BD4-84C2-226F-AE54CF1F53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12" y="2328861"/>
            <a:ext cx="5524322" cy="19252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BB3754-6BE3-6CDF-71A0-E5D1A6CD3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587" y="4423262"/>
            <a:ext cx="2743200" cy="22860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85FD8D86-1F04-6890-1113-FA00722FE8EB}"/>
              </a:ext>
            </a:extLst>
          </p:cNvPr>
          <p:cNvSpPr/>
          <p:nvPr/>
        </p:nvSpPr>
        <p:spPr>
          <a:xfrm rot="12576151">
            <a:off x="5068999" y="5629710"/>
            <a:ext cx="910028" cy="252181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0A19FC-7AA6-5339-4BD2-A350062314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954" y="4423262"/>
            <a:ext cx="2743200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1BBA9A-A991-0736-35A1-B42E1C8BE6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3303" y="4423262"/>
            <a:ext cx="2743200" cy="228600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6D7D8269-44C7-7B61-A103-F60E7A13A713}"/>
              </a:ext>
            </a:extLst>
          </p:cNvPr>
          <p:cNvSpPr/>
          <p:nvPr/>
        </p:nvSpPr>
        <p:spPr>
          <a:xfrm rot="8383476">
            <a:off x="8072022" y="5812097"/>
            <a:ext cx="910028" cy="252181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4431441-98E3-19A0-BA7E-937A507E2EEE}"/>
              </a:ext>
            </a:extLst>
          </p:cNvPr>
          <p:cNvSpPr/>
          <p:nvPr/>
        </p:nvSpPr>
        <p:spPr>
          <a:xfrm rot="9579896">
            <a:off x="10799204" y="5906063"/>
            <a:ext cx="910028" cy="252181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596122-F42B-111C-3C0C-30DFD11985BE}"/>
              </a:ext>
            </a:extLst>
          </p:cNvPr>
          <p:cNvSpPr txBox="1">
            <a:spLocks/>
          </p:cNvSpPr>
          <p:nvPr/>
        </p:nvSpPr>
        <p:spPr>
          <a:xfrm>
            <a:off x="81859" y="4429660"/>
            <a:ext cx="3436495" cy="13103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50"/>
                </a:solidFill>
              </a:rPr>
              <a:t>Incongruency leads to YA becoming more like OA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AA2F191-3132-FB7F-35CB-8BD852BBB389}"/>
              </a:ext>
            </a:extLst>
          </p:cNvPr>
          <p:cNvSpPr txBox="1">
            <a:spLocks/>
          </p:cNvSpPr>
          <p:nvPr/>
        </p:nvSpPr>
        <p:spPr>
          <a:xfrm>
            <a:off x="81859" y="5704172"/>
            <a:ext cx="3156863" cy="1310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Maybe could look at a contrast with </a:t>
            </a:r>
            <a:r>
              <a:rPr lang="en-US" sz="1800" dirty="0" err="1"/>
              <a:t>rs</a:t>
            </a:r>
            <a:r>
              <a:rPr lang="en-US" sz="1800" dirty="0"/>
              <a:t>-fMRI to establish that these are task-related differences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D6A78D-C59F-91CC-C0D3-B6F2C2EA5C77}"/>
              </a:ext>
            </a:extLst>
          </p:cNvPr>
          <p:cNvSpPr/>
          <p:nvPr/>
        </p:nvSpPr>
        <p:spPr>
          <a:xfrm>
            <a:off x="2628900" y="2891288"/>
            <a:ext cx="203200" cy="203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503F46F-0A8F-B054-45F8-A532C5419244}"/>
              </a:ext>
            </a:extLst>
          </p:cNvPr>
          <p:cNvSpPr/>
          <p:nvPr/>
        </p:nvSpPr>
        <p:spPr>
          <a:xfrm>
            <a:off x="8902483" y="3545561"/>
            <a:ext cx="203200" cy="203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3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D903-0E9A-FEB0-F895-7EDBF097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Tried regressing memory accuracy on scene RSA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837AE-A2A6-00ED-D96C-AC13C64AE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2775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Hit ~ IPL * MFG + LOC * ATL + (1 | subject)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Does not yield reliably significant results</a:t>
            </a:r>
          </a:p>
          <a:p>
            <a:pPr lvl="1"/>
            <a:r>
              <a:rPr lang="en-US" dirty="0"/>
              <a:t>I tried switching around the dependent variable (visual vs. conceptual hit) and the terms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693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7746-94AC-C2D8-B0B3-31C3816A6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CF553-C0CD-47A6-562E-1E421B020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OA data collection isn’t done?</a:t>
            </a:r>
          </a:p>
        </p:txBody>
      </p:sp>
    </p:spTree>
    <p:extLst>
      <p:ext uri="{BB962C8B-B14F-4D97-AF65-F5344CB8AC3E}">
        <p14:creationId xmlns:p14="http://schemas.microsoft.com/office/powerpoint/2010/main" val="2078105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Ruth K. Broad fellowship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998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DDE46-CBF8-0812-4449-D8922D02C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en-US" dirty="0"/>
              <a:t>Draft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18CE0-3525-3060-299D-3084B4451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091"/>
            <a:ext cx="10515600" cy="542078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proposal’s theme:</a:t>
            </a:r>
          </a:p>
          <a:p>
            <a:pPr lvl="1"/>
            <a:r>
              <a:rPr lang="en-US" dirty="0"/>
              <a:t>Studying stimulus representation helps bridge the gap from low-level neurobiology to cognitive impairment in AD</a:t>
            </a:r>
          </a:p>
          <a:p>
            <a:pPr lvl="1"/>
            <a:r>
              <a:rPr lang="en-US" dirty="0"/>
              <a:t>Argues that we are studying aspects of AD that are distinctly human</a:t>
            </a:r>
          </a:p>
          <a:p>
            <a:pPr lvl="2"/>
            <a:r>
              <a:rPr lang="en-US" dirty="0"/>
              <a:t>Processing abstract information + integrating information into semantic networks</a:t>
            </a:r>
          </a:p>
          <a:p>
            <a:pPr lvl="1"/>
            <a:r>
              <a:rPr lang="en-US" dirty="0"/>
              <a:t>Tries to sell the idea that fMRI research is useful, even for people primarily focused on animal or cellular neurobiology</a:t>
            </a:r>
          </a:p>
          <a:p>
            <a:r>
              <a:rPr lang="en-US" dirty="0"/>
              <a:t>Three specific aims: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Analyze data from </a:t>
            </a:r>
            <a:r>
              <a:rPr lang="en-US" dirty="0" err="1"/>
              <a:t>SchemeRep</a:t>
            </a:r>
            <a:endParaRPr lang="en-US" dirty="0"/>
          </a:p>
          <a:p>
            <a:pPr lvl="2"/>
            <a:r>
              <a:rPr lang="en-US" dirty="0"/>
              <a:t>MCI participants are called “pre-AD”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Conduct new study</a:t>
            </a:r>
          </a:p>
          <a:p>
            <a:pPr lvl="2"/>
            <a:r>
              <a:rPr lang="en-US" dirty="0"/>
              <a:t>On relational memory using some type of analogy-design to study the “representation of relations”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Advance methodology</a:t>
            </a:r>
          </a:p>
          <a:p>
            <a:pPr lvl="2"/>
            <a:r>
              <a:rPr lang="en-US" dirty="0"/>
              <a:t> fMRI research aging and AD is often difficult because individual differences are often subtle (less statistical power than dissociations between task conditions)</a:t>
            </a:r>
          </a:p>
          <a:p>
            <a:pPr lvl="2"/>
            <a:r>
              <a:rPr lang="en-US" dirty="0"/>
              <a:t>In pursuing the first two aims, we expect new methodological innovations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6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SchemeRep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January 26, 2024</a:t>
            </a:r>
          </a:p>
        </p:txBody>
      </p:sp>
    </p:spTree>
    <p:extLst>
      <p:ext uri="{BB962C8B-B14F-4D97-AF65-F5344CB8AC3E}">
        <p14:creationId xmlns:p14="http://schemas.microsoft.com/office/powerpoint/2010/main" val="3895651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64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Behavioral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355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C7CBD-7B97-53AC-AD7A-46AED94CF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Behavioral: Memory accuracy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3D94F8-1233-8452-666B-29E6B57B1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133" y="3884348"/>
            <a:ext cx="3657600" cy="2743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FD4EBF-6C93-6FA0-1446-4DAD38AA0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133" y="1233356"/>
            <a:ext cx="3657600" cy="274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40D490-109F-F170-96CB-1DDFF6485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267" y="3884348"/>
            <a:ext cx="3657600" cy="2743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89E17F-5A3B-0B58-FC62-DEDD6F9EA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598" y="3884348"/>
            <a:ext cx="3657600" cy="2743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1FD99E-E35A-8ECE-5715-0332384CE8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598" y="1141148"/>
            <a:ext cx="3657600" cy="2743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4CEA59-5DAD-A27C-D465-5888A961E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267" y="1141148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124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95709-855E-5155-86AF-9868209B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Behavioral: Congruency judgment 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09F8F-9EBD-7457-D8A0-2550DAF01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73642"/>
          </a:xfrm>
        </p:spPr>
        <p:txBody>
          <a:bodyPr/>
          <a:lstStyle/>
          <a:p>
            <a:r>
              <a:rPr lang="en-US" dirty="0"/>
              <a:t>OA are uniformly slower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875386-893E-A337-3609-528CF2668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877609"/>
            <a:ext cx="48768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D4AFAE-E49C-026E-8E64-23D225004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852209"/>
            <a:ext cx="4876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40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Connectivity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3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59D14-3A4F-2A5F-FF2E-C609ECB2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7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A4979F-2B54-3FDD-BC03-BDF42D204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65" y="2076522"/>
            <a:ext cx="5760170" cy="2286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6DA41F-6231-4856-8558-D0ABE55648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65" y="4362520"/>
            <a:ext cx="5760170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631687-3F54-9918-D8E9-D7555243A7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534" y="2076522"/>
            <a:ext cx="5760170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8C1338-AF69-0B9E-7D78-9D41DC4298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534" y="4362520"/>
            <a:ext cx="5760170" cy="2286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333D3B-C34B-B024-C330-A8A464513D8B}"/>
              </a:ext>
            </a:extLst>
          </p:cNvPr>
          <p:cNvSpPr txBox="1"/>
          <p:nvPr/>
        </p:nvSpPr>
        <p:spPr>
          <a:xfrm>
            <a:off x="2295260" y="1614857"/>
            <a:ext cx="2358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Congruent (OA)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05B2A3-9433-DFA8-7A64-975480A97D97}"/>
              </a:ext>
            </a:extLst>
          </p:cNvPr>
          <p:cNvSpPr txBox="1"/>
          <p:nvPr/>
        </p:nvSpPr>
        <p:spPr>
          <a:xfrm>
            <a:off x="8099160" y="1614856"/>
            <a:ext cx="25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Incongruent (OA)</a:t>
            </a:r>
          </a:p>
        </p:txBody>
      </p:sp>
    </p:spTree>
    <p:extLst>
      <p:ext uri="{BB962C8B-B14F-4D97-AF65-F5344CB8AC3E}">
        <p14:creationId xmlns:p14="http://schemas.microsoft.com/office/powerpoint/2010/main" val="1091042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9CD36-7562-9949-3A6C-C6C411D25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Dorsal posterior-anterior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EB053A7-3E42-C168-D3C1-DD80010B3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8096"/>
            <a:ext cx="7354505" cy="2918733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EA3282-F753-1106-E542-21340C0EF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333" y="2155958"/>
            <a:ext cx="4389119" cy="365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440AC3-75C3-F7B1-E8EA-F04CC4AB6C10}"/>
              </a:ext>
            </a:extLst>
          </p:cNvPr>
          <p:cNvSpPr txBox="1"/>
          <p:nvPr/>
        </p:nvSpPr>
        <p:spPr>
          <a:xfrm>
            <a:off x="7189669" y="5921071"/>
            <a:ext cx="5002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bars reflect the average connectivity between the top list of regions x bottom list of regions </a:t>
            </a:r>
          </a:p>
        </p:txBody>
      </p:sp>
    </p:spTree>
    <p:extLst>
      <p:ext uri="{BB962C8B-B14F-4D97-AF65-F5344CB8AC3E}">
        <p14:creationId xmlns:p14="http://schemas.microsoft.com/office/powerpoint/2010/main" val="974939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EE2B-67DF-1B1C-C791-9D9CC94A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Ventral posterior-anterior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BAF6B7-EE46-94F7-7C93-9BE7F427A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92" y="2524095"/>
            <a:ext cx="6912204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BD9893-4244-D3F6-8A31-E910F0F3D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118" y="2066895"/>
            <a:ext cx="438912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621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94E6-AE5F-A5A2-EC72-05D13093F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Posterior dorsal-ventral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53747-A07D-2E6F-B223-9D7BEF7B0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90F4DA-9562-7D98-A6C6-04B0447AE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969" y="2172494"/>
            <a:ext cx="4389120" cy="3657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8B47D3-B8DC-8EFA-98D0-271A3B9B0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5" y="2552692"/>
            <a:ext cx="691220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6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1122-A0AA-567B-8DB4-B58EE0EDE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Anterior dorsal-ventral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0DBCF-00AA-8F36-3FFA-05460A2AE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9E450F-6BBB-12F6-CA5D-117901643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581" y="2287997"/>
            <a:ext cx="4389120" cy="3657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D1B0E7-B7EF-F908-DA03-021D438BD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19" y="2629694"/>
            <a:ext cx="691220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763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D2DC-809D-3F11-76D5-D46A23FC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IPL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D04B4B3-9156-1FE2-E56F-EE115D0176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999" y="2046295"/>
            <a:ext cx="3481070" cy="435133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248A3F-2C8D-9C80-BAAF-407B973BE4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95" y="1935960"/>
            <a:ext cx="3657607" cy="45720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CFD9E1-993B-F228-D4A7-C81266557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803" y="1935960"/>
            <a:ext cx="3657607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60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RSA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571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C06-6EBA-2AE3-54B9-FF25AEFAC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RSA: scene fMRI x scene (semantic) stim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AA5401-A9BB-72A3-C129-4C98841EA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664" y="2523597"/>
            <a:ext cx="4876799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E8FC5E-106F-7935-D3ED-CB30B6F42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23597"/>
            <a:ext cx="2926080" cy="3657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F496A3-7088-11C1-41C0-B2955E563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399" y="2523597"/>
            <a:ext cx="2926080" cy="36576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C39B4D-C9EC-44E3-3AB6-A3A352C9E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3959"/>
            <a:ext cx="10515600" cy="6302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888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C06-6EBA-2AE3-54B9-FF25AEFAC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RSA: scene fMRI x scene (</a:t>
            </a:r>
            <a:r>
              <a:rPr lang="en-US" sz="4000" dirty="0">
                <a:solidFill>
                  <a:srgbClr val="FF0000"/>
                </a:solidFill>
              </a:rPr>
              <a:t>perceptual</a:t>
            </a:r>
            <a:r>
              <a:rPr lang="en-US" sz="4000" dirty="0"/>
              <a:t>) stim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7FFEFD-8904-E300-52D8-846E0957A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54" y="2116137"/>
            <a:ext cx="2926080" cy="3657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11AAA2-28BA-DD3B-3556-F48B8382E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319" y="2116137"/>
            <a:ext cx="2926080" cy="3657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7008F8-0FE4-EAA7-FB4C-06B7BB67E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535" y="2116137"/>
            <a:ext cx="4876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56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More RSA…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7052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5F785-3171-C96F-1372-840AC050E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RSA: scene fMRI x scene (</a:t>
            </a:r>
            <a:r>
              <a:rPr lang="en-US" sz="3600" dirty="0">
                <a:solidFill>
                  <a:srgbClr val="00B050"/>
                </a:solidFill>
              </a:rPr>
              <a:t>last-layer DNN</a:t>
            </a:r>
            <a:r>
              <a:rPr lang="en-US" sz="3600" dirty="0"/>
              <a:t>) stim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E2226-73F3-0FA2-0E46-E1A7C663E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2757"/>
            <a:ext cx="10515600" cy="714375"/>
          </a:xfrm>
        </p:spPr>
        <p:txBody>
          <a:bodyPr/>
          <a:lstStyle/>
          <a:p>
            <a:r>
              <a:rPr lang="en-US" dirty="0"/>
              <a:t>Not sure what’s going on here…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A53F7-DC4B-8754-5F4A-72E16482C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1" y="2489201"/>
            <a:ext cx="292608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CC67E4-1404-1C1E-17B0-945593EF2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799" y="2540000"/>
            <a:ext cx="2926080" cy="3657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8C7F73-D372-2F92-DD2E-8E40DB873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19" y="2540000"/>
            <a:ext cx="4876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631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5F785-3171-C96F-1372-840AC050E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86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RSA: scene fMRI x scene (</a:t>
            </a:r>
            <a:r>
              <a:rPr lang="en-US" sz="3600" dirty="0">
                <a:solidFill>
                  <a:srgbClr val="00B050"/>
                </a:solidFill>
              </a:rPr>
              <a:t>last-layer DNN</a:t>
            </a:r>
            <a:r>
              <a:rPr lang="en-US" sz="3600" dirty="0"/>
              <a:t>) stim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E2226-73F3-0FA2-0E46-E1A7C663E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193"/>
            <a:ext cx="10515600" cy="196903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fMRI responses are </a:t>
            </a:r>
            <a:r>
              <a:rPr lang="en-US" i="1" dirty="0"/>
              <a:t>more dissimilar </a:t>
            </a:r>
            <a:r>
              <a:rPr lang="en-US" dirty="0"/>
              <a:t>when stimuli are more similar</a:t>
            </a:r>
          </a:p>
          <a:p>
            <a:pPr lvl="1"/>
            <a:r>
              <a:rPr lang="en-US" dirty="0"/>
              <a:t>I have trouble believing that there can exist “anti-RSA” effects like this</a:t>
            </a:r>
          </a:p>
          <a:p>
            <a:r>
              <a:rPr lang="en-US" dirty="0"/>
              <a:t>It’s also hard to dismiss this as pure noise, given that it appears is fairly strong (t &lt; -3) and also in occipital areas</a:t>
            </a:r>
          </a:p>
          <a:p>
            <a:pPr lvl="1"/>
            <a:r>
              <a:rPr lang="en-US" dirty="0"/>
              <a:t>However, once in a blue moon, we will see freakishly strong patterns that are purely noise, so maybe that is just what we’re dealing with here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A53F7-DC4B-8754-5F4A-72E16482C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0" y="3329258"/>
            <a:ext cx="2700654" cy="33758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54C81B-52DF-AC09-721C-9B392258A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467" y="3240089"/>
            <a:ext cx="4682066" cy="351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255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B63B-6D85-25B9-5BEE-04533B85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RSA: </a:t>
            </a:r>
            <a:r>
              <a:rPr lang="en-US" dirty="0">
                <a:solidFill>
                  <a:srgbClr val="FF0000"/>
                </a:solidFill>
              </a:rPr>
              <a:t>object</a:t>
            </a:r>
            <a:r>
              <a:rPr lang="en-US" dirty="0"/>
              <a:t> fMRI x scene (semantic) stim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10ADC-F6AC-7B3E-593D-72E84D3EC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9E44FD-A2AC-9D2E-66B9-6689FCF77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14" y="2282296"/>
            <a:ext cx="292608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C1E50C-74B1-03AA-1853-30F2771CC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474" y="2282296"/>
            <a:ext cx="2926080" cy="365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9D2AF7-8F18-75C6-D310-DC7346D7E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434" y="2282296"/>
            <a:ext cx="4876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6650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BA79-8938-0DAA-E29D-6ACC69F76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RSA: </a:t>
            </a:r>
            <a:r>
              <a:rPr lang="en-US" sz="4000" dirty="0">
                <a:solidFill>
                  <a:srgbClr val="FF0000"/>
                </a:solidFill>
              </a:rPr>
              <a:t>object</a:t>
            </a:r>
            <a:r>
              <a:rPr lang="en-US" sz="4000" dirty="0"/>
              <a:t> fMRI x scene (</a:t>
            </a:r>
            <a:r>
              <a:rPr lang="en-US" sz="4000" dirty="0">
                <a:solidFill>
                  <a:srgbClr val="FF0000"/>
                </a:solidFill>
              </a:rPr>
              <a:t>perceptual</a:t>
            </a:r>
            <a:r>
              <a:rPr lang="en-US" sz="4000" dirty="0"/>
              <a:t>) stim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3B8A24-1F6C-65AA-02FD-CCAF46026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66" y="2921001"/>
            <a:ext cx="292608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091FDD-9C6A-09B1-578F-40A4040EB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734" y="2921001"/>
            <a:ext cx="2926080" cy="3657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65A6B6-61C8-6397-D72A-A8B96FD30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6546" y="2921001"/>
            <a:ext cx="4876800" cy="36576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5AFDC37-A134-3852-31FB-20067EA44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492"/>
            <a:ext cx="10515600" cy="4351338"/>
          </a:xfrm>
        </p:spPr>
        <p:txBody>
          <a:bodyPr/>
          <a:lstStyle/>
          <a:p>
            <a:r>
              <a:rPr lang="en-US" dirty="0"/>
              <a:t>I think these null results make sense, as participants are presumably using semantic rather than perceptual features to evaluate congruency  </a:t>
            </a:r>
          </a:p>
        </p:txBody>
      </p:sp>
    </p:spTree>
    <p:extLst>
      <p:ext uri="{BB962C8B-B14F-4D97-AF65-F5344CB8AC3E}">
        <p14:creationId xmlns:p14="http://schemas.microsoft.com/office/powerpoint/2010/main" val="15785642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B63B-6D85-25B9-5BEE-04533B85E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85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Sanity: scene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/>
              <a:t>fMRI x </a:t>
            </a:r>
            <a:r>
              <a:rPr lang="en-US" sz="4000" dirty="0">
                <a:solidFill>
                  <a:srgbClr val="FF0000"/>
                </a:solidFill>
              </a:rPr>
              <a:t>object</a:t>
            </a:r>
            <a:r>
              <a:rPr lang="en-US" sz="4000" dirty="0"/>
              <a:t> (semantic) stim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6A28CF-A8EA-1C3D-6EDD-D1F3C55A2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680" y="2765957"/>
            <a:ext cx="2926080" cy="3657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BC0953-FAAC-B243-74E7-4942A5D12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765957"/>
            <a:ext cx="2926080" cy="3657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378DB1-C911-EC90-2D0B-D5B006AF1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880" y="2765957"/>
            <a:ext cx="4876800" cy="36576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2839329-D614-BA44-074E-8D76BB271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422"/>
            <a:ext cx="10515600" cy="1044045"/>
          </a:xfrm>
          <a:solidFill>
            <a:srgbClr val="FFFF00"/>
          </a:solidFill>
        </p:spPr>
        <p:txBody>
          <a:bodyPr/>
          <a:lstStyle/>
          <a:p>
            <a:r>
              <a:rPr lang="en-US" dirty="0"/>
              <a:t>TODO: check if specific to congruent because congruent vectors are correlated between scene x object (RDM x RDM)</a:t>
            </a:r>
          </a:p>
        </p:txBody>
      </p:sp>
    </p:spTree>
    <p:extLst>
      <p:ext uri="{BB962C8B-B14F-4D97-AF65-F5344CB8AC3E}">
        <p14:creationId xmlns:p14="http://schemas.microsoft.com/office/powerpoint/2010/main" val="36044944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B63B-6D85-25B9-5BEE-04533B85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Sanity: scene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/>
              <a:t>fMRI x </a:t>
            </a:r>
            <a:r>
              <a:rPr lang="en-US" sz="4000" dirty="0">
                <a:solidFill>
                  <a:srgbClr val="FF0000"/>
                </a:solidFill>
              </a:rPr>
              <a:t>object</a:t>
            </a:r>
            <a:r>
              <a:rPr lang="en-US" sz="4000" dirty="0"/>
              <a:t> (</a:t>
            </a:r>
            <a:r>
              <a:rPr lang="en-US" sz="4000" dirty="0">
                <a:solidFill>
                  <a:srgbClr val="FF0000"/>
                </a:solidFill>
              </a:rPr>
              <a:t>perceptual</a:t>
            </a:r>
            <a:r>
              <a:rPr lang="en-US" sz="4000" dirty="0"/>
              <a:t>) stim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E767C1F-C6DC-2478-34B6-57EEA418D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589" y="2147359"/>
            <a:ext cx="2926080" cy="36576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6CD459-0513-C62C-14FD-5ECB3DCDF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534" y="2147359"/>
            <a:ext cx="2926080" cy="3657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379128-AEFA-FAFA-8729-386A12647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136" y="2147359"/>
            <a:ext cx="4876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494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BA79-8938-0DAA-E29D-6ACC69F76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RSA: </a:t>
            </a:r>
            <a:r>
              <a:rPr lang="en-US" sz="4000" dirty="0">
                <a:solidFill>
                  <a:srgbClr val="FF0000"/>
                </a:solidFill>
              </a:rPr>
              <a:t>object</a:t>
            </a:r>
            <a:r>
              <a:rPr lang="en-US" sz="4000" dirty="0"/>
              <a:t> fMRI x </a:t>
            </a:r>
            <a:r>
              <a:rPr lang="en-US" sz="4000" dirty="0">
                <a:solidFill>
                  <a:srgbClr val="FF0000"/>
                </a:solidFill>
              </a:rPr>
              <a:t>object</a:t>
            </a:r>
            <a:r>
              <a:rPr lang="en-US" sz="4000" dirty="0"/>
              <a:t> (semantic) stim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5AFDC37-A134-3852-31FB-20067EA44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492"/>
            <a:ext cx="10515600" cy="1163108"/>
          </a:xfrm>
        </p:spPr>
        <p:txBody>
          <a:bodyPr/>
          <a:lstStyle/>
          <a:p>
            <a:r>
              <a:rPr lang="en-US" dirty="0"/>
              <a:t>This is fairly orthogonal to the focus on scenes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6F24E8-4B46-C1A8-6286-46413A7B1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749286"/>
            <a:ext cx="48768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AB04A8-C23A-CC70-D926-1F069C1CD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2749286"/>
            <a:ext cx="2926080" cy="365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F58A60-C515-1978-046A-888535FB7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0" y="2749286"/>
            <a:ext cx="292608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2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BA79-8938-0DAA-E29D-6ACC69F76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RSA: </a:t>
            </a:r>
            <a:r>
              <a:rPr lang="en-US" sz="3600" dirty="0">
                <a:solidFill>
                  <a:srgbClr val="FF0000"/>
                </a:solidFill>
              </a:rPr>
              <a:t>object</a:t>
            </a:r>
            <a:r>
              <a:rPr lang="en-US" sz="3600" dirty="0"/>
              <a:t> fMRI x </a:t>
            </a:r>
            <a:r>
              <a:rPr lang="en-US" sz="3600" dirty="0">
                <a:solidFill>
                  <a:srgbClr val="FF0000"/>
                </a:solidFill>
              </a:rPr>
              <a:t>object</a:t>
            </a:r>
            <a:r>
              <a:rPr lang="en-US" sz="3600" dirty="0"/>
              <a:t> (</a:t>
            </a:r>
            <a:r>
              <a:rPr lang="en-US" sz="3600" dirty="0">
                <a:solidFill>
                  <a:srgbClr val="00B050"/>
                </a:solidFill>
              </a:rPr>
              <a:t>last-layer DNN</a:t>
            </a:r>
            <a:r>
              <a:rPr lang="en-US" sz="3600" dirty="0"/>
              <a:t>) stim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5AFDC37-A134-3852-31FB-20067EA44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492"/>
            <a:ext cx="10515600" cy="116310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A72C9-6508-FA36-57F7-7A5067EB1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66" y="2677055"/>
            <a:ext cx="2926080" cy="3657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42DEE9-1161-9AA6-1BF5-CB4DE9B33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788" y="2677055"/>
            <a:ext cx="2926080" cy="3657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E044BB-5E85-2789-9E50-F1874DDB7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812" y="2677055"/>
            <a:ext cx="4876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198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BA79-8938-0DAA-E29D-6ACC69F76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RSA: </a:t>
            </a:r>
            <a:r>
              <a:rPr lang="en-US" sz="4000" dirty="0">
                <a:solidFill>
                  <a:srgbClr val="FF0000"/>
                </a:solidFill>
              </a:rPr>
              <a:t>object</a:t>
            </a:r>
            <a:r>
              <a:rPr lang="en-US" sz="4000" dirty="0"/>
              <a:t> fMRI x </a:t>
            </a:r>
            <a:r>
              <a:rPr lang="en-US" sz="4000" dirty="0">
                <a:solidFill>
                  <a:srgbClr val="FF0000"/>
                </a:solidFill>
              </a:rPr>
              <a:t>object</a:t>
            </a:r>
            <a:r>
              <a:rPr lang="en-US" sz="4000" dirty="0"/>
              <a:t> (</a:t>
            </a:r>
            <a:r>
              <a:rPr lang="en-US" sz="4000" dirty="0">
                <a:solidFill>
                  <a:srgbClr val="FF0000"/>
                </a:solidFill>
              </a:rPr>
              <a:t>perceptual</a:t>
            </a:r>
            <a:r>
              <a:rPr lang="en-US" sz="4000" dirty="0"/>
              <a:t>) stim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5AFDC37-A134-3852-31FB-20067EA44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492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237DAE-E8C3-E6B1-FBBE-959FBC998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720" y="2172229"/>
            <a:ext cx="2926080" cy="3657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913ACA-4536-3B9A-D94F-10DF44765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73" y="2172229"/>
            <a:ext cx="2926080" cy="3657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4FF142-2533-04C9-BDA8-05E345400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153" y="2172229"/>
            <a:ext cx="4876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657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Meeting follow-up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3776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AEC73-9545-2C93-ACF6-014C6735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IRAF x IRAF predicting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33A71-8FEE-323A-E2E6-E28230A07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Hit ~ IPL * MFG + LOC * ATL + (1 | subject)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No coefficient is significant results</a:t>
            </a:r>
          </a:p>
          <a:p>
            <a:r>
              <a:rPr lang="en-US" dirty="0"/>
              <a:t>Tried a likelihood-ratio test to see whether all of the coefficients together are predictive</a:t>
            </a:r>
          </a:p>
          <a:p>
            <a:pPr lvl="1"/>
            <a:r>
              <a:rPr lang="en-US" dirty="0"/>
              <a:t>Analogous to an F-test in ANOVA;</a:t>
            </a:r>
          </a:p>
          <a:p>
            <a:pPr lvl="1"/>
            <a:r>
              <a:rPr lang="en-US" dirty="0"/>
              <a:t>It did not yield anything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350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5F4ED-A8E7-4B21-F5B4-AEF8E3347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betas vs. scene betas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7F764C-62D3-9C7D-EF10-5C80237F5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465" y="1825625"/>
            <a:ext cx="3481070" cy="4351338"/>
          </a:xfrm>
        </p:spPr>
      </p:pic>
    </p:spTree>
    <p:extLst>
      <p:ext uri="{BB962C8B-B14F-4D97-AF65-F5344CB8AC3E}">
        <p14:creationId xmlns:p14="http://schemas.microsoft.com/office/powerpoint/2010/main" val="8586275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31D9-1AF7-0036-A0DD-57045113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 x encoding item pattern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E018A-A9D0-1F3B-15F9-58F97B05A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impacted by congruency</a:t>
            </a:r>
          </a:p>
        </p:txBody>
      </p:sp>
    </p:spTree>
    <p:extLst>
      <p:ext uri="{BB962C8B-B14F-4D97-AF65-F5344CB8AC3E}">
        <p14:creationId xmlns:p14="http://schemas.microsoft.com/office/powerpoint/2010/main" val="41659135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DC3E-4E2D-F91D-8FFE-41ABECFF0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Univariate activation effects: </a:t>
            </a:r>
            <a:br>
              <a:rPr lang="en-US" sz="4000" dirty="0"/>
            </a:br>
            <a:r>
              <a:rPr lang="en-US" sz="4000" dirty="0"/>
              <a:t>Congruent vs Incongruent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238C59-2DD3-EB0F-7048-6AC67F134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328" y="2051605"/>
            <a:ext cx="3657607" cy="45720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62D0F6-202A-1D14-B9A4-6A8C5D6F58AB}"/>
              </a:ext>
            </a:extLst>
          </p:cNvPr>
          <p:cNvSpPr txBox="1"/>
          <p:nvPr/>
        </p:nvSpPr>
        <p:spPr>
          <a:xfrm>
            <a:off x="2861733" y="1589940"/>
            <a:ext cx="228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Older adults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E5895B-59EF-C371-B47B-A99CA7782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797" y="2051605"/>
            <a:ext cx="3657607" cy="45720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A31770-11FF-23A0-E43A-931C5AB58CB7}"/>
              </a:ext>
            </a:extLst>
          </p:cNvPr>
          <p:cNvSpPr txBox="1"/>
          <p:nvPr/>
        </p:nvSpPr>
        <p:spPr>
          <a:xfrm>
            <a:off x="7442200" y="1500614"/>
            <a:ext cx="228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Younger adults</a:t>
            </a:r>
          </a:p>
        </p:txBody>
      </p:sp>
    </p:spTree>
    <p:extLst>
      <p:ext uri="{BB962C8B-B14F-4D97-AF65-F5344CB8AC3E}">
        <p14:creationId xmlns:p14="http://schemas.microsoft.com/office/powerpoint/2010/main" val="40635720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DC3E-4E2D-F91D-8FFE-41ABECFF0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Activation MVPA effects: </a:t>
            </a:r>
            <a:br>
              <a:rPr lang="en-US" sz="4000" dirty="0"/>
            </a:br>
            <a:r>
              <a:rPr lang="en-US" sz="4000" dirty="0"/>
              <a:t>Congruent vs Incongruent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FDCDF0-0341-D66C-96AC-BE9CD7800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530" y="1939400"/>
            <a:ext cx="3481070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6DBE78-F019-EB75-3B2B-3C348A674D59}"/>
              </a:ext>
            </a:extLst>
          </p:cNvPr>
          <p:cNvSpPr txBox="1"/>
          <p:nvPr/>
        </p:nvSpPr>
        <p:spPr>
          <a:xfrm>
            <a:off x="2947734" y="6290738"/>
            <a:ext cx="3214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did you mean by “MVPA”?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01E429-F3CB-10A8-10EA-D1901EDB7D6A}"/>
              </a:ext>
            </a:extLst>
          </p:cNvPr>
          <p:cNvSpPr txBox="1"/>
          <p:nvPr/>
        </p:nvSpPr>
        <p:spPr>
          <a:xfrm>
            <a:off x="4107227" y="1570068"/>
            <a:ext cx="120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OA MVPA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3382E8-BAC7-176B-F336-7C86DE0BA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662" y="1939400"/>
            <a:ext cx="3657607" cy="45720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21A151-8F29-B692-D8DE-1B81BF39D1D9}"/>
              </a:ext>
            </a:extLst>
          </p:cNvPr>
          <p:cNvSpPr txBox="1"/>
          <p:nvPr/>
        </p:nvSpPr>
        <p:spPr>
          <a:xfrm>
            <a:off x="8167632" y="1570068"/>
            <a:ext cx="120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YA MVPA</a:t>
            </a:r>
          </a:p>
        </p:txBody>
      </p:sp>
    </p:spTree>
    <p:extLst>
      <p:ext uri="{BB962C8B-B14F-4D97-AF65-F5344CB8AC3E}">
        <p14:creationId xmlns:p14="http://schemas.microsoft.com/office/powerpoint/2010/main" val="2933470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B0079-376F-1854-4D28-8DF30FD71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Distinguishing congruent vs. incongruent in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BD600-DE09-EF4A-4D3E-C8510E9A2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univariate effects</a:t>
            </a:r>
          </a:p>
          <a:p>
            <a:r>
              <a:rPr lang="en-US" dirty="0"/>
              <a:t>No MVPA effects</a:t>
            </a:r>
          </a:p>
        </p:txBody>
      </p:sp>
    </p:spTree>
    <p:extLst>
      <p:ext uri="{BB962C8B-B14F-4D97-AF65-F5344CB8AC3E}">
        <p14:creationId xmlns:p14="http://schemas.microsoft.com/office/powerpoint/2010/main" val="26250736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7C9C-EA11-8806-FB78-2612F3F30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RSA of scene information from retrieval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0FDA0-C726-2094-3EA4-32EA441AC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90533" cy="4351338"/>
          </a:xfrm>
        </p:spPr>
        <p:txBody>
          <a:bodyPr/>
          <a:lstStyle/>
          <a:p>
            <a:r>
              <a:rPr lang="en-US" dirty="0"/>
              <a:t>Didn’t yield anything</a:t>
            </a:r>
          </a:p>
          <a:p>
            <a:pPr lvl="1"/>
            <a:r>
              <a:rPr lang="en-US" dirty="0"/>
              <a:t>Threshold is quite low in this picture (t = 1.65)</a:t>
            </a:r>
          </a:p>
          <a:p>
            <a:r>
              <a:rPr lang="en-US" dirty="0"/>
              <a:t>In the meeting, I was actually fairly optimistic about this one…</a:t>
            </a:r>
          </a:p>
          <a:p>
            <a:pPr lvl="1"/>
            <a:r>
              <a:rPr lang="en-US" dirty="0"/>
              <a:t>Something like this worked with </a:t>
            </a:r>
            <a:r>
              <a:rPr lang="en-US" dirty="0" err="1"/>
              <a:t>Lifu’s</a:t>
            </a:r>
            <a:r>
              <a:rPr lang="en-US" dirty="0"/>
              <a:t> data</a:t>
            </a:r>
          </a:p>
          <a:p>
            <a:r>
              <a:rPr lang="en-US" dirty="0"/>
              <a:t>Results are similar for YA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B41533-CBA4-2686-48A6-F1A7892BB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417" y="2505340"/>
            <a:ext cx="2937298" cy="36716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7BDEA4-C764-31FE-F42F-13D01537A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399" y="2505340"/>
            <a:ext cx="2734733" cy="34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08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27015</TotalTime>
  <Words>1038</Words>
  <Application>Microsoft Office PowerPoint</Application>
  <PresentationFormat>Widescreen</PresentationFormat>
  <Paragraphs>154</Paragraphs>
  <Slides>46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Courier New</vt:lpstr>
      <vt:lpstr>Wingdings</vt:lpstr>
      <vt:lpstr>Office Theme</vt:lpstr>
      <vt:lpstr>SchemeRep</vt:lpstr>
      <vt:lpstr>3-session fMRI study (SchemRep)</vt:lpstr>
      <vt:lpstr>Inferior parietal lobule (IPL)</vt:lpstr>
      <vt:lpstr>Anterior temporal lobe (ATL)</vt:lpstr>
      <vt:lpstr>SchemeRep</vt:lpstr>
      <vt:lpstr>Results</vt:lpstr>
      <vt:lpstr>Scene RSA: Scene presentation betas</vt:lpstr>
      <vt:lpstr>Modularity analysis of the congruency t-graph</vt:lpstr>
      <vt:lpstr>Main effect of age</vt:lpstr>
      <vt:lpstr>Tried regressing memory accuracy on scene RSA</vt:lpstr>
      <vt:lpstr>PowerPoint Presentation</vt:lpstr>
      <vt:lpstr>Ruth K. Broad fellowship</vt:lpstr>
      <vt:lpstr>Draft</vt:lpstr>
      <vt:lpstr>SchemeRep</vt:lpstr>
      <vt:lpstr>3-session fMRI study (SchemRep)</vt:lpstr>
      <vt:lpstr>Behavioral results</vt:lpstr>
      <vt:lpstr>Behavioral: Memory accuracy</vt:lpstr>
      <vt:lpstr>Behavioral: Congruency judgment RT</vt:lpstr>
      <vt:lpstr>Connectivity</vt:lpstr>
      <vt:lpstr>PowerPoint Presentation</vt:lpstr>
      <vt:lpstr>Dorsal posterior-anterior</vt:lpstr>
      <vt:lpstr>Ventral posterior-anterior</vt:lpstr>
      <vt:lpstr>Posterior dorsal-ventral</vt:lpstr>
      <vt:lpstr>Anterior dorsal-ventral</vt:lpstr>
      <vt:lpstr>IPL</vt:lpstr>
      <vt:lpstr>RSA</vt:lpstr>
      <vt:lpstr>RSA: scene fMRI x scene (semantic) stim</vt:lpstr>
      <vt:lpstr>RSA: scene fMRI x scene (perceptual) stim</vt:lpstr>
      <vt:lpstr>More RSA…</vt:lpstr>
      <vt:lpstr>RSA: scene fMRI x scene (last-layer DNN) stim</vt:lpstr>
      <vt:lpstr>RSA: scene fMRI x scene (last-layer DNN) stim</vt:lpstr>
      <vt:lpstr>RSA: object fMRI x scene (semantic) stim</vt:lpstr>
      <vt:lpstr>RSA: object fMRI x scene (perceptual) stim</vt:lpstr>
      <vt:lpstr>Sanity: scene fMRI x object (semantic) stim</vt:lpstr>
      <vt:lpstr>Sanity: scene fMRI x object (perceptual) stim</vt:lpstr>
      <vt:lpstr>RSA: object fMRI x object (semantic) stim</vt:lpstr>
      <vt:lpstr>RSA: object fMRI x object (last-layer DNN) stim</vt:lpstr>
      <vt:lpstr>RSA: object fMRI x object (perceptual) stim</vt:lpstr>
      <vt:lpstr>Meeting follow-up</vt:lpstr>
      <vt:lpstr>IRAF x IRAF predicting memory</vt:lpstr>
      <vt:lpstr>Object betas vs. scene betas</vt:lpstr>
      <vt:lpstr>BL x encoding item pattern similarity</vt:lpstr>
      <vt:lpstr>Univariate activation effects:  Congruent vs Incongruent</vt:lpstr>
      <vt:lpstr>Activation MVPA effects:  Congruent vs Incongruent</vt:lpstr>
      <vt:lpstr>Distinguishing congruent vs. incongruent in retrieval</vt:lpstr>
      <vt:lpstr>RSA of scene information from retrieval betas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59</cp:revision>
  <dcterms:created xsi:type="dcterms:W3CDTF">2024-01-08T13:56:24Z</dcterms:created>
  <dcterms:modified xsi:type="dcterms:W3CDTF">2024-01-28T12:06:14Z</dcterms:modified>
</cp:coreProperties>
</file>