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423" r:id="rId2"/>
    <p:sldId id="258" r:id="rId3"/>
    <p:sldId id="396" r:id="rId4"/>
    <p:sldId id="393" r:id="rId5"/>
    <p:sldId id="387" r:id="rId6"/>
    <p:sldId id="304" r:id="rId7"/>
    <p:sldId id="389" r:id="rId8"/>
    <p:sldId id="397" r:id="rId9"/>
    <p:sldId id="419" r:id="rId10"/>
    <p:sldId id="422" r:id="rId11"/>
    <p:sldId id="420" r:id="rId12"/>
    <p:sldId id="421" r:id="rId13"/>
    <p:sldId id="365" r:id="rId14"/>
    <p:sldId id="366" r:id="rId15"/>
    <p:sldId id="375" r:id="rId16"/>
    <p:sldId id="362" r:id="rId17"/>
    <p:sldId id="377" r:id="rId18"/>
    <p:sldId id="378" r:id="rId19"/>
    <p:sldId id="383" r:id="rId20"/>
    <p:sldId id="371" r:id="rId21"/>
    <p:sldId id="403" r:id="rId22"/>
    <p:sldId id="398" r:id="rId23"/>
    <p:sldId id="401" r:id="rId24"/>
    <p:sldId id="381" r:id="rId25"/>
    <p:sldId id="408" r:id="rId26"/>
    <p:sldId id="409" r:id="rId27"/>
    <p:sldId id="418" r:id="rId28"/>
    <p:sldId id="411" r:id="rId29"/>
    <p:sldId id="415" r:id="rId30"/>
    <p:sldId id="416" r:id="rId31"/>
    <p:sldId id="413" r:id="rId32"/>
    <p:sldId id="410" r:id="rId33"/>
    <p:sldId id="417" r:id="rId34"/>
    <p:sldId id="412" r:id="rId35"/>
    <p:sldId id="400" r:id="rId36"/>
    <p:sldId id="379" r:id="rId37"/>
    <p:sldId id="380" r:id="rId38"/>
    <p:sldId id="384" r:id="rId39"/>
    <p:sldId id="361" r:id="rId40"/>
    <p:sldId id="382" r:id="rId41"/>
    <p:sldId id="391" r:id="rId42"/>
    <p:sldId id="317" r:id="rId43"/>
    <p:sldId id="399" r:id="rId44"/>
    <p:sldId id="402" r:id="rId45"/>
    <p:sldId id="406" r:id="rId46"/>
    <p:sldId id="407" r:id="rId47"/>
    <p:sldId id="404" r:id="rId48"/>
    <p:sldId id="373" r:id="rId49"/>
    <p:sldId id="369" r:id="rId50"/>
    <p:sldId id="40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CE37"/>
    <a:srgbClr val="E5A901"/>
    <a:srgbClr val="21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11" autoAdjust="0"/>
    <p:restoredTop sz="89948" autoAdjust="0"/>
  </p:normalViewPr>
  <p:slideViewPr>
    <p:cSldViewPr snapToGrid="0">
      <p:cViewPr varScale="1">
        <p:scale>
          <a:sx n="60" d="100"/>
          <a:sy n="60" d="100"/>
        </p:scale>
        <p:origin x="7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55612-1E31-4949-93F8-A93C58E09E58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39E74-3B91-4B91-90E7-C792E8251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3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fin_plot_conn_matrix.py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88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40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61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3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93B7-106C-35B9-3FA1-2305F4D8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5078B-7A63-7ED3-E55E-131FB7999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1CB5C-CD2D-A4B6-763B-E3860226C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Further evidence supporting the meaningfulness of these modules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90FA3-9709-FCD0-1691-4079F4118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86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Further evidence supporting the meaningfulness of these modules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71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into the Par-ATL edge</a:t>
            </a:r>
          </a:p>
          <a:p>
            <a:endParaRPr lang="en-US" dirty="0"/>
          </a:p>
          <a:p>
            <a:r>
              <a:rPr lang="en-US" dirty="0"/>
              <a:t>Could </a:t>
            </a:r>
            <a:r>
              <a:rPr lang="en-US" dirty="0" err="1"/>
              <a:t>compsre</a:t>
            </a:r>
            <a:r>
              <a:rPr lang="en-US" dirty="0"/>
              <a:t> the scene vs object betas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matrix_mask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4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4.png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5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BAD3-80B3-8DC9-48AB-3D34F753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meeting was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50D67-E812-EFA5-9EE4-31A6CF9FD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 implemented the final (hopefully) exclusion criteria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194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2/2/2024</a:t>
            </a:r>
          </a:p>
        </p:txBody>
      </p:sp>
    </p:spTree>
    <p:extLst>
      <p:ext uri="{BB962C8B-B14F-4D97-AF65-F5344CB8AC3E}">
        <p14:creationId xmlns:p14="http://schemas.microsoft.com/office/powerpoint/2010/main" val="241044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5336-E353-DE8F-2D52-21B760ED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2BC9-D2BE-4D42-00E7-DA0C1A40E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45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human mind is continuously applying existing knowledge to incoming information</a:t>
            </a:r>
          </a:p>
          <a:p>
            <a:pPr lvl="1"/>
            <a:r>
              <a:rPr lang="en-US" dirty="0"/>
              <a:t>At the most basic level, pattern-detection is an example of this, as it is the process of evaluating whether stimuli are congruent with schemas</a:t>
            </a:r>
          </a:p>
          <a:p>
            <a:pPr lvl="1"/>
            <a:r>
              <a:rPr lang="en-US" dirty="0"/>
              <a:t>Evaluating matches</a:t>
            </a:r>
          </a:p>
          <a:p>
            <a:r>
              <a:rPr lang="en-US" dirty="0"/>
              <a:t>This topic is seeing ever-growing interest</a:t>
            </a:r>
          </a:p>
          <a:p>
            <a:pPr lvl="1"/>
            <a:r>
              <a:rPr lang="en-US" dirty="0"/>
              <a:t>Consider the rising popularity of neural and cognitive theories based on prediction errors</a:t>
            </a:r>
          </a:p>
          <a:p>
            <a:r>
              <a:rPr lang="en-US" dirty="0"/>
              <a:t>Yet there are limitations with existing research</a:t>
            </a:r>
          </a:p>
          <a:p>
            <a:pPr lvl="1"/>
            <a:r>
              <a:rPr lang="en-US" dirty="0"/>
              <a:t>Studies typically focus on small subsets of the brain (e.g., single regions), even though congruency-assessment is a whole-brain phenomena </a:t>
            </a:r>
          </a:p>
          <a:p>
            <a:pPr lvl="1"/>
            <a:r>
              <a:rPr lang="en-US" dirty="0"/>
              <a:t>Relatedly, most studies focus on “basic” forms of congruency (i.e., prediction error in decision-making) rather than the type of semantic-congruency assessment, which makes us human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3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014D-A4CB-5E96-4C55-3AFAFDCE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71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C642-6840-9F6A-1D88-B24082E9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65712"/>
          </a:xfrm>
        </p:spPr>
        <p:txBody>
          <a:bodyPr>
            <a:normAutofit/>
          </a:bodyPr>
          <a:lstStyle/>
          <a:p>
            <a:r>
              <a:rPr lang="en-US" dirty="0"/>
              <a:t>This topic is of particular interest to aging research</a:t>
            </a:r>
          </a:p>
          <a:p>
            <a:r>
              <a:rPr lang="en-US" dirty="0"/>
              <a:t>Older adults show greater use of prior knowledge when processing incoming stimuli</a:t>
            </a:r>
          </a:p>
          <a:p>
            <a:pPr lvl="1"/>
            <a:r>
              <a:rPr lang="en-US" dirty="0"/>
              <a:t>This is a defining characteristic of aging</a:t>
            </a:r>
          </a:p>
          <a:p>
            <a:pPr lvl="1"/>
            <a:r>
              <a:rPr lang="en-US" i="1" dirty="0"/>
              <a:t>Behavioral studies </a:t>
            </a:r>
            <a:r>
              <a:rPr lang="en-US" dirty="0"/>
              <a:t>have demonstrated several downstream effects (e.g., on memory)</a:t>
            </a:r>
          </a:p>
          <a:p>
            <a:r>
              <a:rPr lang="en-US" dirty="0"/>
              <a:t>However, the neural correlates of how older adults apply their prior semantic knowledge (schemas) to incoming information remains mostly unclear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55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69E7-2304-2FEE-DBEC-3E79ECB3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/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40BB6-5553-B037-7290-73B609497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do individuals (YA &amp; OA) process congruency?</a:t>
            </a:r>
          </a:p>
          <a:p>
            <a:pPr lvl="1"/>
            <a:r>
              <a:rPr lang="en-US" dirty="0"/>
              <a:t>Searching for brain-wide phenomena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 OAs process congruency differently?</a:t>
            </a:r>
          </a:p>
          <a:p>
            <a:pPr lvl="1"/>
            <a:r>
              <a:rPr lang="en-US" dirty="0"/>
              <a:t>By default, are OAs always in a high “processing congruency” state?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are the neural correlates of congruency processing linked to other aspects of cognition?</a:t>
            </a:r>
          </a:p>
          <a:p>
            <a:pPr lvl="1"/>
            <a:r>
              <a:rPr lang="en-US" dirty="0"/>
              <a:t>Stimulus representation</a:t>
            </a:r>
          </a:p>
          <a:p>
            <a:pPr lvl="1"/>
            <a:r>
              <a:rPr lang="en-US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31241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Identifying the Ven-Dor 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How do YA and OA process congruency?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91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CDDB-3DC3-BE36-1F52-051E4C70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EFE2E-8DC6-1A31-3CDE-1455F0DCC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725615" cy="523135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Congruent vs. Incongruent comparison reveals the Ven &amp; </a:t>
            </a:r>
            <a:r>
              <a:rPr lang="en-US" dirty="0" err="1"/>
              <a:t>Dor</a:t>
            </a:r>
            <a:r>
              <a:rPr lang="en-US" dirty="0"/>
              <a:t> modules</a:t>
            </a:r>
          </a:p>
          <a:p>
            <a:pPr lvl="1"/>
            <a:r>
              <a:rPr lang="en-US" dirty="0"/>
              <a:t>Congruent = heightened within</a:t>
            </a:r>
          </a:p>
          <a:p>
            <a:pPr lvl="1"/>
            <a:r>
              <a:rPr lang="en-US" dirty="0"/>
              <a:t>Incongruent = heightened between</a:t>
            </a:r>
          </a:p>
          <a:p>
            <a:pPr lvl="1"/>
            <a:r>
              <a:rPr lang="en-US" dirty="0"/>
              <a:t>(Could also report activation-related results on univariate/MVPA/RSA/etc.)</a:t>
            </a:r>
          </a:p>
          <a:p>
            <a:r>
              <a:rPr lang="en-US" dirty="0"/>
              <a:t>Profiling Ven &amp; </a:t>
            </a:r>
            <a:r>
              <a:rPr lang="en-US" dirty="0" err="1"/>
              <a:t>Dor</a:t>
            </a:r>
            <a:r>
              <a:rPr lang="en-US" dirty="0"/>
              <a:t> with dynamic functional connectivity</a:t>
            </a:r>
          </a:p>
          <a:p>
            <a:pPr lvl="1"/>
            <a:r>
              <a:rPr lang="en-US" dirty="0"/>
              <a:t>Ven &amp; </a:t>
            </a:r>
            <a:r>
              <a:rPr lang="en-US" dirty="0" err="1"/>
              <a:t>Dor</a:t>
            </a:r>
            <a:r>
              <a:rPr lang="en-US" dirty="0"/>
              <a:t> should be seen as fluctuating with Ant &amp; Pos</a:t>
            </a:r>
          </a:p>
          <a:p>
            <a:pPr lvl="2"/>
            <a:r>
              <a:rPr lang="en-US" dirty="0"/>
              <a:t>Alternating between a “Ven-</a:t>
            </a:r>
            <a:r>
              <a:rPr lang="en-US" dirty="0" err="1"/>
              <a:t>Dor</a:t>
            </a:r>
            <a:r>
              <a:rPr lang="en-US" dirty="0"/>
              <a:t> state” and an “Ant-Pos” state</a:t>
            </a:r>
          </a:p>
          <a:p>
            <a:pPr lvl="1"/>
            <a:r>
              <a:rPr lang="en-US" dirty="0"/>
              <a:t>Congruency not only heightens within-connectivity but also increases the trial-wise “synchrony”</a:t>
            </a:r>
          </a:p>
          <a:p>
            <a:pPr lvl="1"/>
            <a:r>
              <a:rPr lang="en-US" dirty="0"/>
              <a:t>These modules also appear in the baseline or retrieval tasks</a:t>
            </a:r>
          </a:p>
          <a:p>
            <a:pPr lvl="1"/>
            <a:r>
              <a:rPr lang="en-US" dirty="0"/>
              <a:t>Ven acts more like a single bilateral module whereas </a:t>
            </a:r>
            <a:r>
              <a:rPr lang="en-US" dirty="0" err="1"/>
              <a:t>Dor</a:t>
            </a:r>
            <a:r>
              <a:rPr lang="en-US" dirty="0"/>
              <a:t> acts as two separate but parallel ones</a:t>
            </a:r>
          </a:p>
          <a:p>
            <a:pPr lvl="1"/>
            <a:r>
              <a:rPr lang="en-US" dirty="0"/>
              <a:t>I think that if I submitted the dynamic FC data to a modularity, it would reproduce the Ven-</a:t>
            </a:r>
            <a:r>
              <a:rPr lang="en-US" dirty="0" err="1"/>
              <a:t>Dor</a:t>
            </a:r>
            <a:r>
              <a:rPr lang="en-US" dirty="0"/>
              <a:t> modules</a:t>
            </a:r>
          </a:p>
          <a:p>
            <a:pPr lvl="1"/>
            <a:r>
              <a:rPr lang="en-US" dirty="0"/>
              <a:t>Overall, these results provide strong evidence that Ven, </a:t>
            </a:r>
            <a:r>
              <a:rPr lang="en-US" dirty="0" err="1"/>
              <a:t>Dor</a:t>
            </a:r>
            <a:r>
              <a:rPr lang="en-US" dirty="0"/>
              <a:t>, Ant, &amp; Pos are meaningful divisions of the brain. Also gives credence to the four quadrants idea</a:t>
            </a:r>
          </a:p>
          <a:p>
            <a:r>
              <a:rPr lang="en-US" dirty="0"/>
              <a:t>Investigating the behavioral correlates of Ven &amp; </a:t>
            </a:r>
            <a:r>
              <a:rPr lang="en-US" dirty="0" err="1"/>
              <a:t>Dor</a:t>
            </a:r>
            <a:endParaRPr lang="en-US" dirty="0"/>
          </a:p>
          <a:p>
            <a:pPr lvl="1"/>
            <a:r>
              <a:rPr lang="en-US" dirty="0"/>
              <a:t>Ven is linked to stimulus representation</a:t>
            </a:r>
          </a:p>
          <a:p>
            <a:pPr lvl="1"/>
            <a:r>
              <a:rPr lang="en-US" dirty="0" err="1"/>
              <a:t>Dor</a:t>
            </a:r>
            <a:r>
              <a:rPr lang="en-US" dirty="0"/>
              <a:t> is linked to memory retrieval</a:t>
            </a:r>
          </a:p>
          <a:p>
            <a:pPr lvl="1"/>
            <a:r>
              <a:rPr lang="en-US" dirty="0"/>
              <a:t>These results are a bit more exploratory/based on weaker evidence</a:t>
            </a:r>
          </a:p>
          <a:p>
            <a:r>
              <a:rPr lang="en-US" dirty="0"/>
              <a:t>Aging:</a:t>
            </a:r>
          </a:p>
          <a:p>
            <a:pPr lvl="1"/>
            <a:r>
              <a:rPr lang="en-US" dirty="0"/>
              <a:t>Modulates these different effects at both the level of static (average) connectivity and dynamic connectivity</a:t>
            </a:r>
          </a:p>
          <a:p>
            <a:pPr lvl="1"/>
            <a:r>
              <a:rPr lang="en-US" dirty="0"/>
              <a:t>Older adults tend to be in a Ven-</a:t>
            </a:r>
            <a:r>
              <a:rPr lang="en-US" dirty="0" err="1"/>
              <a:t>Dor</a:t>
            </a:r>
            <a:r>
              <a:rPr lang="en-US" dirty="0"/>
              <a:t> state more</a:t>
            </a:r>
          </a:p>
        </p:txBody>
      </p:sp>
    </p:spTree>
    <p:extLst>
      <p:ext uri="{BB962C8B-B14F-4D97-AF65-F5344CB8AC3E}">
        <p14:creationId xmlns:p14="http://schemas.microsoft.com/office/powerpoint/2010/main" val="4033531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27B5-1BD4-34E7-78B8-C98B25195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frame this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A8A96-5F2E-B24B-4586-DBD5C5A38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We started looking at congruency vs. incongruency and followed a Ven-</a:t>
            </a:r>
            <a:r>
              <a:rPr lang="en-US" dirty="0" err="1"/>
              <a:t>Dor</a:t>
            </a:r>
            <a:r>
              <a:rPr lang="en-US" dirty="0"/>
              <a:t> rabbit hole </a:t>
            </a:r>
          </a:p>
          <a:p>
            <a:pPr lvl="1"/>
            <a:r>
              <a:rPr lang="en-US" dirty="0"/>
              <a:t>Relatedly: We know that congruency/incongruency has brain-wide effects, and so we searched for wide-scale phenomena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investigated the brain in terms of four (anatomical) quadrants</a:t>
            </a:r>
          </a:p>
          <a:p>
            <a:pPr lvl="1"/>
            <a:r>
              <a:rPr lang="en-US" dirty="0"/>
              <a:t>Yielded interesting patterns related to dynamic FC, which are consistent across tasks</a:t>
            </a:r>
          </a:p>
          <a:p>
            <a:pPr lvl="1"/>
            <a:r>
              <a:rPr lang="en-US" dirty="0"/>
              <a:t>The networks were linked to schema processing, stimulus representation, and memory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Aging: We investigated how older vs. younger adults use schemas, which we expected to have brain-wide effects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528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92CD-4E51-4351-B596-29D0369DA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Non-aging paper titles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91E2-CB6C-BAB0-D670-3C38D4B80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“Investigation of Schema Congruency Reveals Dissociable Ventral-Dorsal Functional Modules”</a:t>
            </a:r>
          </a:p>
        </p:txBody>
      </p:sp>
    </p:spTree>
    <p:extLst>
      <p:ext uri="{BB962C8B-B14F-4D97-AF65-F5344CB8AC3E}">
        <p14:creationId xmlns:p14="http://schemas.microsoft.com/office/powerpoint/2010/main" val="955794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68CD-1375-20C3-63AF-001E6C2C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683B0-576A-1084-378A-7999B4E01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part of me wants to investigate Ven-</a:t>
            </a:r>
            <a:r>
              <a:rPr lang="en-US" dirty="0" err="1"/>
              <a:t>Dor</a:t>
            </a:r>
            <a:r>
              <a:rPr lang="en-US" dirty="0"/>
              <a:t> across different tasks</a:t>
            </a:r>
          </a:p>
          <a:p>
            <a:r>
              <a:rPr lang="en-US" dirty="0"/>
              <a:t>However, a larger part of me wants to submit a paper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882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D25B5D9-1445-EC1F-4285-A75434A50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262" y="1585571"/>
            <a:ext cx="5065819" cy="5065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0E9A87-E324-3773-D3FD-8BB3C097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Incongruency-congruency conn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EE75-698D-9D50-A4D2-6F1FEC87F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09483" cy="4351338"/>
          </a:xfrm>
        </p:spPr>
        <p:txBody>
          <a:bodyPr/>
          <a:lstStyle/>
          <a:p>
            <a:r>
              <a:rPr lang="en-US" dirty="0"/>
              <a:t>t-test compare congruent vs. incongruent</a:t>
            </a:r>
          </a:p>
          <a:p>
            <a:r>
              <a:rPr lang="en-US" dirty="0"/>
              <a:t>Combine YA and OA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B4C98B-590E-4D8E-BFCF-D14C973AB6D1}"/>
              </a:ext>
            </a:extLst>
          </p:cNvPr>
          <p:cNvSpPr/>
          <p:nvPr/>
        </p:nvSpPr>
        <p:spPr>
          <a:xfrm>
            <a:off x="7148033" y="3203050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324092A-C062-5A72-544B-000C2610255C}"/>
              </a:ext>
            </a:extLst>
          </p:cNvPr>
          <p:cNvSpPr/>
          <p:nvPr/>
        </p:nvSpPr>
        <p:spPr>
          <a:xfrm rot="8100000">
            <a:off x="7436627" y="2906842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287ADA-7D8B-104A-92F3-A1AF658AFAF8}"/>
              </a:ext>
            </a:extLst>
          </p:cNvPr>
          <p:cNvSpPr/>
          <p:nvPr/>
        </p:nvSpPr>
        <p:spPr>
          <a:xfrm rot="8195692">
            <a:off x="7457649" y="3824924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202FE41-D80C-C5AF-3DDA-B9C64632E62A}"/>
              </a:ext>
            </a:extLst>
          </p:cNvPr>
          <p:cNvSpPr/>
          <p:nvPr/>
        </p:nvSpPr>
        <p:spPr>
          <a:xfrm rot="8100000">
            <a:off x="8961485" y="454912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6DFDFD0-5EBD-09DB-F13F-7BA41D11393B}"/>
              </a:ext>
            </a:extLst>
          </p:cNvPr>
          <p:cNvSpPr/>
          <p:nvPr/>
        </p:nvSpPr>
        <p:spPr>
          <a:xfrm rot="8100000">
            <a:off x="8055285" y="452537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EC38A34-B67C-DD9B-4178-0EDBE2322006}"/>
              </a:ext>
            </a:extLst>
          </p:cNvPr>
          <p:cNvSpPr/>
          <p:nvPr/>
        </p:nvSpPr>
        <p:spPr>
          <a:xfrm>
            <a:off x="7180328" y="4129332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F8E6B0-3F96-08BF-5B78-DF3759AE4BCB}"/>
              </a:ext>
            </a:extLst>
          </p:cNvPr>
          <p:cNvSpPr/>
          <p:nvPr/>
        </p:nvSpPr>
        <p:spPr>
          <a:xfrm>
            <a:off x="7799057" y="4859487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64D366-3AAF-21E7-0505-D4B14E567CEC}"/>
              </a:ext>
            </a:extLst>
          </p:cNvPr>
          <p:cNvSpPr/>
          <p:nvPr/>
        </p:nvSpPr>
        <p:spPr>
          <a:xfrm>
            <a:off x="8680398" y="4859486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66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95"/>
            <a:ext cx="10515600" cy="1325563"/>
          </a:xfrm>
        </p:spPr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396289" y="1244337"/>
            <a:ext cx="4813886" cy="3030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Submitted the thresholded connectivity matrix to a modularity-detection algorithm </a:t>
            </a:r>
          </a:p>
          <a:p>
            <a:pPr lvl="1"/>
            <a:r>
              <a:rPr lang="en-US" dirty="0"/>
              <a:t>I used a version of Louvain’s algorithm </a:t>
            </a:r>
          </a:p>
          <a:p>
            <a:r>
              <a:rPr lang="en-US" dirty="0"/>
              <a:t>These modules reflect t-tests done on </a:t>
            </a:r>
            <a:r>
              <a:rPr lang="en-US" i="1" dirty="0"/>
              <a:t>both </a:t>
            </a:r>
            <a:r>
              <a:rPr lang="en-US" dirty="0"/>
              <a:t>YA and OA data</a:t>
            </a:r>
          </a:p>
          <a:p>
            <a:pPr lvl="1"/>
            <a:r>
              <a:rPr lang="en-US" dirty="0"/>
              <a:t>If only OA were used, then later analyses of the modules comparing YA vs. OA would be circular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576D9B-1B1A-2ED2-A61D-49B9BC902E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8" y="4494206"/>
            <a:ext cx="6336187" cy="220882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54" r="1"/>
          <a:stretch/>
        </p:blipFill>
        <p:spPr>
          <a:xfrm>
            <a:off x="1480908" y="4383880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2196992" y="5019964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3482120" y="5293544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2219006" y="5087644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2066072" y="492703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2313606" y="4825403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3425463" y="533844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2027823" y="4962751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3099483" y="613758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DBE0D6-72FB-0FC3-AE77-95D9B01D67E4}"/>
              </a:ext>
            </a:extLst>
          </p:cNvPr>
          <p:cNvCxnSpPr>
            <a:cxnSpLocks/>
          </p:cNvCxnSpPr>
          <p:nvPr/>
        </p:nvCxnSpPr>
        <p:spPr>
          <a:xfrm>
            <a:off x="1802501" y="5803232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14410B0-9E7B-BFD5-740D-0B5C5F61C378}"/>
              </a:ext>
            </a:extLst>
          </p:cNvPr>
          <p:cNvSpPr/>
          <p:nvPr/>
        </p:nvSpPr>
        <p:spPr>
          <a:xfrm>
            <a:off x="1649567" y="564262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3042496" y="616454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D430DE-2C10-C9C4-B79E-4F250556D4F8}"/>
              </a:ext>
            </a:extLst>
          </p:cNvPr>
          <p:cNvSpPr txBox="1"/>
          <p:nvPr/>
        </p:nvSpPr>
        <p:spPr>
          <a:xfrm>
            <a:off x="1592266" y="5673576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6481FD-7C7E-11C2-9AA4-0B5DE79AD2DE}"/>
              </a:ext>
            </a:extLst>
          </p:cNvPr>
          <p:cNvSpPr txBox="1"/>
          <p:nvPr/>
        </p:nvSpPr>
        <p:spPr>
          <a:xfrm rot="1053603">
            <a:off x="1899438" y="568443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AAF8D6-3C81-7FCF-1314-13A0DF3E0DBF}"/>
              </a:ext>
            </a:extLst>
          </p:cNvPr>
          <p:cNvSpPr txBox="1"/>
          <p:nvPr/>
        </p:nvSpPr>
        <p:spPr>
          <a:xfrm rot="16200000">
            <a:off x="4595266" y="2427518"/>
            <a:ext cx="1369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Dorsal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ABA125-5609-980A-6DAC-1251826B8871}"/>
              </a:ext>
            </a:extLst>
          </p:cNvPr>
          <p:cNvSpPr txBox="1"/>
          <p:nvPr/>
        </p:nvSpPr>
        <p:spPr>
          <a:xfrm rot="16200000">
            <a:off x="4549677" y="5170489"/>
            <a:ext cx="1460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Ventral</a:t>
            </a:r>
          </a:p>
        </p:txBody>
      </p:sp>
    </p:spTree>
    <p:extLst>
      <p:ext uri="{BB962C8B-B14F-4D97-AF65-F5344CB8AC3E}">
        <p14:creationId xmlns:p14="http://schemas.microsoft.com/office/powerpoint/2010/main" val="127446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534"/>
            <a:ext cx="10515600" cy="1070333"/>
          </a:xfrm>
        </p:spPr>
        <p:txBody>
          <a:bodyPr/>
          <a:lstStyle/>
          <a:p>
            <a:r>
              <a:rPr lang="en-US" dirty="0"/>
              <a:t>Dort?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295280" y="1581259"/>
            <a:ext cx="5058874" cy="46444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Rather than a “dorsal” module, it’s actually more of a frontoparietal control network (FPCN) module</a:t>
            </a:r>
          </a:p>
          <a:p>
            <a:pPr lvl="1"/>
            <a:r>
              <a:rPr lang="en-US" dirty="0"/>
              <a:t>I know the FPCN is a construct based on resting-state fMRI</a:t>
            </a:r>
          </a:p>
          <a:p>
            <a:pPr lvl="1"/>
            <a:r>
              <a:rPr lang="en-US" dirty="0"/>
              <a:t>But it’s popped up in task studies</a:t>
            </a:r>
          </a:p>
          <a:p>
            <a:pPr lvl="1"/>
            <a:r>
              <a:rPr lang="en-US" dirty="0"/>
              <a:t>It’s striking to me that the MTG spot lands closely to where the temporal component of the FPCN typically appears</a:t>
            </a:r>
          </a:p>
          <a:p>
            <a:r>
              <a:rPr lang="en-US" dirty="0"/>
              <a:t>Instead of Ven-Dor, it may be more correct to say “Ventral-FPCN”</a:t>
            </a:r>
          </a:p>
          <a:p>
            <a:pPr lvl="1"/>
            <a:r>
              <a:rPr lang="en-US" dirty="0"/>
              <a:t>Nonetheless, I proceed with the Ven-Dor idea and the MTG component for now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8091258" y="4418808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8807342" y="50548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10092470" y="532847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8829356" y="512257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8676422" y="496196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8923956" y="48603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8638173" y="499767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A6C800-B0D6-94DF-FA31-163680CDF05C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859548" y="5259289"/>
            <a:ext cx="371722" cy="79080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255ED8-F643-EE61-9353-E88F68D902FE}"/>
              </a:ext>
            </a:extLst>
          </p:cNvPr>
          <p:cNvCxnSpPr>
            <a:cxnSpLocks/>
          </p:cNvCxnSpPr>
          <p:nvPr/>
        </p:nvCxnSpPr>
        <p:spPr>
          <a:xfrm flipH="1">
            <a:off x="9284974" y="5513803"/>
            <a:ext cx="928736" cy="50952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9073698" y="585820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9015089" y="5902233"/>
            <a:ext cx="56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10035813" y="537337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E73F92-7F19-8755-28F6-14E217C6070B}"/>
              </a:ext>
            </a:extLst>
          </p:cNvPr>
          <p:cNvSpPr/>
          <p:nvPr/>
        </p:nvSpPr>
        <p:spPr>
          <a:xfrm>
            <a:off x="6296025" y="2876247"/>
            <a:ext cx="438150" cy="4381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114F19-44EB-2B0D-68C9-18073F63A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96855" y="5109272"/>
            <a:ext cx="1549629" cy="11157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1579F9-DC2A-C6F3-495F-17DF51E31272}"/>
              </a:ext>
            </a:extLst>
          </p:cNvPr>
          <p:cNvSpPr txBox="1"/>
          <p:nvPr/>
        </p:nvSpPr>
        <p:spPr>
          <a:xfrm>
            <a:off x="6265147" y="472058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FPCN</a:t>
            </a:r>
          </a:p>
        </p:txBody>
      </p:sp>
    </p:spTree>
    <p:extLst>
      <p:ext uri="{BB962C8B-B14F-4D97-AF65-F5344CB8AC3E}">
        <p14:creationId xmlns:p14="http://schemas.microsoft.com/office/powerpoint/2010/main" val="2178334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8582D8-45AF-6C0F-B362-0EC6507DF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F0C577A-0D90-DEBC-9669-54DD60BE8FE1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EC166-DE6B-50EF-6C6E-1A6741C7A44C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3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6D8FAAA-505E-3DAA-4ABD-1E313CC7B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 (scrubbing)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B5D3095-D1DC-0403-A837-934DED0FC589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85199E-14F4-20F6-58F8-49ACE947B33E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</p:spTree>
    <p:extLst>
      <p:ext uri="{BB962C8B-B14F-4D97-AF65-F5344CB8AC3E}">
        <p14:creationId xmlns:p14="http://schemas.microsoft.com/office/powerpoint/2010/main" val="59341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DF90356-8B7B-855D-BF2A-48FFC4AC2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 Quadrant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quadrants could be defined anatomically</a:t>
            </a:r>
          </a:p>
          <a:p>
            <a:pPr lvl="1"/>
            <a:r>
              <a:rPr lang="en-US" dirty="0"/>
              <a:t>Here, I picked regions based on the atlas region labels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E1DE-4162-080B-5C94-D2F894FBB587}"/>
              </a:ext>
            </a:extLst>
          </p:cNvPr>
          <p:cNvSpPr txBox="1">
            <a:spLocks/>
          </p:cNvSpPr>
          <p:nvPr/>
        </p:nvSpPr>
        <p:spPr>
          <a:xfrm>
            <a:off x="912919" y="5702409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 didn’t pursue this in the current slides’ results, but it’s an option</a:t>
            </a:r>
          </a:p>
        </p:txBody>
      </p:sp>
    </p:spTree>
    <p:extLst>
      <p:ext uri="{BB962C8B-B14F-4D97-AF65-F5344CB8AC3E}">
        <p14:creationId xmlns:p14="http://schemas.microsoft.com/office/powerpoint/2010/main" val="1499224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7D30-34BF-FAC0-142E-5CF5AA72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Traditional modularity results (for reference)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06B6B-5B83-0519-2716-04D56416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644" y="1171010"/>
            <a:ext cx="10515600" cy="56474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Modules based on average connectivity (quite localized)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BA04A-94AC-95BE-E7C4-6F2788FAB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1799831"/>
            <a:ext cx="4032119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90E7E4-D107-2211-15CC-964CB406C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1757578"/>
            <a:ext cx="4032119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22515-A878-FDAF-CE8A-558A10735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3454770"/>
            <a:ext cx="4032119" cy="160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A7AC72-5C94-4603-4AD9-E741F076C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3433644"/>
            <a:ext cx="4032119" cy="160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6DC88B-0EB0-6527-B15C-F43760B5D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5109709"/>
            <a:ext cx="4032119" cy="160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F1E12D-BD83-6564-CF27-280C18EF6A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5109709"/>
            <a:ext cx="403211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27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9F03-E6B5-D49E-38E6-4279343D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726" y="312127"/>
            <a:ext cx="5467350" cy="1325563"/>
          </a:xfrm>
        </p:spPr>
        <p:txBody>
          <a:bodyPr/>
          <a:lstStyle/>
          <a:p>
            <a:r>
              <a:rPr lang="en-US" dirty="0"/>
              <a:t>Quadrant seeds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C1B65-FDA8-0817-0D47-49BE207B4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3573455"/>
            <a:ext cx="2194560" cy="2743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066B0-63A2-E535-2AB2-2A2059060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3573455"/>
            <a:ext cx="219456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199E9E-7659-B85C-7F54-19806BBF4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830255"/>
            <a:ext cx="219456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BB891-1B0C-218C-2EE8-3DD3E6401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830255"/>
            <a:ext cx="2194560" cy="2743200"/>
          </a:xfrm>
          <a:prstGeom prst="rect">
            <a:avLst/>
          </a:prstGeom>
        </p:spPr>
      </p:pic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A3C7AC70-9ED7-6C4B-530C-51F80CBDE93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3" r="29956"/>
          <a:stretch/>
        </p:blipFill>
        <p:spPr>
          <a:xfrm>
            <a:off x="2159492" y="1538288"/>
            <a:ext cx="3492087" cy="35146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210BB6-A31A-2103-D5B0-A4B2342DAB1F}"/>
              </a:ext>
            </a:extLst>
          </p:cNvPr>
          <p:cNvSpPr txBox="1"/>
          <p:nvPr/>
        </p:nvSpPr>
        <p:spPr>
          <a:xfrm>
            <a:off x="1501995" y="1802401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32F09-E86E-DF40-E2DE-C47553C0A4C3}"/>
              </a:ext>
            </a:extLst>
          </p:cNvPr>
          <p:cNvSpPr txBox="1"/>
          <p:nvPr/>
        </p:nvSpPr>
        <p:spPr>
          <a:xfrm>
            <a:off x="768155" y="3080531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278405-B808-FBBE-FB31-9B6740ABEC37}"/>
              </a:ext>
            </a:extLst>
          </p:cNvPr>
          <p:cNvSpPr txBox="1"/>
          <p:nvPr/>
        </p:nvSpPr>
        <p:spPr>
          <a:xfrm>
            <a:off x="4511290" y="4257973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B39EC-E592-B476-570A-B5F5624F93D7}"/>
              </a:ext>
            </a:extLst>
          </p:cNvPr>
          <p:cNvSpPr txBox="1"/>
          <p:nvPr/>
        </p:nvSpPr>
        <p:spPr>
          <a:xfrm>
            <a:off x="5508857" y="24218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4470B0C8-49DF-6F7F-E33B-CAD1EFB175F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60"/>
          <a:stretch/>
        </p:blipFill>
        <p:spPr>
          <a:xfrm>
            <a:off x="418878" y="4228568"/>
            <a:ext cx="1760462" cy="23397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3E15FA9-080C-AAE2-ECC2-8F6F75232BCC}"/>
              </a:ext>
            </a:extLst>
          </p:cNvPr>
          <p:cNvSpPr/>
          <p:nvPr/>
        </p:nvSpPr>
        <p:spPr>
          <a:xfrm>
            <a:off x="6888924" y="820729"/>
            <a:ext cx="2194560" cy="2743200"/>
          </a:xfrm>
          <a:prstGeom prst="rect">
            <a:avLst/>
          </a:prstGeom>
          <a:noFill/>
          <a:ln w="38100">
            <a:solidFill>
              <a:srgbClr val="08CE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45062-6A22-9D35-E37A-C12A6AB6300D}"/>
              </a:ext>
            </a:extLst>
          </p:cNvPr>
          <p:cNvSpPr/>
          <p:nvPr/>
        </p:nvSpPr>
        <p:spPr>
          <a:xfrm>
            <a:off x="6888924" y="3621079"/>
            <a:ext cx="2194560" cy="2743200"/>
          </a:xfrm>
          <a:prstGeom prst="rect">
            <a:avLst/>
          </a:prstGeom>
          <a:noFill/>
          <a:ln w="38100">
            <a:solidFill>
              <a:srgbClr val="E5A9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A9876A-D3B5-513F-97E0-630D65E1FB01}"/>
              </a:ext>
            </a:extLst>
          </p:cNvPr>
          <p:cNvSpPr/>
          <p:nvPr/>
        </p:nvSpPr>
        <p:spPr>
          <a:xfrm>
            <a:off x="9140190" y="3621079"/>
            <a:ext cx="2194560" cy="27432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954798-1BD3-FB2C-8D4A-0C1B33F7AB03}"/>
              </a:ext>
            </a:extLst>
          </p:cNvPr>
          <p:cNvSpPr/>
          <p:nvPr/>
        </p:nvSpPr>
        <p:spPr>
          <a:xfrm>
            <a:off x="9140190" y="820729"/>
            <a:ext cx="2194560" cy="274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09755D-93C6-D848-FF7F-53B609AB6852}"/>
              </a:ext>
            </a:extLst>
          </p:cNvPr>
          <p:cNvSpPr txBox="1"/>
          <p:nvPr/>
        </p:nvSpPr>
        <p:spPr>
          <a:xfrm>
            <a:off x="9837360" y="3495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98654E-F61F-B1EA-2E4C-062B0C2CFC20}"/>
              </a:ext>
            </a:extLst>
          </p:cNvPr>
          <p:cNvSpPr txBox="1"/>
          <p:nvPr/>
        </p:nvSpPr>
        <p:spPr>
          <a:xfrm>
            <a:off x="9911483" y="6396335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6847A1-95C6-A905-8B1A-A589E8D141B0}"/>
              </a:ext>
            </a:extLst>
          </p:cNvPr>
          <p:cNvSpPr txBox="1"/>
          <p:nvPr/>
        </p:nvSpPr>
        <p:spPr>
          <a:xfrm>
            <a:off x="7303164" y="639633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18436-963C-8C29-C4CF-0A2D18768A89}"/>
              </a:ext>
            </a:extLst>
          </p:cNvPr>
          <p:cNvSpPr txBox="1"/>
          <p:nvPr/>
        </p:nvSpPr>
        <p:spPr>
          <a:xfrm>
            <a:off x="7371292" y="349538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08AC8-2E97-4DEC-B1AE-F77D72E56377}"/>
              </a:ext>
            </a:extLst>
          </p:cNvPr>
          <p:cNvSpPr txBox="1"/>
          <p:nvPr/>
        </p:nvSpPr>
        <p:spPr>
          <a:xfrm>
            <a:off x="3396836" y="5412937"/>
            <a:ext cx="288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quadrant was tested as a seed</a:t>
            </a:r>
          </a:p>
        </p:txBody>
      </p:sp>
    </p:spTree>
    <p:extLst>
      <p:ext uri="{BB962C8B-B14F-4D97-AF65-F5344CB8AC3E}">
        <p14:creationId xmlns:p14="http://schemas.microsoft.com/office/powerpoint/2010/main" val="370140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900D-B6F5-C0C9-D5C8-D15FCAB7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Background: Dynamic functional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08B2-FEB0-2B8D-1812-9121D12D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00" y="1508125"/>
            <a:ext cx="5207000" cy="51149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Richard </a:t>
            </a:r>
            <a:r>
              <a:rPr lang="en-US" sz="2400" dirty="0" err="1"/>
              <a:t>Betzel</a:t>
            </a:r>
            <a:r>
              <a:rPr lang="en-US" sz="2400" dirty="0"/>
              <a:t> and Olaf </a:t>
            </a:r>
            <a:r>
              <a:rPr lang="en-US" sz="2400" dirty="0" err="1"/>
              <a:t>Sporns</a:t>
            </a:r>
            <a:r>
              <a:rPr lang="en-US" sz="2400" dirty="0"/>
              <a:t> argue in a recent </a:t>
            </a:r>
            <a:r>
              <a:rPr lang="en-US" sz="2400" dirty="0" err="1"/>
              <a:t>TiCS</a:t>
            </a:r>
            <a:r>
              <a:rPr lang="en-US" sz="2400" dirty="0"/>
              <a:t> paper:</a:t>
            </a:r>
          </a:p>
          <a:p>
            <a:pPr lvl="1"/>
            <a:r>
              <a:rPr lang="en-US" sz="2000" dirty="0"/>
              <a:t>Functional connectivity can be studied as a dynamic process</a:t>
            </a:r>
          </a:p>
          <a:p>
            <a:r>
              <a:rPr lang="en-US" sz="2400" dirty="0"/>
              <a:t>That is what I did here</a:t>
            </a:r>
          </a:p>
          <a:p>
            <a:pPr lvl="1"/>
            <a:r>
              <a:rPr lang="en-US" sz="2000" dirty="0"/>
              <a:t>I (and Shenyang) have been measuring timepoint-specific connectivity, as just the product between activation in two areas</a:t>
            </a:r>
          </a:p>
          <a:p>
            <a:pPr lvl="1"/>
            <a:r>
              <a:rPr lang="en-US" sz="2000" dirty="0"/>
              <a:t>They advocate for this and call it “time-varying FC”</a:t>
            </a:r>
          </a:p>
          <a:p>
            <a:r>
              <a:rPr lang="en-US" sz="2400" dirty="0"/>
              <a:t>They also argue that the correlations between modules/networks are meaningful</a:t>
            </a:r>
          </a:p>
          <a:p>
            <a:pPr lvl="1"/>
            <a:r>
              <a:rPr lang="en-US" sz="2000" dirty="0"/>
              <a:t>Correlate on a TR-by-TR basis</a:t>
            </a:r>
          </a:p>
          <a:p>
            <a:pPr lvl="1"/>
            <a:r>
              <a:rPr lang="en-US" sz="2000" dirty="0"/>
              <a:t>Reflect brain states and transitions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AAD4C-84E5-7AE4-5376-176E2A6F5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342" y="2125998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29CBD0-4740-B1F4-1087-3FFFDA79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0" y="4130322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8B94A0-412F-7FEE-3BF7-9098C9EAC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295" y="4130322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52B135-EED6-2407-450F-D863BC548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732" y="2125998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4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C5AA-ABDF-530A-4FA5-2BF7C5A5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615" y="117614"/>
            <a:ext cx="3530600" cy="1325563"/>
          </a:xfrm>
        </p:spPr>
        <p:txBody>
          <a:bodyPr/>
          <a:lstStyle/>
          <a:p>
            <a:r>
              <a:rPr lang="en-US" sz="4400" dirty="0"/>
              <a:t>Ven x 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F231-2B58-3B4D-A3CC-317A916BC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995" y="1443177"/>
            <a:ext cx="4238780" cy="2384425"/>
          </a:xfrm>
        </p:spPr>
        <p:txBody>
          <a:bodyPr>
            <a:normAutofit/>
          </a:bodyPr>
          <a:lstStyle/>
          <a:p>
            <a:r>
              <a:rPr lang="en-US" sz="2400" dirty="0"/>
              <a:t>Connectivity is not static</a:t>
            </a:r>
          </a:p>
          <a:p>
            <a:r>
              <a:rPr lang="en-US" sz="2400" dirty="0"/>
              <a:t>The modules are in flux</a:t>
            </a:r>
          </a:p>
          <a:p>
            <a:pPr lvl="1"/>
            <a:r>
              <a:rPr lang="en-US" sz="2000" dirty="0"/>
              <a:t>Notably, this (clear) fluctuation gives credence to organizing them as Ven &amp; 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4FDDD-CE7D-275E-F62E-8A1A9FFD8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0" y="826310"/>
            <a:ext cx="5355077" cy="53550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3BD728-CAB7-1572-02FC-A374C2BED872}"/>
              </a:ext>
            </a:extLst>
          </p:cNvPr>
          <p:cNvSpPr/>
          <p:nvPr/>
        </p:nvSpPr>
        <p:spPr>
          <a:xfrm>
            <a:off x="6713031" y="3299514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F3A59-45F7-B15E-A8AA-3EFA07EE2183}"/>
              </a:ext>
            </a:extLst>
          </p:cNvPr>
          <p:cNvSpPr txBox="1"/>
          <p:nvPr/>
        </p:nvSpPr>
        <p:spPr>
          <a:xfrm>
            <a:off x="6875122" y="4206885"/>
            <a:ext cx="2351428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E3357F-113F-1C99-53A4-3DE9A873A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68" y="3664496"/>
            <a:ext cx="1364080" cy="1188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D3CD07-B779-463B-9FE7-3EA30BFE1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168" y="5122720"/>
            <a:ext cx="1364080" cy="1188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5C315D-8068-DF1A-D6CE-2F612F215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195" y="2206272"/>
            <a:ext cx="1363190" cy="1188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8824B0-7B69-E029-D7FA-95D878581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7044" y="748048"/>
            <a:ext cx="1364856" cy="11887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0CF5-1112-41EF-DB9A-350C84B676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21" y="3566442"/>
            <a:ext cx="3895130" cy="14350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EBA2DF-7030-A3C7-C1BE-16BD95AD00BA}"/>
              </a:ext>
            </a:extLst>
          </p:cNvPr>
          <p:cNvSpPr txBox="1"/>
          <p:nvPr/>
        </p:nvSpPr>
        <p:spPr>
          <a:xfrm>
            <a:off x="419791" y="5110391"/>
            <a:ext cx="41768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Perhaps instead of calling Ven and Dor as modules, it’s more appropriate to reference a “Ven-Dor state”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Processing congruency pushes participants toward the Ven-Dor state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5A313B-7908-2AF3-DFDE-9F6530A085CE}"/>
              </a:ext>
            </a:extLst>
          </p:cNvPr>
          <p:cNvSpPr txBox="1"/>
          <p:nvPr/>
        </p:nvSpPr>
        <p:spPr>
          <a:xfrm>
            <a:off x="6417131" y="6257955"/>
            <a:ext cx="5355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This figure just shows correlations from pooling every participant’s data into a big dataset but everything is consistent when I use multilevel regressions</a:t>
            </a:r>
          </a:p>
        </p:txBody>
      </p:sp>
    </p:spTree>
    <p:extLst>
      <p:ext uri="{BB962C8B-B14F-4D97-AF65-F5344CB8AC3E}">
        <p14:creationId xmlns:p14="http://schemas.microsoft.com/office/powerpoint/2010/main" val="792832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533"/>
            <a:ext cx="10515600" cy="1086785"/>
          </a:xfrm>
        </p:spPr>
        <p:txBody>
          <a:bodyPr/>
          <a:lstStyle/>
          <a:p>
            <a:r>
              <a:rPr lang="en-US" dirty="0"/>
              <a:t>Results 1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418032"/>
            <a:ext cx="10849157" cy="241052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Processing congruency upregulates connectivity within a Ven module and a </a:t>
            </a:r>
            <a:r>
              <a:rPr lang="en-US" dirty="0" err="1"/>
              <a:t>Dor</a:t>
            </a:r>
            <a:r>
              <a:rPr lang="en-US" dirty="0"/>
              <a:t> module</a:t>
            </a:r>
          </a:p>
          <a:p>
            <a:r>
              <a:rPr lang="en-US" dirty="0"/>
              <a:t>More specifically…</a:t>
            </a:r>
          </a:p>
          <a:p>
            <a:pPr lvl="1"/>
            <a:r>
              <a:rPr lang="en-US" dirty="0"/>
              <a:t>Individuals (YA and OA) are continuously fluctuating between a Pos-Ant state &amp; Ven-Dor state</a:t>
            </a:r>
          </a:p>
          <a:p>
            <a:pPr lvl="1"/>
            <a:r>
              <a:rPr lang="en-US" dirty="0"/>
              <a:t>Processing congruency pushes individuals toward Ven-</a:t>
            </a:r>
            <a:r>
              <a:rPr lang="en-US" dirty="0" err="1"/>
              <a:t>Dor</a:t>
            </a:r>
            <a:endParaRPr lang="en-US" dirty="0"/>
          </a:p>
          <a:p>
            <a:pPr lvl="1"/>
            <a:r>
              <a:rPr lang="en-US" dirty="0"/>
              <a:t>I haven’t searched the literature, but I assume our work is not the first to show this type of horizontal vs. vertical fluctuation…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7903425" y="3864268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3624234" y="3864268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2904676" y="4283909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3644242" y="4919993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4929370" y="519357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3666256" y="4987673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3513322" y="482706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4872713" y="523847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3475073" y="486278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4546733" y="603761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3249751" y="570326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3096817" y="554265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4489746" y="606457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3039516" y="557360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7133934" y="4286524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7489402" y="502499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8969404" y="544840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7850018" y="492260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9135146" y="519618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7719098" y="482968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9078489" y="524109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7680849" y="486539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8752509" y="604023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7302593" y="5545269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8695522" y="606718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7245292" y="557622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5775336" y="5396711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5541602" y="4341961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740502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060E-DF92-E297-76AD-A5499C51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interlude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6B8E-3B18-B299-DDED-E293EEA2D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high within-connectivity mean?</a:t>
            </a:r>
          </a:p>
          <a:p>
            <a:pPr lvl="1"/>
            <a:r>
              <a:rPr lang="en-US" dirty="0"/>
              <a:t>High dorsal?</a:t>
            </a:r>
          </a:p>
          <a:p>
            <a:pPr lvl="1"/>
            <a:r>
              <a:rPr lang="en-US" dirty="0"/>
              <a:t>High ventral?</a:t>
            </a:r>
          </a:p>
        </p:txBody>
      </p:sp>
    </p:spTree>
    <p:extLst>
      <p:ext uri="{BB962C8B-B14F-4D97-AF65-F5344CB8AC3E}">
        <p14:creationId xmlns:p14="http://schemas.microsoft.com/office/powerpoint/2010/main" val="722775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96EC1-22FE-B315-373D-9E865D5F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3E2A-A46A-D69C-C8CB-AB443501F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1.5 New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9AF83-E9E4-99D4-46A6-EC9EE1CFB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2/13/2024</a:t>
            </a:r>
          </a:p>
        </p:txBody>
      </p:sp>
    </p:spTree>
    <p:extLst>
      <p:ext uri="{BB962C8B-B14F-4D97-AF65-F5344CB8AC3E}">
        <p14:creationId xmlns:p14="http://schemas.microsoft.com/office/powerpoint/2010/main" val="3349336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7228-F707-06E1-712D-7350B5CC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Ven-Dor ROIs do not map onto network segmentations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E8646-AC95-A53C-BF90-1929A0D8B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0411" cy="4351338"/>
          </a:xfrm>
        </p:spPr>
        <p:txBody>
          <a:bodyPr/>
          <a:lstStyle/>
          <a:p>
            <a:r>
              <a:rPr lang="en-US" dirty="0"/>
              <a:t>In the meeting, I completely forgot that my visuals mention which resting-state network each ROI belongs to... (?!)</a:t>
            </a:r>
          </a:p>
          <a:p>
            <a:r>
              <a:rPr lang="en-US" dirty="0"/>
              <a:t>So, we can’t say that this is the FPCN obviously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34939-4DDE-A8BC-0026-CB79436BC0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688105" y="1812784"/>
            <a:ext cx="6336186" cy="22088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C842F4-92CE-4C90-6F1B-59C96D7434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8675863" y="4143702"/>
            <a:ext cx="2677937" cy="23336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3EA8BE3-5CF2-74EF-973A-9EEA1B9B0171}"/>
              </a:ext>
            </a:extLst>
          </p:cNvPr>
          <p:cNvSpPr/>
          <p:nvPr/>
        </p:nvSpPr>
        <p:spPr>
          <a:xfrm>
            <a:off x="9391947" y="4779786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EBCA20-2480-57BA-7CEF-7914B822932F}"/>
              </a:ext>
            </a:extLst>
          </p:cNvPr>
          <p:cNvSpPr/>
          <p:nvPr/>
        </p:nvSpPr>
        <p:spPr>
          <a:xfrm>
            <a:off x="10677075" y="50533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81D3E7-AA1B-23AE-B399-13246BCC5AD2}"/>
              </a:ext>
            </a:extLst>
          </p:cNvPr>
          <p:cNvCxnSpPr>
            <a:cxnSpLocks/>
          </p:cNvCxnSpPr>
          <p:nvPr/>
        </p:nvCxnSpPr>
        <p:spPr>
          <a:xfrm>
            <a:off x="9413961" y="4847466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7C8E40C-5908-3623-A97B-6D6665B58705}"/>
              </a:ext>
            </a:extLst>
          </p:cNvPr>
          <p:cNvSpPr/>
          <p:nvPr/>
        </p:nvSpPr>
        <p:spPr>
          <a:xfrm>
            <a:off x="9261027" y="468685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2DC39-9F63-04AD-C9D0-5D1B9D9C7B80}"/>
              </a:ext>
            </a:extLst>
          </p:cNvPr>
          <p:cNvSpPr txBox="1"/>
          <p:nvPr/>
        </p:nvSpPr>
        <p:spPr>
          <a:xfrm rot="815892">
            <a:off x="9508561" y="4585225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ED81C3-D81C-C52B-E411-FF09813230AD}"/>
              </a:ext>
            </a:extLst>
          </p:cNvPr>
          <p:cNvSpPr txBox="1"/>
          <p:nvPr/>
        </p:nvSpPr>
        <p:spPr>
          <a:xfrm>
            <a:off x="9222778" y="472257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402C0B-2C6B-4D73-E6BF-555130BDB80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444153" y="4984183"/>
            <a:ext cx="371722" cy="79080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AF9A11-86DE-43DA-16BD-3E57BA4AC41E}"/>
              </a:ext>
            </a:extLst>
          </p:cNvPr>
          <p:cNvCxnSpPr>
            <a:cxnSpLocks/>
          </p:cNvCxnSpPr>
          <p:nvPr/>
        </p:nvCxnSpPr>
        <p:spPr>
          <a:xfrm flipH="1">
            <a:off x="9869579" y="5238697"/>
            <a:ext cx="928736" cy="50952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E95961A-6034-32A4-2000-A39403C58ED7}"/>
              </a:ext>
            </a:extLst>
          </p:cNvPr>
          <p:cNvSpPr/>
          <p:nvPr/>
        </p:nvSpPr>
        <p:spPr>
          <a:xfrm>
            <a:off x="9658303" y="558310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F35BE4-25DD-E8DA-992E-6D2E17510C70}"/>
              </a:ext>
            </a:extLst>
          </p:cNvPr>
          <p:cNvSpPr txBox="1"/>
          <p:nvPr/>
        </p:nvSpPr>
        <p:spPr>
          <a:xfrm>
            <a:off x="9599694" y="5627127"/>
            <a:ext cx="56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7BAEBB-8E30-34C1-F0FF-1B8E8AF9F58F}"/>
              </a:ext>
            </a:extLst>
          </p:cNvPr>
          <p:cNvSpPr txBox="1"/>
          <p:nvPr/>
        </p:nvSpPr>
        <p:spPr>
          <a:xfrm>
            <a:off x="10620418" y="509827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D10E6A-B80E-4B18-415A-670A33A1224E}"/>
              </a:ext>
            </a:extLst>
          </p:cNvPr>
          <p:cNvSpPr/>
          <p:nvPr/>
        </p:nvSpPr>
        <p:spPr>
          <a:xfrm>
            <a:off x="6420011" y="2917195"/>
            <a:ext cx="438150" cy="4381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B39412-4037-D0B0-FB69-30180F788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81460" y="4834166"/>
            <a:ext cx="1549629" cy="11157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FF299D-C913-D7C9-5FAB-71F7469C460E}"/>
              </a:ext>
            </a:extLst>
          </p:cNvPr>
          <p:cNvSpPr txBox="1"/>
          <p:nvPr/>
        </p:nvSpPr>
        <p:spPr>
          <a:xfrm>
            <a:off x="6849752" y="444548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FPCN</a:t>
            </a:r>
          </a:p>
        </p:txBody>
      </p:sp>
    </p:spTree>
    <p:extLst>
      <p:ext uri="{BB962C8B-B14F-4D97-AF65-F5344CB8AC3E}">
        <p14:creationId xmlns:p14="http://schemas.microsoft.com/office/powerpoint/2010/main" val="694198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9B1D8-90F3-46E2-387E-31803B4E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03E88FC-8E0B-82E6-5507-77CCC9546D8C}"/>
              </a:ext>
            </a:extLst>
          </p:cNvPr>
          <p:cNvCxnSpPr>
            <a:cxnSpLocks/>
          </p:cNvCxnSpPr>
          <p:nvPr/>
        </p:nvCxnSpPr>
        <p:spPr>
          <a:xfrm flipH="1">
            <a:off x="5283132" y="2853332"/>
            <a:ext cx="379384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D39312-A96D-8E57-E25D-619FBD60644A}"/>
              </a:ext>
            </a:extLst>
          </p:cNvPr>
          <p:cNvCxnSpPr>
            <a:cxnSpLocks/>
          </p:cNvCxnSpPr>
          <p:nvPr/>
        </p:nvCxnSpPr>
        <p:spPr>
          <a:xfrm flipH="1">
            <a:off x="6765958" y="3291755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A4EDEB-9EDA-2E97-3835-D3983DF8BA6C}"/>
              </a:ext>
            </a:extLst>
          </p:cNvPr>
          <p:cNvCxnSpPr>
            <a:cxnSpLocks/>
          </p:cNvCxnSpPr>
          <p:nvPr/>
        </p:nvCxnSpPr>
        <p:spPr>
          <a:xfrm>
            <a:off x="5251221" y="378037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966C2DF-D762-77A9-3D52-7E4CB8103ACF}"/>
              </a:ext>
            </a:extLst>
          </p:cNvPr>
          <p:cNvSpPr/>
          <p:nvPr/>
        </p:nvSpPr>
        <p:spPr>
          <a:xfrm>
            <a:off x="6548203" y="411472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35C971-DE1F-35AC-8F99-86F9D9AA1FAB}"/>
              </a:ext>
            </a:extLst>
          </p:cNvPr>
          <p:cNvSpPr txBox="1"/>
          <p:nvPr/>
        </p:nvSpPr>
        <p:spPr>
          <a:xfrm>
            <a:off x="6491216" y="414168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CE90955-C10A-8161-A288-8D46F791D9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54" r="1"/>
          <a:stretch/>
        </p:blipFill>
        <p:spPr>
          <a:xfrm>
            <a:off x="4680831" y="2395801"/>
            <a:ext cx="2677937" cy="2333625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3CE55A5-59DC-9113-EFCA-3231C79A1CBE}"/>
              </a:ext>
            </a:extLst>
          </p:cNvPr>
          <p:cNvCxnSpPr>
            <a:cxnSpLocks/>
          </p:cNvCxnSpPr>
          <p:nvPr/>
        </p:nvCxnSpPr>
        <p:spPr>
          <a:xfrm>
            <a:off x="5682025" y="282751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467894E-976D-F70E-240B-7B34C730C287}"/>
              </a:ext>
            </a:extLst>
          </p:cNvPr>
          <p:cNvSpPr/>
          <p:nvPr/>
        </p:nvSpPr>
        <p:spPr>
          <a:xfrm>
            <a:off x="6979007" y="31618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A621DB-479C-DFBB-1B96-0B2F77B62779}"/>
              </a:ext>
            </a:extLst>
          </p:cNvPr>
          <p:cNvSpPr txBox="1"/>
          <p:nvPr/>
        </p:nvSpPr>
        <p:spPr>
          <a:xfrm>
            <a:off x="6922020" y="318882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C53295-5084-E768-99CA-809CBA35C16C}"/>
              </a:ext>
            </a:extLst>
          </p:cNvPr>
          <p:cNvCxnSpPr>
            <a:cxnSpLocks/>
          </p:cNvCxnSpPr>
          <p:nvPr/>
        </p:nvCxnSpPr>
        <p:spPr>
          <a:xfrm>
            <a:off x="6246916" y="434532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EFB74F3-3053-F19C-3FD5-D4703803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21"/>
            <a:ext cx="10515600" cy="856619"/>
          </a:xfrm>
        </p:spPr>
        <p:txBody>
          <a:bodyPr/>
          <a:lstStyle/>
          <a:p>
            <a:r>
              <a:rPr lang="en-US" dirty="0"/>
              <a:t>Further evidence of 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89285-DF72-4C95-3A3A-2E58DECCA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223" y="1227759"/>
            <a:ext cx="4016701" cy="45787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Ven edges move in sync with other Ven edges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L pos-ant x R pos-ant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L pos-ant x pos L-R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Dor doesn’t act as a single big module </a:t>
            </a:r>
          </a:p>
          <a:p>
            <a:r>
              <a:rPr lang="en-US" dirty="0"/>
              <a:t>Similar patterns for every task</a:t>
            </a:r>
          </a:p>
          <a:p>
            <a:r>
              <a:rPr lang="en-US" dirty="0"/>
              <a:t>Ven synchrony upregulated by Inc and OA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D724D7C-9C17-486A-EE4E-63AF16F8239F}"/>
              </a:ext>
            </a:extLst>
          </p:cNvPr>
          <p:cNvCxnSpPr>
            <a:cxnSpLocks/>
          </p:cNvCxnSpPr>
          <p:nvPr/>
        </p:nvCxnSpPr>
        <p:spPr>
          <a:xfrm>
            <a:off x="5235057" y="2853332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DE31227-2A4F-57CB-44F8-AA635E598DD8}"/>
              </a:ext>
            </a:extLst>
          </p:cNvPr>
          <p:cNvCxnSpPr>
            <a:cxnSpLocks/>
          </p:cNvCxnSpPr>
          <p:nvPr/>
        </p:nvCxnSpPr>
        <p:spPr>
          <a:xfrm>
            <a:off x="6670942" y="343675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654EE59E-F9D3-DCF1-DA2B-31F3162793F7}"/>
              </a:ext>
            </a:extLst>
          </p:cNvPr>
          <p:cNvSpPr txBox="1">
            <a:spLocks/>
          </p:cNvSpPr>
          <p:nvPr/>
        </p:nvSpPr>
        <p:spPr>
          <a:xfrm>
            <a:off x="590636" y="5926729"/>
            <a:ext cx="11318917" cy="769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Although unrelated to ven-dor, I saw one other interesting pattern: All cross-hemisphere edges correlate with one another</a:t>
            </a:r>
          </a:p>
          <a:p>
            <a:r>
              <a:rPr lang="en-US" sz="1600" dirty="0"/>
              <a:t>e.g., parietal L-R connectivity correlates with ATL L-R connectivity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0025C7D-3DB2-2A0B-3F99-F93AEDA193EB}"/>
              </a:ext>
            </a:extLst>
          </p:cNvPr>
          <p:cNvCxnSpPr>
            <a:cxnSpLocks/>
          </p:cNvCxnSpPr>
          <p:nvPr/>
        </p:nvCxnSpPr>
        <p:spPr>
          <a:xfrm flipH="1">
            <a:off x="4673176" y="2956052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1B3D66D-87DA-21FB-5AE1-95B84AC59E57}"/>
              </a:ext>
            </a:extLst>
          </p:cNvPr>
          <p:cNvCxnSpPr>
            <a:cxnSpLocks/>
          </p:cNvCxnSpPr>
          <p:nvPr/>
        </p:nvCxnSpPr>
        <p:spPr>
          <a:xfrm flipH="1">
            <a:off x="6195568" y="3401130"/>
            <a:ext cx="381011" cy="9381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BA18A2B3-1AFD-5064-D2DF-DDAEE2CEB395}"/>
              </a:ext>
            </a:extLst>
          </p:cNvPr>
          <p:cNvSpPr/>
          <p:nvPr/>
        </p:nvSpPr>
        <p:spPr>
          <a:xfrm>
            <a:off x="5529091" y="266690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6E5C4B-3FAF-686B-B31B-B90395DC99D5}"/>
              </a:ext>
            </a:extLst>
          </p:cNvPr>
          <p:cNvSpPr txBox="1"/>
          <p:nvPr/>
        </p:nvSpPr>
        <p:spPr>
          <a:xfrm>
            <a:off x="5490840" y="269785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3BF68F-5CC5-3318-4631-38F83045FED2}"/>
              </a:ext>
            </a:extLst>
          </p:cNvPr>
          <p:cNvCxnSpPr>
            <a:cxnSpLocks/>
          </p:cNvCxnSpPr>
          <p:nvPr/>
        </p:nvCxnSpPr>
        <p:spPr>
          <a:xfrm>
            <a:off x="4753598" y="383251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7BA2470-B13C-0622-7C2D-81427F5E0762}"/>
              </a:ext>
            </a:extLst>
          </p:cNvPr>
          <p:cNvSpPr/>
          <p:nvPr/>
        </p:nvSpPr>
        <p:spPr>
          <a:xfrm>
            <a:off x="5098287" y="361976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9A025-0C3D-6C10-DD54-513F18990681}"/>
              </a:ext>
            </a:extLst>
          </p:cNvPr>
          <p:cNvSpPr txBox="1"/>
          <p:nvPr/>
        </p:nvSpPr>
        <p:spPr>
          <a:xfrm>
            <a:off x="5040986" y="365071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65936-0BDE-FA58-633C-68AFFA723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704" y="1211089"/>
            <a:ext cx="4516833" cy="4516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672479-7CED-D432-A65C-029FD0C186E9}"/>
              </a:ext>
            </a:extLst>
          </p:cNvPr>
          <p:cNvSpPr txBox="1"/>
          <p:nvPr/>
        </p:nvSpPr>
        <p:spPr>
          <a:xfrm>
            <a:off x="8511540" y="1575582"/>
            <a:ext cx="238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(Anatomical quadrants)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05F6C4-9E79-11EC-166A-0B6700BFB50F}"/>
              </a:ext>
            </a:extLst>
          </p:cNvPr>
          <p:cNvCxnSpPr>
            <a:cxnSpLocks/>
          </p:cNvCxnSpPr>
          <p:nvPr/>
        </p:nvCxnSpPr>
        <p:spPr>
          <a:xfrm flipV="1">
            <a:off x="5847361" y="3057710"/>
            <a:ext cx="480507" cy="74954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517B90-DD2F-A43B-787B-19B827932A97}"/>
              </a:ext>
            </a:extLst>
          </p:cNvPr>
          <p:cNvCxnSpPr>
            <a:cxnSpLocks/>
          </p:cNvCxnSpPr>
          <p:nvPr/>
        </p:nvCxnSpPr>
        <p:spPr>
          <a:xfrm flipV="1">
            <a:off x="5490840" y="4046203"/>
            <a:ext cx="486973" cy="61822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608CF8-ACAD-C5E2-9C1B-ADA700B465C0}"/>
              </a:ext>
            </a:extLst>
          </p:cNvPr>
          <p:cNvCxnSpPr>
            <a:cxnSpLocks/>
            <a:endCxn id="13" idx="3"/>
          </p:cNvCxnSpPr>
          <p:nvPr/>
        </p:nvCxnSpPr>
        <p:spPr>
          <a:xfrm>
            <a:off x="5040986" y="3832510"/>
            <a:ext cx="1439973" cy="512810"/>
          </a:xfrm>
          <a:prstGeom prst="straightConnector1">
            <a:avLst/>
          </a:prstGeom>
          <a:ln w="3810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EA55F64-5C49-08D0-0F58-4EAA0157FBFC}"/>
              </a:ext>
            </a:extLst>
          </p:cNvPr>
          <p:cNvCxnSpPr>
            <a:cxnSpLocks/>
          </p:cNvCxnSpPr>
          <p:nvPr/>
        </p:nvCxnSpPr>
        <p:spPr>
          <a:xfrm>
            <a:off x="5111635" y="290034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8AAB86-6085-17A6-D563-1463E642CC8F}"/>
              </a:ext>
            </a:extLst>
          </p:cNvPr>
          <p:cNvCxnSpPr>
            <a:cxnSpLocks/>
          </p:cNvCxnSpPr>
          <p:nvPr/>
        </p:nvCxnSpPr>
        <p:spPr>
          <a:xfrm>
            <a:off x="4680831" y="385320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2D8C802A-C024-E10E-A471-64B2933C2267}"/>
              </a:ext>
            </a:extLst>
          </p:cNvPr>
          <p:cNvSpPr/>
          <p:nvPr/>
        </p:nvSpPr>
        <p:spPr>
          <a:xfrm>
            <a:off x="6408617" y="323470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944E94-8BE3-AB21-C3BB-5DF1AD5F938A}"/>
              </a:ext>
            </a:extLst>
          </p:cNvPr>
          <p:cNvSpPr txBox="1"/>
          <p:nvPr/>
        </p:nvSpPr>
        <p:spPr>
          <a:xfrm>
            <a:off x="6351630" y="326165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2AC25DA-063E-E9BA-CFEB-1A2B6950E9AD}"/>
              </a:ext>
            </a:extLst>
          </p:cNvPr>
          <p:cNvSpPr/>
          <p:nvPr/>
        </p:nvSpPr>
        <p:spPr>
          <a:xfrm>
            <a:off x="4958701" y="27397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10E250-32A5-EBD4-4CD2-21443A639939}"/>
              </a:ext>
            </a:extLst>
          </p:cNvPr>
          <p:cNvSpPr txBox="1"/>
          <p:nvPr/>
        </p:nvSpPr>
        <p:spPr>
          <a:xfrm>
            <a:off x="4920450" y="277069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AD812E-87E9-AAD0-9BC4-283F82FD710F}"/>
              </a:ext>
            </a:extLst>
          </p:cNvPr>
          <p:cNvSpPr/>
          <p:nvPr/>
        </p:nvSpPr>
        <p:spPr>
          <a:xfrm>
            <a:off x="4527897" y="369259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23CA63-BFF0-DFEE-BCF4-6A87795E37A7}"/>
              </a:ext>
            </a:extLst>
          </p:cNvPr>
          <p:cNvSpPr txBox="1"/>
          <p:nvPr/>
        </p:nvSpPr>
        <p:spPr>
          <a:xfrm>
            <a:off x="4470596" y="372355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AC260E-E534-D5FC-DE16-20B4D00C0784}"/>
              </a:ext>
            </a:extLst>
          </p:cNvPr>
          <p:cNvSpPr/>
          <p:nvPr/>
        </p:nvSpPr>
        <p:spPr>
          <a:xfrm>
            <a:off x="5977813" y="418756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5F7528-F3CC-2A20-0967-8ABC9672A315}"/>
              </a:ext>
            </a:extLst>
          </p:cNvPr>
          <p:cNvSpPr txBox="1"/>
          <p:nvPr/>
        </p:nvSpPr>
        <p:spPr>
          <a:xfrm>
            <a:off x="5920826" y="421451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</p:spTree>
    <p:extLst>
      <p:ext uri="{BB962C8B-B14F-4D97-AF65-F5344CB8AC3E}">
        <p14:creationId xmlns:p14="http://schemas.microsoft.com/office/powerpoint/2010/main" val="3734252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B80F5D1-EA2A-82EB-EC00-86097B130EB0}"/>
              </a:ext>
            </a:extLst>
          </p:cNvPr>
          <p:cNvCxnSpPr>
            <a:cxnSpLocks/>
          </p:cNvCxnSpPr>
          <p:nvPr/>
        </p:nvCxnSpPr>
        <p:spPr>
          <a:xfrm flipH="1">
            <a:off x="5283132" y="2853332"/>
            <a:ext cx="379384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9763BF8-747C-684A-8C5D-76FAB8A371AD}"/>
              </a:ext>
            </a:extLst>
          </p:cNvPr>
          <p:cNvCxnSpPr>
            <a:cxnSpLocks/>
          </p:cNvCxnSpPr>
          <p:nvPr/>
        </p:nvCxnSpPr>
        <p:spPr>
          <a:xfrm flipH="1">
            <a:off x="6765958" y="3291755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004C99-A5E7-02F2-5AB2-5ABFA144D7C9}"/>
              </a:ext>
            </a:extLst>
          </p:cNvPr>
          <p:cNvCxnSpPr>
            <a:cxnSpLocks/>
          </p:cNvCxnSpPr>
          <p:nvPr/>
        </p:nvCxnSpPr>
        <p:spPr>
          <a:xfrm>
            <a:off x="5251221" y="378037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1A6DD0F-D27E-B007-AEB2-F33BE468DD9F}"/>
              </a:ext>
            </a:extLst>
          </p:cNvPr>
          <p:cNvSpPr/>
          <p:nvPr/>
        </p:nvSpPr>
        <p:spPr>
          <a:xfrm>
            <a:off x="6548203" y="411472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4D21BD-E06B-4331-4E56-1B57D04F4BE0}"/>
              </a:ext>
            </a:extLst>
          </p:cNvPr>
          <p:cNvSpPr txBox="1"/>
          <p:nvPr/>
        </p:nvSpPr>
        <p:spPr>
          <a:xfrm>
            <a:off x="6491216" y="414168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AF4955-DDB5-0DE5-E3BC-DAAF44A5C1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54" r="1"/>
          <a:stretch/>
        </p:blipFill>
        <p:spPr>
          <a:xfrm>
            <a:off x="4680831" y="2395801"/>
            <a:ext cx="2677937" cy="2333625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BA316E5-EF91-8044-3E15-BC2A4C08895B}"/>
              </a:ext>
            </a:extLst>
          </p:cNvPr>
          <p:cNvCxnSpPr>
            <a:cxnSpLocks/>
          </p:cNvCxnSpPr>
          <p:nvPr/>
        </p:nvCxnSpPr>
        <p:spPr>
          <a:xfrm>
            <a:off x="5111635" y="290034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7DD1E8B-20FD-CACA-C48D-4661B708644B}"/>
              </a:ext>
            </a:extLst>
          </p:cNvPr>
          <p:cNvCxnSpPr>
            <a:cxnSpLocks/>
          </p:cNvCxnSpPr>
          <p:nvPr/>
        </p:nvCxnSpPr>
        <p:spPr>
          <a:xfrm>
            <a:off x="5682025" y="282751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80E12E0A-756B-5860-BB97-26EB0497BDEE}"/>
              </a:ext>
            </a:extLst>
          </p:cNvPr>
          <p:cNvSpPr/>
          <p:nvPr/>
        </p:nvSpPr>
        <p:spPr>
          <a:xfrm>
            <a:off x="6979007" y="316186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77E99C-9FDE-C328-42B3-AD48B7E91818}"/>
              </a:ext>
            </a:extLst>
          </p:cNvPr>
          <p:cNvSpPr txBox="1"/>
          <p:nvPr/>
        </p:nvSpPr>
        <p:spPr>
          <a:xfrm>
            <a:off x="6922020" y="318882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39ACC2-857C-B41F-2C8D-96917A6DF094}"/>
              </a:ext>
            </a:extLst>
          </p:cNvPr>
          <p:cNvCxnSpPr>
            <a:cxnSpLocks/>
          </p:cNvCxnSpPr>
          <p:nvPr/>
        </p:nvCxnSpPr>
        <p:spPr>
          <a:xfrm>
            <a:off x="6246916" y="434532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A2F7C43-0D79-0350-735A-84AD4C63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21"/>
            <a:ext cx="10515600" cy="856619"/>
          </a:xfrm>
        </p:spPr>
        <p:txBody>
          <a:bodyPr/>
          <a:lstStyle/>
          <a:p>
            <a:r>
              <a:rPr lang="en-US" dirty="0"/>
              <a:t>Further evidence of 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0869A-2ED9-14F2-546F-D9CD0A45E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223" y="1227759"/>
            <a:ext cx="4016701" cy="45787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Dor edges move in sync with other Dor edges</a:t>
            </a:r>
          </a:p>
          <a:p>
            <a:pPr lvl="1"/>
            <a:r>
              <a:rPr lang="en-US" dirty="0"/>
              <a:t>L pos-ant x R pos-ant</a:t>
            </a:r>
          </a:p>
          <a:p>
            <a:pPr lvl="1"/>
            <a:r>
              <a:rPr lang="en-US" dirty="0"/>
              <a:t>L pos-ant x pos L-R</a:t>
            </a:r>
          </a:p>
          <a:p>
            <a:pPr lvl="1"/>
            <a:r>
              <a:rPr lang="en-US" dirty="0"/>
              <a:t>etc.</a:t>
            </a:r>
          </a:p>
          <a:p>
            <a:pPr lvl="1"/>
            <a:r>
              <a:rPr lang="en-US" dirty="0"/>
              <a:t>Same for Ven</a:t>
            </a:r>
          </a:p>
          <a:p>
            <a:r>
              <a:rPr lang="en-US" dirty="0"/>
              <a:t>Dor &amp; Ven synchrony is upregulated by congruency</a:t>
            </a:r>
          </a:p>
          <a:p>
            <a:r>
              <a:rPr lang="en-US" dirty="0"/>
              <a:t>Ven synchrony upregulated in OA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EE818-7DD0-A429-F843-3F031E34C1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98" t="13244" r="7630" b="7757"/>
          <a:stretch/>
        </p:blipFill>
        <p:spPr>
          <a:xfrm>
            <a:off x="7680466" y="1734679"/>
            <a:ext cx="4336438" cy="380334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D5C01-82D3-7C03-A137-7F8308AB6474}"/>
              </a:ext>
            </a:extLst>
          </p:cNvPr>
          <p:cNvCxnSpPr>
            <a:cxnSpLocks/>
          </p:cNvCxnSpPr>
          <p:nvPr/>
        </p:nvCxnSpPr>
        <p:spPr>
          <a:xfrm>
            <a:off x="4680831" y="385320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808E6F5-EC55-2EAA-808E-E143FAEFD3B2}"/>
              </a:ext>
            </a:extLst>
          </p:cNvPr>
          <p:cNvCxnSpPr>
            <a:cxnSpLocks/>
          </p:cNvCxnSpPr>
          <p:nvPr/>
        </p:nvCxnSpPr>
        <p:spPr>
          <a:xfrm>
            <a:off x="5184402" y="287965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F8EB22C-AB73-8F99-6980-5F1D5231EF58}"/>
              </a:ext>
            </a:extLst>
          </p:cNvPr>
          <p:cNvCxnSpPr>
            <a:cxnSpLocks/>
          </p:cNvCxnSpPr>
          <p:nvPr/>
        </p:nvCxnSpPr>
        <p:spPr>
          <a:xfrm>
            <a:off x="6677720" y="339246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372B1EBA-F098-9005-83E1-014D34C29DC4}"/>
              </a:ext>
            </a:extLst>
          </p:cNvPr>
          <p:cNvSpPr txBox="1">
            <a:spLocks/>
          </p:cNvSpPr>
          <p:nvPr/>
        </p:nvSpPr>
        <p:spPr>
          <a:xfrm>
            <a:off x="590636" y="5926729"/>
            <a:ext cx="11318917" cy="769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Although unrelated to ven-dor, I saw one other interesting pattern: All cross-hemisphere edges correlate with one another</a:t>
            </a:r>
          </a:p>
          <a:p>
            <a:r>
              <a:rPr lang="en-US" sz="1600" dirty="0"/>
              <a:t>e.g., parietal L-R connectivity correlates with ATL L-R connectivity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CBA1F14-24D6-A8C7-8DDD-E736D3DD23E7}"/>
              </a:ext>
            </a:extLst>
          </p:cNvPr>
          <p:cNvCxnSpPr>
            <a:cxnSpLocks/>
          </p:cNvCxnSpPr>
          <p:nvPr/>
        </p:nvCxnSpPr>
        <p:spPr>
          <a:xfrm flipH="1">
            <a:off x="4673176" y="2956052"/>
            <a:ext cx="405159" cy="9357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82EF295-BC8F-96B7-5D84-83A7D01DF2F5}"/>
              </a:ext>
            </a:extLst>
          </p:cNvPr>
          <p:cNvCxnSpPr>
            <a:cxnSpLocks/>
          </p:cNvCxnSpPr>
          <p:nvPr/>
        </p:nvCxnSpPr>
        <p:spPr>
          <a:xfrm flipH="1">
            <a:off x="6195568" y="3401130"/>
            <a:ext cx="381011" cy="93812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A2E64EF-50B1-4ECF-68D3-30B241E76811}"/>
              </a:ext>
            </a:extLst>
          </p:cNvPr>
          <p:cNvSpPr/>
          <p:nvPr/>
        </p:nvSpPr>
        <p:spPr>
          <a:xfrm>
            <a:off x="5977813" y="418756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1D8703-45AA-82B7-678B-FB85FF25A16A}"/>
              </a:ext>
            </a:extLst>
          </p:cNvPr>
          <p:cNvSpPr txBox="1"/>
          <p:nvPr/>
        </p:nvSpPr>
        <p:spPr>
          <a:xfrm>
            <a:off x="5920826" y="421451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17F4AE5-1493-8180-4BAF-EC871D054B8E}"/>
              </a:ext>
            </a:extLst>
          </p:cNvPr>
          <p:cNvSpPr/>
          <p:nvPr/>
        </p:nvSpPr>
        <p:spPr>
          <a:xfrm>
            <a:off x="6408617" y="323470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06657C-0F1D-A66D-6021-F695873B33CD}"/>
              </a:ext>
            </a:extLst>
          </p:cNvPr>
          <p:cNvSpPr txBox="1"/>
          <p:nvPr/>
        </p:nvSpPr>
        <p:spPr>
          <a:xfrm>
            <a:off x="6351630" y="326165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B3086B3-05F2-392E-C355-6210761F3BA0}"/>
              </a:ext>
            </a:extLst>
          </p:cNvPr>
          <p:cNvSpPr/>
          <p:nvPr/>
        </p:nvSpPr>
        <p:spPr>
          <a:xfrm>
            <a:off x="4958701" y="27397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BA9104-09A3-CA29-CE9B-A4EB1FBEBD26}"/>
              </a:ext>
            </a:extLst>
          </p:cNvPr>
          <p:cNvSpPr txBox="1"/>
          <p:nvPr/>
        </p:nvSpPr>
        <p:spPr>
          <a:xfrm>
            <a:off x="4920450" y="277069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7D96FF4-330E-7851-97A9-4A659278A654}"/>
              </a:ext>
            </a:extLst>
          </p:cNvPr>
          <p:cNvSpPr/>
          <p:nvPr/>
        </p:nvSpPr>
        <p:spPr>
          <a:xfrm>
            <a:off x="5529091" y="266690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EFEAFC-F75B-BBBF-34B1-F37AD7B7FBD3}"/>
              </a:ext>
            </a:extLst>
          </p:cNvPr>
          <p:cNvSpPr txBox="1"/>
          <p:nvPr/>
        </p:nvSpPr>
        <p:spPr>
          <a:xfrm>
            <a:off x="5490840" y="269785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50F691-2B5E-A4C9-1000-8B7E5D4F4950}"/>
              </a:ext>
            </a:extLst>
          </p:cNvPr>
          <p:cNvCxnSpPr>
            <a:cxnSpLocks/>
          </p:cNvCxnSpPr>
          <p:nvPr/>
        </p:nvCxnSpPr>
        <p:spPr>
          <a:xfrm>
            <a:off x="4753598" y="3832510"/>
            <a:ext cx="38040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DF91CC3-1129-488D-09E7-85767D9254E6}"/>
              </a:ext>
            </a:extLst>
          </p:cNvPr>
          <p:cNvSpPr/>
          <p:nvPr/>
        </p:nvSpPr>
        <p:spPr>
          <a:xfrm>
            <a:off x="4527897" y="369259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973C05-E0B8-FE03-1935-9F1F8EFE7F6D}"/>
              </a:ext>
            </a:extLst>
          </p:cNvPr>
          <p:cNvSpPr txBox="1"/>
          <p:nvPr/>
        </p:nvSpPr>
        <p:spPr>
          <a:xfrm>
            <a:off x="4470596" y="372355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389988-0F1C-DFC4-2CF3-F12F6DFC795D}"/>
              </a:ext>
            </a:extLst>
          </p:cNvPr>
          <p:cNvSpPr/>
          <p:nvPr/>
        </p:nvSpPr>
        <p:spPr>
          <a:xfrm>
            <a:off x="5098287" y="361976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12F99C-98A0-36A6-3336-70EC9F90ADF5}"/>
              </a:ext>
            </a:extLst>
          </p:cNvPr>
          <p:cNvSpPr txBox="1"/>
          <p:nvPr/>
        </p:nvSpPr>
        <p:spPr>
          <a:xfrm>
            <a:off x="5040986" y="365071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3623551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B6CE-4BB6-DE86-E28F-BECB6BFD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fluctuation more exactly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2AE3D-9C8E-81DB-9172-1828200A8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9698"/>
          </a:xfrm>
        </p:spPr>
        <p:txBody>
          <a:bodyPr/>
          <a:lstStyle/>
          <a:p>
            <a:r>
              <a:rPr lang="en-US" dirty="0"/>
              <a:t>To a degree, the fluctuation on the left is occuring</a:t>
            </a:r>
          </a:p>
          <a:p>
            <a:r>
              <a:rPr lang="en-US" dirty="0"/>
              <a:t>However, the fluctuation on the right is more intense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95C97-931D-4B9E-4F73-38393A4E66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9179606" y="4371937"/>
            <a:ext cx="2009094" cy="175077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C90E3C-CAC1-DA4E-6876-A8368F72EB1C}"/>
              </a:ext>
            </a:extLst>
          </p:cNvPr>
          <p:cNvCxnSpPr>
            <a:cxnSpLocks/>
          </p:cNvCxnSpPr>
          <p:nvPr/>
        </p:nvCxnSpPr>
        <p:spPr>
          <a:xfrm>
            <a:off x="9435886" y="5442327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163EE84-EE63-B2AD-AD46-CF93868E19C4}"/>
              </a:ext>
            </a:extLst>
          </p:cNvPr>
          <p:cNvSpPr/>
          <p:nvPr/>
        </p:nvSpPr>
        <p:spPr>
          <a:xfrm>
            <a:off x="9321149" y="5321833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0F1EE-8A08-30AE-0250-63120AA2C52C}"/>
              </a:ext>
            </a:extLst>
          </p:cNvPr>
          <p:cNvSpPr txBox="1"/>
          <p:nvPr/>
        </p:nvSpPr>
        <p:spPr>
          <a:xfrm>
            <a:off x="9240565" y="5325777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87425A-F08E-CED8-9507-63E367ABE3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6972006" y="4295023"/>
            <a:ext cx="2009094" cy="17507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8CAA6A-D5A3-7DBD-D0CA-1F2E8D636CD2}"/>
              </a:ext>
            </a:extLst>
          </p:cNvPr>
          <p:cNvCxnSpPr>
            <a:cxnSpLocks/>
          </p:cNvCxnSpPr>
          <p:nvPr/>
        </p:nvCxnSpPr>
        <p:spPr>
          <a:xfrm flipH="1">
            <a:off x="7229511" y="4861876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C84E9F8-16C9-131E-64D1-2FA147841F70}"/>
              </a:ext>
            </a:extLst>
          </p:cNvPr>
          <p:cNvSpPr/>
          <p:nvPr/>
        </p:nvSpPr>
        <p:spPr>
          <a:xfrm>
            <a:off x="7089359" y="5252206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315BA-2B62-A223-0E2D-7BB045E86874}"/>
              </a:ext>
            </a:extLst>
          </p:cNvPr>
          <p:cNvSpPr txBox="1"/>
          <p:nvPr/>
        </p:nvSpPr>
        <p:spPr>
          <a:xfrm>
            <a:off x="6998592" y="5265537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B2A75A-4FD8-C207-C27B-EB8BCC378645}"/>
              </a:ext>
            </a:extLst>
          </p:cNvPr>
          <p:cNvCxnSpPr>
            <a:cxnSpLocks/>
          </p:cNvCxnSpPr>
          <p:nvPr/>
        </p:nvCxnSpPr>
        <p:spPr>
          <a:xfrm flipH="1">
            <a:off x="10556648" y="5243624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4C26B0A-253A-E960-0B7D-2B4852F6D36C}"/>
              </a:ext>
            </a:extLst>
          </p:cNvPr>
          <p:cNvSpPr/>
          <p:nvPr/>
        </p:nvSpPr>
        <p:spPr>
          <a:xfrm>
            <a:off x="10680994" y="5054403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AF550-767B-815E-5D8B-1FD053165F6D}"/>
              </a:ext>
            </a:extLst>
          </p:cNvPr>
          <p:cNvSpPr txBox="1"/>
          <p:nvPr/>
        </p:nvSpPr>
        <p:spPr>
          <a:xfrm>
            <a:off x="10594748" y="5069043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091269-C169-D337-CFC8-3284F56021C3}"/>
              </a:ext>
            </a:extLst>
          </p:cNvPr>
          <p:cNvSpPr/>
          <p:nvPr/>
        </p:nvSpPr>
        <p:spPr>
          <a:xfrm>
            <a:off x="10393925" y="5687637"/>
            <a:ext cx="254081" cy="254081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648B9-72CD-1C62-9D4C-E638E4C97A45}"/>
              </a:ext>
            </a:extLst>
          </p:cNvPr>
          <p:cNvSpPr txBox="1"/>
          <p:nvPr/>
        </p:nvSpPr>
        <p:spPr>
          <a:xfrm>
            <a:off x="10322596" y="5698334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8823968-757F-F2A7-2735-3FE4A0526D56}"/>
              </a:ext>
            </a:extLst>
          </p:cNvPr>
          <p:cNvSpPr/>
          <p:nvPr/>
        </p:nvSpPr>
        <p:spPr>
          <a:xfrm>
            <a:off x="7526857" y="4772238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5FEE962-C0AC-8F13-9C83-A5C992042B93}"/>
              </a:ext>
            </a:extLst>
          </p:cNvPr>
          <p:cNvSpPr/>
          <p:nvPr/>
        </p:nvSpPr>
        <p:spPr>
          <a:xfrm>
            <a:off x="8491011" y="4977489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3A1227-0F79-C979-153A-D75DD36B9116}"/>
              </a:ext>
            </a:extLst>
          </p:cNvPr>
          <p:cNvCxnSpPr>
            <a:cxnSpLocks/>
          </p:cNvCxnSpPr>
          <p:nvPr/>
        </p:nvCxnSpPr>
        <p:spPr>
          <a:xfrm>
            <a:off x="7543373" y="4823014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D3F32A8-1017-DC92-C9A9-E1812ABC9DCA}"/>
              </a:ext>
            </a:extLst>
          </p:cNvPr>
          <p:cNvSpPr/>
          <p:nvPr/>
        </p:nvSpPr>
        <p:spPr>
          <a:xfrm>
            <a:off x="7428636" y="4702521"/>
            <a:ext cx="254081" cy="254081"/>
          </a:xfrm>
          <a:prstGeom prst="ellipse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B5A47A-6D20-08A6-BAA5-D25AB2C2368F}"/>
              </a:ext>
            </a:extLst>
          </p:cNvPr>
          <p:cNvSpPr txBox="1"/>
          <p:nvPr/>
        </p:nvSpPr>
        <p:spPr>
          <a:xfrm>
            <a:off x="8410103" y="4982607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DE6610-F665-3033-283A-3D4CB51179DB}"/>
              </a:ext>
            </a:extLst>
          </p:cNvPr>
          <p:cNvSpPr txBox="1"/>
          <p:nvPr/>
        </p:nvSpPr>
        <p:spPr>
          <a:xfrm>
            <a:off x="7370239" y="4698925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5036FB-D93B-D42F-687F-15319A73DEFB}"/>
              </a:ext>
            </a:extLst>
          </p:cNvPr>
          <p:cNvCxnSpPr>
            <a:cxnSpLocks/>
          </p:cNvCxnSpPr>
          <p:nvPr/>
        </p:nvCxnSpPr>
        <p:spPr>
          <a:xfrm flipV="1">
            <a:off x="7408708" y="5009410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C5FA3C4-AAEC-E9D7-ED34-70881F23B345}"/>
              </a:ext>
            </a:extLst>
          </p:cNvPr>
          <p:cNvSpPr txBox="1"/>
          <p:nvPr/>
        </p:nvSpPr>
        <p:spPr>
          <a:xfrm rot="1142097">
            <a:off x="7310634" y="5398827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8E580D-E640-47D3-87A2-0971F48B36C0}"/>
              </a:ext>
            </a:extLst>
          </p:cNvPr>
          <p:cNvCxnSpPr>
            <a:cxnSpLocks/>
          </p:cNvCxnSpPr>
          <p:nvPr/>
        </p:nvCxnSpPr>
        <p:spPr>
          <a:xfrm flipV="1">
            <a:off x="10038072" y="5240347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8E17BA6-DF08-3A9A-6F94-C5522BD0E6C4}"/>
              </a:ext>
            </a:extLst>
          </p:cNvPr>
          <p:cNvSpPr txBox="1"/>
          <p:nvPr/>
        </p:nvSpPr>
        <p:spPr>
          <a:xfrm rot="1142097">
            <a:off x="9598721" y="4669187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8CF3F8F-7230-007F-0349-F7ED6D83BC7C}"/>
              </a:ext>
            </a:extLst>
          </p:cNvPr>
          <p:cNvSpPr txBox="1"/>
          <p:nvPr/>
        </p:nvSpPr>
        <p:spPr>
          <a:xfrm>
            <a:off x="4437851" y="4041027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6C6E3AC-5733-9D1C-B5CE-9E6338FE3918}"/>
              </a:ext>
            </a:extLst>
          </p:cNvPr>
          <p:cNvSpPr txBox="1"/>
          <p:nvPr/>
        </p:nvSpPr>
        <p:spPr>
          <a:xfrm>
            <a:off x="1227434" y="4041027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753AADED-C8D3-E8C1-72CA-7437ED53E0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687593" y="4355858"/>
            <a:ext cx="2009094" cy="1750777"/>
          </a:xfrm>
          <a:prstGeom prst="rect">
            <a:avLst/>
          </a:prstGeom>
        </p:spPr>
      </p:pic>
      <p:sp>
        <p:nvSpPr>
          <p:cNvPr id="86" name="Oval 85">
            <a:extLst>
              <a:ext uri="{FF2B5EF4-FFF2-40B4-BE49-F238E27FC236}">
                <a16:creationId xmlns:a16="http://schemas.microsoft.com/office/drawing/2014/main" id="{D6D7BC94-BB1A-DD1B-3DAB-C7E75E65C09B}"/>
              </a:ext>
            </a:extLst>
          </p:cNvPr>
          <p:cNvSpPr/>
          <p:nvPr/>
        </p:nvSpPr>
        <p:spPr>
          <a:xfrm>
            <a:off x="1242444" y="4833073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C70A602-1CEE-D425-89F4-D3808B246DA9}"/>
              </a:ext>
            </a:extLst>
          </p:cNvPr>
          <p:cNvSpPr/>
          <p:nvPr/>
        </p:nvSpPr>
        <p:spPr>
          <a:xfrm>
            <a:off x="2206598" y="5038324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DC5B173-7CA0-6D47-E5D3-E4A3B8CD0D0F}"/>
              </a:ext>
            </a:extLst>
          </p:cNvPr>
          <p:cNvCxnSpPr>
            <a:cxnSpLocks/>
          </p:cNvCxnSpPr>
          <p:nvPr/>
        </p:nvCxnSpPr>
        <p:spPr>
          <a:xfrm>
            <a:off x="1258960" y="4883849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8D293D4D-7291-B783-6FC2-A1A229204A82}"/>
              </a:ext>
            </a:extLst>
          </p:cNvPr>
          <p:cNvSpPr/>
          <p:nvPr/>
        </p:nvSpPr>
        <p:spPr>
          <a:xfrm>
            <a:off x="1144223" y="4763356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3DA71D0-6DEB-B6A0-97C6-52B3F908C2C2}"/>
              </a:ext>
            </a:extLst>
          </p:cNvPr>
          <p:cNvSpPr txBox="1"/>
          <p:nvPr/>
        </p:nvSpPr>
        <p:spPr>
          <a:xfrm>
            <a:off x="2125690" y="5043442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8643B88-DE1A-5595-EA61-22481AA4AC2E}"/>
              </a:ext>
            </a:extLst>
          </p:cNvPr>
          <p:cNvSpPr txBox="1"/>
          <p:nvPr/>
        </p:nvSpPr>
        <p:spPr>
          <a:xfrm>
            <a:off x="1085826" y="4759760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E83CA6C0-AF8A-1B2E-7BAC-5A35F8AD29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3860548" y="4357820"/>
            <a:ext cx="2009094" cy="1750777"/>
          </a:xfrm>
          <a:prstGeom prst="rect">
            <a:avLst/>
          </a:prstGeom>
        </p:spPr>
      </p:pic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EF5150C-AB0F-A03F-9F10-5D3A6E0147A8}"/>
              </a:ext>
            </a:extLst>
          </p:cNvPr>
          <p:cNvCxnSpPr>
            <a:cxnSpLocks/>
          </p:cNvCxnSpPr>
          <p:nvPr/>
        </p:nvCxnSpPr>
        <p:spPr>
          <a:xfrm flipH="1">
            <a:off x="4127235" y="4911850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F4983179-EA13-6D5D-08C4-BDE4C98309D2}"/>
              </a:ext>
            </a:extLst>
          </p:cNvPr>
          <p:cNvSpPr/>
          <p:nvPr/>
        </p:nvSpPr>
        <p:spPr>
          <a:xfrm>
            <a:off x="4397783" y="4835035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FDEF5D5-E01C-3ED7-2B8B-4D7B93F3D5C6}"/>
              </a:ext>
            </a:extLst>
          </p:cNvPr>
          <p:cNvSpPr/>
          <p:nvPr/>
        </p:nvSpPr>
        <p:spPr>
          <a:xfrm>
            <a:off x="4299561" y="4765318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5CEB5D6-7C7B-D3E5-532A-34AB490A122B}"/>
              </a:ext>
            </a:extLst>
          </p:cNvPr>
          <p:cNvSpPr txBox="1"/>
          <p:nvPr/>
        </p:nvSpPr>
        <p:spPr>
          <a:xfrm>
            <a:off x="4231639" y="4765814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2D27295-93CF-B74E-AB88-688593722149}"/>
              </a:ext>
            </a:extLst>
          </p:cNvPr>
          <p:cNvSpPr/>
          <p:nvPr/>
        </p:nvSpPr>
        <p:spPr>
          <a:xfrm>
            <a:off x="3987083" y="5302180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45B86E7-8865-9516-88FB-007D27E5ED27}"/>
              </a:ext>
            </a:extLst>
          </p:cNvPr>
          <p:cNvSpPr txBox="1"/>
          <p:nvPr/>
        </p:nvSpPr>
        <p:spPr>
          <a:xfrm>
            <a:off x="3896316" y="5315511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795D466-A4C7-2015-6F60-CF93713E2578}"/>
              </a:ext>
            </a:extLst>
          </p:cNvPr>
          <p:cNvCxnSpPr>
            <a:cxnSpLocks/>
          </p:cNvCxnSpPr>
          <p:nvPr/>
        </p:nvCxnSpPr>
        <p:spPr>
          <a:xfrm>
            <a:off x="2841275" y="5190726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1B6C0B1-384E-6ADE-DEE2-362BFAE1D463}"/>
              </a:ext>
            </a:extLst>
          </p:cNvPr>
          <p:cNvSpPr txBox="1"/>
          <p:nvPr/>
        </p:nvSpPr>
        <p:spPr>
          <a:xfrm>
            <a:off x="2665918" y="4399411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A7E53E3-2F70-1FAE-4DAA-C0DB24305D06}"/>
              </a:ext>
            </a:extLst>
          </p:cNvPr>
          <p:cNvCxnSpPr>
            <a:cxnSpLocks/>
          </p:cNvCxnSpPr>
          <p:nvPr/>
        </p:nvCxnSpPr>
        <p:spPr>
          <a:xfrm flipH="1">
            <a:off x="5260078" y="5182466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40EF610E-5C11-CE46-35EB-E065119D1493}"/>
              </a:ext>
            </a:extLst>
          </p:cNvPr>
          <p:cNvSpPr/>
          <p:nvPr/>
        </p:nvSpPr>
        <p:spPr>
          <a:xfrm>
            <a:off x="5384424" y="4993245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C27F283-16EA-09F6-D0D5-2062D46B1B9A}"/>
              </a:ext>
            </a:extLst>
          </p:cNvPr>
          <p:cNvSpPr txBox="1"/>
          <p:nvPr/>
        </p:nvSpPr>
        <p:spPr>
          <a:xfrm>
            <a:off x="5298178" y="5007885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D3D9BE1-5689-7CC3-635A-36B1D927E4F1}"/>
              </a:ext>
            </a:extLst>
          </p:cNvPr>
          <p:cNvSpPr/>
          <p:nvPr/>
        </p:nvSpPr>
        <p:spPr>
          <a:xfrm>
            <a:off x="5097355" y="5626479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D3084FA-A430-38C8-8969-3D41FA6A1307}"/>
              </a:ext>
            </a:extLst>
          </p:cNvPr>
          <p:cNvSpPr txBox="1"/>
          <p:nvPr/>
        </p:nvSpPr>
        <p:spPr>
          <a:xfrm>
            <a:off x="5026026" y="5637176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A1014F0-0AFA-95EC-973E-B3BE31EE55DC}"/>
              </a:ext>
            </a:extLst>
          </p:cNvPr>
          <p:cNvSpPr/>
          <p:nvPr/>
        </p:nvSpPr>
        <p:spPr>
          <a:xfrm>
            <a:off x="1876932" y="5663634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7B36B51-0C04-1768-FF11-A3092721488C}"/>
              </a:ext>
            </a:extLst>
          </p:cNvPr>
          <p:cNvCxnSpPr>
            <a:cxnSpLocks/>
          </p:cNvCxnSpPr>
          <p:nvPr/>
        </p:nvCxnSpPr>
        <p:spPr>
          <a:xfrm>
            <a:off x="903885" y="5412788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01D7C4F4-8F43-94C8-0309-63D094A9176F}"/>
              </a:ext>
            </a:extLst>
          </p:cNvPr>
          <p:cNvSpPr/>
          <p:nvPr/>
        </p:nvSpPr>
        <p:spPr>
          <a:xfrm>
            <a:off x="789148" y="5292294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AB5E92B-D81F-36F4-273B-A4BA26B93B48}"/>
              </a:ext>
            </a:extLst>
          </p:cNvPr>
          <p:cNvSpPr txBox="1"/>
          <p:nvPr/>
        </p:nvSpPr>
        <p:spPr>
          <a:xfrm>
            <a:off x="1805605" y="5665968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A9F35E5-EAF7-395B-5915-EE0BAC24B4D9}"/>
              </a:ext>
            </a:extLst>
          </p:cNvPr>
          <p:cNvSpPr txBox="1"/>
          <p:nvPr/>
        </p:nvSpPr>
        <p:spPr>
          <a:xfrm>
            <a:off x="708564" y="5296238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11AD6BA-F8AE-E15B-A32D-F0AF650C6215}"/>
              </a:ext>
            </a:extLst>
          </p:cNvPr>
          <p:cNvSpPr txBox="1"/>
          <p:nvPr/>
        </p:nvSpPr>
        <p:spPr>
          <a:xfrm>
            <a:off x="2359048" y="3273360"/>
            <a:ext cx="1829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Whole brain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751056E-C86F-B669-EB66-97B3E0C97178}"/>
              </a:ext>
            </a:extLst>
          </p:cNvPr>
          <p:cNvSpPr txBox="1"/>
          <p:nvPr/>
        </p:nvSpPr>
        <p:spPr>
          <a:xfrm>
            <a:off x="8264932" y="327336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Precise</a:t>
            </a:r>
          </a:p>
        </p:txBody>
      </p:sp>
    </p:spTree>
    <p:extLst>
      <p:ext uri="{BB962C8B-B14F-4D97-AF65-F5344CB8AC3E}">
        <p14:creationId xmlns:p14="http://schemas.microsoft.com/office/powerpoint/2010/main" val="3686991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BEAA-2791-D95F-FF09-375D4DFC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 vs. Functional quadrans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9B081-2328-C1D2-D356-3BC91D32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2286000"/>
            <a:ext cx="4572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1D31C8-547B-D958-DA20-CED014AE5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4572000" cy="457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E43A7-A246-0AE6-1626-AF4C19195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94"/>
            <a:ext cx="10515600" cy="120570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correlations are all around duller (closer to zero) if the anatomical quadrants are used</a:t>
            </a:r>
          </a:p>
          <a:p>
            <a:r>
              <a:rPr lang="en-US" dirty="0"/>
              <a:t>However, the fluctuations are still robust (rs &lt; -.3)</a:t>
            </a:r>
          </a:p>
        </p:txBody>
      </p:sp>
    </p:spTree>
    <p:extLst>
      <p:ext uri="{BB962C8B-B14F-4D97-AF65-F5344CB8AC3E}">
        <p14:creationId xmlns:p14="http://schemas.microsoft.com/office/powerpoint/2010/main" val="33457210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4C11F947-F661-24F1-1EAA-A521C33676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32617" y="2633086"/>
            <a:ext cx="2009094" cy="1750777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8FA7C18-C296-D58A-2665-C0307C9B5931}"/>
              </a:ext>
            </a:extLst>
          </p:cNvPr>
          <p:cNvCxnSpPr>
            <a:cxnSpLocks/>
          </p:cNvCxnSpPr>
          <p:nvPr/>
        </p:nvCxnSpPr>
        <p:spPr>
          <a:xfrm flipH="1">
            <a:off x="1190122" y="3199939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B2C5C163-E435-5B43-C665-29A116F96EC5}"/>
              </a:ext>
            </a:extLst>
          </p:cNvPr>
          <p:cNvSpPr/>
          <p:nvPr/>
        </p:nvSpPr>
        <p:spPr>
          <a:xfrm>
            <a:off x="1049970" y="3590269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C345375-2C69-4D07-6288-FD6EB3B063A2}"/>
              </a:ext>
            </a:extLst>
          </p:cNvPr>
          <p:cNvSpPr txBox="1"/>
          <p:nvPr/>
        </p:nvSpPr>
        <p:spPr>
          <a:xfrm>
            <a:off x="959203" y="3603600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E7569-D455-E792-3D55-38DA8271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9DC6B-9FDE-6C77-299D-B0D8E7D6B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134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95AAC-B5E6-48D7-1B86-17A5F502422D}"/>
              </a:ext>
            </a:extLst>
          </p:cNvPr>
          <p:cNvSpPr txBox="1"/>
          <p:nvPr/>
        </p:nvSpPr>
        <p:spPr>
          <a:xfrm>
            <a:off x="4302259" y="4539710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21F25-E772-AC3B-EC69-26F013AA462A}"/>
              </a:ext>
            </a:extLst>
          </p:cNvPr>
          <p:cNvSpPr txBox="1"/>
          <p:nvPr/>
        </p:nvSpPr>
        <p:spPr>
          <a:xfrm>
            <a:off x="1091842" y="4539710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4E702-8AFA-CDBD-C817-F47619453F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552001" y="4854541"/>
            <a:ext cx="2009094" cy="175077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EBBE503-D27D-33B7-B1CA-452EA85F8103}"/>
              </a:ext>
            </a:extLst>
          </p:cNvPr>
          <p:cNvSpPr/>
          <p:nvPr/>
        </p:nvSpPr>
        <p:spPr>
          <a:xfrm>
            <a:off x="1106852" y="5331756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F0764D-122A-7C66-D4CA-FD8B0E040272}"/>
              </a:ext>
            </a:extLst>
          </p:cNvPr>
          <p:cNvSpPr/>
          <p:nvPr/>
        </p:nvSpPr>
        <p:spPr>
          <a:xfrm>
            <a:off x="2071006" y="5537007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6F7F94-6761-C25E-4F24-969A54D82D64}"/>
              </a:ext>
            </a:extLst>
          </p:cNvPr>
          <p:cNvCxnSpPr>
            <a:cxnSpLocks/>
          </p:cNvCxnSpPr>
          <p:nvPr/>
        </p:nvCxnSpPr>
        <p:spPr>
          <a:xfrm>
            <a:off x="1123368" y="5382532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614B278-4FA0-D891-7AE8-4304C626EFE6}"/>
              </a:ext>
            </a:extLst>
          </p:cNvPr>
          <p:cNvSpPr/>
          <p:nvPr/>
        </p:nvSpPr>
        <p:spPr>
          <a:xfrm>
            <a:off x="1008631" y="5262039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2E481C-3E71-AF7D-2EB6-369BD3917FA5}"/>
              </a:ext>
            </a:extLst>
          </p:cNvPr>
          <p:cNvSpPr txBox="1"/>
          <p:nvPr/>
        </p:nvSpPr>
        <p:spPr>
          <a:xfrm>
            <a:off x="1990098" y="5542125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F4CD8D-91C9-E9B1-0E8F-3A02C7338D6A}"/>
              </a:ext>
            </a:extLst>
          </p:cNvPr>
          <p:cNvSpPr txBox="1"/>
          <p:nvPr/>
        </p:nvSpPr>
        <p:spPr>
          <a:xfrm>
            <a:off x="950234" y="5258443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0C7CE8-7B19-21D8-4370-5A09DE7A6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724956" y="4856503"/>
            <a:ext cx="2009094" cy="175077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AEA7BB-3AFB-9A36-44EA-E1AAFEAAF4FF}"/>
              </a:ext>
            </a:extLst>
          </p:cNvPr>
          <p:cNvCxnSpPr>
            <a:cxnSpLocks/>
          </p:cNvCxnSpPr>
          <p:nvPr/>
        </p:nvCxnSpPr>
        <p:spPr>
          <a:xfrm flipH="1">
            <a:off x="3991643" y="5410533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4F24EA97-A72C-F489-3502-6545DEA47F03}"/>
              </a:ext>
            </a:extLst>
          </p:cNvPr>
          <p:cNvSpPr/>
          <p:nvPr/>
        </p:nvSpPr>
        <p:spPr>
          <a:xfrm>
            <a:off x="4262191" y="5333718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F3005C-CB71-659A-BA13-B900127ABA11}"/>
              </a:ext>
            </a:extLst>
          </p:cNvPr>
          <p:cNvSpPr/>
          <p:nvPr/>
        </p:nvSpPr>
        <p:spPr>
          <a:xfrm>
            <a:off x="4163969" y="5264001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92500C-A7A9-360D-9082-C13A9AC73251}"/>
              </a:ext>
            </a:extLst>
          </p:cNvPr>
          <p:cNvSpPr txBox="1"/>
          <p:nvPr/>
        </p:nvSpPr>
        <p:spPr>
          <a:xfrm>
            <a:off x="4096047" y="5264497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E3AD53-6900-02C0-258B-DFE71E06148C}"/>
              </a:ext>
            </a:extLst>
          </p:cNvPr>
          <p:cNvSpPr/>
          <p:nvPr/>
        </p:nvSpPr>
        <p:spPr>
          <a:xfrm>
            <a:off x="3851491" y="5800863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210DA2-9DE0-D834-52E6-8DCEE3D9B5C2}"/>
              </a:ext>
            </a:extLst>
          </p:cNvPr>
          <p:cNvSpPr txBox="1"/>
          <p:nvPr/>
        </p:nvSpPr>
        <p:spPr>
          <a:xfrm>
            <a:off x="3760724" y="5814194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BAD755-0926-2367-9271-5ED4278EB8EA}"/>
              </a:ext>
            </a:extLst>
          </p:cNvPr>
          <p:cNvCxnSpPr>
            <a:cxnSpLocks/>
          </p:cNvCxnSpPr>
          <p:nvPr/>
        </p:nvCxnSpPr>
        <p:spPr>
          <a:xfrm>
            <a:off x="2705683" y="5689409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963E8EC-768C-1B65-2AFF-E1A9B6260BFF}"/>
              </a:ext>
            </a:extLst>
          </p:cNvPr>
          <p:cNvSpPr txBox="1"/>
          <p:nvPr/>
        </p:nvSpPr>
        <p:spPr>
          <a:xfrm>
            <a:off x="2530326" y="4898094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52026C-07AB-03FA-C9DA-AB67845A2F7C}"/>
              </a:ext>
            </a:extLst>
          </p:cNvPr>
          <p:cNvSpPr txBox="1"/>
          <p:nvPr/>
        </p:nvSpPr>
        <p:spPr>
          <a:xfrm>
            <a:off x="10194380" y="4556516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26082D-4F0F-170C-B429-901FBF4199EE}"/>
              </a:ext>
            </a:extLst>
          </p:cNvPr>
          <p:cNvSpPr txBox="1"/>
          <p:nvPr/>
        </p:nvSpPr>
        <p:spPr>
          <a:xfrm>
            <a:off x="6983963" y="4556516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74A74BF-BC28-C815-4786-2E2737C50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6444122" y="4871347"/>
            <a:ext cx="2009094" cy="1750777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1A0C2BCA-CFFD-D157-D7B9-1BD25E28FCE6}"/>
              </a:ext>
            </a:extLst>
          </p:cNvPr>
          <p:cNvSpPr/>
          <p:nvPr/>
        </p:nvSpPr>
        <p:spPr>
          <a:xfrm>
            <a:off x="7676058" y="6187047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B624A1-6B53-7107-5B09-E783330521EE}"/>
              </a:ext>
            </a:extLst>
          </p:cNvPr>
          <p:cNvCxnSpPr>
            <a:cxnSpLocks/>
          </p:cNvCxnSpPr>
          <p:nvPr/>
        </p:nvCxnSpPr>
        <p:spPr>
          <a:xfrm>
            <a:off x="6703011" y="5936201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47EBD547-30EA-91D5-D0B2-F0FCAE993246}"/>
              </a:ext>
            </a:extLst>
          </p:cNvPr>
          <p:cNvSpPr/>
          <p:nvPr/>
        </p:nvSpPr>
        <p:spPr>
          <a:xfrm>
            <a:off x="6588274" y="5815707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0CDA48-D48F-4D76-B636-784B8D605B59}"/>
              </a:ext>
            </a:extLst>
          </p:cNvPr>
          <p:cNvSpPr txBox="1"/>
          <p:nvPr/>
        </p:nvSpPr>
        <p:spPr>
          <a:xfrm>
            <a:off x="7604731" y="6189381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185CA5-7FA9-F587-F6AC-54C8DA5D3C16}"/>
              </a:ext>
            </a:extLst>
          </p:cNvPr>
          <p:cNvSpPr txBox="1"/>
          <p:nvPr/>
        </p:nvSpPr>
        <p:spPr>
          <a:xfrm>
            <a:off x="6507690" y="5819651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F8C58C3-9410-9239-CC17-0D205F1B60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617077" y="4873309"/>
            <a:ext cx="2009094" cy="1750777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B233AA9-3ABD-891A-AD4F-8A49D2A8C7E2}"/>
              </a:ext>
            </a:extLst>
          </p:cNvPr>
          <p:cNvCxnSpPr>
            <a:cxnSpLocks/>
          </p:cNvCxnSpPr>
          <p:nvPr/>
        </p:nvCxnSpPr>
        <p:spPr>
          <a:xfrm flipH="1">
            <a:off x="10994119" y="5744996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0B09E73-0C69-B0E1-5921-510CE9AF9DA3}"/>
              </a:ext>
            </a:extLst>
          </p:cNvPr>
          <p:cNvSpPr/>
          <p:nvPr/>
        </p:nvSpPr>
        <p:spPr>
          <a:xfrm>
            <a:off x="11118465" y="5555775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862D1E-098B-30FE-892C-2BA0837092C1}"/>
              </a:ext>
            </a:extLst>
          </p:cNvPr>
          <p:cNvSpPr txBox="1"/>
          <p:nvPr/>
        </p:nvSpPr>
        <p:spPr>
          <a:xfrm>
            <a:off x="11032219" y="5570415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3F6DC00-AFD3-633B-7EF9-F42628004100}"/>
              </a:ext>
            </a:extLst>
          </p:cNvPr>
          <p:cNvSpPr/>
          <p:nvPr/>
        </p:nvSpPr>
        <p:spPr>
          <a:xfrm>
            <a:off x="10831396" y="6189009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76A843-1853-2806-F1AE-D1DE4F9D9103}"/>
              </a:ext>
            </a:extLst>
          </p:cNvPr>
          <p:cNvSpPr txBox="1"/>
          <p:nvPr/>
        </p:nvSpPr>
        <p:spPr>
          <a:xfrm>
            <a:off x="10760067" y="6199706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DD636E3-B0AE-E481-924B-F683C0D2DCBA}"/>
              </a:ext>
            </a:extLst>
          </p:cNvPr>
          <p:cNvCxnSpPr>
            <a:cxnSpLocks/>
          </p:cNvCxnSpPr>
          <p:nvPr/>
        </p:nvCxnSpPr>
        <p:spPr>
          <a:xfrm>
            <a:off x="8597804" y="5706215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B6F31AF-3599-413D-8DBC-AD05AE0734FE}"/>
              </a:ext>
            </a:extLst>
          </p:cNvPr>
          <p:cNvSpPr txBox="1"/>
          <p:nvPr/>
        </p:nvSpPr>
        <p:spPr>
          <a:xfrm>
            <a:off x="8422447" y="4914900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B365E1-DE6A-C81E-407E-C1F5847F0346}"/>
              </a:ext>
            </a:extLst>
          </p:cNvPr>
          <p:cNvSpPr txBox="1"/>
          <p:nvPr/>
        </p:nvSpPr>
        <p:spPr>
          <a:xfrm>
            <a:off x="4682875" y="2318255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C896E5-0696-5442-7EFF-6831C86523C6}"/>
              </a:ext>
            </a:extLst>
          </p:cNvPr>
          <p:cNvSpPr txBox="1"/>
          <p:nvPr/>
        </p:nvSpPr>
        <p:spPr>
          <a:xfrm>
            <a:off x="1472458" y="2318255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A8594A1-9C3A-7BC0-F7B5-EFAF22B36CE5}"/>
              </a:ext>
            </a:extLst>
          </p:cNvPr>
          <p:cNvSpPr/>
          <p:nvPr/>
        </p:nvSpPr>
        <p:spPr>
          <a:xfrm>
            <a:off x="1487468" y="3110301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49CFC81-BE19-6E02-C7B8-633EF2D4CEA7}"/>
              </a:ext>
            </a:extLst>
          </p:cNvPr>
          <p:cNvSpPr/>
          <p:nvPr/>
        </p:nvSpPr>
        <p:spPr>
          <a:xfrm>
            <a:off x="2451622" y="3315552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B7DD23B-BC41-27F4-536E-A1C355428DE7}"/>
              </a:ext>
            </a:extLst>
          </p:cNvPr>
          <p:cNvCxnSpPr>
            <a:cxnSpLocks/>
          </p:cNvCxnSpPr>
          <p:nvPr/>
        </p:nvCxnSpPr>
        <p:spPr>
          <a:xfrm>
            <a:off x="1503984" y="3161077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8B42DC8-3CE8-0F04-E113-E8E2FE757180}"/>
              </a:ext>
            </a:extLst>
          </p:cNvPr>
          <p:cNvSpPr/>
          <p:nvPr/>
        </p:nvSpPr>
        <p:spPr>
          <a:xfrm>
            <a:off x="1389247" y="3040584"/>
            <a:ext cx="254081" cy="254081"/>
          </a:xfrm>
          <a:prstGeom prst="ellipse">
            <a:avLst/>
          </a:prstGeom>
          <a:solidFill>
            <a:srgbClr val="7030A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980373-49A3-DA4B-A817-EDA437CF731F}"/>
              </a:ext>
            </a:extLst>
          </p:cNvPr>
          <p:cNvSpPr txBox="1"/>
          <p:nvPr/>
        </p:nvSpPr>
        <p:spPr>
          <a:xfrm>
            <a:off x="2370714" y="3320670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2C4968-13D0-FB9E-F581-E98707AA6225}"/>
              </a:ext>
            </a:extLst>
          </p:cNvPr>
          <p:cNvSpPr txBox="1"/>
          <p:nvPr/>
        </p:nvSpPr>
        <p:spPr>
          <a:xfrm>
            <a:off x="1330850" y="3036988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03BC14C9-3ED7-EF7A-E8CA-CF51B19858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105572" y="2635048"/>
            <a:ext cx="2009094" cy="1750777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92DDAE6-475F-032A-D954-0C842CE68B51}"/>
              </a:ext>
            </a:extLst>
          </p:cNvPr>
          <p:cNvCxnSpPr>
            <a:cxnSpLocks/>
          </p:cNvCxnSpPr>
          <p:nvPr/>
        </p:nvCxnSpPr>
        <p:spPr>
          <a:xfrm flipH="1">
            <a:off x="4372259" y="3189078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73CABC6E-F9E5-073C-023D-AA898D498AFB}"/>
              </a:ext>
            </a:extLst>
          </p:cNvPr>
          <p:cNvSpPr/>
          <p:nvPr/>
        </p:nvSpPr>
        <p:spPr>
          <a:xfrm>
            <a:off x="4642807" y="3112263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DA58736-45AD-E72B-73FC-D5360D69A65D}"/>
              </a:ext>
            </a:extLst>
          </p:cNvPr>
          <p:cNvSpPr/>
          <p:nvPr/>
        </p:nvSpPr>
        <p:spPr>
          <a:xfrm>
            <a:off x="4544585" y="3042546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98499A3-C6E7-E2E4-40EC-7070122BE357}"/>
              </a:ext>
            </a:extLst>
          </p:cNvPr>
          <p:cNvSpPr txBox="1"/>
          <p:nvPr/>
        </p:nvSpPr>
        <p:spPr>
          <a:xfrm>
            <a:off x="4476663" y="3043042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587D9CE-0711-AE87-9F88-C400698E6AD6}"/>
              </a:ext>
            </a:extLst>
          </p:cNvPr>
          <p:cNvSpPr/>
          <p:nvPr/>
        </p:nvSpPr>
        <p:spPr>
          <a:xfrm>
            <a:off x="4232107" y="3579408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85C6FA-31F5-C93A-A286-0878C05360EA}"/>
              </a:ext>
            </a:extLst>
          </p:cNvPr>
          <p:cNvSpPr txBox="1"/>
          <p:nvPr/>
        </p:nvSpPr>
        <p:spPr>
          <a:xfrm>
            <a:off x="4141340" y="3592739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04EDEAB-F566-BF90-BE58-0CF5E629B2D1}"/>
              </a:ext>
            </a:extLst>
          </p:cNvPr>
          <p:cNvCxnSpPr>
            <a:cxnSpLocks/>
          </p:cNvCxnSpPr>
          <p:nvPr/>
        </p:nvCxnSpPr>
        <p:spPr>
          <a:xfrm flipV="1">
            <a:off x="1386950" y="3384303"/>
            <a:ext cx="587648" cy="284857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1762BE8-3147-42D0-B4C7-09A56CC0CF49}"/>
              </a:ext>
            </a:extLst>
          </p:cNvPr>
          <p:cNvSpPr txBox="1"/>
          <p:nvPr/>
        </p:nvSpPr>
        <p:spPr>
          <a:xfrm>
            <a:off x="2910942" y="2676639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0729382-7C84-AC96-65DE-6B5266156A8A}"/>
              </a:ext>
            </a:extLst>
          </p:cNvPr>
          <p:cNvSpPr txBox="1"/>
          <p:nvPr/>
        </p:nvSpPr>
        <p:spPr>
          <a:xfrm>
            <a:off x="10910711" y="2366329"/>
            <a:ext cx="727835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10A30B-CCB7-1487-1537-0F94D0F2E081}"/>
              </a:ext>
            </a:extLst>
          </p:cNvPr>
          <p:cNvSpPr txBox="1"/>
          <p:nvPr/>
        </p:nvSpPr>
        <p:spPr>
          <a:xfrm>
            <a:off x="7700294" y="2366329"/>
            <a:ext cx="727739" cy="253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3456B7D3-9929-3E4D-3E75-21ACF047D7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160453" y="2681160"/>
            <a:ext cx="2009094" cy="1750777"/>
          </a:xfrm>
          <a:prstGeom prst="rect">
            <a:avLst/>
          </a:prstGeom>
        </p:spPr>
      </p:pic>
      <p:sp>
        <p:nvSpPr>
          <p:cNvPr id="88" name="Oval 87">
            <a:extLst>
              <a:ext uri="{FF2B5EF4-FFF2-40B4-BE49-F238E27FC236}">
                <a16:creationId xmlns:a16="http://schemas.microsoft.com/office/drawing/2014/main" id="{4D22DACF-C479-795F-78B5-222F35D8A7E9}"/>
              </a:ext>
            </a:extLst>
          </p:cNvPr>
          <p:cNvSpPr/>
          <p:nvPr/>
        </p:nvSpPr>
        <p:spPr>
          <a:xfrm>
            <a:off x="7715304" y="3158375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B6B1D8B-4AB9-718F-E4BF-A1317CD2C9D8}"/>
              </a:ext>
            </a:extLst>
          </p:cNvPr>
          <p:cNvSpPr/>
          <p:nvPr/>
        </p:nvSpPr>
        <p:spPr>
          <a:xfrm>
            <a:off x="8679458" y="3363626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D679E4E-260C-CEF4-A4B1-733E435B6390}"/>
              </a:ext>
            </a:extLst>
          </p:cNvPr>
          <p:cNvCxnSpPr>
            <a:cxnSpLocks/>
          </p:cNvCxnSpPr>
          <p:nvPr/>
        </p:nvCxnSpPr>
        <p:spPr>
          <a:xfrm>
            <a:off x="7731820" y="3209151"/>
            <a:ext cx="1100088" cy="26607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00233E93-AEE1-6424-0AAD-625CBEC55D4D}"/>
              </a:ext>
            </a:extLst>
          </p:cNvPr>
          <p:cNvSpPr/>
          <p:nvPr/>
        </p:nvSpPr>
        <p:spPr>
          <a:xfrm>
            <a:off x="7617083" y="3088658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9568166-1D84-D9F9-4003-0B6E2BBF30DD}"/>
              </a:ext>
            </a:extLst>
          </p:cNvPr>
          <p:cNvSpPr txBox="1"/>
          <p:nvPr/>
        </p:nvSpPr>
        <p:spPr>
          <a:xfrm>
            <a:off x="8598550" y="3368744"/>
            <a:ext cx="527202" cy="25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6CFB56E-00C1-1F7F-AE66-96F5F43B56B3}"/>
              </a:ext>
            </a:extLst>
          </p:cNvPr>
          <p:cNvSpPr txBox="1"/>
          <p:nvPr/>
        </p:nvSpPr>
        <p:spPr>
          <a:xfrm>
            <a:off x="7558686" y="3085062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E010F4EA-EAB8-B5D0-FCDB-C6E8239339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10333408" y="2683122"/>
            <a:ext cx="2009094" cy="1750777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AC18CF4-6910-E287-4A18-35CD3931B274}"/>
              </a:ext>
            </a:extLst>
          </p:cNvPr>
          <p:cNvCxnSpPr>
            <a:cxnSpLocks/>
          </p:cNvCxnSpPr>
          <p:nvPr/>
        </p:nvCxnSpPr>
        <p:spPr>
          <a:xfrm flipH="1">
            <a:off x="10600095" y="3237152"/>
            <a:ext cx="305516" cy="5323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3E3F5C46-5F79-ADE2-9135-D5BBC35A4209}"/>
              </a:ext>
            </a:extLst>
          </p:cNvPr>
          <p:cNvSpPr/>
          <p:nvPr/>
        </p:nvSpPr>
        <p:spPr>
          <a:xfrm>
            <a:off x="10870643" y="3160337"/>
            <a:ext cx="254081" cy="25408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CFDD49E-53AF-A2A1-F328-A2B6EA6629C5}"/>
              </a:ext>
            </a:extLst>
          </p:cNvPr>
          <p:cNvSpPr/>
          <p:nvPr/>
        </p:nvSpPr>
        <p:spPr>
          <a:xfrm>
            <a:off x="10772421" y="3090620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2E893C-A3DE-4D70-AF0E-6EFEEAAB9156}"/>
              </a:ext>
            </a:extLst>
          </p:cNvPr>
          <p:cNvSpPr txBox="1"/>
          <p:nvPr/>
        </p:nvSpPr>
        <p:spPr>
          <a:xfrm>
            <a:off x="10704499" y="3091116"/>
            <a:ext cx="314128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DB197CA-4D86-F5E7-7557-E537126B8E20}"/>
              </a:ext>
            </a:extLst>
          </p:cNvPr>
          <p:cNvSpPr/>
          <p:nvPr/>
        </p:nvSpPr>
        <p:spPr>
          <a:xfrm>
            <a:off x="10459943" y="3627482"/>
            <a:ext cx="254081" cy="254081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2AB86EB-8313-3A3B-4780-8CCDCA98E09D}"/>
              </a:ext>
            </a:extLst>
          </p:cNvPr>
          <p:cNvSpPr txBox="1"/>
          <p:nvPr/>
        </p:nvSpPr>
        <p:spPr>
          <a:xfrm>
            <a:off x="10369176" y="3640813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9BFE2CA-A341-CDB5-E1DA-81896F4C336F}"/>
              </a:ext>
            </a:extLst>
          </p:cNvPr>
          <p:cNvCxnSpPr>
            <a:cxnSpLocks/>
          </p:cNvCxnSpPr>
          <p:nvPr/>
        </p:nvCxnSpPr>
        <p:spPr>
          <a:xfrm>
            <a:off x="9314135" y="3516028"/>
            <a:ext cx="8416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107CFC4-71FC-418B-E502-492635A789FB}"/>
              </a:ext>
            </a:extLst>
          </p:cNvPr>
          <p:cNvSpPr txBox="1"/>
          <p:nvPr/>
        </p:nvSpPr>
        <p:spPr>
          <a:xfrm>
            <a:off x="9138778" y="2724713"/>
            <a:ext cx="985199" cy="277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D006F0F-D85E-0062-84CA-A8E39C2BF734}"/>
              </a:ext>
            </a:extLst>
          </p:cNvPr>
          <p:cNvCxnSpPr>
            <a:cxnSpLocks/>
          </p:cNvCxnSpPr>
          <p:nvPr/>
        </p:nvCxnSpPr>
        <p:spPr>
          <a:xfrm flipH="1">
            <a:off x="11732938" y="3507768"/>
            <a:ext cx="228446" cy="5162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2226B03D-638A-37AB-959B-1A63C9B2FFD2}"/>
              </a:ext>
            </a:extLst>
          </p:cNvPr>
          <p:cNvSpPr/>
          <p:nvPr/>
        </p:nvSpPr>
        <p:spPr>
          <a:xfrm>
            <a:off x="11857284" y="3318547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027D0-3844-D023-49EF-546EA2194215}"/>
              </a:ext>
            </a:extLst>
          </p:cNvPr>
          <p:cNvSpPr txBox="1"/>
          <p:nvPr/>
        </p:nvSpPr>
        <p:spPr>
          <a:xfrm>
            <a:off x="11771038" y="3333187"/>
            <a:ext cx="502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0CB58A1-9687-12D8-BCE4-D12041E6CFDD}"/>
              </a:ext>
            </a:extLst>
          </p:cNvPr>
          <p:cNvSpPr/>
          <p:nvPr/>
        </p:nvSpPr>
        <p:spPr>
          <a:xfrm>
            <a:off x="11570215" y="3951781"/>
            <a:ext cx="254081" cy="25408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BFBC526-E55B-5A77-8BE6-70284A4C842B}"/>
              </a:ext>
            </a:extLst>
          </p:cNvPr>
          <p:cNvSpPr txBox="1"/>
          <p:nvPr/>
        </p:nvSpPr>
        <p:spPr>
          <a:xfrm>
            <a:off x="11498886" y="3962478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C47F60D-D3FC-BEA6-951E-527C8BDD9CD3}"/>
              </a:ext>
            </a:extLst>
          </p:cNvPr>
          <p:cNvSpPr/>
          <p:nvPr/>
        </p:nvSpPr>
        <p:spPr>
          <a:xfrm>
            <a:off x="8349792" y="3988936"/>
            <a:ext cx="254081" cy="25408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8703E0B-40AD-68C0-652B-CB13C874B4DC}"/>
              </a:ext>
            </a:extLst>
          </p:cNvPr>
          <p:cNvCxnSpPr>
            <a:cxnSpLocks/>
          </p:cNvCxnSpPr>
          <p:nvPr/>
        </p:nvCxnSpPr>
        <p:spPr>
          <a:xfrm>
            <a:off x="7376745" y="3738090"/>
            <a:ext cx="1027321" cy="353095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6AA2774A-23DE-6395-AE5C-2E5A4F9A08CA}"/>
              </a:ext>
            </a:extLst>
          </p:cNvPr>
          <p:cNvSpPr/>
          <p:nvPr/>
        </p:nvSpPr>
        <p:spPr>
          <a:xfrm>
            <a:off x="7262008" y="3617596"/>
            <a:ext cx="254081" cy="254081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382BB7D-5573-6B02-32BA-E1A85FF32541}"/>
              </a:ext>
            </a:extLst>
          </p:cNvPr>
          <p:cNvSpPr txBox="1"/>
          <p:nvPr/>
        </p:nvSpPr>
        <p:spPr>
          <a:xfrm>
            <a:off x="8278465" y="3991270"/>
            <a:ext cx="420234" cy="1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12A2E6A-7A4F-085F-966A-B07F6AD4A3DC}"/>
              </a:ext>
            </a:extLst>
          </p:cNvPr>
          <p:cNvSpPr txBox="1"/>
          <p:nvPr/>
        </p:nvSpPr>
        <p:spPr>
          <a:xfrm>
            <a:off x="7181424" y="3621540"/>
            <a:ext cx="335776" cy="184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4131866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90D05CB-804F-0930-2ECA-9AF3B5C2F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94" y="1404391"/>
            <a:ext cx="5020056" cy="50200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7FAF3A-F2EE-1F06-0E4F-24A2245C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896"/>
          </a:xfrm>
        </p:spPr>
        <p:txBody>
          <a:bodyPr/>
          <a:lstStyle/>
          <a:p>
            <a:r>
              <a:rPr lang="en-US" dirty="0"/>
              <a:t>Hemispheres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4D7F0-6495-938A-87F0-35F0135D26F2}"/>
              </a:ext>
            </a:extLst>
          </p:cNvPr>
          <p:cNvSpPr txBox="1"/>
          <p:nvPr/>
        </p:nvSpPr>
        <p:spPr>
          <a:xfrm>
            <a:off x="3900662" y="413765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Alternating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5A06A0-CE10-C6F9-642C-D82BFC0324DB}"/>
              </a:ext>
            </a:extLst>
          </p:cNvPr>
          <p:cNvSpPr/>
          <p:nvPr/>
        </p:nvSpPr>
        <p:spPr>
          <a:xfrm>
            <a:off x="645463" y="1114021"/>
            <a:ext cx="827392" cy="82739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98555B-16E9-2583-E900-67F278315B16}"/>
              </a:ext>
            </a:extLst>
          </p:cNvPr>
          <p:cNvSpPr txBox="1"/>
          <p:nvPr/>
        </p:nvSpPr>
        <p:spPr>
          <a:xfrm>
            <a:off x="7499350" y="1404391"/>
            <a:ext cx="412659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scrub, not anatomical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Ventral module works as a single large unit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Dorsal module works as two parallel units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effect only comes out when looking at dynamic connectivity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L/R correlation is similar for DA, DP, VA, VP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(it’s high in all cases)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hemispheres are in sync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A/P not in sync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OA show greater VV connectivity x Vant or Vpos hemispheric connectivity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Their ventral network is more in sync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48D0CC9-1CE0-A0EA-0A5A-3D586105A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55" y="5048594"/>
            <a:ext cx="964031" cy="135252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2343D37-771C-A110-EB04-50AF8BA165BA}"/>
              </a:ext>
            </a:extLst>
          </p:cNvPr>
          <p:cNvSpPr/>
          <p:nvPr/>
        </p:nvSpPr>
        <p:spPr>
          <a:xfrm>
            <a:off x="3078515" y="3914419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6112B7-0E15-E124-12F3-A2423952CA8E}"/>
              </a:ext>
            </a:extLst>
          </p:cNvPr>
          <p:cNvSpPr/>
          <p:nvPr/>
        </p:nvSpPr>
        <p:spPr>
          <a:xfrm>
            <a:off x="3863358" y="3137862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57E668-1AB2-B306-A778-621C52739694}"/>
              </a:ext>
            </a:extLst>
          </p:cNvPr>
          <p:cNvSpPr txBox="1"/>
          <p:nvPr/>
        </p:nvSpPr>
        <p:spPr>
          <a:xfrm>
            <a:off x="3813154" y="2813432"/>
            <a:ext cx="9348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Singular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A803D7-565F-F0EC-9AFD-42DFA9B4CE4C}"/>
              </a:ext>
            </a:extLst>
          </p:cNvPr>
          <p:cNvSpPr/>
          <p:nvPr/>
        </p:nvSpPr>
        <p:spPr>
          <a:xfrm>
            <a:off x="3076734" y="2354955"/>
            <a:ext cx="82575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818699-1D7B-7C44-B9B0-0A67B014009B}"/>
              </a:ext>
            </a:extLst>
          </p:cNvPr>
          <p:cNvSpPr txBox="1"/>
          <p:nvPr/>
        </p:nvSpPr>
        <p:spPr>
          <a:xfrm>
            <a:off x="2942765" y="1793686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Weaker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singularity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7F745A-5B20-FEFD-297B-1F79371A9348}"/>
              </a:ext>
            </a:extLst>
          </p:cNvPr>
          <p:cNvSpPr/>
          <p:nvPr/>
        </p:nvSpPr>
        <p:spPr>
          <a:xfrm>
            <a:off x="3857008" y="4685942"/>
            <a:ext cx="832106" cy="8257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6BC879-0E7C-E2C4-AC03-E67402E64D7F}"/>
              </a:ext>
            </a:extLst>
          </p:cNvPr>
          <p:cNvSpPr txBox="1"/>
          <p:nvPr/>
        </p:nvSpPr>
        <p:spPr>
          <a:xfrm>
            <a:off x="4628757" y="4786984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Weaker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Alternation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1F472E-FAA2-BCEE-913B-8B226D4BF95F}"/>
              </a:ext>
            </a:extLst>
          </p:cNvPr>
          <p:cNvSpPr txBox="1"/>
          <p:nvPr/>
        </p:nvSpPr>
        <p:spPr>
          <a:xfrm>
            <a:off x="225301" y="2538377"/>
            <a:ext cx="1555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Left Dor ~ Right Dor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6AD4C6-6D08-87A0-7ED4-37B7D5A747F9}"/>
              </a:ext>
            </a:extLst>
          </p:cNvPr>
          <p:cNvSpPr txBox="1"/>
          <p:nvPr/>
        </p:nvSpPr>
        <p:spPr>
          <a:xfrm>
            <a:off x="189682" y="3026100"/>
            <a:ext cx="1626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Left Dor ~ LR/RL Dor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EE2E9D-B389-DC08-FBAF-879F865DD90E}"/>
              </a:ext>
            </a:extLst>
          </p:cNvPr>
          <p:cNvSpPr txBox="1"/>
          <p:nvPr/>
        </p:nvSpPr>
        <p:spPr>
          <a:xfrm>
            <a:off x="2095129" y="2676877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B93900-4426-C6B6-A823-540A7810B29F}"/>
              </a:ext>
            </a:extLst>
          </p:cNvPr>
          <p:cNvSpPr txBox="1"/>
          <p:nvPr/>
        </p:nvSpPr>
        <p:spPr>
          <a:xfrm>
            <a:off x="2095129" y="3399046"/>
            <a:ext cx="641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9FDAED-522E-761A-1282-ACD2EC0D6DCD}"/>
              </a:ext>
            </a:extLst>
          </p:cNvPr>
          <p:cNvSpPr txBox="1"/>
          <p:nvPr/>
        </p:nvSpPr>
        <p:spPr>
          <a:xfrm>
            <a:off x="2095129" y="4164558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C18794-D176-E2CA-479A-0BF4D3F0E05E}"/>
              </a:ext>
            </a:extLst>
          </p:cNvPr>
          <p:cNvSpPr txBox="1"/>
          <p:nvPr/>
        </p:nvSpPr>
        <p:spPr>
          <a:xfrm>
            <a:off x="2095129" y="4943496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Ant</a:t>
            </a:r>
          </a:p>
        </p:txBody>
      </p:sp>
    </p:spTree>
    <p:extLst>
      <p:ext uri="{BB962C8B-B14F-4D97-AF65-F5344CB8AC3E}">
        <p14:creationId xmlns:p14="http://schemas.microsoft.com/office/powerpoint/2010/main" val="3707820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95E4D-3A76-4818-7143-B27276F5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rawing of a brain with colored dots&#10;&#10;Description automatically generated">
            <a:extLst>
              <a:ext uri="{FF2B5EF4-FFF2-40B4-BE49-F238E27FC236}">
                <a16:creationId xmlns:a16="http://schemas.microsoft.com/office/drawing/2014/main" id="{1E49CAB9-7144-B95A-4870-3751FF4E7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</p:spTree>
    <p:extLst>
      <p:ext uri="{BB962C8B-B14F-4D97-AF65-F5344CB8AC3E}">
        <p14:creationId xmlns:p14="http://schemas.microsoft.com/office/powerpoint/2010/main" val="1872713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8F5D5-A4FD-B0B8-8FEE-EEA622B1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A59DD-31DF-6705-E547-59DF6D1D3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55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 2: The effects of aging on processing congruency and 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62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FFC3-35FA-9F3A-7BA0-69C4F1D5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724"/>
          </a:xfrm>
        </p:spPr>
        <p:txBody>
          <a:bodyPr/>
          <a:lstStyle/>
          <a:p>
            <a:r>
              <a:rPr lang="en-US" dirty="0"/>
              <a:t>Ven vs. Dor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B03B7F-31D1-2DAA-E9DF-0A8EAC78D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22" y="2279253"/>
            <a:ext cx="7531678" cy="443039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D14D468-8423-320F-F8D2-1337481E32A1}"/>
              </a:ext>
            </a:extLst>
          </p:cNvPr>
          <p:cNvSpPr txBox="1"/>
          <p:nvPr/>
        </p:nvSpPr>
        <p:spPr>
          <a:xfrm>
            <a:off x="7611277" y="1261168"/>
            <a:ext cx="41263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Many effects and interactions attempted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exists Ven-Dor “brain state”, characterized by a dissociation of the two modules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within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between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People (YA &amp; OA) enter this Ven-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Dor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state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state is heightened at all times for OA, reflecting a constant increased application of semantic knowledge in coming stimuli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occurs even when processing incongruency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However, this state is particularly heightened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Current interactions don’t significantly show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to still look into ipsilateral only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CC767-8C1C-E1FD-2633-AAB1C2ADF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204614" y="148348"/>
            <a:ext cx="2677937" cy="233362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B63374-09E2-5CB4-FA1E-23C7AAE0B428}"/>
              </a:ext>
            </a:extLst>
          </p:cNvPr>
          <p:cNvCxnSpPr>
            <a:cxnSpLocks/>
          </p:cNvCxnSpPr>
          <p:nvPr/>
        </p:nvCxnSpPr>
        <p:spPr>
          <a:xfrm flipH="1">
            <a:off x="560082" y="88681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108021-2C8B-5DA7-5878-B2ABDFB2200D}"/>
              </a:ext>
            </a:extLst>
          </p:cNvPr>
          <p:cNvCxnSpPr>
            <a:cxnSpLocks/>
          </p:cNvCxnSpPr>
          <p:nvPr/>
        </p:nvCxnSpPr>
        <p:spPr>
          <a:xfrm flipH="1">
            <a:off x="2040084" y="131022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E3C7A4C-48E4-5823-0D53-8A76779013CE}"/>
              </a:ext>
            </a:extLst>
          </p:cNvPr>
          <p:cNvSpPr/>
          <p:nvPr/>
        </p:nvSpPr>
        <p:spPr>
          <a:xfrm>
            <a:off x="920698" y="78443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92C8C3-2E6E-5998-4C3A-6E1D2EF48853}"/>
              </a:ext>
            </a:extLst>
          </p:cNvPr>
          <p:cNvSpPr/>
          <p:nvPr/>
        </p:nvSpPr>
        <p:spPr>
          <a:xfrm>
            <a:off x="2205826" y="105801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EC70D7-D1F4-F9FA-274C-7F52C7069638}"/>
              </a:ext>
            </a:extLst>
          </p:cNvPr>
          <p:cNvCxnSpPr>
            <a:cxnSpLocks/>
          </p:cNvCxnSpPr>
          <p:nvPr/>
        </p:nvCxnSpPr>
        <p:spPr>
          <a:xfrm>
            <a:off x="942712" y="85211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0CDC1A0-D39A-4A18-62E0-425D87E3B64F}"/>
              </a:ext>
            </a:extLst>
          </p:cNvPr>
          <p:cNvSpPr/>
          <p:nvPr/>
        </p:nvSpPr>
        <p:spPr>
          <a:xfrm>
            <a:off x="789778" y="69150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216A9-E70A-5CB9-44BF-0CA804CE5E37}"/>
              </a:ext>
            </a:extLst>
          </p:cNvPr>
          <p:cNvSpPr txBox="1"/>
          <p:nvPr/>
        </p:nvSpPr>
        <p:spPr>
          <a:xfrm rot="1139387">
            <a:off x="947627" y="1476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9B811-D8C8-7597-6FB4-ACD5C8D479AE}"/>
              </a:ext>
            </a:extLst>
          </p:cNvPr>
          <p:cNvSpPr txBox="1"/>
          <p:nvPr/>
        </p:nvSpPr>
        <p:spPr>
          <a:xfrm>
            <a:off x="2149169" y="110291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0E2E2-608B-E37F-9967-09311034BF2F}"/>
              </a:ext>
            </a:extLst>
          </p:cNvPr>
          <p:cNvSpPr txBox="1"/>
          <p:nvPr/>
        </p:nvSpPr>
        <p:spPr>
          <a:xfrm>
            <a:off x="751529" y="72721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331CE6-E0AC-A941-CF39-2652D309A0FA}"/>
              </a:ext>
            </a:extLst>
          </p:cNvPr>
          <p:cNvSpPr/>
          <p:nvPr/>
        </p:nvSpPr>
        <p:spPr>
          <a:xfrm>
            <a:off x="1823189" y="190205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017885-2B76-EF33-0785-A797D8E608A3}"/>
              </a:ext>
            </a:extLst>
          </p:cNvPr>
          <p:cNvCxnSpPr>
            <a:cxnSpLocks/>
          </p:cNvCxnSpPr>
          <p:nvPr/>
        </p:nvCxnSpPr>
        <p:spPr>
          <a:xfrm>
            <a:off x="526207" y="1567700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0D47C4E-D545-C6ED-E14D-56AE0FBDBAFA}"/>
              </a:ext>
            </a:extLst>
          </p:cNvPr>
          <p:cNvSpPr/>
          <p:nvPr/>
        </p:nvSpPr>
        <p:spPr>
          <a:xfrm>
            <a:off x="373273" y="1407093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71762-885F-3428-EA77-C68F15D15E02}"/>
              </a:ext>
            </a:extLst>
          </p:cNvPr>
          <p:cNvSpPr txBox="1"/>
          <p:nvPr/>
        </p:nvSpPr>
        <p:spPr>
          <a:xfrm>
            <a:off x="1766202" y="192900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A23297-B419-556A-D739-ED94D2540C76}"/>
              </a:ext>
            </a:extLst>
          </p:cNvPr>
          <p:cNvSpPr txBox="1"/>
          <p:nvPr/>
        </p:nvSpPr>
        <p:spPr>
          <a:xfrm>
            <a:off x="315972" y="143804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8410FE-1CDF-C2AB-93D3-1B3EBBD96E5D}"/>
              </a:ext>
            </a:extLst>
          </p:cNvPr>
          <p:cNvSpPr txBox="1"/>
          <p:nvPr/>
        </p:nvSpPr>
        <p:spPr>
          <a:xfrm rot="791281">
            <a:off x="1341764" y="65194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A7F6E0-7D78-6196-CFAD-ABA07089B61E}"/>
              </a:ext>
            </a:extLst>
          </p:cNvPr>
          <p:cNvSpPr txBox="1"/>
          <p:nvPr/>
        </p:nvSpPr>
        <p:spPr>
          <a:xfrm rot="1001558">
            <a:off x="985157" y="1145389"/>
            <a:ext cx="10823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</a:p>
        </p:txBody>
      </p:sp>
    </p:spTree>
    <p:extLst>
      <p:ext uri="{BB962C8B-B14F-4D97-AF65-F5344CB8AC3E}">
        <p14:creationId xmlns:p14="http://schemas.microsoft.com/office/powerpoint/2010/main" val="10474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CD26-DE83-E453-29B8-94501671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39"/>
            <a:ext cx="10515600" cy="1325563"/>
          </a:xfrm>
        </p:spPr>
        <p:txBody>
          <a:bodyPr/>
          <a:lstStyle/>
          <a:p>
            <a:r>
              <a:rPr lang="en-US" dirty="0"/>
              <a:t>Anatomical-based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5DA07-A156-BACF-1907-20A5A3ECC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0" y="1686064"/>
            <a:ext cx="8026400" cy="47214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60D1B8-47BA-C5C8-EF32-21E535438B0B}"/>
              </a:ext>
            </a:extLst>
          </p:cNvPr>
          <p:cNvSpPr txBox="1"/>
          <p:nvPr/>
        </p:nvSpPr>
        <p:spPr>
          <a:xfrm>
            <a:off x="139700" y="1219026"/>
            <a:ext cx="41993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are a bit more attractive if we select the ROIs based on anatomical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upside to this approach, is that it avoids any circularity biases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there is a risk, with just plucking and choosing anatomical labels, that one is making arbitrary choices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(and massaging the data)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what it’s worth, I didn’t tweak the labels after seeing these results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Surprising that YAs do not show anything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think the results on OA are more compelling if YA show weaker but still present Ven-Dor effect</a:t>
            </a:r>
          </a:p>
        </p:txBody>
      </p:sp>
    </p:spTree>
    <p:extLst>
      <p:ext uri="{BB962C8B-B14F-4D97-AF65-F5344CB8AC3E}">
        <p14:creationId xmlns:p14="http://schemas.microsoft.com/office/powerpoint/2010/main" val="127804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9B19-7CAE-F1C1-09F4-3861F799AAC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dirty="0"/>
              <a:t>Bar graphs for the four sides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6B03-A1AC-E614-3EFC-6569956EC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9350" cy="4351338"/>
          </a:xfrm>
        </p:spPr>
        <p:txBody>
          <a:bodyPr/>
          <a:lstStyle/>
          <a:p>
            <a:r>
              <a:rPr lang="en-US" dirty="0"/>
              <a:t>I just didn’t have time to prepare this</a:t>
            </a:r>
          </a:p>
          <a:p>
            <a:r>
              <a:rPr lang="en-US" dirty="0"/>
              <a:t>Rather than just showing bars for  Between vs. Within, I wanted to show bars for all four sides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96938-8C5B-68C0-6FA5-78A9AF92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215" y="2343839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AA6FF1-392F-05EA-3F1E-34285BB2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623" y="4348163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D7886D-A35F-C7BD-4614-8A2DFBE7D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168" y="4348163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618908-CBFB-C110-2D76-87B5DD6A6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05" y="2343839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44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32BE956F-5E6A-5B3F-E572-EABA1E1E5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36" y="644525"/>
            <a:ext cx="6635764" cy="6099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D18E89-B5C2-82EF-5A67-46E680AE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04" y="52412"/>
            <a:ext cx="3895130" cy="13255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Aging modulates fluctuation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7895-F93D-12D6-985A-7E7BA685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95" y="1377975"/>
            <a:ext cx="3430029" cy="3703447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Method:</a:t>
            </a:r>
          </a:p>
          <a:p>
            <a:pPr lvl="1"/>
            <a:r>
              <a:rPr lang="en-US" sz="1600" dirty="0"/>
              <a:t>These analyses do not look at congruency</a:t>
            </a:r>
          </a:p>
          <a:p>
            <a:r>
              <a:rPr lang="en-US" sz="2000" dirty="0"/>
              <a:t>Results:</a:t>
            </a:r>
          </a:p>
          <a:p>
            <a:pPr lvl="1"/>
            <a:r>
              <a:rPr lang="en-US" sz="1600" dirty="0"/>
              <a:t>In older adults, the Ven and Dor modules move in greater sync</a:t>
            </a:r>
          </a:p>
          <a:p>
            <a:pPr lvl="1"/>
            <a:r>
              <a:rPr lang="en-US" sz="1600" dirty="0"/>
              <a:t>Interestingly, so do the anterior and posterior connections</a:t>
            </a:r>
          </a:p>
          <a:p>
            <a:r>
              <a:rPr lang="en-US" sz="2000" dirty="0"/>
              <a:t>Constantly fluctuating between Ven-Dor and Ant-Pos</a:t>
            </a:r>
          </a:p>
          <a:p>
            <a:pPr lvl="1"/>
            <a:r>
              <a:rPr lang="en-US" sz="1600" dirty="0"/>
              <a:t>Fluctuation is evidenced by the negative correlations</a:t>
            </a:r>
          </a:p>
          <a:p>
            <a:pPr lvl="1"/>
            <a:r>
              <a:rPr lang="en-US" sz="1600" dirty="0"/>
              <a:t>Although it’s hard to judge magnitude based on the figure, the negative slopes are quite strong (up to r = -.38)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ACBFC6-DE8F-0CA5-521D-577AD343B278}"/>
              </a:ext>
            </a:extLst>
          </p:cNvPr>
          <p:cNvSpPr/>
          <p:nvPr/>
        </p:nvSpPr>
        <p:spPr>
          <a:xfrm>
            <a:off x="6229350" y="2222500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7F1083F-EE52-B86D-EB71-9E0A14673565}"/>
              </a:ext>
            </a:extLst>
          </p:cNvPr>
          <p:cNvSpPr/>
          <p:nvPr/>
        </p:nvSpPr>
        <p:spPr>
          <a:xfrm>
            <a:off x="8968195" y="4963801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FA94A1EC-F0DD-6301-8EF2-B65E0E2A7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948" y="3623199"/>
            <a:ext cx="1364080" cy="118872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23CB25DF-4303-C260-B92E-95436B979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948" y="5081423"/>
            <a:ext cx="1364080" cy="118872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D9386487-816B-7403-E974-7ABC9D3D1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975" y="2164975"/>
            <a:ext cx="1363190" cy="118872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F703322-3E32-AEAC-C51B-0563A2CF14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824" y="706751"/>
            <a:ext cx="1364856" cy="118872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7C5B9005-FF53-05EA-2620-783AEF5EF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476" y="5130447"/>
            <a:ext cx="3895130" cy="1435093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F52CC0BB-E7A8-9074-F3A0-512CEB857D23}"/>
              </a:ext>
            </a:extLst>
          </p:cNvPr>
          <p:cNvSpPr/>
          <p:nvPr/>
        </p:nvSpPr>
        <p:spPr>
          <a:xfrm>
            <a:off x="6229351" y="3497580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07D186-FB1D-14B3-1081-76EF45EBA438}"/>
              </a:ext>
            </a:extLst>
          </p:cNvPr>
          <p:cNvSpPr txBox="1"/>
          <p:nvPr/>
        </p:nvSpPr>
        <p:spPr>
          <a:xfrm>
            <a:off x="6177518" y="152830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8A428E-902A-CC8F-D362-CB83A705A986}"/>
              </a:ext>
            </a:extLst>
          </p:cNvPr>
          <p:cNvSpPr txBox="1"/>
          <p:nvPr/>
        </p:nvSpPr>
        <p:spPr>
          <a:xfrm>
            <a:off x="8944954" y="427175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906C8EE-5281-71D8-86B6-11A2062D9EAD}"/>
              </a:ext>
            </a:extLst>
          </p:cNvPr>
          <p:cNvSpPr txBox="1"/>
          <p:nvPr/>
        </p:nvSpPr>
        <p:spPr>
          <a:xfrm>
            <a:off x="6316971" y="4532361"/>
            <a:ext cx="2411750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</p:spTree>
    <p:extLst>
      <p:ext uri="{BB962C8B-B14F-4D97-AF65-F5344CB8AC3E}">
        <p14:creationId xmlns:p14="http://schemas.microsoft.com/office/powerpoint/2010/main" val="12420033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71"/>
            <a:ext cx="10515600" cy="1086785"/>
          </a:xfrm>
        </p:spPr>
        <p:txBody>
          <a:bodyPr/>
          <a:lstStyle/>
          <a:p>
            <a:r>
              <a:rPr lang="en-US" dirty="0"/>
              <a:t>Interim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043871"/>
            <a:ext cx="10849157" cy="2598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Individuals (YA and OA) are continuously fluctuating between a Pos-Ant state &amp; Ven-Dor state</a:t>
            </a:r>
          </a:p>
          <a:p>
            <a:pPr lvl="1"/>
            <a:r>
              <a:rPr lang="en-US" dirty="0"/>
              <a:t>Processing congruency pushes individuals toward Ven-Dor</a:t>
            </a:r>
          </a:p>
          <a:p>
            <a:r>
              <a:rPr lang="en-US" dirty="0"/>
              <a:t>OAs show a greater tendency to be in the Ven-Dor state</a:t>
            </a:r>
          </a:p>
          <a:p>
            <a:pPr lvl="1"/>
            <a:r>
              <a:rPr lang="en-US" dirty="0"/>
              <a:t>This occurs particularly when processing congruency (congruency x aging)</a:t>
            </a:r>
          </a:p>
          <a:p>
            <a:pPr lvl="1"/>
            <a:r>
              <a:rPr lang="en-US" dirty="0"/>
              <a:t>However, there is also a main effect: OAs always lean toward this state of “congruency”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9845179" y="3498988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5565988" y="3498988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846430" y="3918629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5585996" y="4554713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6871124" y="482829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5608010" y="4622393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5455076" y="446178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6814467" y="487319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5416827" y="449750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6488487" y="567233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5191505" y="533798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5038571" y="517737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6431500" y="569929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4981270" y="520832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075688" y="3921244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9431156" y="465971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10911158" y="508312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9791772" y="455732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11076900" y="483090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9660852" y="446440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11020243" y="487581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9622603" y="450011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10694263" y="567495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9244347" y="5179989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10637276" y="570190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9187046" y="521094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7717090" y="5031431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7483356" y="3976681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B7AC2E41-9AFE-71C1-EFAA-851C25996A48}"/>
              </a:ext>
            </a:extLst>
          </p:cNvPr>
          <p:cNvSpPr txBox="1">
            <a:spLocks/>
          </p:cNvSpPr>
          <p:nvPr/>
        </p:nvSpPr>
        <p:spPr>
          <a:xfrm>
            <a:off x="497564" y="3576661"/>
            <a:ext cx="4253220" cy="306493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Aging also influences fluctuation</a:t>
            </a:r>
          </a:p>
          <a:p>
            <a:pPr lvl="1"/>
            <a:r>
              <a:rPr lang="en-US" sz="2200" dirty="0"/>
              <a:t>In OA, Ven &amp; Dor move in sync more</a:t>
            </a:r>
          </a:p>
          <a:p>
            <a:pPr lvl="1"/>
            <a:r>
              <a:rPr lang="en-US" sz="2200" dirty="0"/>
              <a:t>In OA, Pos &amp; Ant move in sync more</a:t>
            </a:r>
          </a:p>
          <a:p>
            <a:pPr lvl="1"/>
            <a:r>
              <a:rPr lang="en-US" sz="2200" dirty="0"/>
              <a:t>Interpretable as OA showing less global processing?</a:t>
            </a:r>
          </a:p>
          <a:p>
            <a:r>
              <a:rPr lang="en-US" sz="2600" dirty="0"/>
              <a:t>These results together serve as strong evidence for the meaningfulness of the constructed Ven-</a:t>
            </a:r>
            <a:r>
              <a:rPr lang="en-US" sz="2600" dirty="0" err="1"/>
              <a:t>Dor</a:t>
            </a:r>
            <a:r>
              <a:rPr lang="en-US" sz="2600" dirty="0"/>
              <a:t> modules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7E503C-84EE-0177-C0C3-4C65D4F6723A}"/>
              </a:ext>
            </a:extLst>
          </p:cNvPr>
          <p:cNvSpPr txBox="1"/>
          <p:nvPr/>
        </p:nvSpPr>
        <p:spPr>
          <a:xfrm>
            <a:off x="4566691" y="6372312"/>
            <a:ext cx="76445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it help to look at resting state data? See if we find this fluctuation there too?</a:t>
            </a:r>
          </a:p>
        </p:txBody>
      </p:sp>
    </p:spTree>
    <p:extLst>
      <p:ext uri="{BB962C8B-B14F-4D97-AF65-F5344CB8AC3E}">
        <p14:creationId xmlns:p14="http://schemas.microsoft.com/office/powerpoint/2010/main" val="383746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3: Interpreting </a:t>
            </a:r>
            <a:br>
              <a:rPr lang="en-US" dirty="0"/>
            </a:br>
            <a:r>
              <a:rPr lang="en-US" dirty="0"/>
              <a:t>Ven &amp; 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(These analyses would be framed as exploratory)</a:t>
            </a:r>
          </a:p>
          <a:p>
            <a:r>
              <a:rPr lang="en-US" dirty="0"/>
              <a:t>(These results are also the least cooked. I arrived at them at the last second, I need to do my double-checks)</a:t>
            </a:r>
          </a:p>
        </p:txBody>
      </p:sp>
    </p:spTree>
    <p:extLst>
      <p:ext uri="{BB962C8B-B14F-4D97-AF65-F5344CB8AC3E}">
        <p14:creationId xmlns:p14="http://schemas.microsoft.com/office/powerpoint/2010/main" val="3438170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C06-6EBA-2AE3-54B9-FF25AEFA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873125"/>
          </a:xfrm>
        </p:spPr>
        <p:txBody>
          <a:bodyPr/>
          <a:lstStyle/>
          <a:p>
            <a:r>
              <a:rPr lang="en-US" dirty="0"/>
              <a:t>Scene representation &amp; Ven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E8FC5E-106F-7935-D3ED-CB30B6F4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399" y="3328194"/>
            <a:ext cx="27432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496A3-7088-11C1-41C0-B2955E563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479" y="3328194"/>
            <a:ext cx="2743200" cy="34290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5C8992-A5F8-D4BC-3ABF-3C9B44ACB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955675"/>
            <a:ext cx="10253979" cy="2352675"/>
          </a:xfrm>
        </p:spPr>
        <p:txBody>
          <a:bodyPr>
            <a:normAutofit/>
          </a:bodyPr>
          <a:lstStyle/>
          <a:p>
            <a:r>
              <a:rPr lang="en-US" sz="2400" dirty="0"/>
              <a:t>Participants represent the scenes</a:t>
            </a:r>
          </a:p>
          <a:p>
            <a:pPr lvl="1"/>
            <a:r>
              <a:rPr lang="en-US" sz="2000" dirty="0"/>
              <a:t>Representation stronger in OA</a:t>
            </a:r>
          </a:p>
          <a:p>
            <a:pPr lvl="1"/>
            <a:r>
              <a:rPr lang="en-US" sz="2000" dirty="0"/>
              <a:t>We can measure trial-by-trial representational strength with IRAF</a:t>
            </a:r>
          </a:p>
          <a:p>
            <a:r>
              <a:rPr lang="en-US" sz="2400" dirty="0"/>
              <a:t>Is scene representation in the most potent areas (e.g., LOC) linked to Ven or Dor?</a:t>
            </a:r>
          </a:p>
          <a:p>
            <a:pPr marL="457200" lvl="1" indent="0" algn="ctr">
              <a:buNone/>
            </a:pPr>
            <a:r>
              <a:rPr lang="en-US" sz="2000" i="1" dirty="0"/>
              <a:t>IRAF</a:t>
            </a:r>
            <a:r>
              <a:rPr lang="en-US" sz="2000" i="1" baseline="-25000" dirty="0"/>
              <a:t>LOC</a:t>
            </a:r>
            <a:r>
              <a:rPr lang="en-US" sz="2000" i="1" dirty="0"/>
              <a:t> ~ 1 + Ven + Dor + (1 + Ven + Dor | Subject)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30C69E17-E3A5-716E-3608-059D544392F8}"/>
              </a:ext>
            </a:extLst>
          </p:cNvPr>
          <p:cNvSpPr txBox="1">
            <a:spLocks/>
          </p:cNvSpPr>
          <p:nvPr/>
        </p:nvSpPr>
        <p:spPr>
          <a:xfrm>
            <a:off x="800100" y="3410744"/>
            <a:ext cx="4902199" cy="3612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Yes, stronger scene representation is linked to a stronger connectivity within the Ven module (p &lt; .01)</a:t>
            </a:r>
          </a:p>
          <a:p>
            <a:pPr lvl="1"/>
            <a:r>
              <a:rPr lang="en-US" sz="2000" dirty="0"/>
              <a:t>Remains significant when controlling for age or congruency</a:t>
            </a:r>
          </a:p>
          <a:p>
            <a:pPr lvl="1"/>
            <a:r>
              <a:rPr lang="en-US" sz="2000" dirty="0"/>
              <a:t>No effect on Dor</a:t>
            </a:r>
          </a:p>
          <a:p>
            <a:r>
              <a:rPr lang="en-US" sz="1800" i="1" dirty="0"/>
              <a:t>Note: IRAF is measured during scene presentation whereas Ven &amp; Dor are measured </a:t>
            </a:r>
            <a:r>
              <a:rPr lang="en-US" sz="1800" i="1" dirty="0" err="1"/>
              <a:t>durng</a:t>
            </a:r>
            <a:r>
              <a:rPr lang="en-US" sz="1800" i="1" dirty="0"/>
              <a:t> object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7488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3878-1AEB-E6CA-5DFE-E91E7D3F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memory &amp; </a:t>
            </a:r>
            <a:r>
              <a:rPr lang="en-US" dirty="0" err="1"/>
              <a:t>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F67AA-1B6C-8850-1FD4-4CE800C48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Another multilevel regression:</a:t>
            </a:r>
          </a:p>
          <a:p>
            <a:pPr marL="0" indent="0" algn="ctr">
              <a:buNone/>
            </a:pPr>
            <a:br>
              <a:rPr lang="en-US" i="1" dirty="0"/>
            </a:br>
            <a:r>
              <a:rPr lang="en-US" i="1" dirty="0"/>
              <a:t>conceptual hit ~ </a:t>
            </a:r>
            <a:r>
              <a:rPr lang="en-US" sz="2800" i="1" dirty="0"/>
              <a:t>1 + Ven + Dor + (1 + Ven + Dor | Subject)</a:t>
            </a:r>
          </a:p>
          <a:p>
            <a:endParaRPr lang="en-US" dirty="0"/>
          </a:p>
          <a:p>
            <a:r>
              <a:rPr lang="en-US" dirty="0"/>
              <a:t>Greater connectivity within the Dor module during encoding predicts subsequent memory accuracy (p = .04)</a:t>
            </a:r>
          </a:p>
          <a:p>
            <a:pPr lvl="1"/>
            <a:r>
              <a:rPr lang="en-US" dirty="0"/>
              <a:t>No effect of Ven</a:t>
            </a:r>
          </a:p>
          <a:p>
            <a:pPr lvl="1"/>
            <a:r>
              <a:rPr lang="en-US" dirty="0"/>
              <a:t>Given that this result is rather frail, I think it should be treated with some caution and regarded as exploratory</a:t>
            </a:r>
          </a:p>
          <a:p>
            <a:pPr lvl="1"/>
            <a:r>
              <a:rPr lang="en-US" dirty="0"/>
              <a:t>Hard to find anything more robust given the limited conceptual hit trial numbers</a:t>
            </a:r>
          </a:p>
          <a:p>
            <a:pPr lvl="1"/>
            <a:r>
              <a:rPr lang="en-US" dirty="0"/>
              <a:t>Results stay the same if looking at hit-hit accuracy</a:t>
            </a:r>
          </a:p>
        </p:txBody>
      </p:sp>
    </p:spTree>
    <p:extLst>
      <p:ext uri="{BB962C8B-B14F-4D97-AF65-F5344CB8AC3E}">
        <p14:creationId xmlns:p14="http://schemas.microsoft.com/office/powerpoint/2010/main" val="116856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9CF4-2EA8-84ED-CD9B-E365A9DF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3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C3E1-A5D4-ED44-7C3A-9842EF72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60050" cy="4351338"/>
          </a:xfrm>
        </p:spPr>
        <p:txBody>
          <a:bodyPr/>
          <a:lstStyle/>
          <a:p>
            <a:r>
              <a:rPr lang="en-US" dirty="0"/>
              <a:t>Why was Ven found to be linked to scene processing?</a:t>
            </a:r>
          </a:p>
          <a:p>
            <a:r>
              <a:rPr lang="en-US" dirty="0"/>
              <a:t>Why was Dor found to be linked to subsequent conceptual memory accuracy?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8C3EF-7E10-E9B7-3AB6-979AF9793604}"/>
              </a:ext>
            </a:extLst>
          </p:cNvPr>
          <p:cNvSpPr txBox="1"/>
          <p:nvPr/>
        </p:nvSpPr>
        <p:spPr>
          <a:xfrm>
            <a:off x="5198958" y="3423697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81F41-B3A7-FD5F-4C57-FE17A09D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479400" y="3843338"/>
            <a:ext cx="2677937" cy="23336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0F04998-0DDA-B41A-9567-2791EB43FD54}"/>
              </a:ext>
            </a:extLst>
          </p:cNvPr>
          <p:cNvSpPr/>
          <p:nvPr/>
        </p:nvSpPr>
        <p:spPr>
          <a:xfrm>
            <a:off x="5218966" y="447942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D25A73-C968-49C9-B6D5-89C6BBDA30EC}"/>
              </a:ext>
            </a:extLst>
          </p:cNvPr>
          <p:cNvSpPr/>
          <p:nvPr/>
        </p:nvSpPr>
        <p:spPr>
          <a:xfrm>
            <a:off x="6504094" y="475300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0C49B9-988A-DE22-8316-E123C1781BC6}"/>
              </a:ext>
            </a:extLst>
          </p:cNvPr>
          <p:cNvCxnSpPr>
            <a:cxnSpLocks/>
          </p:cNvCxnSpPr>
          <p:nvPr/>
        </p:nvCxnSpPr>
        <p:spPr>
          <a:xfrm>
            <a:off x="5240980" y="454710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F6EB4CD-1835-C5B5-7915-D73BDA907336}"/>
              </a:ext>
            </a:extLst>
          </p:cNvPr>
          <p:cNvSpPr/>
          <p:nvPr/>
        </p:nvSpPr>
        <p:spPr>
          <a:xfrm>
            <a:off x="5088046" y="438649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F1F9F-34BF-5AC1-B1F2-2670773A3EA5}"/>
              </a:ext>
            </a:extLst>
          </p:cNvPr>
          <p:cNvSpPr txBox="1"/>
          <p:nvPr/>
        </p:nvSpPr>
        <p:spPr>
          <a:xfrm>
            <a:off x="6447437" y="479790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97192B-D818-23E0-5BAD-DEDD3A8FC5D7}"/>
              </a:ext>
            </a:extLst>
          </p:cNvPr>
          <p:cNvSpPr txBox="1"/>
          <p:nvPr/>
        </p:nvSpPr>
        <p:spPr>
          <a:xfrm>
            <a:off x="5049797" y="442220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E7E322-6AB4-11B2-B6B8-7BF2B16F8C98}"/>
              </a:ext>
            </a:extLst>
          </p:cNvPr>
          <p:cNvSpPr/>
          <p:nvPr/>
        </p:nvSpPr>
        <p:spPr>
          <a:xfrm>
            <a:off x="6121457" y="559704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D1EF44-0BFD-0493-CF83-1F0463E5B053}"/>
              </a:ext>
            </a:extLst>
          </p:cNvPr>
          <p:cNvCxnSpPr>
            <a:cxnSpLocks/>
          </p:cNvCxnSpPr>
          <p:nvPr/>
        </p:nvCxnSpPr>
        <p:spPr>
          <a:xfrm>
            <a:off x="4824475" y="5262690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21ACC67-28C9-0AA6-E71E-AAD53E2D6DAA}"/>
              </a:ext>
            </a:extLst>
          </p:cNvPr>
          <p:cNvSpPr/>
          <p:nvPr/>
        </p:nvSpPr>
        <p:spPr>
          <a:xfrm>
            <a:off x="4671541" y="5102083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5CAAE-66CA-8F67-6B10-97AB50A85775}"/>
              </a:ext>
            </a:extLst>
          </p:cNvPr>
          <p:cNvSpPr txBox="1"/>
          <p:nvPr/>
        </p:nvSpPr>
        <p:spPr>
          <a:xfrm>
            <a:off x="6064470" y="562399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A01873-9A66-E040-FA0A-4DDA6A20ABE9}"/>
              </a:ext>
            </a:extLst>
          </p:cNvPr>
          <p:cNvSpPr txBox="1"/>
          <p:nvPr/>
        </p:nvSpPr>
        <p:spPr>
          <a:xfrm>
            <a:off x="4614240" y="513303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25602969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56DE-32E4-C793-6742-0E4995D5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32F9-8D7E-9F0A-6C5C-012F0D9D54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3.5 New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3F86B-39D2-258B-C6F6-A738F822B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2/13/2024</a:t>
            </a:r>
          </a:p>
        </p:txBody>
      </p:sp>
    </p:spTree>
    <p:extLst>
      <p:ext uri="{BB962C8B-B14F-4D97-AF65-F5344CB8AC3E}">
        <p14:creationId xmlns:p14="http://schemas.microsoft.com/office/powerpoint/2010/main" val="17799950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39D1-4183-0B09-869B-86A66751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9937-CAAA-2145-BFDB-BCCB95D42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a retrieval task</a:t>
            </a:r>
          </a:p>
          <a:p>
            <a:pPr lvl="1"/>
            <a:r>
              <a:rPr lang="en-US" dirty="0"/>
              <a:t>Decrease Dorsal connectivity was associated with successful retrieval</a:t>
            </a:r>
          </a:p>
        </p:txBody>
      </p:sp>
    </p:spTree>
    <p:extLst>
      <p:ext uri="{BB962C8B-B14F-4D97-AF65-F5344CB8AC3E}">
        <p14:creationId xmlns:p14="http://schemas.microsoft.com/office/powerpoint/2010/main" val="14303897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48C7-B79B-0069-260C-8DB99701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115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25336-6796-B6FE-BE7F-E996D3107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041"/>
            <a:ext cx="10515600" cy="477482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When individuals process incoming information, they fluctuate between Ven-</a:t>
            </a:r>
            <a:r>
              <a:rPr lang="en-US" dirty="0" err="1"/>
              <a:t>Dor</a:t>
            </a:r>
            <a:r>
              <a:rPr lang="en-US" dirty="0"/>
              <a:t> and Pos-Ant states</a:t>
            </a:r>
          </a:p>
          <a:p>
            <a:pPr lvl="1"/>
            <a:r>
              <a:rPr lang="en-US" dirty="0"/>
              <a:t>Detecting congruency pushes the brain toward the Ven-</a:t>
            </a:r>
            <a:r>
              <a:rPr lang="en-US" dirty="0" err="1"/>
              <a:t>Dor</a:t>
            </a:r>
            <a:r>
              <a:rPr lang="en-US" dirty="0"/>
              <a:t> state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effect of aging on congruency processing should be understood in terms of these states</a:t>
            </a:r>
          </a:p>
          <a:p>
            <a:pPr lvl="1"/>
            <a:r>
              <a:rPr lang="en-US" dirty="0"/>
              <a:t>Aging pushes people toward Ven-</a:t>
            </a:r>
            <a:r>
              <a:rPr lang="en-US" dirty="0" err="1"/>
              <a:t>Dor</a:t>
            </a:r>
            <a:r>
              <a:rPr lang="en-US" dirty="0"/>
              <a:t> state</a:t>
            </a:r>
          </a:p>
          <a:p>
            <a:pPr lvl="1"/>
            <a:r>
              <a:rPr lang="en-US" dirty="0"/>
              <a:t>Particularly when processing congruency</a:t>
            </a:r>
          </a:p>
          <a:p>
            <a:pPr lvl="1"/>
            <a:r>
              <a:rPr lang="en-US" dirty="0"/>
              <a:t>However, in general, OA seem to be in Ven-</a:t>
            </a:r>
            <a:r>
              <a:rPr lang="en-US" dirty="0" err="1"/>
              <a:t>Dor</a:t>
            </a:r>
            <a:r>
              <a:rPr lang="en-US" dirty="0"/>
              <a:t> more often by default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Ven and </a:t>
            </a:r>
            <a:r>
              <a:rPr lang="en-US" dirty="0" err="1"/>
              <a:t>Dor</a:t>
            </a:r>
            <a:r>
              <a:rPr lang="en-US" dirty="0"/>
              <a:t> functioning is related to other important dimensions of congruency processing</a:t>
            </a:r>
          </a:p>
          <a:p>
            <a:pPr lvl="1"/>
            <a:r>
              <a:rPr lang="en-US" dirty="0"/>
              <a:t>Representing stimuli’s semantic features</a:t>
            </a:r>
          </a:p>
          <a:p>
            <a:pPr lvl="1"/>
            <a:r>
              <a:rPr lang="en-US" dirty="0"/>
              <a:t>Encoding conceptual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7781817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E303B548-641D-8CDB-36D9-3AE37DE312B0}"/>
              </a:ext>
            </a:extLst>
          </p:cNvPr>
          <p:cNvSpPr/>
          <p:nvPr/>
        </p:nvSpPr>
        <p:spPr>
          <a:xfrm>
            <a:off x="3197748" y="2528521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3C6B0-39A5-E38A-E332-D2C0F2D7F0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10256203" y="227318"/>
            <a:ext cx="2677937" cy="233362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38D48F4-2C19-F02A-6431-CD46737EC698}"/>
              </a:ext>
            </a:extLst>
          </p:cNvPr>
          <p:cNvSpPr/>
          <p:nvPr/>
        </p:nvSpPr>
        <p:spPr>
          <a:xfrm>
            <a:off x="10972287" y="8634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C36D6-5DCC-ADE3-89C5-906689ACB6D4}"/>
              </a:ext>
            </a:extLst>
          </p:cNvPr>
          <p:cNvSpPr/>
          <p:nvPr/>
        </p:nvSpPr>
        <p:spPr>
          <a:xfrm>
            <a:off x="10331119" y="14946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D44BE4-8E7F-C91D-3248-118DC589FAC5}"/>
              </a:ext>
            </a:extLst>
          </p:cNvPr>
          <p:cNvSpPr/>
          <p:nvPr/>
        </p:nvSpPr>
        <p:spPr>
          <a:xfrm>
            <a:off x="11072084" y="17342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838E0E-A45B-6D5B-591B-F08B398FCA2A}"/>
              </a:ext>
            </a:extLst>
          </p:cNvPr>
          <p:cNvSpPr/>
          <p:nvPr/>
        </p:nvSpPr>
        <p:spPr>
          <a:xfrm>
            <a:off x="11894973" y="20728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80ABE3-284F-7F61-82F1-1CC409699A79}"/>
              </a:ext>
            </a:extLst>
          </p:cNvPr>
          <p:cNvSpPr/>
          <p:nvPr/>
        </p:nvSpPr>
        <p:spPr>
          <a:xfrm>
            <a:off x="12257415" y="11369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4A4F11-1462-50CB-EDD0-BB7EEC982028}"/>
              </a:ext>
            </a:extLst>
          </p:cNvPr>
          <p:cNvCxnSpPr/>
          <p:nvPr/>
        </p:nvCxnSpPr>
        <p:spPr>
          <a:xfrm flipH="1">
            <a:off x="10523373" y="9310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67D584-8A35-B4DE-B53B-F0C645345040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5F204-A123-58C8-3A6B-CB96EFF913DC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4EAE98-A498-1C47-9C46-8C46EB13383F}"/>
              </a:ext>
            </a:extLst>
          </p:cNvPr>
          <p:cNvCxnSpPr>
            <a:cxnSpLocks/>
          </p:cNvCxnSpPr>
          <p:nvPr/>
        </p:nvCxnSpPr>
        <p:spPr>
          <a:xfrm>
            <a:off x="10994301" y="9310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FE15F5-87DB-0597-B048-876447BDFE21}"/>
              </a:ext>
            </a:extLst>
          </p:cNvPr>
          <p:cNvSpPr/>
          <p:nvPr/>
        </p:nvSpPr>
        <p:spPr>
          <a:xfrm>
            <a:off x="10841367" y="7704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A68B25-9819-1E65-1AFD-ECDCDEA79023}"/>
              </a:ext>
            </a:extLst>
          </p:cNvPr>
          <p:cNvSpPr txBox="1"/>
          <p:nvPr/>
        </p:nvSpPr>
        <p:spPr>
          <a:xfrm rot="815892">
            <a:off x="11088901" y="6688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B96E6F-F136-F174-863D-E657A00F401B}"/>
              </a:ext>
            </a:extLst>
          </p:cNvPr>
          <p:cNvSpPr txBox="1"/>
          <p:nvPr/>
        </p:nvSpPr>
        <p:spPr>
          <a:xfrm>
            <a:off x="11016260" y="17672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CF213-3F8E-10DE-EFC7-EB4A5C5769DA}"/>
              </a:ext>
            </a:extLst>
          </p:cNvPr>
          <p:cNvSpPr txBox="1"/>
          <p:nvPr/>
        </p:nvSpPr>
        <p:spPr>
          <a:xfrm>
            <a:off x="10271062" y="15402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D2459-4953-F105-89C7-FA22D9267C0B}"/>
              </a:ext>
            </a:extLst>
          </p:cNvPr>
          <p:cNvSpPr txBox="1"/>
          <p:nvPr/>
        </p:nvSpPr>
        <p:spPr>
          <a:xfrm>
            <a:off x="11852663" y="21039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54994-4DA4-D0FA-2831-02988261E77F}"/>
              </a:ext>
            </a:extLst>
          </p:cNvPr>
          <p:cNvSpPr txBox="1"/>
          <p:nvPr/>
        </p:nvSpPr>
        <p:spPr>
          <a:xfrm>
            <a:off x="12183138" y="11725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6C3B6B-0879-30CC-E8EB-4CFDC1B0A40C}"/>
              </a:ext>
            </a:extLst>
          </p:cNvPr>
          <p:cNvSpPr txBox="1"/>
          <p:nvPr/>
        </p:nvSpPr>
        <p:spPr>
          <a:xfrm>
            <a:off x="10822168" y="8061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ACC973-9E77-EFCC-2F00-BB821DCA51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61988" y="850974"/>
            <a:ext cx="2677937" cy="233362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0E54AF-3751-D4ED-92D1-9C31FCFA4BB0}"/>
              </a:ext>
            </a:extLst>
          </p:cNvPr>
          <p:cNvCxnSpPr>
            <a:cxnSpLocks/>
          </p:cNvCxnSpPr>
          <p:nvPr/>
        </p:nvCxnSpPr>
        <p:spPr>
          <a:xfrm flipH="1">
            <a:off x="840938" y="158944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B822CD-23BC-C207-C3FC-017E368E68B1}"/>
              </a:ext>
            </a:extLst>
          </p:cNvPr>
          <p:cNvCxnSpPr>
            <a:cxnSpLocks/>
          </p:cNvCxnSpPr>
          <p:nvPr/>
        </p:nvCxnSpPr>
        <p:spPr>
          <a:xfrm flipH="1">
            <a:off x="2320940" y="201285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7521B9C-2E0B-CF68-7AA8-55D181A9DAC2}"/>
              </a:ext>
            </a:extLst>
          </p:cNvPr>
          <p:cNvSpPr/>
          <p:nvPr/>
        </p:nvSpPr>
        <p:spPr>
          <a:xfrm>
            <a:off x="1201554" y="148705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2E3AA2-F481-13D5-F372-11E8511E79B6}"/>
              </a:ext>
            </a:extLst>
          </p:cNvPr>
          <p:cNvSpPr/>
          <p:nvPr/>
        </p:nvSpPr>
        <p:spPr>
          <a:xfrm>
            <a:off x="2486682" y="1760638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4B5F53-E022-EF5C-0045-E86021BD483C}"/>
              </a:ext>
            </a:extLst>
          </p:cNvPr>
          <p:cNvCxnSpPr>
            <a:cxnSpLocks/>
          </p:cNvCxnSpPr>
          <p:nvPr/>
        </p:nvCxnSpPr>
        <p:spPr>
          <a:xfrm>
            <a:off x="1223568" y="1554738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D32F802-9C46-E1A6-75C9-465456FC5EC9}"/>
              </a:ext>
            </a:extLst>
          </p:cNvPr>
          <p:cNvSpPr/>
          <p:nvPr/>
        </p:nvSpPr>
        <p:spPr>
          <a:xfrm>
            <a:off x="1070634" y="1394131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9FA972-B760-68FD-7C51-BB57C90A5E17}"/>
              </a:ext>
            </a:extLst>
          </p:cNvPr>
          <p:cNvSpPr txBox="1"/>
          <p:nvPr/>
        </p:nvSpPr>
        <p:spPr>
          <a:xfrm rot="815892">
            <a:off x="1318168" y="129249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9E0CC5-8365-3F19-96E7-5E063B2478CB}"/>
              </a:ext>
            </a:extLst>
          </p:cNvPr>
          <p:cNvSpPr txBox="1"/>
          <p:nvPr/>
        </p:nvSpPr>
        <p:spPr>
          <a:xfrm>
            <a:off x="2430025" y="18055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B62543-6084-EBC7-8941-7C41C71BFC42}"/>
              </a:ext>
            </a:extLst>
          </p:cNvPr>
          <p:cNvSpPr txBox="1"/>
          <p:nvPr/>
        </p:nvSpPr>
        <p:spPr>
          <a:xfrm>
            <a:off x="1032385" y="142984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BA7B5D-AD39-B5C5-D563-6853DD2B5C99}"/>
              </a:ext>
            </a:extLst>
          </p:cNvPr>
          <p:cNvSpPr/>
          <p:nvPr/>
        </p:nvSpPr>
        <p:spPr>
          <a:xfrm>
            <a:off x="2104045" y="260468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BA92A1-4549-C248-5B3D-D76A2A4A1823}"/>
              </a:ext>
            </a:extLst>
          </p:cNvPr>
          <p:cNvCxnSpPr>
            <a:cxnSpLocks/>
          </p:cNvCxnSpPr>
          <p:nvPr/>
        </p:nvCxnSpPr>
        <p:spPr>
          <a:xfrm>
            <a:off x="807063" y="227032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83FBA30-B829-38C0-4538-6CD70BED7BD4}"/>
              </a:ext>
            </a:extLst>
          </p:cNvPr>
          <p:cNvSpPr/>
          <p:nvPr/>
        </p:nvSpPr>
        <p:spPr>
          <a:xfrm>
            <a:off x="654129" y="210971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61B9C6-4894-F784-9910-DBAACE6531DE}"/>
              </a:ext>
            </a:extLst>
          </p:cNvPr>
          <p:cNvSpPr txBox="1"/>
          <p:nvPr/>
        </p:nvSpPr>
        <p:spPr>
          <a:xfrm>
            <a:off x="2047058" y="263163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FFA5B2-A3A6-9258-22FA-768575D5A38C}"/>
              </a:ext>
            </a:extLst>
          </p:cNvPr>
          <p:cNvSpPr txBox="1"/>
          <p:nvPr/>
        </p:nvSpPr>
        <p:spPr>
          <a:xfrm>
            <a:off x="596828" y="214067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93C4F5-727F-CAA4-C7D2-032157EB77E6}"/>
              </a:ext>
            </a:extLst>
          </p:cNvPr>
          <p:cNvSpPr txBox="1"/>
          <p:nvPr/>
        </p:nvSpPr>
        <p:spPr>
          <a:xfrm rot="1053603">
            <a:off x="904000" y="21515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CA94B21-11BB-2FC6-2D53-20651DAB87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-1006046" y="3068871"/>
            <a:ext cx="2677937" cy="2333625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01E2B6-27F4-7FC7-FEB8-5121BACE84EC}"/>
              </a:ext>
            </a:extLst>
          </p:cNvPr>
          <p:cNvCxnSpPr>
            <a:cxnSpLocks/>
          </p:cNvCxnSpPr>
          <p:nvPr/>
        </p:nvCxnSpPr>
        <p:spPr>
          <a:xfrm flipH="1">
            <a:off x="-650578" y="3807342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39A6FA5-723C-3689-CA43-8943FD0F4B32}"/>
              </a:ext>
            </a:extLst>
          </p:cNvPr>
          <p:cNvCxnSpPr>
            <a:cxnSpLocks/>
          </p:cNvCxnSpPr>
          <p:nvPr/>
        </p:nvCxnSpPr>
        <p:spPr>
          <a:xfrm flipH="1">
            <a:off x="829424" y="4230750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D86C3B4C-6E68-B6F2-EC59-98A7ECFD6BC7}"/>
              </a:ext>
            </a:extLst>
          </p:cNvPr>
          <p:cNvSpPr/>
          <p:nvPr/>
        </p:nvSpPr>
        <p:spPr>
          <a:xfrm>
            <a:off x="-289962" y="370495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704C8C1-61AF-DDD7-8026-7DEDF90856AC}"/>
              </a:ext>
            </a:extLst>
          </p:cNvPr>
          <p:cNvSpPr/>
          <p:nvPr/>
        </p:nvSpPr>
        <p:spPr>
          <a:xfrm>
            <a:off x="995166" y="397853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764A368-8B67-2E23-B904-270E59181AE6}"/>
              </a:ext>
            </a:extLst>
          </p:cNvPr>
          <p:cNvSpPr/>
          <p:nvPr/>
        </p:nvSpPr>
        <p:spPr>
          <a:xfrm>
            <a:off x="-420882" y="3612028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346A96-839B-9809-8B1A-0C6616A3F60A}"/>
              </a:ext>
            </a:extLst>
          </p:cNvPr>
          <p:cNvSpPr txBox="1"/>
          <p:nvPr/>
        </p:nvSpPr>
        <p:spPr>
          <a:xfrm rot="17902530">
            <a:off x="-794569" y="3880590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99FAAF-C8E1-234C-CA8A-5BD7BBE8D159}"/>
              </a:ext>
            </a:extLst>
          </p:cNvPr>
          <p:cNvSpPr txBox="1"/>
          <p:nvPr/>
        </p:nvSpPr>
        <p:spPr>
          <a:xfrm>
            <a:off x="938509" y="402344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5EDAA7-D128-85A5-E4FD-A8F4BED9EF99}"/>
              </a:ext>
            </a:extLst>
          </p:cNvPr>
          <p:cNvSpPr txBox="1"/>
          <p:nvPr/>
        </p:nvSpPr>
        <p:spPr>
          <a:xfrm>
            <a:off x="-459131" y="3647742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7581C05-1B2F-771B-7725-EB1FDFCE2781}"/>
              </a:ext>
            </a:extLst>
          </p:cNvPr>
          <p:cNvSpPr/>
          <p:nvPr/>
        </p:nvSpPr>
        <p:spPr>
          <a:xfrm>
            <a:off x="612529" y="482257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B2B7DF1-6BB9-C7FC-7B5D-52F19347CE5B}"/>
              </a:ext>
            </a:extLst>
          </p:cNvPr>
          <p:cNvSpPr/>
          <p:nvPr/>
        </p:nvSpPr>
        <p:spPr>
          <a:xfrm>
            <a:off x="-837387" y="4327616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5FB98-C49A-1B94-04A1-A6CDC082193B}"/>
              </a:ext>
            </a:extLst>
          </p:cNvPr>
          <p:cNvSpPr txBox="1"/>
          <p:nvPr/>
        </p:nvSpPr>
        <p:spPr>
          <a:xfrm>
            <a:off x="555542" y="484953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DCEE16-6FE0-91CA-91CC-B22A2170D73F}"/>
              </a:ext>
            </a:extLst>
          </p:cNvPr>
          <p:cNvSpPr txBox="1"/>
          <p:nvPr/>
        </p:nvSpPr>
        <p:spPr>
          <a:xfrm>
            <a:off x="-894688" y="4358567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B937B5-D7BA-C627-D74E-0F834AED8086}"/>
              </a:ext>
            </a:extLst>
          </p:cNvPr>
          <p:cNvSpPr txBox="1"/>
          <p:nvPr/>
        </p:nvSpPr>
        <p:spPr>
          <a:xfrm rot="17597976">
            <a:off x="-106709" y="4132607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D5535B0-37B1-BF7E-BB33-29206BF752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424530" y="2701482"/>
            <a:ext cx="2677937" cy="2333625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28298A92-F34C-259B-27F3-DA1836E09ED1}"/>
              </a:ext>
            </a:extLst>
          </p:cNvPr>
          <p:cNvSpPr/>
          <p:nvPr/>
        </p:nvSpPr>
        <p:spPr>
          <a:xfrm>
            <a:off x="8164096" y="3337566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C7B934B-ABB9-A390-9462-5A3917DD5BAB}"/>
              </a:ext>
            </a:extLst>
          </p:cNvPr>
          <p:cNvSpPr/>
          <p:nvPr/>
        </p:nvSpPr>
        <p:spPr>
          <a:xfrm>
            <a:off x="9449224" y="361114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DA4288-E02C-30D0-FF2F-5732EB6C2F9D}"/>
              </a:ext>
            </a:extLst>
          </p:cNvPr>
          <p:cNvCxnSpPr>
            <a:cxnSpLocks/>
          </p:cNvCxnSpPr>
          <p:nvPr/>
        </p:nvCxnSpPr>
        <p:spPr>
          <a:xfrm>
            <a:off x="8186110" y="3405246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8FF1D90-7DAE-EC53-EB42-6EF539CD5CC1}"/>
              </a:ext>
            </a:extLst>
          </p:cNvPr>
          <p:cNvSpPr/>
          <p:nvPr/>
        </p:nvSpPr>
        <p:spPr>
          <a:xfrm>
            <a:off x="8033176" y="32446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1E5326-A897-E38D-2F94-01F1F1FEB382}"/>
              </a:ext>
            </a:extLst>
          </p:cNvPr>
          <p:cNvSpPr txBox="1"/>
          <p:nvPr/>
        </p:nvSpPr>
        <p:spPr>
          <a:xfrm>
            <a:off x="9392567" y="365605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A2F1BB-F54B-A83E-799F-E4A7A7042EAF}"/>
              </a:ext>
            </a:extLst>
          </p:cNvPr>
          <p:cNvSpPr txBox="1"/>
          <p:nvPr/>
        </p:nvSpPr>
        <p:spPr>
          <a:xfrm>
            <a:off x="7994927" y="328035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671097A-2FD0-A93C-C7C7-0B16249020BE}"/>
              </a:ext>
            </a:extLst>
          </p:cNvPr>
          <p:cNvSpPr/>
          <p:nvPr/>
        </p:nvSpPr>
        <p:spPr>
          <a:xfrm>
            <a:off x="9066587" y="445518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765E97D-30F5-359D-C070-F92E7D37DD5E}"/>
              </a:ext>
            </a:extLst>
          </p:cNvPr>
          <p:cNvCxnSpPr>
            <a:cxnSpLocks/>
          </p:cNvCxnSpPr>
          <p:nvPr/>
        </p:nvCxnSpPr>
        <p:spPr>
          <a:xfrm>
            <a:off x="7769605" y="4120834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1FCBE99E-FE1A-76B5-2279-0E1A867540C4}"/>
              </a:ext>
            </a:extLst>
          </p:cNvPr>
          <p:cNvSpPr/>
          <p:nvPr/>
        </p:nvSpPr>
        <p:spPr>
          <a:xfrm>
            <a:off x="7616671" y="396022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3A5B4D-0764-C7C5-BA2F-AC4EF82FAB15}"/>
              </a:ext>
            </a:extLst>
          </p:cNvPr>
          <p:cNvSpPr txBox="1"/>
          <p:nvPr/>
        </p:nvSpPr>
        <p:spPr>
          <a:xfrm>
            <a:off x="9009600" y="44821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68E44B-31C8-BB2B-9061-052F826C77B0}"/>
              </a:ext>
            </a:extLst>
          </p:cNvPr>
          <p:cNvSpPr txBox="1"/>
          <p:nvPr/>
        </p:nvSpPr>
        <p:spPr>
          <a:xfrm>
            <a:off x="7559370" y="3991178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87777EC-FF18-4A52-FF54-3C8D98BFC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360688" y="2704097"/>
            <a:ext cx="2677937" cy="2333625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06AF85-E0A0-E357-8C94-4C34B13BF5B2}"/>
              </a:ext>
            </a:extLst>
          </p:cNvPr>
          <p:cNvCxnSpPr>
            <a:cxnSpLocks/>
          </p:cNvCxnSpPr>
          <p:nvPr/>
        </p:nvCxnSpPr>
        <p:spPr>
          <a:xfrm flipH="1">
            <a:off x="3716156" y="3442568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DB7A108-EF51-04B8-B9FF-719C32C8E17C}"/>
              </a:ext>
            </a:extLst>
          </p:cNvPr>
          <p:cNvCxnSpPr>
            <a:cxnSpLocks/>
          </p:cNvCxnSpPr>
          <p:nvPr/>
        </p:nvCxnSpPr>
        <p:spPr>
          <a:xfrm flipH="1">
            <a:off x="5196158" y="3865976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D9D64AF-3CA5-6F6E-71E8-83ED8F240BD2}"/>
              </a:ext>
            </a:extLst>
          </p:cNvPr>
          <p:cNvSpPr/>
          <p:nvPr/>
        </p:nvSpPr>
        <p:spPr>
          <a:xfrm>
            <a:off x="4076772" y="3340181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18D7599-C2C9-FB64-392A-EE02A5205E29}"/>
              </a:ext>
            </a:extLst>
          </p:cNvPr>
          <p:cNvSpPr/>
          <p:nvPr/>
        </p:nvSpPr>
        <p:spPr>
          <a:xfrm>
            <a:off x="5361900" y="361376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DEF5CFD-F263-2B36-C5DE-6DFFFC010E52}"/>
              </a:ext>
            </a:extLst>
          </p:cNvPr>
          <p:cNvSpPr/>
          <p:nvPr/>
        </p:nvSpPr>
        <p:spPr>
          <a:xfrm>
            <a:off x="3945852" y="3247254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CAA50B2-A648-9402-98AE-B3DFDA1C2863}"/>
              </a:ext>
            </a:extLst>
          </p:cNvPr>
          <p:cNvSpPr txBox="1"/>
          <p:nvPr/>
        </p:nvSpPr>
        <p:spPr>
          <a:xfrm>
            <a:off x="5305243" y="3658666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2602E2-306E-E193-F224-5FC3BBD11851}"/>
              </a:ext>
            </a:extLst>
          </p:cNvPr>
          <p:cNvSpPr txBox="1"/>
          <p:nvPr/>
        </p:nvSpPr>
        <p:spPr>
          <a:xfrm>
            <a:off x="3907603" y="3282968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CE43761-56C3-EF62-A090-95104090C754}"/>
              </a:ext>
            </a:extLst>
          </p:cNvPr>
          <p:cNvSpPr/>
          <p:nvPr/>
        </p:nvSpPr>
        <p:spPr>
          <a:xfrm>
            <a:off x="4979263" y="4457804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F912BB4-6C62-E818-74D0-0833A05606B0}"/>
              </a:ext>
            </a:extLst>
          </p:cNvPr>
          <p:cNvSpPr/>
          <p:nvPr/>
        </p:nvSpPr>
        <p:spPr>
          <a:xfrm>
            <a:off x="3529347" y="3962842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472C2B-4241-7603-9138-25814FA88C6D}"/>
              </a:ext>
            </a:extLst>
          </p:cNvPr>
          <p:cNvSpPr txBox="1"/>
          <p:nvPr/>
        </p:nvSpPr>
        <p:spPr>
          <a:xfrm>
            <a:off x="4922276" y="448475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F69A16-062D-E25B-AD9A-2FEB098FCE02}"/>
              </a:ext>
            </a:extLst>
          </p:cNvPr>
          <p:cNvSpPr txBox="1"/>
          <p:nvPr/>
        </p:nvSpPr>
        <p:spPr>
          <a:xfrm>
            <a:off x="3472046" y="3993793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82BDBE3-0913-ED08-AFD1-A953CB6E3AD3}"/>
              </a:ext>
            </a:extLst>
          </p:cNvPr>
          <p:cNvCxnSpPr>
            <a:cxnSpLocks/>
          </p:cNvCxnSpPr>
          <p:nvPr/>
        </p:nvCxnSpPr>
        <p:spPr>
          <a:xfrm>
            <a:off x="6167690" y="3814284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32CFD4D-E6CE-503F-2BAC-719B7EC238A1}"/>
              </a:ext>
            </a:extLst>
          </p:cNvPr>
          <p:cNvSpPr txBox="1"/>
          <p:nvPr/>
        </p:nvSpPr>
        <p:spPr>
          <a:xfrm>
            <a:off x="5933956" y="2759534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2854FE8-664B-49E1-5613-11FF3FCE1DCD}"/>
              </a:ext>
            </a:extLst>
          </p:cNvPr>
          <p:cNvSpPr/>
          <p:nvPr/>
        </p:nvSpPr>
        <p:spPr>
          <a:xfrm>
            <a:off x="3197748" y="5366582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D613952E-6F89-BB6E-60FE-31D4CEBA2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297030" y="5539543"/>
            <a:ext cx="2677937" cy="2333625"/>
          </a:xfrm>
          <a:prstGeom prst="rect">
            <a:avLst/>
          </a:prstGeom>
        </p:spPr>
      </p:pic>
      <p:sp>
        <p:nvSpPr>
          <p:cNvPr id="106" name="Oval 105">
            <a:extLst>
              <a:ext uri="{FF2B5EF4-FFF2-40B4-BE49-F238E27FC236}">
                <a16:creationId xmlns:a16="http://schemas.microsoft.com/office/drawing/2014/main" id="{238DA74A-F9C5-31C6-83A6-9D8B55AC66D6}"/>
              </a:ext>
            </a:extLst>
          </p:cNvPr>
          <p:cNvSpPr/>
          <p:nvPr/>
        </p:nvSpPr>
        <p:spPr>
          <a:xfrm>
            <a:off x="4036596" y="6175627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34F83E0-D4FD-6EF2-F8C2-8974234F1577}"/>
              </a:ext>
            </a:extLst>
          </p:cNvPr>
          <p:cNvSpPr/>
          <p:nvPr/>
        </p:nvSpPr>
        <p:spPr>
          <a:xfrm>
            <a:off x="5321724" y="644920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79473AF-88F3-DA63-1EB3-9C9374B5FE15}"/>
              </a:ext>
            </a:extLst>
          </p:cNvPr>
          <p:cNvCxnSpPr>
            <a:cxnSpLocks/>
          </p:cNvCxnSpPr>
          <p:nvPr/>
        </p:nvCxnSpPr>
        <p:spPr>
          <a:xfrm>
            <a:off x="4058610" y="6243307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E5ADA815-AA24-4D05-4CEF-8EEC19433326}"/>
              </a:ext>
            </a:extLst>
          </p:cNvPr>
          <p:cNvSpPr/>
          <p:nvPr/>
        </p:nvSpPr>
        <p:spPr>
          <a:xfrm>
            <a:off x="3905676" y="6082700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466D8CD-6516-D3B2-791C-E12D2CA6D3BA}"/>
              </a:ext>
            </a:extLst>
          </p:cNvPr>
          <p:cNvSpPr txBox="1"/>
          <p:nvPr/>
        </p:nvSpPr>
        <p:spPr>
          <a:xfrm>
            <a:off x="5265067" y="649411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CFE261-4A09-9E45-FF41-95237662DFA8}"/>
              </a:ext>
            </a:extLst>
          </p:cNvPr>
          <p:cNvSpPr txBox="1"/>
          <p:nvPr/>
        </p:nvSpPr>
        <p:spPr>
          <a:xfrm>
            <a:off x="3867427" y="6118414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FCC46E9-5878-0B09-F0EC-5726AAEE141D}"/>
              </a:ext>
            </a:extLst>
          </p:cNvPr>
          <p:cNvSpPr/>
          <p:nvPr/>
        </p:nvSpPr>
        <p:spPr>
          <a:xfrm>
            <a:off x="4939087" y="7293250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85011F1-E1CD-4451-C632-A129EDA67F73}"/>
              </a:ext>
            </a:extLst>
          </p:cNvPr>
          <p:cNvCxnSpPr>
            <a:cxnSpLocks/>
          </p:cNvCxnSpPr>
          <p:nvPr/>
        </p:nvCxnSpPr>
        <p:spPr>
          <a:xfrm>
            <a:off x="3642105" y="6958895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39EC617D-D427-39D3-C3D9-A99BDFF1F874}"/>
              </a:ext>
            </a:extLst>
          </p:cNvPr>
          <p:cNvSpPr/>
          <p:nvPr/>
        </p:nvSpPr>
        <p:spPr>
          <a:xfrm>
            <a:off x="3489171" y="6798288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0E90497-B11A-B73C-59D0-685D2ECF9216}"/>
              </a:ext>
            </a:extLst>
          </p:cNvPr>
          <p:cNvSpPr txBox="1"/>
          <p:nvPr/>
        </p:nvSpPr>
        <p:spPr>
          <a:xfrm>
            <a:off x="4882100" y="7320204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4C6B3E-989A-7381-733C-EA787046B10B}"/>
              </a:ext>
            </a:extLst>
          </p:cNvPr>
          <p:cNvSpPr txBox="1"/>
          <p:nvPr/>
        </p:nvSpPr>
        <p:spPr>
          <a:xfrm>
            <a:off x="3431870" y="6829239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8BF8316-06BE-F15C-5602-BBE5DB115A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526288" y="5542158"/>
            <a:ext cx="2677937" cy="2333625"/>
          </a:xfrm>
          <a:prstGeom prst="rect">
            <a:avLst/>
          </a:prstGeom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C550079-CA42-9ED0-8B2F-DDD6C9BB29BE}"/>
              </a:ext>
            </a:extLst>
          </p:cNvPr>
          <p:cNvCxnSpPr>
            <a:cxnSpLocks/>
          </p:cNvCxnSpPr>
          <p:nvPr/>
        </p:nvCxnSpPr>
        <p:spPr>
          <a:xfrm flipH="1">
            <a:off x="7881756" y="628062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53C3E1E-49B1-316A-84FE-DC72D343DE4B}"/>
              </a:ext>
            </a:extLst>
          </p:cNvPr>
          <p:cNvCxnSpPr>
            <a:cxnSpLocks/>
          </p:cNvCxnSpPr>
          <p:nvPr/>
        </p:nvCxnSpPr>
        <p:spPr>
          <a:xfrm flipH="1">
            <a:off x="9361758" y="670403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6DA4E68A-9493-50F1-E074-C4F09C486A64}"/>
              </a:ext>
            </a:extLst>
          </p:cNvPr>
          <p:cNvSpPr/>
          <p:nvPr/>
        </p:nvSpPr>
        <p:spPr>
          <a:xfrm>
            <a:off x="8242372" y="617824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FE0FE3E-184D-3AE3-F8B3-23AB06EA9629}"/>
              </a:ext>
            </a:extLst>
          </p:cNvPr>
          <p:cNvSpPr/>
          <p:nvPr/>
        </p:nvSpPr>
        <p:spPr>
          <a:xfrm>
            <a:off x="9527500" y="645182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1BEFA66-D2C5-A2A5-9F0A-2760261429FF}"/>
              </a:ext>
            </a:extLst>
          </p:cNvPr>
          <p:cNvSpPr/>
          <p:nvPr/>
        </p:nvSpPr>
        <p:spPr>
          <a:xfrm>
            <a:off x="8111452" y="608531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68BD258-E307-C5E8-60BA-43AF69A2671B}"/>
              </a:ext>
            </a:extLst>
          </p:cNvPr>
          <p:cNvSpPr txBox="1"/>
          <p:nvPr/>
        </p:nvSpPr>
        <p:spPr>
          <a:xfrm>
            <a:off x="9470843" y="649672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41EFDAF-1088-38FF-FCC2-93E13B377AD3}"/>
              </a:ext>
            </a:extLst>
          </p:cNvPr>
          <p:cNvSpPr txBox="1"/>
          <p:nvPr/>
        </p:nvSpPr>
        <p:spPr>
          <a:xfrm>
            <a:off x="8073203" y="612102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13F45C8-A4AD-ED37-6756-5A0626C63501}"/>
              </a:ext>
            </a:extLst>
          </p:cNvPr>
          <p:cNvSpPr/>
          <p:nvPr/>
        </p:nvSpPr>
        <p:spPr>
          <a:xfrm>
            <a:off x="9144863" y="729586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5302BBC7-673F-13C3-B0B7-E567341C039A}"/>
              </a:ext>
            </a:extLst>
          </p:cNvPr>
          <p:cNvSpPr/>
          <p:nvPr/>
        </p:nvSpPr>
        <p:spPr>
          <a:xfrm>
            <a:off x="7694947" y="6800903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CB8335D-A68E-59F0-37E9-4C844D79DC88}"/>
              </a:ext>
            </a:extLst>
          </p:cNvPr>
          <p:cNvSpPr txBox="1"/>
          <p:nvPr/>
        </p:nvSpPr>
        <p:spPr>
          <a:xfrm>
            <a:off x="9087876" y="732281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8EFFF43-9DD9-A1A3-3DEA-5E9332946BE4}"/>
              </a:ext>
            </a:extLst>
          </p:cNvPr>
          <p:cNvSpPr txBox="1"/>
          <p:nvPr/>
        </p:nvSpPr>
        <p:spPr>
          <a:xfrm>
            <a:off x="7637646" y="683185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C07677A-0648-07EB-93AA-83D45513959F}"/>
              </a:ext>
            </a:extLst>
          </p:cNvPr>
          <p:cNvCxnSpPr>
            <a:cxnSpLocks/>
          </p:cNvCxnSpPr>
          <p:nvPr/>
        </p:nvCxnSpPr>
        <p:spPr>
          <a:xfrm>
            <a:off x="6167690" y="6652345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8D4CDDD3-F267-6E39-437B-C50E235830CF}"/>
              </a:ext>
            </a:extLst>
          </p:cNvPr>
          <p:cNvSpPr txBox="1"/>
          <p:nvPr/>
        </p:nvSpPr>
        <p:spPr>
          <a:xfrm>
            <a:off x="5933956" y="5597595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3502063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effect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244ED-15B1-5F1A-D660-BDF42765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1985645"/>
            <a:ext cx="6278350" cy="37014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D53DEE-B5FB-6865-5FD5-1C4C6B53C949}"/>
              </a:ext>
            </a:extLst>
          </p:cNvPr>
          <p:cNvSpPr txBox="1"/>
          <p:nvPr/>
        </p:nvSpPr>
        <p:spPr>
          <a:xfrm>
            <a:off x="8573771" y="72989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4FD8338-C954-4801-13D3-62DCC307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844" y="1591754"/>
            <a:ext cx="3571004" cy="233019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072F000-6333-3BBF-D6D0-8CAF3E7ED7A8}"/>
              </a:ext>
            </a:extLst>
          </p:cNvPr>
          <p:cNvSpPr txBox="1"/>
          <p:nvPr/>
        </p:nvSpPr>
        <p:spPr>
          <a:xfrm>
            <a:off x="7714198" y="4079249"/>
            <a:ext cx="4363502" cy="181588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Plot VEN &amp; plot DOR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Could plot a triangle matrix for each pair?</a:t>
            </a:r>
          </a:p>
        </p:txBody>
      </p:sp>
    </p:spTree>
    <p:extLst>
      <p:ext uri="{BB962C8B-B14F-4D97-AF65-F5344CB8AC3E}">
        <p14:creationId xmlns:p14="http://schemas.microsoft.com/office/powerpoint/2010/main" val="35562279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1453-96F7-4427-A494-05FC4057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33DBC-A5CE-FB08-4860-DBA357B66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4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9703</TotalTime>
  <Words>2649</Words>
  <Application>Microsoft Office PowerPoint</Application>
  <PresentationFormat>Widescreen</PresentationFormat>
  <Paragraphs>464</Paragraphs>
  <Slides>50</Slides>
  <Notes>8</Notes>
  <HiddenSlides>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Courier New</vt:lpstr>
      <vt:lpstr>Wingdings</vt:lpstr>
      <vt:lpstr>Office Theme</vt:lpstr>
      <vt:lpstr>Delay meeting was good</vt:lpstr>
      <vt:lpstr>Ven-Dor</vt:lpstr>
      <vt:lpstr>Introduction</vt:lpstr>
      <vt:lpstr>Introduction</vt:lpstr>
      <vt:lpstr>Questions / Aims</vt:lpstr>
      <vt:lpstr>3-session fMRI study (SchemRep)</vt:lpstr>
      <vt:lpstr>Result 1: Identifying the Ven-Dor modules</vt:lpstr>
      <vt:lpstr>Result 1: How do YA and OA process congruency?</vt:lpstr>
      <vt:lpstr>Summary</vt:lpstr>
      <vt:lpstr>How to frame this paper</vt:lpstr>
      <vt:lpstr>Non-aging paper titles</vt:lpstr>
      <vt:lpstr>Note</vt:lpstr>
      <vt:lpstr>Incongruency-congruency conn matrix</vt:lpstr>
      <vt:lpstr>Modularity</vt:lpstr>
      <vt:lpstr>Dort?</vt:lpstr>
      <vt:lpstr>Quadrants</vt:lpstr>
      <vt:lpstr>Quadrants (scrubbing)</vt:lpstr>
      <vt:lpstr>Anatomical Quadrant</vt:lpstr>
      <vt:lpstr>Traditional modularity results (for reference)</vt:lpstr>
      <vt:lpstr>Quadrant seeds</vt:lpstr>
      <vt:lpstr>Background: Dynamic functional connectivity</vt:lpstr>
      <vt:lpstr>Ven x Dor</vt:lpstr>
      <vt:lpstr>Results 1 summary</vt:lpstr>
      <vt:lpstr>An interlude</vt:lpstr>
      <vt:lpstr>1.5 New</vt:lpstr>
      <vt:lpstr>Ven-Dor ROIs do not map onto network segmentations</vt:lpstr>
      <vt:lpstr>Further evidence of modularity</vt:lpstr>
      <vt:lpstr>Further evidence of modularity</vt:lpstr>
      <vt:lpstr>Specifying the fluctuation more exactly</vt:lpstr>
      <vt:lpstr>Anatomical vs. Functional quadrans</vt:lpstr>
      <vt:lpstr>PowerPoint Presentation</vt:lpstr>
      <vt:lpstr>Hemispheres</vt:lpstr>
      <vt:lpstr>PowerPoint Presentation</vt:lpstr>
      <vt:lpstr>PowerPoint Presentation</vt:lpstr>
      <vt:lpstr>Result 2: The effects of aging on processing congruency and Ven-Dor</vt:lpstr>
      <vt:lpstr>Ven vs. Dor</vt:lpstr>
      <vt:lpstr>Anatomical-based results</vt:lpstr>
      <vt:lpstr>Bar graphs for the four sides</vt:lpstr>
      <vt:lpstr>Aging modulates fluctuation</vt:lpstr>
      <vt:lpstr>Interim summary</vt:lpstr>
      <vt:lpstr>Result 3: Interpreting  Ven &amp; Dor</vt:lpstr>
      <vt:lpstr>Scene representation &amp; Ven</vt:lpstr>
      <vt:lpstr>Conceptual memory &amp; Dor</vt:lpstr>
      <vt:lpstr>Results 3 summary</vt:lpstr>
      <vt:lpstr>3.5 New</vt:lpstr>
      <vt:lpstr>Dor</vt:lpstr>
      <vt:lpstr>Conclusion</vt:lpstr>
      <vt:lpstr>PowerPoint Presentation</vt:lpstr>
      <vt:lpstr>Vendor effect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Paul Bogdan</cp:lastModifiedBy>
  <cp:revision>32</cp:revision>
  <dcterms:created xsi:type="dcterms:W3CDTF">2024-02-08T13:12:41Z</dcterms:created>
  <dcterms:modified xsi:type="dcterms:W3CDTF">2024-02-17T15:29:52Z</dcterms:modified>
</cp:coreProperties>
</file>