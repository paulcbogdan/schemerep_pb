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63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4" autoAdjust="0"/>
    <p:restoredTop sz="91771" autoAdjust="0"/>
  </p:normalViewPr>
  <p:slideViewPr>
    <p:cSldViewPr snapToGrid="0">
      <p:cViewPr>
        <p:scale>
          <a:sx n="100" d="100"/>
          <a:sy n="100" d="100"/>
        </p:scale>
        <p:origin x="1494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024BEF-DA66-482A-BD0C-319C29257D3F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DAF7AA-02CC-4858-BD07-76C5BFB12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840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result may be related to multicollinearity somehow?</a:t>
            </a:r>
          </a:p>
          <a:p>
            <a:r>
              <a:rPr lang="en-US" dirty="0"/>
              <a:t>The effect on condition 2 one sample t-tests can be assessed with real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DAF7AA-02CC-4858-BD07-76C5BFB12F4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46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The fact that fMRI 0 and fMRI 1 strongly represent stim 0 and stim 0, creates upward pressure on Stim A IRAF</a:t>
            </a:r>
            <a:br>
              <a:rPr lang="en-US" sz="1200" dirty="0"/>
            </a:br>
            <a:br>
              <a:rPr lang="en-US" sz="1200" dirty="0"/>
            </a:b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Flipping this scenario around, so that fMRI 0 and fMRI 1 are positively correlated does </a:t>
            </a:r>
            <a:r>
              <a:rPr lang="en-US" sz="1200" i="1" dirty="0"/>
              <a:t>not </a:t>
            </a:r>
            <a:r>
              <a:rPr lang="en-US" sz="1200" dirty="0"/>
              <a:t>cancel out this pressure (if you are using correlations to measure IRAF)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DAF7AA-02CC-4858-BD07-76C5BFB12F4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330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The fact that fMRI 0 and fMRI 1 strongly represent stim 0 and stim 0, creates upward pressure on Stim A IRAF</a:t>
            </a:r>
            <a:br>
              <a:rPr lang="en-US" sz="1200" dirty="0"/>
            </a:br>
            <a:br>
              <a:rPr lang="en-US" sz="1200" dirty="0"/>
            </a:b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Flipping this scenario around, so that fMRI 0 and fMRI 1 are positively correlated does </a:t>
            </a:r>
            <a:r>
              <a:rPr lang="en-US" sz="1200" i="1" dirty="0"/>
              <a:t>not </a:t>
            </a:r>
            <a:r>
              <a:rPr lang="en-US" sz="1200" dirty="0"/>
              <a:t>cancel out this pressure (if you are using correlations to measure IRAF)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DAF7AA-02CC-4858-BD07-76C5BFB12F4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379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The fact that fMRI 0 and fMRI 1 strongly represent stim 0 and stim 0, creates upward pressure on Stim A IRAF</a:t>
            </a:r>
            <a:br>
              <a:rPr lang="en-US" sz="1200" dirty="0"/>
            </a:br>
            <a:br>
              <a:rPr lang="en-US" sz="1200" dirty="0"/>
            </a:b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Flipping this scenario around, so that fMRI 0 and fMRI 1 are positively correlated does </a:t>
            </a:r>
            <a:r>
              <a:rPr lang="en-US" sz="1200" i="1" dirty="0"/>
              <a:t>not </a:t>
            </a:r>
            <a:r>
              <a:rPr lang="en-US" sz="1200" dirty="0"/>
              <a:t>cancel out this pressure (if you are using correlations to measure IRAF)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DAF7AA-02CC-4858-BD07-76C5BFB12F4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60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90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DA879-656E-48B4-B866-55CD7EBD9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AE440-9768-4CF6-B3DB-71C4B16F9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3410" y="2061295"/>
            <a:ext cx="5646654" cy="87986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If your RSM looks like this, RSM x RSM comparison methods are better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E60CD8-1B35-1427-3703-CD29D9D2B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092" y="2809969"/>
            <a:ext cx="4487671" cy="33657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53F0B1-3FF6-0472-97C5-B0A98C35D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36" y="2809970"/>
            <a:ext cx="4487670" cy="3365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400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92FA0-8C77-3116-4C53-AF9799779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signal-to-noise is very high, traditional RSM seems to be better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8D35DC-9887-5BA0-6DFE-75BBE1383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1979" y="2590204"/>
            <a:ext cx="5706271" cy="42677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2F41BB-80B0-72BF-60F2-9C277E8ED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6" y="1882302"/>
            <a:ext cx="6096000" cy="4572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2849F8D-0BB9-6C38-6EEE-BFA44185B440}"/>
              </a:ext>
            </a:extLst>
          </p:cNvPr>
          <p:cNvSpPr/>
          <p:nvPr/>
        </p:nvSpPr>
        <p:spPr>
          <a:xfrm>
            <a:off x="5359224" y="265339"/>
            <a:ext cx="1659449" cy="2167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4BF9BF-34C9-FD58-DEFB-B0C4E4E814BB}"/>
              </a:ext>
            </a:extLst>
          </p:cNvPr>
          <p:cNvSpPr/>
          <p:nvPr/>
        </p:nvSpPr>
        <p:spPr>
          <a:xfrm>
            <a:off x="5762548" y="265339"/>
            <a:ext cx="211990" cy="2167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48E502-8A3B-ADC0-3690-76AEA1A438B0}"/>
              </a:ext>
            </a:extLst>
          </p:cNvPr>
          <p:cNvSpPr/>
          <p:nvPr/>
        </p:nvSpPr>
        <p:spPr>
          <a:xfrm>
            <a:off x="5975434" y="265339"/>
            <a:ext cx="211990" cy="2167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54CE90-7B91-A61E-8ACD-B295D3FAC029}"/>
              </a:ext>
            </a:extLst>
          </p:cNvPr>
          <p:cNvSpPr txBox="1"/>
          <p:nvPr/>
        </p:nvSpPr>
        <p:spPr>
          <a:xfrm>
            <a:off x="5397351" y="12830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4C290C-8C44-EEE1-42A3-A6796EADDF48}"/>
              </a:ext>
            </a:extLst>
          </p:cNvPr>
          <p:cNvSpPr txBox="1"/>
          <p:nvPr/>
        </p:nvSpPr>
        <p:spPr>
          <a:xfrm>
            <a:off x="6496324" y="12830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707196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0E989-CF40-51BB-8F1F-4253CCA5B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161"/>
            <a:ext cx="10515600" cy="1325563"/>
          </a:xfrm>
        </p:spPr>
        <p:txBody>
          <a:bodyPr/>
          <a:lstStyle/>
          <a:p>
            <a:r>
              <a:rPr lang="en-US" dirty="0"/>
              <a:t>Simulation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F1AB7-66F7-3158-E752-F7891BDAB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5724"/>
            <a:ext cx="10515600" cy="519112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 simulated a scenario where for condition 1 (50% of the stimuli), the brain strongly represents the stimuli. </a:t>
            </a:r>
          </a:p>
          <a:p>
            <a:pPr lvl="1"/>
            <a:r>
              <a:rPr lang="en-US" dirty="0"/>
              <a:t>For the condition 2 (50% of the stimuli), the brain response is unrelated to the stimulus</a:t>
            </a:r>
          </a:p>
          <a:p>
            <a:r>
              <a:rPr lang="en-US" dirty="0"/>
              <a:t>If you do this then measure RSM x RSM for condition 1 you find a positive correlation. If you do that for condition 2, you find a negative correlation</a:t>
            </a:r>
          </a:p>
          <a:p>
            <a:r>
              <a:rPr lang="en-US" dirty="0"/>
              <a:t>However, if you calculate the average IRAF, you’ll find a positive correlation in condition 1 along with a positive correlation in condition 2</a:t>
            </a:r>
          </a:p>
          <a:p>
            <a:pPr lvl="1"/>
            <a:r>
              <a:rPr lang="en-US" dirty="0"/>
              <a:t>Can elicit a strong condition 2 representational strength effect (one-sample t-test relative to zero)</a:t>
            </a:r>
          </a:p>
          <a:p>
            <a:pPr lvl="1"/>
            <a:r>
              <a:rPr lang="en-US" dirty="0"/>
              <a:t>Sensitivity is slightly lower for comparisons (paired t-tests)</a:t>
            </a:r>
          </a:p>
          <a:p>
            <a:pPr lvl="1"/>
            <a:r>
              <a:rPr lang="en-US" dirty="0"/>
              <a:t>Why is this?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917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90B435-9EC8-EAEE-9944-0E8015524633}"/>
              </a:ext>
            </a:extLst>
          </p:cNvPr>
          <p:cNvSpPr/>
          <p:nvPr/>
        </p:nvSpPr>
        <p:spPr>
          <a:xfrm>
            <a:off x="721302" y="266232"/>
            <a:ext cx="1200539" cy="120053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557FE-44E2-5E2F-2B7F-74BDE28DE53D}"/>
              </a:ext>
            </a:extLst>
          </p:cNvPr>
          <p:cNvSpPr/>
          <p:nvPr/>
        </p:nvSpPr>
        <p:spPr>
          <a:xfrm>
            <a:off x="3349424" y="266232"/>
            <a:ext cx="1200539" cy="120053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1DC744-F24A-46FE-55AD-A07502D970AA}"/>
              </a:ext>
            </a:extLst>
          </p:cNvPr>
          <p:cNvSpPr txBox="1"/>
          <p:nvPr/>
        </p:nvSpPr>
        <p:spPr>
          <a:xfrm>
            <a:off x="3517523" y="681835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fMRI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6D1654-6045-8225-5886-26C1EB5E3821}"/>
              </a:ext>
            </a:extLst>
          </p:cNvPr>
          <p:cNvSpPr txBox="1"/>
          <p:nvPr/>
        </p:nvSpPr>
        <p:spPr>
          <a:xfrm>
            <a:off x="895846" y="681835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fMRI 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60C5FFB-BD37-B77D-C1F4-30C4C3EACBBD}"/>
              </a:ext>
            </a:extLst>
          </p:cNvPr>
          <p:cNvSpPr/>
          <p:nvPr/>
        </p:nvSpPr>
        <p:spPr>
          <a:xfrm>
            <a:off x="721302" y="2661088"/>
            <a:ext cx="1200539" cy="12005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D64E63-514B-FD1A-8A76-1D6611C7840D}"/>
              </a:ext>
            </a:extLst>
          </p:cNvPr>
          <p:cNvSpPr txBox="1"/>
          <p:nvPr/>
        </p:nvSpPr>
        <p:spPr>
          <a:xfrm>
            <a:off x="895847" y="3076691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Stim 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850333C-C153-D815-5ACA-7C6E9CFC6B21}"/>
              </a:ext>
            </a:extLst>
          </p:cNvPr>
          <p:cNvSpPr/>
          <p:nvPr/>
        </p:nvSpPr>
        <p:spPr>
          <a:xfrm>
            <a:off x="3349425" y="2661088"/>
            <a:ext cx="1200539" cy="12005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D1F373-C5B8-AB8C-6C29-D894BD9B636C}"/>
              </a:ext>
            </a:extLst>
          </p:cNvPr>
          <p:cNvSpPr txBox="1"/>
          <p:nvPr/>
        </p:nvSpPr>
        <p:spPr>
          <a:xfrm>
            <a:off x="3523970" y="3076691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Stim 1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75D01F7-0119-E4FA-5A41-940E0E3A8167}"/>
              </a:ext>
            </a:extLst>
          </p:cNvPr>
          <p:cNvCxnSpPr>
            <a:stCxn id="10" idx="0"/>
            <a:endCxn id="4" idx="2"/>
          </p:cNvCxnSpPr>
          <p:nvPr/>
        </p:nvCxnSpPr>
        <p:spPr>
          <a:xfrm flipV="1">
            <a:off x="1321572" y="1466771"/>
            <a:ext cx="0" cy="11943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9ABEA5C-4B26-1B43-1997-505196BAB2B7}"/>
              </a:ext>
            </a:extLst>
          </p:cNvPr>
          <p:cNvCxnSpPr/>
          <p:nvPr/>
        </p:nvCxnSpPr>
        <p:spPr>
          <a:xfrm flipV="1">
            <a:off x="3931033" y="1466771"/>
            <a:ext cx="0" cy="11943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D1442A4-A80A-8764-6899-2B100592F796}"/>
              </a:ext>
            </a:extLst>
          </p:cNvPr>
          <p:cNvCxnSpPr>
            <a:stCxn id="10" idx="6"/>
            <a:endCxn id="12" idx="2"/>
          </p:cNvCxnSpPr>
          <p:nvPr/>
        </p:nvCxnSpPr>
        <p:spPr>
          <a:xfrm>
            <a:off x="1921841" y="3261358"/>
            <a:ext cx="1427584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78FB790-9C4C-A874-7ADB-9061C74EAB2C}"/>
              </a:ext>
            </a:extLst>
          </p:cNvPr>
          <p:cNvCxnSpPr/>
          <p:nvPr/>
        </p:nvCxnSpPr>
        <p:spPr>
          <a:xfrm>
            <a:off x="1921840" y="923776"/>
            <a:ext cx="1427584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DCA80D0-FCB7-11B3-9591-BC8068BF073A}"/>
              </a:ext>
            </a:extLst>
          </p:cNvPr>
          <p:cNvCxnSpPr>
            <a:cxnSpLocks/>
          </p:cNvCxnSpPr>
          <p:nvPr/>
        </p:nvCxnSpPr>
        <p:spPr>
          <a:xfrm flipV="1">
            <a:off x="2171594" y="1051167"/>
            <a:ext cx="0" cy="2025524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0C785CB-619A-92E9-A3AF-A3300CF6D619}"/>
              </a:ext>
            </a:extLst>
          </p:cNvPr>
          <p:cNvSpPr txBox="1"/>
          <p:nvPr/>
        </p:nvSpPr>
        <p:spPr>
          <a:xfrm>
            <a:off x="1267000" y="1707201"/>
            <a:ext cx="3591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r(fMRI 0, fMRI 1) </a:t>
            </a:r>
            <a:br>
              <a:rPr lang="en-US" sz="1600" dirty="0">
                <a:solidFill>
                  <a:srgbClr val="0070C0"/>
                </a:solidFill>
              </a:rPr>
            </a:br>
            <a:r>
              <a:rPr lang="en-US" sz="1600" dirty="0">
                <a:solidFill>
                  <a:srgbClr val="0070C0"/>
                </a:solidFill>
              </a:rPr>
              <a:t>∝</a:t>
            </a:r>
            <a:br>
              <a:rPr lang="en-US" sz="1600" dirty="0">
                <a:solidFill>
                  <a:srgbClr val="0070C0"/>
                </a:solidFill>
              </a:rPr>
            </a:br>
            <a:r>
              <a:rPr lang="en-US" sz="1600" dirty="0">
                <a:solidFill>
                  <a:srgbClr val="0070C0"/>
                </a:solidFill>
              </a:rPr>
              <a:t>r(stim 0, stim 1)</a:t>
            </a:r>
          </a:p>
        </p:txBody>
      </p:sp>
    </p:spTree>
    <p:extLst>
      <p:ext uri="{BB962C8B-B14F-4D97-AF65-F5344CB8AC3E}">
        <p14:creationId xmlns:p14="http://schemas.microsoft.com/office/powerpoint/2010/main" val="2441728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90B435-9EC8-EAEE-9944-0E8015524633}"/>
              </a:ext>
            </a:extLst>
          </p:cNvPr>
          <p:cNvSpPr/>
          <p:nvPr/>
        </p:nvSpPr>
        <p:spPr>
          <a:xfrm>
            <a:off x="721302" y="266232"/>
            <a:ext cx="1200539" cy="120053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557FE-44E2-5E2F-2B7F-74BDE28DE53D}"/>
              </a:ext>
            </a:extLst>
          </p:cNvPr>
          <p:cNvSpPr/>
          <p:nvPr/>
        </p:nvSpPr>
        <p:spPr>
          <a:xfrm>
            <a:off x="3349424" y="266232"/>
            <a:ext cx="1200539" cy="120053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1DC744-F24A-46FE-55AD-A07502D970AA}"/>
              </a:ext>
            </a:extLst>
          </p:cNvPr>
          <p:cNvSpPr txBox="1"/>
          <p:nvPr/>
        </p:nvSpPr>
        <p:spPr>
          <a:xfrm>
            <a:off x="3517523" y="681835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fMRI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6D1654-6045-8225-5886-26C1EB5E3821}"/>
              </a:ext>
            </a:extLst>
          </p:cNvPr>
          <p:cNvSpPr txBox="1"/>
          <p:nvPr/>
        </p:nvSpPr>
        <p:spPr>
          <a:xfrm>
            <a:off x="895846" y="681835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fMRI 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60C5FFB-BD37-B77D-C1F4-30C4C3EACBBD}"/>
              </a:ext>
            </a:extLst>
          </p:cNvPr>
          <p:cNvSpPr/>
          <p:nvPr/>
        </p:nvSpPr>
        <p:spPr>
          <a:xfrm>
            <a:off x="721302" y="2661088"/>
            <a:ext cx="1200539" cy="12005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D64E63-514B-FD1A-8A76-1D6611C7840D}"/>
              </a:ext>
            </a:extLst>
          </p:cNvPr>
          <p:cNvSpPr txBox="1"/>
          <p:nvPr/>
        </p:nvSpPr>
        <p:spPr>
          <a:xfrm>
            <a:off x="895847" y="3076691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Stim 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850333C-C153-D815-5ACA-7C6E9CFC6B21}"/>
              </a:ext>
            </a:extLst>
          </p:cNvPr>
          <p:cNvSpPr/>
          <p:nvPr/>
        </p:nvSpPr>
        <p:spPr>
          <a:xfrm>
            <a:off x="3349425" y="2661088"/>
            <a:ext cx="1200539" cy="12005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D1F373-C5B8-AB8C-6C29-D894BD9B636C}"/>
              </a:ext>
            </a:extLst>
          </p:cNvPr>
          <p:cNvSpPr txBox="1"/>
          <p:nvPr/>
        </p:nvSpPr>
        <p:spPr>
          <a:xfrm>
            <a:off x="3523970" y="3076691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Stim 1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75D01F7-0119-E4FA-5A41-940E0E3A8167}"/>
              </a:ext>
            </a:extLst>
          </p:cNvPr>
          <p:cNvCxnSpPr>
            <a:stCxn id="10" idx="0"/>
            <a:endCxn id="4" idx="2"/>
          </p:cNvCxnSpPr>
          <p:nvPr/>
        </p:nvCxnSpPr>
        <p:spPr>
          <a:xfrm flipV="1">
            <a:off x="1321572" y="1466771"/>
            <a:ext cx="0" cy="11943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9ABEA5C-4B26-1B43-1997-505196BAB2B7}"/>
              </a:ext>
            </a:extLst>
          </p:cNvPr>
          <p:cNvCxnSpPr/>
          <p:nvPr/>
        </p:nvCxnSpPr>
        <p:spPr>
          <a:xfrm flipV="1">
            <a:off x="3931033" y="1466771"/>
            <a:ext cx="0" cy="11943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D1442A4-A80A-8764-6899-2B100592F796}"/>
              </a:ext>
            </a:extLst>
          </p:cNvPr>
          <p:cNvCxnSpPr>
            <a:stCxn id="10" idx="6"/>
            <a:endCxn id="12" idx="2"/>
          </p:cNvCxnSpPr>
          <p:nvPr/>
        </p:nvCxnSpPr>
        <p:spPr>
          <a:xfrm>
            <a:off x="1921841" y="3261358"/>
            <a:ext cx="1427584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78FB790-9C4C-A874-7ADB-9061C74EAB2C}"/>
              </a:ext>
            </a:extLst>
          </p:cNvPr>
          <p:cNvCxnSpPr/>
          <p:nvPr/>
        </p:nvCxnSpPr>
        <p:spPr>
          <a:xfrm>
            <a:off x="1921840" y="923776"/>
            <a:ext cx="1427584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DCA80D0-FCB7-11B3-9591-BC8068BF073A}"/>
              </a:ext>
            </a:extLst>
          </p:cNvPr>
          <p:cNvCxnSpPr>
            <a:cxnSpLocks/>
          </p:cNvCxnSpPr>
          <p:nvPr/>
        </p:nvCxnSpPr>
        <p:spPr>
          <a:xfrm flipV="1">
            <a:off x="2171594" y="1051167"/>
            <a:ext cx="0" cy="2025524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0C785CB-619A-92E9-A3AF-A3300CF6D619}"/>
              </a:ext>
            </a:extLst>
          </p:cNvPr>
          <p:cNvSpPr txBox="1"/>
          <p:nvPr/>
        </p:nvSpPr>
        <p:spPr>
          <a:xfrm>
            <a:off x="1267000" y="1707201"/>
            <a:ext cx="3591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r(fMRI 0, fMRI 1) </a:t>
            </a:r>
            <a:br>
              <a:rPr lang="en-US" sz="1600" dirty="0">
                <a:solidFill>
                  <a:srgbClr val="0070C0"/>
                </a:solidFill>
              </a:rPr>
            </a:br>
            <a:r>
              <a:rPr lang="en-US" sz="1600" dirty="0">
                <a:solidFill>
                  <a:srgbClr val="0070C0"/>
                </a:solidFill>
              </a:rPr>
              <a:t>∝</a:t>
            </a:r>
            <a:br>
              <a:rPr lang="en-US" sz="1600" dirty="0">
                <a:solidFill>
                  <a:srgbClr val="0070C0"/>
                </a:solidFill>
              </a:rPr>
            </a:br>
            <a:r>
              <a:rPr lang="en-US" sz="1600" dirty="0">
                <a:solidFill>
                  <a:srgbClr val="0070C0"/>
                </a:solidFill>
              </a:rPr>
              <a:t>r(stim 0, stim 1)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933161-4442-6DDC-2335-2B283D0C0176}"/>
              </a:ext>
            </a:extLst>
          </p:cNvPr>
          <p:cNvSpPr/>
          <p:nvPr/>
        </p:nvSpPr>
        <p:spPr>
          <a:xfrm>
            <a:off x="8458340" y="471662"/>
            <a:ext cx="1200539" cy="120053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9A469E-7B11-B38B-AE61-23BC6F0D030A}"/>
              </a:ext>
            </a:extLst>
          </p:cNvPr>
          <p:cNvSpPr txBox="1"/>
          <p:nvPr/>
        </p:nvSpPr>
        <p:spPr>
          <a:xfrm>
            <a:off x="8632884" y="887265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fMRI 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0C4A7D-91A7-5162-E67D-755CD8707609}"/>
              </a:ext>
            </a:extLst>
          </p:cNvPr>
          <p:cNvSpPr/>
          <p:nvPr/>
        </p:nvSpPr>
        <p:spPr>
          <a:xfrm>
            <a:off x="6783627" y="2374328"/>
            <a:ext cx="1200539" cy="120053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007A6E-8DCD-CDC7-70A6-7CCF299C651C}"/>
              </a:ext>
            </a:extLst>
          </p:cNvPr>
          <p:cNvSpPr txBox="1"/>
          <p:nvPr/>
        </p:nvSpPr>
        <p:spPr>
          <a:xfrm>
            <a:off x="6958171" y="2789931"/>
            <a:ext cx="877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fMRI 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92EA50E-4FE2-ED3C-7F46-1C090567A469}"/>
              </a:ext>
            </a:extLst>
          </p:cNvPr>
          <p:cNvSpPr/>
          <p:nvPr/>
        </p:nvSpPr>
        <p:spPr>
          <a:xfrm>
            <a:off x="9868818" y="2374329"/>
            <a:ext cx="1200539" cy="120053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F40DA4-A8B7-8925-8808-46214B0E6526}"/>
              </a:ext>
            </a:extLst>
          </p:cNvPr>
          <p:cNvSpPr txBox="1"/>
          <p:nvPr/>
        </p:nvSpPr>
        <p:spPr>
          <a:xfrm>
            <a:off x="10043362" y="2789932"/>
            <a:ext cx="877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fMRI 1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8FD2305-9B33-C49C-F232-975EBA033522}"/>
              </a:ext>
            </a:extLst>
          </p:cNvPr>
          <p:cNvCxnSpPr>
            <a:cxnSpLocks/>
          </p:cNvCxnSpPr>
          <p:nvPr/>
        </p:nvCxnSpPr>
        <p:spPr>
          <a:xfrm>
            <a:off x="9658879" y="1672201"/>
            <a:ext cx="384483" cy="702127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108879B-D2A3-89C7-6503-CE835C01064E}"/>
              </a:ext>
            </a:extLst>
          </p:cNvPr>
          <p:cNvCxnSpPr>
            <a:cxnSpLocks/>
          </p:cNvCxnSpPr>
          <p:nvPr/>
        </p:nvCxnSpPr>
        <p:spPr>
          <a:xfrm flipH="1">
            <a:off x="7984166" y="1672200"/>
            <a:ext cx="474174" cy="702128"/>
          </a:xfrm>
          <a:prstGeom prst="straightConnector1">
            <a:avLst/>
          </a:prstGeom>
          <a:ln w="38100">
            <a:solidFill>
              <a:srgbClr val="7030A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715DEB1-B864-145E-E575-ABCD4A0489C2}"/>
              </a:ext>
            </a:extLst>
          </p:cNvPr>
          <p:cNvCxnSpPr>
            <a:cxnSpLocks/>
          </p:cNvCxnSpPr>
          <p:nvPr/>
        </p:nvCxnSpPr>
        <p:spPr>
          <a:xfrm flipV="1">
            <a:off x="8667239" y="1962170"/>
            <a:ext cx="1084825" cy="169867"/>
          </a:xfrm>
          <a:prstGeom prst="straightConnector1">
            <a:avLst/>
          </a:prstGeom>
          <a:ln w="762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FBF2FA4-FB7C-529B-4838-B8825F67D8C7}"/>
              </a:ext>
            </a:extLst>
          </p:cNvPr>
          <p:cNvCxnSpPr>
            <a:cxnSpLocks/>
          </p:cNvCxnSpPr>
          <p:nvPr/>
        </p:nvCxnSpPr>
        <p:spPr>
          <a:xfrm>
            <a:off x="8359100" y="2023264"/>
            <a:ext cx="297256" cy="484414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4369ABF-CC1C-9923-F971-CD162D09F06B}"/>
              </a:ext>
            </a:extLst>
          </p:cNvPr>
          <p:cNvCxnSpPr>
            <a:cxnSpLocks/>
          </p:cNvCxnSpPr>
          <p:nvPr/>
        </p:nvCxnSpPr>
        <p:spPr>
          <a:xfrm>
            <a:off x="8607840" y="2015054"/>
            <a:ext cx="118799" cy="235991"/>
          </a:xfrm>
          <a:prstGeom prst="straightConnector1">
            <a:avLst/>
          </a:prstGeom>
          <a:ln w="762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Arc 67">
            <a:extLst>
              <a:ext uri="{FF2B5EF4-FFF2-40B4-BE49-F238E27FC236}">
                <a16:creationId xmlns:a16="http://schemas.microsoft.com/office/drawing/2014/main" id="{D710A383-7B5A-7305-732B-92C8BA819835}"/>
              </a:ext>
            </a:extLst>
          </p:cNvPr>
          <p:cNvSpPr/>
          <p:nvPr/>
        </p:nvSpPr>
        <p:spPr>
          <a:xfrm rot="19137173">
            <a:off x="7506766" y="2545126"/>
            <a:ext cx="2738746" cy="2624587"/>
          </a:xfrm>
          <a:prstGeom prst="arc">
            <a:avLst>
              <a:gd name="adj1" fmla="val 16200000"/>
              <a:gd name="adj2" fmla="val 21260539"/>
            </a:avLst>
          </a:prstGeom>
          <a:ln w="38100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3EF2981-442F-9CD3-8AA4-36F5846E93AF}"/>
              </a:ext>
            </a:extLst>
          </p:cNvPr>
          <p:cNvSpPr txBox="1"/>
          <p:nvPr/>
        </p:nvSpPr>
        <p:spPr>
          <a:xfrm>
            <a:off x="8039868" y="2858758"/>
            <a:ext cx="18020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Mediation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r(A,1) ∝ r(A,0)*r(0,1)</a:t>
            </a:r>
          </a:p>
        </p:txBody>
      </p:sp>
    </p:spTree>
    <p:extLst>
      <p:ext uri="{BB962C8B-B14F-4D97-AF65-F5344CB8AC3E}">
        <p14:creationId xmlns:p14="http://schemas.microsoft.com/office/powerpoint/2010/main" val="372579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90B435-9EC8-EAEE-9944-0E8015524633}"/>
              </a:ext>
            </a:extLst>
          </p:cNvPr>
          <p:cNvSpPr/>
          <p:nvPr/>
        </p:nvSpPr>
        <p:spPr>
          <a:xfrm>
            <a:off x="721302" y="266232"/>
            <a:ext cx="1200539" cy="120053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557FE-44E2-5E2F-2B7F-74BDE28DE53D}"/>
              </a:ext>
            </a:extLst>
          </p:cNvPr>
          <p:cNvSpPr/>
          <p:nvPr/>
        </p:nvSpPr>
        <p:spPr>
          <a:xfrm>
            <a:off x="3349424" y="266232"/>
            <a:ext cx="1200539" cy="120053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1DC744-F24A-46FE-55AD-A07502D970AA}"/>
              </a:ext>
            </a:extLst>
          </p:cNvPr>
          <p:cNvSpPr txBox="1"/>
          <p:nvPr/>
        </p:nvSpPr>
        <p:spPr>
          <a:xfrm>
            <a:off x="3517523" y="681835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fMRI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6D1654-6045-8225-5886-26C1EB5E3821}"/>
              </a:ext>
            </a:extLst>
          </p:cNvPr>
          <p:cNvSpPr txBox="1"/>
          <p:nvPr/>
        </p:nvSpPr>
        <p:spPr>
          <a:xfrm>
            <a:off x="895846" y="681835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fMRI 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60C5FFB-BD37-B77D-C1F4-30C4C3EACBBD}"/>
              </a:ext>
            </a:extLst>
          </p:cNvPr>
          <p:cNvSpPr/>
          <p:nvPr/>
        </p:nvSpPr>
        <p:spPr>
          <a:xfrm>
            <a:off x="721302" y="2661088"/>
            <a:ext cx="1200539" cy="12005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D64E63-514B-FD1A-8A76-1D6611C7840D}"/>
              </a:ext>
            </a:extLst>
          </p:cNvPr>
          <p:cNvSpPr txBox="1"/>
          <p:nvPr/>
        </p:nvSpPr>
        <p:spPr>
          <a:xfrm>
            <a:off x="895847" y="3076691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Stim 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850333C-C153-D815-5ACA-7C6E9CFC6B21}"/>
              </a:ext>
            </a:extLst>
          </p:cNvPr>
          <p:cNvSpPr/>
          <p:nvPr/>
        </p:nvSpPr>
        <p:spPr>
          <a:xfrm>
            <a:off x="3349425" y="2661088"/>
            <a:ext cx="1200539" cy="12005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D1F373-C5B8-AB8C-6C29-D894BD9B636C}"/>
              </a:ext>
            </a:extLst>
          </p:cNvPr>
          <p:cNvSpPr txBox="1"/>
          <p:nvPr/>
        </p:nvSpPr>
        <p:spPr>
          <a:xfrm>
            <a:off x="3523970" y="3076691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Stim 1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75D01F7-0119-E4FA-5A41-940E0E3A8167}"/>
              </a:ext>
            </a:extLst>
          </p:cNvPr>
          <p:cNvCxnSpPr>
            <a:stCxn id="10" idx="0"/>
            <a:endCxn id="4" idx="2"/>
          </p:cNvCxnSpPr>
          <p:nvPr/>
        </p:nvCxnSpPr>
        <p:spPr>
          <a:xfrm flipV="1">
            <a:off x="1321572" y="1466771"/>
            <a:ext cx="0" cy="11943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9ABEA5C-4B26-1B43-1997-505196BAB2B7}"/>
              </a:ext>
            </a:extLst>
          </p:cNvPr>
          <p:cNvCxnSpPr/>
          <p:nvPr/>
        </p:nvCxnSpPr>
        <p:spPr>
          <a:xfrm flipV="1">
            <a:off x="3931033" y="1466771"/>
            <a:ext cx="0" cy="11943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D1442A4-A80A-8764-6899-2B100592F796}"/>
              </a:ext>
            </a:extLst>
          </p:cNvPr>
          <p:cNvCxnSpPr>
            <a:stCxn id="10" idx="6"/>
            <a:endCxn id="12" idx="2"/>
          </p:cNvCxnSpPr>
          <p:nvPr/>
        </p:nvCxnSpPr>
        <p:spPr>
          <a:xfrm>
            <a:off x="1921841" y="3261358"/>
            <a:ext cx="1427584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78FB790-9C4C-A874-7ADB-9061C74EAB2C}"/>
              </a:ext>
            </a:extLst>
          </p:cNvPr>
          <p:cNvCxnSpPr/>
          <p:nvPr/>
        </p:nvCxnSpPr>
        <p:spPr>
          <a:xfrm>
            <a:off x="1921840" y="923776"/>
            <a:ext cx="1427584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DCA80D0-FCB7-11B3-9591-BC8068BF073A}"/>
              </a:ext>
            </a:extLst>
          </p:cNvPr>
          <p:cNvCxnSpPr>
            <a:cxnSpLocks/>
          </p:cNvCxnSpPr>
          <p:nvPr/>
        </p:nvCxnSpPr>
        <p:spPr>
          <a:xfrm flipV="1">
            <a:off x="2171594" y="1051167"/>
            <a:ext cx="0" cy="2025524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0C785CB-619A-92E9-A3AF-A3300CF6D619}"/>
              </a:ext>
            </a:extLst>
          </p:cNvPr>
          <p:cNvSpPr txBox="1"/>
          <p:nvPr/>
        </p:nvSpPr>
        <p:spPr>
          <a:xfrm>
            <a:off x="1267000" y="1707201"/>
            <a:ext cx="3591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r(fMRI 0, fMRI 1) </a:t>
            </a:r>
            <a:br>
              <a:rPr lang="en-US" sz="1600" dirty="0">
                <a:solidFill>
                  <a:srgbClr val="0070C0"/>
                </a:solidFill>
              </a:rPr>
            </a:br>
            <a:r>
              <a:rPr lang="en-US" sz="1600" dirty="0">
                <a:solidFill>
                  <a:srgbClr val="0070C0"/>
                </a:solidFill>
              </a:rPr>
              <a:t>∝</a:t>
            </a:r>
            <a:br>
              <a:rPr lang="en-US" sz="1600" dirty="0">
                <a:solidFill>
                  <a:srgbClr val="0070C0"/>
                </a:solidFill>
              </a:rPr>
            </a:br>
            <a:r>
              <a:rPr lang="en-US" sz="1600" dirty="0">
                <a:solidFill>
                  <a:srgbClr val="0070C0"/>
                </a:solidFill>
              </a:rPr>
              <a:t>r(stim 0, stim 1)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933161-4442-6DDC-2335-2B283D0C0176}"/>
              </a:ext>
            </a:extLst>
          </p:cNvPr>
          <p:cNvSpPr/>
          <p:nvPr/>
        </p:nvSpPr>
        <p:spPr>
          <a:xfrm>
            <a:off x="8458340" y="471662"/>
            <a:ext cx="1200539" cy="120053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9A469E-7B11-B38B-AE61-23BC6F0D030A}"/>
              </a:ext>
            </a:extLst>
          </p:cNvPr>
          <p:cNvSpPr txBox="1"/>
          <p:nvPr/>
        </p:nvSpPr>
        <p:spPr>
          <a:xfrm>
            <a:off x="8632884" y="887265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fMRI 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0C4A7D-91A7-5162-E67D-755CD8707609}"/>
              </a:ext>
            </a:extLst>
          </p:cNvPr>
          <p:cNvSpPr/>
          <p:nvPr/>
        </p:nvSpPr>
        <p:spPr>
          <a:xfrm>
            <a:off x="6783627" y="2374328"/>
            <a:ext cx="1200539" cy="120053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007A6E-8DCD-CDC7-70A6-7CCF299C651C}"/>
              </a:ext>
            </a:extLst>
          </p:cNvPr>
          <p:cNvSpPr txBox="1"/>
          <p:nvPr/>
        </p:nvSpPr>
        <p:spPr>
          <a:xfrm>
            <a:off x="6958171" y="2789931"/>
            <a:ext cx="877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fMRI 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92EA50E-4FE2-ED3C-7F46-1C090567A469}"/>
              </a:ext>
            </a:extLst>
          </p:cNvPr>
          <p:cNvSpPr/>
          <p:nvPr/>
        </p:nvSpPr>
        <p:spPr>
          <a:xfrm>
            <a:off x="9868818" y="2374329"/>
            <a:ext cx="1200539" cy="120053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F40DA4-A8B7-8925-8808-46214B0E6526}"/>
              </a:ext>
            </a:extLst>
          </p:cNvPr>
          <p:cNvSpPr txBox="1"/>
          <p:nvPr/>
        </p:nvSpPr>
        <p:spPr>
          <a:xfrm>
            <a:off x="10043362" y="2789932"/>
            <a:ext cx="877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fMRI 1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8FD2305-9B33-C49C-F232-975EBA033522}"/>
              </a:ext>
            </a:extLst>
          </p:cNvPr>
          <p:cNvCxnSpPr>
            <a:cxnSpLocks/>
          </p:cNvCxnSpPr>
          <p:nvPr/>
        </p:nvCxnSpPr>
        <p:spPr>
          <a:xfrm>
            <a:off x="9658879" y="1672201"/>
            <a:ext cx="384483" cy="702127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108879B-D2A3-89C7-6503-CE835C01064E}"/>
              </a:ext>
            </a:extLst>
          </p:cNvPr>
          <p:cNvCxnSpPr>
            <a:cxnSpLocks/>
          </p:cNvCxnSpPr>
          <p:nvPr/>
        </p:nvCxnSpPr>
        <p:spPr>
          <a:xfrm flipH="1">
            <a:off x="7984166" y="1672200"/>
            <a:ext cx="474174" cy="702128"/>
          </a:xfrm>
          <a:prstGeom prst="straightConnector1">
            <a:avLst/>
          </a:prstGeom>
          <a:ln w="38100">
            <a:solidFill>
              <a:srgbClr val="7030A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715DEB1-B864-145E-E575-ABCD4A0489C2}"/>
              </a:ext>
            </a:extLst>
          </p:cNvPr>
          <p:cNvCxnSpPr>
            <a:cxnSpLocks/>
          </p:cNvCxnSpPr>
          <p:nvPr/>
        </p:nvCxnSpPr>
        <p:spPr>
          <a:xfrm flipV="1">
            <a:off x="8667239" y="1962170"/>
            <a:ext cx="1084825" cy="169867"/>
          </a:xfrm>
          <a:prstGeom prst="straightConnector1">
            <a:avLst/>
          </a:prstGeom>
          <a:ln w="762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FBF2FA4-FB7C-529B-4838-B8825F67D8C7}"/>
              </a:ext>
            </a:extLst>
          </p:cNvPr>
          <p:cNvCxnSpPr>
            <a:cxnSpLocks/>
          </p:cNvCxnSpPr>
          <p:nvPr/>
        </p:nvCxnSpPr>
        <p:spPr>
          <a:xfrm>
            <a:off x="8359100" y="2023264"/>
            <a:ext cx="297256" cy="484414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4369ABF-CC1C-9923-F971-CD162D09F06B}"/>
              </a:ext>
            </a:extLst>
          </p:cNvPr>
          <p:cNvCxnSpPr>
            <a:cxnSpLocks/>
          </p:cNvCxnSpPr>
          <p:nvPr/>
        </p:nvCxnSpPr>
        <p:spPr>
          <a:xfrm>
            <a:off x="8607840" y="2015054"/>
            <a:ext cx="118799" cy="235991"/>
          </a:xfrm>
          <a:prstGeom prst="straightConnector1">
            <a:avLst/>
          </a:prstGeom>
          <a:ln w="762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Arc 67">
            <a:extLst>
              <a:ext uri="{FF2B5EF4-FFF2-40B4-BE49-F238E27FC236}">
                <a16:creationId xmlns:a16="http://schemas.microsoft.com/office/drawing/2014/main" id="{D710A383-7B5A-7305-732B-92C8BA819835}"/>
              </a:ext>
            </a:extLst>
          </p:cNvPr>
          <p:cNvSpPr/>
          <p:nvPr/>
        </p:nvSpPr>
        <p:spPr>
          <a:xfrm rot="19137173">
            <a:off x="7506766" y="2545126"/>
            <a:ext cx="2738746" cy="2624587"/>
          </a:xfrm>
          <a:prstGeom prst="arc">
            <a:avLst>
              <a:gd name="adj1" fmla="val 16200000"/>
              <a:gd name="adj2" fmla="val 21260539"/>
            </a:avLst>
          </a:prstGeom>
          <a:ln w="38100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3EF2981-442F-9CD3-8AA4-36F5846E93AF}"/>
              </a:ext>
            </a:extLst>
          </p:cNvPr>
          <p:cNvSpPr txBox="1"/>
          <p:nvPr/>
        </p:nvSpPr>
        <p:spPr>
          <a:xfrm>
            <a:off x="8039868" y="2858758"/>
            <a:ext cx="18020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Mediation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r(A,1) ∝ r(A,0)*r(0,1)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67497D5B-10F8-0969-B5DE-191E555D14B1}"/>
              </a:ext>
            </a:extLst>
          </p:cNvPr>
          <p:cNvSpPr/>
          <p:nvPr/>
        </p:nvSpPr>
        <p:spPr>
          <a:xfrm>
            <a:off x="6055630" y="5372018"/>
            <a:ext cx="1200539" cy="12005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BE33C67-07CA-6FF3-CA46-A2C8CE2FF31B}"/>
              </a:ext>
            </a:extLst>
          </p:cNvPr>
          <p:cNvSpPr txBox="1"/>
          <p:nvPr/>
        </p:nvSpPr>
        <p:spPr>
          <a:xfrm>
            <a:off x="6230175" y="5787621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Stim 1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35A77421-C933-4897-C01B-A9B703B25CBD}"/>
              </a:ext>
            </a:extLst>
          </p:cNvPr>
          <p:cNvSpPr/>
          <p:nvPr/>
        </p:nvSpPr>
        <p:spPr>
          <a:xfrm>
            <a:off x="4685396" y="3769168"/>
            <a:ext cx="1200539" cy="12005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F0B5FD8-73DA-6CBC-7B4E-67C192254BF0}"/>
              </a:ext>
            </a:extLst>
          </p:cNvPr>
          <p:cNvSpPr txBox="1"/>
          <p:nvPr/>
        </p:nvSpPr>
        <p:spPr>
          <a:xfrm>
            <a:off x="4859941" y="4184771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Stim 0</a:t>
            </a:r>
          </a:p>
        </p:txBody>
      </p:sp>
      <p:sp>
        <p:nvSpPr>
          <p:cNvPr id="85" name="Arc 84">
            <a:extLst>
              <a:ext uri="{FF2B5EF4-FFF2-40B4-BE49-F238E27FC236}">
                <a16:creationId xmlns:a16="http://schemas.microsoft.com/office/drawing/2014/main" id="{627F62B0-5D13-B739-5DD5-888A90FC3784}"/>
              </a:ext>
            </a:extLst>
          </p:cNvPr>
          <p:cNvSpPr/>
          <p:nvPr/>
        </p:nvSpPr>
        <p:spPr>
          <a:xfrm rot="19185308">
            <a:off x="3805000" y="5320763"/>
            <a:ext cx="2738746" cy="2624587"/>
          </a:xfrm>
          <a:prstGeom prst="arc">
            <a:avLst>
              <a:gd name="adj1" fmla="val 16509915"/>
              <a:gd name="adj2" fmla="val 21260539"/>
            </a:avLst>
          </a:prstGeom>
          <a:ln w="38100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BD80FBAC-777C-D256-12F4-3FC064105602}"/>
              </a:ext>
            </a:extLst>
          </p:cNvPr>
          <p:cNvSpPr/>
          <p:nvPr/>
        </p:nvSpPr>
        <p:spPr>
          <a:xfrm>
            <a:off x="3305695" y="5372018"/>
            <a:ext cx="1200539" cy="12005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4E56F12-C4D6-4DB4-B8B5-2D759782C52F}"/>
              </a:ext>
            </a:extLst>
          </p:cNvPr>
          <p:cNvSpPr txBox="1"/>
          <p:nvPr/>
        </p:nvSpPr>
        <p:spPr>
          <a:xfrm>
            <a:off x="3480240" y="5787621"/>
            <a:ext cx="85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Stim A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641D966D-8793-F985-76DD-E3DA7F5A7D92}"/>
              </a:ext>
            </a:extLst>
          </p:cNvPr>
          <p:cNvCxnSpPr>
            <a:cxnSpLocks/>
            <a:stCxn id="83" idx="3"/>
          </p:cNvCxnSpPr>
          <p:nvPr/>
        </p:nvCxnSpPr>
        <p:spPr>
          <a:xfrm flipH="1">
            <a:off x="4248141" y="4793892"/>
            <a:ext cx="613070" cy="654940"/>
          </a:xfrm>
          <a:prstGeom prst="straightConnector1">
            <a:avLst/>
          </a:prstGeom>
          <a:ln w="38100">
            <a:solidFill>
              <a:srgbClr val="7030A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ADBCCA6-80F9-D1FB-57F5-97699862D3F9}"/>
              </a:ext>
            </a:extLst>
          </p:cNvPr>
          <p:cNvCxnSpPr>
            <a:cxnSpLocks/>
          </p:cNvCxnSpPr>
          <p:nvPr/>
        </p:nvCxnSpPr>
        <p:spPr>
          <a:xfrm>
            <a:off x="5803657" y="4733632"/>
            <a:ext cx="606950" cy="71520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FAD52C8F-8DC7-1AB7-DA41-FDEB7219160D}"/>
              </a:ext>
            </a:extLst>
          </p:cNvPr>
          <p:cNvSpPr txBox="1"/>
          <p:nvPr/>
        </p:nvSpPr>
        <p:spPr>
          <a:xfrm>
            <a:off x="4364998" y="6103486"/>
            <a:ext cx="18020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Mediation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r(A,1) ∝ r(A,0)*r(0,1)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A67E5C9-0602-42F5-FE10-8A8A054DEBA1}"/>
              </a:ext>
            </a:extLst>
          </p:cNvPr>
          <p:cNvSpPr txBox="1"/>
          <p:nvPr/>
        </p:nvSpPr>
        <p:spPr>
          <a:xfrm>
            <a:off x="7506605" y="3825746"/>
            <a:ext cx="433428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If fMRI r(0, 1) is negative, then in the fMRI RSM, we will see fMRI r(A,1) ∝ -r(A,0).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Similarly, if stim r(0, 1) is negative, then in the stim RSM, we will see stim r(A,1) ∝ -r(A,0).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Because stim 0 and stim 1 are strongly represented, this means that stim r(0, 1) being negative goes hand-in-hand with fMRI r(0, 1) being negative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Hence, if we correlate the A row in the fMRI RSM and the A row in the stim RSM, we will tend to see a positive IRAF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394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1197</TotalTime>
  <Words>641</Words>
  <Application>Microsoft Office PowerPoint</Application>
  <PresentationFormat>Widescreen</PresentationFormat>
  <Paragraphs>65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Simulation results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15</cp:revision>
  <dcterms:created xsi:type="dcterms:W3CDTF">2023-12-18T12:53:43Z</dcterms:created>
  <dcterms:modified xsi:type="dcterms:W3CDTF">2023-12-20T15:57:48Z</dcterms:modified>
</cp:coreProperties>
</file>