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45" r:id="rId3"/>
    <p:sldId id="304" r:id="rId4"/>
    <p:sldId id="337" r:id="rId5"/>
    <p:sldId id="338" r:id="rId6"/>
    <p:sldId id="340" r:id="rId7"/>
    <p:sldId id="341" r:id="rId8"/>
    <p:sldId id="342" r:id="rId9"/>
    <p:sldId id="346" r:id="rId10"/>
    <p:sldId id="321" r:id="rId11"/>
    <p:sldId id="323" r:id="rId12"/>
    <p:sldId id="344" r:id="rId13"/>
    <p:sldId id="264" r:id="rId14"/>
    <p:sldId id="312" r:id="rId15"/>
    <p:sldId id="313" r:id="rId16"/>
    <p:sldId id="302" r:id="rId17"/>
    <p:sldId id="263" r:id="rId18"/>
    <p:sldId id="343" r:id="rId19"/>
    <p:sldId id="348" r:id="rId20"/>
    <p:sldId id="280" r:id="rId21"/>
    <p:sldId id="306" r:id="rId22"/>
    <p:sldId id="292" r:id="rId23"/>
    <p:sldId id="310" r:id="rId24"/>
    <p:sldId id="309" r:id="rId25"/>
    <p:sldId id="347" r:id="rId26"/>
    <p:sldId id="293" r:id="rId27"/>
    <p:sldId id="322" r:id="rId28"/>
    <p:sldId id="291" r:id="rId29"/>
    <p:sldId id="303" r:id="rId30"/>
    <p:sldId id="297" r:id="rId31"/>
    <p:sldId id="279" r:id="rId32"/>
    <p:sldId id="324" r:id="rId33"/>
    <p:sldId id="307" r:id="rId34"/>
    <p:sldId id="290" r:id="rId35"/>
    <p:sldId id="284" r:id="rId36"/>
    <p:sldId id="314" r:id="rId37"/>
    <p:sldId id="311" r:id="rId38"/>
    <p:sldId id="325" r:id="rId39"/>
    <p:sldId id="319" r:id="rId40"/>
    <p:sldId id="320" r:id="rId41"/>
    <p:sldId id="316" r:id="rId42"/>
    <p:sldId id="318" r:id="rId43"/>
    <p:sldId id="326" r:id="rId44"/>
    <p:sldId id="327" r:id="rId45"/>
    <p:sldId id="328" r:id="rId46"/>
    <p:sldId id="331" r:id="rId47"/>
    <p:sldId id="336" r:id="rId48"/>
    <p:sldId id="329" r:id="rId49"/>
    <p:sldId id="333" r:id="rId50"/>
    <p:sldId id="339" r:id="rId51"/>
    <p:sldId id="332" r:id="rId52"/>
    <p:sldId id="335" r:id="rId53"/>
    <p:sldId id="334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>
        <p:scale>
          <a:sx n="75" d="100"/>
          <a:sy n="75" d="100"/>
        </p:scale>
        <p:origin x="360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94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10/3/2023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dissertation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9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0860-80A0-A5D8-31FD-5B678ADD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2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DB2-12DF-FE7B-2599-AD2C9B0CA7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33" y="1389591"/>
            <a:ext cx="9626600" cy="528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7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D68-F79D-B51D-788F-4F35332A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08"/>
            <a:ext cx="10515600" cy="1325563"/>
          </a:xfrm>
        </p:spPr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1.2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C341-A9D3-D198-B0CC-9EE3631214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5641" y="1024466"/>
            <a:ext cx="8657518" cy="56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6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1A18-F415-5ED1-9132-CF7DEB07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E3A3-2685-9FD4-0629-F08BD078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065EB-3E6B-DC6B-8FAD-231C96BE68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283" y="1630891"/>
            <a:ext cx="1062743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5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7164-22BE-C244-BF7E-2CC91AF6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AF47-1FEB-CE73-2786-BC73614A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77CD-76FA-4D53-3344-629C9632F8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349" y="1589088"/>
            <a:ext cx="7783301" cy="507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724A-15D9-E3AC-8A14-1D336E38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Lifu</a:t>
            </a:r>
            <a:r>
              <a:rPr lang="en-US" dirty="0"/>
              <a:t> Results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DBC8-F1B4-99DA-03A3-4A943988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A8033-FECC-1A17-76DD-9761D168FD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269" y="1825625"/>
            <a:ext cx="11445024" cy="421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Warning: Results may shift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39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B651484-7A4A-6595-D8C4-5E593876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40" y="2692667"/>
            <a:ext cx="4572000" cy="3429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8884DF-FF34-E897-7836-C70AE094E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166" y="2692667"/>
            <a:ext cx="457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40001-D83E-48BD-85C6-89975C92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CF99-FDDD-8605-DF0C-7277040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As Cortney said, the data will be preprocessed again</a:t>
            </a:r>
          </a:p>
          <a:p>
            <a:r>
              <a:rPr lang="en-US" dirty="0"/>
              <a:t>Also, as we discussed in the lab meeting, we will need to discuss exactly what will be done about the within-run point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1FFB0B6-5883-5045-0BE7-1335802713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936" r="3889"/>
          <a:stretch/>
        </p:blipFill>
        <p:spPr>
          <a:xfrm>
            <a:off x="174861" y="2692667"/>
            <a:ext cx="3939940" cy="3429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4DC3259-C257-2A25-AB85-CDC6B498ADD4}"/>
              </a:ext>
            </a:extLst>
          </p:cNvPr>
          <p:cNvSpPr txBox="1"/>
          <p:nvPr/>
        </p:nvSpPr>
        <p:spPr>
          <a:xfrm>
            <a:off x="393121" y="6121667"/>
            <a:ext cx="112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also questions about what exactly it means to “regress out” (e.g., should it be done run by run?)</a:t>
            </a:r>
          </a:p>
        </p:txBody>
      </p:sp>
    </p:spTree>
    <p:extLst>
      <p:ext uri="{BB962C8B-B14F-4D97-AF65-F5344CB8AC3E}">
        <p14:creationId xmlns:p14="http://schemas.microsoft.com/office/powerpoint/2010/main" val="14143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3E52-1763-99E7-19BE-A4ADDB51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Emerging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450B-8CD0-7D7E-BB6E-2C56A686C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153578"/>
          </a:xfrm>
        </p:spPr>
        <p:txBody>
          <a:bodyPr/>
          <a:lstStyle/>
          <a:p>
            <a:r>
              <a:rPr lang="en-US" dirty="0"/>
              <a:t>If including within-run analysis, then we see similar IRAF across all ROIs for a given trial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71A27-BDCB-B9FB-14A1-F081013706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95" r="5526"/>
          <a:stretch/>
        </p:blipFill>
        <p:spPr>
          <a:xfrm>
            <a:off x="1294998" y="2331449"/>
            <a:ext cx="3428134" cy="4389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CC8610-F2F4-95F1-378A-58A9CB1A2E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525" r="6316"/>
          <a:stretch/>
        </p:blipFill>
        <p:spPr>
          <a:xfrm>
            <a:off x="4593665" y="2339441"/>
            <a:ext cx="3344972" cy="438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DE7C29-91B1-6E67-D58A-429182B787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68" r="6474"/>
          <a:stretch/>
        </p:blipFill>
        <p:spPr>
          <a:xfrm>
            <a:off x="7784967" y="2352141"/>
            <a:ext cx="3344972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47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133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34" y="1835755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FAF-5918-2D50-EFD8-881BF2A3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87327"/>
            <a:ext cx="10515600" cy="786342"/>
          </a:xfrm>
        </p:spPr>
        <p:txBody>
          <a:bodyPr/>
          <a:lstStyle/>
          <a:p>
            <a:r>
              <a:rPr lang="en-US" dirty="0"/>
              <a:t>Behavioral results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916DB2-2281-46CE-1977-3C7B87DC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1" y="980225"/>
            <a:ext cx="3840480" cy="28803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CA28F7-CB2E-401F-1897-69DB257E5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54" y="3824181"/>
            <a:ext cx="3840480" cy="28803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0EA0D1-7436-224E-A259-1FD5321A6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51" y="980225"/>
            <a:ext cx="3840480" cy="28803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84443-7A11-3C75-C718-1EFA8EFBB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3919" y="3824181"/>
            <a:ext cx="3840480" cy="28803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326F6F7-D1DD-19FE-FBAC-EDC7CC118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399" y="980225"/>
            <a:ext cx="3840480" cy="28803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7B24EA-D0E5-4501-C7BF-CC281A4BA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399" y="3824181"/>
            <a:ext cx="384048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6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pPr lvl="1"/>
            <a:r>
              <a:rPr lang="en-US" dirty="0"/>
              <a:t>Unsigned prediction error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Autofit/>
          </a:bodyPr>
          <a:lstStyle/>
          <a:p>
            <a:r>
              <a:rPr lang="en-US" sz="3600" dirty="0"/>
              <a:t>Many ways to interpret the abs-difference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DD1-DDEB-A70A-82D6-75F14738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F6CD2-4D8A-6A53-533D-7C9C597C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674C9-0D65-6B86-530F-C0F40337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91" y="2066634"/>
            <a:ext cx="5412510" cy="40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3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RSA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Stimulus RDM based on:</a:t>
            </a:r>
          </a:p>
          <a:p>
            <a:pPr lvl="1"/>
            <a:r>
              <a:rPr lang="en-US" sz="3200" dirty="0"/>
              <a:t>Object stimulus vector</a:t>
            </a:r>
          </a:p>
          <a:p>
            <a:pPr lvl="1"/>
            <a:r>
              <a:rPr lang="en-US" sz="3200" dirty="0"/>
              <a:t>Scene stimulus vector</a:t>
            </a:r>
          </a:p>
          <a:p>
            <a:pPr lvl="1"/>
            <a:r>
              <a:rPr lang="en-US" sz="3200" dirty="0"/>
              <a:t>Object/scene abs-difference vector</a:t>
            </a:r>
          </a:p>
          <a:p>
            <a:r>
              <a:rPr lang="en-US" sz="3600" dirty="0"/>
              <a:t>fMRI RDM based on:</a:t>
            </a:r>
          </a:p>
          <a:p>
            <a:pPr lvl="1"/>
            <a:r>
              <a:rPr lang="en-US" sz="3200" dirty="0"/>
              <a:t>Scene-presentation single-trial betas</a:t>
            </a:r>
          </a:p>
          <a:p>
            <a:pPr lvl="1"/>
            <a:r>
              <a:rPr lang="en-US" sz="3200" dirty="0"/>
              <a:t>Object-presentation single-trial betas</a:t>
            </a:r>
          </a:p>
          <a:p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/>
      <p:bldP spid="22" grpId="0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5657-DA82-192C-4BC7-A11E387C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temporal trend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802F-0399-CC87-099A-CEB06F73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5BE7F-D06B-A450-7A5E-CC384DB3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98"/>
          <a:stretch/>
        </p:blipFill>
        <p:spPr>
          <a:xfrm>
            <a:off x="279133" y="2614757"/>
            <a:ext cx="12192000" cy="38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28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F5E214-84F7-5DB4-CAC7-277AA064A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995" b="10380"/>
          <a:stretch/>
        </p:blipFill>
        <p:spPr>
          <a:xfrm>
            <a:off x="6231466" y="1392149"/>
            <a:ext cx="5249333" cy="49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9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972" y="1218036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391030" y="237018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391030" y="25699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391030" y="276964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391030" y="296936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391030" y="316909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391030" y="336881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391030" y="356854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391030" y="3768270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391030" y="3967996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391030" y="416772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391030" y="43674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391030" y="456717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391030" y="476690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391030" y="4966626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391030" y="5166352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391030" y="5366078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391030" y="556580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391030" y="5765534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0942065" y="24031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0942065" y="3595592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0942065" y="478293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466704" y="2817373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466704" y="4018416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466704" y="5198781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9987381" y="13704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026258" y="137048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931245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pPr lvl="1"/>
            <a:r>
              <a:rPr lang="en-US" dirty="0"/>
              <a:t>Note: A x B ≠ B x A</a:t>
            </a:r>
          </a:p>
          <a:p>
            <a:pPr lvl="1"/>
            <a:r>
              <a:rPr lang="en-US" dirty="0"/>
              <a:t>Test if significantly above zero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5EC70B-3E18-9DA3-C9E5-369E090A7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99" r="7996" b="10648"/>
          <a:stretch/>
        </p:blipFill>
        <p:spPr>
          <a:xfrm>
            <a:off x="5365799" y="1332945"/>
            <a:ext cx="6309645" cy="53185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213830" y="2538385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77784" y="4127853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233BFB-F0F2-E157-60C0-BBDD828C00E8}"/>
              </a:ext>
            </a:extLst>
          </p:cNvPr>
          <p:cNvSpPr/>
          <p:nvPr/>
        </p:nvSpPr>
        <p:spPr>
          <a:xfrm>
            <a:off x="972570" y="2575453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364ED2-281E-2BD2-0358-380216403FD9}"/>
              </a:ext>
            </a:extLst>
          </p:cNvPr>
          <p:cNvSpPr/>
          <p:nvPr/>
        </p:nvSpPr>
        <p:spPr>
          <a:xfrm>
            <a:off x="6941570" y="24569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99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199080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see correlations:</a:t>
            </a:r>
          </a:p>
          <a:p>
            <a:pPr lvl="1"/>
            <a:r>
              <a:rPr lang="en-US" dirty="0"/>
              <a:t>Baseline x encoding</a:t>
            </a:r>
          </a:p>
          <a:p>
            <a:pPr lvl="1"/>
            <a:r>
              <a:rPr lang="en-US" dirty="0"/>
              <a:t>Baseline x visual (ERS)</a:t>
            </a:r>
          </a:p>
          <a:p>
            <a:pPr lvl="1"/>
            <a:r>
              <a:rPr lang="en-US" dirty="0"/>
              <a:t>Encoding x visual (ERS)</a:t>
            </a:r>
          </a:p>
          <a:p>
            <a:r>
              <a:rPr lang="en-US" dirty="0">
                <a:solidFill>
                  <a:srgbClr val="FF0000"/>
                </a:solidFill>
              </a:rPr>
              <a:t>Possibly interesting further work:</a:t>
            </a:r>
          </a:p>
          <a:p>
            <a:pPr lvl="1"/>
            <a:r>
              <a:rPr lang="en-US" dirty="0"/>
              <a:t>Similarity is, in part, due to the same representation being activated</a:t>
            </a:r>
          </a:p>
          <a:p>
            <a:pPr lvl="1"/>
            <a:r>
              <a:rPr lang="en-US" dirty="0"/>
              <a:t>Hence, we would expect to see an IRAF x ERS correlation</a:t>
            </a:r>
          </a:p>
          <a:p>
            <a:pPr lvl="2"/>
            <a:r>
              <a:rPr lang="en-US" dirty="0"/>
              <a:t>Further, we would expect the correlation to be stronger based on what type of stimulus properties are used to calculate IRAF </a:t>
            </a:r>
          </a:p>
          <a:p>
            <a:pPr lvl="2"/>
            <a:r>
              <a:rPr lang="en-US" dirty="0"/>
              <a:t>(e.g., if using DNN vectors, we would expect stronger IRAF x ERS in occipital, but if using word2vec vectors, we would expect stronger IRAF x ERS in ATL)</a:t>
            </a:r>
          </a:p>
          <a:p>
            <a:pPr lvl="1"/>
            <a:r>
              <a:rPr lang="en-US" dirty="0"/>
              <a:t>Not sure how this could be useful. Maybe this can prove to be a more sensitive measure than RDM x RDM correlations?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319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3688"/>
            <a:ext cx="10877550" cy="58272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do RSA with respect to the fMRI difference vector?</a:t>
            </a:r>
          </a:p>
          <a:p>
            <a:pPr lvl="1"/>
            <a:r>
              <a:rPr lang="en-US" dirty="0"/>
              <a:t>E.g., examine whether presenting a scene shifts the neural representation of the object between baseline ➜ retrieval</a:t>
            </a:r>
          </a:p>
          <a:p>
            <a:pPr lvl="2"/>
            <a:r>
              <a:rPr lang="en-US" dirty="0"/>
              <a:t>[Scene stimulus vector] x [baseline-fMRI minus visual-fMRI]</a:t>
            </a:r>
          </a:p>
          <a:p>
            <a:pPr lvl="2"/>
            <a:r>
              <a:rPr lang="en-US" dirty="0"/>
              <a:t>Overlapping ideas with that journal club paper we read on semantic shifts after learning</a:t>
            </a:r>
          </a:p>
          <a:p>
            <a:pPr lvl="1"/>
            <a:r>
              <a:rPr lang="en-US" dirty="0"/>
              <a:t>No significant results</a:t>
            </a:r>
          </a:p>
          <a:p>
            <a:pPr lvl="2"/>
            <a:r>
              <a:rPr lang="en-US" dirty="0"/>
              <a:t>This route may have potential, but it may just be too much of a stretch given the present design</a:t>
            </a:r>
          </a:p>
          <a:p>
            <a:r>
              <a:rPr lang="en-US" dirty="0">
                <a:solidFill>
                  <a:srgbClr val="0070C0"/>
                </a:solidFill>
              </a:rPr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  <a:p>
            <a:pPr lvl="1"/>
            <a:r>
              <a:rPr lang="en-US" dirty="0"/>
              <a:t>Found one significant RSA result:</a:t>
            </a:r>
          </a:p>
          <a:p>
            <a:pPr lvl="2"/>
            <a:r>
              <a:rPr lang="en-US" dirty="0"/>
              <a:t>Within-occipital-lobe-connectivity x last-layer-activation-DNN</a:t>
            </a:r>
          </a:p>
          <a:p>
            <a:pPr lvl="2"/>
            <a:r>
              <a:rPr lang="en-US" dirty="0"/>
              <a:t>My guess is that this is spurious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F41E-4FDC-4A21-3C05-A8E96B1F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US" dirty="0"/>
              <a:t>Generalize the past, pinpoint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D9B7-B465-539B-5376-9F1A7BB4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638"/>
            <a:ext cx="10515600" cy="4948237"/>
          </a:xfrm>
        </p:spPr>
        <p:txBody>
          <a:bodyPr/>
          <a:lstStyle/>
          <a:p>
            <a:r>
              <a:rPr lang="en-US" dirty="0"/>
              <a:t>Hypothesis: When people think about an event, they have a broad imagination about what could have led to it, but narrowly consider what will follow the event.</a:t>
            </a:r>
          </a:p>
          <a:p>
            <a:r>
              <a:rPr lang="en-US" dirty="0"/>
              <a:t>Encoding task (roughly):</a:t>
            </a:r>
          </a:p>
          <a:p>
            <a:pPr lvl="1"/>
            <a:r>
              <a:rPr lang="en-US" dirty="0"/>
              <a:t>Participants view a series of images, linked together sequentially (e.g., by telling participants that they’re traveling between locations)</a:t>
            </a:r>
          </a:p>
          <a:p>
            <a:pPr lvl="1"/>
            <a:r>
              <a:rPr lang="en-US" dirty="0"/>
              <a:t>Same images are shown repeatedly</a:t>
            </a:r>
          </a:p>
          <a:p>
            <a:r>
              <a:rPr lang="en-US" dirty="0"/>
              <a:t>Retrieval (roughly):</a:t>
            </a:r>
          </a:p>
          <a:p>
            <a:pPr lvl="1"/>
            <a:r>
              <a:rPr lang="en-US" dirty="0"/>
              <a:t>Cue participants with an image, and ask them to freely recall “all the images that may have preceded/followed” the cue</a:t>
            </a:r>
          </a:p>
          <a:p>
            <a:pPr lvl="1"/>
            <a:r>
              <a:rPr lang="en-US" dirty="0"/>
              <a:t>Different further design elements can be included to test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B922-5678-3004-A3A4-42AE3234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/>
          <a:lstStyle/>
          <a:p>
            <a:r>
              <a:rPr lang="en-US" dirty="0"/>
              <a:t>Episodic memories as state 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80D7-42D4-7406-36F9-ED121BD4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513"/>
            <a:ext cx="10763250" cy="514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 participants encode episodic memories as “state transitions”?</a:t>
            </a:r>
          </a:p>
          <a:p>
            <a:pPr lvl="1"/>
            <a:r>
              <a:rPr lang="en-US" dirty="0"/>
              <a:t>Suppose participants view the sequence A-X-B and A-Y-B. Later, participants are asked to retrieve X and Y. In the retrieval test, will we see a positive correlation between X and Y activation patterns? </a:t>
            </a:r>
          </a:p>
          <a:p>
            <a:pPr lvl="2"/>
            <a:r>
              <a:rPr lang="en-US" dirty="0"/>
              <a:t>By “correlation” I mean in the sense of encoding-retrieval similarity</a:t>
            </a:r>
          </a:p>
          <a:p>
            <a:pPr lvl="1"/>
            <a:r>
              <a:rPr lang="en-US" dirty="0"/>
              <a:t>Confirmatory analysis: the X-Y similarity is greater than the “baseline” correlation between X and Y during encoding</a:t>
            </a:r>
          </a:p>
          <a:p>
            <a:r>
              <a:rPr lang="en-US" dirty="0"/>
              <a:t>Furthermore, if participants also view the sequence B-Z-A, is Z less correlated with X and Y?</a:t>
            </a:r>
          </a:p>
          <a:p>
            <a:pPr lvl="1"/>
            <a:r>
              <a:rPr lang="en-US" dirty="0"/>
              <a:t>Z × X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/>
              <a:t>Z × Y &lt; </a:t>
            </a:r>
            <a:r>
              <a:rPr lang="en-US" dirty="0">
                <a:latin typeface="Roboto" panose="02000000000000000000" pitchFamily="2" charset="0"/>
              </a:rPr>
              <a:t>X </a:t>
            </a:r>
            <a:r>
              <a:rPr lang="en-US" b="0" dirty="0">
                <a:effectLst/>
                <a:latin typeface="Roboto" panose="02000000000000000000" pitchFamily="2" charset="0"/>
              </a:rPr>
              <a:t>×</a:t>
            </a:r>
            <a:r>
              <a:rPr lang="en-US" dirty="0">
                <a:latin typeface="Roboto" panose="02000000000000000000" pitchFamily="2" charset="0"/>
              </a:rPr>
              <a:t> Y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Evidence that the directionality of A ➜ B is imbued in the representation of X and Y</a:t>
            </a:r>
          </a:p>
          <a:p>
            <a:r>
              <a:rPr lang="en-US" dirty="0">
                <a:latin typeface="Roboto" panose="02000000000000000000" pitchFamily="2" charset="0"/>
              </a:rPr>
              <a:t>Could also look at difference vectors, like for </a:t>
            </a:r>
            <a:r>
              <a:rPr lang="en-US" dirty="0" err="1">
                <a:latin typeface="Roboto" panose="02000000000000000000" pitchFamily="2" charset="0"/>
              </a:rPr>
              <a:t>SchemeRep</a:t>
            </a:r>
            <a:endParaRPr lang="en-US" dirty="0"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2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FD6-C505-D916-ED33-D7A1AEB8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81100"/>
          </a:xfrm>
        </p:spPr>
        <p:txBody>
          <a:bodyPr/>
          <a:lstStyle/>
          <a:p>
            <a:r>
              <a:rPr lang="en-US" dirty="0"/>
              <a:t>Investigating hippocampal 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0A44-239D-2C1D-FD27-262169169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499"/>
            <a:ext cx="10515600" cy="5483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Encoding an association between items X and Y requires:</a:t>
            </a:r>
          </a:p>
          <a:p>
            <a:pPr lvl="1"/>
            <a:r>
              <a:rPr lang="en-US" dirty="0"/>
              <a:t>Representing X</a:t>
            </a:r>
          </a:p>
          <a:p>
            <a:pPr lvl="1"/>
            <a:r>
              <a:rPr lang="en-US" dirty="0"/>
              <a:t>Representing Y</a:t>
            </a:r>
          </a:p>
          <a:p>
            <a:pPr lvl="1"/>
            <a:r>
              <a:rPr lang="en-US" dirty="0"/>
              <a:t>Binding the two</a:t>
            </a:r>
          </a:p>
          <a:p>
            <a:r>
              <a:rPr lang="en-US" dirty="0"/>
              <a:t>Analysis:</a:t>
            </a:r>
          </a:p>
          <a:p>
            <a:pPr lvl="1"/>
            <a:r>
              <a:rPr lang="en-US" dirty="0"/>
              <a:t>Investigate interplay between X-IRAF, Y-IRAF, BOLD activation, and memory accuracy</a:t>
            </a:r>
          </a:p>
          <a:p>
            <a:pPr lvl="1"/>
            <a:r>
              <a:rPr lang="en-US" dirty="0"/>
              <a:t>Looking at encoding fMRI data: </a:t>
            </a:r>
          </a:p>
          <a:p>
            <a:pPr lvl="2"/>
            <a:r>
              <a:rPr lang="en-US" dirty="0"/>
              <a:t>Accuracy ~ PFC</a:t>
            </a:r>
            <a:r>
              <a:rPr lang="en-US" baseline="-25000" dirty="0"/>
              <a:t>X-IRAF </a:t>
            </a:r>
            <a:r>
              <a:rPr lang="en-US" dirty="0"/>
              <a:t>× PFC</a:t>
            </a:r>
            <a:r>
              <a:rPr lang="en-US" baseline="-25000" dirty="0"/>
              <a:t>Y-IRAF 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</a:p>
          <a:p>
            <a:pPr lvl="1"/>
            <a:r>
              <a:rPr lang="en-US" dirty="0"/>
              <a:t>Looking at retrieval fMRI data, does cuing with X lead to activation of Y representations?</a:t>
            </a:r>
          </a:p>
          <a:p>
            <a:pPr lvl="2"/>
            <a:r>
              <a:rPr lang="en-US" dirty="0"/>
              <a:t>PFC</a:t>
            </a:r>
            <a:r>
              <a:rPr lang="en-US" baseline="-25000" dirty="0"/>
              <a:t>Y-IRAF </a:t>
            </a:r>
            <a:r>
              <a:rPr lang="en-US" dirty="0"/>
              <a:t>~ PFC</a:t>
            </a:r>
            <a:r>
              <a:rPr lang="en-US" baseline="-25000" dirty="0"/>
              <a:t>X-IRAF </a:t>
            </a:r>
            <a:r>
              <a:rPr lang="en-US" dirty="0"/>
              <a:t>× HC</a:t>
            </a:r>
            <a:r>
              <a:rPr lang="en-US" baseline="-25000" dirty="0"/>
              <a:t>BOLD</a:t>
            </a:r>
            <a:r>
              <a:rPr lang="en-US" dirty="0"/>
              <a:t> (hit trials only)</a:t>
            </a:r>
          </a:p>
          <a:p>
            <a:pPr lvl="2"/>
            <a:r>
              <a:rPr lang="en-US" dirty="0"/>
              <a:t>Linking X and Y without HC involvement may reflect consolidation</a:t>
            </a:r>
          </a:p>
          <a:p>
            <a:r>
              <a:rPr lang="en-US" dirty="0"/>
              <a:t>Maybe with some tweaks to the task, we can use it to compare different memory trace theories</a:t>
            </a:r>
          </a:p>
        </p:txBody>
      </p:sp>
    </p:spTree>
    <p:extLst>
      <p:ext uri="{BB962C8B-B14F-4D97-AF65-F5344CB8AC3E}">
        <p14:creationId xmlns:p14="http://schemas.microsoft.com/office/powerpoint/2010/main" val="3402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556-6CCC-77E8-83A1-E4442C6E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aging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7B0-D2EE-400A-DE3A-33D98734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559"/>
            <a:ext cx="10515600" cy="272097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Show less of a directionality effect </a:t>
            </a:r>
          </a:p>
          <a:p>
            <a:pPr lvl="1"/>
            <a:r>
              <a:rPr lang="en-US" dirty="0"/>
              <a:t>The past-generalizing vs. future-pinpointing directionality effect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Retain representations of prior stimuli for longer/shorter intervals </a:t>
            </a:r>
          </a:p>
          <a:p>
            <a:pPr lvl="1"/>
            <a:r>
              <a:rPr lang="en-US" dirty="0"/>
              <a:t>To what extent is the trial n stimulus maintained in working memory for trials n+1 or n+2?</a:t>
            </a:r>
          </a:p>
        </p:txBody>
      </p:sp>
    </p:spTree>
    <p:extLst>
      <p:ext uri="{BB962C8B-B14F-4D97-AF65-F5344CB8AC3E}">
        <p14:creationId xmlns:p14="http://schemas.microsoft.com/office/powerpoint/2010/main" val="14010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22C3-F583-BF77-2450-11AFE262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3" y="142977"/>
            <a:ext cx="1105317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(Beyond the task) </a:t>
            </a:r>
            <a:br>
              <a:rPr lang="en-US" sz="4000" dirty="0"/>
            </a:br>
            <a:r>
              <a:rPr lang="en-US" sz="4000" dirty="0"/>
              <a:t>Older adults prototype rather than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8345-CF6A-C2AB-94BA-1A4AE2D2E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13" y="1623321"/>
            <a:ext cx="4790678" cy="2065811"/>
          </a:xfrm>
        </p:spPr>
        <p:txBody>
          <a:bodyPr>
            <a:normAutofit/>
          </a:bodyPr>
          <a:lstStyle/>
          <a:p>
            <a:r>
              <a:rPr lang="en-US" i="1" dirty="0"/>
              <a:t>Prototyping</a:t>
            </a:r>
            <a:r>
              <a:rPr lang="en-US" dirty="0"/>
              <a:t> = link stimuli to a previous similar “prototypical” stimulus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0AA76F-12E0-9B5C-35A7-E6E8EA1094B7}"/>
              </a:ext>
            </a:extLst>
          </p:cNvPr>
          <p:cNvSpPr/>
          <p:nvPr/>
        </p:nvSpPr>
        <p:spPr>
          <a:xfrm>
            <a:off x="2928308" y="4876698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30B2B-2DD5-EEE6-6847-852506D6858E}"/>
              </a:ext>
            </a:extLst>
          </p:cNvPr>
          <p:cNvSpPr/>
          <p:nvPr/>
        </p:nvSpPr>
        <p:spPr>
          <a:xfrm>
            <a:off x="37855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FF95E-6A3F-CB36-7A75-AEA58DC1B26D}"/>
              </a:ext>
            </a:extLst>
          </p:cNvPr>
          <p:cNvSpPr/>
          <p:nvPr/>
        </p:nvSpPr>
        <p:spPr>
          <a:xfrm>
            <a:off x="2928308" y="57204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F8E08E-C0E1-81D7-939E-57AAB82954EA}"/>
              </a:ext>
            </a:extLst>
          </p:cNvPr>
          <p:cNvSpPr/>
          <p:nvPr/>
        </p:nvSpPr>
        <p:spPr>
          <a:xfrm>
            <a:off x="2071058" y="48766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FDF158-64A6-9669-501B-3ADD66A32264}"/>
              </a:ext>
            </a:extLst>
          </p:cNvPr>
          <p:cNvSpPr/>
          <p:nvPr/>
        </p:nvSpPr>
        <p:spPr>
          <a:xfrm>
            <a:off x="2928308" y="40384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56725E-D96E-7F5F-73B4-EA3470F0F50A}"/>
              </a:ext>
            </a:extLst>
          </p:cNvPr>
          <p:cNvCxnSpPr>
            <a:stCxn id="8" idx="4"/>
            <a:endCxn id="4" idx="0"/>
          </p:cNvCxnSpPr>
          <p:nvPr/>
        </p:nvCxnSpPr>
        <p:spPr>
          <a:xfrm>
            <a:off x="3090233" y="43623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33AB7A-28B5-0F0F-F41B-0BBDA8BAA4A4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325215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8D9173-BE1D-FE81-5C8A-2108C02B40B5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flipH="1">
            <a:off x="2394908" y="50386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E00385-7B99-C91B-3639-B3CC96545AC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3090233" y="52005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BA51E1-2FE7-42F1-EF00-C4EB494EAA1C}"/>
              </a:ext>
            </a:extLst>
          </p:cNvPr>
          <p:cNvSpPr/>
          <p:nvPr/>
        </p:nvSpPr>
        <p:spPr>
          <a:xfrm>
            <a:off x="9966190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05FDE2-2A45-CF35-46EA-8E17C03246A7}"/>
              </a:ext>
            </a:extLst>
          </p:cNvPr>
          <p:cNvSpPr/>
          <p:nvPr/>
        </p:nvSpPr>
        <p:spPr>
          <a:xfrm>
            <a:off x="8651739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0C5FB1-826B-D5A3-8E75-CCBAE2A45E43}"/>
              </a:ext>
            </a:extLst>
          </p:cNvPr>
          <p:cNvSpPr/>
          <p:nvPr/>
        </p:nvSpPr>
        <p:spPr>
          <a:xfrm>
            <a:off x="8332652" y="48089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A143C3-3E5D-442E-2618-C6B0214BC815}"/>
              </a:ext>
            </a:extLst>
          </p:cNvPr>
          <p:cNvSpPr/>
          <p:nvPr/>
        </p:nvSpPr>
        <p:spPr>
          <a:xfrm>
            <a:off x="9642340" y="57064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4740C0-CFFD-1208-DC36-283E29289561}"/>
              </a:ext>
            </a:extLst>
          </p:cNvPr>
          <p:cNvSpPr txBox="1"/>
          <p:nvPr/>
        </p:nvSpPr>
        <p:spPr>
          <a:xfrm>
            <a:off x="4501874" y="4735747"/>
            <a:ext cx="334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= first stimulus presented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3DCB2C-3AA2-C4FC-EA8E-7653A4D11D6A}"/>
              </a:ext>
            </a:extLst>
          </p:cNvPr>
          <p:cNvCxnSpPr>
            <a:cxnSpLocks/>
          </p:cNvCxnSpPr>
          <p:nvPr/>
        </p:nvCxnSpPr>
        <p:spPr>
          <a:xfrm flipH="1">
            <a:off x="8494577" y="43684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19E9CA-9419-89B0-1622-B2F5A8270E93}"/>
              </a:ext>
            </a:extLst>
          </p:cNvPr>
          <p:cNvCxnSpPr>
            <a:cxnSpLocks/>
          </p:cNvCxnSpPr>
          <p:nvPr/>
        </p:nvCxnSpPr>
        <p:spPr>
          <a:xfrm>
            <a:off x="9296463" y="43305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BB28748-1BE6-0707-0748-500C91B5665A}"/>
              </a:ext>
            </a:extLst>
          </p:cNvPr>
          <p:cNvCxnSpPr>
            <a:cxnSpLocks/>
          </p:cNvCxnSpPr>
          <p:nvPr/>
        </p:nvCxnSpPr>
        <p:spPr>
          <a:xfrm>
            <a:off x="8485053" y="49709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1268FC1-3684-C7AC-5900-B897E53D511C}"/>
              </a:ext>
            </a:extLst>
          </p:cNvPr>
          <p:cNvCxnSpPr>
            <a:cxnSpLocks/>
          </p:cNvCxnSpPr>
          <p:nvPr/>
        </p:nvCxnSpPr>
        <p:spPr>
          <a:xfrm flipH="1">
            <a:off x="9804265" y="49333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E943AF2-7D15-791B-3284-95898DF339F6}"/>
              </a:ext>
            </a:extLst>
          </p:cNvPr>
          <p:cNvCxnSpPr>
            <a:cxnSpLocks/>
            <a:stCxn id="24" idx="6"/>
            <a:endCxn id="26" idx="2"/>
          </p:cNvCxnSpPr>
          <p:nvPr/>
        </p:nvCxnSpPr>
        <p:spPr>
          <a:xfrm>
            <a:off x="8975589" y="58684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1044BD-5631-4726-D7E7-DB030A7802CD}"/>
              </a:ext>
            </a:extLst>
          </p:cNvPr>
          <p:cNvCxnSpPr>
            <a:cxnSpLocks/>
          </p:cNvCxnSpPr>
          <p:nvPr/>
        </p:nvCxnSpPr>
        <p:spPr>
          <a:xfrm>
            <a:off x="9285152" y="42176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8967B1C-1F8F-BB67-DF92-EB0F6C426BB8}"/>
              </a:ext>
            </a:extLst>
          </p:cNvPr>
          <p:cNvCxnSpPr>
            <a:cxnSpLocks/>
          </p:cNvCxnSpPr>
          <p:nvPr/>
        </p:nvCxnSpPr>
        <p:spPr>
          <a:xfrm flipH="1">
            <a:off x="8844025" y="42200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80DF87-AA54-0AFE-9745-1D1C092AF1B0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8494577" y="49709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814046D-EFAF-197C-DBF8-94DB575D6DAD}"/>
              </a:ext>
            </a:extLst>
          </p:cNvPr>
          <p:cNvCxnSpPr>
            <a:cxnSpLocks/>
          </p:cNvCxnSpPr>
          <p:nvPr/>
        </p:nvCxnSpPr>
        <p:spPr>
          <a:xfrm>
            <a:off x="8494576" y="49780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92D04E-757F-6E6F-3DAE-44A9DC4916B0}"/>
              </a:ext>
            </a:extLst>
          </p:cNvPr>
          <p:cNvCxnSpPr>
            <a:cxnSpLocks/>
          </p:cNvCxnSpPr>
          <p:nvPr/>
        </p:nvCxnSpPr>
        <p:spPr>
          <a:xfrm flipV="1">
            <a:off x="8808903" y="49709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91D4A58-324F-8BEB-C0B3-373A37098E77}"/>
              </a:ext>
            </a:extLst>
          </p:cNvPr>
          <p:cNvSpPr/>
          <p:nvPr/>
        </p:nvSpPr>
        <p:spPr>
          <a:xfrm>
            <a:off x="9120846" y="4194071"/>
            <a:ext cx="323850" cy="32385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5B69ABD-169E-1AAD-8FE4-3582E5292F64}"/>
              </a:ext>
            </a:extLst>
          </p:cNvPr>
          <p:cNvSpPr txBox="1">
            <a:spLocks/>
          </p:cNvSpPr>
          <p:nvPr/>
        </p:nvSpPr>
        <p:spPr>
          <a:xfrm>
            <a:off x="7171808" y="1623321"/>
            <a:ext cx="4790678" cy="206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Generalization</a:t>
            </a:r>
            <a:r>
              <a:rPr lang="en-US" dirty="0"/>
              <a:t> = identifying patterns common across multiple stimuli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A87C50B1-363B-2E76-CA36-AB9E083D39E6}"/>
              </a:ext>
            </a:extLst>
          </p:cNvPr>
          <p:cNvSpPr txBox="1">
            <a:spLocks/>
          </p:cNvSpPr>
          <p:nvPr/>
        </p:nvSpPr>
        <p:spPr>
          <a:xfrm>
            <a:off x="496457" y="2958717"/>
            <a:ext cx="4808934" cy="902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reflect past knowledge influencing encoding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907E7BC7-E67C-516E-8D16-F0A2529C4C29}"/>
              </a:ext>
            </a:extLst>
          </p:cNvPr>
          <p:cNvSpPr txBox="1">
            <a:spLocks/>
          </p:cNvSpPr>
          <p:nvPr/>
        </p:nvSpPr>
        <p:spPr>
          <a:xfrm>
            <a:off x="3090233" y="6209938"/>
            <a:ext cx="6623759" cy="50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Testable behaviorally and via fMRI</a:t>
            </a:r>
          </a:p>
        </p:txBody>
      </p:sp>
    </p:spTree>
    <p:extLst>
      <p:ext uri="{BB962C8B-B14F-4D97-AF65-F5344CB8AC3E}">
        <p14:creationId xmlns:p14="http://schemas.microsoft.com/office/powerpoint/2010/main" val="101893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788"/>
            <a:ext cx="10515600" cy="2259705"/>
          </a:xfrm>
        </p:spPr>
        <p:txBody>
          <a:bodyPr>
            <a:normAutofit/>
          </a:bodyPr>
          <a:lstStyle/>
          <a:p>
            <a:r>
              <a:rPr lang="en-US" dirty="0"/>
              <a:t>5-stimulus group (u, v, w, x, y)</a:t>
            </a:r>
          </a:p>
          <a:p>
            <a:r>
              <a:rPr lang="en-US" dirty="0"/>
              <a:t>During some experiment phase:</a:t>
            </a:r>
          </a:p>
          <a:p>
            <a:pPr lvl="1"/>
            <a:r>
              <a:rPr lang="en-US" dirty="0"/>
              <a:t>Measure pairwise correlations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dirty="0"/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/>
              <a:t>, 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  <a:p>
            <a:pPr lvl="1"/>
            <a:r>
              <a:rPr lang="en-US" dirty="0"/>
              <a:t>Examine whether the correlations are more consistent with the diagram on the left vs. right 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C65C6F7-DB57-D3EF-87C6-3487973EC713}"/>
              </a:ext>
            </a:extLst>
          </p:cNvPr>
          <p:cNvSpPr/>
          <p:nvPr/>
        </p:nvSpPr>
        <p:spPr>
          <a:xfrm>
            <a:off x="296640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E75BD44-8CEB-99B8-7CCD-793D69A1935A}"/>
              </a:ext>
            </a:extLst>
          </p:cNvPr>
          <p:cNvSpPr/>
          <p:nvPr/>
        </p:nvSpPr>
        <p:spPr>
          <a:xfrm>
            <a:off x="38236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45F2BA-01B0-2931-0525-96EB1D7755AC}"/>
              </a:ext>
            </a:extLst>
          </p:cNvPr>
          <p:cNvSpPr/>
          <p:nvPr/>
        </p:nvSpPr>
        <p:spPr>
          <a:xfrm>
            <a:off x="2966408" y="5707755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79E233D-BFE2-A289-47DF-11FC5ED85E55}"/>
              </a:ext>
            </a:extLst>
          </p:cNvPr>
          <p:cNvSpPr/>
          <p:nvPr/>
        </p:nvSpPr>
        <p:spPr>
          <a:xfrm>
            <a:off x="2109158" y="48639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F6DFB9-A5BF-D5D2-1BB8-1D6FCB36A2B0}"/>
              </a:ext>
            </a:extLst>
          </p:cNvPr>
          <p:cNvSpPr/>
          <p:nvPr/>
        </p:nvSpPr>
        <p:spPr>
          <a:xfrm>
            <a:off x="2966408" y="4025798"/>
            <a:ext cx="323850" cy="3238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8CB9C4-F8B7-9C0F-C730-9663AFE76357}"/>
              </a:ext>
            </a:extLst>
          </p:cNvPr>
          <p:cNvCxnSpPr>
            <a:stCxn id="62" idx="4"/>
            <a:endCxn id="58" idx="0"/>
          </p:cNvCxnSpPr>
          <p:nvPr/>
        </p:nvCxnSpPr>
        <p:spPr>
          <a:xfrm>
            <a:off x="3128333" y="4349648"/>
            <a:ext cx="0" cy="51435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61A38C-3516-99C2-516F-5B9BFC6B7CA6}"/>
              </a:ext>
            </a:extLst>
          </p:cNvPr>
          <p:cNvCxnSpPr>
            <a:cxnSpLocks/>
            <a:stCxn id="59" idx="2"/>
            <a:endCxn id="58" idx="6"/>
          </p:cNvCxnSpPr>
          <p:nvPr/>
        </p:nvCxnSpPr>
        <p:spPr>
          <a:xfrm flipH="1">
            <a:off x="329025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38F946-12D8-AFA3-CFCF-5CDC56B95945}"/>
              </a:ext>
            </a:extLst>
          </p:cNvPr>
          <p:cNvCxnSpPr>
            <a:cxnSpLocks/>
            <a:stCxn id="58" idx="2"/>
            <a:endCxn id="61" idx="6"/>
          </p:cNvCxnSpPr>
          <p:nvPr/>
        </p:nvCxnSpPr>
        <p:spPr>
          <a:xfrm flipH="1">
            <a:off x="2433008" y="5025923"/>
            <a:ext cx="533400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C4AF690-7385-9367-BE36-AD46D9FAB915}"/>
              </a:ext>
            </a:extLst>
          </p:cNvPr>
          <p:cNvCxnSpPr>
            <a:cxnSpLocks/>
            <a:stCxn id="58" idx="4"/>
            <a:endCxn id="60" idx="0"/>
          </p:cNvCxnSpPr>
          <p:nvPr/>
        </p:nvCxnSpPr>
        <p:spPr>
          <a:xfrm>
            <a:off x="3128333" y="5187848"/>
            <a:ext cx="0" cy="519907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3D65922-7944-FFFE-D1BB-3268FABF5404}"/>
              </a:ext>
            </a:extLst>
          </p:cNvPr>
          <p:cNvSpPr/>
          <p:nvPr/>
        </p:nvSpPr>
        <p:spPr>
          <a:xfrm>
            <a:off x="10004290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9A02E6D-377E-00F6-3771-05612AB8F0A4}"/>
              </a:ext>
            </a:extLst>
          </p:cNvPr>
          <p:cNvSpPr/>
          <p:nvPr/>
        </p:nvSpPr>
        <p:spPr>
          <a:xfrm>
            <a:off x="8689839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8E9D6-5505-152D-9F41-8A5995058952}"/>
              </a:ext>
            </a:extLst>
          </p:cNvPr>
          <p:cNvSpPr/>
          <p:nvPr/>
        </p:nvSpPr>
        <p:spPr>
          <a:xfrm>
            <a:off x="8370752" y="4796291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916BFD-E075-1AA1-E7F6-3A882F4750EB}"/>
              </a:ext>
            </a:extLst>
          </p:cNvPr>
          <p:cNvSpPr/>
          <p:nvPr/>
        </p:nvSpPr>
        <p:spPr>
          <a:xfrm>
            <a:off x="9680440" y="5693785"/>
            <a:ext cx="323850" cy="3238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31F800B-F904-FF1D-4120-26A4F48611D5}"/>
              </a:ext>
            </a:extLst>
          </p:cNvPr>
          <p:cNvCxnSpPr>
            <a:cxnSpLocks/>
          </p:cNvCxnSpPr>
          <p:nvPr/>
        </p:nvCxnSpPr>
        <p:spPr>
          <a:xfrm flipH="1">
            <a:off x="8532677" y="4355760"/>
            <a:ext cx="766762" cy="60245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124F5BC-BD3B-F8C7-EA34-EEB96C4D2D00}"/>
              </a:ext>
            </a:extLst>
          </p:cNvPr>
          <p:cNvCxnSpPr>
            <a:cxnSpLocks/>
          </p:cNvCxnSpPr>
          <p:nvPr/>
        </p:nvCxnSpPr>
        <p:spPr>
          <a:xfrm>
            <a:off x="9334563" y="4317896"/>
            <a:ext cx="831652" cy="647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D289F2-362C-531F-46BB-200CA4181D03}"/>
              </a:ext>
            </a:extLst>
          </p:cNvPr>
          <p:cNvCxnSpPr>
            <a:cxnSpLocks/>
          </p:cNvCxnSpPr>
          <p:nvPr/>
        </p:nvCxnSpPr>
        <p:spPr>
          <a:xfrm>
            <a:off x="8523153" y="4958216"/>
            <a:ext cx="328611" cy="91757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6D4DBD-51FD-F917-DCE6-FB1954C4956B}"/>
              </a:ext>
            </a:extLst>
          </p:cNvPr>
          <p:cNvCxnSpPr>
            <a:cxnSpLocks/>
          </p:cNvCxnSpPr>
          <p:nvPr/>
        </p:nvCxnSpPr>
        <p:spPr>
          <a:xfrm flipH="1">
            <a:off x="9842365" y="4920672"/>
            <a:ext cx="321469" cy="935038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C46C5A-69F7-989C-BA4A-E0E121F5F598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>
            <a:off x="9013689" y="5855710"/>
            <a:ext cx="666751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0E43EC6-1A0D-AA62-2A55-1CC007CCE005}"/>
              </a:ext>
            </a:extLst>
          </p:cNvPr>
          <p:cNvCxnSpPr>
            <a:cxnSpLocks/>
          </p:cNvCxnSpPr>
          <p:nvPr/>
        </p:nvCxnSpPr>
        <p:spPr>
          <a:xfrm>
            <a:off x="9323252" y="4204947"/>
            <a:ext cx="516732" cy="1670845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112E795-6DFF-E9E3-6CDB-118038306399}"/>
              </a:ext>
            </a:extLst>
          </p:cNvPr>
          <p:cNvCxnSpPr>
            <a:cxnSpLocks/>
          </p:cNvCxnSpPr>
          <p:nvPr/>
        </p:nvCxnSpPr>
        <p:spPr>
          <a:xfrm flipH="1">
            <a:off x="8882125" y="4207328"/>
            <a:ext cx="431603" cy="1668464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995EFC0-D308-ACEB-9FB9-7D1A0E27504B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532677" y="4958216"/>
            <a:ext cx="1471613" cy="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9F3EEEE-6BDC-DA56-066A-2052620B25DF}"/>
              </a:ext>
            </a:extLst>
          </p:cNvPr>
          <p:cNvCxnSpPr>
            <a:cxnSpLocks/>
          </p:cNvCxnSpPr>
          <p:nvPr/>
        </p:nvCxnSpPr>
        <p:spPr>
          <a:xfrm>
            <a:off x="8532676" y="4965360"/>
            <a:ext cx="1316832" cy="883206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F68361-7B17-7221-458F-D6D9427FD079}"/>
              </a:ext>
            </a:extLst>
          </p:cNvPr>
          <p:cNvCxnSpPr>
            <a:cxnSpLocks/>
          </p:cNvCxnSpPr>
          <p:nvPr/>
        </p:nvCxnSpPr>
        <p:spPr>
          <a:xfrm flipV="1">
            <a:off x="8847003" y="4958216"/>
            <a:ext cx="1316831" cy="890350"/>
          </a:xfrm>
          <a:prstGeom prst="line">
            <a:avLst/>
          </a:prstGeom>
          <a:ln w="444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F1CEFC69-AE25-4208-8BC1-433A56E6D797}"/>
              </a:ext>
            </a:extLst>
          </p:cNvPr>
          <p:cNvSpPr/>
          <p:nvPr/>
        </p:nvSpPr>
        <p:spPr>
          <a:xfrm>
            <a:off x="9158946" y="4181371"/>
            <a:ext cx="323850" cy="323850"/>
          </a:xfrm>
          <a:prstGeom prst="ellipse">
            <a:avLst/>
          </a:prstGeom>
          <a:solidFill>
            <a:schemeClr val="tx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29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732-E844-B90D-9B27-DEB448D8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possible aging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B978-14C2-4BFA-DCA5-0D8CCB3C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Instead of more prototyping, maybe they show the opposite: more generalization due to only encoding </a:t>
            </a:r>
            <a:r>
              <a:rPr lang="en-US" dirty="0" err="1"/>
              <a:t>gists</a:t>
            </a:r>
            <a:r>
              <a:rPr lang="en-US" dirty="0"/>
              <a:t> and using crystalized knowledge</a:t>
            </a:r>
          </a:p>
          <a:p>
            <a:pPr lvl="1"/>
            <a:r>
              <a:rPr lang="en-US" dirty="0"/>
              <a:t>Could get at this gist idea with an R/K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14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125C-B673-982D-DD9A-F86DB2C7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en-US" dirty="0"/>
              <a:t>Analyzing generalizing and prototyping with combination features (not done)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8769-61E6-A918-3D54-08726A4D2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88"/>
            <a:ext cx="10515600" cy="4951412"/>
          </a:xfrm>
        </p:spPr>
        <p:txBody>
          <a:bodyPr>
            <a:normAutofit/>
          </a:bodyPr>
          <a:lstStyle/>
          <a:p>
            <a:r>
              <a:rPr lang="en-US" dirty="0"/>
              <a:t>Identifying generalization:</a:t>
            </a:r>
          </a:p>
          <a:p>
            <a:pPr lvl="1"/>
            <a:r>
              <a:rPr lang="en-US" dirty="0"/>
              <a:t>Integrating stimulus vectors</a:t>
            </a:r>
          </a:p>
          <a:p>
            <a:pPr lvl="1"/>
            <a:r>
              <a:rPr lang="en-US" dirty="0"/>
              <a:t>One way to combine: Elementwise multiplication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/>
              <a:t>) will yield a product vector that represents features common across the two</a:t>
            </a:r>
          </a:p>
          <a:p>
            <a:pPr lvl="2"/>
            <a:r>
              <a:rPr lang="en-US" dirty="0"/>
              <a:t>Other ways may work better for 3+ stimuli</a:t>
            </a:r>
          </a:p>
          <a:p>
            <a:pPr lvl="2"/>
            <a:r>
              <a:rPr lang="en-US" dirty="0"/>
              <a:t>Definitions linked to computational memory theories?</a:t>
            </a:r>
          </a:p>
          <a:p>
            <a:pPr lvl="1"/>
            <a:r>
              <a:rPr lang="en-US" dirty="0"/>
              <a:t>Examine whether participants retrieve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dirty="0"/>
          </a:p>
          <a:p>
            <a:pPr lvl="2"/>
            <a:r>
              <a:rPr lang="en-US" dirty="0"/>
              <a:t>Perform RSA with the “generalization” vector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  <a:p>
            <a:r>
              <a:rPr lang="en-US" dirty="0"/>
              <a:t>Identifying prototyping</a:t>
            </a:r>
          </a:p>
          <a:p>
            <a:pPr lvl="1"/>
            <a:r>
              <a:rPr lang="en-US" dirty="0"/>
              <a:t>Again, integrating stimulus vectors, but now to create a “prototype” vector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/>
              <a:t> is the prototype…?</a:t>
            </a:r>
          </a:p>
        </p:txBody>
      </p:sp>
    </p:spTree>
    <p:extLst>
      <p:ext uri="{BB962C8B-B14F-4D97-AF65-F5344CB8AC3E}">
        <p14:creationId xmlns:p14="http://schemas.microsoft.com/office/powerpoint/2010/main" val="1218082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18C-8A7E-19DC-938B-4FB4E296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63"/>
            <a:ext cx="10515600" cy="993437"/>
          </a:xfrm>
        </p:spPr>
        <p:txBody>
          <a:bodyPr/>
          <a:lstStyle/>
          <a:p>
            <a:r>
              <a:rPr lang="en-US" dirty="0"/>
              <a:t>Extension into decision-making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82D2-157A-367E-6C01-69D7E9013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74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Idea: Replace every other “location” with a “decision” </a:t>
            </a:r>
          </a:p>
          <a:p>
            <a:r>
              <a:rPr lang="en-US" dirty="0"/>
              <a:t>Participants are given a choice that influences the next image that will be shown (what location they will travel to)</a:t>
            </a:r>
          </a:p>
          <a:p>
            <a:pPr lvl="1"/>
            <a:r>
              <a:rPr lang="en-US" dirty="0"/>
              <a:t>E.g., at location A, participants can choose between options X or Y, which will take them to locations B or C</a:t>
            </a:r>
          </a:p>
          <a:p>
            <a:pPr lvl="1"/>
            <a:r>
              <a:rPr lang="en-US" dirty="0"/>
              <a:t>The options themselves are stimuli (e.g., “X and Y are magical objects that will teleport you to a new location”)</a:t>
            </a:r>
          </a:p>
          <a:p>
            <a:pPr lvl="1"/>
            <a:r>
              <a:rPr lang="en-US" dirty="0"/>
              <a:t>“Selecting X/Y” is the episodic memory formed</a:t>
            </a:r>
          </a:p>
          <a:p>
            <a:r>
              <a:rPr lang="en-US" dirty="0"/>
              <a:t>Retrieval task:</a:t>
            </a:r>
          </a:p>
          <a:p>
            <a:pPr lvl="1"/>
            <a:r>
              <a:rPr lang="en-US" dirty="0"/>
              <a:t>Could include a task where participants are asked “you are in A and you want to get to B, should you select X or Y?”</a:t>
            </a:r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Issue 1: different participants will see different stimuli, maybe some will not show diversity in their decision-making</a:t>
            </a:r>
          </a:p>
          <a:p>
            <a:pPr lvl="1"/>
            <a:r>
              <a:rPr lang="en-US" dirty="0"/>
              <a:t>Issue 2: less statistical power for investigating state transitions (half as many state transitions)</a:t>
            </a:r>
          </a:p>
        </p:txBody>
      </p:sp>
    </p:spTree>
    <p:extLst>
      <p:ext uri="{BB962C8B-B14F-4D97-AF65-F5344CB8AC3E}">
        <p14:creationId xmlns:p14="http://schemas.microsoft.com/office/powerpoint/2010/main" val="42852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5621-EE6F-96CC-ADB9-37723873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Expanding to incorporate others’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8F76-C90E-78BD-7BE0-59FC4517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still on associative memory, so hopefully, Cortney would like it </a:t>
            </a:r>
          </a:p>
          <a:p>
            <a:r>
              <a:rPr lang="en-US" dirty="0"/>
              <a:t>I think Ricky’s interest in task sets and the instructions about focusing on perception/semantic information could be incorporated?</a:t>
            </a:r>
          </a:p>
        </p:txBody>
      </p:sp>
    </p:spTree>
    <p:extLst>
      <p:ext uri="{BB962C8B-B14F-4D97-AF65-F5344CB8AC3E}">
        <p14:creationId xmlns:p14="http://schemas.microsoft.com/office/powerpoint/2010/main" val="284900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29281</TotalTime>
  <Words>2686</Words>
  <Application>Microsoft Office PowerPoint</Application>
  <PresentationFormat>Widescreen</PresentationFormat>
  <Paragraphs>355</Paragraphs>
  <Slides>53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Courier New</vt:lpstr>
      <vt:lpstr>Roboto</vt:lpstr>
      <vt:lpstr>Times New Roman</vt:lpstr>
      <vt:lpstr>Wingdings</vt:lpstr>
      <vt:lpstr>Office Theme</vt:lpstr>
      <vt:lpstr>Paul Update</vt:lpstr>
      <vt:lpstr>Lifu dissertation results</vt:lpstr>
      <vt:lpstr>3-session fMRI study (SchemRep)</vt:lpstr>
      <vt:lpstr>Lifu results 1.1</vt:lpstr>
      <vt:lpstr>Lifu Results 1.2</vt:lpstr>
      <vt:lpstr>Lifu Results 2.1</vt:lpstr>
      <vt:lpstr>Lifu Results 2.2</vt:lpstr>
      <vt:lpstr>Lifu Results 2.3</vt:lpstr>
      <vt:lpstr>Warning: Results may shift</vt:lpstr>
      <vt:lpstr>Preprocessing</vt:lpstr>
      <vt:lpstr>Emerging property</vt:lpstr>
      <vt:lpstr>Proposed direction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Behavioral results</vt:lpstr>
      <vt:lpstr>Brainnetome atlas</vt:lpstr>
      <vt:lpstr>Stimulus representations</vt:lpstr>
      <vt:lpstr>Many ways to interpret the abs-difference vector</vt:lpstr>
      <vt:lpstr>Perceptual vectors</vt:lpstr>
      <vt:lpstr>Abs-dif vector</vt:lpstr>
      <vt:lpstr>PowerPoint Presentation</vt:lpstr>
      <vt:lpstr>RSA overview</vt:lpstr>
      <vt:lpstr>Further temporal trend testing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2A/2B: Schema-object prediction error</vt:lpstr>
      <vt:lpstr>Result 2C: Connectivity: Activity x IRAF</vt:lpstr>
      <vt:lpstr>Result 2C: Difference RSA x connectivity</vt:lpstr>
      <vt:lpstr>Result 3A: Prediction error IRAF predicts subsequent memory</vt:lpstr>
      <vt:lpstr>Result 3B: Retrieval retrieves scene representation</vt:lpstr>
      <vt:lpstr>Other things</vt:lpstr>
      <vt:lpstr>Modularity</vt:lpstr>
      <vt:lpstr>Encoding retrieval similarity</vt:lpstr>
      <vt:lpstr>Whiffs </vt:lpstr>
      <vt:lpstr>Other analyses</vt:lpstr>
      <vt:lpstr>Study ideas</vt:lpstr>
      <vt:lpstr>Generalize the past, pinpoint the future</vt:lpstr>
      <vt:lpstr>Episodic memories as state transitions</vt:lpstr>
      <vt:lpstr>Investigating hippocampal traces</vt:lpstr>
      <vt:lpstr>Possible aging effects</vt:lpstr>
      <vt:lpstr>(Beyond the task)  Older adults prototype rather than generalize</vt:lpstr>
      <vt:lpstr>Analyzing generalizing and prototyping</vt:lpstr>
      <vt:lpstr>Other possible aging effect</vt:lpstr>
      <vt:lpstr>Analyzing generalizing and prototyping with combination features (not done)</vt:lpstr>
      <vt:lpstr>Extension into decision-making</vt:lpstr>
      <vt:lpstr>Expanding to incorporate others’ interests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66</cp:revision>
  <dcterms:created xsi:type="dcterms:W3CDTF">2023-09-14T13:36:35Z</dcterms:created>
  <dcterms:modified xsi:type="dcterms:W3CDTF">2023-10-11T11:19:48Z</dcterms:modified>
</cp:coreProperties>
</file>