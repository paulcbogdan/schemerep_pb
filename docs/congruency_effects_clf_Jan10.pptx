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2" r:id="rId3"/>
    <p:sldId id="263" r:id="rId4"/>
    <p:sldId id="265" r:id="rId5"/>
    <p:sldId id="259" r:id="rId6"/>
    <p:sldId id="260" r:id="rId7"/>
    <p:sldId id="258" r:id="rId8"/>
    <p:sldId id="266" r:id="rId9"/>
    <p:sldId id="267" r:id="rId10"/>
    <p:sldId id="283" r:id="rId11"/>
    <p:sldId id="271" r:id="rId12"/>
    <p:sldId id="274" r:id="rId13"/>
    <p:sldId id="276" r:id="rId14"/>
    <p:sldId id="278" r:id="rId15"/>
    <p:sldId id="279" r:id="rId16"/>
    <p:sldId id="277" r:id="rId17"/>
    <p:sldId id="281" r:id="rId18"/>
    <p:sldId id="269" r:id="rId19"/>
    <p:sldId id="2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56" autoAdjust="0"/>
    <p:restoredTop sz="87602" autoAdjust="0"/>
  </p:normalViewPr>
  <p:slideViewPr>
    <p:cSldViewPr snapToGrid="0">
      <p:cViewPr varScale="1">
        <p:scale>
          <a:sx n="143" d="100"/>
          <a:sy n="143" d="100"/>
        </p:scale>
        <p:origin x="9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11268-7A0B-4448-98B7-B695368F7E0E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984D3-8271-419D-89C9-B49E490F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8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91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14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27.png"/><Relationship Id="rId5" Type="http://schemas.openxmlformats.org/officeDocument/2006/relationships/image" Target="../media/image20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8, 2024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E059-415E-3BCB-87BF-30A6EAB9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70880" cy="1325563"/>
          </a:xfrm>
        </p:spPr>
        <p:txBody>
          <a:bodyPr/>
          <a:lstStyle/>
          <a:p>
            <a:r>
              <a:rPr lang="en-US" dirty="0"/>
              <a:t>Item category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59648-4FA1-B6E7-456E-1C2F064B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10515600" cy="4351338"/>
          </a:xfrm>
        </p:spPr>
        <p:txBody>
          <a:bodyPr/>
          <a:lstStyle/>
          <a:p>
            <a:r>
              <a:rPr lang="en-US" dirty="0"/>
              <a:t>Object categories:</a:t>
            </a:r>
          </a:p>
          <a:p>
            <a:pPr lvl="1"/>
            <a:r>
              <a:rPr lang="en-US" dirty="0"/>
              <a:t>Living animal</a:t>
            </a:r>
          </a:p>
          <a:p>
            <a:pPr lvl="1"/>
            <a:r>
              <a:rPr lang="en-US" dirty="0"/>
              <a:t>Living plant</a:t>
            </a:r>
          </a:p>
          <a:p>
            <a:pPr lvl="1"/>
            <a:r>
              <a:rPr lang="en-US" dirty="0"/>
              <a:t>Non-living small</a:t>
            </a:r>
          </a:p>
          <a:p>
            <a:pPr lvl="1"/>
            <a:r>
              <a:rPr lang="en-US" dirty="0"/>
              <a:t>Non-living medium</a:t>
            </a:r>
          </a:p>
          <a:p>
            <a:pPr lvl="1"/>
            <a:r>
              <a:rPr lang="en-US" dirty="0"/>
              <a:t>Non-living large</a:t>
            </a:r>
          </a:p>
          <a:p>
            <a:r>
              <a:rPr lang="en-US" dirty="0"/>
              <a:t>The number of edges crossing some threshold (e.g., p &lt; .05) crosses what would be expected due to chance (2000 significant vs. 1500 expected false positives)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0877B-C1E5-D498-00A7-721F4AC2C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8" t="12815" r="11111" b="11037"/>
          <a:stretch/>
        </p:blipFill>
        <p:spPr>
          <a:xfrm>
            <a:off x="7330440" y="538480"/>
            <a:ext cx="3946661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6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C5A0-04FE-D6AA-ACC0-8B42FACA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88"/>
            <a:ext cx="5704840" cy="1325563"/>
          </a:xfrm>
        </p:spPr>
        <p:txBody>
          <a:bodyPr/>
          <a:lstStyle/>
          <a:p>
            <a:r>
              <a:rPr lang="en-US" dirty="0"/>
              <a:t>Congruency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0F10-4745-8BC5-89FC-86BA2937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651"/>
            <a:ext cx="5664200" cy="4351338"/>
          </a:xfrm>
        </p:spPr>
        <p:txBody>
          <a:bodyPr>
            <a:normAutofit/>
          </a:bodyPr>
          <a:lstStyle/>
          <a:p>
            <a:r>
              <a:rPr lang="en-US" dirty="0"/>
              <a:t>3600 edges cross p &lt; .05</a:t>
            </a:r>
          </a:p>
          <a:p>
            <a:r>
              <a:rPr lang="en-US" dirty="0"/>
              <a:t>Hence, there definitely is some connectivity-related phenomena going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2394-C3ED-BBF9-3A84-1EBB51230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18" r="10054" b="8885"/>
          <a:stretch/>
        </p:blipFill>
        <p:spPr>
          <a:xfrm>
            <a:off x="6996895" y="109537"/>
            <a:ext cx="4028930" cy="346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C54D8-4C24-2A4A-35DB-136021AD59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52" r="10963" b="11481"/>
          <a:stretch/>
        </p:blipFill>
        <p:spPr>
          <a:xfrm>
            <a:off x="7035800" y="3402419"/>
            <a:ext cx="3990025" cy="33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9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C5A0-04FE-D6AA-ACC0-8B42FACA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88"/>
            <a:ext cx="5704840" cy="1325563"/>
          </a:xfrm>
        </p:spPr>
        <p:txBody>
          <a:bodyPr/>
          <a:lstStyle/>
          <a:p>
            <a:r>
              <a:rPr lang="en-US" dirty="0"/>
              <a:t>Congruency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0F10-4745-8BC5-89FC-86BA2937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651"/>
            <a:ext cx="5664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3600 edges cross p &lt; .05</a:t>
            </a:r>
          </a:p>
          <a:p>
            <a:r>
              <a:rPr lang="en-US" dirty="0"/>
              <a:t>Hence, there definitely is some connectivity-related phenomena going on</a:t>
            </a:r>
          </a:p>
          <a:p>
            <a:r>
              <a:rPr lang="en-US" dirty="0"/>
              <a:t>However, it’s not an obvious effect and we need methods to compress these thousands of edges into meaningful patterns</a:t>
            </a:r>
          </a:p>
          <a:p>
            <a:pPr lvl="1"/>
            <a:r>
              <a:rPr lang="en-US" dirty="0"/>
              <a:t>Multivariate approaches do this (e.g., classification-based methods)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2394-C3ED-BBF9-3A84-1EBB51230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18" r="10054" b="8885"/>
          <a:stretch/>
        </p:blipFill>
        <p:spPr>
          <a:xfrm>
            <a:off x="6996895" y="109537"/>
            <a:ext cx="4028930" cy="3466783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8D8136A9-FF6E-0E12-CCD3-90A939A6E0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7" r="4006"/>
          <a:stretch/>
        </p:blipFill>
        <p:spPr bwMode="auto">
          <a:xfrm>
            <a:off x="6657025" y="3910117"/>
            <a:ext cx="4368800" cy="25951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36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3733B1C-79DE-987A-2EE3-9E5759488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34928" y="2315067"/>
            <a:ext cx="5106383" cy="404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1C04C-7C83-BDD6-6B90-19805F2C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Older adult sensitivity to congruency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36084E-FBA6-7909-40AC-32E88961D62F}"/>
              </a:ext>
            </a:extLst>
          </p:cNvPr>
          <p:cNvSpPr/>
          <p:nvPr/>
        </p:nvSpPr>
        <p:spPr>
          <a:xfrm rot="21428090">
            <a:off x="7658100" y="2752249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904811-C58E-95E4-8F4E-3E7B7CE3D751}"/>
              </a:ext>
            </a:extLst>
          </p:cNvPr>
          <p:cNvSpPr/>
          <p:nvPr/>
        </p:nvSpPr>
        <p:spPr>
          <a:xfrm rot="20374612">
            <a:off x="6728460" y="433634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3CFB44-0DAF-F52A-A4F3-5A870A0F7641}"/>
              </a:ext>
            </a:extLst>
          </p:cNvPr>
          <p:cNvSpPr/>
          <p:nvPr/>
        </p:nvSpPr>
        <p:spPr>
          <a:xfrm>
            <a:off x="9695180" y="485958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D9B830-8B6D-403C-5EE4-6289A759DA28}"/>
              </a:ext>
            </a:extLst>
          </p:cNvPr>
          <p:cNvSpPr/>
          <p:nvPr/>
        </p:nvSpPr>
        <p:spPr>
          <a:xfrm rot="20110048">
            <a:off x="10541170" y="338407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5CB2C0-6E58-B9F4-0DCD-87185CAE7C85}"/>
              </a:ext>
            </a:extLst>
          </p:cNvPr>
          <p:cNvCxnSpPr>
            <a:cxnSpLocks/>
            <a:stCxn id="12" idx="3"/>
            <a:endCxn id="15" idx="7"/>
          </p:cNvCxnSpPr>
          <p:nvPr/>
        </p:nvCxnSpPr>
        <p:spPr>
          <a:xfrm flipH="1">
            <a:off x="7025165" y="3117194"/>
            <a:ext cx="701903" cy="12381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52E318-44C8-14A6-83CA-ECC2A001EE1D}"/>
              </a:ext>
            </a:extLst>
          </p:cNvPr>
          <p:cNvCxnSpPr>
            <a:cxnSpLocks/>
            <a:stCxn id="12" idx="5"/>
            <a:endCxn id="16" idx="1"/>
          </p:cNvCxnSpPr>
          <p:nvPr/>
        </p:nvCxnSpPr>
        <p:spPr>
          <a:xfrm>
            <a:off x="8023045" y="3102381"/>
            <a:ext cx="1733511" cy="181857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581425-7F50-77EC-6193-7909CD73AF80}"/>
              </a:ext>
            </a:extLst>
          </p:cNvPr>
          <p:cNvCxnSpPr>
            <a:cxnSpLocks/>
            <a:stCxn id="12" idx="6"/>
            <a:endCxn id="17" idx="1"/>
          </p:cNvCxnSpPr>
          <p:nvPr/>
        </p:nvCxnSpPr>
        <p:spPr>
          <a:xfrm>
            <a:off x="8076938" y="2951324"/>
            <a:ext cx="2477080" cy="57005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C88D44-B332-3562-3849-F8E24733BFCC}"/>
              </a:ext>
            </a:extLst>
          </p:cNvPr>
          <p:cNvSpPr txBox="1"/>
          <p:nvPr/>
        </p:nvSpPr>
        <p:spPr>
          <a:xfrm rot="17931614">
            <a:off x="6599174" y="3386262"/>
            <a:ext cx="14157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041E12-590A-04D6-84FD-192753A253E8}"/>
              </a:ext>
            </a:extLst>
          </p:cNvPr>
          <p:cNvSpPr txBox="1"/>
          <p:nvPr/>
        </p:nvSpPr>
        <p:spPr>
          <a:xfrm rot="779661">
            <a:off x="8603918" y="284218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D4BDF78-483F-1F95-98A9-0E3E77130361}"/>
              </a:ext>
            </a:extLst>
          </p:cNvPr>
          <p:cNvSpPr/>
          <p:nvPr/>
        </p:nvSpPr>
        <p:spPr>
          <a:xfrm rot="16791232">
            <a:off x="8111803" y="3190776"/>
            <a:ext cx="419100" cy="31751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DC0C66-04BF-C767-2F80-409340E3BFAF}"/>
              </a:ext>
            </a:extLst>
          </p:cNvPr>
          <p:cNvSpPr txBox="1"/>
          <p:nvPr/>
        </p:nvSpPr>
        <p:spPr>
          <a:xfrm rot="573175">
            <a:off x="7412950" y="4574296"/>
            <a:ext cx="1672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 stream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DC7BFC1-E330-74CE-6AA9-343A2A099203}"/>
              </a:ext>
            </a:extLst>
          </p:cNvPr>
          <p:cNvCxnSpPr>
            <a:cxnSpLocks/>
            <a:stCxn id="12" idx="4"/>
            <a:endCxn id="40" idx="6"/>
          </p:cNvCxnSpPr>
          <p:nvPr/>
        </p:nvCxnSpPr>
        <p:spPr>
          <a:xfrm>
            <a:off x="7878125" y="3171087"/>
            <a:ext cx="479090" cy="14008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367966A1-D789-4165-CDBE-3BAD53D75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0" y="2961799"/>
            <a:ext cx="5562974" cy="1938697"/>
          </a:xfrm>
          <a:prstGeom prst="rect">
            <a:avLst/>
          </a:prstGeom>
        </p:spPr>
      </p:pic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9FD2C410-7224-F04B-B55D-D0E36A69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8344" cy="7752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0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AE2C-C0A5-AB83-53EF-E73B5AAE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effect of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E790F-72A2-ED47-F6AA-3DBD80F31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065"/>
            <a:ext cx="10515600" cy="4351338"/>
          </a:xfrm>
        </p:spPr>
        <p:txBody>
          <a:bodyPr/>
          <a:lstStyle/>
          <a:p>
            <a:r>
              <a:rPr lang="en-US" dirty="0"/>
              <a:t>There are notably main effects of age linked to these regions</a:t>
            </a:r>
          </a:p>
          <a:p>
            <a:pPr lvl="1"/>
            <a:r>
              <a:rPr lang="en-US" dirty="0"/>
              <a:t>Younger adults show greater IPL-</a:t>
            </a:r>
            <a:r>
              <a:rPr lang="en-US" dirty="0" err="1"/>
              <a:t>FuG</a:t>
            </a:r>
            <a:r>
              <a:rPr lang="en-US" dirty="0"/>
              <a:t> and IPL-ATL connectivity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3ECEC-FE27-E9D7-8F15-279348D00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7" y="3429000"/>
            <a:ext cx="8103866" cy="282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2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918F-3EB3-0FA3-79CE-C49482DB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Anterior temporal lobe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29E05-1A4D-9366-C4D3-06E196C9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360" y="2912745"/>
            <a:ext cx="2941320" cy="5568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38F46-F74B-7F35-A5DB-35450E95B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8" y="3559364"/>
            <a:ext cx="5960725" cy="2077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76D3B-D6E7-4A68-B3DE-B24DB90CD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984" y="3559363"/>
            <a:ext cx="5960726" cy="207731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3B2B97-1465-BD98-3487-0DA487BF1922}"/>
              </a:ext>
            </a:extLst>
          </p:cNvPr>
          <p:cNvSpPr txBox="1">
            <a:spLocks/>
          </p:cNvSpPr>
          <p:nvPr/>
        </p:nvSpPr>
        <p:spPr>
          <a:xfrm>
            <a:off x="7731760" y="2963545"/>
            <a:ext cx="2941320" cy="556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Younger adults</a:t>
            </a:r>
          </a:p>
        </p:txBody>
      </p:sp>
    </p:spTree>
    <p:extLst>
      <p:ext uri="{BB962C8B-B14F-4D97-AF65-F5344CB8AC3E}">
        <p14:creationId xmlns:p14="http://schemas.microsoft.com/office/powerpoint/2010/main" val="230618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10, 2024</a:t>
            </a:r>
          </a:p>
        </p:txBody>
      </p:sp>
    </p:spTree>
    <p:extLst>
      <p:ext uri="{BB962C8B-B14F-4D97-AF65-F5344CB8AC3E}">
        <p14:creationId xmlns:p14="http://schemas.microsoft.com/office/powerpoint/2010/main" val="297594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84D1-F078-164D-7AE2-5CA99746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D90F-1A97-16A8-9441-7000533B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Older adults are able to recover (compensate?) perceptual processing if it is congruent?</a:t>
            </a:r>
          </a:p>
          <a:p>
            <a:pPr lvl="1"/>
            <a:r>
              <a:rPr lang="en-US" dirty="0"/>
              <a:t>I need to make bar graphs</a:t>
            </a:r>
          </a:p>
        </p:txBody>
      </p:sp>
    </p:spTree>
    <p:extLst>
      <p:ext uri="{BB962C8B-B14F-4D97-AF65-F5344CB8AC3E}">
        <p14:creationId xmlns:p14="http://schemas.microsoft.com/office/powerpoint/2010/main" val="65529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860-1FEC-7394-5BD7-E4DBC658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7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Activation-based analyses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FDFD4-871A-26B5-5E13-08FEECF5A82F}"/>
              </a:ext>
            </a:extLst>
          </p:cNvPr>
          <p:cNvSpPr txBox="1"/>
          <p:nvPr/>
        </p:nvSpPr>
        <p:spPr>
          <a:xfrm>
            <a:off x="1174680" y="1278934"/>
            <a:ext cx="5719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EEE43-BDAF-D7E4-49EE-8C47AC000671}"/>
              </a:ext>
            </a:extLst>
          </p:cNvPr>
          <p:cNvSpPr txBox="1"/>
          <p:nvPr/>
        </p:nvSpPr>
        <p:spPr>
          <a:xfrm>
            <a:off x="6472081" y="1288223"/>
            <a:ext cx="571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374BA-FBDE-0B18-3A7F-A3D71C1F5B21}"/>
              </a:ext>
            </a:extLst>
          </p:cNvPr>
          <p:cNvSpPr txBox="1"/>
          <p:nvPr/>
        </p:nvSpPr>
        <p:spPr>
          <a:xfrm rot="16200000">
            <a:off x="-601077" y="2681076"/>
            <a:ext cx="278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Univariate t-test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28392-831D-3C6C-C9C0-927D01E975A6}"/>
              </a:ext>
            </a:extLst>
          </p:cNvPr>
          <p:cNvSpPr txBox="1"/>
          <p:nvPr/>
        </p:nvSpPr>
        <p:spPr>
          <a:xfrm rot="16200000">
            <a:off x="-601078" y="4894227"/>
            <a:ext cx="278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Subject-specific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A05E54-B1AC-2828-50A5-E6CF7A14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37" y="2149475"/>
            <a:ext cx="5247633" cy="182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8012FF-D023-BE83-4CEC-1F37F144C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703" y="2149475"/>
            <a:ext cx="5247633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AFF192-2FF4-E04B-D716-C7C6C7CB7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750" y="4254752"/>
            <a:ext cx="5301405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63727C-2E89-4666-848F-8B82A51F3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489" y="4264041"/>
            <a:ext cx="5275587" cy="1828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E000D2-0BDB-B2FF-6AA2-53B0FAF35F0D}"/>
              </a:ext>
            </a:extLst>
          </p:cNvPr>
          <p:cNvSpPr txBox="1"/>
          <p:nvPr/>
        </p:nvSpPr>
        <p:spPr>
          <a:xfrm>
            <a:off x="2168979" y="6186457"/>
            <a:ext cx="889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Activity effects are small looking at just a single ROI or a small set may not be enough. Classification greatly improves if looking at large areas (e.g., full occipital + some ventral stream or full PFC)</a:t>
            </a:r>
          </a:p>
        </p:txBody>
      </p:sp>
    </p:spTree>
    <p:extLst>
      <p:ext uri="{BB962C8B-B14F-4D97-AF65-F5344CB8AC3E}">
        <p14:creationId xmlns:p14="http://schemas.microsoft.com/office/powerpoint/2010/main" val="1588093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C2EC4-622B-48C5-C14F-6FCB45C0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953682"/>
            <a:ext cx="3810000" cy="4762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8A3CAC-870A-C688-0477-75B360B64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53682"/>
            <a:ext cx="3810000" cy="47625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79738-E097-A929-A7D3-1AB7773137AC}"/>
              </a:ext>
            </a:extLst>
          </p:cNvPr>
          <p:cNvSpPr txBox="1"/>
          <p:nvPr/>
        </p:nvSpPr>
        <p:spPr>
          <a:xfrm>
            <a:off x="33868" y="2413337"/>
            <a:ext cx="2207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Thresholding is liberal (p &lt; .05, uncorrected)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activation patterns are likely Type I Errors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DB0F4-9855-B45A-D1D1-B95BC8BC6C42}"/>
              </a:ext>
            </a:extLst>
          </p:cNvPr>
          <p:cNvSpPr txBox="1"/>
          <p:nvPr/>
        </p:nvSpPr>
        <p:spPr>
          <a:xfrm>
            <a:off x="3552961" y="5932488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5170F-5F9E-C8C0-D6FC-D6970664A397}"/>
              </a:ext>
            </a:extLst>
          </p:cNvPr>
          <p:cNvSpPr txBox="1"/>
          <p:nvPr/>
        </p:nvSpPr>
        <p:spPr>
          <a:xfrm>
            <a:off x="8116496" y="5932487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</p:spTree>
    <p:extLst>
      <p:ext uri="{BB962C8B-B14F-4D97-AF65-F5344CB8AC3E}">
        <p14:creationId xmlns:p14="http://schemas.microsoft.com/office/powerpoint/2010/main" val="3151900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Scene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36340-DECA-F354-2BB4-9C324707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0" y="1953683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C9E1F-B94A-7830-8A87-C738A309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6" y="1953683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73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15F4E5-13C0-ADE7-4D6D-B4FB5CC01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1" y="1953683"/>
            <a:ext cx="3810000" cy="476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E6778-8E8B-E699-61EA-59748337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467" y="1953683"/>
            <a:ext cx="3810000" cy="4762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u="sng" dirty="0"/>
              <a:t>Object</a:t>
            </a:r>
            <a:r>
              <a:rPr lang="en-US" dirty="0"/>
              <a:t>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534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8331201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4FA5A2-5173-0719-900C-0B329B1ED9ED}"/>
              </a:ext>
            </a:extLst>
          </p:cNvPr>
          <p:cNvSpPr txBox="1">
            <a:spLocks/>
          </p:cNvSpPr>
          <p:nvPr/>
        </p:nvSpPr>
        <p:spPr>
          <a:xfrm>
            <a:off x="253996" y="1885949"/>
            <a:ext cx="3454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These results show that OA aren’t representing objects particularly more intensely</a:t>
            </a:r>
          </a:p>
        </p:txBody>
      </p:sp>
    </p:spTree>
    <p:extLst>
      <p:ext uri="{BB962C8B-B14F-4D97-AF65-F5344CB8AC3E}">
        <p14:creationId xmlns:p14="http://schemas.microsoft.com/office/powerpoint/2010/main" val="869853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1B4AFDB-1BDE-A252-5233-2C5E750337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5" r="226"/>
          <a:stretch/>
        </p:blipFill>
        <p:spPr>
          <a:xfrm>
            <a:off x="5679182" y="1344667"/>
            <a:ext cx="888513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635"/>
          <a:stretch/>
        </p:blipFill>
        <p:spPr>
          <a:xfrm>
            <a:off x="2827820" y="1345213"/>
            <a:ext cx="2975932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5" y="4478864"/>
            <a:ext cx="27432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D42784-F30A-9346-2F41-626B5609B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046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380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890" y="1752258"/>
            <a:ext cx="2743200" cy="22860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825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/>
          <p:nvPr/>
        </p:nvCxnSpPr>
        <p:spPr>
          <a:xfrm flipH="1">
            <a:off x="6998171" y="26209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F53181-C376-6142-F9FE-60D9A2E6A168}"/>
              </a:ext>
            </a:extLst>
          </p:cNvPr>
          <p:cNvCxnSpPr>
            <a:cxnSpLocks/>
          </p:cNvCxnSpPr>
          <p:nvPr/>
        </p:nvCxnSpPr>
        <p:spPr>
          <a:xfrm>
            <a:off x="7469099" y="26209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63699" y="23587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30308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3636735-C579-2BD9-BEFB-84FD44536D9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t="10326" r="37548"/>
          <a:stretch/>
        </p:blipFill>
        <p:spPr>
          <a:xfrm>
            <a:off x="10129352" y="102895"/>
            <a:ext cx="1711009" cy="149566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03891-3C36-2F51-7C38-128056AFB0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5" r="9899"/>
          <a:stretch/>
        </p:blipFill>
        <p:spPr>
          <a:xfrm>
            <a:off x="5093115" y="3424125"/>
            <a:ext cx="687395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F5E3EB-BD2F-9CBB-010F-5E6D396042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1" t="12180" r="72657" b="8591"/>
          <a:stretch/>
        </p:blipFill>
        <p:spPr>
          <a:xfrm>
            <a:off x="4545705" y="3777872"/>
            <a:ext cx="530834" cy="520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3245C-9BC0-A00E-3DBE-2EAB323FDA8C}"/>
              </a:ext>
            </a:extLst>
          </p:cNvPr>
          <p:cNvSpPr txBox="1"/>
          <p:nvPr/>
        </p:nvSpPr>
        <p:spPr>
          <a:xfrm>
            <a:off x="7296966" y="24960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</p:spTree>
    <p:extLst>
      <p:ext uri="{BB962C8B-B14F-4D97-AF65-F5344CB8AC3E}">
        <p14:creationId xmlns:p14="http://schemas.microsoft.com/office/powerpoint/2010/main" val="271807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860-1FEC-7394-5BD7-E4DBC658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OA vs. YA numerical differences are small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FDFD4-871A-26B5-5E13-08FEECF5A82F}"/>
              </a:ext>
            </a:extLst>
          </p:cNvPr>
          <p:cNvSpPr txBox="1"/>
          <p:nvPr/>
        </p:nvSpPr>
        <p:spPr>
          <a:xfrm>
            <a:off x="1121140" y="1644059"/>
            <a:ext cx="5719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EEE43-BDAF-D7E4-49EE-8C47AC000671}"/>
              </a:ext>
            </a:extLst>
          </p:cNvPr>
          <p:cNvSpPr txBox="1"/>
          <p:nvPr/>
        </p:nvSpPr>
        <p:spPr>
          <a:xfrm>
            <a:off x="6418541" y="1653348"/>
            <a:ext cx="571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374BA-FBDE-0B18-3A7F-A3D71C1F5B21}"/>
              </a:ext>
            </a:extLst>
          </p:cNvPr>
          <p:cNvSpPr txBox="1"/>
          <p:nvPr/>
        </p:nvSpPr>
        <p:spPr>
          <a:xfrm rot="16200000">
            <a:off x="-654617" y="2984647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Incongruent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28392-831D-3C6C-C9C0-927D01E975A6}"/>
              </a:ext>
            </a:extLst>
          </p:cNvPr>
          <p:cNvSpPr txBox="1"/>
          <p:nvPr/>
        </p:nvSpPr>
        <p:spPr>
          <a:xfrm rot="16200000">
            <a:off x="-654618" y="5351685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Congruent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A5AA37-C145-46D9-BCBD-397186CC7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008" y="2388848"/>
            <a:ext cx="5243871" cy="182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0BB6C6E-9763-3782-A132-15B7D807B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009" y="4573143"/>
            <a:ext cx="5243871" cy="1828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AE76A7-19DE-5560-9F97-83C780E53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37" y="2390545"/>
            <a:ext cx="5243871" cy="182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BB4443-1AE5-C7FC-B555-5E5FC83545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37" y="4573143"/>
            <a:ext cx="524387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9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4587360-5997-69EB-3DB5-1AB63E288D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97"/>
          <a:stretch/>
        </p:blipFill>
        <p:spPr>
          <a:xfrm>
            <a:off x="5722289" y="1343300"/>
            <a:ext cx="921283" cy="2971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D15E87-9DA2-498B-9B41-563605C858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8" r="37882"/>
          <a:stretch/>
        </p:blipFill>
        <p:spPr>
          <a:xfrm>
            <a:off x="2839487" y="1348956"/>
            <a:ext cx="2989739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FA14B-E9B3-6422-975B-0B58CBA129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2" t="11894" r="37254"/>
          <a:stretch/>
        </p:blipFill>
        <p:spPr>
          <a:xfrm>
            <a:off x="10144721" y="169726"/>
            <a:ext cx="1669608" cy="14314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Anterior temporal lobe (ATL)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>
            <a:cxnSpLocks/>
          </p:cNvCxnSpPr>
          <p:nvPr/>
        </p:nvCxnSpPr>
        <p:spPr>
          <a:xfrm flipH="1" flipV="1">
            <a:off x="6993633" y="3424125"/>
            <a:ext cx="1451728" cy="58195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 flipH="1" flipV="1">
            <a:off x="7707617" y="3579832"/>
            <a:ext cx="795706" cy="33840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09836" y="23331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28403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6E81B-F641-884D-DBD8-51E289171016}"/>
              </a:ext>
            </a:extLst>
          </p:cNvPr>
          <p:cNvSpPr txBox="1"/>
          <p:nvPr/>
        </p:nvSpPr>
        <p:spPr>
          <a:xfrm>
            <a:off x="7290813" y="2493392"/>
            <a:ext cx="405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F68237-B46F-6EE7-AF54-51B7C7D8E2C4}"/>
              </a:ext>
            </a:extLst>
          </p:cNvPr>
          <p:cNvCxnSpPr>
            <a:cxnSpLocks/>
          </p:cNvCxnSpPr>
          <p:nvPr/>
        </p:nvCxnSpPr>
        <p:spPr>
          <a:xfrm flipH="1">
            <a:off x="8556825" y="3011168"/>
            <a:ext cx="319230" cy="9209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43E0FC-F21E-300D-FC9E-5EE7CEC37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2" y="1807149"/>
            <a:ext cx="2743200" cy="228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FFEC89-C9E0-5E87-1542-F83411674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2" y="4437720"/>
            <a:ext cx="2743200" cy="228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DB4725-C862-11D8-EDDB-C3602BCB4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881" y="4437720"/>
            <a:ext cx="2743200" cy="228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9F8BA83-0AEC-6AC2-9FFF-380824F88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566" y="1790216"/>
            <a:ext cx="2743200" cy="228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5B3A941-80DD-4212-5063-45A89F1D2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8566" y="4437720"/>
            <a:ext cx="2743200" cy="228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A5A50A-AA21-B1A0-4BFD-A73CA40F6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0150" y="443772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D879-9B63-0697-3051-C31D6C5F9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18AE-DC14-7BD6-5C3D-D6F398192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09B8D-18BA-7FF4-5904-AF3B9DA6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83" y="4568662"/>
            <a:ext cx="5247633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B08ED-8AD8-EBF2-B86C-77E7835B9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183" y="2612737"/>
            <a:ext cx="524763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64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/>
          <a:stretch/>
        </p:blipFill>
        <p:spPr>
          <a:xfrm>
            <a:off x="3011860" y="1375311"/>
            <a:ext cx="6185214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725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764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264" y="1752258"/>
            <a:ext cx="2743200" cy="2286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28DEB9-E015-1B00-09CA-57D74B0A28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782"/>
          <a:stretch/>
        </p:blipFill>
        <p:spPr>
          <a:xfrm>
            <a:off x="5951246" y="1375311"/>
            <a:ext cx="2963368" cy="29718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6606248" y="2106343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096000" y="2830567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6836965" y="3070093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200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7659854" y="3408760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056165" y="2433156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04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EC47C-29EA-DB45-C2DB-0AAA0F53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565E6-92DC-6321-1E89-FE625C45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1C3D7-26DC-5473-2A0D-0A5ACD343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4544"/>
            <a:ext cx="12192000" cy="424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99759C-A932-9C00-A073-469C59561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4544"/>
            <a:ext cx="12192000" cy="424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3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2908</TotalTime>
  <Words>371</Words>
  <Application>Microsoft Office PowerPoint</Application>
  <PresentationFormat>Widescreen</PresentationFormat>
  <Paragraphs>86</Paragraphs>
  <Slides>19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 New</vt:lpstr>
      <vt:lpstr>Wingdings</vt:lpstr>
      <vt:lpstr>Office Theme</vt:lpstr>
      <vt:lpstr>SchemeRep</vt:lpstr>
      <vt:lpstr>Item category ANOVA</vt:lpstr>
      <vt:lpstr>Congruency t-test</vt:lpstr>
      <vt:lpstr>Congruency t-test</vt:lpstr>
      <vt:lpstr>Older adult sensitivity to congruency</vt:lpstr>
      <vt:lpstr>Main effect of age</vt:lpstr>
      <vt:lpstr>Anterior temporal lobe</vt:lpstr>
      <vt:lpstr>SchemeRep</vt:lpstr>
      <vt:lpstr>PowerPoint Presentation</vt:lpstr>
      <vt:lpstr>Activation-based analyses</vt:lpstr>
      <vt:lpstr>Scene RSA: Object presentation betas</vt:lpstr>
      <vt:lpstr>Scene RSA: Scene presentation betas</vt:lpstr>
      <vt:lpstr>Object RSA: Object presentation betas</vt:lpstr>
      <vt:lpstr>Inferior parietal lobule (IPL)</vt:lpstr>
      <vt:lpstr>OA vs. YA numerical differences are small</vt:lpstr>
      <vt:lpstr>Anterior temporal lobe (ATL)</vt:lpstr>
      <vt:lpstr>PowerPoint Presentation</vt:lpstr>
      <vt:lpstr>Inferior parietal lobule (IPL)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33</cp:revision>
  <dcterms:created xsi:type="dcterms:W3CDTF">2024-01-08T13:56:24Z</dcterms:created>
  <dcterms:modified xsi:type="dcterms:W3CDTF">2024-01-10T14:25:05Z</dcterms:modified>
</cp:coreProperties>
</file>