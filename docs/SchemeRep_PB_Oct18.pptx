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345" r:id="rId3"/>
    <p:sldId id="304" r:id="rId4"/>
    <p:sldId id="337" r:id="rId5"/>
    <p:sldId id="338" r:id="rId6"/>
    <p:sldId id="340" r:id="rId7"/>
    <p:sldId id="341" r:id="rId8"/>
    <p:sldId id="342" r:id="rId9"/>
    <p:sldId id="346" r:id="rId10"/>
    <p:sldId id="321" r:id="rId11"/>
    <p:sldId id="363" r:id="rId12"/>
    <p:sldId id="323" r:id="rId13"/>
    <p:sldId id="344" r:id="rId14"/>
    <p:sldId id="264" r:id="rId15"/>
    <p:sldId id="312" r:id="rId16"/>
    <p:sldId id="313" r:id="rId17"/>
    <p:sldId id="302" r:id="rId18"/>
    <p:sldId id="263" r:id="rId19"/>
    <p:sldId id="343" r:id="rId20"/>
    <p:sldId id="348" r:id="rId21"/>
    <p:sldId id="280" r:id="rId22"/>
    <p:sldId id="306" r:id="rId23"/>
    <p:sldId id="292" r:id="rId24"/>
    <p:sldId id="310" r:id="rId25"/>
    <p:sldId id="309" r:id="rId26"/>
    <p:sldId id="347" r:id="rId27"/>
    <p:sldId id="293" r:id="rId28"/>
    <p:sldId id="322" r:id="rId29"/>
    <p:sldId id="291" r:id="rId30"/>
    <p:sldId id="303" r:id="rId31"/>
    <p:sldId id="362" r:id="rId32"/>
    <p:sldId id="297" r:id="rId33"/>
    <p:sldId id="279" r:id="rId34"/>
    <p:sldId id="324" r:id="rId35"/>
    <p:sldId id="307" r:id="rId36"/>
    <p:sldId id="290" r:id="rId37"/>
    <p:sldId id="284" r:id="rId38"/>
    <p:sldId id="360" r:id="rId39"/>
    <p:sldId id="314" r:id="rId40"/>
    <p:sldId id="311" r:id="rId41"/>
    <p:sldId id="325" r:id="rId42"/>
    <p:sldId id="361" r:id="rId43"/>
    <p:sldId id="364" r:id="rId44"/>
    <p:sldId id="319" r:id="rId45"/>
    <p:sldId id="320" r:id="rId46"/>
    <p:sldId id="316" r:id="rId47"/>
    <p:sldId id="318" r:id="rId48"/>
    <p:sldId id="326" r:id="rId49"/>
    <p:sldId id="367" r:id="rId50"/>
    <p:sldId id="368" r:id="rId51"/>
    <p:sldId id="372" r:id="rId52"/>
    <p:sldId id="327" r:id="rId53"/>
    <p:sldId id="350" r:id="rId54"/>
    <p:sldId id="351" r:id="rId55"/>
    <p:sldId id="373" r:id="rId56"/>
    <p:sldId id="374" r:id="rId57"/>
    <p:sldId id="375" r:id="rId58"/>
    <p:sldId id="377" r:id="rId59"/>
    <p:sldId id="352" r:id="rId60"/>
    <p:sldId id="353" r:id="rId61"/>
    <p:sldId id="378" r:id="rId62"/>
    <p:sldId id="379" r:id="rId63"/>
    <p:sldId id="329" r:id="rId64"/>
    <p:sldId id="333" r:id="rId65"/>
    <p:sldId id="339" r:id="rId66"/>
    <p:sldId id="332" r:id="rId67"/>
    <p:sldId id="335" r:id="rId68"/>
    <p:sldId id="334" r:id="rId69"/>
    <p:sldId id="34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33CC33"/>
    <a:srgbClr val="FFCCCC"/>
    <a:srgbClr val="804710"/>
    <a:srgbClr val="00FFCC"/>
    <a:srgbClr val="D2E935"/>
    <a:srgbClr val="452A4F"/>
    <a:srgbClr val="FE962B"/>
    <a:srgbClr val="FDA631"/>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65" autoAdjust="0"/>
    <p:restoredTop sz="84848" autoAdjust="0"/>
  </p:normalViewPr>
  <p:slideViewPr>
    <p:cSldViewPr snapToGrid="0">
      <p:cViewPr>
        <p:scale>
          <a:sx n="75" d="100"/>
          <a:sy n="75" d="100"/>
        </p:scale>
        <p:origin x="2048" y="150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10/16/2023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Prediction error is not just an “outcome” of processing information but rather is a computational mechanism that influences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perceptional prediction error: car honking feels louder in a classroom than on a busy street</a:t>
            </a:r>
          </a:p>
          <a:p>
            <a:endParaRPr lang="en-US" dirty="0"/>
          </a:p>
          <a:p>
            <a:endParaRPr lang="en-US" dirty="0"/>
          </a:p>
          <a:p>
            <a:endParaRPr lang="en-US" dirty="0"/>
          </a:p>
          <a:p>
            <a:r>
              <a:rPr lang="en-US" dirty="0"/>
              <a:t>Meta analysis: </a:t>
            </a:r>
            <a:r>
              <a:rPr lang="en-US" b="0" i="0" dirty="0">
                <a:solidFill>
                  <a:srgbClr val="222222"/>
                </a:solidFill>
                <a:effectLst/>
                <a:latin typeface="Arial" panose="020B0604020202020204" pitchFamily="34" charset="0"/>
              </a:rPr>
              <a:t>Corlett, P. R., </a:t>
            </a:r>
            <a:r>
              <a:rPr lang="en-US" b="0" i="0" dirty="0" err="1">
                <a:solidFill>
                  <a:srgbClr val="222222"/>
                </a:solidFill>
                <a:effectLst/>
                <a:latin typeface="Arial" panose="020B0604020202020204" pitchFamily="34" charset="0"/>
              </a:rPr>
              <a:t>Mollick</a:t>
            </a:r>
            <a:r>
              <a:rPr lang="en-US" b="0" i="0" dirty="0">
                <a:solidFill>
                  <a:srgbClr val="222222"/>
                </a:solidFill>
                <a:effectLst/>
                <a:latin typeface="Arial" panose="020B0604020202020204" pitchFamily="34" charset="0"/>
              </a:rPr>
              <a:t>, J. A., &amp; </a:t>
            </a:r>
            <a:r>
              <a:rPr lang="en-US" b="0" i="0" dirty="0" err="1">
                <a:solidFill>
                  <a:srgbClr val="222222"/>
                </a:solidFill>
                <a:effectLst/>
                <a:latin typeface="Arial" panose="020B0604020202020204" pitchFamily="34" charset="0"/>
              </a:rPr>
              <a:t>Kober</a:t>
            </a:r>
            <a:r>
              <a:rPr lang="en-US" b="0" i="0" dirty="0">
                <a:solidFill>
                  <a:srgbClr val="222222"/>
                </a:solidFill>
                <a:effectLst/>
                <a:latin typeface="Arial" panose="020B0604020202020204" pitchFamily="34" charset="0"/>
              </a:rPr>
              <a:t>, H. (2022). Meta-analysis of human prediction error for incentives, perception, cognition, and action. </a:t>
            </a:r>
            <a:r>
              <a:rPr lang="en-US" b="0" i="1" dirty="0">
                <a:solidFill>
                  <a:srgbClr val="222222"/>
                </a:solidFill>
                <a:effectLst/>
                <a:latin typeface="Arial" panose="020B0604020202020204" pitchFamily="34" charset="0"/>
              </a:rPr>
              <a:t>Neuropsychopharmacology</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47</a:t>
            </a:r>
            <a:r>
              <a:rPr lang="en-US" b="0" i="0" dirty="0">
                <a:solidFill>
                  <a:srgbClr val="222222"/>
                </a:solidFill>
                <a:effectLst/>
                <a:latin typeface="Arial" panose="020B0604020202020204" pitchFamily="34" charset="0"/>
              </a:rPr>
              <a:t>(7), 1339-1349.</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Perception results: Iglesias, S., </a:t>
            </a:r>
            <a:r>
              <a:rPr lang="en-US" b="0" i="0" dirty="0" err="1">
                <a:solidFill>
                  <a:srgbClr val="222222"/>
                </a:solidFill>
                <a:effectLst/>
                <a:latin typeface="Arial" panose="020B0604020202020204" pitchFamily="34" charset="0"/>
              </a:rPr>
              <a:t>Mathys</a:t>
            </a:r>
            <a:r>
              <a:rPr lang="en-US" b="0" i="0" dirty="0">
                <a:solidFill>
                  <a:srgbClr val="222222"/>
                </a:solidFill>
                <a:effectLst/>
                <a:latin typeface="Arial" panose="020B0604020202020204" pitchFamily="34" charset="0"/>
              </a:rPr>
              <a:t>, C., </a:t>
            </a:r>
            <a:r>
              <a:rPr lang="en-US" b="0" i="0" dirty="0" err="1">
                <a:solidFill>
                  <a:srgbClr val="222222"/>
                </a:solidFill>
                <a:effectLst/>
                <a:latin typeface="Arial" panose="020B0604020202020204" pitchFamily="34" charset="0"/>
              </a:rPr>
              <a:t>Brodersen</a:t>
            </a:r>
            <a:r>
              <a:rPr lang="en-US" b="0" i="0" dirty="0">
                <a:solidFill>
                  <a:srgbClr val="222222"/>
                </a:solidFill>
                <a:effectLst/>
                <a:latin typeface="Arial" panose="020B0604020202020204" pitchFamily="34" charset="0"/>
              </a:rPr>
              <a:t>, K. H., Kasper, L., </a:t>
            </a:r>
            <a:r>
              <a:rPr lang="en-US" b="0" i="0" dirty="0" err="1">
                <a:solidFill>
                  <a:srgbClr val="222222"/>
                </a:solidFill>
                <a:effectLst/>
                <a:latin typeface="Arial" panose="020B0604020202020204" pitchFamily="34" charset="0"/>
              </a:rPr>
              <a:t>Piccirelli</a:t>
            </a:r>
            <a:r>
              <a:rPr lang="en-US" b="0" i="0" dirty="0">
                <a:solidFill>
                  <a:srgbClr val="222222"/>
                </a:solidFill>
                <a:effectLst/>
                <a:latin typeface="Arial" panose="020B0604020202020204" pitchFamily="34" charset="0"/>
              </a:rPr>
              <a:t>, M., den Ouden, H. E., &amp; Stephan, K. E. (2013). Hierarchical prediction errors in midbrain and basal forebrain during sensory learning. </a:t>
            </a:r>
            <a:r>
              <a:rPr lang="en-US" b="0" i="1" dirty="0">
                <a:solidFill>
                  <a:srgbClr val="222222"/>
                </a:solidFill>
                <a:effectLst/>
                <a:latin typeface="Arial" panose="020B0604020202020204" pitchFamily="34" charset="0"/>
              </a:rPr>
              <a:t>Neuron</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80</a:t>
            </a:r>
            <a:r>
              <a:rPr lang="en-US" b="0" i="0" dirty="0">
                <a:solidFill>
                  <a:srgbClr val="222222"/>
                </a:solidFill>
                <a:effectLst/>
                <a:latin typeface="Arial" panose="020B0604020202020204" pitchFamily="34" charset="0"/>
              </a:rPr>
              <a:t>(2), 519-530.</a:t>
            </a:r>
          </a:p>
          <a:p>
            <a:pPr marL="171450" indent="-171450">
              <a:buFont typeface="Arial" panose="020B0604020202020204" pitchFamily="34" charset="0"/>
              <a:buChar char="•"/>
            </a:pP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dlPFC</a:t>
            </a:r>
            <a:r>
              <a:rPr lang="en-US" b="0" i="0" dirty="0">
                <a:solidFill>
                  <a:srgbClr val="222222"/>
                </a:solidFill>
                <a:effectLst/>
                <a:latin typeface="Arial" panose="020B0604020202020204" pitchFamily="34" charset="0"/>
              </a:rPr>
              <a:t> result (IFG and MFG)</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14</a:t>
            </a:fld>
            <a:endParaRPr lang="en-US"/>
          </a:p>
        </p:txBody>
      </p:sp>
    </p:spTree>
    <p:extLst>
      <p:ext uri="{BB962C8B-B14F-4D97-AF65-F5344CB8AC3E}">
        <p14:creationId xmlns:p14="http://schemas.microsoft.com/office/powerpoint/2010/main" val="403280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16</a:t>
            </a:fld>
            <a:endParaRPr lang="en-US"/>
          </a:p>
        </p:txBody>
      </p:sp>
    </p:spTree>
    <p:extLst>
      <p:ext uri="{BB962C8B-B14F-4D97-AF65-F5344CB8AC3E}">
        <p14:creationId xmlns:p14="http://schemas.microsoft.com/office/powerpoint/2010/main" val="145423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18</a:t>
            </a:fld>
            <a:endParaRPr lang="en-US"/>
          </a:p>
        </p:txBody>
      </p:sp>
    </p:spTree>
    <p:extLst>
      <p:ext uri="{BB962C8B-B14F-4D97-AF65-F5344CB8AC3E}">
        <p14:creationId xmlns:p14="http://schemas.microsoft.com/office/powerpoint/2010/main" val="138814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Notably organized into:</a:t>
            </a:r>
          </a:p>
          <a:p>
            <a:pPr lvl="1"/>
            <a:r>
              <a:rPr lang="en-US" dirty="0"/>
              <a:t>EVC</a:t>
            </a:r>
          </a:p>
          <a:p>
            <a:pPr lvl="1"/>
            <a:r>
              <a:rPr lang="en-US" dirty="0"/>
              <a:t>LOC</a:t>
            </a:r>
          </a:p>
          <a:p>
            <a:pPr lvl="1"/>
            <a:r>
              <a:rPr lang="en-US" dirty="0" err="1"/>
              <a:t>FuG</a:t>
            </a:r>
            <a:endParaRPr lang="en-US" dirty="0"/>
          </a:p>
          <a:p>
            <a:pPr lvl="1"/>
            <a:r>
              <a:rPr lang="en-US" dirty="0"/>
              <a:t>ATL</a:t>
            </a:r>
          </a:p>
          <a:p>
            <a:pPr lvl="1"/>
            <a:r>
              <a:rPr lang="en-US" dirty="0"/>
              <a:t>Hippocampus</a:t>
            </a:r>
          </a:p>
          <a:p>
            <a:pPr lvl="1"/>
            <a:r>
              <a:rPr lang="en-US" dirty="0"/>
              <a:t>IFG</a:t>
            </a:r>
          </a:p>
          <a:p>
            <a:pPr lvl="1"/>
            <a:r>
              <a:rPr lang="en-US" dirty="0"/>
              <a:t>MFG</a:t>
            </a:r>
          </a:p>
          <a:p>
            <a:pPr lvl="1"/>
            <a:r>
              <a:rPr lang="en-US" dirty="0"/>
              <a:t>SFG</a:t>
            </a:r>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2792093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22</a:t>
            </a:fld>
            <a:endParaRPr lang="en-US"/>
          </a:p>
        </p:txBody>
      </p:sp>
    </p:spTree>
    <p:extLst>
      <p:ext uri="{BB962C8B-B14F-4D97-AF65-F5344CB8AC3E}">
        <p14:creationId xmlns:p14="http://schemas.microsoft.com/office/powerpoint/2010/main" val="27274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1101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89373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hoc tests on bilateral SFG, for the eight </a:t>
            </a:r>
            <a:r>
              <a:rPr lang="en-US" dirty="0" err="1"/>
              <a:t>dmPFC</a:t>
            </a:r>
            <a:r>
              <a:rPr lang="en-US" dirty="0"/>
              <a:t> ROIs, t = 4.14. For the six </a:t>
            </a:r>
            <a:r>
              <a:rPr lang="en-US" dirty="0" err="1"/>
              <a:t>dlPFC</a:t>
            </a:r>
            <a:r>
              <a:rPr lang="en-US" dirty="0"/>
              <a:t> ROIs, t = 2.94. SFG bilateral altogether is 4.17.</a:t>
            </a:r>
          </a:p>
          <a:p>
            <a:r>
              <a:rPr lang="en-US" dirty="0" err="1"/>
              <a:t>mPFC</a:t>
            </a:r>
            <a:r>
              <a:rPr lang="en-US" dirty="0"/>
              <a:t> overall (including some orbital and CG, yields 3.85. Excluding CG, we get 3.6. </a:t>
            </a:r>
          </a:p>
        </p:txBody>
      </p:sp>
      <p:sp>
        <p:nvSpPr>
          <p:cNvPr id="4" name="Slide Number Placeholder 3"/>
          <p:cNvSpPr>
            <a:spLocks noGrp="1"/>
          </p:cNvSpPr>
          <p:nvPr>
            <p:ph type="sldNum" sz="quarter" idx="5"/>
          </p:nvPr>
        </p:nvSpPr>
        <p:spPr/>
        <p:txBody>
          <a:bodyPr/>
          <a:lstStyle/>
          <a:p>
            <a:fld id="{92E3E675-13CA-4196-84E5-E684757DD2A6}" type="slidenum">
              <a:rPr lang="en-US" smtClean="0"/>
              <a:t>32</a:t>
            </a:fld>
            <a:endParaRPr lang="en-US"/>
          </a:p>
        </p:txBody>
      </p:sp>
    </p:spTree>
    <p:extLst>
      <p:ext uri="{BB962C8B-B14F-4D97-AF65-F5344CB8AC3E}">
        <p14:creationId xmlns:p14="http://schemas.microsoft.com/office/powerpoint/2010/main" val="649563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884785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35</a:t>
            </a:fld>
            <a:endParaRPr lang="en-US"/>
          </a:p>
        </p:txBody>
      </p:sp>
    </p:spTree>
    <p:extLst>
      <p:ext uri="{BB962C8B-B14F-4D97-AF65-F5344CB8AC3E}">
        <p14:creationId xmlns:p14="http://schemas.microsoft.com/office/powerpoint/2010/main" val="212875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261971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Possibly also entails retrieving an “action”</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49</a:t>
            </a:fld>
            <a:endParaRPr lang="en-US"/>
          </a:p>
        </p:txBody>
      </p:sp>
    </p:spTree>
    <p:extLst>
      <p:ext uri="{BB962C8B-B14F-4D97-AF65-F5344CB8AC3E}">
        <p14:creationId xmlns:p14="http://schemas.microsoft.com/office/powerpoint/2010/main" val="1211337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3283560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52</a:t>
            </a:fld>
            <a:endParaRPr lang="en-US"/>
          </a:p>
        </p:txBody>
      </p:sp>
    </p:spTree>
    <p:extLst>
      <p:ext uri="{BB962C8B-B14F-4D97-AF65-F5344CB8AC3E}">
        <p14:creationId xmlns:p14="http://schemas.microsoft.com/office/powerpoint/2010/main" val="34929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p>
          <a:p>
            <a:pPr lvl="1"/>
            <a:r>
              <a:rPr lang="en-US" dirty="0"/>
              <a:t>Must be in a single session or else memory will degrade too much</a:t>
            </a:r>
          </a:p>
          <a:p>
            <a:pPr lvl="1"/>
            <a:r>
              <a:rPr lang="en-US" dirty="0"/>
              <a:t>Could vary the encoding question to be about different stimulus properties (e.g., Corish/k-crops perceptual vs. conceptual question)</a:t>
            </a:r>
          </a:p>
          <a:p>
            <a:pPr lvl="1"/>
            <a:r>
              <a:rPr lang="en-US" dirty="0"/>
              <a:t>Using the cue in an R/K test means it shouldn’t be repeated?</a:t>
            </a:r>
          </a:p>
          <a:p>
            <a:pPr lvl="1"/>
            <a:r>
              <a:rPr lang="en-US" dirty="0"/>
              <a:t>Could investigate memory for directionality accuracy, but I’m not sure how interesting that is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53</a:t>
            </a:fld>
            <a:endParaRPr lang="en-US"/>
          </a:p>
        </p:txBody>
      </p:sp>
    </p:spTree>
    <p:extLst>
      <p:ext uri="{BB962C8B-B14F-4D97-AF65-F5344CB8AC3E}">
        <p14:creationId xmlns:p14="http://schemas.microsoft.com/office/powerpoint/2010/main" val="2886059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This analysis is premised on the idea that (1) how relations are encoded depends on the information being encoded and (2) this contingency is captured by the stimulus features we can model, e.g., with a DNN or word2vec</a:t>
            </a:r>
          </a:p>
          <a:p>
            <a:pPr lvl="1"/>
            <a:r>
              <a:rPr lang="en-US" sz="1200" dirty="0"/>
              <a:t>However, what if relational memory encoding isn’t tracked by our stimulus features</a:t>
            </a:r>
          </a:p>
          <a:p>
            <a:endParaRPr lang="en-US" dirty="0"/>
          </a:p>
          <a:p>
            <a:endParaRPr lang="en-US" dirty="0"/>
          </a:p>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55</a:t>
            </a:fld>
            <a:endParaRPr lang="en-US"/>
          </a:p>
        </p:txBody>
      </p:sp>
    </p:spTree>
    <p:extLst>
      <p:ext uri="{BB962C8B-B14F-4D97-AF65-F5344CB8AC3E}">
        <p14:creationId xmlns:p14="http://schemas.microsoft.com/office/powerpoint/2010/main" val="1491183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56</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57</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59</a:t>
            </a:fld>
            <a:endParaRPr lang="en-US"/>
          </a:p>
        </p:txBody>
      </p:sp>
    </p:spTree>
    <p:extLst>
      <p:ext uri="{BB962C8B-B14F-4D97-AF65-F5344CB8AC3E}">
        <p14:creationId xmlns:p14="http://schemas.microsoft.com/office/powerpoint/2010/main" val="3735895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63</a:t>
            </a:fld>
            <a:endParaRPr lang="en-US"/>
          </a:p>
        </p:txBody>
      </p:sp>
    </p:spTree>
    <p:extLst>
      <p:ext uri="{BB962C8B-B14F-4D97-AF65-F5344CB8AC3E}">
        <p14:creationId xmlns:p14="http://schemas.microsoft.com/office/powerpoint/2010/main" val="3524694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64</a:t>
            </a:fld>
            <a:endParaRPr lang="en-US"/>
          </a:p>
        </p:txBody>
      </p:sp>
    </p:spTree>
    <p:extLst>
      <p:ext uri="{BB962C8B-B14F-4D97-AF65-F5344CB8AC3E}">
        <p14:creationId xmlns:p14="http://schemas.microsoft.com/office/powerpoint/2010/main" val="3613484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10/16/2023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image" Target="../media/image49.png"/><Relationship Id="rId7" Type="http://schemas.openxmlformats.org/officeDocument/2006/relationships/image" Target="../media/image57.emf"/><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err="1"/>
              <a:t>Lifu</a:t>
            </a:r>
            <a:r>
              <a:rPr lang="en-US" dirty="0"/>
              <a:t> dissertation 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1309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3</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0860-80A0-A5D8-31FD-5B678ADD9780}"/>
              </a:ext>
            </a:extLst>
          </p:cNvPr>
          <p:cNvSpPr>
            <a:spLocks noGrp="1"/>
          </p:cNvSpPr>
          <p:nvPr>
            <p:ph type="title"/>
          </p:nvPr>
        </p:nvSpPr>
        <p:spPr>
          <a:xfrm>
            <a:off x="838200" y="64028"/>
            <a:ext cx="10515600" cy="1325563"/>
          </a:xfrm>
        </p:spPr>
        <p:txBody>
          <a:bodyPr/>
          <a:lstStyle/>
          <a:p>
            <a:r>
              <a:rPr lang="en-US" dirty="0" err="1"/>
              <a:t>Lifu</a:t>
            </a:r>
            <a:r>
              <a:rPr lang="en-US" dirty="0"/>
              <a:t> results 1.1</a:t>
            </a:r>
          </a:p>
        </p:txBody>
      </p:sp>
      <p:pic>
        <p:nvPicPr>
          <p:cNvPr id="4" name="Picture 3">
            <a:extLst>
              <a:ext uri="{FF2B5EF4-FFF2-40B4-BE49-F238E27FC236}">
                <a16:creationId xmlns:a16="http://schemas.microsoft.com/office/drawing/2014/main" id="{B0E68DB2-12DF-FE7B-2599-AD2C9B0CA7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2933" y="1389591"/>
            <a:ext cx="9626600" cy="5284259"/>
          </a:xfrm>
          <a:prstGeom prst="rect">
            <a:avLst/>
          </a:prstGeom>
        </p:spPr>
      </p:pic>
    </p:spTree>
    <p:extLst>
      <p:ext uri="{BB962C8B-B14F-4D97-AF65-F5344CB8AC3E}">
        <p14:creationId xmlns:p14="http://schemas.microsoft.com/office/powerpoint/2010/main" val="81017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9D68-F79D-B51D-788F-4F35332A9836}"/>
              </a:ext>
            </a:extLst>
          </p:cNvPr>
          <p:cNvSpPr>
            <a:spLocks noGrp="1"/>
          </p:cNvSpPr>
          <p:nvPr>
            <p:ph type="title"/>
          </p:nvPr>
        </p:nvSpPr>
        <p:spPr>
          <a:xfrm>
            <a:off x="838200" y="-109008"/>
            <a:ext cx="10515600" cy="1325563"/>
          </a:xfrm>
        </p:spPr>
        <p:txBody>
          <a:bodyPr/>
          <a:lstStyle/>
          <a:p>
            <a:r>
              <a:rPr lang="en-US" dirty="0" err="1"/>
              <a:t>Lifu</a:t>
            </a:r>
            <a:r>
              <a:rPr lang="en-US" dirty="0"/>
              <a:t> Results 1.2</a:t>
            </a:r>
          </a:p>
        </p:txBody>
      </p:sp>
      <p:pic>
        <p:nvPicPr>
          <p:cNvPr id="4" name="Picture 3">
            <a:extLst>
              <a:ext uri="{FF2B5EF4-FFF2-40B4-BE49-F238E27FC236}">
                <a16:creationId xmlns:a16="http://schemas.microsoft.com/office/drawing/2014/main" id="{A88DC341-A9D3-D198-B0CC-9EE3631214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65641" y="1024466"/>
            <a:ext cx="8657518" cy="5652995"/>
          </a:xfrm>
          <a:prstGeom prst="rect">
            <a:avLst/>
          </a:prstGeom>
        </p:spPr>
      </p:pic>
    </p:spTree>
    <p:extLst>
      <p:ext uri="{BB962C8B-B14F-4D97-AF65-F5344CB8AC3E}">
        <p14:creationId xmlns:p14="http://schemas.microsoft.com/office/powerpoint/2010/main" val="407886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A18-F415-5ED1-9132-CF7DEB077D05}"/>
              </a:ext>
            </a:extLst>
          </p:cNvPr>
          <p:cNvSpPr>
            <a:spLocks noGrp="1"/>
          </p:cNvSpPr>
          <p:nvPr>
            <p:ph type="title"/>
          </p:nvPr>
        </p:nvSpPr>
        <p:spPr/>
        <p:txBody>
          <a:bodyPr/>
          <a:lstStyle/>
          <a:p>
            <a:r>
              <a:rPr lang="en-US" dirty="0" err="1"/>
              <a:t>Lifu</a:t>
            </a:r>
            <a:r>
              <a:rPr lang="en-US" dirty="0"/>
              <a:t> Results 2.1</a:t>
            </a:r>
          </a:p>
        </p:txBody>
      </p:sp>
      <p:sp>
        <p:nvSpPr>
          <p:cNvPr id="3" name="Content Placeholder 2">
            <a:extLst>
              <a:ext uri="{FF2B5EF4-FFF2-40B4-BE49-F238E27FC236}">
                <a16:creationId xmlns:a16="http://schemas.microsoft.com/office/drawing/2014/main" id="{4B3EE3A3-2685-9FD4-0629-F08BD078482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68065EB-3E6B-DC6B-8FAD-231C96BE68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283" y="1630891"/>
            <a:ext cx="10627433" cy="4486275"/>
          </a:xfrm>
          <a:prstGeom prst="rect">
            <a:avLst/>
          </a:prstGeom>
        </p:spPr>
      </p:pic>
    </p:spTree>
    <p:extLst>
      <p:ext uri="{BB962C8B-B14F-4D97-AF65-F5344CB8AC3E}">
        <p14:creationId xmlns:p14="http://schemas.microsoft.com/office/powerpoint/2010/main" val="285625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7164-22BE-C244-BF7E-2CC91AF6FE3D}"/>
              </a:ext>
            </a:extLst>
          </p:cNvPr>
          <p:cNvSpPr>
            <a:spLocks noGrp="1"/>
          </p:cNvSpPr>
          <p:nvPr>
            <p:ph type="title"/>
          </p:nvPr>
        </p:nvSpPr>
        <p:spPr/>
        <p:txBody>
          <a:bodyPr/>
          <a:lstStyle/>
          <a:p>
            <a:r>
              <a:rPr lang="en-US" dirty="0" err="1"/>
              <a:t>Lifu</a:t>
            </a:r>
            <a:r>
              <a:rPr lang="en-US" dirty="0"/>
              <a:t> Results 2.2</a:t>
            </a:r>
          </a:p>
        </p:txBody>
      </p:sp>
      <p:sp>
        <p:nvSpPr>
          <p:cNvPr id="3" name="Content Placeholder 2">
            <a:extLst>
              <a:ext uri="{FF2B5EF4-FFF2-40B4-BE49-F238E27FC236}">
                <a16:creationId xmlns:a16="http://schemas.microsoft.com/office/drawing/2014/main" id="{215AAF47-1FEB-CE73-2786-BC73614AF84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4E777CD-76FA-4D53-3344-629C9632F8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04349" y="1589088"/>
            <a:ext cx="7783301" cy="5073001"/>
          </a:xfrm>
          <a:prstGeom prst="rect">
            <a:avLst/>
          </a:prstGeom>
        </p:spPr>
      </p:pic>
    </p:spTree>
    <p:extLst>
      <p:ext uri="{BB962C8B-B14F-4D97-AF65-F5344CB8AC3E}">
        <p14:creationId xmlns:p14="http://schemas.microsoft.com/office/powerpoint/2010/main" val="90725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724A-15D9-E3AC-8A14-1D336E3839ED}"/>
              </a:ext>
            </a:extLst>
          </p:cNvPr>
          <p:cNvSpPr>
            <a:spLocks noGrp="1"/>
          </p:cNvSpPr>
          <p:nvPr>
            <p:ph type="title"/>
          </p:nvPr>
        </p:nvSpPr>
        <p:spPr/>
        <p:txBody>
          <a:bodyPr/>
          <a:lstStyle/>
          <a:p>
            <a:r>
              <a:rPr lang="en-US" dirty="0" err="1"/>
              <a:t>Lifu</a:t>
            </a:r>
            <a:r>
              <a:rPr lang="en-US" dirty="0"/>
              <a:t> Results 2.3</a:t>
            </a:r>
          </a:p>
        </p:txBody>
      </p:sp>
      <p:sp>
        <p:nvSpPr>
          <p:cNvPr id="3" name="Content Placeholder 2">
            <a:extLst>
              <a:ext uri="{FF2B5EF4-FFF2-40B4-BE49-F238E27FC236}">
                <a16:creationId xmlns:a16="http://schemas.microsoft.com/office/drawing/2014/main" id="{958EDBC8-F1B4-99DA-03A3-4A9439880E5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F8A8033-FECC-1A17-76DD-9761D168FD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3269" y="1825625"/>
            <a:ext cx="11445024" cy="4216664"/>
          </a:xfrm>
          <a:prstGeom prst="rect">
            <a:avLst/>
          </a:prstGeom>
        </p:spPr>
      </p:pic>
    </p:spTree>
    <p:extLst>
      <p:ext uri="{BB962C8B-B14F-4D97-AF65-F5344CB8AC3E}">
        <p14:creationId xmlns:p14="http://schemas.microsoft.com/office/powerpoint/2010/main" val="74277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normAutofit/>
          </a:bodyPr>
          <a:lstStyle/>
          <a:p>
            <a:r>
              <a:rPr lang="en-US" sz="5400" dirty="0"/>
              <a:t>Warning: Results may shift</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39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B651484-7A4A-6595-D8C4-5E593876A968}"/>
              </a:ext>
            </a:extLst>
          </p:cNvPr>
          <p:cNvPicPr>
            <a:picLocks noChangeAspect="1"/>
          </p:cNvPicPr>
          <p:nvPr/>
        </p:nvPicPr>
        <p:blipFill>
          <a:blip r:embed="rId2"/>
          <a:stretch>
            <a:fillRect/>
          </a:stretch>
        </p:blipFill>
        <p:spPr>
          <a:xfrm>
            <a:off x="7597540" y="2692667"/>
            <a:ext cx="4572000" cy="3429000"/>
          </a:xfrm>
          <a:prstGeom prst="rect">
            <a:avLst/>
          </a:prstGeom>
        </p:spPr>
      </p:pic>
      <p:pic>
        <p:nvPicPr>
          <p:cNvPr id="24" name="Picture 23">
            <a:extLst>
              <a:ext uri="{FF2B5EF4-FFF2-40B4-BE49-F238E27FC236}">
                <a16:creationId xmlns:a16="http://schemas.microsoft.com/office/drawing/2014/main" id="{848884DF-FF34-E897-7836-C70AE094E269}"/>
              </a:ext>
            </a:extLst>
          </p:cNvPr>
          <p:cNvPicPr>
            <a:picLocks noChangeAspect="1"/>
          </p:cNvPicPr>
          <p:nvPr/>
        </p:nvPicPr>
        <p:blipFill>
          <a:blip r:embed="rId3"/>
          <a:stretch>
            <a:fillRect/>
          </a:stretch>
        </p:blipFill>
        <p:spPr>
          <a:xfrm>
            <a:off x="3605166" y="2692667"/>
            <a:ext cx="4572000" cy="3429000"/>
          </a:xfrm>
          <a:prstGeom prst="rect">
            <a:avLst/>
          </a:prstGeom>
        </p:spPr>
      </p:pic>
      <p:sp>
        <p:nvSpPr>
          <p:cNvPr id="2" name="Title 1">
            <a:extLst>
              <a:ext uri="{FF2B5EF4-FFF2-40B4-BE49-F238E27FC236}">
                <a16:creationId xmlns:a16="http://schemas.microsoft.com/office/drawing/2014/main" id="{56B40001-D83E-48BD-85C6-89975C92760A}"/>
              </a:ext>
            </a:extLst>
          </p:cNvPr>
          <p:cNvSpPr>
            <a:spLocks noGrp="1"/>
          </p:cNvSpPr>
          <p:nvPr>
            <p:ph type="title"/>
          </p:nvPr>
        </p:nvSpPr>
        <p:spPr>
          <a:xfrm>
            <a:off x="838200" y="0"/>
            <a:ext cx="10515600" cy="1325563"/>
          </a:xfrm>
        </p:spPr>
        <p:txBody>
          <a:bodyPr/>
          <a:lstStyle/>
          <a:p>
            <a:r>
              <a:rPr lang="en-US" dirty="0"/>
              <a:t>Preprocessing</a:t>
            </a:r>
          </a:p>
        </p:txBody>
      </p:sp>
      <p:sp>
        <p:nvSpPr>
          <p:cNvPr id="3" name="Content Placeholder 2">
            <a:extLst>
              <a:ext uri="{FF2B5EF4-FFF2-40B4-BE49-F238E27FC236}">
                <a16:creationId xmlns:a16="http://schemas.microsoft.com/office/drawing/2014/main" id="{9824CF99-FDDD-8605-DF0C-7277040548AA}"/>
              </a:ext>
            </a:extLst>
          </p:cNvPr>
          <p:cNvSpPr>
            <a:spLocks noGrp="1"/>
          </p:cNvSpPr>
          <p:nvPr>
            <p:ph idx="1"/>
          </p:nvPr>
        </p:nvSpPr>
        <p:spPr>
          <a:xfrm>
            <a:off x="838200" y="1253331"/>
            <a:ext cx="10515600" cy="4351338"/>
          </a:xfrm>
        </p:spPr>
        <p:txBody>
          <a:bodyPr/>
          <a:lstStyle/>
          <a:p>
            <a:r>
              <a:rPr lang="en-US" dirty="0"/>
              <a:t>As Cortney said, the data will be preprocessed again</a:t>
            </a:r>
          </a:p>
          <a:p>
            <a:r>
              <a:rPr lang="en-US" dirty="0"/>
              <a:t>Also, as we discussed in the lab meeting, we will need to discuss exactly what will be done about the within-run point</a:t>
            </a:r>
          </a:p>
          <a:p>
            <a:pPr lvl="1"/>
            <a:endParaRPr lang="en-US" dirty="0"/>
          </a:p>
        </p:txBody>
      </p:sp>
      <p:pic>
        <p:nvPicPr>
          <p:cNvPr id="22" name="Picture 21">
            <a:extLst>
              <a:ext uri="{FF2B5EF4-FFF2-40B4-BE49-F238E27FC236}">
                <a16:creationId xmlns:a16="http://schemas.microsoft.com/office/drawing/2014/main" id="{B1FFB0B6-5883-5045-0BE7-1335802713D9}"/>
              </a:ext>
            </a:extLst>
          </p:cNvPr>
          <p:cNvPicPr>
            <a:picLocks noChangeAspect="1"/>
          </p:cNvPicPr>
          <p:nvPr/>
        </p:nvPicPr>
        <p:blipFill rotWithShape="1">
          <a:blip r:embed="rId4"/>
          <a:srcRect l="9936" r="3889"/>
          <a:stretch/>
        </p:blipFill>
        <p:spPr>
          <a:xfrm>
            <a:off x="174861" y="2692667"/>
            <a:ext cx="3939940" cy="3429000"/>
          </a:xfrm>
          <a:prstGeom prst="rect">
            <a:avLst/>
          </a:prstGeom>
        </p:spPr>
      </p:pic>
      <p:sp>
        <p:nvSpPr>
          <p:cNvPr id="27" name="TextBox 26">
            <a:extLst>
              <a:ext uri="{FF2B5EF4-FFF2-40B4-BE49-F238E27FC236}">
                <a16:creationId xmlns:a16="http://schemas.microsoft.com/office/drawing/2014/main" id="{44DC3259-C257-2A25-AB85-CDC6B498ADD4}"/>
              </a:ext>
            </a:extLst>
          </p:cNvPr>
          <p:cNvSpPr txBox="1"/>
          <p:nvPr/>
        </p:nvSpPr>
        <p:spPr>
          <a:xfrm>
            <a:off x="393121" y="6121667"/>
            <a:ext cx="11271034" cy="369332"/>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also questions about what exactly it means to “regress out” (e.g., should it be done run by run?)</a:t>
            </a:r>
          </a:p>
        </p:txBody>
      </p:sp>
    </p:spTree>
    <p:extLst>
      <p:ext uri="{BB962C8B-B14F-4D97-AF65-F5344CB8AC3E}">
        <p14:creationId xmlns:p14="http://schemas.microsoft.com/office/powerpoint/2010/main" val="1414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EC47-EFFD-F52D-16CF-4B4258AC3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4122AC-1970-3011-F088-636767DAB897}"/>
              </a:ext>
            </a:extLst>
          </p:cNvPr>
          <p:cNvSpPr>
            <a:spLocks noGrp="1"/>
          </p:cNvSpPr>
          <p:nvPr>
            <p:ph idx="1"/>
          </p:nvPr>
        </p:nvSpPr>
        <p:spPr/>
        <p:txBody>
          <a:bodyPr/>
          <a:lstStyle/>
          <a:p>
            <a:r>
              <a:rPr lang="en-US" dirty="0"/>
              <a:t>L_ATL for 102</a:t>
            </a:r>
          </a:p>
        </p:txBody>
      </p:sp>
      <p:pic>
        <p:nvPicPr>
          <p:cNvPr id="7" name="Picture 6">
            <a:extLst>
              <a:ext uri="{FF2B5EF4-FFF2-40B4-BE49-F238E27FC236}">
                <a16:creationId xmlns:a16="http://schemas.microsoft.com/office/drawing/2014/main" id="{8A0A50D0-526A-49ED-9A55-4346B9254A59}"/>
              </a:ext>
            </a:extLst>
          </p:cNvPr>
          <p:cNvPicPr>
            <a:picLocks noChangeAspect="1"/>
          </p:cNvPicPr>
          <p:nvPr/>
        </p:nvPicPr>
        <p:blipFill>
          <a:blip r:embed="rId2"/>
          <a:stretch>
            <a:fillRect/>
          </a:stretch>
        </p:blipFill>
        <p:spPr>
          <a:xfrm>
            <a:off x="5067300" y="1524000"/>
            <a:ext cx="6096000" cy="4572000"/>
          </a:xfrm>
          <a:prstGeom prst="rect">
            <a:avLst/>
          </a:prstGeom>
        </p:spPr>
      </p:pic>
    </p:spTree>
    <p:extLst>
      <p:ext uri="{BB962C8B-B14F-4D97-AF65-F5344CB8AC3E}">
        <p14:creationId xmlns:p14="http://schemas.microsoft.com/office/powerpoint/2010/main" val="32370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3E52-1763-99E7-19BE-A4ADDB51E7EE}"/>
              </a:ext>
            </a:extLst>
          </p:cNvPr>
          <p:cNvSpPr>
            <a:spLocks noGrp="1"/>
          </p:cNvSpPr>
          <p:nvPr>
            <p:ph type="title"/>
          </p:nvPr>
        </p:nvSpPr>
        <p:spPr>
          <a:xfrm>
            <a:off x="838200" y="0"/>
            <a:ext cx="10515600" cy="1325563"/>
          </a:xfrm>
        </p:spPr>
        <p:txBody>
          <a:bodyPr/>
          <a:lstStyle/>
          <a:p>
            <a:r>
              <a:rPr lang="en-US" dirty="0"/>
              <a:t>Emerging property</a:t>
            </a:r>
          </a:p>
        </p:txBody>
      </p:sp>
      <p:sp>
        <p:nvSpPr>
          <p:cNvPr id="3" name="Content Placeholder 2">
            <a:extLst>
              <a:ext uri="{FF2B5EF4-FFF2-40B4-BE49-F238E27FC236}">
                <a16:creationId xmlns:a16="http://schemas.microsoft.com/office/drawing/2014/main" id="{136B450B-8CD0-7D7E-BB6E-2C56A686C674}"/>
              </a:ext>
            </a:extLst>
          </p:cNvPr>
          <p:cNvSpPr>
            <a:spLocks noGrp="1"/>
          </p:cNvSpPr>
          <p:nvPr>
            <p:ph idx="1"/>
          </p:nvPr>
        </p:nvSpPr>
        <p:spPr>
          <a:xfrm>
            <a:off x="838200" y="1325563"/>
            <a:ext cx="10515600" cy="1153578"/>
          </a:xfrm>
        </p:spPr>
        <p:txBody>
          <a:bodyPr/>
          <a:lstStyle/>
          <a:p>
            <a:r>
              <a:rPr lang="en-US" dirty="0"/>
              <a:t>If including within-run analysis, then we see similar IRAF across all ROIs for a given trial</a:t>
            </a:r>
          </a:p>
        </p:txBody>
      </p:sp>
      <p:pic>
        <p:nvPicPr>
          <p:cNvPr id="5" name="Picture 4">
            <a:extLst>
              <a:ext uri="{FF2B5EF4-FFF2-40B4-BE49-F238E27FC236}">
                <a16:creationId xmlns:a16="http://schemas.microsoft.com/office/drawing/2014/main" id="{C3571A27-BDCB-B9FB-14A1-F0810137067D}"/>
              </a:ext>
            </a:extLst>
          </p:cNvPr>
          <p:cNvPicPr>
            <a:picLocks noChangeAspect="1"/>
          </p:cNvPicPr>
          <p:nvPr/>
        </p:nvPicPr>
        <p:blipFill rotWithShape="1">
          <a:blip r:embed="rId2"/>
          <a:srcRect l="35895" r="5526"/>
          <a:stretch/>
        </p:blipFill>
        <p:spPr>
          <a:xfrm>
            <a:off x="1294998" y="2331449"/>
            <a:ext cx="3428134" cy="4389120"/>
          </a:xfrm>
          <a:prstGeom prst="rect">
            <a:avLst/>
          </a:prstGeom>
        </p:spPr>
      </p:pic>
      <p:pic>
        <p:nvPicPr>
          <p:cNvPr id="9" name="Picture 8">
            <a:extLst>
              <a:ext uri="{FF2B5EF4-FFF2-40B4-BE49-F238E27FC236}">
                <a16:creationId xmlns:a16="http://schemas.microsoft.com/office/drawing/2014/main" id="{DBCC8610-F2F4-95F1-378A-58A9CB1A2E13}"/>
              </a:ext>
            </a:extLst>
          </p:cNvPr>
          <p:cNvPicPr>
            <a:picLocks noChangeAspect="1"/>
          </p:cNvPicPr>
          <p:nvPr/>
        </p:nvPicPr>
        <p:blipFill rotWithShape="1">
          <a:blip r:embed="rId3"/>
          <a:srcRect l="36525" r="6316"/>
          <a:stretch/>
        </p:blipFill>
        <p:spPr>
          <a:xfrm>
            <a:off x="4593665" y="2339441"/>
            <a:ext cx="3344972" cy="4389120"/>
          </a:xfrm>
          <a:prstGeom prst="rect">
            <a:avLst/>
          </a:prstGeom>
        </p:spPr>
      </p:pic>
      <p:pic>
        <p:nvPicPr>
          <p:cNvPr id="13" name="Picture 12">
            <a:extLst>
              <a:ext uri="{FF2B5EF4-FFF2-40B4-BE49-F238E27FC236}">
                <a16:creationId xmlns:a16="http://schemas.microsoft.com/office/drawing/2014/main" id="{D5DE7C29-91B1-6E67-D58A-429182B787FB}"/>
              </a:ext>
            </a:extLst>
          </p:cNvPr>
          <p:cNvPicPr>
            <a:picLocks noChangeAspect="1"/>
          </p:cNvPicPr>
          <p:nvPr/>
        </p:nvPicPr>
        <p:blipFill rotWithShape="1">
          <a:blip r:embed="rId4"/>
          <a:srcRect l="36368" r="6474"/>
          <a:stretch/>
        </p:blipFill>
        <p:spPr>
          <a:xfrm>
            <a:off x="7784967" y="2352141"/>
            <a:ext cx="3344972" cy="4389120"/>
          </a:xfrm>
          <a:prstGeom prst="rect">
            <a:avLst/>
          </a:prstGeom>
        </p:spPr>
      </p:pic>
    </p:spTree>
    <p:extLst>
      <p:ext uri="{BB962C8B-B14F-4D97-AF65-F5344CB8AC3E}">
        <p14:creationId xmlns:p14="http://schemas.microsoft.com/office/powerpoint/2010/main" val="150918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Proposed direction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814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a:xfrm>
            <a:off x="838200" y="205200"/>
            <a:ext cx="10515600" cy="974558"/>
          </a:xfrm>
        </p:spPr>
        <p:txBody>
          <a:bodyPr/>
          <a:lstStyle/>
          <a:p>
            <a:r>
              <a:rPr lang="en-US" dirty="0"/>
              <a:t>Background</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a:xfrm>
            <a:off x="838200" y="1311922"/>
            <a:ext cx="10689000" cy="5391278"/>
          </a:xfrm>
        </p:spPr>
        <p:txBody>
          <a:bodyPr>
            <a:normAutofit/>
          </a:bodyPr>
          <a:lstStyle/>
          <a:p>
            <a:r>
              <a:rPr lang="en-US" dirty="0"/>
              <a:t>Predictive coding theory argues that all information is processed in terms of prediction errors</a:t>
            </a:r>
          </a:p>
          <a:p>
            <a:pPr lvl="1"/>
            <a:r>
              <a:rPr lang="en-US" dirty="0"/>
              <a:t>Prediction error is a computational mechanism used across the brain</a:t>
            </a:r>
          </a:p>
          <a:p>
            <a:pPr lvl="2"/>
            <a:r>
              <a:rPr lang="en-US" dirty="0"/>
              <a:t>Goes well beyond early theories that </a:t>
            </a:r>
            <a:r>
              <a:rPr lang="en-US" i="1" dirty="0"/>
              <a:t>reward prediction error </a:t>
            </a:r>
            <a:r>
              <a:rPr lang="en-US" dirty="0"/>
              <a:t>underlies behavioral learning and ventral striatum processing</a:t>
            </a:r>
          </a:p>
          <a:p>
            <a:pPr lvl="1"/>
            <a:r>
              <a:rPr lang="en-US" i="1" dirty="0"/>
              <a:t>Perceptual prediction error</a:t>
            </a:r>
          </a:p>
          <a:p>
            <a:pPr lvl="2"/>
            <a:r>
              <a:rPr lang="en-US" dirty="0"/>
              <a:t>Perception depends on the perceived likelihood of encountering a stimulus</a:t>
            </a:r>
          </a:p>
          <a:p>
            <a:pPr lvl="1"/>
            <a:r>
              <a:rPr lang="en-US" i="1" dirty="0"/>
              <a:t>Cognitive prediction error</a:t>
            </a:r>
          </a:p>
          <a:p>
            <a:pPr lvl="2"/>
            <a:r>
              <a:rPr lang="en-US" dirty="0"/>
              <a:t>Information is processed in terms of prior beliefs and updating</a:t>
            </a:r>
          </a:p>
          <a:p>
            <a:r>
              <a:rPr lang="en-US" dirty="0"/>
              <a:t>Predictive coding has been studied with univariate analyses</a:t>
            </a:r>
          </a:p>
          <a:p>
            <a:pPr lvl="1"/>
            <a:r>
              <a:rPr lang="en-US" dirty="0"/>
              <a:t>Perceptual prediction error correlated with activity in both cortical and subcortical regions</a:t>
            </a:r>
          </a:p>
        </p:txBody>
      </p:sp>
    </p:spTree>
    <p:extLst>
      <p:ext uri="{BB962C8B-B14F-4D97-AF65-F5344CB8AC3E}">
        <p14:creationId xmlns:p14="http://schemas.microsoft.com/office/powerpoint/2010/main" val="239747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2C74-7939-7509-0F4F-EB79CECC20C0}"/>
              </a:ext>
            </a:extLst>
          </p:cNvPr>
          <p:cNvSpPr>
            <a:spLocks noGrp="1"/>
          </p:cNvSpPr>
          <p:nvPr>
            <p:ph type="title"/>
          </p:nvPr>
        </p:nvSpPr>
        <p:spPr>
          <a:xfrm>
            <a:off x="838200" y="235525"/>
            <a:ext cx="10515600" cy="1325563"/>
          </a:xfrm>
        </p:spPr>
        <p:txBody>
          <a:bodyPr/>
          <a:lstStyle/>
          <a:p>
            <a:r>
              <a:rPr lang="en-US" dirty="0"/>
              <a:t>Primary Question</a:t>
            </a:r>
          </a:p>
        </p:txBody>
      </p:sp>
      <p:sp>
        <p:nvSpPr>
          <p:cNvPr id="3" name="Content Placeholder 2">
            <a:extLst>
              <a:ext uri="{FF2B5EF4-FFF2-40B4-BE49-F238E27FC236}">
                <a16:creationId xmlns:a16="http://schemas.microsoft.com/office/drawing/2014/main" id="{093DC41D-33FB-7658-8B99-25CE7E0DACC7}"/>
              </a:ext>
            </a:extLst>
          </p:cNvPr>
          <p:cNvSpPr>
            <a:spLocks noGrp="1"/>
          </p:cNvSpPr>
          <p:nvPr>
            <p:ph idx="1"/>
          </p:nvPr>
        </p:nvSpPr>
        <p:spPr>
          <a:xfrm>
            <a:off x="838200" y="1661889"/>
            <a:ext cx="10515600" cy="4960586"/>
          </a:xfrm>
        </p:spPr>
        <p:txBody>
          <a:bodyPr>
            <a:normAutofit/>
          </a:bodyPr>
          <a:lstStyle/>
          <a:p>
            <a:r>
              <a:rPr lang="en-US" dirty="0"/>
              <a:t>Are stimuli </a:t>
            </a:r>
            <a:r>
              <a:rPr lang="en-US" i="1" dirty="0"/>
              <a:t>represented </a:t>
            </a:r>
            <a:r>
              <a:rPr lang="en-US" dirty="0"/>
              <a:t>as prediction errors?</a:t>
            </a:r>
          </a:p>
          <a:p>
            <a:pPr lvl="1"/>
            <a:r>
              <a:rPr lang="en-US" dirty="0"/>
              <a:t>No study has genuinely investigated this question </a:t>
            </a:r>
          </a:p>
          <a:p>
            <a:pPr lvl="2"/>
            <a:r>
              <a:rPr lang="en-US" dirty="0"/>
              <a:t>“Genuinely” = beyond univariate tests</a:t>
            </a:r>
          </a:p>
          <a:p>
            <a:pPr lvl="1"/>
            <a:r>
              <a:rPr lang="en-US" dirty="0"/>
              <a:t>Yet, this idea is a central element of predictive coding theory</a:t>
            </a:r>
          </a:p>
          <a:p>
            <a:pPr lvl="1"/>
            <a:r>
              <a:rPr lang="en-US" dirty="0"/>
              <a:t>This question gets at a critical point of contention</a:t>
            </a:r>
          </a:p>
          <a:p>
            <a:pPr lvl="2"/>
            <a:r>
              <a:rPr lang="en-US" dirty="0"/>
              <a:t>Opponents of the theory accept that prediction error plays some role in the brain (e.g., in the striatum) but push back against these bolder higher-order claims</a:t>
            </a:r>
          </a:p>
          <a:p>
            <a:r>
              <a:rPr lang="en-US" dirty="0"/>
              <a:t>Multivariate analyses of representations are strong tests of predictive coding theory</a:t>
            </a:r>
          </a:p>
          <a:p>
            <a:pPr lvl="1"/>
            <a:r>
              <a:rPr lang="en-US" dirty="0"/>
              <a:t>Other neural theories, supported by univariate results, broke down when tested via multivariate methods </a:t>
            </a:r>
          </a:p>
          <a:p>
            <a:endParaRPr lang="en-US" dirty="0"/>
          </a:p>
        </p:txBody>
      </p:sp>
    </p:spTree>
    <p:extLst>
      <p:ext uri="{BB962C8B-B14F-4D97-AF65-F5344CB8AC3E}">
        <p14:creationId xmlns:p14="http://schemas.microsoft.com/office/powerpoint/2010/main" val="252421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60B6-D308-6B57-292E-427E3DA478DC}"/>
              </a:ext>
            </a:extLst>
          </p:cNvPr>
          <p:cNvSpPr>
            <a:spLocks noGrp="1"/>
          </p:cNvSpPr>
          <p:nvPr>
            <p:ph type="title"/>
          </p:nvPr>
        </p:nvSpPr>
        <p:spPr>
          <a:xfrm>
            <a:off x="838200" y="347133"/>
            <a:ext cx="10515600" cy="1325563"/>
          </a:xfrm>
        </p:spPr>
        <p:txBody>
          <a:bodyPr/>
          <a:lstStyle/>
          <a:p>
            <a:r>
              <a:rPr lang="en-US" dirty="0"/>
              <a:t>Present Study and Hypotheses</a:t>
            </a:r>
          </a:p>
        </p:txBody>
      </p:sp>
      <p:sp>
        <p:nvSpPr>
          <p:cNvPr id="3" name="Content Placeholder 2">
            <a:extLst>
              <a:ext uri="{FF2B5EF4-FFF2-40B4-BE49-F238E27FC236}">
                <a16:creationId xmlns:a16="http://schemas.microsoft.com/office/drawing/2014/main" id="{48383511-B5DF-1D7E-BAA1-FED76B024FA8}"/>
              </a:ext>
            </a:extLst>
          </p:cNvPr>
          <p:cNvSpPr>
            <a:spLocks noGrp="1"/>
          </p:cNvSpPr>
          <p:nvPr>
            <p:ph idx="1"/>
          </p:nvPr>
        </p:nvSpPr>
        <p:spPr>
          <a:xfrm>
            <a:off x="707334" y="1835755"/>
            <a:ext cx="10941000" cy="4926112"/>
          </a:xfrm>
        </p:spPr>
        <p:txBody>
          <a:bodyPr>
            <a:normAutofit/>
          </a:bodyPr>
          <a:lstStyle/>
          <a:p>
            <a:pPr marL="514350" indent="-514350">
              <a:buFont typeface="+mj-lt"/>
              <a:buAutoNum type="arabicPeriod"/>
            </a:pPr>
            <a:r>
              <a:rPr lang="en-US" dirty="0"/>
              <a:t>Identify areas that make </a:t>
            </a:r>
            <a:r>
              <a:rPr lang="en-US" i="1" dirty="0"/>
              <a:t>predictions</a:t>
            </a:r>
          </a:p>
          <a:p>
            <a:pPr lvl="1"/>
            <a:r>
              <a:rPr lang="en-US" dirty="0"/>
              <a:t>Based on schema (scene) presentation, which regions represent the schema?</a:t>
            </a:r>
          </a:p>
          <a:p>
            <a:pPr marL="514350" indent="-514350">
              <a:buFont typeface="+mj-lt"/>
              <a:buAutoNum type="arabicPeriod"/>
            </a:pPr>
            <a:r>
              <a:rPr lang="en-US" dirty="0"/>
              <a:t>Among the regions representing the scene, does any area represent the object as a </a:t>
            </a:r>
            <a:r>
              <a:rPr lang="en-US" i="1" dirty="0"/>
              <a:t>prediction error </a:t>
            </a:r>
            <a:r>
              <a:rPr lang="en-US" dirty="0"/>
              <a:t>relative to the scene?</a:t>
            </a:r>
          </a:p>
          <a:p>
            <a:pPr marL="514350" indent="-514350">
              <a:buFont typeface="+mj-lt"/>
              <a:buAutoNum type="arabicPeriod"/>
            </a:pPr>
            <a:r>
              <a:rPr lang="en-US" dirty="0"/>
              <a:t>Is prediction error used as a computational mechanism?</a:t>
            </a:r>
          </a:p>
          <a:p>
            <a:pPr lvl="1"/>
            <a:r>
              <a:rPr lang="en-US" dirty="0"/>
              <a:t>Specifically, is object information encoded as a prediction error?</a:t>
            </a:r>
          </a:p>
          <a:p>
            <a:pPr lvl="2"/>
            <a:r>
              <a:rPr lang="en-US" dirty="0"/>
              <a:t>Does stronger prediction-error representation predict subsequent memory?</a:t>
            </a:r>
          </a:p>
          <a:p>
            <a:pPr lvl="2"/>
            <a:r>
              <a:rPr lang="en-US" dirty="0"/>
              <a:t>Are there signatures of prediction error during retrieval, even when the original scheme is no longer shown?</a:t>
            </a:r>
          </a:p>
        </p:txBody>
      </p:sp>
    </p:spTree>
    <p:extLst>
      <p:ext uri="{BB962C8B-B14F-4D97-AF65-F5344CB8AC3E}">
        <p14:creationId xmlns:p14="http://schemas.microsoft.com/office/powerpoint/2010/main" val="42752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Methods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603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530267" y="1766262"/>
            <a:ext cx="4991100" cy="2564718"/>
          </a:xfrm>
        </p:spPr>
        <p:txBody>
          <a:bodyPr>
            <a:normAutofit/>
          </a:bodyPr>
          <a:lstStyle/>
          <a:p>
            <a:r>
              <a:rPr lang="en-US" dirty="0"/>
              <a:t>I looked at the encoding data for </a:t>
            </a:r>
            <a:r>
              <a:rPr lang="en-US" dirty="0" err="1"/>
              <a:t>SchemeRep</a:t>
            </a:r>
            <a:endParaRPr lang="en-US" dirty="0"/>
          </a:p>
          <a:p>
            <a:pPr lvl="1"/>
            <a:r>
              <a:rPr lang="en-US" dirty="0"/>
              <a:t>Object presentation screen</a:t>
            </a:r>
          </a:p>
          <a:p>
            <a:pPr lvl="1"/>
            <a:r>
              <a:rPr lang="en-US" dirty="0"/>
              <a:t>Scene presentation screen</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3"/>
          <a:stretch>
            <a:fillRect/>
          </a:stretch>
        </p:blipFill>
        <p:spPr>
          <a:xfrm>
            <a:off x="6096000" y="1767780"/>
            <a:ext cx="5929487" cy="3834245"/>
          </a:xfrm>
          <a:prstGeom prst="rect">
            <a:avLst/>
          </a:prstGeom>
        </p:spPr>
      </p:pic>
      <p:sp>
        <p:nvSpPr>
          <p:cNvPr id="4" name="TextBox 3">
            <a:extLst>
              <a:ext uri="{FF2B5EF4-FFF2-40B4-BE49-F238E27FC236}">
                <a16:creationId xmlns:a16="http://schemas.microsoft.com/office/drawing/2014/main" id="{CBD0B90D-9868-3B52-205D-0F4752E87869}"/>
              </a:ext>
            </a:extLst>
          </p:cNvPr>
          <p:cNvSpPr txBox="1"/>
          <p:nvPr/>
        </p:nvSpPr>
        <p:spPr>
          <a:xfrm>
            <a:off x="80720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3 s</a:t>
            </a:r>
          </a:p>
        </p:txBody>
      </p:sp>
      <p:sp>
        <p:nvSpPr>
          <p:cNvPr id="6" name="TextBox 5">
            <a:extLst>
              <a:ext uri="{FF2B5EF4-FFF2-40B4-BE49-F238E27FC236}">
                <a16:creationId xmlns:a16="http://schemas.microsoft.com/office/drawing/2014/main" id="{69723DE0-4791-3361-89F0-78F8E84800FD}"/>
              </a:ext>
            </a:extLst>
          </p:cNvPr>
          <p:cNvSpPr txBox="1"/>
          <p:nvPr/>
        </p:nvSpPr>
        <p:spPr>
          <a:xfrm>
            <a:off x="8674640" y="5601737"/>
            <a:ext cx="62068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3 s </a:t>
            </a:r>
          </a:p>
          <a:p>
            <a:pPr algn="ctr"/>
            <a:r>
              <a:rPr lang="en-US" dirty="0">
                <a:latin typeface="Arial" panose="020B0604020202020204" pitchFamily="34" charset="0"/>
                <a:cs typeface="Arial" panose="020B0604020202020204" pitchFamily="34" charset="0"/>
              </a:rPr>
              <a:t>jitter</a:t>
            </a:r>
          </a:p>
        </p:txBody>
      </p:sp>
      <p:sp>
        <p:nvSpPr>
          <p:cNvPr id="7" name="TextBox 6">
            <a:extLst>
              <a:ext uri="{FF2B5EF4-FFF2-40B4-BE49-F238E27FC236}">
                <a16:creationId xmlns:a16="http://schemas.microsoft.com/office/drawing/2014/main" id="{D23B9B45-5711-97E7-7B90-45543FA7075F}"/>
              </a:ext>
            </a:extLst>
          </p:cNvPr>
          <p:cNvSpPr txBox="1"/>
          <p:nvPr/>
        </p:nvSpPr>
        <p:spPr>
          <a:xfrm>
            <a:off x="94055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s</a:t>
            </a:r>
          </a:p>
        </p:txBody>
      </p:sp>
    </p:spTree>
    <p:extLst>
      <p:ext uri="{BB962C8B-B14F-4D97-AF65-F5344CB8AC3E}">
        <p14:creationId xmlns:p14="http://schemas.microsoft.com/office/powerpoint/2010/main" val="93052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19</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32864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BFAF-5918-2D50-EFD8-881BF2A35B24}"/>
              </a:ext>
            </a:extLst>
          </p:cNvPr>
          <p:cNvSpPr>
            <a:spLocks noGrp="1"/>
          </p:cNvSpPr>
          <p:nvPr>
            <p:ph type="title"/>
          </p:nvPr>
        </p:nvSpPr>
        <p:spPr>
          <a:xfrm>
            <a:off x="872067" y="187327"/>
            <a:ext cx="10515600" cy="786342"/>
          </a:xfrm>
        </p:spPr>
        <p:txBody>
          <a:bodyPr/>
          <a:lstStyle/>
          <a:p>
            <a:r>
              <a:rPr lang="en-US" dirty="0"/>
              <a:t>Behavioral results</a:t>
            </a:r>
          </a:p>
        </p:txBody>
      </p:sp>
      <p:pic>
        <p:nvPicPr>
          <p:cNvPr id="21" name="Picture 20">
            <a:extLst>
              <a:ext uri="{FF2B5EF4-FFF2-40B4-BE49-F238E27FC236}">
                <a16:creationId xmlns:a16="http://schemas.microsoft.com/office/drawing/2014/main" id="{27916DB2-2281-46CE-1977-3C7B87DC291F}"/>
              </a:ext>
            </a:extLst>
          </p:cNvPr>
          <p:cNvPicPr>
            <a:picLocks noChangeAspect="1"/>
          </p:cNvPicPr>
          <p:nvPr/>
        </p:nvPicPr>
        <p:blipFill>
          <a:blip r:embed="rId2"/>
          <a:stretch>
            <a:fillRect/>
          </a:stretch>
        </p:blipFill>
        <p:spPr>
          <a:xfrm>
            <a:off x="480271" y="980225"/>
            <a:ext cx="3840480" cy="2880360"/>
          </a:xfrm>
          <a:prstGeom prst="rect">
            <a:avLst/>
          </a:prstGeom>
        </p:spPr>
      </p:pic>
      <p:pic>
        <p:nvPicPr>
          <p:cNvPr id="23" name="Picture 22">
            <a:extLst>
              <a:ext uri="{FF2B5EF4-FFF2-40B4-BE49-F238E27FC236}">
                <a16:creationId xmlns:a16="http://schemas.microsoft.com/office/drawing/2014/main" id="{34CA28F7-CB2E-401F-1897-69DB257E57B9}"/>
              </a:ext>
            </a:extLst>
          </p:cNvPr>
          <p:cNvPicPr>
            <a:picLocks noChangeAspect="1"/>
          </p:cNvPicPr>
          <p:nvPr/>
        </p:nvPicPr>
        <p:blipFill>
          <a:blip r:embed="rId3"/>
          <a:stretch>
            <a:fillRect/>
          </a:stretch>
        </p:blipFill>
        <p:spPr>
          <a:xfrm>
            <a:off x="452754" y="3824181"/>
            <a:ext cx="3840480" cy="2880360"/>
          </a:xfrm>
          <a:prstGeom prst="rect">
            <a:avLst/>
          </a:prstGeom>
        </p:spPr>
      </p:pic>
      <p:pic>
        <p:nvPicPr>
          <p:cNvPr id="25" name="Picture 24">
            <a:extLst>
              <a:ext uri="{FF2B5EF4-FFF2-40B4-BE49-F238E27FC236}">
                <a16:creationId xmlns:a16="http://schemas.microsoft.com/office/drawing/2014/main" id="{2E0EA0D1-7436-224E-A259-1FD5321A69F5}"/>
              </a:ext>
            </a:extLst>
          </p:cNvPr>
          <p:cNvPicPr>
            <a:picLocks noChangeAspect="1"/>
          </p:cNvPicPr>
          <p:nvPr/>
        </p:nvPicPr>
        <p:blipFill>
          <a:blip r:embed="rId4"/>
          <a:stretch>
            <a:fillRect/>
          </a:stretch>
        </p:blipFill>
        <p:spPr>
          <a:xfrm>
            <a:off x="4320751" y="980225"/>
            <a:ext cx="3840480" cy="2880360"/>
          </a:xfrm>
          <a:prstGeom prst="rect">
            <a:avLst/>
          </a:prstGeom>
        </p:spPr>
      </p:pic>
      <p:pic>
        <p:nvPicPr>
          <p:cNvPr id="27" name="Picture 26">
            <a:extLst>
              <a:ext uri="{FF2B5EF4-FFF2-40B4-BE49-F238E27FC236}">
                <a16:creationId xmlns:a16="http://schemas.microsoft.com/office/drawing/2014/main" id="{56784443-7A11-3C75-C718-1EFA8EFBBDA7}"/>
              </a:ext>
            </a:extLst>
          </p:cNvPr>
          <p:cNvPicPr>
            <a:picLocks noChangeAspect="1"/>
          </p:cNvPicPr>
          <p:nvPr/>
        </p:nvPicPr>
        <p:blipFill>
          <a:blip r:embed="rId5"/>
          <a:stretch>
            <a:fillRect/>
          </a:stretch>
        </p:blipFill>
        <p:spPr>
          <a:xfrm>
            <a:off x="4263919" y="3824181"/>
            <a:ext cx="3840480" cy="2880360"/>
          </a:xfrm>
          <a:prstGeom prst="rect">
            <a:avLst/>
          </a:prstGeom>
        </p:spPr>
      </p:pic>
      <p:pic>
        <p:nvPicPr>
          <p:cNvPr id="29" name="Picture 28">
            <a:extLst>
              <a:ext uri="{FF2B5EF4-FFF2-40B4-BE49-F238E27FC236}">
                <a16:creationId xmlns:a16="http://schemas.microsoft.com/office/drawing/2014/main" id="{8326F6F7-D1DD-19FE-FBAC-EDC7CC118713}"/>
              </a:ext>
            </a:extLst>
          </p:cNvPr>
          <p:cNvPicPr>
            <a:picLocks noChangeAspect="1"/>
          </p:cNvPicPr>
          <p:nvPr/>
        </p:nvPicPr>
        <p:blipFill>
          <a:blip r:embed="rId6"/>
          <a:stretch>
            <a:fillRect/>
          </a:stretch>
        </p:blipFill>
        <p:spPr>
          <a:xfrm>
            <a:off x="8104399" y="980225"/>
            <a:ext cx="3840480" cy="2880360"/>
          </a:xfrm>
          <a:prstGeom prst="rect">
            <a:avLst/>
          </a:prstGeom>
        </p:spPr>
      </p:pic>
      <p:pic>
        <p:nvPicPr>
          <p:cNvPr id="31" name="Picture 30">
            <a:extLst>
              <a:ext uri="{FF2B5EF4-FFF2-40B4-BE49-F238E27FC236}">
                <a16:creationId xmlns:a16="http://schemas.microsoft.com/office/drawing/2014/main" id="{337B24EA-D0E5-4501-C7BF-CC281A4BAE39}"/>
              </a:ext>
            </a:extLst>
          </p:cNvPr>
          <p:cNvPicPr>
            <a:picLocks noChangeAspect="1"/>
          </p:cNvPicPr>
          <p:nvPr/>
        </p:nvPicPr>
        <p:blipFill>
          <a:blip r:embed="rId7"/>
          <a:stretch>
            <a:fillRect/>
          </a:stretch>
        </p:blipFill>
        <p:spPr>
          <a:xfrm>
            <a:off x="8104399" y="3824181"/>
            <a:ext cx="3840480" cy="2880360"/>
          </a:xfrm>
          <a:prstGeom prst="rect">
            <a:avLst/>
          </a:prstGeom>
        </p:spPr>
      </p:pic>
    </p:spTree>
    <p:extLst>
      <p:ext uri="{BB962C8B-B14F-4D97-AF65-F5344CB8AC3E}">
        <p14:creationId xmlns:p14="http://schemas.microsoft.com/office/powerpoint/2010/main" val="61376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a:xfrm>
            <a:off x="438449" y="497367"/>
            <a:ext cx="5054600" cy="1325563"/>
          </a:xfrm>
        </p:spPr>
        <p:txBody>
          <a:bodyPr/>
          <a:lstStyle/>
          <a:p>
            <a:r>
              <a:rPr lang="en-US" dirty="0" err="1"/>
              <a:t>Brainnetome</a:t>
            </a:r>
            <a:r>
              <a:rPr lang="en-US" dirty="0"/>
              <a:t> atlas</a:t>
            </a:r>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a:xfrm>
            <a:off x="857549" y="2035702"/>
            <a:ext cx="4216400" cy="2416811"/>
          </a:xfrm>
        </p:spPr>
        <p:txBody>
          <a:bodyPr>
            <a:normAutofit/>
          </a:bodyPr>
          <a:lstStyle/>
          <a:p>
            <a:r>
              <a:rPr lang="en-US" dirty="0"/>
              <a:t>Used by </a:t>
            </a:r>
            <a:r>
              <a:rPr lang="en-US" dirty="0" err="1"/>
              <a:t>Lifu</a:t>
            </a:r>
            <a:r>
              <a:rPr lang="en-US" dirty="0"/>
              <a:t> and Shenyang</a:t>
            </a:r>
          </a:p>
          <a:p>
            <a:r>
              <a:rPr lang="en-US" dirty="0"/>
              <a:t>246 ROIs</a:t>
            </a:r>
          </a:p>
          <a:p>
            <a:pPr lvl="1"/>
            <a:r>
              <a:rPr lang="en-US" dirty="0"/>
              <a:t>Cortical and subcortical</a:t>
            </a:r>
          </a:p>
          <a:p>
            <a:endParaRPr lang="en-US" dirty="0"/>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3"/>
          <a:stretch>
            <a:fillRect/>
          </a:stretch>
        </p:blipFill>
        <p:spPr>
          <a:xfrm>
            <a:off x="6096000" y="654320"/>
            <a:ext cx="5892798" cy="5942249"/>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028">
            <a:extLst>
              <a:ext uri="{FF2B5EF4-FFF2-40B4-BE49-F238E27FC236}">
                <a16:creationId xmlns:a16="http://schemas.microsoft.com/office/drawing/2014/main" id="{71DA3CBB-0E70-024A-EBC2-5261289C45C8}"/>
              </a:ext>
            </a:extLst>
          </p:cNvPr>
          <p:cNvSpPr/>
          <p:nvPr/>
        </p:nvSpPr>
        <p:spPr>
          <a:xfrm>
            <a:off x="499026" y="1280761"/>
            <a:ext cx="5237310" cy="300037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673309"/>
          </a:xfrm>
        </p:spPr>
        <p:txBody>
          <a:bodyPr>
            <a:normAutofit fontScale="90000"/>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6101787" y="969487"/>
            <a:ext cx="5489285" cy="5472839"/>
          </a:xfrm>
        </p:spPr>
        <p:txBody>
          <a:bodyPr>
            <a:normAutofit lnSpcReduction="10000"/>
          </a:bodyPr>
          <a:lstStyle/>
          <a:p>
            <a:r>
              <a:rPr lang="en-US" dirty="0"/>
              <a:t>Presentation of the scheme serves to inform the </a:t>
            </a:r>
            <a:r>
              <a:rPr lang="en-US" i="1" dirty="0"/>
              <a:t>prediction</a:t>
            </a:r>
          </a:p>
          <a:p>
            <a:pPr lvl="1"/>
            <a:r>
              <a:rPr lang="en-US" dirty="0"/>
              <a:t>RSA: scene vector x scene presentation fMRI</a:t>
            </a:r>
          </a:p>
          <a:p>
            <a:pPr lvl="1"/>
            <a:r>
              <a:rPr lang="en-US" dirty="0"/>
              <a:t>Unsigned prediction error</a:t>
            </a:r>
          </a:p>
          <a:p>
            <a:r>
              <a:rPr lang="en-US" dirty="0"/>
              <a:t>Presentation of the object may elicit a </a:t>
            </a:r>
            <a:r>
              <a:rPr lang="en-US" i="1" dirty="0"/>
              <a:t>prediction error</a:t>
            </a:r>
            <a:endParaRPr lang="en-US" dirty="0"/>
          </a:p>
          <a:p>
            <a:pPr lvl="1"/>
            <a:r>
              <a:rPr lang="en-US" dirty="0"/>
              <a:t>RSA with the absolute-difference vector x object presentation fMRI</a:t>
            </a:r>
          </a:p>
          <a:p>
            <a:pPr lvl="1"/>
            <a:r>
              <a:rPr lang="en-US" dirty="0"/>
              <a:t>Confound risk:</a:t>
            </a:r>
          </a:p>
          <a:p>
            <a:pPr lvl="2"/>
            <a:r>
              <a:rPr lang="en-US" dirty="0"/>
              <a:t>Driven by solely the object</a:t>
            </a:r>
          </a:p>
          <a:p>
            <a:pPr lvl="2"/>
            <a:r>
              <a:rPr lang="en-US" dirty="0"/>
              <a:t>Driven by solely the scene</a:t>
            </a:r>
          </a:p>
          <a:p>
            <a:pPr lvl="1"/>
            <a:r>
              <a:rPr lang="en-US" dirty="0"/>
              <a:t>Hence:</a:t>
            </a:r>
          </a:p>
          <a:p>
            <a:pPr lvl="2"/>
            <a:r>
              <a:rPr lang="en-US" dirty="0"/>
              <a:t>Regress out object RSA z-score and scene RSA z-score</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3"/>
          <a:srcRect l="26687" t="54667" r="53475" b="14256"/>
          <a:stretch/>
        </p:blipFill>
        <p:spPr>
          <a:xfrm>
            <a:off x="768702" y="1444863"/>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3"/>
          <a:srcRect l="50552" t="54668" r="29609" b="14254"/>
          <a:stretch/>
        </p:blipFill>
        <p:spPr>
          <a:xfrm>
            <a:off x="2520748" y="1444863"/>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1274865" y="274715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1274865" y="2952826"/>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1274976" y="3158493"/>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1273776" y="3364160"/>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127413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1275715" y="3775494"/>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3027465" y="2747159"/>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3027465" y="295282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3027576" y="3158493"/>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3026376" y="3364160"/>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3026737" y="3569827"/>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3028315" y="3775494"/>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4761015" y="2747159"/>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4761015" y="2952826"/>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4761126" y="315849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4759926" y="3364160"/>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476028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4761865" y="3775494"/>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2068995" y="3018201"/>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3767538" y="3059576"/>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3523250" y="3628340"/>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4470455" y="1489529"/>
            <a:ext cx="768350" cy="1077611"/>
          </a:xfrm>
          <a:prstGeom prst="rect">
            <a:avLst/>
          </a:prstGeom>
          <a:noFill/>
          <a:extLst>
            <a:ext uri="{909E8E84-426E-40DD-AFC4-6F175D3DCCD1}">
              <a14:hiddenFill xmlns:a14="http://schemas.microsoft.com/office/drawing/2010/main">
                <a:solidFill>
                  <a:srgbClr val="FFFFFF"/>
                </a:solidFill>
              </a14:hiddenFill>
            </a:ext>
          </a:extLst>
        </p:spPr>
      </p:pic>
      <p:sp>
        <p:nvSpPr>
          <p:cNvPr id="1030" name="TextBox 1029">
            <a:extLst>
              <a:ext uri="{FF2B5EF4-FFF2-40B4-BE49-F238E27FC236}">
                <a16:creationId xmlns:a16="http://schemas.microsoft.com/office/drawing/2014/main" id="{4D0E3313-A857-EBF1-D8EC-E02A6EDF0F08}"/>
              </a:ext>
            </a:extLst>
          </p:cNvPr>
          <p:cNvSpPr txBox="1"/>
          <p:nvPr/>
        </p:nvSpPr>
        <p:spPr>
          <a:xfrm>
            <a:off x="499026" y="889564"/>
            <a:ext cx="5222324"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Single trial</a:t>
            </a:r>
          </a:p>
        </p:txBody>
      </p:sp>
      <p:sp>
        <p:nvSpPr>
          <p:cNvPr id="1031" name="Rectangle 1030">
            <a:extLst>
              <a:ext uri="{FF2B5EF4-FFF2-40B4-BE49-F238E27FC236}">
                <a16:creationId xmlns:a16="http://schemas.microsoft.com/office/drawing/2014/main" id="{961F192B-343B-C4DC-5678-4ACC02F53778}"/>
              </a:ext>
            </a:extLst>
          </p:cNvPr>
          <p:cNvSpPr/>
          <p:nvPr/>
        </p:nvSpPr>
        <p:spPr>
          <a:xfrm>
            <a:off x="875686" y="532439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C8888FC6-35E9-75ED-8200-50A4897D7407}"/>
              </a:ext>
            </a:extLst>
          </p:cNvPr>
          <p:cNvSpPr/>
          <p:nvPr/>
        </p:nvSpPr>
        <p:spPr>
          <a:xfrm>
            <a:off x="882036" y="5530058"/>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59159CA4-ED9B-CE03-0560-FE6BC93E538D}"/>
              </a:ext>
            </a:extLst>
          </p:cNvPr>
          <p:cNvSpPr/>
          <p:nvPr/>
        </p:nvSpPr>
        <p:spPr>
          <a:xfrm>
            <a:off x="882147" y="5735725"/>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D8EB8E62-49A1-43D5-6180-DC8238187EF2}"/>
              </a:ext>
            </a:extLst>
          </p:cNvPr>
          <p:cNvSpPr/>
          <p:nvPr/>
        </p:nvSpPr>
        <p:spPr>
          <a:xfrm>
            <a:off x="880947" y="594139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321B294A-21D1-E7C6-88BC-275DCDABBB23}"/>
              </a:ext>
            </a:extLst>
          </p:cNvPr>
          <p:cNvSpPr/>
          <p:nvPr/>
        </p:nvSpPr>
        <p:spPr>
          <a:xfrm>
            <a:off x="881308" y="614705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7BC6558-DFCB-3345-0095-40E6AC05C306}"/>
              </a:ext>
            </a:extLst>
          </p:cNvPr>
          <p:cNvSpPr/>
          <p:nvPr/>
        </p:nvSpPr>
        <p:spPr>
          <a:xfrm>
            <a:off x="1088624" y="5327019"/>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D061B90B-3B11-0C61-3ECA-29F9F821EF95}"/>
              </a:ext>
            </a:extLst>
          </p:cNvPr>
          <p:cNvSpPr/>
          <p:nvPr/>
        </p:nvSpPr>
        <p:spPr>
          <a:xfrm>
            <a:off x="1085449" y="553268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BF33B847-6F53-C54D-D496-3F65BC916CCF}"/>
              </a:ext>
            </a:extLst>
          </p:cNvPr>
          <p:cNvSpPr/>
          <p:nvPr/>
        </p:nvSpPr>
        <p:spPr>
          <a:xfrm>
            <a:off x="1088735" y="573835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41D1C2DE-7816-F7CD-F41C-248F444BEACD}"/>
              </a:ext>
            </a:extLst>
          </p:cNvPr>
          <p:cNvSpPr/>
          <p:nvPr/>
        </p:nvSpPr>
        <p:spPr>
          <a:xfrm>
            <a:off x="1087535" y="594402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36B12E92-0F78-A864-2E89-6DAA636B61D0}"/>
              </a:ext>
            </a:extLst>
          </p:cNvPr>
          <p:cNvSpPr/>
          <p:nvPr/>
        </p:nvSpPr>
        <p:spPr>
          <a:xfrm>
            <a:off x="1087896" y="6149687"/>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07B6C71C-2374-C1EB-A801-EA0A8E23ABD2}"/>
              </a:ext>
            </a:extLst>
          </p:cNvPr>
          <p:cNvSpPr/>
          <p:nvPr/>
        </p:nvSpPr>
        <p:spPr>
          <a:xfrm>
            <a:off x="1296883" y="5330361"/>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B957C6C8-D85C-99E4-BE8B-BBAB253720DB}"/>
              </a:ext>
            </a:extLst>
          </p:cNvPr>
          <p:cNvSpPr/>
          <p:nvPr/>
        </p:nvSpPr>
        <p:spPr>
          <a:xfrm>
            <a:off x="1296883" y="553602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7DE68A5D-DCD6-1DDC-805D-F988530D7D9A}"/>
              </a:ext>
            </a:extLst>
          </p:cNvPr>
          <p:cNvSpPr/>
          <p:nvPr/>
        </p:nvSpPr>
        <p:spPr>
          <a:xfrm>
            <a:off x="1296994" y="5741695"/>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D4C95B2-3824-56D8-9747-096D936398FE}"/>
              </a:ext>
            </a:extLst>
          </p:cNvPr>
          <p:cNvSpPr/>
          <p:nvPr/>
        </p:nvSpPr>
        <p:spPr>
          <a:xfrm>
            <a:off x="1295794" y="594736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637B578-9D37-BF2F-81B9-BEE325B8088C}"/>
              </a:ext>
            </a:extLst>
          </p:cNvPr>
          <p:cNvSpPr/>
          <p:nvPr/>
        </p:nvSpPr>
        <p:spPr>
          <a:xfrm>
            <a:off x="1296155" y="6153029"/>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0D886AB-A7A5-8904-928F-49F0B58D09B8}"/>
              </a:ext>
            </a:extLst>
          </p:cNvPr>
          <p:cNvSpPr/>
          <p:nvPr/>
        </p:nvSpPr>
        <p:spPr>
          <a:xfrm>
            <a:off x="1503471" y="5329021"/>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774CA5B2-EB7A-161B-47DB-3C22D977C4E5}"/>
              </a:ext>
            </a:extLst>
          </p:cNvPr>
          <p:cNvSpPr/>
          <p:nvPr/>
        </p:nvSpPr>
        <p:spPr>
          <a:xfrm>
            <a:off x="1503471" y="553468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8BC4F8D2-E7E1-58EB-4819-98E800A921B9}"/>
              </a:ext>
            </a:extLst>
          </p:cNvPr>
          <p:cNvSpPr/>
          <p:nvPr/>
        </p:nvSpPr>
        <p:spPr>
          <a:xfrm>
            <a:off x="1503582" y="5740355"/>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5832DC68-32B9-CC9F-4611-74137F5B732F}"/>
              </a:ext>
            </a:extLst>
          </p:cNvPr>
          <p:cNvSpPr/>
          <p:nvPr/>
        </p:nvSpPr>
        <p:spPr>
          <a:xfrm>
            <a:off x="1502382" y="595316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090A4416-C4A9-9476-F782-87BC446C9F41}"/>
              </a:ext>
            </a:extLst>
          </p:cNvPr>
          <p:cNvSpPr/>
          <p:nvPr/>
        </p:nvSpPr>
        <p:spPr>
          <a:xfrm>
            <a:off x="1502743" y="6154070"/>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867F2BF-232B-FEFF-E579-219384FBEFDB}"/>
              </a:ext>
            </a:extLst>
          </p:cNvPr>
          <p:cNvSpPr/>
          <p:nvPr/>
        </p:nvSpPr>
        <p:spPr>
          <a:xfrm>
            <a:off x="1706530" y="533036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02938C82-8445-E4DB-0A5B-01D2CF2AA9F9}"/>
              </a:ext>
            </a:extLst>
          </p:cNvPr>
          <p:cNvSpPr/>
          <p:nvPr/>
        </p:nvSpPr>
        <p:spPr>
          <a:xfrm>
            <a:off x="1706530" y="5536030"/>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307AE4D0-FEC8-840D-C404-658644533B29}"/>
              </a:ext>
            </a:extLst>
          </p:cNvPr>
          <p:cNvSpPr/>
          <p:nvPr/>
        </p:nvSpPr>
        <p:spPr>
          <a:xfrm>
            <a:off x="1706641" y="574169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2DFEDA45-B166-9CE8-A686-676938900F01}"/>
              </a:ext>
            </a:extLst>
          </p:cNvPr>
          <p:cNvSpPr/>
          <p:nvPr/>
        </p:nvSpPr>
        <p:spPr>
          <a:xfrm>
            <a:off x="1705441" y="5947364"/>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1998D44C-CAD7-0292-860C-F410535A3047}"/>
              </a:ext>
            </a:extLst>
          </p:cNvPr>
          <p:cNvSpPr/>
          <p:nvPr/>
        </p:nvSpPr>
        <p:spPr>
          <a:xfrm>
            <a:off x="1708183" y="615779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TextBox 1066">
            <a:extLst>
              <a:ext uri="{FF2B5EF4-FFF2-40B4-BE49-F238E27FC236}">
                <a16:creationId xmlns:a16="http://schemas.microsoft.com/office/drawing/2014/main" id="{ED6C1D37-A616-04A6-B51B-9CC389820A8D}"/>
              </a:ext>
            </a:extLst>
          </p:cNvPr>
          <p:cNvSpPr txBox="1"/>
          <p:nvPr/>
        </p:nvSpPr>
        <p:spPr>
          <a:xfrm>
            <a:off x="377894" y="5330741"/>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068" name="TextBox 1067">
            <a:extLst>
              <a:ext uri="{FF2B5EF4-FFF2-40B4-BE49-F238E27FC236}">
                <a16:creationId xmlns:a16="http://schemas.microsoft.com/office/drawing/2014/main" id="{14E58F4F-027A-2851-DAE8-31E783920643}"/>
              </a:ext>
            </a:extLst>
          </p:cNvPr>
          <p:cNvSpPr txBox="1"/>
          <p:nvPr/>
        </p:nvSpPr>
        <p:spPr>
          <a:xfrm>
            <a:off x="377894" y="553640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069" name="TextBox 1068">
            <a:extLst>
              <a:ext uri="{FF2B5EF4-FFF2-40B4-BE49-F238E27FC236}">
                <a16:creationId xmlns:a16="http://schemas.microsoft.com/office/drawing/2014/main" id="{3F54CD22-7939-CB7E-3C6D-78A7B99280CD}"/>
              </a:ext>
            </a:extLst>
          </p:cNvPr>
          <p:cNvSpPr txBox="1"/>
          <p:nvPr/>
        </p:nvSpPr>
        <p:spPr>
          <a:xfrm>
            <a:off x="377894" y="574207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070" name="TextBox 1069">
            <a:extLst>
              <a:ext uri="{FF2B5EF4-FFF2-40B4-BE49-F238E27FC236}">
                <a16:creationId xmlns:a16="http://schemas.microsoft.com/office/drawing/2014/main" id="{D36B1B08-FE41-C1B4-F4C4-A030C4B8F65F}"/>
              </a:ext>
            </a:extLst>
          </p:cNvPr>
          <p:cNvSpPr txBox="1"/>
          <p:nvPr/>
        </p:nvSpPr>
        <p:spPr>
          <a:xfrm>
            <a:off x="377894" y="594774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071" name="TextBox 1070">
            <a:extLst>
              <a:ext uri="{FF2B5EF4-FFF2-40B4-BE49-F238E27FC236}">
                <a16:creationId xmlns:a16="http://schemas.microsoft.com/office/drawing/2014/main" id="{B255B512-7AD5-739E-AE4B-E4581688137C}"/>
              </a:ext>
            </a:extLst>
          </p:cNvPr>
          <p:cNvSpPr txBox="1"/>
          <p:nvPr/>
        </p:nvSpPr>
        <p:spPr>
          <a:xfrm>
            <a:off x="377894" y="615340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072" name="TextBox 1071">
            <a:extLst>
              <a:ext uri="{FF2B5EF4-FFF2-40B4-BE49-F238E27FC236}">
                <a16:creationId xmlns:a16="http://schemas.microsoft.com/office/drawing/2014/main" id="{55168102-463C-5602-3568-6096DF771FB0}"/>
              </a:ext>
            </a:extLst>
          </p:cNvPr>
          <p:cNvSpPr txBox="1"/>
          <p:nvPr/>
        </p:nvSpPr>
        <p:spPr>
          <a:xfrm>
            <a:off x="926822"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077" name="TextBox 1076">
            <a:extLst>
              <a:ext uri="{FF2B5EF4-FFF2-40B4-BE49-F238E27FC236}">
                <a16:creationId xmlns:a16="http://schemas.microsoft.com/office/drawing/2014/main" id="{31F0F18E-56E1-BA72-5CD2-DA8AB4EB13F5}"/>
              </a:ext>
            </a:extLst>
          </p:cNvPr>
          <p:cNvSpPr txBox="1"/>
          <p:nvPr/>
        </p:nvSpPr>
        <p:spPr>
          <a:xfrm>
            <a:off x="1135861"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078" name="TextBox 1077">
            <a:extLst>
              <a:ext uri="{FF2B5EF4-FFF2-40B4-BE49-F238E27FC236}">
                <a16:creationId xmlns:a16="http://schemas.microsoft.com/office/drawing/2014/main" id="{83778C76-A844-0571-C098-5A28B9915D08}"/>
              </a:ext>
            </a:extLst>
          </p:cNvPr>
          <p:cNvSpPr txBox="1"/>
          <p:nvPr/>
        </p:nvSpPr>
        <p:spPr>
          <a:xfrm>
            <a:off x="1344900"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079" name="TextBox 1078">
            <a:extLst>
              <a:ext uri="{FF2B5EF4-FFF2-40B4-BE49-F238E27FC236}">
                <a16:creationId xmlns:a16="http://schemas.microsoft.com/office/drawing/2014/main" id="{E16FDFFF-7934-E91C-FBD2-785AFD8D0D91}"/>
              </a:ext>
            </a:extLst>
          </p:cNvPr>
          <p:cNvSpPr txBox="1"/>
          <p:nvPr/>
        </p:nvSpPr>
        <p:spPr>
          <a:xfrm>
            <a:off x="1553939"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080" name="TextBox 1079">
            <a:extLst>
              <a:ext uri="{FF2B5EF4-FFF2-40B4-BE49-F238E27FC236}">
                <a16:creationId xmlns:a16="http://schemas.microsoft.com/office/drawing/2014/main" id="{AB839C31-A100-3728-8963-A4772A59C260}"/>
              </a:ext>
            </a:extLst>
          </p:cNvPr>
          <p:cNvSpPr txBox="1"/>
          <p:nvPr/>
        </p:nvSpPr>
        <p:spPr>
          <a:xfrm>
            <a:off x="1774115"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081" name="Rectangle 1080">
            <a:extLst>
              <a:ext uri="{FF2B5EF4-FFF2-40B4-BE49-F238E27FC236}">
                <a16:creationId xmlns:a16="http://schemas.microsoft.com/office/drawing/2014/main" id="{4F73087F-4E1C-D838-68BF-B031FB54B02C}"/>
              </a:ext>
            </a:extLst>
          </p:cNvPr>
          <p:cNvSpPr/>
          <p:nvPr/>
        </p:nvSpPr>
        <p:spPr>
          <a:xfrm>
            <a:off x="882036" y="5330360"/>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3308AF80-0B4A-E913-D125-47EAE24BDABE}"/>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549B0FC4-B332-DCAC-1C11-6BE1D1D92D8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27D89914-F6E7-6490-D0BC-0FF236112D5F}"/>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B97F6709-CF41-96F9-3A33-783A7F42BE6A}"/>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BFF1AB2A-2828-D83C-4FB7-999C1E2FC2F6}"/>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F35A1772-6935-32BD-1B25-32C470F788CF}"/>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B13B2732-643E-45EC-0DDB-A1F8C99E09FE}"/>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D38C898D-25AF-456B-0FE2-0F72636D4950}"/>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4AC44A-1B9B-EDFC-981D-F40253EB13A9}"/>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61B38C61-0431-A969-8BCD-E44468010E04}"/>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FD77E336-DDEB-CDD0-572E-6F56D37C78BD}"/>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A06B5A45-A323-6269-2D84-F5690D3B00F9}"/>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8021AAEC-0F65-C6F0-4913-326F38054739}"/>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00E8CADD-2238-34B6-9599-75A7AA780D19}"/>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AEF2CCFA-C6E6-24A9-BBBE-223C1E307D3E}"/>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E60D794C-CCA1-D1EA-DA45-0D2033A6C21A}"/>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0D1C5E17-7FCB-33CC-55A5-755DAD84FEA9}"/>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Rectangle 1099">
            <a:extLst>
              <a:ext uri="{FF2B5EF4-FFF2-40B4-BE49-F238E27FC236}">
                <a16:creationId xmlns:a16="http://schemas.microsoft.com/office/drawing/2014/main" id="{EB8B2EC3-4CCF-8FFA-4F2E-56B168E4ECF7}"/>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09954724-BE8F-3E96-9A66-29C440E64E3B}"/>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Rectangle 1101">
            <a:extLst>
              <a:ext uri="{FF2B5EF4-FFF2-40B4-BE49-F238E27FC236}">
                <a16:creationId xmlns:a16="http://schemas.microsoft.com/office/drawing/2014/main" id="{6EE58CAA-BBA3-40AD-0C5A-030953AD287F}"/>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Rectangle 1102">
            <a:extLst>
              <a:ext uri="{FF2B5EF4-FFF2-40B4-BE49-F238E27FC236}">
                <a16:creationId xmlns:a16="http://schemas.microsoft.com/office/drawing/2014/main" id="{89009D07-CB1C-5FC7-4F79-D0187AB6706C}"/>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05643561-A6D3-2E91-CF96-48CD6E5FFB93}"/>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Rectangle 1104">
            <a:extLst>
              <a:ext uri="{FF2B5EF4-FFF2-40B4-BE49-F238E27FC236}">
                <a16:creationId xmlns:a16="http://schemas.microsoft.com/office/drawing/2014/main" id="{DF2E4C72-2ABC-EA4D-A0F3-5DA04385FA2D}"/>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Rectangle 1105">
            <a:extLst>
              <a:ext uri="{FF2B5EF4-FFF2-40B4-BE49-F238E27FC236}">
                <a16:creationId xmlns:a16="http://schemas.microsoft.com/office/drawing/2014/main" id="{1DCDF257-708E-2BE2-6664-A6CD58D909B6}"/>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5DBE20A-542C-FA5C-34C9-1800B043CDA5}"/>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TextBox 1107">
            <a:extLst>
              <a:ext uri="{FF2B5EF4-FFF2-40B4-BE49-F238E27FC236}">
                <a16:creationId xmlns:a16="http://schemas.microsoft.com/office/drawing/2014/main" id="{BF107B2B-1F6A-3EE7-8435-97645B3612AD}"/>
              </a:ext>
            </a:extLst>
          </p:cNvPr>
          <p:cNvSpPr txBox="1"/>
          <p:nvPr/>
        </p:nvSpPr>
        <p:spPr>
          <a:xfrm>
            <a:off x="2127214" y="532998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09" name="TextBox 1108">
            <a:extLst>
              <a:ext uri="{FF2B5EF4-FFF2-40B4-BE49-F238E27FC236}">
                <a16:creationId xmlns:a16="http://schemas.microsoft.com/office/drawing/2014/main" id="{AAFBFD53-F569-B34D-C08C-3B900214CC19}"/>
              </a:ext>
            </a:extLst>
          </p:cNvPr>
          <p:cNvSpPr txBox="1"/>
          <p:nvPr/>
        </p:nvSpPr>
        <p:spPr>
          <a:xfrm>
            <a:off x="2127214" y="5535653"/>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10" name="TextBox 1109">
            <a:extLst>
              <a:ext uri="{FF2B5EF4-FFF2-40B4-BE49-F238E27FC236}">
                <a16:creationId xmlns:a16="http://schemas.microsoft.com/office/drawing/2014/main" id="{61A2D6EE-9E1B-8B42-075E-CD06EEF67FFB}"/>
              </a:ext>
            </a:extLst>
          </p:cNvPr>
          <p:cNvSpPr txBox="1"/>
          <p:nvPr/>
        </p:nvSpPr>
        <p:spPr>
          <a:xfrm>
            <a:off x="2127214" y="5741320"/>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11" name="TextBox 1110">
            <a:extLst>
              <a:ext uri="{FF2B5EF4-FFF2-40B4-BE49-F238E27FC236}">
                <a16:creationId xmlns:a16="http://schemas.microsoft.com/office/drawing/2014/main" id="{0DD861D0-D2A9-7F63-1878-E362F0A885CC}"/>
              </a:ext>
            </a:extLst>
          </p:cNvPr>
          <p:cNvSpPr txBox="1"/>
          <p:nvPr/>
        </p:nvSpPr>
        <p:spPr>
          <a:xfrm>
            <a:off x="2127214" y="5946987"/>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12" name="TextBox 1111">
            <a:extLst>
              <a:ext uri="{FF2B5EF4-FFF2-40B4-BE49-F238E27FC236}">
                <a16:creationId xmlns:a16="http://schemas.microsoft.com/office/drawing/2014/main" id="{81CBCE39-A54D-1602-12BE-9F34E91B1A86}"/>
              </a:ext>
            </a:extLst>
          </p:cNvPr>
          <p:cNvSpPr txBox="1"/>
          <p:nvPr/>
        </p:nvSpPr>
        <p:spPr>
          <a:xfrm>
            <a:off x="2127214" y="6152654"/>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13" name="TextBox 1112">
            <a:extLst>
              <a:ext uri="{FF2B5EF4-FFF2-40B4-BE49-F238E27FC236}">
                <a16:creationId xmlns:a16="http://schemas.microsoft.com/office/drawing/2014/main" id="{60C4CC48-E0FD-04B7-A2A5-BCCBF182BFAA}"/>
              </a:ext>
            </a:extLst>
          </p:cNvPr>
          <p:cNvSpPr txBox="1"/>
          <p:nvPr/>
        </p:nvSpPr>
        <p:spPr>
          <a:xfrm>
            <a:off x="2676142"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14" name="TextBox 1113">
            <a:extLst>
              <a:ext uri="{FF2B5EF4-FFF2-40B4-BE49-F238E27FC236}">
                <a16:creationId xmlns:a16="http://schemas.microsoft.com/office/drawing/2014/main" id="{4DB0D961-2909-4EC6-05B5-AD3BE3F99B6C}"/>
              </a:ext>
            </a:extLst>
          </p:cNvPr>
          <p:cNvSpPr txBox="1"/>
          <p:nvPr/>
        </p:nvSpPr>
        <p:spPr>
          <a:xfrm>
            <a:off x="2885181"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15" name="TextBox 1114">
            <a:extLst>
              <a:ext uri="{FF2B5EF4-FFF2-40B4-BE49-F238E27FC236}">
                <a16:creationId xmlns:a16="http://schemas.microsoft.com/office/drawing/2014/main" id="{8B4DFD2A-2662-F778-9567-E5DCD7A826AC}"/>
              </a:ext>
            </a:extLst>
          </p:cNvPr>
          <p:cNvSpPr txBox="1"/>
          <p:nvPr/>
        </p:nvSpPr>
        <p:spPr>
          <a:xfrm>
            <a:off x="3094220"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16" name="TextBox 1115">
            <a:extLst>
              <a:ext uri="{FF2B5EF4-FFF2-40B4-BE49-F238E27FC236}">
                <a16:creationId xmlns:a16="http://schemas.microsoft.com/office/drawing/2014/main" id="{C811FEDA-2E0C-CC6A-C54D-C3841A794EC5}"/>
              </a:ext>
            </a:extLst>
          </p:cNvPr>
          <p:cNvSpPr txBox="1"/>
          <p:nvPr/>
        </p:nvSpPr>
        <p:spPr>
          <a:xfrm>
            <a:off x="3303259"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17" name="TextBox 1116">
            <a:extLst>
              <a:ext uri="{FF2B5EF4-FFF2-40B4-BE49-F238E27FC236}">
                <a16:creationId xmlns:a16="http://schemas.microsoft.com/office/drawing/2014/main" id="{2F0FDFDA-8DF6-34BA-52A3-FA1F8FC027F2}"/>
              </a:ext>
            </a:extLst>
          </p:cNvPr>
          <p:cNvSpPr txBox="1"/>
          <p:nvPr/>
        </p:nvSpPr>
        <p:spPr>
          <a:xfrm>
            <a:off x="3512297"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18" name="Rectangle 1117">
            <a:extLst>
              <a:ext uri="{FF2B5EF4-FFF2-40B4-BE49-F238E27FC236}">
                <a16:creationId xmlns:a16="http://schemas.microsoft.com/office/drawing/2014/main" id="{1FDAC2F7-95CA-7595-0744-8B0A12E0C00E}"/>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9D3B496F-3B3A-256B-4C8F-685F4EAEF8B1}"/>
              </a:ext>
            </a:extLst>
          </p:cNvPr>
          <p:cNvSpPr/>
          <p:nvPr/>
        </p:nvSpPr>
        <p:spPr>
          <a:xfrm>
            <a:off x="4374446" y="533064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8795FAF4-C3FF-244F-CBEC-54B1FE92A41B}"/>
              </a:ext>
            </a:extLst>
          </p:cNvPr>
          <p:cNvSpPr/>
          <p:nvPr/>
        </p:nvSpPr>
        <p:spPr>
          <a:xfrm>
            <a:off x="4380796" y="5536315"/>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Rectangle 1120">
            <a:extLst>
              <a:ext uri="{FF2B5EF4-FFF2-40B4-BE49-F238E27FC236}">
                <a16:creationId xmlns:a16="http://schemas.microsoft.com/office/drawing/2014/main" id="{0B0113C9-076B-B6B6-504A-BD4221205190}"/>
              </a:ext>
            </a:extLst>
          </p:cNvPr>
          <p:cNvSpPr/>
          <p:nvPr/>
        </p:nvSpPr>
        <p:spPr>
          <a:xfrm>
            <a:off x="4380907" y="574198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Rectangle 1121">
            <a:extLst>
              <a:ext uri="{FF2B5EF4-FFF2-40B4-BE49-F238E27FC236}">
                <a16:creationId xmlns:a16="http://schemas.microsoft.com/office/drawing/2014/main" id="{5BEF87D7-2ADD-4248-7F69-FEC6C56149CA}"/>
              </a:ext>
            </a:extLst>
          </p:cNvPr>
          <p:cNvSpPr/>
          <p:nvPr/>
        </p:nvSpPr>
        <p:spPr>
          <a:xfrm>
            <a:off x="4379707" y="594764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Rectangle 1122">
            <a:extLst>
              <a:ext uri="{FF2B5EF4-FFF2-40B4-BE49-F238E27FC236}">
                <a16:creationId xmlns:a16="http://schemas.microsoft.com/office/drawing/2014/main" id="{510C789A-BD49-452F-8233-567441FC32E5}"/>
              </a:ext>
            </a:extLst>
          </p:cNvPr>
          <p:cNvSpPr/>
          <p:nvPr/>
        </p:nvSpPr>
        <p:spPr>
          <a:xfrm>
            <a:off x="4380068" y="6153316"/>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Rectangle 1123">
            <a:extLst>
              <a:ext uri="{FF2B5EF4-FFF2-40B4-BE49-F238E27FC236}">
                <a16:creationId xmlns:a16="http://schemas.microsoft.com/office/drawing/2014/main" id="{C78B49DE-D355-AED7-5B43-9A79994B2CD8}"/>
              </a:ext>
            </a:extLst>
          </p:cNvPr>
          <p:cNvSpPr/>
          <p:nvPr/>
        </p:nvSpPr>
        <p:spPr>
          <a:xfrm>
            <a:off x="4587384" y="533327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Rectangle 1124">
            <a:extLst>
              <a:ext uri="{FF2B5EF4-FFF2-40B4-BE49-F238E27FC236}">
                <a16:creationId xmlns:a16="http://schemas.microsoft.com/office/drawing/2014/main" id="{4B702B5B-EF20-C080-F232-3507952BFA61}"/>
              </a:ext>
            </a:extLst>
          </p:cNvPr>
          <p:cNvSpPr/>
          <p:nvPr/>
        </p:nvSpPr>
        <p:spPr>
          <a:xfrm>
            <a:off x="4584209" y="553894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Rectangle 1125">
            <a:extLst>
              <a:ext uri="{FF2B5EF4-FFF2-40B4-BE49-F238E27FC236}">
                <a16:creationId xmlns:a16="http://schemas.microsoft.com/office/drawing/2014/main" id="{BD135577-CB3C-DC4E-E12F-0302E8512964}"/>
              </a:ext>
            </a:extLst>
          </p:cNvPr>
          <p:cNvSpPr/>
          <p:nvPr/>
        </p:nvSpPr>
        <p:spPr>
          <a:xfrm>
            <a:off x="4587495" y="5744610"/>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Rectangle 1126">
            <a:extLst>
              <a:ext uri="{FF2B5EF4-FFF2-40B4-BE49-F238E27FC236}">
                <a16:creationId xmlns:a16="http://schemas.microsoft.com/office/drawing/2014/main" id="{FDF10CE2-EADE-2D76-02DB-4E684E7C2B88}"/>
              </a:ext>
            </a:extLst>
          </p:cNvPr>
          <p:cNvSpPr/>
          <p:nvPr/>
        </p:nvSpPr>
        <p:spPr>
          <a:xfrm>
            <a:off x="4586295" y="5950277"/>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D6C01A9D-44C4-5B49-110A-480C78A9116F}"/>
              </a:ext>
            </a:extLst>
          </p:cNvPr>
          <p:cNvSpPr/>
          <p:nvPr/>
        </p:nvSpPr>
        <p:spPr>
          <a:xfrm>
            <a:off x="4586656" y="6155944"/>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Rectangle 1128">
            <a:extLst>
              <a:ext uri="{FF2B5EF4-FFF2-40B4-BE49-F238E27FC236}">
                <a16:creationId xmlns:a16="http://schemas.microsoft.com/office/drawing/2014/main" id="{6805282B-5D17-DA74-8A8A-F3A430B02AD1}"/>
              </a:ext>
            </a:extLst>
          </p:cNvPr>
          <p:cNvSpPr/>
          <p:nvPr/>
        </p:nvSpPr>
        <p:spPr>
          <a:xfrm>
            <a:off x="4795643" y="5336618"/>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586B10C5-337A-7DAA-8A38-E85441904862}"/>
              </a:ext>
            </a:extLst>
          </p:cNvPr>
          <p:cNvSpPr/>
          <p:nvPr/>
        </p:nvSpPr>
        <p:spPr>
          <a:xfrm>
            <a:off x="4795643" y="5542285"/>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1E38908C-60C3-E78F-5D19-C23CD6725C26}"/>
              </a:ext>
            </a:extLst>
          </p:cNvPr>
          <p:cNvSpPr/>
          <p:nvPr/>
        </p:nvSpPr>
        <p:spPr>
          <a:xfrm>
            <a:off x="4795754" y="5747952"/>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5CAD34CB-83B4-7083-F6DF-6A4B1214D9C1}"/>
              </a:ext>
            </a:extLst>
          </p:cNvPr>
          <p:cNvSpPr/>
          <p:nvPr/>
        </p:nvSpPr>
        <p:spPr>
          <a:xfrm>
            <a:off x="4794554" y="5953619"/>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Rectangle 1132">
            <a:extLst>
              <a:ext uri="{FF2B5EF4-FFF2-40B4-BE49-F238E27FC236}">
                <a16:creationId xmlns:a16="http://schemas.microsoft.com/office/drawing/2014/main" id="{8D86693D-B01C-C0AB-5DB1-163652333285}"/>
              </a:ext>
            </a:extLst>
          </p:cNvPr>
          <p:cNvSpPr/>
          <p:nvPr/>
        </p:nvSpPr>
        <p:spPr>
          <a:xfrm>
            <a:off x="4794915" y="6159286"/>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766694FF-6481-B669-7D04-38FB8EA158D3}"/>
              </a:ext>
            </a:extLst>
          </p:cNvPr>
          <p:cNvSpPr/>
          <p:nvPr/>
        </p:nvSpPr>
        <p:spPr>
          <a:xfrm>
            <a:off x="5002231" y="5335278"/>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8960AFEF-4AA4-1985-6B87-2E89B8773FCE}"/>
              </a:ext>
            </a:extLst>
          </p:cNvPr>
          <p:cNvSpPr/>
          <p:nvPr/>
        </p:nvSpPr>
        <p:spPr>
          <a:xfrm>
            <a:off x="5002231" y="554094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766D5F51-EE42-9D94-1D81-1E06A460AA3A}"/>
              </a:ext>
            </a:extLst>
          </p:cNvPr>
          <p:cNvSpPr/>
          <p:nvPr/>
        </p:nvSpPr>
        <p:spPr>
          <a:xfrm>
            <a:off x="5002342" y="5746612"/>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Rectangle 1136">
            <a:extLst>
              <a:ext uri="{FF2B5EF4-FFF2-40B4-BE49-F238E27FC236}">
                <a16:creationId xmlns:a16="http://schemas.microsoft.com/office/drawing/2014/main" id="{B2C65A12-7B9E-7B06-2F64-32E5F25EAAD2}"/>
              </a:ext>
            </a:extLst>
          </p:cNvPr>
          <p:cNvSpPr/>
          <p:nvPr/>
        </p:nvSpPr>
        <p:spPr>
          <a:xfrm>
            <a:off x="5001142" y="595942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Rectangle 1137">
            <a:extLst>
              <a:ext uri="{FF2B5EF4-FFF2-40B4-BE49-F238E27FC236}">
                <a16:creationId xmlns:a16="http://schemas.microsoft.com/office/drawing/2014/main" id="{DAF8A47B-302C-E07E-3E72-9A101B28D8BE}"/>
              </a:ext>
            </a:extLst>
          </p:cNvPr>
          <p:cNvSpPr/>
          <p:nvPr/>
        </p:nvSpPr>
        <p:spPr>
          <a:xfrm>
            <a:off x="5001503" y="6160327"/>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Rectangle 1138">
            <a:extLst>
              <a:ext uri="{FF2B5EF4-FFF2-40B4-BE49-F238E27FC236}">
                <a16:creationId xmlns:a16="http://schemas.microsoft.com/office/drawing/2014/main" id="{6293F2F2-1B97-7D50-62EE-D2C3A88A95C2}"/>
              </a:ext>
            </a:extLst>
          </p:cNvPr>
          <p:cNvSpPr/>
          <p:nvPr/>
        </p:nvSpPr>
        <p:spPr>
          <a:xfrm>
            <a:off x="5208220" y="5336620"/>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Rectangle 1139">
            <a:extLst>
              <a:ext uri="{FF2B5EF4-FFF2-40B4-BE49-F238E27FC236}">
                <a16:creationId xmlns:a16="http://schemas.microsoft.com/office/drawing/2014/main" id="{65CD5945-D106-1E98-1844-FD2FE3531C08}"/>
              </a:ext>
            </a:extLst>
          </p:cNvPr>
          <p:cNvSpPr/>
          <p:nvPr/>
        </p:nvSpPr>
        <p:spPr>
          <a:xfrm>
            <a:off x="5208220" y="5542287"/>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837A171E-0DA1-08FE-F2C6-745B75427164}"/>
              </a:ext>
            </a:extLst>
          </p:cNvPr>
          <p:cNvSpPr/>
          <p:nvPr/>
        </p:nvSpPr>
        <p:spPr>
          <a:xfrm>
            <a:off x="5208331" y="5747954"/>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Rectangle 1141">
            <a:extLst>
              <a:ext uri="{FF2B5EF4-FFF2-40B4-BE49-F238E27FC236}">
                <a16:creationId xmlns:a16="http://schemas.microsoft.com/office/drawing/2014/main" id="{965D7D6A-1D6B-E429-413D-FE464BCB1526}"/>
              </a:ext>
            </a:extLst>
          </p:cNvPr>
          <p:cNvSpPr/>
          <p:nvPr/>
        </p:nvSpPr>
        <p:spPr>
          <a:xfrm>
            <a:off x="5207131" y="5953621"/>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Rectangle 1142">
            <a:extLst>
              <a:ext uri="{FF2B5EF4-FFF2-40B4-BE49-F238E27FC236}">
                <a16:creationId xmlns:a16="http://schemas.microsoft.com/office/drawing/2014/main" id="{68D4DF1C-F28F-638C-4FA1-B5DC2FDE48A5}"/>
              </a:ext>
            </a:extLst>
          </p:cNvPr>
          <p:cNvSpPr/>
          <p:nvPr/>
        </p:nvSpPr>
        <p:spPr>
          <a:xfrm>
            <a:off x="5209873" y="616405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TextBox 1143">
            <a:extLst>
              <a:ext uri="{FF2B5EF4-FFF2-40B4-BE49-F238E27FC236}">
                <a16:creationId xmlns:a16="http://schemas.microsoft.com/office/drawing/2014/main" id="{D5C65C1A-E2C1-049E-138F-ED6BB55F4A0C}"/>
              </a:ext>
            </a:extLst>
          </p:cNvPr>
          <p:cNvSpPr txBox="1"/>
          <p:nvPr/>
        </p:nvSpPr>
        <p:spPr>
          <a:xfrm>
            <a:off x="3876654" y="533699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45" name="TextBox 1144">
            <a:extLst>
              <a:ext uri="{FF2B5EF4-FFF2-40B4-BE49-F238E27FC236}">
                <a16:creationId xmlns:a16="http://schemas.microsoft.com/office/drawing/2014/main" id="{73133EFF-FABA-84F0-EA6F-2C68DC561886}"/>
              </a:ext>
            </a:extLst>
          </p:cNvPr>
          <p:cNvSpPr txBox="1"/>
          <p:nvPr/>
        </p:nvSpPr>
        <p:spPr>
          <a:xfrm>
            <a:off x="3876654" y="554266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46" name="TextBox 1145">
            <a:extLst>
              <a:ext uri="{FF2B5EF4-FFF2-40B4-BE49-F238E27FC236}">
                <a16:creationId xmlns:a16="http://schemas.microsoft.com/office/drawing/2014/main" id="{D1F39983-78E8-D156-96FA-13FBE38DEE88}"/>
              </a:ext>
            </a:extLst>
          </p:cNvPr>
          <p:cNvSpPr txBox="1"/>
          <p:nvPr/>
        </p:nvSpPr>
        <p:spPr>
          <a:xfrm>
            <a:off x="3876654" y="574833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47" name="TextBox 1146">
            <a:extLst>
              <a:ext uri="{FF2B5EF4-FFF2-40B4-BE49-F238E27FC236}">
                <a16:creationId xmlns:a16="http://schemas.microsoft.com/office/drawing/2014/main" id="{1D878C6B-85CD-6944-3203-3ABA404BDC67}"/>
              </a:ext>
            </a:extLst>
          </p:cNvPr>
          <p:cNvSpPr txBox="1"/>
          <p:nvPr/>
        </p:nvSpPr>
        <p:spPr>
          <a:xfrm>
            <a:off x="3876654" y="595399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48" name="TextBox 1147">
            <a:extLst>
              <a:ext uri="{FF2B5EF4-FFF2-40B4-BE49-F238E27FC236}">
                <a16:creationId xmlns:a16="http://schemas.microsoft.com/office/drawing/2014/main" id="{A44BAB99-BBEB-7E74-94E9-5132A3CBEDFB}"/>
              </a:ext>
            </a:extLst>
          </p:cNvPr>
          <p:cNvSpPr txBox="1"/>
          <p:nvPr/>
        </p:nvSpPr>
        <p:spPr>
          <a:xfrm>
            <a:off x="3876654" y="615966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49" name="TextBox 1148">
            <a:extLst>
              <a:ext uri="{FF2B5EF4-FFF2-40B4-BE49-F238E27FC236}">
                <a16:creationId xmlns:a16="http://schemas.microsoft.com/office/drawing/2014/main" id="{3A470E50-7FA0-F6BE-137E-8D2287B71E14}"/>
              </a:ext>
            </a:extLst>
          </p:cNvPr>
          <p:cNvSpPr txBox="1"/>
          <p:nvPr/>
        </p:nvSpPr>
        <p:spPr>
          <a:xfrm>
            <a:off x="4425582"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50" name="TextBox 1149">
            <a:extLst>
              <a:ext uri="{FF2B5EF4-FFF2-40B4-BE49-F238E27FC236}">
                <a16:creationId xmlns:a16="http://schemas.microsoft.com/office/drawing/2014/main" id="{6A92020D-EE8D-61CA-10C1-508E782031E1}"/>
              </a:ext>
            </a:extLst>
          </p:cNvPr>
          <p:cNvSpPr txBox="1"/>
          <p:nvPr/>
        </p:nvSpPr>
        <p:spPr>
          <a:xfrm>
            <a:off x="4634621"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51" name="TextBox 1150">
            <a:extLst>
              <a:ext uri="{FF2B5EF4-FFF2-40B4-BE49-F238E27FC236}">
                <a16:creationId xmlns:a16="http://schemas.microsoft.com/office/drawing/2014/main" id="{6748257D-6019-66FA-1F49-7EE345B7ED47}"/>
              </a:ext>
            </a:extLst>
          </p:cNvPr>
          <p:cNvSpPr txBox="1"/>
          <p:nvPr/>
        </p:nvSpPr>
        <p:spPr>
          <a:xfrm>
            <a:off x="4843660"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52" name="TextBox 1151">
            <a:extLst>
              <a:ext uri="{FF2B5EF4-FFF2-40B4-BE49-F238E27FC236}">
                <a16:creationId xmlns:a16="http://schemas.microsoft.com/office/drawing/2014/main" id="{771A24CB-80B7-A800-3837-5130E18464B5}"/>
              </a:ext>
            </a:extLst>
          </p:cNvPr>
          <p:cNvSpPr txBox="1"/>
          <p:nvPr/>
        </p:nvSpPr>
        <p:spPr>
          <a:xfrm>
            <a:off x="5052699"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53" name="TextBox 1152">
            <a:extLst>
              <a:ext uri="{FF2B5EF4-FFF2-40B4-BE49-F238E27FC236}">
                <a16:creationId xmlns:a16="http://schemas.microsoft.com/office/drawing/2014/main" id="{A5D44601-7434-E0B7-1FEA-8BF7F882761C}"/>
              </a:ext>
            </a:extLst>
          </p:cNvPr>
          <p:cNvSpPr txBox="1"/>
          <p:nvPr/>
        </p:nvSpPr>
        <p:spPr>
          <a:xfrm>
            <a:off x="5261737"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54" name="Rectangle 1153">
            <a:extLst>
              <a:ext uri="{FF2B5EF4-FFF2-40B4-BE49-F238E27FC236}">
                <a16:creationId xmlns:a16="http://schemas.microsoft.com/office/drawing/2014/main" id="{052A2336-F9DC-5000-C446-0FE958681CAB}"/>
              </a:ext>
            </a:extLst>
          </p:cNvPr>
          <p:cNvSpPr/>
          <p:nvPr/>
        </p:nvSpPr>
        <p:spPr>
          <a:xfrm>
            <a:off x="4380796" y="5336617"/>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6" name="Straight Arrow Connector 1155">
            <a:extLst>
              <a:ext uri="{FF2B5EF4-FFF2-40B4-BE49-F238E27FC236}">
                <a16:creationId xmlns:a16="http://schemas.microsoft.com/office/drawing/2014/main" id="{C03238F0-B669-49A9-07DC-F86D46FB25E5}"/>
              </a:ext>
            </a:extLst>
          </p:cNvPr>
          <p:cNvCxnSpPr>
            <a:cxnSpLocks/>
          </p:cNvCxnSpPr>
          <p:nvPr/>
        </p:nvCxnSpPr>
        <p:spPr>
          <a:xfrm>
            <a:off x="136818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Straight Arrow Connector 1158">
            <a:extLst>
              <a:ext uri="{FF2B5EF4-FFF2-40B4-BE49-F238E27FC236}">
                <a16:creationId xmlns:a16="http://schemas.microsoft.com/office/drawing/2014/main" id="{E619CD30-A62C-A0B8-C019-4C7AF60730C6}"/>
              </a:ext>
            </a:extLst>
          </p:cNvPr>
          <p:cNvCxnSpPr>
            <a:cxnSpLocks/>
          </p:cNvCxnSpPr>
          <p:nvPr/>
        </p:nvCxnSpPr>
        <p:spPr>
          <a:xfrm>
            <a:off x="3131441"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Straight Arrow Connector 1159">
            <a:extLst>
              <a:ext uri="{FF2B5EF4-FFF2-40B4-BE49-F238E27FC236}">
                <a16:creationId xmlns:a16="http://schemas.microsoft.com/office/drawing/2014/main" id="{24407AEF-94AF-EF41-C232-A1BE4F2FC62C}"/>
              </a:ext>
            </a:extLst>
          </p:cNvPr>
          <p:cNvCxnSpPr>
            <a:cxnSpLocks/>
          </p:cNvCxnSpPr>
          <p:nvPr/>
        </p:nvCxnSpPr>
        <p:spPr>
          <a:xfrm>
            <a:off x="486599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1" name="TextBox 1160">
            <a:extLst>
              <a:ext uri="{FF2B5EF4-FFF2-40B4-BE49-F238E27FC236}">
                <a16:creationId xmlns:a16="http://schemas.microsoft.com/office/drawing/2014/main" id="{DCBAB425-CE40-100A-B17B-AC722469D973}"/>
              </a:ext>
            </a:extLst>
          </p:cNvPr>
          <p:cNvSpPr txBox="1"/>
          <p:nvPr/>
        </p:nvSpPr>
        <p:spPr>
          <a:xfrm>
            <a:off x="806786" y="6377901"/>
            <a:ext cx="1160895"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Object RDM</a:t>
            </a:r>
          </a:p>
        </p:txBody>
      </p:sp>
      <p:sp>
        <p:nvSpPr>
          <p:cNvPr id="1162" name="TextBox 1161">
            <a:extLst>
              <a:ext uri="{FF2B5EF4-FFF2-40B4-BE49-F238E27FC236}">
                <a16:creationId xmlns:a16="http://schemas.microsoft.com/office/drawing/2014/main" id="{952434B0-BB8F-8E95-1484-1C0F663394CC}"/>
              </a:ext>
            </a:extLst>
          </p:cNvPr>
          <p:cNvSpPr txBox="1"/>
          <p:nvPr/>
        </p:nvSpPr>
        <p:spPr>
          <a:xfrm>
            <a:off x="2574855" y="6377901"/>
            <a:ext cx="1151277"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Scene RDM</a:t>
            </a:r>
          </a:p>
        </p:txBody>
      </p:sp>
      <p:sp>
        <p:nvSpPr>
          <p:cNvPr id="1163" name="TextBox 1162">
            <a:extLst>
              <a:ext uri="{FF2B5EF4-FFF2-40B4-BE49-F238E27FC236}">
                <a16:creationId xmlns:a16="http://schemas.microsoft.com/office/drawing/2014/main" id="{F457D580-29C4-114A-D4DC-1118A531979E}"/>
              </a:ext>
            </a:extLst>
          </p:cNvPr>
          <p:cNvSpPr txBox="1"/>
          <p:nvPr/>
        </p:nvSpPr>
        <p:spPr>
          <a:xfrm>
            <a:off x="4246473" y="6377901"/>
            <a:ext cx="127421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Abs-</a:t>
            </a:r>
            <a:r>
              <a:rPr lang="en-US" sz="1400" dirty="0" err="1">
                <a:latin typeface="Arial" panose="020B0604020202020204" pitchFamily="34" charset="0"/>
                <a:cs typeface="Arial" panose="020B0604020202020204" pitchFamily="34" charset="0"/>
              </a:rPr>
              <a:t>Dif</a:t>
            </a:r>
            <a:r>
              <a:rPr lang="en-US" sz="1400" dirty="0">
                <a:latin typeface="Arial" panose="020B0604020202020204" pitchFamily="34" charset="0"/>
                <a:cs typeface="Arial" panose="020B0604020202020204" pitchFamily="34" charset="0"/>
              </a:rPr>
              <a:t> RDM</a:t>
            </a:r>
          </a:p>
        </p:txBody>
      </p:sp>
    </p:spTree>
    <p:extLst>
      <p:ext uri="{BB962C8B-B14F-4D97-AF65-F5344CB8AC3E}">
        <p14:creationId xmlns:p14="http://schemas.microsoft.com/office/powerpoint/2010/main" val="373490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0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0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1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1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1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1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1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2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2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2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2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2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3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3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3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3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3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3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3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4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4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4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4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4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4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4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14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4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15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15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15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153"/>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15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159"/>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16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16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163"/>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3">
                                            <p:txEl>
                                              <p:pRg st="3" end="3"/>
                                            </p:txEl>
                                          </p:spTgt>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3">
                                            <p:txEl>
                                              <p:pRg st="4" end="4"/>
                                            </p:txEl>
                                          </p:spTgt>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3">
                                            <p:txEl>
                                              <p:pRg st="5" end="5"/>
                                            </p:txEl>
                                          </p:spTgt>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3">
                                            <p:txEl>
                                              <p:pRg st="6" end="6"/>
                                            </p:txEl>
                                          </p:spTgt>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3">
                                            <p:txEl>
                                              <p:pRg st="7" end="7"/>
                                            </p:txEl>
                                          </p:spTgt>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
                                            <p:txEl>
                                              <p:pRg st="8" end="8"/>
                                            </p:txEl>
                                          </p:spTgt>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9" grpId="0"/>
      <p:bldP spid="1083" grpId="0" animBg="1"/>
      <p:bldP spid="1084" grpId="0" animBg="1"/>
      <p:bldP spid="1085" grpId="0" animBg="1"/>
      <p:bldP spid="1086" grpId="0" animBg="1"/>
      <p:bldP spid="1087" grpId="0" animBg="1"/>
      <p:bldP spid="1088" grpId="0" animBg="1"/>
      <p:bldP spid="1089" grpId="0" animBg="1"/>
      <p:bldP spid="1090" grpId="0" animBg="1"/>
      <p:bldP spid="1091" grpId="0" animBg="1"/>
      <p:bldP spid="1092" grpId="0" animBg="1"/>
      <p:bldP spid="1093" grpId="0" animBg="1"/>
      <p:bldP spid="1094" grpId="0" animBg="1"/>
      <p:bldP spid="1095" grpId="0" animBg="1"/>
      <p:bldP spid="1096" grpId="0" animBg="1"/>
      <p:bldP spid="1097" grpId="0" animBg="1"/>
      <p:bldP spid="1098" grpId="0" animBg="1"/>
      <p:bldP spid="1099" grpId="0" animBg="1"/>
      <p:bldP spid="1100" grpId="0" animBg="1"/>
      <p:bldP spid="1101" grpId="0" animBg="1"/>
      <p:bldP spid="1102" grpId="0" animBg="1"/>
      <p:bldP spid="1103" grpId="0" animBg="1"/>
      <p:bldP spid="1104" grpId="0" animBg="1"/>
      <p:bldP spid="1105" grpId="0" animBg="1"/>
      <p:bldP spid="1106" grpId="0" animBg="1"/>
      <p:bldP spid="1107" grpId="0" animBg="1"/>
      <p:bldP spid="1108" grpId="0"/>
      <p:bldP spid="1109" grpId="0"/>
      <p:bldP spid="1110" grpId="0"/>
      <p:bldP spid="1111" grpId="0"/>
      <p:bldP spid="1112" grpId="0"/>
      <p:bldP spid="1113" grpId="0"/>
      <p:bldP spid="1114" grpId="0"/>
      <p:bldP spid="1115" grpId="0"/>
      <p:bldP spid="1116" grpId="0"/>
      <p:bldP spid="1117" grpId="0"/>
      <p:bldP spid="1118" grpId="0" animBg="1"/>
      <p:bldP spid="1119" grpId="0" animBg="1"/>
      <p:bldP spid="1120" grpId="0" animBg="1"/>
      <p:bldP spid="1121" grpId="0" animBg="1"/>
      <p:bldP spid="1122" grpId="0" animBg="1"/>
      <p:bldP spid="1123" grpId="0" animBg="1"/>
      <p:bldP spid="1124" grpId="0" animBg="1"/>
      <p:bldP spid="1125" grpId="0" animBg="1"/>
      <p:bldP spid="1126" grpId="0" animBg="1"/>
      <p:bldP spid="1127" grpId="0" animBg="1"/>
      <p:bldP spid="1128" grpId="0" animBg="1"/>
      <p:bldP spid="1129" grpId="0" animBg="1"/>
      <p:bldP spid="1130" grpId="0" animBg="1"/>
      <p:bldP spid="1131" grpId="0" animBg="1"/>
      <p:bldP spid="1132" grpId="0" animBg="1"/>
      <p:bldP spid="1133" grpId="0" animBg="1"/>
      <p:bldP spid="1134" grpId="0" animBg="1"/>
      <p:bldP spid="1135" grpId="0" animBg="1"/>
      <p:bldP spid="1136" grpId="0" animBg="1"/>
      <p:bldP spid="1137" grpId="0" animBg="1"/>
      <p:bldP spid="1138" grpId="0" animBg="1"/>
      <p:bldP spid="1139" grpId="0" animBg="1"/>
      <p:bldP spid="1140" grpId="0" animBg="1"/>
      <p:bldP spid="1141" grpId="0" animBg="1"/>
      <p:bldP spid="1142" grpId="0" animBg="1"/>
      <p:bldP spid="1143" grpId="0" animBg="1"/>
      <p:bldP spid="1144" grpId="0"/>
      <p:bldP spid="1145" grpId="0"/>
      <p:bldP spid="1146" grpId="0"/>
      <p:bldP spid="1147" grpId="0"/>
      <p:bldP spid="1148" grpId="0"/>
      <p:bldP spid="1149" grpId="0"/>
      <p:bldP spid="1150" grpId="0"/>
      <p:bldP spid="1151" grpId="0"/>
      <p:bldP spid="1152" grpId="0"/>
      <p:bldP spid="1153" grpId="0"/>
      <p:bldP spid="1154" grpId="0" animBg="1"/>
      <p:bldP spid="1162" grpId="0"/>
      <p:bldP spid="11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245490"/>
            <a:ext cx="10515600" cy="876313"/>
          </a:xfrm>
        </p:spPr>
        <p:txBody>
          <a:bodyPr>
            <a:noAutofit/>
          </a:bodyPr>
          <a:lstStyle/>
          <a:p>
            <a:r>
              <a:rPr lang="en-US" sz="3600" dirty="0"/>
              <a:t>Many ways to interpret the abs-difference vector</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424800" y="1360799"/>
            <a:ext cx="11130092" cy="5169601"/>
          </a:xfrm>
        </p:spPr>
        <p:txBody>
          <a:bodyPr>
            <a:normAutofit fontScale="70000" lnSpcReduction="20000"/>
          </a:bodyPr>
          <a:lstStyle/>
          <a:p>
            <a:r>
              <a:rPr lang="en-US" dirty="0"/>
              <a:t>Psychological meaning of the difference vector:</a:t>
            </a:r>
          </a:p>
          <a:p>
            <a:pPr lvl="1"/>
            <a:r>
              <a:rPr lang="en-US" dirty="0"/>
              <a:t>Prediction error: </a:t>
            </a:r>
          </a:p>
          <a:p>
            <a:pPr lvl="2"/>
            <a:r>
              <a:rPr lang="en-US" dirty="0"/>
              <a:t>Scenes establish a “prediction” that may be violated</a:t>
            </a:r>
          </a:p>
          <a:p>
            <a:pPr lvl="2"/>
            <a:r>
              <a:rPr lang="en-US" dirty="0"/>
              <a:t>Predictive coding theory argues that all information is processed as prediction errors</a:t>
            </a:r>
          </a:p>
          <a:p>
            <a:pPr lvl="1"/>
            <a:r>
              <a:rPr lang="en-US" dirty="0"/>
              <a:t>Priming: </a:t>
            </a:r>
          </a:p>
          <a:p>
            <a:pPr lvl="2"/>
            <a:r>
              <a:rPr lang="en-US" dirty="0"/>
              <a:t>Scenes prime some representations, which will show weaker/stronger responses if activated again by the object</a:t>
            </a:r>
          </a:p>
          <a:p>
            <a:pPr lvl="2"/>
            <a:r>
              <a:rPr lang="en-US" dirty="0"/>
              <a:t>Link to repetition suppression</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r>
              <a:rPr lang="en-US" dirty="0"/>
              <a:t>Speculative:</a:t>
            </a:r>
          </a:p>
          <a:p>
            <a:pPr lvl="1"/>
            <a:r>
              <a:rPr lang="en-US" dirty="0"/>
              <a:t>Unclear meaning yet informative</a:t>
            </a:r>
          </a:p>
          <a:p>
            <a:pPr lvl="2"/>
            <a:r>
              <a:rPr lang="en-US" dirty="0"/>
              <a:t>There is no clear psychological meaning of a “difference vector”</a:t>
            </a:r>
          </a:p>
          <a:p>
            <a:pPr lvl="2"/>
            <a:r>
              <a:rPr lang="en-US" dirty="0"/>
              <a:t>Nonetheless, because this measure combines object and scene information, the findings must reflect some type of interaction between representations</a:t>
            </a:r>
          </a:p>
          <a:p>
            <a:pPr lvl="1"/>
            <a:r>
              <a:rPr lang="en-US" dirty="0"/>
              <a:t>Analogical reasoning</a:t>
            </a:r>
          </a:p>
          <a:p>
            <a:pPr lvl="2"/>
            <a:r>
              <a:rPr lang="en-US" dirty="0"/>
              <a:t>In the analysis, representational similarity entails parallels between trial 1’s scene-object relationship and trial 2’s scene-object relationship (i.e., an analogy)</a:t>
            </a:r>
          </a:p>
          <a:p>
            <a:pPr lvl="2"/>
            <a:r>
              <a:rPr lang="en-US" dirty="0"/>
              <a:t>Because the analysis is looking for analogies, this implies that this is related to how humans process analogies? </a:t>
            </a:r>
          </a:p>
          <a:p>
            <a:r>
              <a:rPr lang="en-US" dirty="0"/>
              <a:t>Framed as possible competing hypotheses?</a:t>
            </a:r>
          </a:p>
        </p:txBody>
      </p:sp>
    </p:spTree>
    <p:extLst>
      <p:ext uri="{BB962C8B-B14F-4D97-AF65-F5344CB8AC3E}">
        <p14:creationId xmlns:p14="http://schemas.microsoft.com/office/powerpoint/2010/main" val="1993664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6B7C-CD14-6718-A840-E9F7F745DA78}"/>
              </a:ext>
            </a:extLst>
          </p:cNvPr>
          <p:cNvSpPr>
            <a:spLocks noGrp="1"/>
          </p:cNvSpPr>
          <p:nvPr>
            <p:ph type="title"/>
          </p:nvPr>
        </p:nvSpPr>
        <p:spPr>
          <a:xfrm>
            <a:off x="838200" y="131350"/>
            <a:ext cx="10515600" cy="1325563"/>
          </a:xfrm>
        </p:spPr>
        <p:txBody>
          <a:bodyPr/>
          <a:lstStyle/>
          <a:p>
            <a:r>
              <a:rPr lang="en-US" dirty="0"/>
              <a:t>Perceptual vectors</a:t>
            </a:r>
          </a:p>
        </p:txBody>
      </p:sp>
      <p:pic>
        <p:nvPicPr>
          <p:cNvPr id="5" name="Picture 4">
            <a:extLst>
              <a:ext uri="{FF2B5EF4-FFF2-40B4-BE49-F238E27FC236}">
                <a16:creationId xmlns:a16="http://schemas.microsoft.com/office/drawing/2014/main" id="{5E3C0434-B8A9-C66E-2089-3689BEA9B471}"/>
              </a:ext>
            </a:extLst>
          </p:cNvPr>
          <p:cNvPicPr>
            <a:picLocks noChangeAspect="1"/>
          </p:cNvPicPr>
          <p:nvPr/>
        </p:nvPicPr>
        <p:blipFill>
          <a:blip r:embed="rId2"/>
          <a:stretch>
            <a:fillRect/>
          </a:stretch>
        </p:blipFill>
        <p:spPr>
          <a:xfrm>
            <a:off x="6183648" y="2072486"/>
            <a:ext cx="5710152" cy="4282614"/>
          </a:xfrm>
          <a:prstGeom prst="rect">
            <a:avLst/>
          </a:prstGeom>
        </p:spPr>
      </p:pic>
      <p:pic>
        <p:nvPicPr>
          <p:cNvPr id="7" name="Picture 6">
            <a:extLst>
              <a:ext uri="{FF2B5EF4-FFF2-40B4-BE49-F238E27FC236}">
                <a16:creationId xmlns:a16="http://schemas.microsoft.com/office/drawing/2014/main" id="{C4E9A5B7-E80F-D711-F7C3-99E3B4ECDC6C}"/>
              </a:ext>
            </a:extLst>
          </p:cNvPr>
          <p:cNvPicPr>
            <a:picLocks noChangeAspect="1"/>
          </p:cNvPicPr>
          <p:nvPr/>
        </p:nvPicPr>
        <p:blipFill rotWithShape="1">
          <a:blip r:embed="rId3"/>
          <a:srcRect l="20349" t="7884" r="5196" b="16252"/>
          <a:stretch/>
        </p:blipFill>
        <p:spPr>
          <a:xfrm>
            <a:off x="491838" y="2158688"/>
            <a:ext cx="5604162" cy="4282613"/>
          </a:xfrm>
          <a:prstGeom prst="rect">
            <a:avLst/>
          </a:prstGeom>
        </p:spPr>
      </p:pic>
      <p:sp>
        <p:nvSpPr>
          <p:cNvPr id="3" name="Content Placeholder 2">
            <a:extLst>
              <a:ext uri="{FF2B5EF4-FFF2-40B4-BE49-F238E27FC236}">
                <a16:creationId xmlns:a16="http://schemas.microsoft.com/office/drawing/2014/main" id="{330D2E80-770C-7A5E-675F-02064152DEDF}"/>
              </a:ext>
            </a:extLst>
          </p:cNvPr>
          <p:cNvSpPr>
            <a:spLocks noGrp="1"/>
          </p:cNvSpPr>
          <p:nvPr>
            <p:ph idx="1"/>
          </p:nvPr>
        </p:nvSpPr>
        <p:spPr>
          <a:xfrm>
            <a:off x="491838" y="1496288"/>
            <a:ext cx="5604162" cy="662400"/>
          </a:xfrm>
        </p:spPr>
        <p:txBody>
          <a:bodyPr>
            <a:normAutofit/>
          </a:bodyPr>
          <a:lstStyle/>
          <a:p>
            <a:pPr marL="0" indent="0" algn="ctr">
              <a:buNone/>
            </a:pPr>
            <a:r>
              <a:rPr lang="en-US" sz="3600" dirty="0"/>
              <a:t>Scene</a:t>
            </a:r>
            <a:endParaRPr lang="en-US" dirty="0"/>
          </a:p>
        </p:txBody>
      </p:sp>
      <p:sp>
        <p:nvSpPr>
          <p:cNvPr id="4" name="Content Placeholder 2">
            <a:extLst>
              <a:ext uri="{FF2B5EF4-FFF2-40B4-BE49-F238E27FC236}">
                <a16:creationId xmlns:a16="http://schemas.microsoft.com/office/drawing/2014/main" id="{891CCAF9-A782-97AA-7928-D6F0988DFE5B}"/>
              </a:ext>
            </a:extLst>
          </p:cNvPr>
          <p:cNvSpPr txBox="1">
            <a:spLocks/>
          </p:cNvSpPr>
          <p:nvPr/>
        </p:nvSpPr>
        <p:spPr>
          <a:xfrm>
            <a:off x="6314400" y="1496288"/>
            <a:ext cx="5550000" cy="662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t>Object</a:t>
            </a:r>
          </a:p>
        </p:txBody>
      </p:sp>
    </p:spTree>
    <p:extLst>
      <p:ext uri="{BB962C8B-B14F-4D97-AF65-F5344CB8AC3E}">
        <p14:creationId xmlns:p14="http://schemas.microsoft.com/office/powerpoint/2010/main" val="387741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048B-6995-A536-9102-2C894ADF8C92}"/>
              </a:ext>
            </a:extLst>
          </p:cNvPr>
          <p:cNvSpPr>
            <a:spLocks noGrp="1"/>
          </p:cNvSpPr>
          <p:nvPr>
            <p:ph type="title"/>
          </p:nvPr>
        </p:nvSpPr>
        <p:spPr>
          <a:xfrm>
            <a:off x="838200" y="365125"/>
            <a:ext cx="2200275" cy="1325563"/>
          </a:xfrm>
        </p:spPr>
        <p:txBody>
          <a:bodyPr/>
          <a:lstStyle/>
          <a:p>
            <a:r>
              <a:rPr lang="en-US" dirty="0"/>
              <a:t>Abs-</a:t>
            </a:r>
            <a:r>
              <a:rPr lang="en-US" dirty="0" err="1"/>
              <a:t>dif</a:t>
            </a:r>
            <a:r>
              <a:rPr lang="en-US" dirty="0"/>
              <a:t> vector</a:t>
            </a:r>
          </a:p>
        </p:txBody>
      </p:sp>
      <p:sp>
        <p:nvSpPr>
          <p:cNvPr id="3" name="Content Placeholder 2">
            <a:extLst>
              <a:ext uri="{FF2B5EF4-FFF2-40B4-BE49-F238E27FC236}">
                <a16:creationId xmlns:a16="http://schemas.microsoft.com/office/drawing/2014/main" id="{0C16AFDE-86CA-CD03-1EAC-ED71B92BFCBA}"/>
              </a:ext>
            </a:extLst>
          </p:cNvPr>
          <p:cNvSpPr>
            <a:spLocks noGrp="1"/>
          </p:cNvSpPr>
          <p:nvPr>
            <p:ph idx="1"/>
          </p:nvPr>
        </p:nvSpPr>
        <p:spPr>
          <a:xfrm>
            <a:off x="608750" y="2746375"/>
            <a:ext cx="2422525" cy="428625"/>
          </a:xfrm>
        </p:spPr>
        <p:txBody>
          <a:bodyPr>
            <a:normAutofit fontScale="92500" lnSpcReduction="10000"/>
          </a:bodyPr>
          <a:lstStyle/>
          <a:p>
            <a:pPr marL="0" indent="0">
              <a:buNone/>
            </a:pPr>
            <a:r>
              <a:rPr lang="en-US" dirty="0"/>
              <a:t>Object   Scene</a:t>
            </a:r>
          </a:p>
        </p:txBody>
      </p:sp>
      <p:pic>
        <p:nvPicPr>
          <p:cNvPr id="9" name="Picture 8">
            <a:extLst>
              <a:ext uri="{FF2B5EF4-FFF2-40B4-BE49-F238E27FC236}">
                <a16:creationId xmlns:a16="http://schemas.microsoft.com/office/drawing/2014/main" id="{9D9F5F4F-9A7C-DC80-1400-0138A241EB51}"/>
              </a:ext>
            </a:extLst>
          </p:cNvPr>
          <p:cNvPicPr>
            <a:picLocks noChangeAspect="1"/>
          </p:cNvPicPr>
          <p:nvPr/>
        </p:nvPicPr>
        <p:blipFill>
          <a:blip r:embed="rId2"/>
          <a:stretch>
            <a:fillRect/>
          </a:stretch>
        </p:blipFill>
        <p:spPr>
          <a:xfrm>
            <a:off x="3105151" y="87511"/>
            <a:ext cx="8910637" cy="6682978"/>
          </a:xfrm>
          <a:prstGeom prst="rect">
            <a:avLst/>
          </a:prstGeom>
        </p:spPr>
      </p:pic>
      <p:sp>
        <p:nvSpPr>
          <p:cNvPr id="11" name="Oval 10">
            <a:extLst>
              <a:ext uri="{FF2B5EF4-FFF2-40B4-BE49-F238E27FC236}">
                <a16:creationId xmlns:a16="http://schemas.microsoft.com/office/drawing/2014/main" id="{2C9FF80B-611C-7D23-5040-49E5CD09F6F4}"/>
              </a:ext>
            </a:extLst>
          </p:cNvPr>
          <p:cNvSpPr/>
          <p:nvPr/>
        </p:nvSpPr>
        <p:spPr>
          <a:xfrm>
            <a:off x="8324850" y="3079750"/>
            <a:ext cx="1270000" cy="5207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E7AE2A0-6ADC-AE3A-2C30-B2F18978D3C1}"/>
              </a:ext>
            </a:extLst>
          </p:cNvPr>
          <p:cNvSpPr/>
          <p:nvPr/>
        </p:nvSpPr>
        <p:spPr>
          <a:xfrm>
            <a:off x="6838950" y="4133850"/>
            <a:ext cx="920750" cy="38735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E63E13B-3974-BE57-F5F1-309DAAB2AEAE}"/>
              </a:ext>
            </a:extLst>
          </p:cNvPr>
          <p:cNvSpPr/>
          <p:nvPr/>
        </p:nvSpPr>
        <p:spPr>
          <a:xfrm>
            <a:off x="5787230" y="4572000"/>
            <a:ext cx="1820070" cy="17399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B1F6C56-1EA4-4F91-2677-6E020AB52119}"/>
              </a:ext>
            </a:extLst>
          </p:cNvPr>
          <p:cNvSpPr txBox="1"/>
          <p:nvPr/>
        </p:nvSpPr>
        <p:spPr>
          <a:xfrm>
            <a:off x="5950243" y="6323270"/>
            <a:ext cx="150554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Green scene</a:t>
            </a:r>
          </a:p>
        </p:txBody>
      </p:sp>
      <p:sp>
        <p:nvSpPr>
          <p:cNvPr id="15" name="Rectangle 14">
            <a:extLst>
              <a:ext uri="{FF2B5EF4-FFF2-40B4-BE49-F238E27FC236}">
                <a16:creationId xmlns:a16="http://schemas.microsoft.com/office/drawing/2014/main" id="{8E9429E4-F6B0-B625-42C4-6D71DE421A6C}"/>
              </a:ext>
            </a:extLst>
          </p:cNvPr>
          <p:cNvSpPr/>
          <p:nvPr/>
        </p:nvSpPr>
        <p:spPr>
          <a:xfrm>
            <a:off x="565150" y="2559050"/>
            <a:ext cx="2473325" cy="74295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0DDAAAFA-9EA7-FED0-321A-4CA39E7A17BE}"/>
              </a:ext>
            </a:extLst>
          </p:cNvPr>
          <p:cNvCxnSpPr>
            <a:cxnSpLocks/>
          </p:cNvCxnSpPr>
          <p:nvPr/>
        </p:nvCxnSpPr>
        <p:spPr>
          <a:xfrm>
            <a:off x="1792175" y="2559050"/>
            <a:ext cx="0" cy="7429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AC701AF-8C01-E6B8-094D-C6FD65229E7D}"/>
              </a:ext>
            </a:extLst>
          </p:cNvPr>
          <p:cNvSpPr/>
          <p:nvPr/>
        </p:nvSpPr>
        <p:spPr>
          <a:xfrm>
            <a:off x="8519970" y="3821741"/>
            <a:ext cx="1270000" cy="6437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D730EC3-026F-A399-9B7D-3B87AED9D585}"/>
              </a:ext>
            </a:extLst>
          </p:cNvPr>
          <p:cNvSpPr/>
          <p:nvPr/>
        </p:nvSpPr>
        <p:spPr>
          <a:xfrm>
            <a:off x="7171151" y="1146132"/>
            <a:ext cx="2286000" cy="116492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EAE857B-5274-5E44-36C3-C45A08D4168B}"/>
              </a:ext>
            </a:extLst>
          </p:cNvPr>
          <p:cNvSpPr txBox="1"/>
          <p:nvPr/>
        </p:nvSpPr>
        <p:spPr>
          <a:xfrm>
            <a:off x="3070300" y="3637075"/>
            <a:ext cx="15183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Brown scene</a:t>
            </a:r>
          </a:p>
        </p:txBody>
      </p:sp>
      <p:sp>
        <p:nvSpPr>
          <p:cNvPr id="22" name="Oval 21">
            <a:extLst>
              <a:ext uri="{FF2B5EF4-FFF2-40B4-BE49-F238E27FC236}">
                <a16:creationId xmlns:a16="http://schemas.microsoft.com/office/drawing/2014/main" id="{5CE621DD-AAD6-B534-57BB-71FD7AEF6D66}"/>
              </a:ext>
            </a:extLst>
          </p:cNvPr>
          <p:cNvSpPr/>
          <p:nvPr/>
        </p:nvSpPr>
        <p:spPr>
          <a:xfrm>
            <a:off x="4706214" y="2995808"/>
            <a:ext cx="1542185" cy="148411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0CB105E-E5F2-569F-6B73-6ED42D0C74CB}"/>
              </a:ext>
            </a:extLst>
          </p:cNvPr>
          <p:cNvSpPr txBox="1"/>
          <p:nvPr/>
        </p:nvSpPr>
        <p:spPr>
          <a:xfrm>
            <a:off x="7646670" y="790544"/>
            <a:ext cx="13131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Pink object</a:t>
            </a:r>
          </a:p>
        </p:txBody>
      </p:sp>
    </p:spTree>
    <p:extLst>
      <p:ext uri="{BB962C8B-B14F-4D97-AF65-F5344CB8AC3E}">
        <p14:creationId xmlns:p14="http://schemas.microsoft.com/office/powerpoint/2010/main" val="1584716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5DD1-DDEB-A70A-82D6-75F14738F70F}"/>
              </a:ext>
            </a:extLst>
          </p:cNvPr>
          <p:cNvSpPr>
            <a:spLocks noGrp="1"/>
          </p:cNvSpPr>
          <p:nvPr>
            <p:ph type="title"/>
          </p:nvPr>
        </p:nvSpPr>
        <p:spPr/>
        <p:txBody>
          <a:bodyPr/>
          <a:lstStyle/>
          <a:p>
            <a:r>
              <a:rPr lang="en-US" dirty="0"/>
              <a:t>Difference vector by condition</a:t>
            </a:r>
          </a:p>
        </p:txBody>
      </p:sp>
      <p:sp>
        <p:nvSpPr>
          <p:cNvPr id="3" name="Content Placeholder 2">
            <a:extLst>
              <a:ext uri="{FF2B5EF4-FFF2-40B4-BE49-F238E27FC236}">
                <a16:creationId xmlns:a16="http://schemas.microsoft.com/office/drawing/2014/main" id="{3A8F6CD2-4D8A-6A53-533D-7C9C597C8F8B}"/>
              </a:ext>
            </a:extLst>
          </p:cNvPr>
          <p:cNvSpPr>
            <a:spLocks noGrp="1"/>
          </p:cNvSpPr>
          <p:nvPr>
            <p:ph idx="1"/>
          </p:nvPr>
        </p:nvSpPr>
        <p:spPr>
          <a:xfrm>
            <a:off x="838199" y="1825625"/>
            <a:ext cx="10371668" cy="663575"/>
          </a:xfrm>
        </p:spPr>
        <p:txBody>
          <a:bodyPr/>
          <a:lstStyle/>
          <a:p>
            <a:endParaRPr lang="en-US" dirty="0"/>
          </a:p>
        </p:txBody>
      </p:sp>
      <p:pic>
        <p:nvPicPr>
          <p:cNvPr id="12" name="Picture 11">
            <a:extLst>
              <a:ext uri="{FF2B5EF4-FFF2-40B4-BE49-F238E27FC236}">
                <a16:creationId xmlns:a16="http://schemas.microsoft.com/office/drawing/2014/main" id="{5550C710-1065-D253-8D18-E84B746D49FE}"/>
              </a:ext>
            </a:extLst>
          </p:cNvPr>
          <p:cNvPicPr>
            <a:picLocks noChangeAspect="1"/>
          </p:cNvPicPr>
          <p:nvPr/>
        </p:nvPicPr>
        <p:blipFill>
          <a:blip r:embed="rId2"/>
          <a:stretch>
            <a:fillRect/>
          </a:stretch>
        </p:blipFill>
        <p:spPr>
          <a:xfrm>
            <a:off x="1430867" y="2674811"/>
            <a:ext cx="4673600" cy="3505200"/>
          </a:xfrm>
          <a:prstGeom prst="rect">
            <a:avLst/>
          </a:prstGeom>
        </p:spPr>
      </p:pic>
      <p:pic>
        <p:nvPicPr>
          <p:cNvPr id="14" name="Picture 13">
            <a:extLst>
              <a:ext uri="{FF2B5EF4-FFF2-40B4-BE49-F238E27FC236}">
                <a16:creationId xmlns:a16="http://schemas.microsoft.com/office/drawing/2014/main" id="{CB139EDB-A48F-0C57-1D47-3368AF956F93}"/>
              </a:ext>
            </a:extLst>
          </p:cNvPr>
          <p:cNvPicPr>
            <a:picLocks noChangeAspect="1"/>
          </p:cNvPicPr>
          <p:nvPr/>
        </p:nvPicPr>
        <p:blipFill>
          <a:blip r:embed="rId3"/>
          <a:stretch>
            <a:fillRect/>
          </a:stretch>
        </p:blipFill>
        <p:spPr>
          <a:xfrm>
            <a:off x="6307667" y="2674811"/>
            <a:ext cx="4669536" cy="3502152"/>
          </a:xfrm>
          <a:prstGeom prst="rect">
            <a:avLst/>
          </a:prstGeom>
        </p:spPr>
      </p:pic>
      <p:cxnSp>
        <p:nvCxnSpPr>
          <p:cNvPr id="16" name="Straight Connector 15">
            <a:extLst>
              <a:ext uri="{FF2B5EF4-FFF2-40B4-BE49-F238E27FC236}">
                <a16:creationId xmlns:a16="http://schemas.microsoft.com/office/drawing/2014/main" id="{30C3C5BA-B2B6-8DE8-BB31-8533542F81DB}"/>
              </a:ext>
            </a:extLst>
          </p:cNvPr>
          <p:cNvCxnSpPr/>
          <p:nvPr/>
        </p:nvCxnSpPr>
        <p:spPr>
          <a:xfrm>
            <a:off x="2785533" y="3022601"/>
            <a:ext cx="2667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F512B4C-B4B6-0770-076F-F98A57081B0A}"/>
              </a:ext>
            </a:extLst>
          </p:cNvPr>
          <p:cNvSpPr txBox="1"/>
          <p:nvPr/>
        </p:nvSpPr>
        <p:spPr>
          <a:xfrm>
            <a:off x="3556000" y="3022601"/>
            <a:ext cx="8322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 = 1.4</a:t>
            </a:r>
          </a:p>
        </p:txBody>
      </p:sp>
    </p:spTree>
    <p:extLst>
      <p:ext uri="{BB962C8B-B14F-4D97-AF65-F5344CB8AC3E}">
        <p14:creationId xmlns:p14="http://schemas.microsoft.com/office/powerpoint/2010/main" val="243203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EB2B-4B13-E382-7A99-CCD991A16716}"/>
              </a:ext>
            </a:extLst>
          </p:cNvPr>
          <p:cNvSpPr>
            <a:spLocks noGrp="1"/>
          </p:cNvSpPr>
          <p:nvPr>
            <p:ph type="title"/>
          </p:nvPr>
        </p:nvSpPr>
        <p:spPr>
          <a:xfrm>
            <a:off x="800100" y="482250"/>
            <a:ext cx="10515600" cy="939800"/>
          </a:xfrm>
        </p:spPr>
        <p:txBody>
          <a:bodyPr/>
          <a:lstStyle/>
          <a:p>
            <a:r>
              <a:rPr lang="en-US" dirty="0"/>
              <a:t>RSA overview</a:t>
            </a:r>
          </a:p>
        </p:txBody>
      </p:sp>
      <p:sp>
        <p:nvSpPr>
          <p:cNvPr id="3" name="Content Placeholder 2">
            <a:extLst>
              <a:ext uri="{FF2B5EF4-FFF2-40B4-BE49-F238E27FC236}">
                <a16:creationId xmlns:a16="http://schemas.microsoft.com/office/drawing/2014/main" id="{1752CEFE-C7F3-5D61-EDFD-7FC4A2DF7324}"/>
              </a:ext>
            </a:extLst>
          </p:cNvPr>
          <p:cNvSpPr>
            <a:spLocks noGrp="1"/>
          </p:cNvSpPr>
          <p:nvPr>
            <p:ph idx="1"/>
          </p:nvPr>
        </p:nvSpPr>
        <p:spPr>
          <a:xfrm>
            <a:off x="476100" y="1693049"/>
            <a:ext cx="8487900" cy="4470151"/>
          </a:xfrm>
        </p:spPr>
        <p:txBody>
          <a:bodyPr>
            <a:normAutofit/>
          </a:bodyPr>
          <a:lstStyle/>
          <a:p>
            <a:r>
              <a:rPr lang="en-US" sz="3600" dirty="0"/>
              <a:t>Stimulus RDM based on:</a:t>
            </a:r>
          </a:p>
          <a:p>
            <a:pPr lvl="1"/>
            <a:r>
              <a:rPr lang="en-US" sz="3200" dirty="0"/>
              <a:t>Object stimulus vector</a:t>
            </a:r>
          </a:p>
          <a:p>
            <a:pPr lvl="1"/>
            <a:r>
              <a:rPr lang="en-US" sz="3200" dirty="0"/>
              <a:t>Scene stimulus vector</a:t>
            </a:r>
          </a:p>
          <a:p>
            <a:pPr lvl="1"/>
            <a:r>
              <a:rPr lang="en-US" sz="3200" dirty="0"/>
              <a:t>Object/scene abs-difference vector</a:t>
            </a:r>
          </a:p>
          <a:p>
            <a:r>
              <a:rPr lang="en-US" sz="3600" dirty="0"/>
              <a:t>fMRI RDM based on:</a:t>
            </a:r>
          </a:p>
          <a:p>
            <a:pPr lvl="1"/>
            <a:r>
              <a:rPr lang="en-US" sz="3200" dirty="0"/>
              <a:t>Scene-presentation single-trial betas</a:t>
            </a:r>
          </a:p>
          <a:p>
            <a:pPr lvl="1"/>
            <a:r>
              <a:rPr lang="en-US" sz="3200" dirty="0"/>
              <a:t>Object-presentation single-trial betas</a:t>
            </a:r>
          </a:p>
          <a:p>
            <a:endParaRPr lang="en-US" sz="3600" dirty="0"/>
          </a:p>
        </p:txBody>
      </p:sp>
      <p:pic>
        <p:nvPicPr>
          <p:cNvPr id="6" name="Picture 5">
            <a:extLst>
              <a:ext uri="{FF2B5EF4-FFF2-40B4-BE49-F238E27FC236}">
                <a16:creationId xmlns:a16="http://schemas.microsoft.com/office/drawing/2014/main" id="{93B288ED-5577-B808-FB91-897C009D32B7}"/>
              </a:ext>
            </a:extLst>
          </p:cNvPr>
          <p:cNvPicPr>
            <a:picLocks noChangeAspect="1"/>
          </p:cNvPicPr>
          <p:nvPr/>
        </p:nvPicPr>
        <p:blipFill rotWithShape="1">
          <a:blip r:embed="rId2"/>
          <a:srcRect l="26687" t="54667" r="53475" b="14256"/>
          <a:stretch/>
        </p:blipFill>
        <p:spPr>
          <a:xfrm>
            <a:off x="9156702" y="1286463"/>
            <a:ext cx="1176338" cy="1191624"/>
          </a:xfrm>
          <a:prstGeom prst="rect">
            <a:avLst/>
          </a:prstGeom>
        </p:spPr>
      </p:pic>
      <p:pic>
        <p:nvPicPr>
          <p:cNvPr id="7" name="Picture 6">
            <a:extLst>
              <a:ext uri="{FF2B5EF4-FFF2-40B4-BE49-F238E27FC236}">
                <a16:creationId xmlns:a16="http://schemas.microsoft.com/office/drawing/2014/main" id="{315DE59D-1DC3-9286-DB82-91F5D131D244}"/>
              </a:ext>
            </a:extLst>
          </p:cNvPr>
          <p:cNvPicPr>
            <a:picLocks noChangeAspect="1"/>
          </p:cNvPicPr>
          <p:nvPr/>
        </p:nvPicPr>
        <p:blipFill rotWithShape="1">
          <a:blip r:embed="rId2"/>
          <a:srcRect l="50552" t="54668" r="29609" b="14254"/>
          <a:stretch/>
        </p:blipFill>
        <p:spPr>
          <a:xfrm>
            <a:off x="10671148" y="1286463"/>
            <a:ext cx="1176338" cy="1191624"/>
          </a:xfrm>
          <a:prstGeom prst="rect">
            <a:avLst/>
          </a:prstGeom>
        </p:spPr>
      </p:pic>
      <p:sp>
        <p:nvSpPr>
          <p:cNvPr id="8" name="Rectangle 7">
            <a:extLst>
              <a:ext uri="{FF2B5EF4-FFF2-40B4-BE49-F238E27FC236}">
                <a16:creationId xmlns:a16="http://schemas.microsoft.com/office/drawing/2014/main" id="{78269657-AD14-6D58-8F52-314B346E40F8}"/>
              </a:ext>
            </a:extLst>
          </p:cNvPr>
          <p:cNvSpPr/>
          <p:nvPr/>
        </p:nvSpPr>
        <p:spPr>
          <a:xfrm>
            <a:off x="9662865" y="2667959"/>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1CD011-FA63-412D-C2CC-8DA88EAE3BE3}"/>
              </a:ext>
            </a:extLst>
          </p:cNvPr>
          <p:cNvSpPr/>
          <p:nvPr/>
        </p:nvSpPr>
        <p:spPr>
          <a:xfrm>
            <a:off x="9662865" y="2873626"/>
            <a:ext cx="189411" cy="18941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F225A0-2531-819A-FD32-99B40E12EA27}"/>
              </a:ext>
            </a:extLst>
          </p:cNvPr>
          <p:cNvSpPr/>
          <p:nvPr/>
        </p:nvSpPr>
        <p:spPr>
          <a:xfrm>
            <a:off x="9662976" y="3079293"/>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486D94-8F41-8D4A-D9E4-D82AD62EE43C}"/>
              </a:ext>
            </a:extLst>
          </p:cNvPr>
          <p:cNvSpPr/>
          <p:nvPr/>
        </p:nvSpPr>
        <p:spPr>
          <a:xfrm>
            <a:off x="9661776" y="3284960"/>
            <a:ext cx="189411" cy="18941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99324E-8C3F-F9A1-CADD-8F465DC4C9E8}"/>
              </a:ext>
            </a:extLst>
          </p:cNvPr>
          <p:cNvSpPr/>
          <p:nvPr/>
        </p:nvSpPr>
        <p:spPr>
          <a:xfrm>
            <a:off x="9662137" y="349062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D3A0DD-8958-175A-60B0-2376E9F47728}"/>
              </a:ext>
            </a:extLst>
          </p:cNvPr>
          <p:cNvSpPr/>
          <p:nvPr/>
        </p:nvSpPr>
        <p:spPr>
          <a:xfrm>
            <a:off x="9663715" y="3696294"/>
            <a:ext cx="189411" cy="189411"/>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9534C-E17A-A77F-9151-CE78D94487B8}"/>
              </a:ext>
            </a:extLst>
          </p:cNvPr>
          <p:cNvSpPr/>
          <p:nvPr/>
        </p:nvSpPr>
        <p:spPr>
          <a:xfrm>
            <a:off x="11177865" y="2667959"/>
            <a:ext cx="189411" cy="189411"/>
          </a:xfrm>
          <a:prstGeom prst="rect">
            <a:avLst/>
          </a:prstGeom>
          <a:solidFill>
            <a:srgbClr val="FF7C8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4F8DE7-62DE-9771-9AA7-A17BEA53EB83}"/>
              </a:ext>
            </a:extLst>
          </p:cNvPr>
          <p:cNvSpPr/>
          <p:nvPr/>
        </p:nvSpPr>
        <p:spPr>
          <a:xfrm>
            <a:off x="11177865" y="287362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ED019B-0605-2C8F-AD6C-C22171898583}"/>
              </a:ext>
            </a:extLst>
          </p:cNvPr>
          <p:cNvSpPr/>
          <p:nvPr/>
        </p:nvSpPr>
        <p:spPr>
          <a:xfrm>
            <a:off x="11177976" y="3079293"/>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A74018-6484-5ABC-50F3-590F76F8783A}"/>
              </a:ext>
            </a:extLst>
          </p:cNvPr>
          <p:cNvSpPr/>
          <p:nvPr/>
        </p:nvSpPr>
        <p:spPr>
          <a:xfrm>
            <a:off x="11176776" y="328496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98845C-F2D4-D98B-25F3-8D208BCF6E72}"/>
              </a:ext>
            </a:extLst>
          </p:cNvPr>
          <p:cNvSpPr/>
          <p:nvPr/>
        </p:nvSpPr>
        <p:spPr>
          <a:xfrm>
            <a:off x="11177137" y="3490627"/>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A56399-8A5A-CE07-1B8F-F8DEBBB9C86F}"/>
              </a:ext>
            </a:extLst>
          </p:cNvPr>
          <p:cNvSpPr/>
          <p:nvPr/>
        </p:nvSpPr>
        <p:spPr>
          <a:xfrm>
            <a:off x="11178715" y="3696294"/>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45BF95-4961-CBE1-1673-B0798392F337}"/>
              </a:ext>
            </a:extLst>
          </p:cNvPr>
          <p:cNvSpPr txBox="1"/>
          <p:nvPr/>
        </p:nvSpPr>
        <p:spPr>
          <a:xfrm>
            <a:off x="9266400" y="393817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fMRI</a:t>
            </a:r>
          </a:p>
        </p:txBody>
      </p:sp>
      <p:sp>
        <p:nvSpPr>
          <p:cNvPr id="22" name="TextBox 21">
            <a:extLst>
              <a:ext uri="{FF2B5EF4-FFF2-40B4-BE49-F238E27FC236}">
                <a16:creationId xmlns:a16="http://schemas.microsoft.com/office/drawing/2014/main" id="{BD34B566-45B6-3974-CC61-8E01BC3F1A35}"/>
              </a:ext>
            </a:extLst>
          </p:cNvPr>
          <p:cNvSpPr txBox="1"/>
          <p:nvPr/>
        </p:nvSpPr>
        <p:spPr>
          <a:xfrm>
            <a:off x="10798814" y="393817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fMRI</a:t>
            </a:r>
          </a:p>
        </p:txBody>
      </p:sp>
      <p:cxnSp>
        <p:nvCxnSpPr>
          <p:cNvPr id="23" name="Straight Arrow Connector 22">
            <a:extLst>
              <a:ext uri="{FF2B5EF4-FFF2-40B4-BE49-F238E27FC236}">
                <a16:creationId xmlns:a16="http://schemas.microsoft.com/office/drawing/2014/main" id="{01A344DF-26EF-A5CC-D10F-190B9ABA17F4}"/>
              </a:ext>
            </a:extLst>
          </p:cNvPr>
          <p:cNvCxnSpPr>
            <a:cxnSpLocks/>
          </p:cNvCxnSpPr>
          <p:nvPr/>
        </p:nvCxnSpPr>
        <p:spPr>
          <a:xfrm>
            <a:off x="9748983" y="4663709"/>
            <a:ext cx="0" cy="60491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1060453-1B0A-07A1-D2E2-E7DAF86362A6}"/>
              </a:ext>
            </a:extLst>
          </p:cNvPr>
          <p:cNvCxnSpPr>
            <a:cxnSpLocks/>
          </p:cNvCxnSpPr>
          <p:nvPr/>
        </p:nvCxnSpPr>
        <p:spPr>
          <a:xfrm>
            <a:off x="11292910" y="4663709"/>
            <a:ext cx="0" cy="60491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A8B32EC-010F-EDED-C91A-AB0FB4A40607}"/>
              </a:ext>
            </a:extLst>
          </p:cNvPr>
          <p:cNvSpPr txBox="1"/>
          <p:nvPr/>
        </p:nvSpPr>
        <p:spPr>
          <a:xfrm>
            <a:off x="9266400" y="532264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RDM</a:t>
            </a:r>
          </a:p>
        </p:txBody>
      </p:sp>
      <p:sp>
        <p:nvSpPr>
          <p:cNvPr id="28" name="TextBox 27">
            <a:extLst>
              <a:ext uri="{FF2B5EF4-FFF2-40B4-BE49-F238E27FC236}">
                <a16:creationId xmlns:a16="http://schemas.microsoft.com/office/drawing/2014/main" id="{77EF4FBF-5F57-BE7B-4E97-86BCF7C420CF}"/>
              </a:ext>
            </a:extLst>
          </p:cNvPr>
          <p:cNvSpPr txBox="1"/>
          <p:nvPr/>
        </p:nvSpPr>
        <p:spPr>
          <a:xfrm>
            <a:off x="10798814" y="532264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RDM</a:t>
            </a:r>
          </a:p>
        </p:txBody>
      </p:sp>
    </p:spTree>
    <p:extLst>
      <p:ext uri="{BB962C8B-B14F-4D97-AF65-F5344CB8AC3E}">
        <p14:creationId xmlns:p14="http://schemas.microsoft.com/office/powerpoint/2010/main" val="15964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p:bldP spid="22" grpId="0"/>
      <p:bldP spid="27"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5657-DA82-192C-4BC7-A11E387C8659}"/>
              </a:ext>
            </a:extLst>
          </p:cNvPr>
          <p:cNvSpPr>
            <a:spLocks noGrp="1"/>
          </p:cNvSpPr>
          <p:nvPr>
            <p:ph type="title"/>
          </p:nvPr>
        </p:nvSpPr>
        <p:spPr/>
        <p:txBody>
          <a:bodyPr/>
          <a:lstStyle/>
          <a:p>
            <a:r>
              <a:rPr lang="en-US" dirty="0"/>
              <a:t>Further temporal trend testing</a:t>
            </a:r>
          </a:p>
        </p:txBody>
      </p:sp>
      <p:sp>
        <p:nvSpPr>
          <p:cNvPr id="3" name="Content Placeholder 2">
            <a:extLst>
              <a:ext uri="{FF2B5EF4-FFF2-40B4-BE49-F238E27FC236}">
                <a16:creationId xmlns:a16="http://schemas.microsoft.com/office/drawing/2014/main" id="{1BDD802F-0399-CC87-099A-CEB06F735A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975BE7F-D06B-A450-7A5E-CC384DB3C9F8}"/>
              </a:ext>
            </a:extLst>
          </p:cNvPr>
          <p:cNvPicPr>
            <a:picLocks noChangeAspect="1"/>
          </p:cNvPicPr>
          <p:nvPr/>
        </p:nvPicPr>
        <p:blipFill rotWithShape="1">
          <a:blip r:embed="rId2"/>
          <a:srcRect t="2598"/>
          <a:stretch/>
        </p:blipFill>
        <p:spPr>
          <a:xfrm>
            <a:off x="279133" y="2614757"/>
            <a:ext cx="12192000" cy="3878118"/>
          </a:xfrm>
          <a:prstGeom prst="rect">
            <a:avLst/>
          </a:prstGeom>
        </p:spPr>
      </p:pic>
    </p:spTree>
    <p:extLst>
      <p:ext uri="{BB962C8B-B14F-4D97-AF65-F5344CB8AC3E}">
        <p14:creationId xmlns:p14="http://schemas.microsoft.com/office/powerpoint/2010/main" val="755628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656A-B113-00B4-2C2B-B4E8AF463F90}"/>
              </a:ext>
            </a:extLst>
          </p:cNvPr>
          <p:cNvSpPr>
            <a:spLocks noGrp="1"/>
          </p:cNvSpPr>
          <p:nvPr>
            <p:ph type="title"/>
          </p:nvPr>
        </p:nvSpPr>
        <p:spPr>
          <a:xfrm>
            <a:off x="838200" y="25086"/>
            <a:ext cx="10515600" cy="1325563"/>
          </a:xfrm>
        </p:spPr>
        <p:txBody>
          <a:bodyPr/>
          <a:lstStyle/>
          <a:p>
            <a:r>
              <a:rPr lang="en-US" dirty="0"/>
              <a:t>Stimulus RSM/RDMs</a:t>
            </a:r>
          </a:p>
        </p:txBody>
      </p:sp>
      <p:sp>
        <p:nvSpPr>
          <p:cNvPr id="3" name="Content Placeholder 2">
            <a:extLst>
              <a:ext uri="{FF2B5EF4-FFF2-40B4-BE49-F238E27FC236}">
                <a16:creationId xmlns:a16="http://schemas.microsoft.com/office/drawing/2014/main" id="{5647F4C0-E858-3747-E631-FE1DEA6E8E4A}"/>
              </a:ext>
            </a:extLst>
          </p:cNvPr>
          <p:cNvSpPr>
            <a:spLocks noGrp="1"/>
          </p:cNvSpPr>
          <p:nvPr>
            <p:ph idx="1"/>
          </p:nvPr>
        </p:nvSpPr>
        <p:spPr>
          <a:xfrm>
            <a:off x="947783" y="5878191"/>
            <a:ext cx="10515600" cy="588963"/>
          </a:xfrm>
        </p:spPr>
        <p:txBody>
          <a:bodyPr>
            <a:normAutofit fontScale="77500" lnSpcReduction="20000"/>
          </a:bodyPr>
          <a:lstStyle/>
          <a:p>
            <a:r>
              <a:rPr lang="en-US" dirty="0"/>
              <a:t>Although not visualized here, the congruent/incongruent/neutral conditions don’t have much bearing on the vectors or RSMs</a:t>
            </a:r>
          </a:p>
        </p:txBody>
      </p:sp>
      <p:pic>
        <p:nvPicPr>
          <p:cNvPr id="15" name="Picture 14">
            <a:extLst>
              <a:ext uri="{FF2B5EF4-FFF2-40B4-BE49-F238E27FC236}">
                <a16:creationId xmlns:a16="http://schemas.microsoft.com/office/drawing/2014/main" id="{3953EFF8-37D1-8AD3-84BF-2D1F8081F600}"/>
              </a:ext>
            </a:extLst>
          </p:cNvPr>
          <p:cNvPicPr>
            <a:picLocks noChangeAspect="1"/>
          </p:cNvPicPr>
          <p:nvPr/>
        </p:nvPicPr>
        <p:blipFill rotWithShape="1">
          <a:blip r:embed="rId3"/>
          <a:srcRect l="5953"/>
          <a:stretch/>
        </p:blipFill>
        <p:spPr>
          <a:xfrm>
            <a:off x="147320" y="2387281"/>
            <a:ext cx="4242526" cy="3383280"/>
          </a:xfrm>
          <a:prstGeom prst="rect">
            <a:avLst/>
          </a:prstGeom>
        </p:spPr>
      </p:pic>
      <p:pic>
        <p:nvPicPr>
          <p:cNvPr id="17" name="Picture 16">
            <a:extLst>
              <a:ext uri="{FF2B5EF4-FFF2-40B4-BE49-F238E27FC236}">
                <a16:creationId xmlns:a16="http://schemas.microsoft.com/office/drawing/2014/main" id="{C36135DA-83D9-57DA-3DB1-1658F085BF7D}"/>
              </a:ext>
            </a:extLst>
          </p:cNvPr>
          <p:cNvPicPr>
            <a:picLocks noChangeAspect="1"/>
          </p:cNvPicPr>
          <p:nvPr/>
        </p:nvPicPr>
        <p:blipFill>
          <a:blip r:embed="rId4"/>
          <a:stretch>
            <a:fillRect/>
          </a:stretch>
        </p:blipFill>
        <p:spPr>
          <a:xfrm>
            <a:off x="4011939" y="2387281"/>
            <a:ext cx="4511040" cy="3383280"/>
          </a:xfrm>
          <a:prstGeom prst="rect">
            <a:avLst/>
          </a:prstGeom>
        </p:spPr>
      </p:pic>
      <p:pic>
        <p:nvPicPr>
          <p:cNvPr id="13" name="Picture 12">
            <a:extLst>
              <a:ext uri="{FF2B5EF4-FFF2-40B4-BE49-F238E27FC236}">
                <a16:creationId xmlns:a16="http://schemas.microsoft.com/office/drawing/2014/main" id="{810B223A-2B5E-A9A7-9476-487B8E87A49C}"/>
              </a:ext>
            </a:extLst>
          </p:cNvPr>
          <p:cNvPicPr>
            <a:picLocks noChangeAspect="1"/>
          </p:cNvPicPr>
          <p:nvPr/>
        </p:nvPicPr>
        <p:blipFill rotWithShape="1">
          <a:blip r:embed="rId5"/>
          <a:srcRect r="7143"/>
          <a:stretch/>
        </p:blipFill>
        <p:spPr>
          <a:xfrm>
            <a:off x="7894320" y="2387281"/>
            <a:ext cx="4188823" cy="3383280"/>
          </a:xfrm>
          <a:prstGeom prst="rect">
            <a:avLst/>
          </a:prstGeom>
        </p:spPr>
      </p:pic>
      <p:sp>
        <p:nvSpPr>
          <p:cNvPr id="21" name="Content Placeholder 2">
            <a:extLst>
              <a:ext uri="{FF2B5EF4-FFF2-40B4-BE49-F238E27FC236}">
                <a16:creationId xmlns:a16="http://schemas.microsoft.com/office/drawing/2014/main" id="{F568BBB0-ADDC-25C4-25E9-7AE8BCF39A94}"/>
              </a:ext>
            </a:extLst>
          </p:cNvPr>
          <p:cNvSpPr txBox="1">
            <a:spLocks/>
          </p:cNvSpPr>
          <p:nvPr/>
        </p:nvSpPr>
        <p:spPr>
          <a:xfrm>
            <a:off x="1062083" y="1350649"/>
            <a:ext cx="10515600" cy="10760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Perceptual representations (1</a:t>
            </a:r>
            <a:r>
              <a:rPr lang="en-US" baseline="30000" dirty="0"/>
              <a:t>st</a:t>
            </a:r>
            <a:r>
              <a:rPr lang="en-US" dirty="0"/>
              <a:t> layer of DNN)</a:t>
            </a:r>
          </a:p>
          <a:p>
            <a:r>
              <a:rPr lang="en-US" dirty="0"/>
              <a:t>The difference vector RSM doesn’t look particularly weird</a:t>
            </a:r>
          </a:p>
        </p:txBody>
      </p:sp>
    </p:spTree>
    <p:extLst>
      <p:ext uri="{BB962C8B-B14F-4D97-AF65-F5344CB8AC3E}">
        <p14:creationId xmlns:p14="http://schemas.microsoft.com/office/powerpoint/2010/main" val="2471976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8099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4030-CA2D-C7E7-E4C8-0FF6DB28E716}"/>
              </a:ext>
            </a:extLst>
          </p:cNvPr>
          <p:cNvSpPr>
            <a:spLocks noGrp="1"/>
          </p:cNvSpPr>
          <p:nvPr>
            <p:ph type="title"/>
          </p:nvPr>
        </p:nvSpPr>
        <p:spPr/>
        <p:txBody>
          <a:bodyPr/>
          <a:lstStyle/>
          <a:p>
            <a:r>
              <a:rPr lang="en-US" dirty="0"/>
              <a:t>Univariate findings to pad things out?</a:t>
            </a:r>
          </a:p>
        </p:txBody>
      </p:sp>
      <p:sp>
        <p:nvSpPr>
          <p:cNvPr id="3" name="Content Placeholder 2">
            <a:extLst>
              <a:ext uri="{FF2B5EF4-FFF2-40B4-BE49-F238E27FC236}">
                <a16:creationId xmlns:a16="http://schemas.microsoft.com/office/drawing/2014/main" id="{759B19A3-092F-C23C-6BBD-39F359AB48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7576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0307-ED64-0827-0AC2-8C66081A177A}"/>
              </a:ext>
            </a:extLst>
          </p:cNvPr>
          <p:cNvPicPr>
            <a:picLocks noChangeAspect="1"/>
          </p:cNvPicPr>
          <p:nvPr/>
        </p:nvPicPr>
        <p:blipFill>
          <a:blip r:embed="rId3"/>
          <a:stretch>
            <a:fillRect/>
          </a:stretch>
        </p:blipFill>
        <p:spPr>
          <a:xfrm>
            <a:off x="289181" y="1520751"/>
            <a:ext cx="6096000" cy="4572000"/>
          </a:xfrm>
          <a:prstGeom prst="rect">
            <a:avLst/>
          </a:prstGeom>
        </p:spPr>
      </p:pic>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 Schema representation</a:t>
            </a:r>
          </a:p>
        </p:txBody>
      </p:sp>
      <p:pic>
        <p:nvPicPr>
          <p:cNvPr id="4" name="Picture 3">
            <a:extLst>
              <a:ext uri="{FF2B5EF4-FFF2-40B4-BE49-F238E27FC236}">
                <a16:creationId xmlns:a16="http://schemas.microsoft.com/office/drawing/2014/main" id="{B5B5C454-0847-D5A3-539E-785DCAA01170}"/>
              </a:ext>
            </a:extLst>
          </p:cNvPr>
          <p:cNvPicPr>
            <a:picLocks noChangeAspect="1"/>
          </p:cNvPicPr>
          <p:nvPr/>
        </p:nvPicPr>
        <p:blipFill rotWithShape="1">
          <a:blip r:embed="rId4"/>
          <a:srcRect l="26687" t="54667" r="53475" b="14256"/>
          <a:stretch/>
        </p:blipFill>
        <p:spPr>
          <a:xfrm>
            <a:off x="60374" y="572830"/>
            <a:ext cx="1176338" cy="1191624"/>
          </a:xfrm>
          <a:prstGeom prst="rect">
            <a:avLst/>
          </a:prstGeom>
        </p:spPr>
      </p:pic>
      <p:pic>
        <p:nvPicPr>
          <p:cNvPr id="10" name="Picture 9">
            <a:extLst>
              <a:ext uri="{FF2B5EF4-FFF2-40B4-BE49-F238E27FC236}">
                <a16:creationId xmlns:a16="http://schemas.microsoft.com/office/drawing/2014/main" id="{9FBEECFC-4E93-B729-18A9-FD7BA45DFF67}"/>
              </a:ext>
            </a:extLst>
          </p:cNvPr>
          <p:cNvPicPr>
            <a:picLocks noChangeAspect="1"/>
          </p:cNvPicPr>
          <p:nvPr/>
        </p:nvPicPr>
        <p:blipFill>
          <a:blip r:embed="rId5"/>
          <a:stretch>
            <a:fillRect/>
          </a:stretch>
        </p:blipFill>
        <p:spPr>
          <a:xfrm>
            <a:off x="5987006" y="1520751"/>
            <a:ext cx="6096000" cy="4572000"/>
          </a:xfrm>
          <a:prstGeom prst="rect">
            <a:avLst/>
          </a:prstGeom>
        </p:spPr>
      </p:pic>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272805" y="1168642"/>
            <a:ext cx="4322366" cy="57015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70829" y="1187803"/>
            <a:ext cx="4702356" cy="570156"/>
          </a:xfrm>
        </p:spPr>
        <p:txBody>
          <a:bodyPr>
            <a:normAutofit/>
          </a:bodyPr>
          <a:lstStyle/>
          <a:p>
            <a:pPr marL="0" indent="0" algn="ctr">
              <a:buNone/>
            </a:pPr>
            <a:r>
              <a:rPr lang="en-US" dirty="0"/>
              <a:t>Semantic scene decoding</a:t>
            </a:r>
          </a:p>
        </p:txBody>
      </p:sp>
      <p:sp>
        <p:nvSpPr>
          <p:cNvPr id="12" name="TextBox 11">
            <a:extLst>
              <a:ext uri="{FF2B5EF4-FFF2-40B4-BE49-F238E27FC236}">
                <a16:creationId xmlns:a16="http://schemas.microsoft.com/office/drawing/2014/main" id="{F5E13E75-8F47-C208-EADC-6BDF1ADCEFF0}"/>
              </a:ext>
            </a:extLst>
          </p:cNvPr>
          <p:cNvSpPr txBox="1"/>
          <p:nvPr/>
        </p:nvSpPr>
        <p:spPr>
          <a:xfrm>
            <a:off x="4243408" y="6250435"/>
            <a:ext cx="4283545" cy="523220"/>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Establishes the prediction</a:t>
            </a:r>
          </a:p>
        </p:txBody>
      </p:sp>
      <p:sp>
        <p:nvSpPr>
          <p:cNvPr id="13" name="Oval 12">
            <a:extLst>
              <a:ext uri="{FF2B5EF4-FFF2-40B4-BE49-F238E27FC236}">
                <a16:creationId xmlns:a16="http://schemas.microsoft.com/office/drawing/2014/main" id="{2728BE08-E5C7-8D5E-EE89-6C88F88B0DE3}"/>
              </a:ext>
            </a:extLst>
          </p:cNvPr>
          <p:cNvSpPr/>
          <p:nvPr/>
        </p:nvSpPr>
        <p:spPr>
          <a:xfrm>
            <a:off x="1049511" y="2628000"/>
            <a:ext cx="858489" cy="176024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DDB7D3-CEF3-F5C3-8EC1-BCB430634C8C}"/>
              </a:ext>
            </a:extLst>
          </p:cNvPr>
          <p:cNvSpPr txBox="1"/>
          <p:nvPr/>
        </p:nvSpPr>
        <p:spPr>
          <a:xfrm>
            <a:off x="1736697" y="2455886"/>
            <a:ext cx="800219"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PFC</a:t>
            </a:r>
          </a:p>
        </p:txBody>
      </p:sp>
    </p:spTree>
    <p:extLst>
      <p:ext uri="{BB962C8B-B14F-4D97-AF65-F5344CB8AC3E}">
        <p14:creationId xmlns:p14="http://schemas.microsoft.com/office/powerpoint/2010/main" val="246695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1C/1D: Object representation</a:t>
            </a:r>
          </a:p>
        </p:txBody>
      </p:sp>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397000" y="1168642"/>
            <a:ext cx="4210697"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680201" y="1187803"/>
            <a:ext cx="4805510" cy="570156"/>
          </a:xfrm>
        </p:spPr>
        <p:txBody>
          <a:bodyPr>
            <a:normAutofit/>
          </a:bodyPr>
          <a:lstStyle/>
          <a:p>
            <a:pPr marL="0" indent="0" algn="ctr">
              <a:buNone/>
            </a:pPr>
            <a:r>
              <a:rPr lang="en-US" sz="2400" dirty="0"/>
              <a:t>Semantic object decoding</a:t>
            </a:r>
          </a:p>
        </p:txBody>
      </p:sp>
      <p:pic>
        <p:nvPicPr>
          <p:cNvPr id="18" name="Picture 17">
            <a:extLst>
              <a:ext uri="{FF2B5EF4-FFF2-40B4-BE49-F238E27FC236}">
                <a16:creationId xmlns:a16="http://schemas.microsoft.com/office/drawing/2014/main" id="{704CAE8B-86A9-C9E3-84F2-7D7EE788E288}"/>
              </a:ext>
            </a:extLst>
          </p:cNvPr>
          <p:cNvPicPr>
            <a:picLocks noChangeAspect="1"/>
          </p:cNvPicPr>
          <p:nvPr/>
        </p:nvPicPr>
        <p:blipFill rotWithShape="1">
          <a:blip r:embed="rId2"/>
          <a:srcRect l="50552" t="54668" r="29609" b="14254"/>
          <a:stretch/>
        </p:blipFill>
        <p:spPr>
          <a:xfrm>
            <a:off x="152400" y="380620"/>
            <a:ext cx="1176338" cy="1191624"/>
          </a:xfrm>
          <a:prstGeom prst="rect">
            <a:avLst/>
          </a:prstGeom>
        </p:spPr>
      </p:pic>
      <p:pic>
        <p:nvPicPr>
          <p:cNvPr id="5" name="Picture 4">
            <a:extLst>
              <a:ext uri="{FF2B5EF4-FFF2-40B4-BE49-F238E27FC236}">
                <a16:creationId xmlns:a16="http://schemas.microsoft.com/office/drawing/2014/main" id="{BAACE3EA-77A5-2739-A6A7-19BBFF2B33DF}"/>
              </a:ext>
            </a:extLst>
          </p:cNvPr>
          <p:cNvPicPr>
            <a:picLocks noChangeAspect="1"/>
          </p:cNvPicPr>
          <p:nvPr/>
        </p:nvPicPr>
        <p:blipFill>
          <a:blip r:embed="rId3"/>
          <a:stretch>
            <a:fillRect/>
          </a:stretch>
        </p:blipFill>
        <p:spPr>
          <a:xfrm>
            <a:off x="152400" y="1614696"/>
            <a:ext cx="6096000" cy="4572000"/>
          </a:xfrm>
          <a:prstGeom prst="rect">
            <a:avLst/>
          </a:prstGeom>
        </p:spPr>
      </p:pic>
      <p:pic>
        <p:nvPicPr>
          <p:cNvPr id="7" name="Picture 6">
            <a:extLst>
              <a:ext uri="{FF2B5EF4-FFF2-40B4-BE49-F238E27FC236}">
                <a16:creationId xmlns:a16="http://schemas.microsoft.com/office/drawing/2014/main" id="{C86E31F0-D5F8-84BD-0947-659B14855498}"/>
              </a:ext>
            </a:extLst>
          </p:cNvPr>
          <p:cNvPicPr>
            <a:picLocks noChangeAspect="1"/>
          </p:cNvPicPr>
          <p:nvPr/>
        </p:nvPicPr>
        <p:blipFill>
          <a:blip r:embed="rId4"/>
          <a:stretch>
            <a:fillRect/>
          </a:stretch>
        </p:blipFill>
        <p:spPr>
          <a:xfrm>
            <a:off x="5808133" y="1529792"/>
            <a:ext cx="6096000" cy="4572000"/>
          </a:xfrm>
          <a:prstGeom prst="rect">
            <a:avLst/>
          </a:prstGeom>
        </p:spPr>
      </p:pic>
      <p:sp>
        <p:nvSpPr>
          <p:cNvPr id="6" name="Oval 5">
            <a:extLst>
              <a:ext uri="{FF2B5EF4-FFF2-40B4-BE49-F238E27FC236}">
                <a16:creationId xmlns:a16="http://schemas.microsoft.com/office/drawing/2014/main" id="{E6B237AD-3B29-504D-A6A7-35343FE29138}"/>
              </a:ext>
            </a:extLst>
          </p:cNvPr>
          <p:cNvSpPr/>
          <p:nvPr/>
        </p:nvSpPr>
        <p:spPr>
          <a:xfrm>
            <a:off x="1077014" y="2542710"/>
            <a:ext cx="895786" cy="164769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44FB2C-30AC-B6B9-EF9C-DE2CB4E34ABF}"/>
              </a:ext>
            </a:extLst>
          </p:cNvPr>
          <p:cNvSpPr txBox="1"/>
          <p:nvPr/>
        </p:nvSpPr>
        <p:spPr>
          <a:xfrm>
            <a:off x="2109014" y="2542710"/>
            <a:ext cx="15768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Weak/Null PFC</a:t>
            </a:r>
          </a:p>
        </p:txBody>
      </p:sp>
    </p:spTree>
    <p:extLst>
      <p:ext uri="{BB962C8B-B14F-4D97-AF65-F5344CB8AC3E}">
        <p14:creationId xmlns:p14="http://schemas.microsoft.com/office/powerpoint/2010/main" val="384037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pic>
        <p:nvPicPr>
          <p:cNvPr id="41" name="Picture 40">
            <a:extLst>
              <a:ext uri="{FF2B5EF4-FFF2-40B4-BE49-F238E27FC236}">
                <a16:creationId xmlns:a16="http://schemas.microsoft.com/office/drawing/2014/main" id="{43F5E214-84F7-5DB4-CAC7-277AA064ACEC}"/>
              </a:ext>
            </a:extLst>
          </p:cNvPr>
          <p:cNvPicPr>
            <a:picLocks noChangeAspect="1"/>
          </p:cNvPicPr>
          <p:nvPr/>
        </p:nvPicPr>
        <p:blipFill rotWithShape="1">
          <a:blip r:embed="rId5"/>
          <a:srcRect t="13995" b="10380"/>
          <a:stretch/>
        </p:blipFill>
        <p:spPr>
          <a:xfrm>
            <a:off x="6231466" y="1392149"/>
            <a:ext cx="5249333" cy="4962288"/>
          </a:xfrm>
          <a:prstGeom prst="rect">
            <a:avLst/>
          </a:prstGeom>
        </p:spPr>
      </p:pic>
    </p:spTree>
    <p:extLst>
      <p:ext uri="{BB962C8B-B14F-4D97-AF65-F5344CB8AC3E}">
        <p14:creationId xmlns:p14="http://schemas.microsoft.com/office/powerpoint/2010/main" val="932989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066972" y="1218036"/>
            <a:ext cx="3851176" cy="5479290"/>
          </a:xfrm>
        </p:spPr>
        <p:txBody>
          <a:bodyPr>
            <a:normAutofit/>
          </a:bodyPr>
          <a:lstStyle/>
          <a:p>
            <a:r>
              <a:rPr lang="en-US" dirty="0"/>
              <a:t>Confirmed by an additional “macro-level” analysis focusing on the LPFC overall</a:t>
            </a:r>
          </a:p>
          <a:p>
            <a:pPr lvl="1"/>
            <a:r>
              <a:rPr lang="en-US" dirty="0"/>
              <a:t>Activation averaged by ROI</a:t>
            </a:r>
          </a:p>
          <a:p>
            <a:pPr lvl="2"/>
            <a:r>
              <a:rPr lang="en-US" dirty="0"/>
              <a:t>26 ROIs = 26-length vector</a:t>
            </a:r>
          </a:p>
          <a:p>
            <a:pPr lvl="2"/>
            <a:r>
              <a:rPr lang="en-US" dirty="0"/>
              <a:t>Submitted to RDM</a:t>
            </a:r>
          </a:p>
          <a:p>
            <a:pPr lvl="1"/>
            <a:r>
              <a:rPr lang="en-US" dirty="0"/>
              <a:t>Significant RSA effect </a:t>
            </a:r>
            <a:br>
              <a:rPr lang="en-US" dirty="0"/>
            </a:br>
            <a:r>
              <a:rPr lang="en-US" dirty="0"/>
              <a:t>(</a:t>
            </a:r>
            <a:r>
              <a:rPr lang="en-US" i="1" dirty="0"/>
              <a:t>t</a:t>
            </a:r>
            <a:r>
              <a:rPr lang="en-US" dirty="0"/>
              <a:t> = 2.1, </a:t>
            </a:r>
            <a:r>
              <a:rPr lang="en-US" i="1" dirty="0"/>
              <a:t>p </a:t>
            </a:r>
            <a:r>
              <a:rPr lang="en-US" dirty="0"/>
              <a:t>= .02)</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sp>
        <p:nvSpPr>
          <p:cNvPr id="3" name="Rectangle 2">
            <a:extLst>
              <a:ext uri="{FF2B5EF4-FFF2-40B4-BE49-F238E27FC236}">
                <a16:creationId xmlns:a16="http://schemas.microsoft.com/office/drawing/2014/main" id="{3DAA3943-B517-E798-DA43-951207643A12}"/>
              </a:ext>
            </a:extLst>
          </p:cNvPr>
          <p:cNvSpPr/>
          <p:nvPr/>
        </p:nvSpPr>
        <p:spPr>
          <a:xfrm>
            <a:off x="10391030" y="237018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EDA4999-7885-FF41-7720-BAF6464B9A64}"/>
              </a:ext>
            </a:extLst>
          </p:cNvPr>
          <p:cNvSpPr/>
          <p:nvPr/>
        </p:nvSpPr>
        <p:spPr>
          <a:xfrm>
            <a:off x="10391030" y="2569914"/>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B7B5A0-4AAE-5DB2-AD4C-960553D74DA2}"/>
              </a:ext>
            </a:extLst>
          </p:cNvPr>
          <p:cNvSpPr/>
          <p:nvPr/>
        </p:nvSpPr>
        <p:spPr>
          <a:xfrm>
            <a:off x="10391030" y="276964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3E06F8-2A2C-D0B8-0FC8-CD454576B8D9}"/>
              </a:ext>
            </a:extLst>
          </p:cNvPr>
          <p:cNvSpPr/>
          <p:nvPr/>
        </p:nvSpPr>
        <p:spPr>
          <a:xfrm>
            <a:off x="10391030" y="2969366"/>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F26C97-E041-0C7B-E355-2123F9D0B2E6}"/>
              </a:ext>
            </a:extLst>
          </p:cNvPr>
          <p:cNvSpPr/>
          <p:nvPr/>
        </p:nvSpPr>
        <p:spPr>
          <a:xfrm>
            <a:off x="10391030" y="3169092"/>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294CCB-AD28-20F1-421F-79663BCBCCBB}"/>
              </a:ext>
            </a:extLst>
          </p:cNvPr>
          <p:cNvSpPr/>
          <p:nvPr/>
        </p:nvSpPr>
        <p:spPr>
          <a:xfrm>
            <a:off x="10391030" y="3368818"/>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54D1F4-2C80-8365-CD56-C3C22F7F2A87}"/>
              </a:ext>
            </a:extLst>
          </p:cNvPr>
          <p:cNvSpPr/>
          <p:nvPr/>
        </p:nvSpPr>
        <p:spPr>
          <a:xfrm>
            <a:off x="10391030" y="3568544"/>
            <a:ext cx="189411" cy="18941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28360C-98D8-9519-B6F9-17B7A0E69DC8}"/>
              </a:ext>
            </a:extLst>
          </p:cNvPr>
          <p:cNvSpPr/>
          <p:nvPr/>
        </p:nvSpPr>
        <p:spPr>
          <a:xfrm>
            <a:off x="10391030" y="376827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2211291-4412-9E28-84B0-9E669BE91AF8}"/>
              </a:ext>
            </a:extLst>
          </p:cNvPr>
          <p:cNvSpPr/>
          <p:nvPr/>
        </p:nvSpPr>
        <p:spPr>
          <a:xfrm>
            <a:off x="10391030" y="3967996"/>
            <a:ext cx="189411" cy="189411"/>
          </a:xfrm>
          <a:prstGeom prst="rect">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060388-B992-6D1D-B1D0-06ACBDDAF1E5}"/>
              </a:ext>
            </a:extLst>
          </p:cNvPr>
          <p:cNvSpPr/>
          <p:nvPr/>
        </p:nvSpPr>
        <p:spPr>
          <a:xfrm>
            <a:off x="10391030" y="4167722"/>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67BC739-1C77-0A15-A368-C865B3483F69}"/>
              </a:ext>
            </a:extLst>
          </p:cNvPr>
          <p:cNvSpPr/>
          <p:nvPr/>
        </p:nvSpPr>
        <p:spPr>
          <a:xfrm>
            <a:off x="10391030" y="436744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DEF091-104B-2B8F-2FEC-8CB21E108C53}"/>
              </a:ext>
            </a:extLst>
          </p:cNvPr>
          <p:cNvSpPr/>
          <p:nvPr/>
        </p:nvSpPr>
        <p:spPr>
          <a:xfrm>
            <a:off x="10391030" y="4567174"/>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F48757A-4822-9336-8F58-3F7A86CE5303}"/>
              </a:ext>
            </a:extLst>
          </p:cNvPr>
          <p:cNvSpPr/>
          <p:nvPr/>
        </p:nvSpPr>
        <p:spPr>
          <a:xfrm>
            <a:off x="10391030" y="4766900"/>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1C81F0-1437-A4E1-21EE-6EAD1C0266DB}"/>
              </a:ext>
            </a:extLst>
          </p:cNvPr>
          <p:cNvSpPr/>
          <p:nvPr/>
        </p:nvSpPr>
        <p:spPr>
          <a:xfrm>
            <a:off x="10391030" y="4966626"/>
            <a:ext cx="189411" cy="18941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8190D8-9990-AA84-64C6-FC5E2263AB9C}"/>
              </a:ext>
            </a:extLst>
          </p:cNvPr>
          <p:cNvSpPr/>
          <p:nvPr/>
        </p:nvSpPr>
        <p:spPr>
          <a:xfrm>
            <a:off x="10391030" y="5166352"/>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357D43-C4FD-5A97-3597-A83982C2535D}"/>
              </a:ext>
            </a:extLst>
          </p:cNvPr>
          <p:cNvSpPr/>
          <p:nvPr/>
        </p:nvSpPr>
        <p:spPr>
          <a:xfrm>
            <a:off x="10391030" y="5366078"/>
            <a:ext cx="189411" cy="18941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B697EE0-0379-6529-A5FF-5DA81BCE46B8}"/>
              </a:ext>
            </a:extLst>
          </p:cNvPr>
          <p:cNvSpPr/>
          <p:nvPr/>
        </p:nvSpPr>
        <p:spPr>
          <a:xfrm>
            <a:off x="10391030" y="5565804"/>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16B0DF-5970-D5EC-175F-2C0613730EED}"/>
              </a:ext>
            </a:extLst>
          </p:cNvPr>
          <p:cNvSpPr/>
          <p:nvPr/>
        </p:nvSpPr>
        <p:spPr>
          <a:xfrm>
            <a:off x="10391030" y="5765534"/>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Brace 27">
            <a:extLst>
              <a:ext uri="{FF2B5EF4-FFF2-40B4-BE49-F238E27FC236}">
                <a16:creationId xmlns:a16="http://schemas.microsoft.com/office/drawing/2014/main" id="{4866AC9D-920C-F410-DE1B-BA767E44B525}"/>
              </a:ext>
            </a:extLst>
          </p:cNvPr>
          <p:cNvSpPr/>
          <p:nvPr/>
        </p:nvSpPr>
        <p:spPr>
          <a:xfrm>
            <a:off x="10942065" y="24031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4F636BE4-FC78-DE52-ECE7-B0F7A837C498}"/>
              </a:ext>
            </a:extLst>
          </p:cNvPr>
          <p:cNvSpPr/>
          <p:nvPr/>
        </p:nvSpPr>
        <p:spPr>
          <a:xfrm>
            <a:off x="10942065" y="35955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Right Brace 29">
            <a:extLst>
              <a:ext uri="{FF2B5EF4-FFF2-40B4-BE49-F238E27FC236}">
                <a16:creationId xmlns:a16="http://schemas.microsoft.com/office/drawing/2014/main" id="{9E511F93-9368-8305-9D15-BF9FE84D2FEF}"/>
              </a:ext>
            </a:extLst>
          </p:cNvPr>
          <p:cNvSpPr/>
          <p:nvPr/>
        </p:nvSpPr>
        <p:spPr>
          <a:xfrm>
            <a:off x="10942065" y="4782936"/>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tangle 30">
            <a:extLst>
              <a:ext uri="{FF2B5EF4-FFF2-40B4-BE49-F238E27FC236}">
                <a16:creationId xmlns:a16="http://schemas.microsoft.com/office/drawing/2014/main" id="{BF202A34-B13C-C16B-E528-391968B2EE2C}"/>
              </a:ext>
            </a:extLst>
          </p:cNvPr>
          <p:cNvSpPr/>
          <p:nvPr/>
        </p:nvSpPr>
        <p:spPr>
          <a:xfrm>
            <a:off x="11466704" y="2817373"/>
            <a:ext cx="370640" cy="370640"/>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2F9CF1-642F-C362-BB78-28A6E2C9A967}"/>
              </a:ext>
            </a:extLst>
          </p:cNvPr>
          <p:cNvSpPr/>
          <p:nvPr/>
        </p:nvSpPr>
        <p:spPr>
          <a:xfrm>
            <a:off x="11466704" y="4018416"/>
            <a:ext cx="370640" cy="3706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AC8F4BC-4DDA-B974-F2C3-6C30046CB7F8}"/>
              </a:ext>
            </a:extLst>
          </p:cNvPr>
          <p:cNvSpPr/>
          <p:nvPr/>
        </p:nvSpPr>
        <p:spPr>
          <a:xfrm>
            <a:off x="11466704" y="5198781"/>
            <a:ext cx="370640" cy="370640"/>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7ABD2D0-021A-9406-0EBF-DF02F4780444}"/>
              </a:ext>
            </a:extLst>
          </p:cNvPr>
          <p:cNvSpPr txBox="1"/>
          <p:nvPr/>
        </p:nvSpPr>
        <p:spPr>
          <a:xfrm>
            <a:off x="9987381" y="1370480"/>
            <a:ext cx="1120820" cy="646331"/>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“Micro”</a:t>
            </a:r>
          </a:p>
          <a:p>
            <a:pPr algn="ctr"/>
            <a:r>
              <a:rPr lang="en-US" sz="1600" dirty="0">
                <a:latin typeface="Arial" panose="020B0604020202020204" pitchFamily="34" charset="0"/>
                <a:cs typeface="Arial" panose="020B0604020202020204" pitchFamily="34" charset="0"/>
              </a:rPr>
              <a:t>(standard)</a:t>
            </a:r>
          </a:p>
        </p:txBody>
      </p:sp>
      <p:sp>
        <p:nvSpPr>
          <p:cNvPr id="37" name="TextBox 36">
            <a:extLst>
              <a:ext uri="{FF2B5EF4-FFF2-40B4-BE49-F238E27FC236}">
                <a16:creationId xmlns:a16="http://schemas.microsoft.com/office/drawing/2014/main" id="{1CED383B-1366-70A9-0DC1-B52EF1FDD611}"/>
              </a:ext>
            </a:extLst>
          </p:cNvPr>
          <p:cNvSpPr txBox="1"/>
          <p:nvPr/>
        </p:nvSpPr>
        <p:spPr>
          <a:xfrm>
            <a:off x="11026258" y="1370480"/>
            <a:ext cx="1066319" cy="707886"/>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“Macro”</a:t>
            </a:r>
          </a:p>
          <a:p>
            <a:pPr algn="ct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814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5E760-A46A-F959-E420-A54C3033C857}"/>
              </a:ext>
            </a:extLst>
          </p:cNvPr>
          <p:cNvSpPr>
            <a:spLocks noGrp="1"/>
          </p:cNvSpPr>
          <p:nvPr>
            <p:ph type="title"/>
          </p:nvPr>
        </p:nvSpPr>
        <p:spPr>
          <a:xfrm>
            <a:off x="838200" y="337344"/>
            <a:ext cx="10515600" cy="1325563"/>
          </a:xfrm>
        </p:spPr>
        <p:txBody>
          <a:bodyPr/>
          <a:lstStyle/>
          <a:p>
            <a:r>
              <a:rPr lang="en-US" dirty="0"/>
              <a:t>Result 2C: Connectivity: Activity x IRAF</a:t>
            </a:r>
          </a:p>
        </p:txBody>
      </p:sp>
      <p:sp>
        <p:nvSpPr>
          <p:cNvPr id="3" name="Content Placeholder 2">
            <a:extLst>
              <a:ext uri="{FF2B5EF4-FFF2-40B4-BE49-F238E27FC236}">
                <a16:creationId xmlns:a16="http://schemas.microsoft.com/office/drawing/2014/main" id="{D902870E-25E1-7272-892B-16761148BDB1}"/>
              </a:ext>
            </a:extLst>
          </p:cNvPr>
          <p:cNvSpPr>
            <a:spLocks noGrp="1"/>
          </p:cNvSpPr>
          <p:nvPr>
            <p:ph idx="1"/>
          </p:nvPr>
        </p:nvSpPr>
        <p:spPr>
          <a:xfrm>
            <a:off x="1014412" y="1931245"/>
            <a:ext cx="10163175" cy="3563621"/>
          </a:xfrm>
        </p:spPr>
        <p:txBody>
          <a:bodyPr>
            <a:normAutofit/>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pPr lvl="1"/>
            <a:r>
              <a:rPr lang="en-US" dirty="0"/>
              <a:t>Note: A x B ≠ B x A</a:t>
            </a:r>
          </a:p>
          <a:p>
            <a:pPr lvl="1"/>
            <a:r>
              <a:rPr lang="en-US" dirty="0"/>
              <a:t>Test if significantly above zero</a:t>
            </a:r>
          </a:p>
          <a:p>
            <a:pPr marL="457200" lvl="1" indent="0">
              <a:buNone/>
            </a:pPr>
            <a:endParaRPr lang="en-US" dirty="0"/>
          </a:p>
          <a:p>
            <a:endParaRPr lang="en-US" dirty="0"/>
          </a:p>
        </p:txBody>
      </p:sp>
    </p:spTree>
    <p:extLst>
      <p:ext uri="{BB962C8B-B14F-4D97-AF65-F5344CB8AC3E}">
        <p14:creationId xmlns:p14="http://schemas.microsoft.com/office/powerpoint/2010/main" val="3208990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29DEDC-F195-6221-9B64-2635EFD0A247}"/>
              </a:ext>
            </a:extLst>
          </p:cNvPr>
          <p:cNvPicPr>
            <a:picLocks noChangeAspect="1"/>
          </p:cNvPicPr>
          <p:nvPr/>
        </p:nvPicPr>
        <p:blipFill>
          <a:blip r:embed="rId3"/>
          <a:stretch>
            <a:fillRect/>
          </a:stretch>
        </p:blipFill>
        <p:spPr>
          <a:xfrm>
            <a:off x="5581794" y="1125534"/>
            <a:ext cx="5705475" cy="5705475"/>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1317794" y="365126"/>
            <a:ext cx="10732750" cy="917856"/>
          </a:xfrm>
        </p:spPr>
        <p:txBody>
          <a:bodyPr/>
          <a:lstStyle/>
          <a:p>
            <a:r>
              <a:rPr lang="en-US" dirty="0"/>
              <a:t>Result 2C: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52343" y="1874841"/>
            <a:ext cx="4410075" cy="4829174"/>
          </a:xfrm>
        </p:spPr>
        <p:txBody>
          <a:bodyPr>
            <a:normAutofit/>
          </a:bodyPr>
          <a:lstStyle/>
          <a:p>
            <a:r>
              <a:rPr lang="en-US" dirty="0"/>
              <a:t>Occipital lobe and fusiform gyrus shows abs-</a:t>
            </a:r>
            <a:r>
              <a:rPr lang="en-US" dirty="0" err="1"/>
              <a:t>dif</a:t>
            </a:r>
            <a:r>
              <a:rPr lang="en-US" dirty="0"/>
              <a:t> effect, if LPFC activity is high</a:t>
            </a:r>
          </a:p>
          <a:p>
            <a:r>
              <a:rPr lang="en-US" dirty="0"/>
              <a:t>Top-down modulation?</a:t>
            </a:r>
          </a:p>
        </p:txBody>
      </p:sp>
      <p:sp>
        <p:nvSpPr>
          <p:cNvPr id="6" name="Oval 5">
            <a:extLst>
              <a:ext uri="{FF2B5EF4-FFF2-40B4-BE49-F238E27FC236}">
                <a16:creationId xmlns:a16="http://schemas.microsoft.com/office/drawing/2014/main" id="{321F282F-4487-41A6-34D1-6A14B4EE86FB}"/>
              </a:ext>
            </a:extLst>
          </p:cNvPr>
          <p:cNvSpPr/>
          <p:nvPr/>
        </p:nvSpPr>
        <p:spPr>
          <a:xfrm>
            <a:off x="6355888" y="2847100"/>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7D4D20B-C54B-1338-D7E9-F541444E673F}"/>
              </a:ext>
            </a:extLst>
          </p:cNvPr>
          <p:cNvPicPr>
            <a:picLocks noChangeAspect="1"/>
          </p:cNvPicPr>
          <p:nvPr/>
        </p:nvPicPr>
        <p:blipFill rotWithShape="1">
          <a:blip r:embed="rId4"/>
          <a:srcRect l="50552" t="54668" r="29609" b="14254"/>
          <a:stretch/>
        </p:blipFill>
        <p:spPr>
          <a:xfrm>
            <a:off x="141456" y="365126"/>
            <a:ext cx="1176338" cy="1191624"/>
          </a:xfrm>
          <a:prstGeom prst="rect">
            <a:avLst/>
          </a:prstGeom>
        </p:spPr>
      </p:pic>
      <p:sp>
        <p:nvSpPr>
          <p:cNvPr id="11" name="Oval 10">
            <a:extLst>
              <a:ext uri="{FF2B5EF4-FFF2-40B4-BE49-F238E27FC236}">
                <a16:creationId xmlns:a16="http://schemas.microsoft.com/office/drawing/2014/main" id="{EA27ECAF-5989-AB68-FE99-B4BDBA95F35B}"/>
              </a:ext>
            </a:extLst>
          </p:cNvPr>
          <p:cNvSpPr/>
          <p:nvPr/>
        </p:nvSpPr>
        <p:spPr>
          <a:xfrm>
            <a:off x="6283259" y="2468407"/>
            <a:ext cx="612841" cy="2462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F21A-D328-737B-EE4A-CE020E801A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B4BAEB-AF6C-95AE-1F60-6A949D1508F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49523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616F-448C-25B8-3907-B941FB3687B5}"/>
              </a:ext>
            </a:extLst>
          </p:cNvPr>
          <p:cNvSpPr>
            <a:spLocks noGrp="1"/>
          </p:cNvSpPr>
          <p:nvPr>
            <p:ph type="title"/>
          </p:nvPr>
        </p:nvSpPr>
        <p:spPr/>
        <p:txBody>
          <a:bodyPr/>
          <a:lstStyle/>
          <a:p>
            <a:r>
              <a:rPr lang="en-US" dirty="0"/>
              <a:t>Result 3A: Prediction error IRAF predicts subsequent memory</a:t>
            </a:r>
          </a:p>
        </p:txBody>
      </p:sp>
      <p:sp>
        <p:nvSpPr>
          <p:cNvPr id="3" name="Content Placeholder 2">
            <a:extLst>
              <a:ext uri="{FF2B5EF4-FFF2-40B4-BE49-F238E27FC236}">
                <a16:creationId xmlns:a16="http://schemas.microsoft.com/office/drawing/2014/main" id="{13279230-98CE-5856-FBD3-4D47056CE036}"/>
              </a:ext>
            </a:extLst>
          </p:cNvPr>
          <p:cNvSpPr>
            <a:spLocks noGrp="1"/>
          </p:cNvSpPr>
          <p:nvPr>
            <p:ph idx="1"/>
          </p:nvPr>
        </p:nvSpPr>
        <p:spPr/>
        <p:txBody>
          <a:bodyPr/>
          <a:lstStyle/>
          <a:p>
            <a:r>
              <a:rPr lang="en-US" dirty="0"/>
              <a:t>LPFC abs-</a:t>
            </a:r>
            <a:r>
              <a:rPr lang="en-US" dirty="0" err="1"/>
              <a:t>dif</a:t>
            </a:r>
            <a:r>
              <a:rPr lang="en-US" dirty="0"/>
              <a:t> IRAF predicts subsequent memory</a:t>
            </a:r>
          </a:p>
          <a:p>
            <a:endParaRPr lang="en-US" dirty="0"/>
          </a:p>
        </p:txBody>
      </p:sp>
    </p:spTree>
    <p:extLst>
      <p:ext uri="{BB962C8B-B14F-4D97-AF65-F5344CB8AC3E}">
        <p14:creationId xmlns:p14="http://schemas.microsoft.com/office/powerpoint/2010/main" val="2312453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F17E-1EE9-B525-4301-3DCC345C13A5}"/>
              </a:ext>
            </a:extLst>
          </p:cNvPr>
          <p:cNvSpPr>
            <a:spLocks noGrp="1"/>
          </p:cNvSpPr>
          <p:nvPr>
            <p:ph type="title"/>
          </p:nvPr>
        </p:nvSpPr>
        <p:spPr>
          <a:xfrm>
            <a:off x="747295" y="171322"/>
            <a:ext cx="10515600" cy="1325563"/>
          </a:xfrm>
        </p:spPr>
        <p:txBody>
          <a:bodyPr/>
          <a:lstStyle/>
          <a:p>
            <a:r>
              <a:rPr lang="en-US" dirty="0"/>
              <a:t>Result 3B: Retrieval retrieves scene representation</a:t>
            </a:r>
          </a:p>
        </p:txBody>
      </p:sp>
      <p:sp>
        <p:nvSpPr>
          <p:cNvPr id="3" name="Content Placeholder 2">
            <a:extLst>
              <a:ext uri="{FF2B5EF4-FFF2-40B4-BE49-F238E27FC236}">
                <a16:creationId xmlns:a16="http://schemas.microsoft.com/office/drawing/2014/main" id="{668F6187-0D0D-5642-D562-823A0E31D30B}"/>
              </a:ext>
            </a:extLst>
          </p:cNvPr>
          <p:cNvSpPr>
            <a:spLocks noGrp="1"/>
          </p:cNvSpPr>
          <p:nvPr>
            <p:ph idx="1"/>
          </p:nvPr>
        </p:nvSpPr>
        <p:spPr>
          <a:xfrm>
            <a:off x="853440" y="1570037"/>
            <a:ext cx="5010912" cy="511175"/>
          </a:xfrm>
        </p:spPr>
        <p:txBody>
          <a:bodyPr>
            <a:normAutofit/>
          </a:bodyPr>
          <a:lstStyle/>
          <a:p>
            <a:pPr marL="0" indent="0" algn="ctr">
              <a:buNone/>
            </a:pPr>
            <a:r>
              <a:rPr lang="en-US" dirty="0"/>
              <a:t>Conceptual task: Scene RSA</a:t>
            </a:r>
          </a:p>
        </p:txBody>
      </p:sp>
      <p:pic>
        <p:nvPicPr>
          <p:cNvPr id="5" name="Picture 4">
            <a:extLst>
              <a:ext uri="{FF2B5EF4-FFF2-40B4-BE49-F238E27FC236}">
                <a16:creationId xmlns:a16="http://schemas.microsoft.com/office/drawing/2014/main" id="{00FA69BD-9E42-5222-0C2C-937DB1373C08}"/>
              </a:ext>
            </a:extLst>
          </p:cNvPr>
          <p:cNvPicPr>
            <a:picLocks noChangeAspect="1"/>
          </p:cNvPicPr>
          <p:nvPr/>
        </p:nvPicPr>
        <p:blipFill>
          <a:blip r:embed="rId2"/>
          <a:stretch>
            <a:fillRect/>
          </a:stretch>
        </p:blipFill>
        <p:spPr>
          <a:xfrm>
            <a:off x="255337" y="2081212"/>
            <a:ext cx="6096000" cy="4572000"/>
          </a:xfrm>
          <a:prstGeom prst="rect">
            <a:avLst/>
          </a:prstGeom>
        </p:spPr>
      </p:pic>
      <p:pic>
        <p:nvPicPr>
          <p:cNvPr id="7" name="Picture 6">
            <a:extLst>
              <a:ext uri="{FF2B5EF4-FFF2-40B4-BE49-F238E27FC236}">
                <a16:creationId xmlns:a16="http://schemas.microsoft.com/office/drawing/2014/main" id="{77E18CFB-C6FA-34D4-42FE-130C4593A23A}"/>
              </a:ext>
            </a:extLst>
          </p:cNvPr>
          <p:cNvPicPr>
            <a:picLocks noChangeAspect="1"/>
          </p:cNvPicPr>
          <p:nvPr/>
        </p:nvPicPr>
        <p:blipFill>
          <a:blip r:embed="rId3"/>
          <a:stretch>
            <a:fillRect/>
          </a:stretch>
        </p:blipFill>
        <p:spPr>
          <a:xfrm>
            <a:off x="6132095" y="2081212"/>
            <a:ext cx="6096000" cy="4572000"/>
          </a:xfrm>
          <a:prstGeom prst="rect">
            <a:avLst/>
          </a:prstGeom>
        </p:spPr>
      </p:pic>
      <p:sp>
        <p:nvSpPr>
          <p:cNvPr id="8" name="Content Placeholder 2">
            <a:extLst>
              <a:ext uri="{FF2B5EF4-FFF2-40B4-BE49-F238E27FC236}">
                <a16:creationId xmlns:a16="http://schemas.microsoft.com/office/drawing/2014/main" id="{B2CF343B-3C57-D3F3-CCA6-72F01CB3559D}"/>
              </a:ext>
            </a:extLst>
          </p:cNvPr>
          <p:cNvSpPr txBox="1">
            <a:spLocks/>
          </p:cNvSpPr>
          <p:nvPr/>
        </p:nvSpPr>
        <p:spPr>
          <a:xfrm>
            <a:off x="6843295" y="1570037"/>
            <a:ext cx="467360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Visual task: Scene RSA</a:t>
            </a:r>
          </a:p>
        </p:txBody>
      </p:sp>
      <p:sp>
        <p:nvSpPr>
          <p:cNvPr id="4" name="Oval 3">
            <a:extLst>
              <a:ext uri="{FF2B5EF4-FFF2-40B4-BE49-F238E27FC236}">
                <a16:creationId xmlns:a16="http://schemas.microsoft.com/office/drawing/2014/main" id="{A2233BFB-F0F2-E157-60C0-BBDD828C00E8}"/>
              </a:ext>
            </a:extLst>
          </p:cNvPr>
          <p:cNvSpPr/>
          <p:nvPr/>
        </p:nvSpPr>
        <p:spPr>
          <a:xfrm>
            <a:off x="972570" y="2575453"/>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F364ED2-281E-2BD2-0358-380216403FD9}"/>
              </a:ext>
            </a:extLst>
          </p:cNvPr>
          <p:cNvSpPr/>
          <p:nvPr/>
        </p:nvSpPr>
        <p:spPr>
          <a:xfrm>
            <a:off x="6941570" y="2456920"/>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06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Other things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B240-D4F8-A9DA-EFDD-DABDD50629F3}"/>
              </a:ext>
            </a:extLst>
          </p:cNvPr>
          <p:cNvSpPr>
            <a:spLocks noGrp="1"/>
          </p:cNvSpPr>
          <p:nvPr>
            <p:ph type="title"/>
          </p:nvPr>
        </p:nvSpPr>
        <p:spPr/>
        <p:txBody>
          <a:bodyPr/>
          <a:lstStyle/>
          <a:p>
            <a:r>
              <a:rPr lang="en-US" dirty="0"/>
              <a:t>Something cool</a:t>
            </a:r>
          </a:p>
        </p:txBody>
      </p:sp>
      <p:sp>
        <p:nvSpPr>
          <p:cNvPr id="3" name="Content Placeholder 2">
            <a:extLst>
              <a:ext uri="{FF2B5EF4-FFF2-40B4-BE49-F238E27FC236}">
                <a16:creationId xmlns:a16="http://schemas.microsoft.com/office/drawing/2014/main" id="{05AB0A88-0DEA-1F94-A929-BE33CEB048D6}"/>
              </a:ext>
            </a:extLst>
          </p:cNvPr>
          <p:cNvSpPr>
            <a:spLocks noGrp="1"/>
          </p:cNvSpPr>
          <p:nvPr>
            <p:ph idx="1"/>
          </p:nvPr>
        </p:nvSpPr>
        <p:spPr>
          <a:xfrm>
            <a:off x="838200" y="1825625"/>
            <a:ext cx="4784387" cy="4351338"/>
          </a:xfrm>
        </p:spPr>
        <p:txBody>
          <a:bodyPr/>
          <a:lstStyle/>
          <a:p>
            <a:r>
              <a:rPr lang="en-US" dirty="0"/>
              <a:t>Strong hippocampal representation during baseline -&gt; stronger representation during conceptual retrieval</a:t>
            </a:r>
          </a:p>
        </p:txBody>
      </p:sp>
      <p:pic>
        <p:nvPicPr>
          <p:cNvPr id="11" name="Picture 10">
            <a:extLst>
              <a:ext uri="{FF2B5EF4-FFF2-40B4-BE49-F238E27FC236}">
                <a16:creationId xmlns:a16="http://schemas.microsoft.com/office/drawing/2014/main" id="{87CF6E2C-1F7D-045A-FDB0-500846A0EAA4}"/>
              </a:ext>
            </a:extLst>
          </p:cNvPr>
          <p:cNvPicPr>
            <a:picLocks noChangeAspect="1"/>
          </p:cNvPicPr>
          <p:nvPr/>
        </p:nvPicPr>
        <p:blipFill>
          <a:blip r:embed="rId2"/>
          <a:stretch>
            <a:fillRect/>
          </a:stretch>
        </p:blipFill>
        <p:spPr>
          <a:xfrm>
            <a:off x="5835183" y="1531224"/>
            <a:ext cx="5696745" cy="5134692"/>
          </a:xfrm>
          <a:prstGeom prst="rect">
            <a:avLst/>
          </a:prstGeom>
        </p:spPr>
      </p:pic>
    </p:spTree>
    <p:extLst>
      <p:ext uri="{BB962C8B-B14F-4D97-AF65-F5344CB8AC3E}">
        <p14:creationId xmlns:p14="http://schemas.microsoft.com/office/powerpoint/2010/main" val="2822352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1715294"/>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1741470"/>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060B0-E6A5-35D9-2E2A-E5CEA68DE85A}"/>
              </a:ext>
            </a:extLst>
          </p:cNvPr>
          <p:cNvSpPr>
            <a:spLocks noGrp="1"/>
          </p:cNvSpPr>
          <p:nvPr>
            <p:ph type="title"/>
          </p:nvPr>
        </p:nvSpPr>
        <p:spPr/>
        <p:txBody>
          <a:bodyPr/>
          <a:lstStyle/>
          <a:p>
            <a:r>
              <a:rPr lang="en-US" dirty="0"/>
              <a:t>Encoding retrieval similarity</a:t>
            </a:r>
          </a:p>
        </p:txBody>
      </p:sp>
      <p:sp>
        <p:nvSpPr>
          <p:cNvPr id="3" name="Content Placeholder 2">
            <a:extLst>
              <a:ext uri="{FF2B5EF4-FFF2-40B4-BE49-F238E27FC236}">
                <a16:creationId xmlns:a16="http://schemas.microsoft.com/office/drawing/2014/main" id="{BD644C49-FBAE-6683-0B29-86BEFC65E4FD}"/>
              </a:ext>
            </a:extLst>
          </p:cNvPr>
          <p:cNvSpPr>
            <a:spLocks noGrp="1"/>
          </p:cNvSpPr>
          <p:nvPr>
            <p:ph idx="1"/>
          </p:nvPr>
        </p:nvSpPr>
        <p:spPr>
          <a:xfrm>
            <a:off x="838200" y="1825625"/>
            <a:ext cx="10515600" cy="4667250"/>
          </a:xfrm>
        </p:spPr>
        <p:txBody>
          <a:bodyPr>
            <a:normAutofit lnSpcReduction="10000"/>
          </a:bodyPr>
          <a:lstStyle/>
          <a:p>
            <a:r>
              <a:rPr lang="en-US" dirty="0"/>
              <a:t>We see correlations:</a:t>
            </a:r>
          </a:p>
          <a:p>
            <a:pPr lvl="1"/>
            <a:r>
              <a:rPr lang="en-US" dirty="0"/>
              <a:t>Baseline x encoding</a:t>
            </a:r>
          </a:p>
          <a:p>
            <a:pPr lvl="1"/>
            <a:r>
              <a:rPr lang="en-US" dirty="0"/>
              <a:t>Baseline x visual (ERS)</a:t>
            </a:r>
          </a:p>
          <a:p>
            <a:pPr lvl="1"/>
            <a:r>
              <a:rPr lang="en-US" dirty="0"/>
              <a:t>Encoding x visual (ERS)</a:t>
            </a:r>
          </a:p>
          <a:p>
            <a:r>
              <a:rPr lang="en-US" dirty="0">
                <a:solidFill>
                  <a:srgbClr val="FF0000"/>
                </a:solidFill>
              </a:rPr>
              <a:t>Possibly interesting further work:</a:t>
            </a:r>
          </a:p>
          <a:p>
            <a:pPr lvl="1"/>
            <a:r>
              <a:rPr lang="en-US" dirty="0"/>
              <a:t>Similarity is, in part, due to the same representation being activated</a:t>
            </a:r>
          </a:p>
          <a:p>
            <a:pPr lvl="1"/>
            <a:r>
              <a:rPr lang="en-US" dirty="0"/>
              <a:t>Hence, we would expect to see an IRAF x ERS correlation</a:t>
            </a:r>
          </a:p>
          <a:p>
            <a:pPr lvl="2"/>
            <a:r>
              <a:rPr lang="en-US" dirty="0"/>
              <a:t>Further, we would expect the correlation to be stronger based on what type of stimulus properties are used to calculate IRAF </a:t>
            </a:r>
          </a:p>
          <a:p>
            <a:pPr lvl="2"/>
            <a:r>
              <a:rPr lang="en-US" dirty="0"/>
              <a:t>(e.g., if using DNN vectors, we would expect stronger IRAF x ERS in occipital, but if using word2vec vectors, we would expect stronger IRAF x ERS in ATL)</a:t>
            </a:r>
          </a:p>
          <a:p>
            <a:pPr lvl="1"/>
            <a:r>
              <a:rPr lang="en-US" dirty="0"/>
              <a:t>Not sure how this could be useful. Maybe this can prove to be a more sensitive measure than RDM x RDM correlations?</a:t>
            </a:r>
          </a:p>
          <a:p>
            <a:pPr lvl="1"/>
            <a:endParaRPr lang="en-US" dirty="0"/>
          </a:p>
          <a:p>
            <a:pPr lvl="1"/>
            <a:endParaRPr lang="en-US" dirty="0"/>
          </a:p>
        </p:txBody>
      </p:sp>
    </p:spTree>
    <p:extLst>
      <p:ext uri="{BB962C8B-B14F-4D97-AF65-F5344CB8AC3E}">
        <p14:creationId xmlns:p14="http://schemas.microsoft.com/office/powerpoint/2010/main" val="12448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Whiffs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265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2EF9-B761-D3F7-853D-F40968FFE82E}"/>
              </a:ext>
            </a:extLst>
          </p:cNvPr>
          <p:cNvSpPr>
            <a:spLocks noGrp="1"/>
          </p:cNvSpPr>
          <p:nvPr>
            <p:ph type="title"/>
          </p:nvPr>
        </p:nvSpPr>
        <p:spPr>
          <a:xfrm>
            <a:off x="838200" y="0"/>
            <a:ext cx="10515600" cy="878319"/>
          </a:xfrm>
        </p:spPr>
        <p:txBody>
          <a:bodyPr/>
          <a:lstStyle/>
          <a:p>
            <a:r>
              <a:rPr lang="en-US" dirty="0"/>
              <a:t>Other analyses</a:t>
            </a:r>
          </a:p>
        </p:txBody>
      </p:sp>
      <p:sp>
        <p:nvSpPr>
          <p:cNvPr id="3" name="Content Placeholder 2">
            <a:extLst>
              <a:ext uri="{FF2B5EF4-FFF2-40B4-BE49-F238E27FC236}">
                <a16:creationId xmlns:a16="http://schemas.microsoft.com/office/drawing/2014/main" id="{BBC86783-DCF9-96A2-6BFD-5070AC5843CF}"/>
              </a:ext>
            </a:extLst>
          </p:cNvPr>
          <p:cNvSpPr>
            <a:spLocks noGrp="1"/>
          </p:cNvSpPr>
          <p:nvPr>
            <p:ph idx="1"/>
          </p:nvPr>
        </p:nvSpPr>
        <p:spPr>
          <a:xfrm>
            <a:off x="838200" y="1013688"/>
            <a:ext cx="10877550" cy="5827281"/>
          </a:xfrm>
        </p:spPr>
        <p:txBody>
          <a:bodyPr>
            <a:normAutofit fontScale="92500" lnSpcReduction="20000"/>
          </a:bodyPr>
          <a:lstStyle/>
          <a:p>
            <a:r>
              <a:rPr lang="en-US" dirty="0">
                <a:solidFill>
                  <a:srgbClr val="C00000"/>
                </a:solidFill>
              </a:rPr>
              <a:t>Can you do RSA with respect to the fMRI difference vector?</a:t>
            </a:r>
          </a:p>
          <a:p>
            <a:pPr lvl="1"/>
            <a:r>
              <a:rPr lang="en-US" dirty="0"/>
              <a:t>E.g., examine whether presenting a scene shifts the neural representation of the object between baseline ➜ retrieval</a:t>
            </a:r>
          </a:p>
          <a:p>
            <a:pPr lvl="2"/>
            <a:r>
              <a:rPr lang="en-US" dirty="0"/>
              <a:t>[Scene stimulus vector] x [baseline-fMRI minus visual-fMRI]</a:t>
            </a:r>
          </a:p>
          <a:p>
            <a:pPr lvl="2"/>
            <a:r>
              <a:rPr lang="en-US" dirty="0"/>
              <a:t>Overlapping ideas with that journal club paper we read on semantic shifts after learning</a:t>
            </a:r>
          </a:p>
          <a:p>
            <a:pPr lvl="1"/>
            <a:r>
              <a:rPr lang="en-US" dirty="0"/>
              <a:t>No significant results</a:t>
            </a:r>
          </a:p>
          <a:p>
            <a:pPr lvl="2"/>
            <a:r>
              <a:rPr lang="en-US" dirty="0"/>
              <a:t>This route may have potential, but it may just be too much of a stretch given the present design</a:t>
            </a:r>
          </a:p>
          <a:p>
            <a:r>
              <a:rPr lang="en-US" dirty="0">
                <a:solidFill>
                  <a:srgbClr val="0070C0"/>
                </a:solidFill>
              </a:rPr>
              <a:t>Does congruency lead to connectivity patterns during scene presentation being more correlated with connectivity during object presentation?</a:t>
            </a:r>
          </a:p>
          <a:p>
            <a:pPr lvl="1"/>
            <a:r>
              <a:rPr lang="en-US" dirty="0"/>
              <a:t>No, it doesn’t</a:t>
            </a:r>
          </a:p>
          <a:p>
            <a:r>
              <a:rPr lang="en-US" dirty="0">
                <a:solidFill>
                  <a:schemeClr val="accent6">
                    <a:lumMod val="75000"/>
                  </a:schemeClr>
                </a:solidFill>
              </a:rPr>
              <a:t>If you calculate single-trial connectivity based on the scene x object betas (binary connectivity), and submit the data to RSA, will you find significant results?</a:t>
            </a:r>
          </a:p>
          <a:p>
            <a:pPr lvl="1"/>
            <a:r>
              <a:rPr lang="en-US" dirty="0"/>
              <a:t>No, not really</a:t>
            </a:r>
          </a:p>
          <a:p>
            <a:pPr lvl="1"/>
            <a:r>
              <a:rPr lang="en-US" dirty="0"/>
              <a:t>Found one significant RSA result:</a:t>
            </a:r>
          </a:p>
          <a:p>
            <a:pPr lvl="2"/>
            <a:r>
              <a:rPr lang="en-US" dirty="0"/>
              <a:t>Within-occipital-lobe-connectivity x last-layer-activation-DNN</a:t>
            </a:r>
          </a:p>
          <a:p>
            <a:pPr lvl="2"/>
            <a:r>
              <a:rPr lang="en-US" dirty="0"/>
              <a:t>My guess is that this is spurious</a:t>
            </a:r>
          </a:p>
        </p:txBody>
      </p:sp>
    </p:spTree>
    <p:extLst>
      <p:ext uri="{BB962C8B-B14F-4D97-AF65-F5344CB8AC3E}">
        <p14:creationId xmlns:p14="http://schemas.microsoft.com/office/powerpoint/2010/main" val="39491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a:xfrm>
            <a:off x="1524000" y="1122363"/>
            <a:ext cx="9144000" cy="2133599"/>
          </a:xfrm>
        </p:spPr>
        <p:txBody>
          <a:bodyPr/>
          <a:lstStyle/>
          <a:p>
            <a:r>
              <a:rPr lang="en-US" dirty="0"/>
              <a:t>Study ideas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a:xfrm>
            <a:off x="1524000" y="3579814"/>
            <a:ext cx="9144000" cy="2227262"/>
          </a:xfrm>
        </p:spPr>
        <p:txBody>
          <a:bodyPr>
            <a:normAutofit/>
          </a:bodyPr>
          <a:lstStyle/>
          <a:p>
            <a:r>
              <a:rPr lang="en-US" sz="3600" dirty="0">
                <a:solidFill>
                  <a:srgbClr val="002060"/>
                </a:solidFill>
              </a:rPr>
              <a:t>How are </a:t>
            </a:r>
            <a:r>
              <a:rPr lang="en-US" sz="3600" u="sng" dirty="0">
                <a:solidFill>
                  <a:srgbClr val="002060"/>
                </a:solidFill>
              </a:rPr>
              <a:t>episodic memories</a:t>
            </a:r>
            <a:r>
              <a:rPr lang="en-US" sz="3600" dirty="0">
                <a:solidFill>
                  <a:srgbClr val="002060"/>
                </a:solidFill>
              </a:rPr>
              <a:t> represented and how are </a:t>
            </a:r>
            <a:r>
              <a:rPr lang="en-US" sz="3600" u="sng" dirty="0">
                <a:solidFill>
                  <a:srgbClr val="002060"/>
                </a:solidFill>
              </a:rPr>
              <a:t>relational memories</a:t>
            </a:r>
            <a:r>
              <a:rPr lang="en-US" sz="3600" dirty="0">
                <a:solidFill>
                  <a:srgbClr val="002060"/>
                </a:solidFill>
              </a:rPr>
              <a:t> encoded? </a:t>
            </a:r>
          </a:p>
        </p:txBody>
      </p:sp>
    </p:spTree>
    <p:extLst>
      <p:ext uri="{BB962C8B-B14F-4D97-AF65-F5344CB8AC3E}">
        <p14:creationId xmlns:p14="http://schemas.microsoft.com/office/powerpoint/2010/main" val="2530670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solidFill>
                  <a:srgbClr val="002060"/>
                </a:solidFill>
              </a:rPr>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11020684" cy="5170666"/>
          </a:xfrm>
        </p:spPr>
        <p:txBody>
          <a:bodyPr>
            <a:normAutofit/>
          </a:bodyPr>
          <a:lstStyle/>
          <a:p>
            <a:r>
              <a:rPr lang="en-US" dirty="0"/>
              <a:t>What does it mean to retrieve an episodic memory?</a:t>
            </a:r>
          </a:p>
          <a:p>
            <a:pPr lvl="1"/>
            <a:r>
              <a:rPr lang="en-US" dirty="0"/>
              <a:t>It entails retrieving a bundle of items, tied together by relational memories</a:t>
            </a:r>
          </a:p>
          <a:p>
            <a:r>
              <a:rPr lang="en-US" dirty="0"/>
              <a:t>In the R/K test:</a:t>
            </a:r>
          </a:p>
          <a:p>
            <a:pPr lvl="1"/>
            <a:r>
              <a:rPr lang="en-US" dirty="0"/>
              <a:t>Remember responses reflect episodic memory and can be conceptualized as familiarity + relational memory</a:t>
            </a:r>
          </a:p>
          <a:p>
            <a:r>
              <a:rPr lang="en-US" dirty="0"/>
              <a:t>The study ideas here focus on episodic memory and relational memory</a:t>
            </a:r>
          </a:p>
          <a:p>
            <a:pPr lvl="1"/>
            <a:r>
              <a:rPr lang="en-US" dirty="0"/>
              <a:t>To investigate how individuals represent episodic memories and how individuals encode relations between items</a:t>
            </a:r>
          </a:p>
          <a:p>
            <a:pPr lvl="1"/>
            <a:r>
              <a:rPr lang="en-US" dirty="0"/>
              <a:t>There has been little RSA research investigating this type of complex neural encoding, which goes beyond item representation</a:t>
            </a:r>
          </a:p>
          <a:p>
            <a:pPr lvl="1"/>
            <a:r>
              <a:rPr lang="en-US" dirty="0"/>
              <a:t>Relational memory is a central focus of aging research</a:t>
            </a:r>
          </a:p>
          <a:p>
            <a:endParaRPr lang="en-US" dirty="0"/>
          </a:p>
          <a:p>
            <a:pPr lvl="1"/>
            <a:endParaRPr lang="en-US" dirty="0"/>
          </a:p>
        </p:txBody>
      </p:sp>
    </p:spTree>
    <p:extLst>
      <p:ext uri="{BB962C8B-B14F-4D97-AF65-F5344CB8AC3E}">
        <p14:creationId xmlns:p14="http://schemas.microsoft.com/office/powerpoint/2010/main" val="215345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16005"/>
            <a:ext cx="10515600" cy="1084263"/>
          </a:xfrm>
        </p:spPr>
        <p:txBody>
          <a:bodyPr>
            <a:noAutofit/>
          </a:bodyPr>
          <a:lstStyle/>
          <a:p>
            <a:r>
              <a:rPr lang="en-US" sz="3600" dirty="0">
                <a:solidFill>
                  <a:srgbClr val="002060"/>
                </a:solidFill>
              </a:rPr>
              <a:t>Examining relational memory from multiple levels</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374069"/>
            <a:ext cx="10761133" cy="2736085"/>
          </a:xfrm>
        </p:spPr>
        <p:txBody>
          <a:bodyPr>
            <a:normAutofit/>
          </a:bodyPr>
          <a:lstStyle/>
          <a:p>
            <a:r>
              <a:rPr lang="en-US" dirty="0"/>
              <a:t>Spatial and temporal relational memory</a:t>
            </a:r>
          </a:p>
          <a:p>
            <a:pPr lvl="1"/>
            <a:r>
              <a:rPr lang="en-US" dirty="0"/>
              <a:t>Spatial relations exist among items within a scene</a:t>
            </a:r>
          </a:p>
          <a:p>
            <a:pPr lvl="1"/>
            <a:r>
              <a:rPr lang="en-US" dirty="0"/>
              <a:t>Temporal relations exist between scenes</a:t>
            </a:r>
          </a:p>
          <a:p>
            <a:r>
              <a:rPr lang="en-US" dirty="0"/>
              <a:t>Episodic vs. semantic retrieval</a:t>
            </a:r>
          </a:p>
        </p:txBody>
      </p:sp>
      <p:cxnSp>
        <p:nvCxnSpPr>
          <p:cNvPr id="4" name="Straight Arrow Connector 3">
            <a:extLst>
              <a:ext uri="{FF2B5EF4-FFF2-40B4-BE49-F238E27FC236}">
                <a16:creationId xmlns:a16="http://schemas.microsoft.com/office/drawing/2014/main" id="{437580CF-807B-59C4-2BD1-E3793EC680B1}"/>
              </a:ext>
            </a:extLst>
          </p:cNvPr>
          <p:cNvCxnSpPr/>
          <p:nvPr/>
        </p:nvCxnSpPr>
        <p:spPr>
          <a:xfrm>
            <a:off x="4798725" y="5038994"/>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09E0A05-D346-7BC1-B318-65310399F820}"/>
              </a:ext>
            </a:extLst>
          </p:cNvPr>
          <p:cNvSpPr/>
          <p:nvPr/>
        </p:nvSpPr>
        <p:spPr>
          <a:xfrm>
            <a:off x="65888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BCE22A-D190-6587-F8B8-F2FE16B82C28}"/>
              </a:ext>
            </a:extLst>
          </p:cNvPr>
          <p:cNvSpPr/>
          <p:nvPr/>
        </p:nvSpPr>
        <p:spPr>
          <a:xfrm>
            <a:off x="65888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4B647-6802-8349-E542-8B505C87CA87}"/>
              </a:ext>
            </a:extLst>
          </p:cNvPr>
          <p:cNvSpPr/>
          <p:nvPr/>
        </p:nvSpPr>
        <p:spPr>
          <a:xfrm>
            <a:off x="80588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89A6244-DAAA-BE99-2FA0-52966FC4F5AA}"/>
              </a:ext>
            </a:extLst>
          </p:cNvPr>
          <p:cNvSpPr/>
          <p:nvPr/>
        </p:nvSpPr>
        <p:spPr>
          <a:xfrm>
            <a:off x="80588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3472B2FE-78B6-3244-0EFC-C5164B96472C}"/>
              </a:ext>
            </a:extLst>
          </p:cNvPr>
          <p:cNvCxnSpPr>
            <a:cxnSpLocks/>
            <a:stCxn id="5" idx="5"/>
            <a:endCxn id="8" idx="1"/>
          </p:cNvCxnSpPr>
          <p:nvPr/>
        </p:nvCxnSpPr>
        <p:spPr>
          <a:xfrm>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E9E80D-F97A-65F9-A3B1-29C7DDB54D30}"/>
              </a:ext>
            </a:extLst>
          </p:cNvPr>
          <p:cNvCxnSpPr>
            <a:cxnSpLocks/>
            <a:stCxn id="6" idx="6"/>
            <a:endCxn id="8" idx="2"/>
          </p:cNvCxnSpPr>
          <p:nvPr/>
        </p:nvCxnSpPr>
        <p:spPr>
          <a:xfrm>
            <a:off x="72008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B41E27-BD97-F45F-7031-A7DE9A7EA8CE}"/>
              </a:ext>
            </a:extLst>
          </p:cNvPr>
          <p:cNvCxnSpPr>
            <a:cxnSpLocks/>
            <a:stCxn id="8" idx="0"/>
            <a:endCxn id="7" idx="4"/>
          </p:cNvCxnSpPr>
          <p:nvPr/>
        </p:nvCxnSpPr>
        <p:spPr>
          <a:xfrm flipV="1">
            <a:off x="83648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19F8D9B-BF08-3FAB-BEE8-9D54BB06D534}"/>
              </a:ext>
            </a:extLst>
          </p:cNvPr>
          <p:cNvCxnSpPr>
            <a:cxnSpLocks/>
            <a:stCxn id="5" idx="6"/>
            <a:endCxn id="7" idx="2"/>
          </p:cNvCxnSpPr>
          <p:nvPr/>
        </p:nvCxnSpPr>
        <p:spPr>
          <a:xfrm>
            <a:off x="72008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6D6A75-D8FA-D2D3-E1DB-06257A97267E}"/>
              </a:ext>
            </a:extLst>
          </p:cNvPr>
          <p:cNvCxnSpPr>
            <a:cxnSpLocks/>
            <a:stCxn id="6" idx="0"/>
            <a:endCxn id="5" idx="4"/>
          </p:cNvCxnSpPr>
          <p:nvPr/>
        </p:nvCxnSpPr>
        <p:spPr>
          <a:xfrm flipV="1">
            <a:off x="68948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C7B98D-73ED-E1E2-61A8-4158E4473181}"/>
              </a:ext>
            </a:extLst>
          </p:cNvPr>
          <p:cNvCxnSpPr>
            <a:cxnSpLocks/>
            <a:stCxn id="6" idx="7"/>
            <a:endCxn id="7" idx="3"/>
          </p:cNvCxnSpPr>
          <p:nvPr/>
        </p:nvCxnSpPr>
        <p:spPr>
          <a:xfrm flipV="1">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B49F0F-697D-B487-1007-41403F0A1CA7}"/>
              </a:ext>
            </a:extLst>
          </p:cNvPr>
          <p:cNvSpPr/>
          <p:nvPr/>
        </p:nvSpPr>
        <p:spPr>
          <a:xfrm>
            <a:off x="26510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FC456B-5178-55C1-F801-6C9A49C7266A}"/>
              </a:ext>
            </a:extLst>
          </p:cNvPr>
          <p:cNvSpPr/>
          <p:nvPr/>
        </p:nvSpPr>
        <p:spPr>
          <a:xfrm>
            <a:off x="26510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37315BE-C5DF-1175-99BE-F4872FFFF4DA}"/>
              </a:ext>
            </a:extLst>
          </p:cNvPr>
          <p:cNvSpPr/>
          <p:nvPr/>
        </p:nvSpPr>
        <p:spPr>
          <a:xfrm>
            <a:off x="41210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17EEAE2-51F1-D44E-A27D-57EC10A0F5F6}"/>
              </a:ext>
            </a:extLst>
          </p:cNvPr>
          <p:cNvSpPr/>
          <p:nvPr/>
        </p:nvSpPr>
        <p:spPr>
          <a:xfrm>
            <a:off x="41210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C064E44-95A9-0AAC-4DA4-A66C2FD08D59}"/>
              </a:ext>
            </a:extLst>
          </p:cNvPr>
          <p:cNvCxnSpPr>
            <a:cxnSpLocks/>
            <a:stCxn id="15" idx="5"/>
            <a:endCxn id="18" idx="1"/>
          </p:cNvCxnSpPr>
          <p:nvPr/>
        </p:nvCxnSpPr>
        <p:spPr>
          <a:xfrm>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001CF7-EA77-D826-9DBB-D9D6AA12B8CE}"/>
              </a:ext>
            </a:extLst>
          </p:cNvPr>
          <p:cNvCxnSpPr>
            <a:cxnSpLocks/>
            <a:stCxn id="16" idx="6"/>
            <a:endCxn id="18" idx="2"/>
          </p:cNvCxnSpPr>
          <p:nvPr/>
        </p:nvCxnSpPr>
        <p:spPr>
          <a:xfrm>
            <a:off x="32630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43E4CD-8311-446D-E6AC-5231385DD847}"/>
              </a:ext>
            </a:extLst>
          </p:cNvPr>
          <p:cNvCxnSpPr>
            <a:cxnSpLocks/>
            <a:stCxn id="18" idx="0"/>
            <a:endCxn id="17" idx="4"/>
          </p:cNvCxnSpPr>
          <p:nvPr/>
        </p:nvCxnSpPr>
        <p:spPr>
          <a:xfrm flipV="1">
            <a:off x="44270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F0CBC2E-EA65-8756-B5CC-B282984C8A10}"/>
              </a:ext>
            </a:extLst>
          </p:cNvPr>
          <p:cNvCxnSpPr>
            <a:cxnSpLocks/>
            <a:stCxn id="15" idx="6"/>
            <a:endCxn id="17" idx="2"/>
          </p:cNvCxnSpPr>
          <p:nvPr/>
        </p:nvCxnSpPr>
        <p:spPr>
          <a:xfrm>
            <a:off x="32630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642AD6-55AC-EC4B-46B1-0D1CBDA83D2B}"/>
              </a:ext>
            </a:extLst>
          </p:cNvPr>
          <p:cNvCxnSpPr>
            <a:cxnSpLocks/>
            <a:stCxn id="16" idx="0"/>
            <a:endCxn id="15" idx="4"/>
          </p:cNvCxnSpPr>
          <p:nvPr/>
        </p:nvCxnSpPr>
        <p:spPr>
          <a:xfrm flipV="1">
            <a:off x="29570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D38852-D039-CB56-C8AE-670F1B0CC1E4}"/>
              </a:ext>
            </a:extLst>
          </p:cNvPr>
          <p:cNvCxnSpPr>
            <a:cxnSpLocks/>
            <a:stCxn id="16" idx="7"/>
            <a:endCxn id="17" idx="3"/>
          </p:cNvCxnSpPr>
          <p:nvPr/>
        </p:nvCxnSpPr>
        <p:spPr>
          <a:xfrm flipV="1">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855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8"/>
            <a:ext cx="10515600" cy="1229278"/>
          </a:xfrm>
        </p:spPr>
        <p:txBody>
          <a:bodyPr>
            <a:normAutofit/>
          </a:bodyPr>
          <a:lstStyle/>
          <a:p>
            <a:r>
              <a:rPr lang="en-US" sz="3600" dirty="0">
                <a:solidFill>
                  <a:srgbClr val="002060"/>
                </a:solidFill>
              </a:rPr>
              <a:t>Broad aim: Focus on edges and groups not nodes</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12897"/>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Empirically: </a:t>
            </a:r>
          </a:p>
          <a:p>
            <a:pPr lvl="2"/>
            <a:r>
              <a:rPr lang="en-US" dirty="0"/>
              <a:t>During encoding: Identify the neural correlates of connecting item representations</a:t>
            </a:r>
          </a:p>
          <a:p>
            <a:pPr lvl="2"/>
            <a:r>
              <a:rPr lang="en-US" dirty="0"/>
              <a:t>During retrieval: Identify the neural correlates of activating a relation, which in turn activates an item representation</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Can we model an episodic memory as the collection of relations and items</a:t>
            </a:r>
          </a:p>
          <a:p>
            <a:pPr lvl="2"/>
            <a:r>
              <a:rPr lang="en-US" dirty="0"/>
              <a:t>Can we model the semantic network of relations that form among multiple stimuli?</a:t>
            </a:r>
          </a:p>
          <a:p>
            <a:r>
              <a:rPr lang="en-US" dirty="0"/>
              <a:t>Central novel design element: presenting some stimuli multiple times</a:t>
            </a:r>
          </a:p>
        </p:txBody>
      </p:sp>
    </p:spTree>
    <p:extLst>
      <p:ext uri="{BB962C8B-B14F-4D97-AF65-F5344CB8AC3E}">
        <p14:creationId xmlns:p14="http://schemas.microsoft.com/office/powerpoint/2010/main" val="12113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F41E-4FDC-4A21-3C05-A8E96B1F2F4C}"/>
              </a:ext>
            </a:extLst>
          </p:cNvPr>
          <p:cNvSpPr>
            <a:spLocks noGrp="1"/>
          </p:cNvSpPr>
          <p:nvPr>
            <p:ph type="title"/>
          </p:nvPr>
        </p:nvSpPr>
        <p:spPr>
          <a:xfrm>
            <a:off x="838200" y="365125"/>
            <a:ext cx="10515600" cy="892175"/>
          </a:xfrm>
        </p:spPr>
        <p:txBody>
          <a:bodyPr/>
          <a:lstStyle/>
          <a:p>
            <a:r>
              <a:rPr lang="en-US" dirty="0">
                <a:solidFill>
                  <a:srgbClr val="002060"/>
                </a:solidFill>
              </a:rPr>
              <a:t>Generalize the past, pinpoint the future</a:t>
            </a:r>
          </a:p>
        </p:txBody>
      </p:sp>
      <p:sp>
        <p:nvSpPr>
          <p:cNvPr id="3" name="Content Placeholder 2">
            <a:extLst>
              <a:ext uri="{FF2B5EF4-FFF2-40B4-BE49-F238E27FC236}">
                <a16:creationId xmlns:a16="http://schemas.microsoft.com/office/drawing/2014/main" id="{07FDD9B7-B465-539B-5376-9F1A7BB450ED}"/>
              </a:ext>
            </a:extLst>
          </p:cNvPr>
          <p:cNvSpPr>
            <a:spLocks noGrp="1"/>
          </p:cNvSpPr>
          <p:nvPr>
            <p:ph idx="1"/>
          </p:nvPr>
        </p:nvSpPr>
        <p:spPr>
          <a:xfrm>
            <a:off x="838200" y="1544638"/>
            <a:ext cx="10515600" cy="4948237"/>
          </a:xfrm>
        </p:spPr>
        <p:txBody>
          <a:bodyPr>
            <a:normAutofit/>
          </a:bodyPr>
          <a:lstStyle/>
          <a:p>
            <a:r>
              <a:rPr lang="en-US" dirty="0"/>
              <a:t>Consistent with the apparent style of this lab’s studies, another feature can be added</a:t>
            </a:r>
          </a:p>
          <a:p>
            <a:pPr lvl="1"/>
            <a:r>
              <a:rPr lang="en-US" dirty="0"/>
              <a:t>Investigation of generalization</a:t>
            </a:r>
          </a:p>
          <a:p>
            <a:pPr lvl="1"/>
            <a:r>
              <a:rPr lang="en-US" dirty="0"/>
              <a:t>Hypothesis: </a:t>
            </a:r>
          </a:p>
          <a:p>
            <a:pPr lvl="2"/>
            <a:r>
              <a:rPr lang="en-US" dirty="0"/>
              <a:t>When people think about an event, they have a broad imagination about what could have led to it</a:t>
            </a:r>
          </a:p>
          <a:p>
            <a:pPr lvl="2"/>
            <a:r>
              <a:rPr lang="en-US" dirty="0"/>
              <a:t>However, people narrowly consider what will follow the event</a:t>
            </a:r>
          </a:p>
          <a:p>
            <a:pPr lvl="1"/>
            <a:r>
              <a:rPr lang="en-US" dirty="0"/>
              <a:t>Forward/backward dissociation</a:t>
            </a:r>
          </a:p>
        </p:txBody>
      </p:sp>
    </p:spTree>
    <p:extLst>
      <p:ext uri="{BB962C8B-B14F-4D97-AF65-F5344CB8AC3E}">
        <p14:creationId xmlns:p14="http://schemas.microsoft.com/office/powerpoint/2010/main" val="3659094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4D8E77-6EAD-B6D4-6CD2-0C1431F0F6FE}"/>
              </a:ext>
            </a:extLst>
          </p:cNvPr>
          <p:cNvSpPr/>
          <p:nvPr/>
        </p:nvSpPr>
        <p:spPr>
          <a:xfrm>
            <a:off x="8599468" y="203387"/>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1EDC384-2A0E-EEB3-78A4-D1F55453A91D}"/>
              </a:ext>
            </a:extLst>
          </p:cNvPr>
          <p:cNvPicPr>
            <a:picLocks noChangeAspect="1"/>
          </p:cNvPicPr>
          <p:nvPr/>
        </p:nvPicPr>
        <p:blipFill>
          <a:blip r:embed="rId3"/>
          <a:stretch>
            <a:fillRect/>
          </a:stretch>
        </p:blipFill>
        <p:spPr>
          <a:xfrm>
            <a:off x="8724900" y="293418"/>
            <a:ext cx="1087801" cy="798639"/>
          </a:xfrm>
          <a:prstGeom prst="rect">
            <a:avLst/>
          </a:prstGeom>
        </p:spPr>
      </p:pic>
      <p:sp>
        <p:nvSpPr>
          <p:cNvPr id="12" name="Rectangle 11">
            <a:extLst>
              <a:ext uri="{FF2B5EF4-FFF2-40B4-BE49-F238E27FC236}">
                <a16:creationId xmlns:a16="http://schemas.microsoft.com/office/drawing/2014/main" id="{552D42D5-B32B-3952-6151-BAAFEDA82D15}"/>
              </a:ext>
            </a:extLst>
          </p:cNvPr>
          <p:cNvSpPr/>
          <p:nvPr/>
        </p:nvSpPr>
        <p:spPr>
          <a:xfrm>
            <a:off x="9193193" y="732888"/>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516D461-CEC5-7E2C-9257-E7837FE91182}"/>
              </a:ext>
            </a:extLst>
          </p:cNvPr>
          <p:cNvSpPr txBox="1"/>
          <p:nvPr/>
        </p:nvSpPr>
        <p:spPr>
          <a:xfrm>
            <a:off x="9235042" y="822920"/>
            <a:ext cx="119644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Respond</a:t>
            </a:r>
          </a:p>
        </p:txBody>
      </p:sp>
      <p:sp>
        <p:nvSpPr>
          <p:cNvPr id="2" name="Title 1">
            <a:extLst>
              <a:ext uri="{FF2B5EF4-FFF2-40B4-BE49-F238E27FC236}">
                <a16:creationId xmlns:a16="http://schemas.microsoft.com/office/drawing/2014/main" id="{DA357CED-64BC-02CE-76CA-C9E94A9ABB40}"/>
              </a:ext>
            </a:extLst>
          </p:cNvPr>
          <p:cNvSpPr>
            <a:spLocks noGrp="1"/>
          </p:cNvSpPr>
          <p:nvPr>
            <p:ph type="title"/>
          </p:nvPr>
        </p:nvSpPr>
        <p:spPr>
          <a:xfrm>
            <a:off x="755690" y="257125"/>
            <a:ext cx="7250053" cy="424889"/>
          </a:xfrm>
        </p:spPr>
        <p:txBody>
          <a:bodyPr>
            <a:normAutofit fontScale="90000"/>
          </a:bodyPr>
          <a:lstStyle/>
          <a:p>
            <a:r>
              <a:rPr lang="en-US" dirty="0">
                <a:solidFill>
                  <a:srgbClr val="002060"/>
                </a:solidFill>
              </a:rPr>
              <a:t>Task idea 1</a:t>
            </a:r>
          </a:p>
        </p:txBody>
      </p:sp>
      <p:sp>
        <p:nvSpPr>
          <p:cNvPr id="3" name="Content Placeholder 2">
            <a:extLst>
              <a:ext uri="{FF2B5EF4-FFF2-40B4-BE49-F238E27FC236}">
                <a16:creationId xmlns:a16="http://schemas.microsoft.com/office/drawing/2014/main" id="{2857CA20-F434-0246-9F14-8DBD6D441BF0}"/>
              </a:ext>
            </a:extLst>
          </p:cNvPr>
          <p:cNvSpPr>
            <a:spLocks noGrp="1"/>
          </p:cNvSpPr>
          <p:nvPr>
            <p:ph idx="1"/>
          </p:nvPr>
        </p:nvSpPr>
        <p:spPr>
          <a:xfrm>
            <a:off x="269332" y="963738"/>
            <a:ext cx="8534400" cy="5787313"/>
          </a:xfrm>
        </p:spPr>
        <p:txBody>
          <a:bodyPr>
            <a:normAutofit fontScale="92500" lnSpcReduction="10000"/>
          </a:bodyPr>
          <a:lstStyle/>
          <a:p>
            <a:r>
              <a:rPr lang="en-US" dirty="0"/>
              <a:t>Encoding:</a:t>
            </a:r>
          </a:p>
          <a:p>
            <a:pPr lvl="1"/>
            <a:r>
              <a:rPr lang="en-US" dirty="0"/>
              <a:t>Participants perform task loosely related to a 1-back task</a:t>
            </a:r>
          </a:p>
          <a:p>
            <a:pPr lvl="1"/>
            <a:r>
              <a:rPr lang="en-US" dirty="0"/>
              <a:t>In each trial:</a:t>
            </a:r>
          </a:p>
          <a:p>
            <a:pPr lvl="2"/>
            <a:r>
              <a:rPr lang="en-US" dirty="0"/>
              <a:t>Presentation of image</a:t>
            </a:r>
          </a:p>
          <a:p>
            <a:pPr lvl="2"/>
            <a:r>
              <a:rPr lang="en-US" dirty="0"/>
              <a:t>Prompted to indicate some relationship with the previous image (e.g., was it larger/same color/etc.)</a:t>
            </a:r>
          </a:p>
          <a:p>
            <a:pPr lvl="1"/>
            <a:r>
              <a:rPr lang="en-US" dirty="0"/>
              <a:t>Each trial is 6 s, with 3 s presentation/response and 3 s ITI</a:t>
            </a:r>
          </a:p>
          <a:p>
            <a:pPr lvl="2"/>
            <a:r>
              <a:rPr lang="en-US" dirty="0"/>
              <a:t>Longer than a standard 1-back task, to give time to form episodic memories, but still quick enough to pack in many trials</a:t>
            </a:r>
          </a:p>
          <a:p>
            <a:r>
              <a:rPr lang="en-US" dirty="0"/>
              <a:t>Retrieval:</a:t>
            </a:r>
          </a:p>
          <a:p>
            <a:pPr lvl="1"/>
            <a:r>
              <a:rPr lang="en-US" dirty="0"/>
              <a:t>Participants shown cue image and perform R/K task for it</a:t>
            </a:r>
          </a:p>
          <a:p>
            <a:pPr lvl="1"/>
            <a:r>
              <a:rPr lang="en-US" dirty="0"/>
              <a:t>Participants shown target image, asked whether it was:</a:t>
            </a:r>
          </a:p>
          <a:p>
            <a:pPr lvl="2"/>
            <a:r>
              <a:rPr lang="en-US" dirty="0"/>
              <a:t>(1) previously shown just </a:t>
            </a:r>
            <a:r>
              <a:rPr lang="en-US" u="sng" dirty="0"/>
              <a:t>before</a:t>
            </a:r>
            <a:r>
              <a:rPr lang="en-US" dirty="0"/>
              <a:t> the cue</a:t>
            </a:r>
          </a:p>
          <a:p>
            <a:pPr lvl="2"/>
            <a:r>
              <a:rPr lang="en-US" dirty="0"/>
              <a:t>(2) is similar to the image shown just </a:t>
            </a:r>
            <a:r>
              <a:rPr lang="en-US" u="sng" dirty="0"/>
              <a:t>before </a:t>
            </a:r>
            <a:r>
              <a:rPr lang="en-US" dirty="0"/>
              <a:t>X</a:t>
            </a:r>
          </a:p>
          <a:p>
            <a:pPr lvl="2"/>
            <a:r>
              <a:rPr lang="en-US" dirty="0"/>
              <a:t>(3) neither</a:t>
            </a:r>
          </a:p>
          <a:p>
            <a:pPr lvl="1"/>
            <a:r>
              <a:rPr lang="en-US" dirty="0"/>
              <a:t>Participants also respond to a similar question but asking about what image came </a:t>
            </a:r>
            <a:r>
              <a:rPr lang="en-US" u="sng" dirty="0"/>
              <a:t>after</a:t>
            </a:r>
          </a:p>
        </p:txBody>
      </p:sp>
      <p:sp>
        <p:nvSpPr>
          <p:cNvPr id="4" name="Rectangle 3">
            <a:extLst>
              <a:ext uri="{FF2B5EF4-FFF2-40B4-BE49-F238E27FC236}">
                <a16:creationId xmlns:a16="http://schemas.microsoft.com/office/drawing/2014/main" id="{F698540C-7F09-5AF1-5C2A-FE863B18593E}"/>
              </a:ext>
            </a:extLst>
          </p:cNvPr>
          <p:cNvSpPr/>
          <p:nvPr/>
        </p:nvSpPr>
        <p:spPr>
          <a:xfrm>
            <a:off x="9490075" y="1180255"/>
            <a:ext cx="1270000" cy="1270000"/>
          </a:xfrm>
          <a:prstGeom prst="rect">
            <a:avLst/>
          </a:prstGeom>
          <a:solidFill>
            <a:schemeClr val="bg1"/>
          </a:solidFill>
          <a:ln w="381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33F34C5-300E-EE25-88F5-EF5371FB59E3}"/>
              </a:ext>
            </a:extLst>
          </p:cNvPr>
          <p:cNvPicPr>
            <a:picLocks noChangeAspect="1"/>
          </p:cNvPicPr>
          <p:nvPr/>
        </p:nvPicPr>
        <p:blipFill>
          <a:blip r:embed="rId4"/>
          <a:stretch>
            <a:fillRect/>
          </a:stretch>
        </p:blipFill>
        <p:spPr>
          <a:xfrm>
            <a:off x="9566274" y="1259422"/>
            <a:ext cx="1090613" cy="821501"/>
          </a:xfrm>
          <a:prstGeom prst="rect">
            <a:avLst/>
          </a:prstGeom>
        </p:spPr>
      </p:pic>
      <p:sp>
        <p:nvSpPr>
          <p:cNvPr id="7" name="Rectangle 6">
            <a:extLst>
              <a:ext uri="{FF2B5EF4-FFF2-40B4-BE49-F238E27FC236}">
                <a16:creationId xmlns:a16="http://schemas.microsoft.com/office/drawing/2014/main" id="{94680057-FE45-73DC-B24B-A7AE3561A251}"/>
              </a:ext>
            </a:extLst>
          </p:cNvPr>
          <p:cNvSpPr/>
          <p:nvPr/>
        </p:nvSpPr>
        <p:spPr>
          <a:xfrm>
            <a:off x="10083800" y="1709756"/>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C822B0A-F8C7-5886-9E23-0FE0467D0A13}"/>
              </a:ext>
            </a:extLst>
          </p:cNvPr>
          <p:cNvSpPr txBox="1"/>
          <p:nvPr/>
        </p:nvSpPr>
        <p:spPr>
          <a:xfrm>
            <a:off x="10163294" y="1799788"/>
            <a:ext cx="117211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Respond</a:t>
            </a:r>
          </a:p>
        </p:txBody>
      </p:sp>
      <p:sp>
        <p:nvSpPr>
          <p:cNvPr id="20" name="Rectangle 19">
            <a:extLst>
              <a:ext uri="{FF2B5EF4-FFF2-40B4-BE49-F238E27FC236}">
                <a16:creationId xmlns:a16="http://schemas.microsoft.com/office/drawing/2014/main" id="{4DEA2FE5-5B33-B7C2-D7DB-5FD73B99C328}"/>
              </a:ext>
            </a:extLst>
          </p:cNvPr>
          <p:cNvSpPr/>
          <p:nvPr/>
        </p:nvSpPr>
        <p:spPr>
          <a:xfrm>
            <a:off x="10566400" y="2230080"/>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F0F0BF4-F7E4-67EB-B3BF-8CECAEDE6CF2}"/>
              </a:ext>
            </a:extLst>
          </p:cNvPr>
          <p:cNvPicPr>
            <a:picLocks noChangeAspect="1"/>
          </p:cNvPicPr>
          <p:nvPr/>
        </p:nvPicPr>
        <p:blipFill>
          <a:blip r:embed="rId5"/>
          <a:stretch>
            <a:fillRect/>
          </a:stretch>
        </p:blipFill>
        <p:spPr>
          <a:xfrm>
            <a:off x="10745797" y="2383371"/>
            <a:ext cx="993755" cy="694267"/>
          </a:xfrm>
          <a:prstGeom prst="rect">
            <a:avLst/>
          </a:prstGeom>
        </p:spPr>
      </p:pic>
      <p:sp>
        <p:nvSpPr>
          <p:cNvPr id="23" name="Rectangle 22">
            <a:extLst>
              <a:ext uri="{FF2B5EF4-FFF2-40B4-BE49-F238E27FC236}">
                <a16:creationId xmlns:a16="http://schemas.microsoft.com/office/drawing/2014/main" id="{1C9EB3B2-BB3D-76F0-ABF7-48BAB99C8A9E}"/>
              </a:ext>
            </a:extLst>
          </p:cNvPr>
          <p:cNvSpPr/>
          <p:nvPr/>
        </p:nvSpPr>
        <p:spPr>
          <a:xfrm>
            <a:off x="8839190" y="3904301"/>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849FF84E-EB49-7190-5C7B-F519E19D4C4E}"/>
              </a:ext>
            </a:extLst>
          </p:cNvPr>
          <p:cNvPicPr>
            <a:picLocks noChangeAspect="1"/>
          </p:cNvPicPr>
          <p:nvPr/>
        </p:nvPicPr>
        <p:blipFill>
          <a:blip r:embed="rId4"/>
          <a:stretch>
            <a:fillRect/>
          </a:stretch>
        </p:blipFill>
        <p:spPr>
          <a:xfrm>
            <a:off x="8915389" y="3983468"/>
            <a:ext cx="1090613" cy="821501"/>
          </a:xfrm>
          <a:prstGeom prst="rect">
            <a:avLst/>
          </a:prstGeom>
        </p:spPr>
      </p:pic>
      <p:sp>
        <p:nvSpPr>
          <p:cNvPr id="25" name="TextBox 24">
            <a:extLst>
              <a:ext uri="{FF2B5EF4-FFF2-40B4-BE49-F238E27FC236}">
                <a16:creationId xmlns:a16="http://schemas.microsoft.com/office/drawing/2014/main" id="{654CFF3D-E49E-C80D-007D-5D8A340D5606}"/>
              </a:ext>
            </a:extLst>
          </p:cNvPr>
          <p:cNvSpPr txBox="1"/>
          <p:nvPr/>
        </p:nvSpPr>
        <p:spPr>
          <a:xfrm>
            <a:off x="8850856" y="4799737"/>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31" name="TextBox 30">
            <a:extLst>
              <a:ext uri="{FF2B5EF4-FFF2-40B4-BE49-F238E27FC236}">
                <a16:creationId xmlns:a16="http://schemas.microsoft.com/office/drawing/2014/main" id="{ADE44483-3F24-A7D7-D3B9-2A8B811BA56B}"/>
              </a:ext>
            </a:extLst>
          </p:cNvPr>
          <p:cNvSpPr txBox="1"/>
          <p:nvPr/>
        </p:nvSpPr>
        <p:spPr>
          <a:xfrm>
            <a:off x="10769026" y="979018"/>
            <a:ext cx="755015" cy="646331"/>
          </a:xfrm>
          <a:prstGeom prst="rect">
            <a:avLst/>
          </a:prstGeom>
          <a:noFill/>
        </p:spPr>
        <p:txBody>
          <a:bodyPr wrap="none" rtlCol="0">
            <a:spAutoFit/>
          </a:bodyPr>
          <a:lstStyle/>
          <a:p>
            <a:r>
              <a:rPr lang="en-US" dirty="0">
                <a:solidFill>
                  <a:srgbClr val="FF7C80"/>
                </a:solidFill>
              </a:rPr>
              <a:t>“Cue”</a:t>
            </a:r>
          </a:p>
          <a:p>
            <a:r>
              <a:rPr lang="en-US" dirty="0">
                <a:solidFill>
                  <a:srgbClr val="FF7C80"/>
                </a:solidFill>
              </a:rPr>
              <a:t>image</a:t>
            </a:r>
          </a:p>
        </p:txBody>
      </p:sp>
      <p:sp>
        <p:nvSpPr>
          <p:cNvPr id="32" name="TextBox 31">
            <a:extLst>
              <a:ext uri="{FF2B5EF4-FFF2-40B4-BE49-F238E27FC236}">
                <a16:creationId xmlns:a16="http://schemas.microsoft.com/office/drawing/2014/main" id="{2383EF82-A258-5C83-27F9-35A773ABB56A}"/>
              </a:ext>
            </a:extLst>
          </p:cNvPr>
          <p:cNvSpPr txBox="1"/>
          <p:nvPr/>
        </p:nvSpPr>
        <p:spPr>
          <a:xfrm>
            <a:off x="9908006" y="35683"/>
            <a:ext cx="1042530" cy="646331"/>
          </a:xfrm>
          <a:prstGeom prst="rect">
            <a:avLst/>
          </a:prstGeom>
          <a:noFill/>
        </p:spPr>
        <p:txBody>
          <a:bodyPr wrap="square" rtlCol="0">
            <a:spAutoFit/>
          </a:bodyPr>
          <a:lstStyle/>
          <a:p>
            <a:r>
              <a:rPr lang="en-US" dirty="0">
                <a:solidFill>
                  <a:srgbClr val="7030A0"/>
                </a:solidFill>
              </a:rPr>
              <a:t>“Target” image</a:t>
            </a:r>
          </a:p>
        </p:txBody>
      </p:sp>
      <p:sp>
        <p:nvSpPr>
          <p:cNvPr id="33" name="TextBox 32">
            <a:extLst>
              <a:ext uri="{FF2B5EF4-FFF2-40B4-BE49-F238E27FC236}">
                <a16:creationId xmlns:a16="http://schemas.microsoft.com/office/drawing/2014/main" id="{A86CFF83-E0D2-28C9-4E7E-C8E7ADD7EA3F}"/>
              </a:ext>
            </a:extLst>
          </p:cNvPr>
          <p:cNvSpPr txBox="1"/>
          <p:nvPr/>
        </p:nvSpPr>
        <p:spPr>
          <a:xfrm>
            <a:off x="11362751" y="1590536"/>
            <a:ext cx="858478" cy="646331"/>
          </a:xfrm>
          <a:prstGeom prst="rect">
            <a:avLst/>
          </a:prstGeom>
          <a:noFill/>
        </p:spPr>
        <p:txBody>
          <a:bodyPr wrap="square" rtlCol="0">
            <a:spAutoFit/>
          </a:bodyPr>
          <a:lstStyle/>
          <a:p>
            <a:r>
              <a:rPr lang="en-US" dirty="0">
                <a:solidFill>
                  <a:srgbClr val="7030A0"/>
                </a:solidFill>
              </a:rPr>
              <a:t>Target image</a:t>
            </a:r>
          </a:p>
        </p:txBody>
      </p:sp>
      <p:sp>
        <p:nvSpPr>
          <p:cNvPr id="34" name="TextBox 33">
            <a:extLst>
              <a:ext uri="{FF2B5EF4-FFF2-40B4-BE49-F238E27FC236}">
                <a16:creationId xmlns:a16="http://schemas.microsoft.com/office/drawing/2014/main" id="{0AF3996B-CE96-42CA-475E-62006AD4280B}"/>
              </a:ext>
            </a:extLst>
          </p:cNvPr>
          <p:cNvSpPr txBox="1"/>
          <p:nvPr/>
        </p:nvSpPr>
        <p:spPr>
          <a:xfrm>
            <a:off x="8810646" y="2629098"/>
            <a:ext cx="1452551"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Target images are repeated</a:t>
            </a:r>
          </a:p>
        </p:txBody>
      </p:sp>
      <p:sp>
        <p:nvSpPr>
          <p:cNvPr id="36" name="Rectangle 35">
            <a:extLst>
              <a:ext uri="{FF2B5EF4-FFF2-40B4-BE49-F238E27FC236}">
                <a16:creationId xmlns:a16="http://schemas.microsoft.com/office/drawing/2014/main" id="{86FD238C-2644-A9E0-784C-758BA4A9E54A}"/>
              </a:ext>
            </a:extLst>
          </p:cNvPr>
          <p:cNvSpPr/>
          <p:nvPr/>
        </p:nvSpPr>
        <p:spPr>
          <a:xfrm>
            <a:off x="9637755" y="457424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EAE8501-09CE-462D-44B5-126D13671B56}"/>
              </a:ext>
            </a:extLst>
          </p:cNvPr>
          <p:cNvSpPr txBox="1"/>
          <p:nvPr/>
        </p:nvSpPr>
        <p:spPr>
          <a:xfrm>
            <a:off x="10014021" y="497908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41" name="Picture 40">
            <a:extLst>
              <a:ext uri="{FF2B5EF4-FFF2-40B4-BE49-F238E27FC236}">
                <a16:creationId xmlns:a16="http://schemas.microsoft.com/office/drawing/2014/main" id="{F21B8930-D363-F4BE-8B1C-ADA0EA5E0FA6}"/>
              </a:ext>
            </a:extLst>
          </p:cNvPr>
          <p:cNvPicPr>
            <a:picLocks noChangeAspect="1"/>
          </p:cNvPicPr>
          <p:nvPr/>
        </p:nvPicPr>
        <p:blipFill rotWithShape="1">
          <a:blip r:embed="rId6"/>
          <a:srcRect l="18090" t="-3138"/>
          <a:stretch/>
        </p:blipFill>
        <p:spPr>
          <a:xfrm>
            <a:off x="9688141" y="4602253"/>
            <a:ext cx="492431" cy="620057"/>
          </a:xfrm>
          <a:prstGeom prst="rect">
            <a:avLst/>
          </a:prstGeom>
        </p:spPr>
      </p:pic>
      <p:sp>
        <p:nvSpPr>
          <p:cNvPr id="39" name="TextBox 38">
            <a:extLst>
              <a:ext uri="{FF2B5EF4-FFF2-40B4-BE49-F238E27FC236}">
                <a16:creationId xmlns:a16="http://schemas.microsoft.com/office/drawing/2014/main" id="{DB0A6BC5-2ACA-01F4-A29D-3CAB0929328D}"/>
              </a:ext>
            </a:extLst>
          </p:cNvPr>
          <p:cNvSpPr txBox="1"/>
          <p:nvPr/>
        </p:nvSpPr>
        <p:spPr>
          <a:xfrm>
            <a:off x="10076433" y="4602253"/>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9DD66A32-33AD-FCF0-994A-B360691226BA}"/>
              </a:ext>
            </a:extLst>
          </p:cNvPr>
          <p:cNvSpPr/>
          <p:nvPr/>
        </p:nvSpPr>
        <p:spPr>
          <a:xfrm>
            <a:off x="10664179" y="52079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4E682BA-0CD2-D6C8-4CD3-314DE8D4D9E3}"/>
              </a:ext>
            </a:extLst>
          </p:cNvPr>
          <p:cNvPicPr>
            <a:picLocks noChangeAspect="1"/>
          </p:cNvPicPr>
          <p:nvPr/>
        </p:nvPicPr>
        <p:blipFill>
          <a:blip r:embed="rId5"/>
          <a:stretch>
            <a:fillRect/>
          </a:stretch>
        </p:blipFill>
        <p:spPr>
          <a:xfrm>
            <a:off x="10711493" y="5433486"/>
            <a:ext cx="625713" cy="437142"/>
          </a:xfrm>
          <a:prstGeom prst="rect">
            <a:avLst/>
          </a:prstGeom>
        </p:spPr>
      </p:pic>
      <p:sp>
        <p:nvSpPr>
          <p:cNvPr id="29" name="TextBox 28">
            <a:extLst>
              <a:ext uri="{FF2B5EF4-FFF2-40B4-BE49-F238E27FC236}">
                <a16:creationId xmlns:a16="http://schemas.microsoft.com/office/drawing/2014/main" id="{A07EF3E8-E74C-2A5B-45C9-5202CE1406BF}"/>
              </a:ext>
            </a:extLst>
          </p:cNvPr>
          <p:cNvSpPr txBox="1"/>
          <p:nvPr/>
        </p:nvSpPr>
        <p:spPr>
          <a:xfrm>
            <a:off x="11068230" y="5639394"/>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35" name="TextBox 34">
            <a:extLst>
              <a:ext uri="{FF2B5EF4-FFF2-40B4-BE49-F238E27FC236}">
                <a16:creationId xmlns:a16="http://schemas.microsoft.com/office/drawing/2014/main" id="{6BBC7A9F-53B8-C793-8F0F-39B75D1D70C8}"/>
              </a:ext>
            </a:extLst>
          </p:cNvPr>
          <p:cNvSpPr txBox="1"/>
          <p:nvPr/>
        </p:nvSpPr>
        <p:spPr>
          <a:xfrm>
            <a:off x="11102856" y="5236002"/>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42" name="TextBox 41">
            <a:extLst>
              <a:ext uri="{FF2B5EF4-FFF2-40B4-BE49-F238E27FC236}">
                <a16:creationId xmlns:a16="http://schemas.microsoft.com/office/drawing/2014/main" id="{3956645C-5AA2-4A17-E829-49056512DC8F}"/>
              </a:ext>
            </a:extLst>
          </p:cNvPr>
          <p:cNvSpPr txBox="1"/>
          <p:nvPr/>
        </p:nvSpPr>
        <p:spPr>
          <a:xfrm>
            <a:off x="8829219" y="5169069"/>
            <a:ext cx="670376" cy="400110"/>
          </a:xfrm>
          <a:prstGeom prst="rect">
            <a:avLst/>
          </a:prstGeom>
          <a:noFill/>
        </p:spPr>
        <p:txBody>
          <a:bodyPr wrap="none" rtlCol="0">
            <a:spAutoFit/>
          </a:bodyPr>
          <a:lstStyle/>
          <a:p>
            <a:r>
              <a:rPr lang="en-US" sz="2000" b="1" dirty="0">
                <a:solidFill>
                  <a:srgbClr val="FF7C80"/>
                </a:solidFill>
                <a:latin typeface="Arial" panose="020B0604020202020204" pitchFamily="34" charset="0"/>
                <a:cs typeface="Arial" panose="020B0604020202020204" pitchFamily="34" charset="0"/>
              </a:rPr>
              <a:t>Cue</a:t>
            </a:r>
          </a:p>
        </p:txBody>
      </p:sp>
      <p:sp>
        <p:nvSpPr>
          <p:cNvPr id="43" name="TextBox 42">
            <a:extLst>
              <a:ext uri="{FF2B5EF4-FFF2-40B4-BE49-F238E27FC236}">
                <a16:creationId xmlns:a16="http://schemas.microsoft.com/office/drawing/2014/main" id="{F00AFF7C-E823-BB1B-8460-CF7EA6BF797E}"/>
              </a:ext>
            </a:extLst>
          </p:cNvPr>
          <p:cNvSpPr txBox="1"/>
          <p:nvPr/>
        </p:nvSpPr>
        <p:spPr>
          <a:xfrm>
            <a:off x="9730807" y="5832641"/>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
        <p:nvSpPr>
          <p:cNvPr id="44" name="TextBox 43">
            <a:extLst>
              <a:ext uri="{FF2B5EF4-FFF2-40B4-BE49-F238E27FC236}">
                <a16:creationId xmlns:a16="http://schemas.microsoft.com/office/drawing/2014/main" id="{72FC18B9-93FF-D03E-C301-2B6882773575}"/>
              </a:ext>
            </a:extLst>
          </p:cNvPr>
          <p:cNvSpPr txBox="1"/>
          <p:nvPr/>
        </p:nvSpPr>
        <p:spPr>
          <a:xfrm>
            <a:off x="10855199" y="6457965"/>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Tree>
    <p:extLst>
      <p:ext uri="{BB962C8B-B14F-4D97-AF65-F5344CB8AC3E}">
        <p14:creationId xmlns:p14="http://schemas.microsoft.com/office/powerpoint/2010/main" val="248421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P spid="36" grpId="0" animBg="1"/>
      <p:bldP spid="38" grpId="0"/>
      <p:bldP spid="39" grpId="0"/>
      <p:bldP spid="26" grpId="0" animBg="1"/>
      <p:bldP spid="29" grpId="0"/>
      <p:bldP spid="35" grpId="0"/>
      <p:bldP spid="42" grpId="0"/>
      <p:bldP spid="43" grpId="0"/>
      <p:bldP spid="4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BBFF-1273-97A6-DF92-B17FD22C6F46}"/>
              </a:ext>
            </a:extLst>
          </p:cNvPr>
          <p:cNvSpPr>
            <a:spLocks noGrp="1"/>
          </p:cNvSpPr>
          <p:nvPr>
            <p:ph type="title"/>
          </p:nvPr>
        </p:nvSpPr>
        <p:spPr>
          <a:xfrm>
            <a:off x="503767" y="183091"/>
            <a:ext cx="6341533" cy="1325563"/>
          </a:xfrm>
        </p:spPr>
        <p:txBody>
          <a:bodyPr>
            <a:normAutofit/>
          </a:bodyPr>
          <a:lstStyle/>
          <a:p>
            <a:r>
              <a:rPr lang="en-US" sz="3600" dirty="0">
                <a:solidFill>
                  <a:srgbClr val="002060"/>
                </a:solidFill>
              </a:rPr>
              <a:t>Forward/backward generalize/pinpoint results</a:t>
            </a:r>
          </a:p>
        </p:txBody>
      </p:sp>
      <p:sp>
        <p:nvSpPr>
          <p:cNvPr id="3" name="Content Placeholder 2">
            <a:extLst>
              <a:ext uri="{FF2B5EF4-FFF2-40B4-BE49-F238E27FC236}">
                <a16:creationId xmlns:a16="http://schemas.microsoft.com/office/drawing/2014/main" id="{2544EAB5-A4F5-41FE-D509-4D093851AE58}"/>
              </a:ext>
            </a:extLst>
          </p:cNvPr>
          <p:cNvSpPr>
            <a:spLocks noGrp="1"/>
          </p:cNvSpPr>
          <p:nvPr>
            <p:ph idx="1"/>
          </p:nvPr>
        </p:nvSpPr>
        <p:spPr>
          <a:xfrm>
            <a:off x="406398" y="1686455"/>
            <a:ext cx="6739467" cy="4765146"/>
          </a:xfrm>
        </p:spPr>
        <p:txBody>
          <a:bodyPr>
            <a:normAutofit fontScale="92500" lnSpcReduction="20000"/>
          </a:bodyPr>
          <a:lstStyle/>
          <a:p>
            <a:r>
              <a:rPr lang="en-US" dirty="0"/>
              <a:t>For the forward/backward memory question:</a:t>
            </a:r>
          </a:p>
          <a:p>
            <a:pPr lvl="1"/>
            <a:r>
              <a:rPr lang="en-US" dirty="0"/>
              <a:t>“Generalized hit” = “Old” or “similar” response to old or similar trials</a:t>
            </a:r>
          </a:p>
          <a:p>
            <a:pPr lvl="1"/>
            <a:r>
              <a:rPr lang="en-US" dirty="0"/>
              <a:t>“Exact hit” = “Old” response to old, “similar” response to similar</a:t>
            </a:r>
          </a:p>
          <a:p>
            <a:r>
              <a:rPr lang="en-US" dirty="0"/>
              <a:t>Backward:</a:t>
            </a:r>
          </a:p>
          <a:p>
            <a:pPr lvl="1"/>
            <a:r>
              <a:rPr lang="en-US" dirty="0"/>
              <a:t>Enhanced generalized hit rate</a:t>
            </a:r>
          </a:p>
          <a:p>
            <a:r>
              <a:rPr lang="en-US" dirty="0"/>
              <a:t>Forward:</a:t>
            </a:r>
          </a:p>
          <a:p>
            <a:pPr lvl="1"/>
            <a:r>
              <a:rPr lang="en-US" dirty="0"/>
              <a:t>Enhanced exact hit rate</a:t>
            </a:r>
          </a:p>
          <a:p>
            <a:r>
              <a:rPr lang="en-US" dirty="0"/>
              <a:t>Potentially:</a:t>
            </a:r>
          </a:p>
          <a:p>
            <a:pPr lvl="1"/>
            <a:r>
              <a:rPr lang="en-US" dirty="0"/>
              <a:t>Forward/backward distinction only after Remember responses in R/K </a:t>
            </a:r>
          </a:p>
          <a:p>
            <a:pPr lvl="1"/>
            <a:r>
              <a:rPr lang="en-US" dirty="0"/>
              <a:t>Show that these results are linked to episodic memory retrieval</a:t>
            </a:r>
          </a:p>
          <a:p>
            <a:pPr lvl="1"/>
            <a:endParaRPr lang="en-US" dirty="0"/>
          </a:p>
        </p:txBody>
      </p:sp>
      <p:pic>
        <p:nvPicPr>
          <p:cNvPr id="5" name="Picture 4">
            <a:extLst>
              <a:ext uri="{FF2B5EF4-FFF2-40B4-BE49-F238E27FC236}">
                <a16:creationId xmlns:a16="http://schemas.microsoft.com/office/drawing/2014/main" id="{77AF67E9-67C8-C4BC-4D5F-1AE95FA7D139}"/>
              </a:ext>
            </a:extLst>
          </p:cNvPr>
          <p:cNvPicPr>
            <a:picLocks noChangeAspect="1"/>
          </p:cNvPicPr>
          <p:nvPr/>
        </p:nvPicPr>
        <p:blipFill>
          <a:blip r:embed="rId2"/>
          <a:stretch>
            <a:fillRect/>
          </a:stretch>
        </p:blipFill>
        <p:spPr>
          <a:xfrm>
            <a:off x="7861917" y="65087"/>
            <a:ext cx="3459159" cy="2468880"/>
          </a:xfrm>
          <a:prstGeom prst="rect">
            <a:avLst/>
          </a:prstGeom>
        </p:spPr>
      </p:pic>
      <p:pic>
        <p:nvPicPr>
          <p:cNvPr id="6" name="Picture 5">
            <a:extLst>
              <a:ext uri="{FF2B5EF4-FFF2-40B4-BE49-F238E27FC236}">
                <a16:creationId xmlns:a16="http://schemas.microsoft.com/office/drawing/2014/main" id="{729EE6BC-B79E-BCEA-2CE9-FCAB2FF6719C}"/>
              </a:ext>
            </a:extLst>
          </p:cNvPr>
          <p:cNvPicPr>
            <a:picLocks noChangeAspect="1"/>
          </p:cNvPicPr>
          <p:nvPr/>
        </p:nvPicPr>
        <p:blipFill>
          <a:blip r:embed="rId3"/>
          <a:stretch>
            <a:fillRect/>
          </a:stretch>
        </p:blipFill>
        <p:spPr>
          <a:xfrm>
            <a:off x="7868389" y="2194560"/>
            <a:ext cx="3452687" cy="2468880"/>
          </a:xfrm>
          <a:prstGeom prst="rect">
            <a:avLst/>
          </a:prstGeom>
        </p:spPr>
      </p:pic>
      <p:pic>
        <p:nvPicPr>
          <p:cNvPr id="7" name="Picture 6">
            <a:extLst>
              <a:ext uri="{FF2B5EF4-FFF2-40B4-BE49-F238E27FC236}">
                <a16:creationId xmlns:a16="http://schemas.microsoft.com/office/drawing/2014/main" id="{871A4A4C-2D94-BF50-4920-A92713565CAE}"/>
              </a:ext>
            </a:extLst>
          </p:cNvPr>
          <p:cNvPicPr>
            <a:picLocks noChangeAspect="1"/>
          </p:cNvPicPr>
          <p:nvPr/>
        </p:nvPicPr>
        <p:blipFill>
          <a:blip r:embed="rId4"/>
          <a:stretch>
            <a:fillRect/>
          </a:stretch>
        </p:blipFill>
        <p:spPr>
          <a:xfrm>
            <a:off x="7145866" y="4324033"/>
            <a:ext cx="4897734" cy="2468880"/>
          </a:xfrm>
          <a:prstGeom prst="rect">
            <a:avLst/>
          </a:prstGeom>
        </p:spPr>
      </p:pic>
    </p:spTree>
    <p:extLst>
      <p:ext uri="{BB962C8B-B14F-4D97-AF65-F5344CB8AC3E}">
        <p14:creationId xmlns:p14="http://schemas.microsoft.com/office/powerpoint/2010/main" val="9497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solidFill>
                  <a:srgbClr val="002060"/>
                </a:solidFill>
              </a:rPr>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735734" cy="5616575"/>
          </a:xfrm>
        </p:spPr>
        <p:txBody>
          <a:bodyPr>
            <a:normAutofit/>
          </a:bodyPr>
          <a:lstStyle/>
          <a:p>
            <a:r>
              <a:rPr lang="en-US" sz="2400" dirty="0"/>
              <a:t>How do we investigate the neural correlates of relational memory encoding?</a:t>
            </a:r>
          </a:p>
          <a:p>
            <a:r>
              <a:rPr lang="en-US" sz="2400" dirty="0"/>
              <a:t>One possible way is with RSA using combination vectors</a:t>
            </a:r>
          </a:p>
          <a:p>
            <a:pPr lvl="1"/>
            <a:r>
              <a:rPr lang="en-US" sz="2000" dirty="0"/>
              <a:t>Combining stimulus features linked to each items</a:t>
            </a:r>
          </a:p>
          <a:p>
            <a:r>
              <a:rPr lang="en-US" sz="2400" dirty="0"/>
              <a:t>Alternatively, because some stimuli are presented multiple times, we can leverage this and measure similarity between trials involving associations to the same stimulus </a:t>
            </a:r>
          </a:p>
          <a:p>
            <a:pPr lvl="1"/>
            <a:r>
              <a:rPr lang="en-US" sz="2000" dirty="0"/>
              <a:t>Participants encode relations </a:t>
            </a:r>
            <a:r>
              <a:rPr lang="en-US" sz="2000" i="1" dirty="0"/>
              <a:t>Bird-Pizza</a:t>
            </a:r>
            <a:r>
              <a:rPr lang="en-US" sz="2000" dirty="0"/>
              <a:t> and </a:t>
            </a:r>
            <a:r>
              <a:rPr lang="en-US" sz="2000" i="1" dirty="0"/>
              <a:t>Cat-Pizza</a:t>
            </a:r>
          </a:p>
          <a:p>
            <a:pPr lvl="1"/>
            <a:r>
              <a:rPr lang="en-US" sz="2000" dirty="0"/>
              <a:t>Later, during retrieval, we may see similarity between retrieval of </a:t>
            </a:r>
            <a:r>
              <a:rPr lang="en-US" sz="2000" i="1" dirty="0"/>
              <a:t>Bird</a:t>
            </a:r>
            <a:r>
              <a:rPr lang="en-US" sz="2000" dirty="0"/>
              <a:t> and </a:t>
            </a:r>
            <a:r>
              <a:rPr lang="en-US" sz="2000" i="1" dirty="0"/>
              <a:t>Cat</a:t>
            </a:r>
          </a:p>
          <a:p>
            <a:pPr lvl="2"/>
            <a:r>
              <a:rPr lang="en-US" dirty="0"/>
              <a:t>Regions showing similarity indicate areas involved in encoding relations to specific other stimuli </a:t>
            </a:r>
          </a:p>
          <a:p>
            <a:pPr lvl="2"/>
            <a:r>
              <a:rPr lang="en-US" sz="1800" dirty="0"/>
              <a:t>Need to rule out the possibility that the similarity is due to simply retrieval of the A item representation</a:t>
            </a:r>
          </a:p>
          <a:p>
            <a:pPr lvl="1"/>
            <a:r>
              <a:rPr lang="en-US" sz="2200" dirty="0"/>
              <a:t>Through this and additional analyses, we can distinguish:</a:t>
            </a:r>
          </a:p>
          <a:p>
            <a:pPr lvl="2"/>
            <a:r>
              <a:rPr lang="en-US" sz="1800" dirty="0"/>
              <a:t>(1) Regions where specific relations are encoded</a:t>
            </a:r>
          </a:p>
          <a:p>
            <a:pPr lvl="2"/>
            <a:r>
              <a:rPr lang="en-US" sz="1800" dirty="0"/>
              <a:t>(2) Regions that support relational memory encoding yet do not contain the relations</a:t>
            </a:r>
          </a:p>
          <a:p>
            <a:pPr lvl="2"/>
            <a:r>
              <a:rPr lang="en-US" sz="1800" dirty="0"/>
              <a:t>(3) Regions where items are encoded</a:t>
            </a:r>
          </a:p>
        </p:txBody>
      </p:sp>
    </p:spTree>
    <p:extLst>
      <p:ext uri="{BB962C8B-B14F-4D97-AF65-F5344CB8AC3E}">
        <p14:creationId xmlns:p14="http://schemas.microsoft.com/office/powerpoint/2010/main" val="20066543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00206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a:t>
            </a:r>
          </a:p>
          <a:p>
            <a:pPr lvl="1"/>
            <a:r>
              <a:rPr lang="en-US" dirty="0"/>
              <a:t>X is very similar to Y (both connected to A &amp; B)</a:t>
            </a:r>
          </a:p>
          <a:p>
            <a:pPr lvl="1"/>
            <a:r>
              <a:rPr lang="en-US" dirty="0"/>
              <a:t>X is somewhat similar to Z (both connected to A)</a:t>
            </a:r>
          </a:p>
          <a:p>
            <a:pPr lvl="1"/>
            <a:r>
              <a:rPr lang="en-US" dirty="0"/>
              <a:t>X shows no similarity with W</a:t>
            </a:r>
          </a:p>
          <a:p>
            <a:r>
              <a:rPr lang="en-US" dirty="0"/>
              <a:t>Illustrated as an RSM</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21" grpId="0" animBg="1"/>
      <p:bldP spid="23" grpId="0" animBg="1"/>
      <p:bldP spid="24" grpId="0" animBg="1"/>
      <p:bldP spid="26" grpId="0" animBg="1"/>
      <p:bldP spid="27" grpId="0" animBg="1"/>
      <p:bldP spid="29" grpId="0" animBg="1"/>
      <p:bldP spid="32" grpId="0" animBg="1"/>
      <p:bldP spid="33" grpId="0" animBg="1"/>
      <p:bldP spid="34" grpId="0" animBg="1"/>
      <p:bldP spid="78" grpId="0"/>
      <p:bldP spid="79" grpId="0"/>
      <p:bldP spid="80" grpId="0"/>
      <p:bldP spid="81" grpId="0"/>
      <p:bldP spid="82" grpId="0"/>
      <p:bldP spid="83" grpId="0"/>
      <p:bldP spid="84" grpId="0"/>
      <p:bldP spid="8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002060"/>
                </a:solidFill>
              </a:rPr>
              <a:t>Ways to extend and interpret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627525" y="1210328"/>
            <a:ext cx="7147586" cy="5386817"/>
          </a:xfrm>
        </p:spPr>
        <p:txBody>
          <a:bodyPr>
            <a:normAutofit fontScale="850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2"/>
            <a:r>
              <a:rPr lang="en-US" dirty="0"/>
              <a:t>Investigating PPA maps is typically done in rat research, although studying this in humans opens new directions</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28D5-380E-889D-0910-C64BAA2694F2}"/>
              </a:ext>
            </a:extLst>
          </p:cNvPr>
          <p:cNvSpPr>
            <a:spLocks noGrp="1"/>
          </p:cNvSpPr>
          <p:nvPr>
            <p:ph type="title"/>
          </p:nvPr>
        </p:nvSpPr>
        <p:spPr>
          <a:xfrm>
            <a:off x="838200" y="0"/>
            <a:ext cx="10515600" cy="1325563"/>
          </a:xfrm>
        </p:spPr>
        <p:txBody>
          <a:bodyPr/>
          <a:lstStyle/>
          <a:p>
            <a:r>
              <a:rPr lang="en-US" dirty="0">
                <a:solidFill>
                  <a:srgbClr val="002060"/>
                </a:solidFill>
              </a:rPr>
              <a:t>More traditional RSA analyses</a:t>
            </a:r>
          </a:p>
        </p:txBody>
      </p:sp>
      <p:sp>
        <p:nvSpPr>
          <p:cNvPr id="3" name="Content Placeholder 2">
            <a:extLst>
              <a:ext uri="{FF2B5EF4-FFF2-40B4-BE49-F238E27FC236}">
                <a16:creationId xmlns:a16="http://schemas.microsoft.com/office/drawing/2014/main" id="{9F742AE8-72D2-5E92-086A-403A2B475FBB}"/>
              </a:ext>
            </a:extLst>
          </p:cNvPr>
          <p:cNvSpPr>
            <a:spLocks noGrp="1"/>
          </p:cNvSpPr>
          <p:nvPr>
            <p:ph idx="1"/>
          </p:nvPr>
        </p:nvSpPr>
        <p:spPr>
          <a:xfrm>
            <a:off x="838200" y="1231899"/>
            <a:ext cx="10515600" cy="5464175"/>
          </a:xfrm>
        </p:spPr>
        <p:txBody>
          <a:bodyPr>
            <a:normAutofit fontScale="92500"/>
          </a:bodyPr>
          <a:lstStyle/>
          <a:p>
            <a:r>
              <a:rPr lang="en-US" dirty="0"/>
              <a:t>Investigate how the retrieving a cue stimulus will activate the target stimulus’ item representation</a:t>
            </a:r>
          </a:p>
          <a:p>
            <a:pPr lvl="1"/>
            <a:r>
              <a:rPr lang="en-US" dirty="0"/>
              <a:t>e.g., if participants encode relation X-A, then cueing with stimulus X will lead to the activation of the stimulus A representation as well</a:t>
            </a:r>
          </a:p>
          <a:p>
            <a:pPr lvl="1"/>
            <a:r>
              <a:rPr lang="en-US" dirty="0"/>
              <a:t>What activation patterns predict stronger reactivation of the A representation?</a:t>
            </a:r>
          </a:p>
          <a:p>
            <a:r>
              <a:rPr lang="en-US" dirty="0"/>
              <a:t>Analysis strategy</a:t>
            </a:r>
          </a:p>
          <a:p>
            <a:pPr lvl="1"/>
            <a:r>
              <a:rPr lang="en-US" dirty="0"/>
              <a:t>Measure representational strength as IRAF (e.g., in a PFC region)</a:t>
            </a:r>
          </a:p>
          <a:p>
            <a:pPr lvl="1"/>
            <a:r>
              <a:rPr lang="en-US" dirty="0"/>
              <a:t>The strength the stimulus X representation may predict the strength of the stimulus A representation</a:t>
            </a:r>
          </a:p>
          <a:p>
            <a:pPr lvl="2"/>
            <a:r>
              <a:rPr lang="en-US" dirty="0"/>
              <a:t>PFC</a:t>
            </a:r>
            <a:r>
              <a:rPr lang="en-US" baseline="-25000" dirty="0"/>
              <a:t>A-IRAF </a:t>
            </a:r>
            <a:r>
              <a:rPr lang="en-US" dirty="0"/>
              <a:t>~ PFC</a:t>
            </a:r>
            <a:r>
              <a:rPr lang="en-US" baseline="-25000" dirty="0"/>
              <a:t>X-IRAF</a:t>
            </a:r>
            <a:endParaRPr lang="en-US" dirty="0"/>
          </a:p>
          <a:p>
            <a:pPr lvl="1"/>
            <a:r>
              <a:rPr lang="en-US" dirty="0"/>
              <a:t>Activity in other regions, such as the hippocampus, may support the associations between X and Y</a:t>
            </a:r>
          </a:p>
          <a:p>
            <a:pPr lvl="2"/>
            <a:r>
              <a:rPr lang="en-US" dirty="0"/>
              <a:t>PFC</a:t>
            </a:r>
            <a:r>
              <a:rPr lang="en-US" baseline="-25000" dirty="0"/>
              <a:t>A-IRAF </a:t>
            </a:r>
            <a:r>
              <a:rPr lang="en-US" dirty="0"/>
              <a:t>~ PFC</a:t>
            </a:r>
            <a:r>
              <a:rPr lang="en-US" baseline="-25000" dirty="0"/>
              <a:t>X-IRAF </a:t>
            </a:r>
            <a:r>
              <a:rPr lang="en-US" dirty="0"/>
              <a:t>× HC</a:t>
            </a:r>
            <a:r>
              <a:rPr lang="en-US" baseline="-25000" dirty="0"/>
              <a:t>BOLD</a:t>
            </a:r>
          </a:p>
          <a:p>
            <a:pPr lvl="1"/>
            <a:r>
              <a:rPr lang="en-US" dirty="0"/>
              <a:t>Predict memory encoding:</a:t>
            </a:r>
          </a:p>
          <a:p>
            <a:pPr lvl="2"/>
            <a:r>
              <a:rPr lang="en-US" dirty="0"/>
              <a:t>Accuracy ~ PFC</a:t>
            </a:r>
            <a:r>
              <a:rPr lang="en-US" baseline="-25000" dirty="0"/>
              <a:t>X-IRAF </a:t>
            </a:r>
            <a:r>
              <a:rPr lang="en-US" dirty="0"/>
              <a:t>× PFC</a:t>
            </a:r>
            <a:r>
              <a:rPr lang="en-US" baseline="-25000" dirty="0"/>
              <a:t>Y-IRAF  </a:t>
            </a:r>
            <a:r>
              <a:rPr lang="en-US" dirty="0"/>
              <a:t>× HC</a:t>
            </a:r>
            <a:r>
              <a:rPr lang="en-US" baseline="-25000" dirty="0"/>
              <a:t>BOLD</a:t>
            </a:r>
          </a:p>
          <a:p>
            <a:pPr lvl="2"/>
            <a:endParaRPr lang="en-US" baseline="-25000" dirty="0"/>
          </a:p>
          <a:p>
            <a:pPr lvl="2"/>
            <a:endParaRPr lang="en-US" dirty="0"/>
          </a:p>
          <a:p>
            <a:pPr lvl="1"/>
            <a:endParaRPr lang="en-US" dirty="0"/>
          </a:p>
        </p:txBody>
      </p:sp>
    </p:spTree>
    <p:extLst>
      <p:ext uri="{BB962C8B-B14F-4D97-AF65-F5344CB8AC3E}">
        <p14:creationId xmlns:p14="http://schemas.microsoft.com/office/powerpoint/2010/main" val="44332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90F9-7B94-1A16-666C-F743425650F6}"/>
              </a:ext>
            </a:extLst>
          </p:cNvPr>
          <p:cNvSpPr>
            <a:spLocks noGrp="1"/>
          </p:cNvSpPr>
          <p:nvPr>
            <p:ph type="title"/>
          </p:nvPr>
        </p:nvSpPr>
        <p:spPr>
          <a:xfrm>
            <a:off x="838200" y="1"/>
            <a:ext cx="10515600" cy="1077810"/>
          </a:xfrm>
        </p:spPr>
        <p:txBody>
          <a:bodyPr/>
          <a:lstStyle/>
          <a:p>
            <a:r>
              <a:rPr lang="en-US" dirty="0">
                <a:solidFill>
                  <a:srgbClr val="002060"/>
                </a:solidFill>
              </a:rPr>
              <a:t>Task idea 2. Encoding task</a:t>
            </a:r>
          </a:p>
        </p:txBody>
      </p:sp>
      <p:sp>
        <p:nvSpPr>
          <p:cNvPr id="3" name="Content Placeholder 2">
            <a:extLst>
              <a:ext uri="{FF2B5EF4-FFF2-40B4-BE49-F238E27FC236}">
                <a16:creationId xmlns:a16="http://schemas.microsoft.com/office/drawing/2014/main" id="{E07718BF-8BB6-93D9-BD43-9B405B5B2E63}"/>
              </a:ext>
            </a:extLst>
          </p:cNvPr>
          <p:cNvSpPr>
            <a:spLocks noGrp="1"/>
          </p:cNvSpPr>
          <p:nvPr>
            <p:ph idx="1"/>
          </p:nvPr>
        </p:nvSpPr>
        <p:spPr>
          <a:xfrm>
            <a:off x="816430" y="1154735"/>
            <a:ext cx="10844059" cy="1212512"/>
          </a:xfrm>
        </p:spPr>
        <p:txBody>
          <a:bodyPr>
            <a:normAutofit fontScale="85000" lnSpcReduction="10000"/>
          </a:bodyPr>
          <a:lstStyle/>
          <a:p>
            <a:r>
              <a:rPr lang="en-US" dirty="0"/>
              <a:t>Participants form temporal associations between sequential stimuli &amp; spatial associations between stimuli presented nearby</a:t>
            </a:r>
          </a:p>
          <a:p>
            <a:r>
              <a:rPr lang="en-US" dirty="0"/>
              <a:t>“Target” stimuli are repeated and can be switched between spatial/temporal</a:t>
            </a:r>
          </a:p>
        </p:txBody>
      </p:sp>
      <p:sp>
        <p:nvSpPr>
          <p:cNvPr id="4" name="Rectangle 3">
            <a:extLst>
              <a:ext uri="{FF2B5EF4-FFF2-40B4-BE49-F238E27FC236}">
                <a16:creationId xmlns:a16="http://schemas.microsoft.com/office/drawing/2014/main" id="{FC4741EF-7A4F-8371-3EA4-CB3FC89F77BB}"/>
              </a:ext>
            </a:extLst>
          </p:cNvPr>
          <p:cNvSpPr/>
          <p:nvPr/>
        </p:nvSpPr>
        <p:spPr>
          <a:xfrm>
            <a:off x="857630" y="2706915"/>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55FD82-18DB-3E29-F572-18C004C26E78}"/>
              </a:ext>
            </a:extLst>
          </p:cNvPr>
          <p:cNvSpPr/>
          <p:nvPr/>
        </p:nvSpPr>
        <p:spPr>
          <a:xfrm>
            <a:off x="2637293" y="3032284"/>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57049B62-4FCC-28DE-270F-E12DE737A475}"/>
              </a:ext>
            </a:extLst>
          </p:cNvPr>
          <p:cNvPicPr>
            <a:picLocks noChangeAspect="1"/>
          </p:cNvPicPr>
          <p:nvPr/>
        </p:nvPicPr>
        <p:blipFill>
          <a:blip r:embed="rId3"/>
          <a:stretch>
            <a:fillRect/>
          </a:stretch>
        </p:blipFill>
        <p:spPr>
          <a:xfrm>
            <a:off x="3039780" y="3335877"/>
            <a:ext cx="1330030" cy="1187516"/>
          </a:xfrm>
          <a:prstGeom prst="rect">
            <a:avLst/>
          </a:prstGeom>
        </p:spPr>
      </p:pic>
      <p:sp>
        <p:nvSpPr>
          <p:cNvPr id="20" name="Rectangle 19">
            <a:extLst>
              <a:ext uri="{FF2B5EF4-FFF2-40B4-BE49-F238E27FC236}">
                <a16:creationId xmlns:a16="http://schemas.microsoft.com/office/drawing/2014/main" id="{BA77C13F-8F52-BD68-5417-08ED3627E623}"/>
              </a:ext>
            </a:extLst>
          </p:cNvPr>
          <p:cNvSpPr/>
          <p:nvPr/>
        </p:nvSpPr>
        <p:spPr>
          <a:xfrm>
            <a:off x="4747854" y="3315592"/>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4B5CEC56-C18B-3A4F-2E6B-F8447561EB44}"/>
              </a:ext>
            </a:extLst>
          </p:cNvPr>
          <p:cNvPicPr>
            <a:picLocks noChangeAspect="1"/>
          </p:cNvPicPr>
          <p:nvPr/>
        </p:nvPicPr>
        <p:blipFill>
          <a:blip r:embed="rId4"/>
          <a:stretch>
            <a:fillRect/>
          </a:stretch>
        </p:blipFill>
        <p:spPr>
          <a:xfrm>
            <a:off x="5518154" y="3884574"/>
            <a:ext cx="1192111" cy="1064375"/>
          </a:xfrm>
          <a:prstGeom prst="rect">
            <a:avLst/>
          </a:prstGeom>
        </p:spPr>
      </p:pic>
      <p:sp>
        <p:nvSpPr>
          <p:cNvPr id="33" name="TextBox 32">
            <a:extLst>
              <a:ext uri="{FF2B5EF4-FFF2-40B4-BE49-F238E27FC236}">
                <a16:creationId xmlns:a16="http://schemas.microsoft.com/office/drawing/2014/main" id="{349191DF-D524-CFB5-9B73-95C73C68D7FF}"/>
              </a:ext>
            </a:extLst>
          </p:cNvPr>
          <p:cNvSpPr txBox="1"/>
          <p:nvPr/>
        </p:nvSpPr>
        <p:spPr>
          <a:xfrm>
            <a:off x="4575582" y="5303334"/>
            <a:ext cx="2388011" cy="584775"/>
          </a:xfrm>
          <a:prstGeom prst="rect">
            <a:avLst/>
          </a:prstGeom>
          <a:noFill/>
        </p:spPr>
        <p:txBody>
          <a:bodyPr wrap="square" rtlCol="0">
            <a:spAutoFit/>
          </a:bodyPr>
          <a:lstStyle/>
          <a:p>
            <a:pPr algn="ctr"/>
            <a:r>
              <a:rPr lang="en-US" sz="1600" dirty="0"/>
              <a:t>Judge relative to previous</a:t>
            </a:r>
          </a:p>
          <a:p>
            <a:pPr algn="ctr"/>
            <a:r>
              <a:rPr lang="en-US" sz="1600" dirty="0"/>
              <a:t>(e.g., bigger smaller)</a:t>
            </a:r>
          </a:p>
        </p:txBody>
      </p:sp>
      <p:sp>
        <p:nvSpPr>
          <p:cNvPr id="36" name="TextBox 35">
            <a:extLst>
              <a:ext uri="{FF2B5EF4-FFF2-40B4-BE49-F238E27FC236}">
                <a16:creationId xmlns:a16="http://schemas.microsoft.com/office/drawing/2014/main" id="{16900221-02DE-9BA8-5F31-B6806674BF9F}"/>
              </a:ext>
            </a:extLst>
          </p:cNvPr>
          <p:cNvSpPr txBox="1"/>
          <p:nvPr/>
        </p:nvSpPr>
        <p:spPr>
          <a:xfrm>
            <a:off x="7011881" y="5634637"/>
            <a:ext cx="2133310" cy="584775"/>
          </a:xfrm>
          <a:prstGeom prst="rect">
            <a:avLst/>
          </a:prstGeom>
          <a:noFill/>
        </p:spPr>
        <p:txBody>
          <a:bodyPr wrap="square" rtlCol="0">
            <a:spAutoFit/>
          </a:bodyPr>
          <a:lstStyle/>
          <a:p>
            <a:pPr algn="ctr"/>
            <a:r>
              <a:rPr lang="en-US" sz="1600" dirty="0"/>
              <a:t>Judge between three</a:t>
            </a:r>
          </a:p>
          <a:p>
            <a:pPr algn="ctr"/>
            <a:r>
              <a:rPr lang="en-US" sz="1600" dirty="0"/>
              <a:t>(e.g., biggest/smallest)</a:t>
            </a:r>
          </a:p>
        </p:txBody>
      </p:sp>
      <p:sp>
        <p:nvSpPr>
          <p:cNvPr id="37" name="TextBox 36">
            <a:extLst>
              <a:ext uri="{FF2B5EF4-FFF2-40B4-BE49-F238E27FC236}">
                <a16:creationId xmlns:a16="http://schemas.microsoft.com/office/drawing/2014/main" id="{B91B924E-3132-0D8B-7501-FFED35B5EE21}"/>
              </a:ext>
            </a:extLst>
          </p:cNvPr>
          <p:cNvSpPr txBox="1"/>
          <p:nvPr/>
        </p:nvSpPr>
        <p:spPr>
          <a:xfrm>
            <a:off x="9145191" y="5911687"/>
            <a:ext cx="2298473" cy="584775"/>
          </a:xfrm>
          <a:prstGeom prst="rect">
            <a:avLst/>
          </a:prstGeom>
          <a:noFill/>
        </p:spPr>
        <p:txBody>
          <a:bodyPr wrap="square" rtlCol="0">
            <a:spAutoFit/>
          </a:bodyPr>
          <a:lstStyle/>
          <a:p>
            <a:pPr algn="ctr"/>
            <a:r>
              <a:rPr lang="en-US" sz="1600" dirty="0"/>
              <a:t>Return focus to center</a:t>
            </a:r>
            <a:br>
              <a:rPr lang="en-US" sz="1600" dirty="0"/>
            </a:br>
            <a:r>
              <a:rPr lang="en-US" sz="1600" dirty="0"/>
              <a:t>Prepare for next trial</a:t>
            </a:r>
          </a:p>
        </p:txBody>
      </p:sp>
      <p:sp>
        <p:nvSpPr>
          <p:cNvPr id="38" name="Rectangle 37">
            <a:extLst>
              <a:ext uri="{FF2B5EF4-FFF2-40B4-BE49-F238E27FC236}">
                <a16:creationId xmlns:a16="http://schemas.microsoft.com/office/drawing/2014/main" id="{001DE3EC-66E8-7990-9B3D-B8499E774E65}"/>
              </a:ext>
            </a:extLst>
          </p:cNvPr>
          <p:cNvSpPr/>
          <p:nvPr/>
        </p:nvSpPr>
        <p:spPr>
          <a:xfrm rot="805522">
            <a:off x="2847149" y="3547751"/>
            <a:ext cx="3829099" cy="1160246"/>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C3594C1-4C13-CE79-A864-838EF71F7F93}"/>
              </a:ext>
            </a:extLst>
          </p:cNvPr>
          <p:cNvSpPr/>
          <p:nvPr/>
        </p:nvSpPr>
        <p:spPr>
          <a:xfrm>
            <a:off x="6963594" y="3666824"/>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B2EFCDA5-B822-2830-9BB8-97A8B8FB55BF}"/>
              </a:ext>
            </a:extLst>
          </p:cNvPr>
          <p:cNvPicPr>
            <a:picLocks noChangeAspect="1"/>
          </p:cNvPicPr>
          <p:nvPr/>
        </p:nvPicPr>
        <p:blipFill>
          <a:blip r:embed="rId4"/>
          <a:stretch>
            <a:fillRect/>
          </a:stretch>
        </p:blipFill>
        <p:spPr>
          <a:xfrm>
            <a:off x="7819359" y="4118262"/>
            <a:ext cx="1093167" cy="976033"/>
          </a:xfrm>
          <a:prstGeom prst="rect">
            <a:avLst/>
          </a:prstGeom>
        </p:spPr>
      </p:pic>
      <p:pic>
        <p:nvPicPr>
          <p:cNvPr id="31" name="Picture 30">
            <a:extLst>
              <a:ext uri="{FF2B5EF4-FFF2-40B4-BE49-F238E27FC236}">
                <a16:creationId xmlns:a16="http://schemas.microsoft.com/office/drawing/2014/main" id="{BFC94C21-8EEC-2A2F-BDEF-7A08DF4D3975}"/>
              </a:ext>
            </a:extLst>
          </p:cNvPr>
          <p:cNvPicPr>
            <a:picLocks noChangeAspect="1"/>
          </p:cNvPicPr>
          <p:nvPr/>
        </p:nvPicPr>
        <p:blipFill>
          <a:blip r:embed="rId5"/>
          <a:stretch>
            <a:fillRect/>
          </a:stretch>
        </p:blipFill>
        <p:spPr>
          <a:xfrm>
            <a:off x="7039119" y="4271091"/>
            <a:ext cx="872121" cy="778672"/>
          </a:xfrm>
          <a:prstGeom prst="rect">
            <a:avLst/>
          </a:prstGeom>
        </p:spPr>
      </p:pic>
      <p:pic>
        <p:nvPicPr>
          <p:cNvPr id="32" name="Picture 31">
            <a:extLst>
              <a:ext uri="{FF2B5EF4-FFF2-40B4-BE49-F238E27FC236}">
                <a16:creationId xmlns:a16="http://schemas.microsoft.com/office/drawing/2014/main" id="{85AFE6B0-45E5-665F-D100-5521B51F2222}"/>
              </a:ext>
            </a:extLst>
          </p:cNvPr>
          <p:cNvPicPr>
            <a:picLocks noChangeAspect="1"/>
          </p:cNvPicPr>
          <p:nvPr/>
        </p:nvPicPr>
        <p:blipFill rotWithShape="1">
          <a:blip r:embed="rId6"/>
          <a:srcRect l="14978" r="16500" b="-3329"/>
          <a:stretch/>
        </p:blipFill>
        <p:spPr>
          <a:xfrm>
            <a:off x="8634003" y="4249940"/>
            <a:ext cx="578341" cy="778672"/>
          </a:xfrm>
          <a:prstGeom prst="rect">
            <a:avLst/>
          </a:prstGeom>
        </p:spPr>
      </p:pic>
      <p:sp>
        <p:nvSpPr>
          <p:cNvPr id="34" name="Rectangle 33">
            <a:extLst>
              <a:ext uri="{FF2B5EF4-FFF2-40B4-BE49-F238E27FC236}">
                <a16:creationId xmlns:a16="http://schemas.microsoft.com/office/drawing/2014/main" id="{D3919EFA-158A-AFBE-0EE9-C6EE01306E70}"/>
              </a:ext>
            </a:extLst>
          </p:cNvPr>
          <p:cNvSpPr/>
          <p:nvPr/>
        </p:nvSpPr>
        <p:spPr>
          <a:xfrm>
            <a:off x="9313678" y="3966633"/>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0D68653-D759-9CC8-1605-4048E2E99935}"/>
              </a:ext>
            </a:extLst>
          </p:cNvPr>
          <p:cNvPicPr>
            <a:picLocks noChangeAspect="1"/>
          </p:cNvPicPr>
          <p:nvPr/>
        </p:nvPicPr>
        <p:blipFill>
          <a:blip r:embed="rId4"/>
          <a:stretch>
            <a:fillRect/>
          </a:stretch>
        </p:blipFill>
        <p:spPr>
          <a:xfrm>
            <a:off x="10023774" y="4362185"/>
            <a:ext cx="1192111" cy="1064375"/>
          </a:xfrm>
          <a:prstGeom prst="rect">
            <a:avLst/>
          </a:prstGeom>
        </p:spPr>
      </p:pic>
      <p:sp>
        <p:nvSpPr>
          <p:cNvPr id="40" name="TextBox 39">
            <a:extLst>
              <a:ext uri="{FF2B5EF4-FFF2-40B4-BE49-F238E27FC236}">
                <a16:creationId xmlns:a16="http://schemas.microsoft.com/office/drawing/2014/main" id="{4BD372C3-916E-D510-110E-9AA2C0607F60}"/>
              </a:ext>
            </a:extLst>
          </p:cNvPr>
          <p:cNvSpPr txBox="1"/>
          <p:nvPr/>
        </p:nvSpPr>
        <p:spPr>
          <a:xfrm>
            <a:off x="7518601" y="3652198"/>
            <a:ext cx="1343064" cy="523220"/>
          </a:xfrm>
          <a:prstGeom prst="rect">
            <a:avLst/>
          </a:prstGeom>
          <a:noFill/>
        </p:spPr>
        <p:txBody>
          <a:bodyPr wrap="square" rtlCol="0">
            <a:spAutoFit/>
          </a:bodyPr>
          <a:lstStyle/>
          <a:p>
            <a:r>
              <a:rPr lang="en-US" sz="2800" dirty="0">
                <a:solidFill>
                  <a:schemeClr val="accent6">
                    <a:lumMod val="75000"/>
                  </a:schemeClr>
                </a:solidFill>
                <a:latin typeface="Arial" panose="020B0604020202020204" pitchFamily="34" charset="0"/>
                <a:cs typeface="Arial" panose="020B0604020202020204" pitchFamily="34" charset="0"/>
              </a:rPr>
              <a:t>Spatial</a:t>
            </a:r>
          </a:p>
        </p:txBody>
      </p:sp>
      <p:sp>
        <p:nvSpPr>
          <p:cNvPr id="41" name="TextBox 40">
            <a:extLst>
              <a:ext uri="{FF2B5EF4-FFF2-40B4-BE49-F238E27FC236}">
                <a16:creationId xmlns:a16="http://schemas.microsoft.com/office/drawing/2014/main" id="{32DAFC05-497F-46B4-6FA8-04DD2492DF5C}"/>
              </a:ext>
            </a:extLst>
          </p:cNvPr>
          <p:cNvSpPr txBox="1"/>
          <p:nvPr/>
        </p:nvSpPr>
        <p:spPr>
          <a:xfrm rot="783392">
            <a:off x="4255188" y="3986370"/>
            <a:ext cx="1532934" cy="461665"/>
          </a:xfrm>
          <a:prstGeom prst="rect">
            <a:avLst/>
          </a:prstGeom>
          <a:solidFill>
            <a:schemeClr val="bg1"/>
          </a:solid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Temporal</a:t>
            </a:r>
            <a:endParaRPr lang="en-US" sz="2000" dirty="0">
              <a:solidFill>
                <a:srgbClr val="0070C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0E767E3-BADE-7266-7D03-65986BA971BE}"/>
              </a:ext>
            </a:extLst>
          </p:cNvPr>
          <p:cNvPicPr>
            <a:picLocks noChangeAspect="1"/>
          </p:cNvPicPr>
          <p:nvPr/>
        </p:nvPicPr>
        <p:blipFill>
          <a:blip r:embed="rId7"/>
          <a:stretch>
            <a:fillRect/>
          </a:stretch>
        </p:blipFill>
        <p:spPr>
          <a:xfrm>
            <a:off x="1226034" y="3032284"/>
            <a:ext cx="1321928" cy="889043"/>
          </a:xfrm>
          <a:prstGeom prst="rect">
            <a:avLst/>
          </a:prstGeom>
        </p:spPr>
      </p:pic>
      <p:sp>
        <p:nvSpPr>
          <p:cNvPr id="8" name="TextBox 7">
            <a:extLst>
              <a:ext uri="{FF2B5EF4-FFF2-40B4-BE49-F238E27FC236}">
                <a16:creationId xmlns:a16="http://schemas.microsoft.com/office/drawing/2014/main" id="{5B56F935-55C8-0251-79BC-A443C0217A18}"/>
              </a:ext>
            </a:extLst>
          </p:cNvPr>
          <p:cNvSpPr txBox="1"/>
          <p:nvPr/>
        </p:nvSpPr>
        <p:spPr>
          <a:xfrm>
            <a:off x="1232900" y="2967335"/>
            <a:ext cx="766557" cy="461665"/>
          </a:xfrm>
          <a:prstGeom prst="rect">
            <a:avLst/>
          </a:prstGeom>
          <a:noFill/>
        </p:spPr>
        <p:txBody>
          <a:bodyPr wrap="none" rtlCol="0">
            <a:spAutoFit/>
          </a:bodyPr>
          <a:lstStyle/>
          <a:p>
            <a:r>
              <a:rPr lang="en-US" sz="2400" b="1" dirty="0">
                <a:solidFill>
                  <a:srgbClr val="FF7C80"/>
                </a:solidFill>
                <a:latin typeface="Arial" panose="020B0604020202020204" pitchFamily="34" charset="0"/>
                <a:cs typeface="Arial" panose="020B0604020202020204" pitchFamily="34" charset="0"/>
              </a:rPr>
              <a:t>Cue</a:t>
            </a:r>
          </a:p>
        </p:txBody>
      </p:sp>
      <p:sp>
        <p:nvSpPr>
          <p:cNvPr id="9" name="TextBox 8">
            <a:extLst>
              <a:ext uri="{FF2B5EF4-FFF2-40B4-BE49-F238E27FC236}">
                <a16:creationId xmlns:a16="http://schemas.microsoft.com/office/drawing/2014/main" id="{CF35A9F0-1086-FD69-DB2F-B18DD997DE44}"/>
              </a:ext>
            </a:extLst>
          </p:cNvPr>
          <p:cNvSpPr txBox="1"/>
          <p:nvPr/>
        </p:nvSpPr>
        <p:spPr>
          <a:xfrm>
            <a:off x="3044654" y="3211942"/>
            <a:ext cx="1102802" cy="461665"/>
          </a:xfrm>
          <a:prstGeom prst="rect">
            <a:avLst/>
          </a:prstGeom>
          <a:noFill/>
        </p:spPr>
        <p:txBody>
          <a:bodyPr wrap="none" rtlCol="0">
            <a:spAutoFit/>
          </a:bodyPr>
          <a:lstStyle/>
          <a:p>
            <a:r>
              <a:rPr lang="en-US" sz="2400" b="1" dirty="0">
                <a:solidFill>
                  <a:srgbClr val="7030A0"/>
                </a:solidFill>
                <a:latin typeface="Arial" panose="020B0604020202020204" pitchFamily="34" charset="0"/>
                <a:cs typeface="Arial" panose="020B0604020202020204" pitchFamily="34" charset="0"/>
              </a:rPr>
              <a:t>Target</a:t>
            </a:r>
          </a:p>
        </p:txBody>
      </p:sp>
      <p:sp>
        <p:nvSpPr>
          <p:cNvPr id="10" name="Oval 9">
            <a:extLst>
              <a:ext uri="{FF2B5EF4-FFF2-40B4-BE49-F238E27FC236}">
                <a16:creationId xmlns:a16="http://schemas.microsoft.com/office/drawing/2014/main" id="{6DDDFD72-1925-511C-FC74-E47934081D0E}"/>
              </a:ext>
            </a:extLst>
          </p:cNvPr>
          <p:cNvSpPr/>
          <p:nvPr/>
        </p:nvSpPr>
        <p:spPr>
          <a:xfrm>
            <a:off x="1157895" y="2742878"/>
            <a:ext cx="1450613" cy="1450613"/>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E276EA5-9D0E-C66D-7151-4236E1E45C56}"/>
              </a:ext>
            </a:extLst>
          </p:cNvPr>
          <p:cNvSpPr/>
          <p:nvPr/>
        </p:nvSpPr>
        <p:spPr>
          <a:xfrm>
            <a:off x="2909334" y="3111881"/>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4591A75-7197-EFA6-3F7F-4B3EBC425BBC}"/>
              </a:ext>
            </a:extLst>
          </p:cNvPr>
          <p:cNvSpPr txBox="1"/>
          <p:nvPr/>
        </p:nvSpPr>
        <p:spPr>
          <a:xfrm>
            <a:off x="7556989" y="5053528"/>
            <a:ext cx="1274323" cy="461665"/>
          </a:xfrm>
          <a:prstGeom prst="rect">
            <a:avLst/>
          </a:prstGeom>
          <a:noFill/>
        </p:spPr>
        <p:txBody>
          <a:bodyPr wrap="none" rtlCol="0">
            <a:spAutoFit/>
          </a:bodyPr>
          <a:lstStyle/>
          <a:p>
            <a:r>
              <a:rPr lang="en-US" sz="2400" b="1" dirty="0">
                <a:solidFill>
                  <a:srgbClr val="7030A0"/>
                </a:solidFill>
                <a:latin typeface="Arial" panose="020B0604020202020204" pitchFamily="34" charset="0"/>
                <a:cs typeface="Arial" panose="020B0604020202020204" pitchFamily="34" charset="0"/>
              </a:rPr>
              <a:t>Targets</a:t>
            </a:r>
          </a:p>
        </p:txBody>
      </p:sp>
      <p:sp>
        <p:nvSpPr>
          <p:cNvPr id="13" name="Oval 12">
            <a:extLst>
              <a:ext uri="{FF2B5EF4-FFF2-40B4-BE49-F238E27FC236}">
                <a16:creationId xmlns:a16="http://schemas.microsoft.com/office/drawing/2014/main" id="{875BBA9A-D5B7-FECF-A5AE-6E2542450031}"/>
              </a:ext>
            </a:extLst>
          </p:cNvPr>
          <p:cNvSpPr/>
          <p:nvPr/>
        </p:nvSpPr>
        <p:spPr>
          <a:xfrm>
            <a:off x="6960921" y="4137390"/>
            <a:ext cx="912373" cy="91237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116EBA6-2EF7-D40C-00E2-B5141EC35436}"/>
              </a:ext>
            </a:extLst>
          </p:cNvPr>
          <p:cNvSpPr/>
          <p:nvPr/>
        </p:nvSpPr>
        <p:spPr>
          <a:xfrm>
            <a:off x="8622642" y="4175418"/>
            <a:ext cx="673632" cy="91237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AA2F441-39AF-16FE-DDD4-21AD99762F24}"/>
              </a:ext>
            </a:extLst>
          </p:cNvPr>
          <p:cNvSpPr/>
          <p:nvPr/>
        </p:nvSpPr>
        <p:spPr>
          <a:xfrm>
            <a:off x="7011881" y="4157467"/>
            <a:ext cx="2244227" cy="892297"/>
          </a:xfrm>
          <a:prstGeom prst="rect">
            <a:avLst/>
          </a:prstGeom>
          <a:noFill/>
          <a:ln w="38100">
            <a:solidFill>
              <a:srgbClr val="33CC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BBEA84-7EEE-9E49-DB0B-CBD3529B7B84}"/>
              </a:ext>
            </a:extLst>
          </p:cNvPr>
          <p:cNvSpPr txBox="1"/>
          <p:nvPr/>
        </p:nvSpPr>
        <p:spPr>
          <a:xfrm>
            <a:off x="5855182" y="4613559"/>
            <a:ext cx="766557" cy="461665"/>
          </a:xfrm>
          <a:prstGeom prst="rect">
            <a:avLst/>
          </a:prstGeom>
          <a:noFill/>
        </p:spPr>
        <p:txBody>
          <a:bodyPr wrap="none" rtlCol="0">
            <a:spAutoFit/>
          </a:bodyPr>
          <a:lstStyle/>
          <a:p>
            <a:r>
              <a:rPr lang="en-US" sz="2400" b="1" dirty="0">
                <a:solidFill>
                  <a:srgbClr val="FF7C80"/>
                </a:solidFill>
                <a:latin typeface="Arial" panose="020B0604020202020204" pitchFamily="34" charset="0"/>
                <a:cs typeface="Arial" panose="020B0604020202020204" pitchFamily="34" charset="0"/>
              </a:rPr>
              <a:t>Cue</a:t>
            </a:r>
          </a:p>
        </p:txBody>
      </p:sp>
      <p:sp>
        <p:nvSpPr>
          <p:cNvPr id="22" name="Oval 21">
            <a:extLst>
              <a:ext uri="{FF2B5EF4-FFF2-40B4-BE49-F238E27FC236}">
                <a16:creationId xmlns:a16="http://schemas.microsoft.com/office/drawing/2014/main" id="{7FB2A8BD-EF04-FF48-0901-154BFE6C74AF}"/>
              </a:ext>
            </a:extLst>
          </p:cNvPr>
          <p:cNvSpPr/>
          <p:nvPr/>
        </p:nvSpPr>
        <p:spPr>
          <a:xfrm>
            <a:off x="5663326" y="3720011"/>
            <a:ext cx="1172386" cy="1450613"/>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E1FCC0B5-EA53-6FB9-7415-E5690A581CAE}"/>
              </a:ext>
            </a:extLst>
          </p:cNvPr>
          <p:cNvSpPr txBox="1">
            <a:spLocks/>
          </p:cNvSpPr>
          <p:nvPr/>
        </p:nvSpPr>
        <p:spPr>
          <a:xfrm>
            <a:off x="5152786" y="2421762"/>
            <a:ext cx="6584354" cy="7840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Could have participants go through an identical stimulus sequence more than once</a:t>
            </a:r>
          </a:p>
        </p:txBody>
      </p:sp>
      <p:sp>
        <p:nvSpPr>
          <p:cNvPr id="24" name="Content Placeholder 2">
            <a:extLst>
              <a:ext uri="{FF2B5EF4-FFF2-40B4-BE49-F238E27FC236}">
                <a16:creationId xmlns:a16="http://schemas.microsoft.com/office/drawing/2014/main" id="{A383E9D4-06F1-2858-1AA2-A60E5E08E5E2}"/>
              </a:ext>
            </a:extLst>
          </p:cNvPr>
          <p:cNvSpPr txBox="1">
            <a:spLocks/>
          </p:cNvSpPr>
          <p:nvPr/>
        </p:nvSpPr>
        <p:spPr>
          <a:xfrm>
            <a:off x="229914" y="5956034"/>
            <a:ext cx="5564214" cy="78404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Episodic memory = collection of relations </a:t>
            </a:r>
            <a:br>
              <a:rPr lang="en-US" sz="2400" dirty="0"/>
            </a:br>
            <a:r>
              <a:rPr lang="en-US" sz="2400" dirty="0"/>
              <a:t>(e.g., </a:t>
            </a:r>
            <a:r>
              <a:rPr lang="en-US" sz="2400" i="1" dirty="0"/>
              <a:t>apple-cow-bench-grail</a:t>
            </a:r>
            <a:r>
              <a:rPr lang="en-US" sz="2400" dirty="0"/>
              <a:t>) </a:t>
            </a:r>
          </a:p>
        </p:txBody>
      </p:sp>
    </p:spTree>
    <p:extLst>
      <p:ext uri="{BB962C8B-B14F-4D97-AF65-F5344CB8AC3E}">
        <p14:creationId xmlns:p14="http://schemas.microsoft.com/office/powerpoint/2010/main" val="365423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7781B88-AD0D-C4EE-1562-FFB6A99D75BF}"/>
              </a:ext>
            </a:extLst>
          </p:cNvPr>
          <p:cNvSpPr/>
          <p:nvPr/>
        </p:nvSpPr>
        <p:spPr>
          <a:xfrm>
            <a:off x="385632" y="8608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D216CAC9-EB75-8937-DC80-C41ECCC9B63B}"/>
              </a:ext>
            </a:extLst>
          </p:cNvPr>
          <p:cNvPicPr>
            <a:picLocks noChangeAspect="1"/>
          </p:cNvPicPr>
          <p:nvPr/>
        </p:nvPicPr>
        <p:blipFill rotWithShape="1">
          <a:blip r:embed="rId2"/>
          <a:srcRect t="16608"/>
          <a:stretch/>
        </p:blipFill>
        <p:spPr>
          <a:xfrm>
            <a:off x="575076" y="970320"/>
            <a:ext cx="928811" cy="774557"/>
          </a:xfrm>
          <a:prstGeom prst="rect">
            <a:avLst/>
          </a:prstGeom>
        </p:spPr>
      </p:pic>
      <p:sp>
        <p:nvSpPr>
          <p:cNvPr id="2" name="Title 1">
            <a:extLst>
              <a:ext uri="{FF2B5EF4-FFF2-40B4-BE49-F238E27FC236}">
                <a16:creationId xmlns:a16="http://schemas.microsoft.com/office/drawing/2014/main" id="{4208890D-CA6D-BAF0-F157-DE0B49E419D7}"/>
              </a:ext>
            </a:extLst>
          </p:cNvPr>
          <p:cNvSpPr>
            <a:spLocks noGrp="1"/>
          </p:cNvSpPr>
          <p:nvPr>
            <p:ph type="title"/>
          </p:nvPr>
        </p:nvSpPr>
        <p:spPr>
          <a:xfrm>
            <a:off x="838200" y="170330"/>
            <a:ext cx="10515600" cy="961084"/>
          </a:xfrm>
        </p:spPr>
        <p:txBody>
          <a:bodyPr/>
          <a:lstStyle/>
          <a:p>
            <a:r>
              <a:rPr lang="en-US" dirty="0">
                <a:solidFill>
                  <a:srgbClr val="002060"/>
                </a:solidFill>
              </a:rPr>
              <a:t>Task idea 2. Retrieval task</a:t>
            </a:r>
          </a:p>
        </p:txBody>
      </p:sp>
      <p:sp>
        <p:nvSpPr>
          <p:cNvPr id="21" name="TextBox 20">
            <a:extLst>
              <a:ext uri="{FF2B5EF4-FFF2-40B4-BE49-F238E27FC236}">
                <a16:creationId xmlns:a16="http://schemas.microsoft.com/office/drawing/2014/main" id="{D894C584-8887-BE0B-0A91-5B8550DB05FD}"/>
              </a:ext>
            </a:extLst>
          </p:cNvPr>
          <p:cNvSpPr txBox="1"/>
          <p:nvPr/>
        </p:nvSpPr>
        <p:spPr>
          <a:xfrm>
            <a:off x="397298" y="1756328"/>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22" name="Rectangle 21">
            <a:extLst>
              <a:ext uri="{FF2B5EF4-FFF2-40B4-BE49-F238E27FC236}">
                <a16:creationId xmlns:a16="http://schemas.microsoft.com/office/drawing/2014/main" id="{88228C7F-E7E6-5840-6979-27CFEEFFC204}"/>
              </a:ext>
            </a:extLst>
          </p:cNvPr>
          <p:cNvSpPr/>
          <p:nvPr/>
        </p:nvSpPr>
        <p:spPr>
          <a:xfrm>
            <a:off x="1184197" y="1530834"/>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86BFD4E-FF68-EF5B-653F-2C56516C5529}"/>
              </a:ext>
            </a:extLst>
          </p:cNvPr>
          <p:cNvSpPr txBox="1"/>
          <p:nvPr/>
        </p:nvSpPr>
        <p:spPr>
          <a:xfrm>
            <a:off x="1560463" y="1935673"/>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24" name="Picture 23">
            <a:extLst>
              <a:ext uri="{FF2B5EF4-FFF2-40B4-BE49-F238E27FC236}">
                <a16:creationId xmlns:a16="http://schemas.microsoft.com/office/drawing/2014/main" id="{B4CE24EB-0712-B098-F5E1-41A9C358E101}"/>
              </a:ext>
            </a:extLst>
          </p:cNvPr>
          <p:cNvPicPr>
            <a:picLocks noChangeAspect="1"/>
          </p:cNvPicPr>
          <p:nvPr/>
        </p:nvPicPr>
        <p:blipFill rotWithShape="1">
          <a:blip r:embed="rId3"/>
          <a:srcRect l="18090" t="-3138"/>
          <a:stretch/>
        </p:blipFill>
        <p:spPr>
          <a:xfrm>
            <a:off x="1234583" y="1558844"/>
            <a:ext cx="492431" cy="620057"/>
          </a:xfrm>
          <a:prstGeom prst="rect">
            <a:avLst/>
          </a:prstGeom>
        </p:spPr>
      </p:pic>
      <p:sp>
        <p:nvSpPr>
          <p:cNvPr id="25" name="TextBox 24">
            <a:extLst>
              <a:ext uri="{FF2B5EF4-FFF2-40B4-BE49-F238E27FC236}">
                <a16:creationId xmlns:a16="http://schemas.microsoft.com/office/drawing/2014/main" id="{E4A3ED12-A996-4F2C-4475-7FE23FC21EE2}"/>
              </a:ext>
            </a:extLst>
          </p:cNvPr>
          <p:cNvSpPr txBox="1"/>
          <p:nvPr/>
        </p:nvSpPr>
        <p:spPr>
          <a:xfrm>
            <a:off x="1622875" y="1558844"/>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AFE6A707-D087-CD7F-E5BA-C16BC18EBB6C}"/>
              </a:ext>
            </a:extLst>
          </p:cNvPr>
          <p:cNvSpPr/>
          <p:nvPr/>
        </p:nvSpPr>
        <p:spPr>
          <a:xfrm>
            <a:off x="2210621" y="216458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59068C1-6CB1-86A4-1D55-1E841F4DC823}"/>
              </a:ext>
            </a:extLst>
          </p:cNvPr>
          <p:cNvPicPr>
            <a:picLocks noChangeAspect="1"/>
          </p:cNvPicPr>
          <p:nvPr/>
        </p:nvPicPr>
        <p:blipFill>
          <a:blip r:embed="rId4"/>
          <a:stretch>
            <a:fillRect/>
          </a:stretch>
        </p:blipFill>
        <p:spPr>
          <a:xfrm>
            <a:off x="2257935" y="2390077"/>
            <a:ext cx="625713" cy="437142"/>
          </a:xfrm>
          <a:prstGeom prst="rect">
            <a:avLst/>
          </a:prstGeom>
        </p:spPr>
      </p:pic>
      <p:sp>
        <p:nvSpPr>
          <p:cNvPr id="28" name="TextBox 27">
            <a:extLst>
              <a:ext uri="{FF2B5EF4-FFF2-40B4-BE49-F238E27FC236}">
                <a16:creationId xmlns:a16="http://schemas.microsoft.com/office/drawing/2014/main" id="{44AB284C-874C-7B05-9AAE-69C528C8F6E0}"/>
              </a:ext>
            </a:extLst>
          </p:cNvPr>
          <p:cNvSpPr txBox="1"/>
          <p:nvPr/>
        </p:nvSpPr>
        <p:spPr>
          <a:xfrm>
            <a:off x="2614672" y="2595985"/>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29" name="TextBox 28">
            <a:extLst>
              <a:ext uri="{FF2B5EF4-FFF2-40B4-BE49-F238E27FC236}">
                <a16:creationId xmlns:a16="http://schemas.microsoft.com/office/drawing/2014/main" id="{36F8A087-138F-2255-A3A2-491FA68280A5}"/>
              </a:ext>
            </a:extLst>
          </p:cNvPr>
          <p:cNvSpPr txBox="1"/>
          <p:nvPr/>
        </p:nvSpPr>
        <p:spPr>
          <a:xfrm>
            <a:off x="2649298" y="2192593"/>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37" name="Rectangle 36">
            <a:extLst>
              <a:ext uri="{FF2B5EF4-FFF2-40B4-BE49-F238E27FC236}">
                <a16:creationId xmlns:a16="http://schemas.microsoft.com/office/drawing/2014/main" id="{F0957E2A-2426-7D34-6737-35DBE127B690}"/>
              </a:ext>
            </a:extLst>
          </p:cNvPr>
          <p:cNvSpPr/>
          <p:nvPr/>
        </p:nvSpPr>
        <p:spPr>
          <a:xfrm>
            <a:off x="3182075" y="2884737"/>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525B31D-1D42-9C9B-3472-4FB16C9FE330}"/>
              </a:ext>
            </a:extLst>
          </p:cNvPr>
          <p:cNvSpPr txBox="1"/>
          <p:nvPr/>
        </p:nvSpPr>
        <p:spPr>
          <a:xfrm>
            <a:off x="3586126" y="3316139"/>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0" name="TextBox 39">
            <a:extLst>
              <a:ext uri="{FF2B5EF4-FFF2-40B4-BE49-F238E27FC236}">
                <a16:creationId xmlns:a16="http://schemas.microsoft.com/office/drawing/2014/main" id="{D86D8FD2-058D-8EB3-1026-E8594E7FAC1F}"/>
              </a:ext>
            </a:extLst>
          </p:cNvPr>
          <p:cNvSpPr txBox="1"/>
          <p:nvPr/>
        </p:nvSpPr>
        <p:spPr>
          <a:xfrm>
            <a:off x="3620752" y="2912747"/>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Left?</a:t>
            </a:r>
          </a:p>
        </p:txBody>
      </p:sp>
      <p:pic>
        <p:nvPicPr>
          <p:cNvPr id="41" name="Picture 40">
            <a:extLst>
              <a:ext uri="{FF2B5EF4-FFF2-40B4-BE49-F238E27FC236}">
                <a16:creationId xmlns:a16="http://schemas.microsoft.com/office/drawing/2014/main" id="{B3D34E74-5A49-6D5C-3473-8B74D8D7B615}"/>
              </a:ext>
            </a:extLst>
          </p:cNvPr>
          <p:cNvPicPr>
            <a:picLocks noChangeAspect="1"/>
          </p:cNvPicPr>
          <p:nvPr/>
        </p:nvPicPr>
        <p:blipFill>
          <a:blip r:embed="rId5"/>
          <a:stretch>
            <a:fillRect/>
          </a:stretch>
        </p:blipFill>
        <p:spPr>
          <a:xfrm>
            <a:off x="3306210" y="3082024"/>
            <a:ext cx="519318" cy="519318"/>
          </a:xfrm>
          <a:prstGeom prst="rect">
            <a:avLst/>
          </a:prstGeom>
        </p:spPr>
      </p:pic>
      <p:sp>
        <p:nvSpPr>
          <p:cNvPr id="42" name="Rectangle 41">
            <a:extLst>
              <a:ext uri="{FF2B5EF4-FFF2-40B4-BE49-F238E27FC236}">
                <a16:creationId xmlns:a16="http://schemas.microsoft.com/office/drawing/2014/main" id="{0D518B81-DEE2-CAC7-B6CF-7F8322CAEB47}"/>
              </a:ext>
            </a:extLst>
          </p:cNvPr>
          <p:cNvSpPr/>
          <p:nvPr/>
        </p:nvSpPr>
        <p:spPr>
          <a:xfrm>
            <a:off x="4172190" y="3541870"/>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596DE635-D04F-53F6-7953-BD45621DEDC4}"/>
              </a:ext>
            </a:extLst>
          </p:cNvPr>
          <p:cNvSpPr txBox="1"/>
          <p:nvPr/>
        </p:nvSpPr>
        <p:spPr>
          <a:xfrm>
            <a:off x="4610867" y="3569880"/>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Right?</a:t>
            </a:r>
          </a:p>
        </p:txBody>
      </p:sp>
      <p:pic>
        <p:nvPicPr>
          <p:cNvPr id="46" name="Picture 45">
            <a:extLst>
              <a:ext uri="{FF2B5EF4-FFF2-40B4-BE49-F238E27FC236}">
                <a16:creationId xmlns:a16="http://schemas.microsoft.com/office/drawing/2014/main" id="{3D57238C-F507-CE28-DD17-BC6003A3A9BC}"/>
              </a:ext>
            </a:extLst>
          </p:cNvPr>
          <p:cNvPicPr>
            <a:picLocks noChangeAspect="1"/>
          </p:cNvPicPr>
          <p:nvPr/>
        </p:nvPicPr>
        <p:blipFill rotWithShape="1">
          <a:blip r:embed="rId6"/>
          <a:srcRect l="14978" r="16500" b="-3329"/>
          <a:stretch/>
        </p:blipFill>
        <p:spPr>
          <a:xfrm>
            <a:off x="4229309" y="3613899"/>
            <a:ext cx="401650" cy="605676"/>
          </a:xfrm>
          <a:prstGeom prst="rect">
            <a:avLst/>
          </a:prstGeom>
        </p:spPr>
      </p:pic>
      <p:sp>
        <p:nvSpPr>
          <p:cNvPr id="43" name="TextBox 42">
            <a:extLst>
              <a:ext uri="{FF2B5EF4-FFF2-40B4-BE49-F238E27FC236}">
                <a16:creationId xmlns:a16="http://schemas.microsoft.com/office/drawing/2014/main" id="{F621618A-BE00-6373-C9C3-F363FC436CBC}"/>
              </a:ext>
            </a:extLst>
          </p:cNvPr>
          <p:cNvSpPr txBox="1"/>
          <p:nvPr/>
        </p:nvSpPr>
        <p:spPr>
          <a:xfrm>
            <a:off x="4576241" y="397327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8" name="TextBox 47">
            <a:extLst>
              <a:ext uri="{FF2B5EF4-FFF2-40B4-BE49-F238E27FC236}">
                <a16:creationId xmlns:a16="http://schemas.microsoft.com/office/drawing/2014/main" id="{E12B9A7A-961B-E1A4-2364-AB7B37592AEB}"/>
              </a:ext>
            </a:extLst>
          </p:cNvPr>
          <p:cNvSpPr txBox="1"/>
          <p:nvPr/>
        </p:nvSpPr>
        <p:spPr>
          <a:xfrm>
            <a:off x="6028254" y="1292333"/>
            <a:ext cx="5926679"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Possible effect:</a:t>
            </a:r>
          </a:p>
          <a:p>
            <a:pPr marL="742950" lvl="1"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Remember responses enhance temporal accuracy but not spatial accuracy</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Would suggest that episodic memory is more linked to temporal associations than spatial ones</a:t>
            </a: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Challenge:</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Spatial association generally accuracy may just be higher because images are shown at the same time</a:t>
            </a:r>
          </a:p>
          <a:p>
            <a:pPr marL="800100" lvl="1" indent="-342900">
              <a:buFont typeface="Courier New" panose="02070309020205020404" pitchFamily="49" charset="0"/>
              <a:buChar char="o"/>
            </a:pPr>
            <a:endParaRPr lang="en-US" sz="2400" dirty="0">
              <a:latin typeface="Arial" panose="020B0604020202020204" pitchFamily="34" charset="0"/>
              <a:cs typeface="Arial" panose="020B0604020202020204" pitchFamily="34" charset="0"/>
            </a:endParaRPr>
          </a:p>
        </p:txBody>
      </p:sp>
      <p:pic>
        <p:nvPicPr>
          <p:cNvPr id="52" name="Picture 51">
            <a:extLst>
              <a:ext uri="{FF2B5EF4-FFF2-40B4-BE49-F238E27FC236}">
                <a16:creationId xmlns:a16="http://schemas.microsoft.com/office/drawing/2014/main" id="{D998497E-3094-47CE-9B62-BF0C7D936A61}"/>
              </a:ext>
            </a:extLst>
          </p:cNvPr>
          <p:cNvPicPr>
            <a:picLocks noChangeAspect="1"/>
          </p:cNvPicPr>
          <p:nvPr/>
        </p:nvPicPr>
        <p:blipFill>
          <a:blip r:embed="rId7"/>
          <a:stretch>
            <a:fillRect/>
          </a:stretch>
        </p:blipFill>
        <p:spPr>
          <a:xfrm>
            <a:off x="80031" y="4907063"/>
            <a:ext cx="3293966" cy="1659297"/>
          </a:xfrm>
          <a:prstGeom prst="rect">
            <a:avLst/>
          </a:prstGeom>
        </p:spPr>
      </p:pic>
      <p:pic>
        <p:nvPicPr>
          <p:cNvPr id="53" name="Picture 52">
            <a:extLst>
              <a:ext uri="{FF2B5EF4-FFF2-40B4-BE49-F238E27FC236}">
                <a16:creationId xmlns:a16="http://schemas.microsoft.com/office/drawing/2014/main" id="{656F1A8D-8992-647C-3B7D-C07C529C4C60}"/>
              </a:ext>
            </a:extLst>
          </p:cNvPr>
          <p:cNvPicPr>
            <a:picLocks noChangeAspect="1"/>
          </p:cNvPicPr>
          <p:nvPr/>
        </p:nvPicPr>
        <p:blipFill>
          <a:blip r:embed="rId8"/>
          <a:stretch>
            <a:fillRect/>
          </a:stretch>
        </p:blipFill>
        <p:spPr>
          <a:xfrm>
            <a:off x="3620752" y="4907063"/>
            <a:ext cx="2522498" cy="1806225"/>
          </a:xfrm>
          <a:prstGeom prst="rect">
            <a:avLst/>
          </a:prstGeom>
        </p:spPr>
      </p:pic>
      <p:sp>
        <p:nvSpPr>
          <p:cNvPr id="56" name="TextBox 55">
            <a:extLst>
              <a:ext uri="{FF2B5EF4-FFF2-40B4-BE49-F238E27FC236}">
                <a16:creationId xmlns:a16="http://schemas.microsoft.com/office/drawing/2014/main" id="{C7C2F724-C219-AF36-5B37-DD604E1232F5}"/>
              </a:ext>
            </a:extLst>
          </p:cNvPr>
          <p:cNvSpPr txBox="1"/>
          <p:nvPr/>
        </p:nvSpPr>
        <p:spPr>
          <a:xfrm rot="2042526">
            <a:off x="2648949" y="2039110"/>
            <a:ext cx="335220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Counterbalance question order</a:t>
            </a:r>
          </a:p>
        </p:txBody>
      </p:sp>
    </p:spTree>
    <p:extLst>
      <p:ext uri="{BB962C8B-B14F-4D97-AF65-F5344CB8AC3E}">
        <p14:creationId xmlns:p14="http://schemas.microsoft.com/office/powerpoint/2010/main" val="308533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577D-138B-6AED-FD1B-7B62CFCBED05}"/>
              </a:ext>
            </a:extLst>
          </p:cNvPr>
          <p:cNvSpPr>
            <a:spLocks noGrp="1"/>
          </p:cNvSpPr>
          <p:nvPr>
            <p:ph type="title"/>
          </p:nvPr>
        </p:nvSpPr>
        <p:spPr/>
        <p:txBody>
          <a:bodyPr/>
          <a:lstStyle/>
          <a:p>
            <a:r>
              <a:rPr lang="en-US" dirty="0"/>
              <a:t>Task 2 opportunities</a:t>
            </a:r>
          </a:p>
        </p:txBody>
      </p:sp>
      <p:sp>
        <p:nvSpPr>
          <p:cNvPr id="3" name="Content Placeholder 2">
            <a:extLst>
              <a:ext uri="{FF2B5EF4-FFF2-40B4-BE49-F238E27FC236}">
                <a16:creationId xmlns:a16="http://schemas.microsoft.com/office/drawing/2014/main" id="{164302BC-5E93-047A-93FA-1A9937062CC3}"/>
              </a:ext>
            </a:extLst>
          </p:cNvPr>
          <p:cNvSpPr>
            <a:spLocks noGrp="1"/>
          </p:cNvSpPr>
          <p:nvPr>
            <p:ph idx="1"/>
          </p:nvPr>
        </p:nvSpPr>
        <p:spPr/>
        <p:txBody>
          <a:bodyPr/>
          <a:lstStyle/>
          <a:p>
            <a:r>
              <a:rPr lang="en-US" dirty="0"/>
              <a:t>Can construct separate RDMs for spatial maps vs. temporal maps</a:t>
            </a:r>
          </a:p>
          <a:p>
            <a:pPr lvl="1"/>
            <a:r>
              <a:rPr lang="en-US" dirty="0"/>
              <a:t>For temporal associations, we could study directionality hypotheses, where X ➜ A differs from A ➜ X</a:t>
            </a:r>
          </a:p>
          <a:p>
            <a:r>
              <a:rPr lang="en-US" dirty="0"/>
              <a:t>Can perform the analyses using both spatial and temporal associations	</a:t>
            </a:r>
          </a:p>
          <a:p>
            <a:pPr lvl="1"/>
            <a:r>
              <a:rPr lang="en-US" dirty="0"/>
              <a:t>Greater statistical power</a:t>
            </a:r>
          </a:p>
        </p:txBody>
      </p:sp>
    </p:spTree>
    <p:extLst>
      <p:ext uri="{BB962C8B-B14F-4D97-AF65-F5344CB8AC3E}">
        <p14:creationId xmlns:p14="http://schemas.microsoft.com/office/powerpoint/2010/main" val="9457274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AD49-2DF5-E53B-0E02-231746D78DD1}"/>
              </a:ext>
            </a:extLst>
          </p:cNvPr>
          <p:cNvSpPr>
            <a:spLocks noGrp="1"/>
          </p:cNvSpPr>
          <p:nvPr>
            <p:ph type="title"/>
          </p:nvPr>
        </p:nvSpPr>
        <p:spPr/>
        <p:txBody>
          <a:bodyPr/>
          <a:lstStyle/>
          <a:p>
            <a:r>
              <a:rPr lang="en-US" dirty="0">
                <a:solidFill>
                  <a:srgbClr val="002060"/>
                </a:solidFill>
              </a:rPr>
              <a:t>Possible analyses related to generalization</a:t>
            </a:r>
          </a:p>
        </p:txBody>
      </p:sp>
      <p:sp>
        <p:nvSpPr>
          <p:cNvPr id="3" name="Content Placeholder 2">
            <a:extLst>
              <a:ext uri="{FF2B5EF4-FFF2-40B4-BE49-F238E27FC236}">
                <a16:creationId xmlns:a16="http://schemas.microsoft.com/office/drawing/2014/main" id="{B4A3B4EE-917E-FF58-D714-27BFA4E6614C}"/>
              </a:ext>
            </a:extLst>
          </p:cNvPr>
          <p:cNvSpPr>
            <a:spLocks noGrp="1"/>
          </p:cNvSpPr>
          <p:nvPr>
            <p:ph idx="1"/>
          </p:nvPr>
        </p:nvSpPr>
        <p:spPr/>
        <p:txBody>
          <a:bodyPr/>
          <a:lstStyle/>
          <a:p>
            <a:r>
              <a:rPr lang="en-US" dirty="0"/>
              <a:t>Different conceptual direction</a:t>
            </a:r>
          </a:p>
          <a:p>
            <a:r>
              <a:rPr lang="en-US" dirty="0"/>
              <a:t>In the design, target stimuli could be chosen such that they are organized into a few categories</a:t>
            </a:r>
          </a:p>
          <a:p>
            <a:pPr lvl="1"/>
            <a:r>
              <a:rPr lang="en-US" dirty="0"/>
              <a:t>E.g., multiple birds</a:t>
            </a:r>
          </a:p>
          <a:p>
            <a:r>
              <a:rPr lang="en-US" dirty="0"/>
              <a:t>Investigate how item representations generalize</a:t>
            </a:r>
          </a:p>
        </p:txBody>
      </p:sp>
    </p:spTree>
    <p:extLst>
      <p:ext uri="{BB962C8B-B14F-4D97-AF65-F5344CB8AC3E}">
        <p14:creationId xmlns:p14="http://schemas.microsoft.com/office/powerpoint/2010/main" val="6073102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101893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8295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3732-E844-B90D-9B27-DEB448D83325}"/>
              </a:ext>
            </a:extLst>
          </p:cNvPr>
          <p:cNvSpPr>
            <a:spLocks noGrp="1"/>
          </p:cNvSpPr>
          <p:nvPr>
            <p:ph type="title"/>
          </p:nvPr>
        </p:nvSpPr>
        <p:spPr/>
        <p:txBody>
          <a:bodyPr/>
          <a:lstStyle/>
          <a:p>
            <a:r>
              <a:rPr lang="en-US" dirty="0"/>
              <a:t>Other possible aging effect</a:t>
            </a:r>
          </a:p>
        </p:txBody>
      </p:sp>
      <p:sp>
        <p:nvSpPr>
          <p:cNvPr id="3" name="Content Placeholder 2">
            <a:extLst>
              <a:ext uri="{FF2B5EF4-FFF2-40B4-BE49-F238E27FC236}">
                <a16:creationId xmlns:a16="http://schemas.microsoft.com/office/drawing/2014/main" id="{65CBB978-14C2-4BFA-DCA5-0D8CCB3CF615}"/>
              </a:ext>
            </a:extLst>
          </p:cNvPr>
          <p:cNvSpPr>
            <a:spLocks noGrp="1"/>
          </p:cNvSpPr>
          <p:nvPr>
            <p:ph idx="1"/>
          </p:nvPr>
        </p:nvSpPr>
        <p:spPr/>
        <p:txBody>
          <a:bodyPr/>
          <a:lstStyle/>
          <a:p>
            <a:pPr marL="514350" indent="-514350">
              <a:buFont typeface="+mj-lt"/>
              <a:buAutoNum type="arabicPeriod"/>
            </a:pPr>
            <a:r>
              <a:rPr lang="en-US" dirty="0"/>
              <a:t>Instead of more prototyping, maybe they show the opposite: more generalization due to only encoding </a:t>
            </a:r>
            <a:r>
              <a:rPr lang="en-US" dirty="0" err="1"/>
              <a:t>gists</a:t>
            </a:r>
            <a:r>
              <a:rPr lang="en-US" dirty="0"/>
              <a:t> and using crystalized knowledge</a:t>
            </a:r>
          </a:p>
          <a:p>
            <a:pPr lvl="1"/>
            <a:r>
              <a:rPr lang="en-US" dirty="0"/>
              <a:t>Could get at this gist idea with an R/K test</a:t>
            </a:r>
          </a:p>
          <a:p>
            <a:endParaRPr lang="en-US" dirty="0"/>
          </a:p>
        </p:txBody>
      </p:sp>
    </p:spTree>
    <p:extLst>
      <p:ext uri="{BB962C8B-B14F-4D97-AF65-F5344CB8AC3E}">
        <p14:creationId xmlns:p14="http://schemas.microsoft.com/office/powerpoint/2010/main" val="41739149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 with combination features (not done)</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538288"/>
            <a:ext cx="10515600" cy="4951412"/>
          </a:xfrm>
        </p:spPr>
        <p:txBody>
          <a:bodyPr>
            <a:normAutofit/>
          </a:bodyPr>
          <a:lstStyle/>
          <a:p>
            <a:r>
              <a:rPr lang="en-US" dirty="0"/>
              <a:t>Identifying generalization:</a:t>
            </a:r>
          </a:p>
          <a:p>
            <a:pPr lvl="1"/>
            <a:r>
              <a:rPr lang="en-US" dirty="0"/>
              <a:t>Integrating stimulus vectors</a:t>
            </a:r>
          </a:p>
          <a:p>
            <a:pPr lvl="1"/>
            <a:r>
              <a:rPr lang="en-US" dirty="0"/>
              <a:t>One way to combine: Elementwise multiplication (</a:t>
            </a:r>
            <a:r>
              <a:rPr lang="en-US" b="1"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v</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g</a:t>
            </a:r>
            <a:r>
              <a:rPr lang="en-US" dirty="0"/>
              <a:t>) will yield a product vector that represents features common across the two</a:t>
            </a:r>
          </a:p>
          <a:p>
            <a:pPr lvl="2"/>
            <a:r>
              <a:rPr lang="en-US" dirty="0"/>
              <a:t>Other ways may work better for 3+ stimuli</a:t>
            </a:r>
          </a:p>
          <a:p>
            <a:pPr lvl="2"/>
            <a:r>
              <a:rPr lang="en-US" dirty="0"/>
              <a:t>Definitions linked to computational memory theories?</a:t>
            </a:r>
          </a:p>
          <a:p>
            <a:pPr lvl="1"/>
            <a:r>
              <a:rPr lang="en-US" dirty="0"/>
              <a:t>Examine whether participants retrieve </a:t>
            </a:r>
            <a:r>
              <a:rPr lang="en-US" b="1" dirty="0">
                <a:latin typeface="Times New Roman" panose="02020603050405020304" pitchFamily="18" charset="0"/>
                <a:cs typeface="Times New Roman" panose="02020603050405020304" pitchFamily="18" charset="0"/>
              </a:rPr>
              <a:t>g</a:t>
            </a:r>
            <a:endParaRPr lang="en-US" dirty="0"/>
          </a:p>
          <a:p>
            <a:pPr lvl="2"/>
            <a:r>
              <a:rPr lang="en-US" dirty="0"/>
              <a:t>Perform RSA with the “generalization” vector </a:t>
            </a:r>
            <a:r>
              <a:rPr lang="en-US" b="1" dirty="0">
                <a:latin typeface="Times New Roman" panose="02020603050405020304" pitchFamily="18" charset="0"/>
                <a:cs typeface="Times New Roman" panose="02020603050405020304" pitchFamily="18" charset="0"/>
              </a:rPr>
              <a:t>g</a:t>
            </a:r>
          </a:p>
          <a:p>
            <a:r>
              <a:rPr lang="en-US" dirty="0"/>
              <a:t>Identifying prototyping</a:t>
            </a:r>
          </a:p>
          <a:p>
            <a:pPr lvl="1"/>
            <a:r>
              <a:rPr lang="en-US" dirty="0"/>
              <a:t>Again, integrating stimulus vectors, but now to create a “prototype” vector (</a:t>
            </a:r>
            <a:r>
              <a:rPr lang="en-US" b="1" dirty="0">
                <a:latin typeface="Times New Roman" panose="02020603050405020304" pitchFamily="18" charset="0"/>
                <a:cs typeface="Times New Roman" panose="02020603050405020304" pitchFamily="18" charset="0"/>
              </a:rPr>
              <a:t>p</a:t>
            </a:r>
            <a:r>
              <a:rPr lang="en-US" dirty="0"/>
              <a:t>)</a:t>
            </a:r>
          </a:p>
          <a:p>
            <a:pPr lvl="1"/>
            <a:r>
              <a:rPr lang="en-US" dirty="0"/>
              <a:t>If </a:t>
            </a:r>
            <a:r>
              <a:rPr lang="en-US" b="1" dirty="0">
                <a:latin typeface="Times New Roman" panose="02020603050405020304" pitchFamily="18" charset="0"/>
                <a:cs typeface="Times New Roman" panose="02020603050405020304" pitchFamily="18" charset="0"/>
              </a:rPr>
              <a:t>u</a:t>
            </a:r>
            <a:r>
              <a:rPr lang="en-US" dirty="0"/>
              <a:t> is the prototype…?</a:t>
            </a:r>
          </a:p>
        </p:txBody>
      </p:sp>
    </p:spTree>
    <p:extLst>
      <p:ext uri="{BB962C8B-B14F-4D97-AF65-F5344CB8AC3E}">
        <p14:creationId xmlns:p14="http://schemas.microsoft.com/office/powerpoint/2010/main" val="12180826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118C-8A7E-19DC-938B-4FB4E2965593}"/>
              </a:ext>
            </a:extLst>
          </p:cNvPr>
          <p:cNvSpPr>
            <a:spLocks noGrp="1"/>
          </p:cNvSpPr>
          <p:nvPr>
            <p:ph type="title"/>
          </p:nvPr>
        </p:nvSpPr>
        <p:spPr>
          <a:xfrm>
            <a:off x="838200" y="124163"/>
            <a:ext cx="10515600" cy="993437"/>
          </a:xfrm>
        </p:spPr>
        <p:txBody>
          <a:bodyPr/>
          <a:lstStyle/>
          <a:p>
            <a:r>
              <a:rPr lang="en-US" dirty="0"/>
              <a:t>Extension into decision-making</a:t>
            </a:r>
          </a:p>
        </p:txBody>
      </p:sp>
      <p:sp>
        <p:nvSpPr>
          <p:cNvPr id="3" name="Content Placeholder 2">
            <a:extLst>
              <a:ext uri="{FF2B5EF4-FFF2-40B4-BE49-F238E27FC236}">
                <a16:creationId xmlns:a16="http://schemas.microsoft.com/office/drawing/2014/main" id="{D09982D2-157A-367E-6C01-69D7E9013175}"/>
              </a:ext>
            </a:extLst>
          </p:cNvPr>
          <p:cNvSpPr>
            <a:spLocks noGrp="1"/>
          </p:cNvSpPr>
          <p:nvPr>
            <p:ph idx="1"/>
          </p:nvPr>
        </p:nvSpPr>
        <p:spPr>
          <a:xfrm>
            <a:off x="838200" y="1117600"/>
            <a:ext cx="10515600" cy="5740400"/>
          </a:xfrm>
        </p:spPr>
        <p:txBody>
          <a:bodyPr>
            <a:normAutofit fontScale="92500" lnSpcReduction="10000"/>
          </a:bodyPr>
          <a:lstStyle/>
          <a:p>
            <a:r>
              <a:rPr lang="en-US" dirty="0"/>
              <a:t>Idea: Replace every other “location” with a “decision” </a:t>
            </a:r>
          </a:p>
          <a:p>
            <a:r>
              <a:rPr lang="en-US" dirty="0"/>
              <a:t>Participants are given a choice that influences the next image that will be shown (what location they will travel to)</a:t>
            </a:r>
          </a:p>
          <a:p>
            <a:pPr lvl="1"/>
            <a:r>
              <a:rPr lang="en-US" dirty="0"/>
              <a:t>E.g., at location A, participants can choose between options X or Y, which will take them to locations B or C</a:t>
            </a:r>
          </a:p>
          <a:p>
            <a:pPr lvl="1"/>
            <a:r>
              <a:rPr lang="en-US" dirty="0"/>
              <a:t>The options themselves are stimuli (e.g., “X and Y are magical objects that will teleport you to a new location”)</a:t>
            </a:r>
          </a:p>
          <a:p>
            <a:pPr lvl="1"/>
            <a:r>
              <a:rPr lang="en-US" dirty="0"/>
              <a:t>“Selecting X/Y” is the episodic memory formed</a:t>
            </a:r>
          </a:p>
          <a:p>
            <a:r>
              <a:rPr lang="en-US" dirty="0"/>
              <a:t>Retrieval task:</a:t>
            </a:r>
          </a:p>
          <a:p>
            <a:pPr lvl="1"/>
            <a:r>
              <a:rPr lang="en-US" dirty="0"/>
              <a:t>Could include a task where participants are asked “you are in A and you want to get to B, should you select X or Y?”</a:t>
            </a:r>
          </a:p>
          <a:p>
            <a:r>
              <a:rPr lang="en-US" dirty="0"/>
              <a:t>Downsides:</a:t>
            </a:r>
          </a:p>
          <a:p>
            <a:pPr lvl="1"/>
            <a:r>
              <a:rPr lang="en-US" dirty="0"/>
              <a:t>Issue 1: different participants will see different stimuli, maybe some will not show diversity in their decision-making</a:t>
            </a:r>
          </a:p>
          <a:p>
            <a:pPr lvl="1"/>
            <a:r>
              <a:rPr lang="en-US" dirty="0"/>
              <a:t>Issue 2: less statistical power for investigating state transitions (half as many state transitions)</a:t>
            </a:r>
          </a:p>
        </p:txBody>
      </p:sp>
    </p:spTree>
    <p:extLst>
      <p:ext uri="{BB962C8B-B14F-4D97-AF65-F5344CB8AC3E}">
        <p14:creationId xmlns:p14="http://schemas.microsoft.com/office/powerpoint/2010/main" val="428522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5621-EE6F-96CC-ADB9-3772387388E0}"/>
              </a:ext>
            </a:extLst>
          </p:cNvPr>
          <p:cNvSpPr>
            <a:spLocks noGrp="1"/>
          </p:cNvSpPr>
          <p:nvPr>
            <p:ph type="title"/>
          </p:nvPr>
        </p:nvSpPr>
        <p:spPr/>
        <p:txBody>
          <a:bodyPr/>
          <a:lstStyle/>
          <a:p>
            <a:r>
              <a:rPr lang="en-US" dirty="0"/>
              <a:t>Expanding to incorporate others’ interests</a:t>
            </a:r>
          </a:p>
        </p:txBody>
      </p:sp>
      <p:sp>
        <p:nvSpPr>
          <p:cNvPr id="3" name="Content Placeholder 2">
            <a:extLst>
              <a:ext uri="{FF2B5EF4-FFF2-40B4-BE49-F238E27FC236}">
                <a16:creationId xmlns:a16="http://schemas.microsoft.com/office/drawing/2014/main" id="{FDC78F76-C90E-78BD-7BE0-59FC4517A7C1}"/>
              </a:ext>
            </a:extLst>
          </p:cNvPr>
          <p:cNvSpPr>
            <a:spLocks noGrp="1"/>
          </p:cNvSpPr>
          <p:nvPr>
            <p:ph idx="1"/>
          </p:nvPr>
        </p:nvSpPr>
        <p:spPr/>
        <p:txBody>
          <a:bodyPr/>
          <a:lstStyle/>
          <a:p>
            <a:r>
              <a:rPr lang="en-US" dirty="0"/>
              <a:t>This is still on associative memory, so hopefully, Cortney would like it </a:t>
            </a:r>
          </a:p>
          <a:p>
            <a:r>
              <a:rPr lang="en-US" dirty="0"/>
              <a:t>I think Ricky’s interest in task sets and the instructions about focusing on perception/semantic information could be incorporated?</a:t>
            </a:r>
          </a:p>
        </p:txBody>
      </p:sp>
    </p:spTree>
    <p:extLst>
      <p:ext uri="{BB962C8B-B14F-4D97-AF65-F5344CB8AC3E}">
        <p14:creationId xmlns:p14="http://schemas.microsoft.com/office/powerpoint/2010/main" val="28490007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7A1A-4DE7-9D35-4F89-F245812E207A}"/>
              </a:ext>
            </a:extLst>
          </p:cNvPr>
          <p:cNvSpPr>
            <a:spLocks noGrp="1"/>
          </p:cNvSpPr>
          <p:nvPr>
            <p:ph type="title"/>
          </p:nvPr>
        </p:nvSpPr>
        <p:spPr/>
        <p:txBody>
          <a:bodyPr/>
          <a:lstStyle/>
          <a:p>
            <a:r>
              <a:rPr lang="en-US" dirty="0"/>
              <a:t>After removing outliers</a:t>
            </a:r>
          </a:p>
        </p:txBody>
      </p:sp>
      <p:sp>
        <p:nvSpPr>
          <p:cNvPr id="3" name="Content Placeholder 2">
            <a:extLst>
              <a:ext uri="{FF2B5EF4-FFF2-40B4-BE49-F238E27FC236}">
                <a16:creationId xmlns:a16="http://schemas.microsoft.com/office/drawing/2014/main" id="{53051C30-C101-F6A2-FB8E-347F635255D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EDABEE2-7FFF-D3D7-48F6-5052189448AC}"/>
              </a:ext>
            </a:extLst>
          </p:cNvPr>
          <p:cNvPicPr>
            <a:picLocks noChangeAspect="1"/>
          </p:cNvPicPr>
          <p:nvPr/>
        </p:nvPicPr>
        <p:blipFill>
          <a:blip r:embed="rId2"/>
          <a:stretch>
            <a:fillRect/>
          </a:stretch>
        </p:blipFill>
        <p:spPr>
          <a:xfrm>
            <a:off x="4549756" y="3013304"/>
            <a:ext cx="3772426" cy="3715268"/>
          </a:xfrm>
          <a:prstGeom prst="rect">
            <a:avLst/>
          </a:prstGeom>
        </p:spPr>
      </p:pic>
    </p:spTree>
    <p:extLst>
      <p:ext uri="{BB962C8B-B14F-4D97-AF65-F5344CB8AC3E}">
        <p14:creationId xmlns:p14="http://schemas.microsoft.com/office/powerpoint/2010/main" val="149507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38054</TotalTime>
  <Words>4366</Words>
  <Application>Microsoft Office PowerPoint</Application>
  <PresentationFormat>Widescreen</PresentationFormat>
  <Paragraphs>560</Paragraphs>
  <Slides>69</Slides>
  <Notes>23</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Calibri</vt:lpstr>
      <vt:lpstr>Courier New</vt:lpstr>
      <vt:lpstr>Times New Roman</vt:lpstr>
      <vt:lpstr>Wingdings</vt:lpstr>
      <vt:lpstr>Office Theme</vt:lpstr>
      <vt:lpstr>Paul Update</vt:lpstr>
      <vt:lpstr>Lifu dissertation results</vt:lpstr>
      <vt:lpstr>3-session fMRI study (SchemRep)</vt:lpstr>
      <vt:lpstr>Lifu results 1.1</vt:lpstr>
      <vt:lpstr>Lifu Results 1.2</vt:lpstr>
      <vt:lpstr>Lifu Results 2.1</vt:lpstr>
      <vt:lpstr>Lifu Results 2.2</vt:lpstr>
      <vt:lpstr>Lifu Results 2.3</vt:lpstr>
      <vt:lpstr>Warning: Results may shift</vt:lpstr>
      <vt:lpstr>Preprocessing</vt:lpstr>
      <vt:lpstr>PowerPoint Presentation</vt:lpstr>
      <vt:lpstr>Emerging property</vt:lpstr>
      <vt:lpstr>Proposed direction</vt:lpstr>
      <vt:lpstr>Background</vt:lpstr>
      <vt:lpstr>Primary Question</vt:lpstr>
      <vt:lpstr>Present Study and Hypotheses</vt:lpstr>
      <vt:lpstr>Methods</vt:lpstr>
      <vt:lpstr>Data</vt:lpstr>
      <vt:lpstr>3-session fMRI study (SchemRep)</vt:lpstr>
      <vt:lpstr>Behavioral results</vt:lpstr>
      <vt:lpstr>Brainnetome atlas</vt:lpstr>
      <vt:lpstr>Stimulus representations</vt:lpstr>
      <vt:lpstr>Many ways to interpret the abs-difference vector</vt:lpstr>
      <vt:lpstr>Perceptual vectors</vt:lpstr>
      <vt:lpstr>Abs-dif vector</vt:lpstr>
      <vt:lpstr>Difference vector by condition</vt:lpstr>
      <vt:lpstr>RSA overview</vt:lpstr>
      <vt:lpstr>Further temporal trend testing</vt:lpstr>
      <vt:lpstr>Stimulus RSM/RDMs</vt:lpstr>
      <vt:lpstr>Results</vt:lpstr>
      <vt:lpstr>Univariate findings to pad things out?</vt:lpstr>
      <vt:lpstr>Result 1A: Schema representation</vt:lpstr>
      <vt:lpstr>Result 1C/1D: Object representation</vt:lpstr>
      <vt:lpstr>Result 2A/2B: Schema-object prediction error</vt:lpstr>
      <vt:lpstr>Result 2A/2B: Schema-object prediction error</vt:lpstr>
      <vt:lpstr>Result 2C: Connectivity: Activity x IRAF</vt:lpstr>
      <vt:lpstr>Result 2C: Difference RSA x connectivity</vt:lpstr>
      <vt:lpstr>PowerPoint Presentation</vt:lpstr>
      <vt:lpstr>Result 3A: Prediction error IRAF predicts subsequent memory</vt:lpstr>
      <vt:lpstr>Result 3B: Retrieval retrieves scene representation</vt:lpstr>
      <vt:lpstr>Other things</vt:lpstr>
      <vt:lpstr>Something cool</vt:lpstr>
      <vt:lpstr>Significance testing and permutation testing</vt:lpstr>
      <vt:lpstr>Modularity</vt:lpstr>
      <vt:lpstr>Encoding retrieval similarity</vt:lpstr>
      <vt:lpstr>Whiffs </vt:lpstr>
      <vt:lpstr>Other analyses</vt:lpstr>
      <vt:lpstr>Study ideas</vt:lpstr>
      <vt:lpstr>Episodic memory is intertwined with relational memory</vt:lpstr>
      <vt:lpstr>Examining relational memory from multiple levels</vt:lpstr>
      <vt:lpstr>Broad aim: Focus on edges and groups not nodes</vt:lpstr>
      <vt:lpstr>Generalize the past, pinpoint the future</vt:lpstr>
      <vt:lpstr>Task idea 1</vt:lpstr>
      <vt:lpstr>Forward/backward generalize/pinpoint results</vt:lpstr>
      <vt:lpstr>fMRI analysis</vt:lpstr>
      <vt:lpstr>Building on this analytic direction</vt:lpstr>
      <vt:lpstr>Ways to extend and interpret these analyses</vt:lpstr>
      <vt:lpstr>More traditional RSA analyses</vt:lpstr>
      <vt:lpstr>Task idea 2. Encoding task</vt:lpstr>
      <vt:lpstr>Task idea 2. Retrieval task</vt:lpstr>
      <vt:lpstr>Task 2 opportunities</vt:lpstr>
      <vt:lpstr>Possible analyses related to generalization</vt:lpstr>
      <vt:lpstr>(Beyond the task)  Older adults prototype rather than generalize</vt:lpstr>
      <vt:lpstr>Analyzing generalizing and prototyping</vt:lpstr>
      <vt:lpstr>Other possible aging effect</vt:lpstr>
      <vt:lpstr>Analyzing generalizing and prototyping with combination features (not done)</vt:lpstr>
      <vt:lpstr>Extension into decision-making</vt:lpstr>
      <vt:lpstr>Expanding to incorporate others’ interests</vt:lpstr>
      <vt:lpstr>After removing outliers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111</cp:revision>
  <dcterms:created xsi:type="dcterms:W3CDTF">2023-09-14T13:36:35Z</dcterms:created>
  <dcterms:modified xsi:type="dcterms:W3CDTF">2023-10-18T20:06:23Z</dcterms:modified>
</cp:coreProperties>
</file>