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8" r:id="rId2"/>
    <p:sldId id="396" r:id="rId3"/>
    <p:sldId id="393" r:id="rId4"/>
    <p:sldId id="387" r:id="rId5"/>
    <p:sldId id="389" r:id="rId6"/>
    <p:sldId id="397" r:id="rId7"/>
    <p:sldId id="365" r:id="rId8"/>
    <p:sldId id="366" r:id="rId9"/>
    <p:sldId id="375" r:id="rId10"/>
    <p:sldId id="362" r:id="rId11"/>
    <p:sldId id="377" r:id="rId12"/>
    <p:sldId id="378" r:id="rId13"/>
    <p:sldId id="383" r:id="rId14"/>
    <p:sldId id="371" r:id="rId15"/>
    <p:sldId id="403" r:id="rId16"/>
    <p:sldId id="398" r:id="rId17"/>
    <p:sldId id="401" r:id="rId18"/>
    <p:sldId id="381" r:id="rId19"/>
    <p:sldId id="390" r:id="rId20"/>
    <p:sldId id="400" r:id="rId21"/>
    <p:sldId id="379" r:id="rId22"/>
    <p:sldId id="380" r:id="rId23"/>
    <p:sldId id="384" r:id="rId24"/>
    <p:sldId id="361" r:id="rId25"/>
    <p:sldId id="382" r:id="rId26"/>
    <p:sldId id="391" r:id="rId27"/>
    <p:sldId id="317" r:id="rId28"/>
    <p:sldId id="399" r:id="rId29"/>
    <p:sldId id="402" r:id="rId30"/>
    <p:sldId id="385" r:id="rId31"/>
    <p:sldId id="386" r:id="rId32"/>
    <p:sldId id="373" r:id="rId33"/>
    <p:sldId id="3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A901"/>
    <a:srgbClr val="08CE37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2" autoAdjust="0"/>
    <p:restoredTop sz="89713" autoAdjust="0"/>
  </p:normalViewPr>
  <p:slideViewPr>
    <p:cSldViewPr snapToGrid="0">
      <p:cViewPr>
        <p:scale>
          <a:sx n="100" d="100"/>
          <a:sy n="100" d="100"/>
        </p:scale>
        <p:origin x="2828" y="10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61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23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4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evaluate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 individuals (YA &amp; OA) process congruency?</a:t>
            </a:r>
          </a:p>
          <a:p>
            <a:pPr lvl="1"/>
            <a:r>
              <a:rPr lang="en-US" dirty="0"/>
              <a:t>Searching for brain-wide phenomena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Do OA brains reflect a continuous search for congruency?</a:t>
            </a:r>
          </a:p>
          <a:p>
            <a:pPr lvl="1"/>
            <a:r>
              <a:rPr lang="en-US" dirty="0"/>
              <a:t>i.e., by default, are OAs always in a “processing congruency” state?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are the neural correlates of congruency processing linked to other aspects of cognition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How do YA and OA process congruency?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91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900D-B6F5-C0C9-D5C8-D15FCAB7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Background: Dynamic functional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08B2-FEB0-2B8D-1812-9121D12D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700" y="1508125"/>
            <a:ext cx="5207000" cy="5114925"/>
          </a:xfrm>
        </p:spPr>
        <p:txBody>
          <a:bodyPr>
            <a:normAutofit/>
          </a:bodyPr>
          <a:lstStyle/>
          <a:p>
            <a:r>
              <a:rPr lang="en-US" sz="2400" dirty="0"/>
              <a:t>Richard </a:t>
            </a:r>
            <a:r>
              <a:rPr lang="en-US" sz="2400" dirty="0" err="1"/>
              <a:t>Betzel</a:t>
            </a:r>
            <a:r>
              <a:rPr lang="en-US" sz="2400" dirty="0"/>
              <a:t> and Olaf </a:t>
            </a:r>
            <a:r>
              <a:rPr lang="en-US" sz="2400" dirty="0" err="1"/>
              <a:t>Sporns</a:t>
            </a:r>
            <a:r>
              <a:rPr lang="en-US" sz="2400" dirty="0"/>
              <a:t> argue in a recent </a:t>
            </a:r>
            <a:r>
              <a:rPr lang="en-US" sz="2400" dirty="0" err="1"/>
              <a:t>TiCS</a:t>
            </a:r>
            <a:r>
              <a:rPr lang="en-US" sz="2400" dirty="0"/>
              <a:t> paper:</a:t>
            </a:r>
          </a:p>
          <a:p>
            <a:pPr lvl="1"/>
            <a:r>
              <a:rPr lang="en-US" sz="2000" dirty="0"/>
              <a:t>Functional connectivity can be studied as a dynamic process</a:t>
            </a:r>
          </a:p>
          <a:p>
            <a:r>
              <a:rPr lang="en-US" sz="2400" dirty="0"/>
              <a:t>That is what I did here</a:t>
            </a:r>
          </a:p>
          <a:p>
            <a:pPr lvl="1"/>
            <a:r>
              <a:rPr lang="en-US" sz="2000" dirty="0"/>
              <a:t>I (and Shenyang) have been measuring timepoint-specific connectivity, as just the product between activation in two areas</a:t>
            </a:r>
          </a:p>
          <a:p>
            <a:pPr lvl="1"/>
            <a:r>
              <a:rPr lang="en-US" sz="2000" dirty="0"/>
              <a:t>They advocate for this and call it “time-varying FC”</a:t>
            </a:r>
          </a:p>
          <a:p>
            <a:r>
              <a:rPr lang="en-US" sz="2400" dirty="0"/>
              <a:t>They also argue that the between modules/networks are meaningful</a:t>
            </a:r>
          </a:p>
          <a:p>
            <a:pPr lvl="1"/>
            <a:r>
              <a:rPr lang="en-US" sz="2000" dirty="0"/>
              <a:t>Reflect brain states and transitions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AAD4C-84E5-7AE4-5376-176E2A6F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9342" y="2125998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29CBD0-4740-B1F4-1087-3FFFDA793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0" y="4130322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8B94A0-412F-7FEE-3BF7-9098C9EAC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295" y="4130322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2B135-EED6-2407-450F-D863BC548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732" y="2125998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41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5AA-ABDF-530A-4FA5-2BF7C5A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615" y="117614"/>
            <a:ext cx="3530600" cy="1325563"/>
          </a:xfrm>
        </p:spPr>
        <p:txBody>
          <a:bodyPr/>
          <a:lstStyle/>
          <a:p>
            <a:r>
              <a:rPr lang="en-US" sz="4400" dirty="0"/>
              <a:t>Ven x Dor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F231-2B58-3B4D-A3CC-317A916BC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95" y="1443177"/>
            <a:ext cx="4238780" cy="2384425"/>
          </a:xfrm>
        </p:spPr>
        <p:txBody>
          <a:bodyPr>
            <a:normAutofit/>
          </a:bodyPr>
          <a:lstStyle/>
          <a:p>
            <a:r>
              <a:rPr lang="en-US" sz="2400" dirty="0"/>
              <a:t>Connectivity is not static</a:t>
            </a:r>
          </a:p>
          <a:p>
            <a:r>
              <a:rPr lang="en-US" sz="2400" dirty="0"/>
              <a:t>The modules are in flux</a:t>
            </a:r>
          </a:p>
          <a:p>
            <a:pPr lvl="1"/>
            <a:r>
              <a:rPr lang="en-US" sz="2000" dirty="0"/>
              <a:t>Notably, this (clear) fluctuation gives credence to organizing them as Ven &amp; 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4FDDD-CE7D-275E-F62E-8A1A9FFD8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826310"/>
            <a:ext cx="5355077" cy="53550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E3BD728-CAB7-1572-02FC-A374C2BED872}"/>
              </a:ext>
            </a:extLst>
          </p:cNvPr>
          <p:cNvSpPr/>
          <p:nvPr/>
        </p:nvSpPr>
        <p:spPr>
          <a:xfrm>
            <a:off x="6713031" y="3299514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F3A59-45F7-B15E-A8AA-3EFA07EE2183}"/>
              </a:ext>
            </a:extLst>
          </p:cNvPr>
          <p:cNvSpPr txBox="1"/>
          <p:nvPr/>
        </p:nvSpPr>
        <p:spPr>
          <a:xfrm>
            <a:off x="6800651" y="4292610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3357F-113F-1C99-53A4-3DE9A873A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68" y="3664496"/>
            <a:ext cx="1364080" cy="1188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3CD07-B779-463B-9FE7-3EA30BFE1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168" y="5122720"/>
            <a:ext cx="1364080" cy="1188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5C315D-8068-DF1A-D6CE-2F612F21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195" y="2206272"/>
            <a:ext cx="1363190" cy="11887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824B0-7B69-E029-D7FA-95D878581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7044" y="748048"/>
            <a:ext cx="1364856" cy="11887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0CF5-1112-41EF-DB9A-350C84B676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21" y="3566442"/>
            <a:ext cx="3895130" cy="1435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EBA2DF-7030-A3C7-C1BE-16BD95AD00BA}"/>
              </a:ext>
            </a:extLst>
          </p:cNvPr>
          <p:cNvSpPr txBox="1"/>
          <p:nvPr/>
        </p:nvSpPr>
        <p:spPr>
          <a:xfrm>
            <a:off x="419791" y="5110391"/>
            <a:ext cx="41768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Perhaps instead of calling Ven and Dor as modules, it’s more appropriate to reference a “Ven-Dor state”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Processing congruency pushes participants toward the Ven-Dor state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5A313B-7908-2AF3-DFDE-9F6530A085CE}"/>
              </a:ext>
            </a:extLst>
          </p:cNvPr>
          <p:cNvSpPr txBox="1"/>
          <p:nvPr/>
        </p:nvSpPr>
        <p:spPr>
          <a:xfrm>
            <a:off x="6417131" y="6257955"/>
            <a:ext cx="535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This figure just shows correlations from pooling every participant’s data into a big dataset but everything is consistent when I use multilevel regressions</a:t>
            </a:r>
          </a:p>
        </p:txBody>
      </p:sp>
    </p:spTree>
    <p:extLst>
      <p:ext uri="{BB962C8B-B14F-4D97-AF65-F5344CB8AC3E}">
        <p14:creationId xmlns:p14="http://schemas.microsoft.com/office/powerpoint/2010/main" val="792832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5533"/>
            <a:ext cx="10515600" cy="1086785"/>
          </a:xfrm>
        </p:spPr>
        <p:txBody>
          <a:bodyPr/>
          <a:lstStyle/>
          <a:p>
            <a:r>
              <a:rPr lang="en-US" dirty="0"/>
              <a:t>Results 1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586254"/>
            <a:ext cx="10849157" cy="1506285"/>
          </a:xfrm>
        </p:spPr>
        <p:txBody>
          <a:bodyPr>
            <a:normAutofit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r>
              <a:rPr lang="en-US" dirty="0"/>
              <a:t>Processing congruency pushes individuals toward Ven-Dor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8003679" y="3429000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3724488" y="3429000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004930" y="3848641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3744496" y="448472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5029624" y="475830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3766510" y="4552405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3613576" y="439179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4972967" y="480321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3575327" y="442751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4646987" y="560234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3350005" y="5267993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3197071" y="510738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4590000" y="562930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3139770" y="513833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234188" y="3851256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7589656" y="4589727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9069658" y="5013135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7950272" y="4487340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9235400" y="4760920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7819352" y="439441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9178743" y="480582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7781103" y="4430127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8852763" y="5604963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7402847" y="511000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8795776" y="5631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7345546" y="5140952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5875590" y="4961443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5641856" y="3906693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74050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temporal properties of Ven-Dor and congruency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(Dynamic Ven-Dor)</a:t>
            </a:r>
          </a:p>
        </p:txBody>
      </p:sp>
    </p:spTree>
    <p:extLst>
      <p:ext uri="{BB962C8B-B14F-4D97-AF65-F5344CB8AC3E}">
        <p14:creationId xmlns:p14="http://schemas.microsoft.com/office/powerpoint/2010/main" val="1582838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effects of aging on processing congruency and 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62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22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General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People, YA and OA, enter this Ven-Dor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204614" y="148348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60082" y="88681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2040084" y="131022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920698" y="78443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205826" y="105801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942712" y="85211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89778" y="69150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947627" y="1476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49169" y="110291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51529" y="72721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823189" y="1902055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526207" y="1567700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73273" y="1407093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66202" y="192900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315972" y="143804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341764" y="65194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85157" y="1145389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59350" cy="4351338"/>
          </a:xfrm>
        </p:spPr>
        <p:txBody>
          <a:bodyPr/>
          <a:lstStyle/>
          <a:p>
            <a:r>
              <a:rPr lang="en-US" dirty="0"/>
              <a:t>I just didn’t have time to prepare this</a:t>
            </a:r>
          </a:p>
          <a:p>
            <a:r>
              <a:rPr lang="en-US" dirty="0"/>
              <a:t>Rather than just showing bars for  Between vs. Within, I wanted to show bars for all four sides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D96938-8C5B-68C0-6FA5-78A9AF92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215" y="2343839"/>
            <a:ext cx="2098585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AA6FF1-392F-05EA-3F1E-34285BB2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623" y="4348163"/>
            <a:ext cx="2098585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D7886D-A35F-C7BD-4614-8A2DFBE7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168" y="4348163"/>
            <a:ext cx="2097215" cy="182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618908-CBFB-C110-2D76-87B5DD6A6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05" y="2343839"/>
            <a:ext cx="209977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04" y="52412"/>
            <a:ext cx="3895130" cy="1325563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Aging modulates fluctuation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pPr lvl="1"/>
            <a:r>
              <a:rPr lang="en-US" sz="1600" dirty="0"/>
              <a:t>Measuring the correlation between average connectivity on a trial-by-trial-basis</a:t>
            </a:r>
          </a:p>
          <a:p>
            <a:pPr lvl="1"/>
            <a:r>
              <a:rPr lang="en-US" sz="1600" dirty="0"/>
              <a:t>The figure here just shows correlations but everything is consistent with multilevel regressions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 between Ven-Dor and Ant-Pos</a:t>
            </a:r>
          </a:p>
          <a:p>
            <a:pPr lvl="1"/>
            <a:r>
              <a:rPr lang="en-US" sz="1600" dirty="0"/>
              <a:t>Fluctuation is evidenced by the negative correlations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175951"/>
            <a:ext cx="10849157" cy="259896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OAs show a greater tendency to be in the Ven-Dor state</a:t>
            </a:r>
          </a:p>
          <a:p>
            <a:pPr lvl="1"/>
            <a:r>
              <a:rPr lang="en-US" dirty="0"/>
              <a:t>This occurs particularly when processing congruency (congruency x aging)</a:t>
            </a:r>
          </a:p>
          <a:p>
            <a:pPr lvl="1"/>
            <a:r>
              <a:rPr lang="en-US" dirty="0"/>
              <a:t>However, there is also a main effect: OAs always lean toward this state of “congruency”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76314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76314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418278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81887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509245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88655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72594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51373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76166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93649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60214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44153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96345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47248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418540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92387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34728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82148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509506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72856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513997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76427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93911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44414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96606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47510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29559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424084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497564" y="3708741"/>
            <a:ext cx="4253220" cy="30649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Aging also influences fluctuation</a:t>
            </a:r>
          </a:p>
          <a:p>
            <a:pPr lvl="1"/>
            <a:r>
              <a:rPr lang="en-US" sz="2200" dirty="0"/>
              <a:t>In OA, Ven &amp; Dor move in sync more</a:t>
            </a:r>
          </a:p>
          <a:p>
            <a:pPr lvl="1"/>
            <a:r>
              <a:rPr lang="en-US" sz="2200" dirty="0"/>
              <a:t>In OA, 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  <a:p>
            <a:r>
              <a:rPr lang="en-US" sz="2600" dirty="0"/>
              <a:t>Aside from a specific interpretation, this result together with the earlier ones provides strong general credence that aging is indeed related to Ven-Dor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115442" y="6461404"/>
            <a:ext cx="696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Would it help to look at resting state data? See if we find that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73125"/>
          </a:xfrm>
        </p:spPr>
        <p:txBody>
          <a:bodyPr/>
          <a:lstStyle/>
          <a:p>
            <a:r>
              <a:rPr lang="en-US" dirty="0"/>
              <a:t>Scene representation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99" y="3328194"/>
            <a:ext cx="2743200" cy="3429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479" y="3328194"/>
            <a:ext cx="2743200" cy="34290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5C8992-A5F8-D4BC-3ABF-3C9B44ACB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321" y="955675"/>
            <a:ext cx="10253979" cy="2352675"/>
          </a:xfrm>
        </p:spPr>
        <p:txBody>
          <a:bodyPr>
            <a:normAutofit/>
          </a:bodyPr>
          <a:lstStyle/>
          <a:p>
            <a:r>
              <a:rPr lang="en-US" sz="2400" dirty="0"/>
              <a:t>Participants represent the scenes</a:t>
            </a:r>
          </a:p>
          <a:p>
            <a:pPr lvl="1"/>
            <a:r>
              <a:rPr lang="en-US" sz="2000" dirty="0"/>
              <a:t>Representation stronger in OA</a:t>
            </a:r>
          </a:p>
          <a:p>
            <a:pPr lvl="1"/>
            <a:r>
              <a:rPr lang="en-US" sz="2000" dirty="0"/>
              <a:t>We can measure trial-by-trial representational strength with IRAF</a:t>
            </a:r>
          </a:p>
          <a:p>
            <a:r>
              <a:rPr lang="en-US" sz="2400" dirty="0"/>
              <a:t>Is scene representation in the most potent areas (e.g., LOC) linked to Ven or Dor?</a:t>
            </a:r>
          </a:p>
          <a:p>
            <a:pPr marL="457200" lvl="1" indent="0" algn="ctr">
              <a:buNone/>
            </a:pPr>
            <a:r>
              <a:rPr lang="en-US" sz="2000" i="1" dirty="0"/>
              <a:t>IRAF</a:t>
            </a:r>
            <a:r>
              <a:rPr lang="en-US" sz="2000" i="1" baseline="-25000" dirty="0"/>
              <a:t>LOC</a:t>
            </a:r>
            <a:r>
              <a:rPr lang="en-US" sz="2000" i="1" dirty="0"/>
              <a:t> ~ 1 + Ven + Dor + (1 + Ven + Dor | Subject)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0C69E17-E3A5-716E-3608-059D544392F8}"/>
              </a:ext>
            </a:extLst>
          </p:cNvPr>
          <p:cNvSpPr txBox="1">
            <a:spLocks/>
          </p:cNvSpPr>
          <p:nvPr/>
        </p:nvSpPr>
        <p:spPr>
          <a:xfrm>
            <a:off x="800100" y="3410744"/>
            <a:ext cx="4902199" cy="3612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Yes, stronger scene representation is linked to a stronger connectivity within the Ven module (p &lt; .01)</a:t>
            </a:r>
          </a:p>
          <a:p>
            <a:pPr lvl="1"/>
            <a:r>
              <a:rPr lang="en-US" sz="2000" dirty="0"/>
              <a:t>Remains significant when controlling for age or congruency</a:t>
            </a:r>
          </a:p>
          <a:p>
            <a:pPr lvl="1"/>
            <a:r>
              <a:rPr lang="en-US" sz="2000" dirty="0"/>
              <a:t>No effect on Dor</a:t>
            </a:r>
          </a:p>
          <a:p>
            <a:r>
              <a:rPr lang="en-US" sz="1800" i="1" dirty="0"/>
              <a:t>Note: IRAF is measured during scene presentation whereas Ven &amp; Dor are measured </a:t>
            </a:r>
            <a:r>
              <a:rPr lang="en-US" sz="1800" i="1" dirty="0" err="1"/>
              <a:t>durng</a:t>
            </a:r>
            <a:r>
              <a:rPr lang="en-US" sz="1800" i="1" dirty="0"/>
              <a:t> object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3878-1AEB-E6CA-5DFE-E91E7D3F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F67AA-1B6C-8850-1FD4-4CE800C4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Another multilevel regression:</a:t>
            </a:r>
          </a:p>
          <a:p>
            <a:pPr marL="0" indent="0" algn="ctr">
              <a:buNone/>
            </a:pPr>
            <a:br>
              <a:rPr lang="en-US" i="1" dirty="0"/>
            </a:br>
            <a:r>
              <a:rPr lang="en-US" i="1" dirty="0"/>
              <a:t>conceptual hit ~ </a:t>
            </a:r>
            <a:r>
              <a:rPr lang="en-US" sz="2800" i="1" dirty="0"/>
              <a:t>1 + Ven + Dor + (1 + Ven + Dor | Subject)</a:t>
            </a:r>
          </a:p>
          <a:p>
            <a:endParaRPr lang="en-US" dirty="0"/>
          </a:p>
          <a:p>
            <a:r>
              <a:rPr lang="en-US" dirty="0"/>
              <a:t>Greater connectivity within the Dor module during encoding predicts subsequent memory accuracy (p = .04)</a:t>
            </a:r>
          </a:p>
          <a:p>
            <a:pPr lvl="1"/>
            <a:r>
              <a:rPr lang="en-US" dirty="0"/>
              <a:t>No effect of Ven</a:t>
            </a:r>
          </a:p>
          <a:p>
            <a:pPr lvl="1"/>
            <a:r>
              <a:rPr lang="en-US" dirty="0"/>
              <a:t>Given that this result is rather frail, I think it should be treated with some caution and regarded as exploratory</a:t>
            </a:r>
          </a:p>
          <a:p>
            <a:pPr lvl="1"/>
            <a:r>
              <a:rPr lang="en-US" dirty="0"/>
              <a:t>Hard to find anything more robust given the limited conceptual hit trial numbers</a:t>
            </a:r>
          </a:p>
          <a:p>
            <a:pPr lvl="1"/>
            <a:r>
              <a:rPr lang="en-US" dirty="0"/>
              <a:t>Results stay the same if looking at hit-hit accuracy</a:t>
            </a:r>
          </a:p>
        </p:txBody>
      </p:sp>
    </p:spTree>
    <p:extLst>
      <p:ext uri="{BB962C8B-B14F-4D97-AF65-F5344CB8AC3E}">
        <p14:creationId xmlns:p14="http://schemas.microsoft.com/office/powerpoint/2010/main" val="116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9CF4-2EA8-84ED-CD9B-E365A9DF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3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5C3E1-A5D4-ED44-7C3A-9842EF72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60050" cy="4351338"/>
          </a:xfrm>
        </p:spPr>
        <p:txBody>
          <a:bodyPr/>
          <a:lstStyle/>
          <a:p>
            <a:r>
              <a:rPr lang="en-US" dirty="0"/>
              <a:t>Why was Ven found to be linked to scene processing?</a:t>
            </a:r>
          </a:p>
          <a:p>
            <a:r>
              <a:rPr lang="en-US" dirty="0"/>
              <a:t>Why was Dor found to be linked to subsequent conceptual memory accuracy?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8C3EF-7E10-E9B7-3AB6-979AF9793604}"/>
              </a:ext>
            </a:extLst>
          </p:cNvPr>
          <p:cNvSpPr txBox="1"/>
          <p:nvPr/>
        </p:nvSpPr>
        <p:spPr>
          <a:xfrm>
            <a:off x="7820238" y="3558634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381F41-B3A7-FD5F-4C57-FE17A09DC3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100680" y="3978275"/>
            <a:ext cx="2677937" cy="23336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0F04998-0DDA-B41A-9567-2791EB43FD54}"/>
              </a:ext>
            </a:extLst>
          </p:cNvPr>
          <p:cNvSpPr/>
          <p:nvPr/>
        </p:nvSpPr>
        <p:spPr>
          <a:xfrm>
            <a:off x="7840246" y="4614359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D25A73-C968-49C9-B6D5-89C6BBDA30EC}"/>
              </a:ext>
            </a:extLst>
          </p:cNvPr>
          <p:cNvSpPr/>
          <p:nvPr/>
        </p:nvSpPr>
        <p:spPr>
          <a:xfrm>
            <a:off x="9125374" y="488793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0C49B9-988A-DE22-8316-E123C1781BC6}"/>
              </a:ext>
            </a:extLst>
          </p:cNvPr>
          <p:cNvCxnSpPr>
            <a:cxnSpLocks/>
          </p:cNvCxnSpPr>
          <p:nvPr/>
        </p:nvCxnSpPr>
        <p:spPr>
          <a:xfrm>
            <a:off x="7862260" y="4682039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F6EB4CD-1835-C5B5-7915-D73BDA907336}"/>
              </a:ext>
            </a:extLst>
          </p:cNvPr>
          <p:cNvSpPr/>
          <p:nvPr/>
        </p:nvSpPr>
        <p:spPr>
          <a:xfrm>
            <a:off x="7709326" y="4521432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F1F9F-34BF-5AC1-B1F2-2670773A3EA5}"/>
              </a:ext>
            </a:extLst>
          </p:cNvPr>
          <p:cNvSpPr txBox="1"/>
          <p:nvPr/>
        </p:nvSpPr>
        <p:spPr>
          <a:xfrm>
            <a:off x="9068717" y="493284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97192B-D818-23E0-5BAD-DEDD3A8FC5D7}"/>
              </a:ext>
            </a:extLst>
          </p:cNvPr>
          <p:cNvSpPr txBox="1"/>
          <p:nvPr/>
        </p:nvSpPr>
        <p:spPr>
          <a:xfrm>
            <a:off x="7671077" y="4557146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E7E322-6AB4-11B2-B6B8-7BF2B16F8C98}"/>
              </a:ext>
            </a:extLst>
          </p:cNvPr>
          <p:cNvSpPr/>
          <p:nvPr/>
        </p:nvSpPr>
        <p:spPr>
          <a:xfrm>
            <a:off x="8742737" y="5731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1EF44-0BFD-0493-CF83-1F0463E5B053}"/>
              </a:ext>
            </a:extLst>
          </p:cNvPr>
          <p:cNvCxnSpPr>
            <a:cxnSpLocks/>
          </p:cNvCxnSpPr>
          <p:nvPr/>
        </p:nvCxnSpPr>
        <p:spPr>
          <a:xfrm>
            <a:off x="7445755" y="5397627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21ACC67-28C9-0AA6-E71E-AAD53E2D6DAA}"/>
              </a:ext>
            </a:extLst>
          </p:cNvPr>
          <p:cNvSpPr/>
          <p:nvPr/>
        </p:nvSpPr>
        <p:spPr>
          <a:xfrm>
            <a:off x="7292821" y="523702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05CAAE-66CA-8F67-6B10-97AB50A85775}"/>
              </a:ext>
            </a:extLst>
          </p:cNvPr>
          <p:cNvSpPr txBox="1"/>
          <p:nvPr/>
        </p:nvSpPr>
        <p:spPr>
          <a:xfrm>
            <a:off x="8685750" y="575893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A01873-9A66-E040-FA0A-4DDA6A20ABE9}"/>
              </a:ext>
            </a:extLst>
          </p:cNvPr>
          <p:cNvSpPr txBox="1"/>
          <p:nvPr/>
        </p:nvSpPr>
        <p:spPr>
          <a:xfrm>
            <a:off x="7235520" y="5267971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</p:spTree>
    <p:extLst>
      <p:ext uri="{BB962C8B-B14F-4D97-AF65-F5344CB8AC3E}">
        <p14:creationId xmlns:p14="http://schemas.microsoft.com/office/powerpoint/2010/main" val="25602969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648D-AF16-58B1-7754-3CC144A6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2F8D-72BF-FB65-0F2B-EEE50B9DB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3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F44F-36E8-B65D-BEC5-5830D12C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EF34-3D25-F855-1449-56D0E7A3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89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1578</TotalTime>
  <Words>1617</Words>
  <Application>Microsoft Office PowerPoint</Application>
  <PresentationFormat>Widescreen</PresentationFormat>
  <Paragraphs>273</Paragraphs>
  <Slides>33</Slides>
  <Notes>3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Courier New</vt:lpstr>
      <vt:lpstr>Wingdings</vt:lpstr>
      <vt:lpstr>Office Theme</vt:lpstr>
      <vt:lpstr>Ven-Dor</vt:lpstr>
      <vt:lpstr>Introduction</vt:lpstr>
      <vt:lpstr>Introduction</vt:lpstr>
      <vt:lpstr>Questions / Aims</vt:lpstr>
      <vt:lpstr>Result 1: Identifying the Ven-Dor modules</vt:lpstr>
      <vt:lpstr>Result 1: How do YA and OA process congruency?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Background: Dynamic functional connectivity</vt:lpstr>
      <vt:lpstr>Ven x Dor</vt:lpstr>
      <vt:lpstr>Results 1 summary</vt:lpstr>
      <vt:lpstr>An interlude</vt:lpstr>
      <vt:lpstr>Result 2: The temporal properties of Ven-Dor and congruency processing</vt:lpstr>
      <vt:lpstr>Result 2: The effects of aging on processing congruency and Ven-Dor</vt:lpstr>
      <vt:lpstr>Ven vs. Dor</vt:lpstr>
      <vt:lpstr>Anatomical-based results</vt:lpstr>
      <vt:lpstr>Bar graphs for the four sides</vt:lpstr>
      <vt:lpstr>Aging modulates fluctuation</vt:lpstr>
      <vt:lpstr>Interim summary</vt:lpstr>
      <vt:lpstr>Result 3: Interpreting  Ven &amp; Dor</vt:lpstr>
      <vt:lpstr>Scene representation</vt:lpstr>
      <vt:lpstr>Conceptual memory</vt:lpstr>
      <vt:lpstr>Results 3 summary</vt:lpstr>
      <vt:lpstr>End</vt:lpstr>
      <vt:lpstr>PowerPoint Presentation</vt:lpstr>
      <vt:lpstr>PowerPoint Presentation</vt:lpstr>
      <vt:lpstr>Vendor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12</cp:revision>
  <dcterms:created xsi:type="dcterms:W3CDTF">2024-02-08T13:12:41Z</dcterms:created>
  <dcterms:modified xsi:type="dcterms:W3CDTF">2024-02-09T15:31:11Z</dcterms:modified>
</cp:coreProperties>
</file>