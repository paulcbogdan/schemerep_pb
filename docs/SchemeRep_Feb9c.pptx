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7"/>
  </p:notesMasterIdLst>
  <p:sldIdLst>
    <p:sldId id="258" r:id="rId2"/>
    <p:sldId id="396" r:id="rId3"/>
    <p:sldId id="393" r:id="rId4"/>
    <p:sldId id="387" r:id="rId5"/>
    <p:sldId id="304" r:id="rId6"/>
    <p:sldId id="389" r:id="rId7"/>
    <p:sldId id="397" r:id="rId8"/>
    <p:sldId id="365" r:id="rId9"/>
    <p:sldId id="366" r:id="rId10"/>
    <p:sldId id="375" r:id="rId11"/>
    <p:sldId id="362" r:id="rId12"/>
    <p:sldId id="377" r:id="rId13"/>
    <p:sldId id="378" r:id="rId14"/>
    <p:sldId id="383" r:id="rId15"/>
    <p:sldId id="371" r:id="rId16"/>
    <p:sldId id="403" r:id="rId17"/>
    <p:sldId id="398" r:id="rId18"/>
    <p:sldId id="401" r:id="rId19"/>
    <p:sldId id="381" r:id="rId20"/>
    <p:sldId id="408" r:id="rId21"/>
    <p:sldId id="409" r:id="rId22"/>
    <p:sldId id="418" r:id="rId23"/>
    <p:sldId id="411" r:id="rId24"/>
    <p:sldId id="415" r:id="rId25"/>
    <p:sldId id="416" r:id="rId26"/>
    <p:sldId id="413" r:id="rId27"/>
    <p:sldId id="410" r:id="rId28"/>
    <p:sldId id="417" r:id="rId29"/>
    <p:sldId id="412" r:id="rId30"/>
    <p:sldId id="400" r:id="rId31"/>
    <p:sldId id="379" r:id="rId32"/>
    <p:sldId id="380" r:id="rId33"/>
    <p:sldId id="384" r:id="rId34"/>
    <p:sldId id="361" r:id="rId35"/>
    <p:sldId id="382" r:id="rId36"/>
    <p:sldId id="391" r:id="rId37"/>
    <p:sldId id="317" r:id="rId38"/>
    <p:sldId id="399" r:id="rId39"/>
    <p:sldId id="402" r:id="rId40"/>
    <p:sldId id="406" r:id="rId41"/>
    <p:sldId id="407" r:id="rId42"/>
    <p:sldId id="404" r:id="rId43"/>
    <p:sldId id="373" r:id="rId44"/>
    <p:sldId id="369" r:id="rId45"/>
    <p:sldId id="405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5A901"/>
    <a:srgbClr val="08CE37"/>
    <a:srgbClr val="21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218" autoAdjust="0"/>
    <p:restoredTop sz="89864" autoAdjust="0"/>
  </p:normalViewPr>
  <p:slideViewPr>
    <p:cSldViewPr snapToGrid="0">
      <p:cViewPr>
        <p:scale>
          <a:sx n="100" d="100"/>
          <a:sy n="100" d="100"/>
        </p:scale>
        <p:origin x="2934" y="1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C55612-1E31-4949-93F8-A93C58E09E58}" type="datetimeFigureOut">
              <a:rPr lang="en-US" smtClean="0"/>
              <a:t>2/11/2024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139E74-3B91-4B91-90E7-C792E8251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7395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fin_plot_conn_matrix.py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139E74-3B91-4B91-90E7-C792E825117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3882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139E74-3B91-4B91-90E7-C792E825117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7611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139E74-3B91-4B91-90E7-C792E825117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0234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693B7-106C-35B9-3FA1-2305F4D83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D5078B-7A63-7ED3-E55E-131FB79993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21CB5C-CD2D-A4B6-763B-E3860226C5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Further evidence supporting the meaningfulness of these modules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090FA3-9709-FCD0-1691-4079F4118E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139E74-3B91-4B91-90E7-C792E825117A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9861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Further evidence supporting the meaningfulness of these modules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139E74-3B91-4B91-90E7-C792E825117A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9714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</a:t>
            </a:r>
            <a:r>
              <a:rPr lang="en-US" dirty="0" err="1"/>
              <a:t>matrix_mask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139E74-3B91-4B91-90E7-C792E825117A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4402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AD00B-6584-4BEB-BB07-D320C42443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093775-97DA-4F0C-8091-7243A71F5A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2E7B29-494F-46C3-98E5-9F2CFE6B5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2/11/2024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629F06-03E1-4DE2-98E0-74887BAC9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FE5F46-6594-4C1E-B5CA-1F1D6F20F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770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18E2B-D6F1-4EA2-8F10-7D5D17974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D061B-03B3-4665-AA43-89C80159D0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v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E68A43-9AA0-4950-B1EC-6BFB6F75E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2/11/2024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1BB70E-48FE-49D7-B925-546DA100F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8C68AE-EABA-4A35-AFE9-C39F59588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35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9B53F-ED2E-4673-A940-F01A32CB4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9796FD-D16C-4F81-BDA1-928AE471D6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6B1EED-EFC9-4E32-A27E-A04910ABA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2/11/2024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30C3AC-D4C3-43A1-B81B-0FE71EF26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1631A4-C8E4-40B1-8060-9CD773F03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247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74271-11DA-4E97-B187-22F01CD29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D5DB8-CF97-4315-BD7D-836111B754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D2452B-E913-4410-8B5A-FEA37D312D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060FC7-4A31-4ECB-B9E2-E3F479496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2/11/2024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F10980-53A5-4B2D-8BF1-430BA182B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17DF36-9C11-43B0-AFBB-13D8E0BB4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901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1C380-5819-47C0-B6DB-1BCA49A31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281FCE-3703-4337-967E-C2A5382DEB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6731D9-4835-412C-88CC-3CD3C6FA3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28CEF9-828A-4745-997E-A7DBBAD108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D2CBA7-3ACA-46DD-B733-BAC85603BC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5F5A09-EDB5-46E6-893D-EFB70025F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2/11/2024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002CA3-1581-43C3-98FC-59A33E3D2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D09075-C4B1-42AC-8C75-4FB488376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736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B10F9-1F70-4CC0-A1BC-D1C42C2B7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B85726-DBEF-4CA3-839B-352075533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2/11/2024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BA00EA-3C23-4588-BF03-F22ABBE80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9F3800-C9A5-4235-B574-19A012682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482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BCECA6-D996-452B-AD6A-269CA1846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2/11/2024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0A0586-0096-41A3-A9AF-EE9CB38C9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777BFA-2216-49F0-AF38-B46C9D82B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853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1C996-C8A9-4FB0-A317-2E7E90812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127B42-DBC2-47A8-A40D-BAE97758B6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521C7B-35CB-4880-A0AC-805BFB5B98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D47D0-2081-45E3-9C7E-BF43B9672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2/11/2024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BC9F89-7930-49B0-A81E-736C95A73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624FF2-1361-4D73-A914-D03027804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873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6A0EA-C4AE-4F36-8754-7F92C6FD4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581EA3-D358-4C88-8CEE-AF58C0349F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9D2496-CC08-4831-A9A9-D5744A808C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3AED85-6938-40CE-A6E8-A23E81056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2/11/2024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3890F1-7ABC-438C-86BC-16AABE5A3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A9E24A-6694-40DE-A232-40F924DE7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701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ED043-E298-4666-8D40-3D14B1C9C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9E29ED-D0CE-46BF-BF1D-C444FE7CCF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0FE7BF-BCB2-4C76-9FCF-0BC648695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2/11/2024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DD8F2D-07AF-4D6E-8EE6-F00A819F2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D59C9D-03F5-4136-A115-2B5FC467A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892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978F8E-91D5-4268-9E68-89B29C78C7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0A7A88-61E4-488E-96E2-DC43AFC7C5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0A047E-85C8-4E09-8CD6-618AA4BB7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2/11/2024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1B3190-D85C-4508-A9FB-2F4F4CA9E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17CC3-2A4A-4F7B-970D-92630A69D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836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B8FB9C-8843-415F-A091-7ADDE32AF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904287-E011-453F-99FD-D95C1BD669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C8B418-76C4-4EDB-91EF-C8E4A73B4C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6B2E29-6454-4170-AF87-B006FFB35D00}" type="datetimeFigureOut">
              <a:rPr lang="en-US" smtClean="0"/>
              <a:t>2/11/2024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B74509-FFF9-4164-B6C3-46DDB68E46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8F2CDD-6359-4BCA-92D7-C7A8CB3D21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671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v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9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emf"/><Relationship Id="rId4" Type="http://schemas.openxmlformats.org/officeDocument/2006/relationships/image" Target="../media/image22.e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emf"/><Relationship Id="rId3" Type="http://schemas.openxmlformats.org/officeDocument/2006/relationships/image" Target="../media/image24.png"/><Relationship Id="rId7" Type="http://schemas.openxmlformats.org/officeDocument/2006/relationships/image" Target="../media/image23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emf"/><Relationship Id="rId5" Type="http://schemas.openxmlformats.org/officeDocument/2006/relationships/image" Target="../media/image21.emf"/><Relationship Id="rId4" Type="http://schemas.openxmlformats.org/officeDocument/2006/relationships/image" Target="../media/image20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emf"/><Relationship Id="rId4" Type="http://schemas.openxmlformats.org/officeDocument/2006/relationships/image" Target="../media/image22.e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7" Type="http://schemas.openxmlformats.org/officeDocument/2006/relationships/image" Target="../media/image25.emf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emf"/><Relationship Id="rId5" Type="http://schemas.openxmlformats.org/officeDocument/2006/relationships/image" Target="../media/image22.emf"/><Relationship Id="rId4" Type="http://schemas.openxmlformats.org/officeDocument/2006/relationships/image" Target="../media/image21.emf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Ven-Dor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2/2/2024</a:t>
            </a:r>
          </a:p>
        </p:txBody>
      </p:sp>
    </p:spTree>
    <p:extLst>
      <p:ext uri="{BB962C8B-B14F-4D97-AF65-F5344CB8AC3E}">
        <p14:creationId xmlns:p14="http://schemas.microsoft.com/office/powerpoint/2010/main" val="24104465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A5336-E353-DE8F-2D52-21B760EDF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BB2BC9-D2BE-4D42-00E7-DA0C1A40E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5457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The human mind is continuously applying existing knowledge to incoming information</a:t>
            </a:r>
          </a:p>
          <a:p>
            <a:pPr lvl="1"/>
            <a:r>
              <a:rPr lang="en-US" dirty="0"/>
              <a:t>At the most basic level, pattern-detection is an example of this, as it is the process of evaluating whether stimuli are congruent with schemas</a:t>
            </a:r>
          </a:p>
          <a:p>
            <a:pPr lvl="1"/>
            <a:r>
              <a:rPr lang="en-US" dirty="0"/>
              <a:t>Evaluating matches</a:t>
            </a:r>
          </a:p>
          <a:p>
            <a:r>
              <a:rPr lang="en-US" dirty="0"/>
              <a:t>This topic is seeing ever-growing interest</a:t>
            </a:r>
          </a:p>
          <a:p>
            <a:pPr lvl="1"/>
            <a:r>
              <a:rPr lang="en-US" dirty="0"/>
              <a:t>Consider the rising popularity of neural and cognitive theories based on prediction errors</a:t>
            </a:r>
          </a:p>
          <a:p>
            <a:r>
              <a:rPr lang="en-US" dirty="0"/>
              <a:t>Yet there are limitations with existing research</a:t>
            </a:r>
          </a:p>
          <a:p>
            <a:pPr lvl="1"/>
            <a:r>
              <a:rPr lang="en-US" dirty="0"/>
              <a:t>Studies typically focus on small subsets of the brain (e.g., single regions), even though congruency-assessment is a whole-brain phenomena </a:t>
            </a:r>
          </a:p>
          <a:p>
            <a:pPr lvl="1"/>
            <a:r>
              <a:rPr lang="en-US" dirty="0"/>
              <a:t>Relatedly, most studies focus on “basic” forms of congruency (i.e., prediction error in decision-making) rather than the type of semantic-congruency assessment, which makes us human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2036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6014D-A4CB-5E96-4C55-3AFAFDCE0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5471"/>
            <a:ext cx="10515600" cy="1325563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C0C642-6840-9F6A-1D88-B24082E9A5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5065712"/>
          </a:xfrm>
        </p:spPr>
        <p:txBody>
          <a:bodyPr>
            <a:normAutofit/>
          </a:bodyPr>
          <a:lstStyle/>
          <a:p>
            <a:r>
              <a:rPr lang="en-US" dirty="0"/>
              <a:t>This topic is of particular interest to aging research</a:t>
            </a:r>
          </a:p>
          <a:p>
            <a:r>
              <a:rPr lang="en-US" dirty="0"/>
              <a:t>Older adults show greater use of prior knowledge when processing incoming stimuli</a:t>
            </a:r>
          </a:p>
          <a:p>
            <a:pPr lvl="1"/>
            <a:r>
              <a:rPr lang="en-US" dirty="0"/>
              <a:t>This is a defining characteristic of aging</a:t>
            </a:r>
          </a:p>
          <a:p>
            <a:pPr lvl="1"/>
            <a:r>
              <a:rPr lang="en-US" i="1" dirty="0"/>
              <a:t>Behavioral studies </a:t>
            </a:r>
            <a:r>
              <a:rPr lang="en-US" dirty="0"/>
              <a:t>have demonstrated several downstream effects (e.g., on memory)</a:t>
            </a:r>
          </a:p>
          <a:p>
            <a:r>
              <a:rPr lang="en-US" dirty="0"/>
              <a:t>However, the neural correlates of how older adults evaluate apply their prior semantic knowledge (schemas) to incoming information remains mostly unclear</a:t>
            </a:r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1553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369E7-2304-2FEE-DBEC-3E79ECB30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 / Aims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840BB6-5553-B037-7290-73B6094975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How do individuals (YA &amp; OA) process congruency?</a:t>
            </a:r>
          </a:p>
          <a:p>
            <a:pPr lvl="1"/>
            <a:r>
              <a:rPr lang="en-US" dirty="0"/>
              <a:t>Searching for brain-wide phenomena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How do OAs process congruency differently?</a:t>
            </a:r>
          </a:p>
          <a:p>
            <a:pPr lvl="1"/>
            <a:r>
              <a:rPr lang="en-US" dirty="0"/>
              <a:t>By default, are OAs always in a high “processing congruency” state?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How are the neural correlates of congruency processing linked to other aspects of cognition?</a:t>
            </a:r>
          </a:p>
          <a:p>
            <a:pPr lvl="1"/>
            <a:r>
              <a:rPr lang="en-US" dirty="0"/>
              <a:t>Stimulus representation</a:t>
            </a:r>
          </a:p>
          <a:p>
            <a:pPr lvl="1"/>
            <a:r>
              <a:rPr lang="en-US" dirty="0"/>
              <a:t>Memory</a:t>
            </a:r>
          </a:p>
        </p:txBody>
      </p:sp>
    </p:spTree>
    <p:extLst>
      <p:ext uri="{BB962C8B-B14F-4D97-AF65-F5344CB8AC3E}">
        <p14:creationId xmlns:p14="http://schemas.microsoft.com/office/powerpoint/2010/main" val="3312417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3-session fMRI study (</a:t>
            </a:r>
            <a:r>
              <a:rPr lang="en-US" altLang="zh-CN" dirty="0" err="1"/>
              <a:t>SchemRep</a:t>
            </a:r>
            <a:r>
              <a:rPr lang="en-US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5000" y="1954212"/>
            <a:ext cx="4985773" cy="476726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zh-CN" b="1" dirty="0"/>
              <a:t>Baseline</a:t>
            </a:r>
            <a:r>
              <a:rPr lang="en-US" altLang="zh-CN" dirty="0"/>
              <a:t>: rated image-label typicality for objects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Encoding</a:t>
            </a:r>
            <a:r>
              <a:rPr lang="en-US" dirty="0"/>
              <a:t>: Presentation of scene and object. Rated how likely one is to find the object in the scene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Retrieval</a:t>
            </a:r>
            <a:r>
              <a:rPr lang="en-US" dirty="0"/>
              <a:t>: conceptual old/new followed by visual old/similar/new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2383D4-A18D-BBFA-1BDA-099C2F8C8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0481F-DE52-414A-8886-8B7F01508184}" type="slidenum">
              <a:rPr lang="en-US" smtClean="0"/>
              <a:t>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59CECC-3013-1697-DB76-D42854B95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0108" y="2371725"/>
            <a:ext cx="6371892" cy="3614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14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Result 1: Identifying the Ven-Dor modules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67881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Result 1: How do YA and OA process congruency?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33916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1D25B5D9-1445-EC1F-4285-A75434A506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7262" y="1585571"/>
            <a:ext cx="5065819" cy="50658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F0E9A87-E324-3773-D3FD-8BB3C0974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Incongruency-congruency conn matrix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2EE75-698D-9D50-A4D2-6F1FEC87F8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009483" cy="4351338"/>
          </a:xfrm>
        </p:spPr>
        <p:txBody>
          <a:bodyPr/>
          <a:lstStyle/>
          <a:p>
            <a:r>
              <a:rPr lang="en-US" dirty="0"/>
              <a:t>t-test compare congruent vs. incongruent</a:t>
            </a:r>
          </a:p>
          <a:p>
            <a:r>
              <a:rPr lang="en-US" dirty="0"/>
              <a:t>Combine YA and OA</a:t>
            </a:r>
          </a:p>
          <a:p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CB4C98B-590E-4D8E-BFCF-D14C973AB6D1}"/>
              </a:ext>
            </a:extLst>
          </p:cNvPr>
          <p:cNvSpPr/>
          <p:nvPr/>
        </p:nvSpPr>
        <p:spPr>
          <a:xfrm>
            <a:off x="7148033" y="3203050"/>
            <a:ext cx="390891" cy="390891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D324092A-C062-5A72-544B-000C2610255C}"/>
              </a:ext>
            </a:extLst>
          </p:cNvPr>
          <p:cNvSpPr/>
          <p:nvPr/>
        </p:nvSpPr>
        <p:spPr>
          <a:xfrm rot="8100000">
            <a:off x="7436627" y="2906842"/>
            <a:ext cx="572984" cy="283815"/>
          </a:xfrm>
          <a:prstGeom prst="rightArrow">
            <a:avLst/>
          </a:prstGeom>
          <a:solidFill>
            <a:srgbClr val="21FF66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06287ADA-7D8B-104A-92F3-A1AF658AFAF8}"/>
              </a:ext>
            </a:extLst>
          </p:cNvPr>
          <p:cNvSpPr/>
          <p:nvPr/>
        </p:nvSpPr>
        <p:spPr>
          <a:xfrm rot="8195692">
            <a:off x="7457649" y="3824924"/>
            <a:ext cx="572984" cy="283815"/>
          </a:xfrm>
          <a:prstGeom prst="rightArrow">
            <a:avLst/>
          </a:prstGeom>
          <a:solidFill>
            <a:srgbClr val="21FF66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B202FE41-D80C-C5AF-3DDA-B9C64632E62A}"/>
              </a:ext>
            </a:extLst>
          </p:cNvPr>
          <p:cNvSpPr/>
          <p:nvPr/>
        </p:nvSpPr>
        <p:spPr>
          <a:xfrm rot="8100000">
            <a:off x="8961485" y="4549123"/>
            <a:ext cx="572984" cy="283815"/>
          </a:xfrm>
          <a:prstGeom prst="rightArrow">
            <a:avLst/>
          </a:prstGeom>
          <a:solidFill>
            <a:srgbClr val="21FF66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46DFDFD0-5EBD-09DB-F13F-7BA41D11393B}"/>
              </a:ext>
            </a:extLst>
          </p:cNvPr>
          <p:cNvSpPr/>
          <p:nvPr/>
        </p:nvSpPr>
        <p:spPr>
          <a:xfrm rot="8100000">
            <a:off x="8055285" y="4525373"/>
            <a:ext cx="572984" cy="283815"/>
          </a:xfrm>
          <a:prstGeom prst="rightArrow">
            <a:avLst/>
          </a:prstGeom>
          <a:solidFill>
            <a:srgbClr val="21FF66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EC38A34-B67C-DD9B-4178-0EDBE2322006}"/>
              </a:ext>
            </a:extLst>
          </p:cNvPr>
          <p:cNvSpPr/>
          <p:nvPr/>
        </p:nvSpPr>
        <p:spPr>
          <a:xfrm>
            <a:off x="7180328" y="4129332"/>
            <a:ext cx="390891" cy="390891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9F8E6B0-3F96-08BF-5B78-DF3759AE4BCB}"/>
              </a:ext>
            </a:extLst>
          </p:cNvPr>
          <p:cNvSpPr/>
          <p:nvPr/>
        </p:nvSpPr>
        <p:spPr>
          <a:xfrm>
            <a:off x="7799057" y="4859487"/>
            <a:ext cx="390891" cy="390891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864D366-3AAF-21E7-0505-D4B14E567CEC}"/>
              </a:ext>
            </a:extLst>
          </p:cNvPr>
          <p:cNvSpPr/>
          <p:nvPr/>
        </p:nvSpPr>
        <p:spPr>
          <a:xfrm>
            <a:off x="8680398" y="4859486"/>
            <a:ext cx="390891" cy="390891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7661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14FD1-B83F-6147-CF40-48C8D03E5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0495"/>
            <a:ext cx="10515600" cy="1325563"/>
          </a:xfrm>
        </p:spPr>
        <p:txBody>
          <a:bodyPr/>
          <a:lstStyle/>
          <a:p>
            <a:r>
              <a:rPr lang="en-US" dirty="0"/>
              <a:t>Modularity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7EFDBA0-698D-64F9-7EEA-A96FDB5EB3D6}"/>
              </a:ext>
            </a:extLst>
          </p:cNvPr>
          <p:cNvSpPr txBox="1">
            <a:spLocks/>
          </p:cNvSpPr>
          <p:nvPr/>
        </p:nvSpPr>
        <p:spPr>
          <a:xfrm>
            <a:off x="396289" y="1244337"/>
            <a:ext cx="4813886" cy="3030300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Submitted the thresholded connectivity matrix to a modularity-detection algorithm </a:t>
            </a:r>
          </a:p>
          <a:p>
            <a:pPr lvl="1"/>
            <a:r>
              <a:rPr lang="en-US" dirty="0"/>
              <a:t>I used a version of Louvain’s algorithm </a:t>
            </a:r>
          </a:p>
          <a:p>
            <a:r>
              <a:rPr lang="en-US" dirty="0"/>
              <a:t>These modules reflect t-tests done on </a:t>
            </a:r>
            <a:r>
              <a:rPr lang="en-US" i="1" dirty="0"/>
              <a:t>both </a:t>
            </a:r>
            <a:r>
              <a:rPr lang="en-US" dirty="0"/>
              <a:t>YA and OA data</a:t>
            </a:r>
          </a:p>
          <a:p>
            <a:pPr lvl="1"/>
            <a:r>
              <a:rPr lang="en-US" dirty="0"/>
              <a:t>If only OA were used, then later analyses of the modules comparing YA vs. OA would be circular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208D429-72EE-33CC-D13A-D0594DC3407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60"/>
          <a:stretch/>
        </p:blipFill>
        <p:spPr>
          <a:xfrm>
            <a:off x="5564119" y="1771836"/>
            <a:ext cx="6336186" cy="220882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1576D9B-1B1A-2ED2-A61D-49B9BC902E8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60"/>
          <a:stretch/>
        </p:blipFill>
        <p:spPr>
          <a:xfrm>
            <a:off x="5564118" y="4494206"/>
            <a:ext cx="6336187" cy="2208823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8689C575-530A-BCFF-AAAA-3F940FCC395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54" r="1"/>
          <a:stretch/>
        </p:blipFill>
        <p:spPr>
          <a:xfrm>
            <a:off x="1480908" y="4383880"/>
            <a:ext cx="2677937" cy="2333625"/>
          </a:xfrm>
          <a:prstGeom prst="rect">
            <a:avLst/>
          </a:prstGeom>
        </p:spPr>
      </p:pic>
      <p:sp>
        <p:nvSpPr>
          <p:cNvPr id="52" name="Oval 51">
            <a:extLst>
              <a:ext uri="{FF2B5EF4-FFF2-40B4-BE49-F238E27FC236}">
                <a16:creationId xmlns:a16="http://schemas.microsoft.com/office/drawing/2014/main" id="{8EBE9837-9090-93A9-AAED-D2171E381C5D}"/>
              </a:ext>
            </a:extLst>
          </p:cNvPr>
          <p:cNvSpPr/>
          <p:nvPr/>
        </p:nvSpPr>
        <p:spPr>
          <a:xfrm>
            <a:off x="2196992" y="5019964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26CE1EC5-839A-CFCE-C382-7B88EB808ED0}"/>
              </a:ext>
            </a:extLst>
          </p:cNvPr>
          <p:cNvSpPr/>
          <p:nvPr/>
        </p:nvSpPr>
        <p:spPr>
          <a:xfrm>
            <a:off x="3482120" y="5293544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FC9F2E4C-FD4F-F489-2D68-480AC91578F0}"/>
              </a:ext>
            </a:extLst>
          </p:cNvPr>
          <p:cNvCxnSpPr>
            <a:cxnSpLocks/>
          </p:cNvCxnSpPr>
          <p:nvPr/>
        </p:nvCxnSpPr>
        <p:spPr>
          <a:xfrm>
            <a:off x="2219006" y="5087644"/>
            <a:ext cx="1466316" cy="354656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3B39F1E3-6A7A-ED74-DE68-A2E5B980EAAF}"/>
              </a:ext>
            </a:extLst>
          </p:cNvPr>
          <p:cNvSpPr/>
          <p:nvPr/>
        </p:nvSpPr>
        <p:spPr>
          <a:xfrm>
            <a:off x="2066072" y="4927037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FF65548-CF0F-DD29-DA2D-7F389623F1D7}"/>
              </a:ext>
            </a:extLst>
          </p:cNvPr>
          <p:cNvSpPr txBox="1"/>
          <p:nvPr/>
        </p:nvSpPr>
        <p:spPr>
          <a:xfrm rot="815892">
            <a:off x="2313606" y="4825403"/>
            <a:ext cx="1428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Congruency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61CD904-7AE9-EFEE-94AE-A96CB60F5DB4}"/>
              </a:ext>
            </a:extLst>
          </p:cNvPr>
          <p:cNvSpPr txBox="1"/>
          <p:nvPr/>
        </p:nvSpPr>
        <p:spPr>
          <a:xfrm>
            <a:off x="3425463" y="5338449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3DED40E-6171-C3A4-DB3A-17C64F1B2F92}"/>
              </a:ext>
            </a:extLst>
          </p:cNvPr>
          <p:cNvSpPr txBox="1"/>
          <p:nvPr/>
        </p:nvSpPr>
        <p:spPr>
          <a:xfrm>
            <a:off x="2027823" y="4962751"/>
            <a:ext cx="4427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177C179E-83C0-A743-8448-7B3469B5DD5C}"/>
              </a:ext>
            </a:extLst>
          </p:cNvPr>
          <p:cNvSpPr/>
          <p:nvPr/>
        </p:nvSpPr>
        <p:spPr>
          <a:xfrm>
            <a:off x="3099483" y="6137587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3CDBE0D6-72FB-0FC3-AE77-95D9B01D67E4}"/>
              </a:ext>
            </a:extLst>
          </p:cNvPr>
          <p:cNvCxnSpPr>
            <a:cxnSpLocks/>
          </p:cNvCxnSpPr>
          <p:nvPr/>
        </p:nvCxnSpPr>
        <p:spPr>
          <a:xfrm>
            <a:off x="1802501" y="5803232"/>
            <a:ext cx="1369324" cy="470643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Oval 60">
            <a:extLst>
              <a:ext uri="{FF2B5EF4-FFF2-40B4-BE49-F238E27FC236}">
                <a16:creationId xmlns:a16="http://schemas.microsoft.com/office/drawing/2014/main" id="{714410B0-9E7B-BFD5-740D-0B5C5F61C378}"/>
              </a:ext>
            </a:extLst>
          </p:cNvPr>
          <p:cNvSpPr/>
          <p:nvPr/>
        </p:nvSpPr>
        <p:spPr>
          <a:xfrm>
            <a:off x="1649567" y="5642625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3BDC40F-9645-8B9A-B209-EDC5FA13C229}"/>
              </a:ext>
            </a:extLst>
          </p:cNvPr>
          <p:cNvSpPr txBox="1"/>
          <p:nvPr/>
        </p:nvSpPr>
        <p:spPr>
          <a:xfrm>
            <a:off x="3042496" y="6164541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0D430DE-2C10-C9C4-B79E-4F250556D4F8}"/>
              </a:ext>
            </a:extLst>
          </p:cNvPr>
          <p:cNvSpPr txBox="1"/>
          <p:nvPr/>
        </p:nvSpPr>
        <p:spPr>
          <a:xfrm>
            <a:off x="1592266" y="5673576"/>
            <a:ext cx="4732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E6481FD-7C7E-11C2-9AA4-0B5DE79AD2DE}"/>
              </a:ext>
            </a:extLst>
          </p:cNvPr>
          <p:cNvSpPr txBox="1"/>
          <p:nvPr/>
        </p:nvSpPr>
        <p:spPr>
          <a:xfrm rot="1053603">
            <a:off x="1899438" y="5684437"/>
            <a:ext cx="1428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Congruency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AAAF8D6-3C81-7FCF-1314-13A0DF3E0DBF}"/>
              </a:ext>
            </a:extLst>
          </p:cNvPr>
          <p:cNvSpPr txBox="1"/>
          <p:nvPr/>
        </p:nvSpPr>
        <p:spPr>
          <a:xfrm rot="16200000">
            <a:off x="4595266" y="2427518"/>
            <a:ext cx="13692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Dorsal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BABA125-5609-980A-6DAC-1251826B8871}"/>
              </a:ext>
            </a:extLst>
          </p:cNvPr>
          <p:cNvSpPr txBox="1"/>
          <p:nvPr/>
        </p:nvSpPr>
        <p:spPr>
          <a:xfrm rot="16200000">
            <a:off x="4549677" y="5170489"/>
            <a:ext cx="14604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Ventral</a:t>
            </a:r>
          </a:p>
        </p:txBody>
      </p:sp>
    </p:spTree>
    <p:extLst>
      <p:ext uri="{BB962C8B-B14F-4D97-AF65-F5344CB8AC3E}">
        <p14:creationId xmlns:p14="http://schemas.microsoft.com/office/powerpoint/2010/main" val="1274465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14FD1-B83F-6147-CF40-48C8D03E5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6534"/>
            <a:ext cx="10515600" cy="1070333"/>
          </a:xfrm>
        </p:spPr>
        <p:txBody>
          <a:bodyPr/>
          <a:lstStyle/>
          <a:p>
            <a:r>
              <a:rPr lang="en-US" dirty="0"/>
              <a:t>Dort?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7EFDBA0-698D-64F9-7EEA-A96FDB5EB3D6}"/>
              </a:ext>
            </a:extLst>
          </p:cNvPr>
          <p:cNvSpPr txBox="1">
            <a:spLocks/>
          </p:cNvSpPr>
          <p:nvPr/>
        </p:nvSpPr>
        <p:spPr>
          <a:xfrm>
            <a:off x="295280" y="1581259"/>
            <a:ext cx="5058874" cy="464449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Rather than a “dorsal” module, it’s actually more of a frontoparietal control network (FPCN) module</a:t>
            </a:r>
          </a:p>
          <a:p>
            <a:pPr lvl="1"/>
            <a:r>
              <a:rPr lang="en-US" dirty="0"/>
              <a:t>I know the FPCN is a construct based on resting-state fMRI</a:t>
            </a:r>
          </a:p>
          <a:p>
            <a:pPr lvl="1"/>
            <a:r>
              <a:rPr lang="en-US" dirty="0"/>
              <a:t>But it’s popped up in task studies</a:t>
            </a:r>
          </a:p>
          <a:p>
            <a:pPr lvl="1"/>
            <a:r>
              <a:rPr lang="en-US" dirty="0"/>
              <a:t>It’s striking to me that the MTG spot lands closely to where the temporal component of the FPCN typically appears</a:t>
            </a:r>
          </a:p>
          <a:p>
            <a:r>
              <a:rPr lang="en-US" dirty="0"/>
              <a:t>Instead of Ven-Dor, it may be more correct to say “Ventral-FPCN”</a:t>
            </a:r>
          </a:p>
          <a:p>
            <a:pPr lvl="1"/>
            <a:r>
              <a:rPr lang="en-US" dirty="0"/>
              <a:t>Nonetheless, I proceed with the Ven-Dor idea and the MTG component for now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208D429-72EE-33CC-D13A-D0594DC3407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60"/>
          <a:stretch/>
        </p:blipFill>
        <p:spPr>
          <a:xfrm>
            <a:off x="5564119" y="1771836"/>
            <a:ext cx="6336186" cy="2208822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8689C575-530A-BCFF-AAAA-3F940FCC395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54" r="1"/>
          <a:stretch/>
        </p:blipFill>
        <p:spPr>
          <a:xfrm>
            <a:off x="8091258" y="4418808"/>
            <a:ext cx="2677937" cy="2333625"/>
          </a:xfrm>
          <a:prstGeom prst="rect">
            <a:avLst/>
          </a:prstGeom>
        </p:spPr>
      </p:pic>
      <p:sp>
        <p:nvSpPr>
          <p:cNvPr id="52" name="Oval 51">
            <a:extLst>
              <a:ext uri="{FF2B5EF4-FFF2-40B4-BE49-F238E27FC236}">
                <a16:creationId xmlns:a16="http://schemas.microsoft.com/office/drawing/2014/main" id="{8EBE9837-9090-93A9-AAED-D2171E381C5D}"/>
              </a:ext>
            </a:extLst>
          </p:cNvPr>
          <p:cNvSpPr/>
          <p:nvPr/>
        </p:nvSpPr>
        <p:spPr>
          <a:xfrm>
            <a:off x="8807342" y="5054892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26CE1EC5-839A-CFCE-C382-7B88EB808ED0}"/>
              </a:ext>
            </a:extLst>
          </p:cNvPr>
          <p:cNvSpPr/>
          <p:nvPr/>
        </p:nvSpPr>
        <p:spPr>
          <a:xfrm>
            <a:off x="10092470" y="5328472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FC9F2E4C-FD4F-F489-2D68-480AC91578F0}"/>
              </a:ext>
            </a:extLst>
          </p:cNvPr>
          <p:cNvCxnSpPr>
            <a:cxnSpLocks/>
          </p:cNvCxnSpPr>
          <p:nvPr/>
        </p:nvCxnSpPr>
        <p:spPr>
          <a:xfrm>
            <a:off x="8829356" y="5122572"/>
            <a:ext cx="1466316" cy="354656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3B39F1E3-6A7A-ED74-DE68-A2E5B980EAAF}"/>
              </a:ext>
            </a:extLst>
          </p:cNvPr>
          <p:cNvSpPr/>
          <p:nvPr/>
        </p:nvSpPr>
        <p:spPr>
          <a:xfrm>
            <a:off x="8676422" y="4961965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FF65548-CF0F-DD29-DA2D-7F389623F1D7}"/>
              </a:ext>
            </a:extLst>
          </p:cNvPr>
          <p:cNvSpPr txBox="1"/>
          <p:nvPr/>
        </p:nvSpPr>
        <p:spPr>
          <a:xfrm rot="815892">
            <a:off x="8923956" y="4860331"/>
            <a:ext cx="1428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Congruency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3DED40E-6171-C3A4-DB3A-17C64F1B2F92}"/>
              </a:ext>
            </a:extLst>
          </p:cNvPr>
          <p:cNvSpPr txBox="1"/>
          <p:nvPr/>
        </p:nvSpPr>
        <p:spPr>
          <a:xfrm>
            <a:off x="8638173" y="4997679"/>
            <a:ext cx="4427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4A6C800-B0D6-94DF-FA31-163680CDF05C}"/>
              </a:ext>
            </a:extLst>
          </p:cNvPr>
          <p:cNvCxnSpPr>
            <a:cxnSpLocks/>
            <a:stCxn id="58" idx="2"/>
          </p:cNvCxnSpPr>
          <p:nvPr/>
        </p:nvCxnSpPr>
        <p:spPr>
          <a:xfrm>
            <a:off x="8859548" y="5259289"/>
            <a:ext cx="371722" cy="790803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4255ED8-F643-EE61-9353-E88F68D902FE}"/>
              </a:ext>
            </a:extLst>
          </p:cNvPr>
          <p:cNvCxnSpPr>
            <a:cxnSpLocks/>
          </p:cNvCxnSpPr>
          <p:nvPr/>
        </p:nvCxnSpPr>
        <p:spPr>
          <a:xfrm flipH="1">
            <a:off x="9284974" y="5513803"/>
            <a:ext cx="928736" cy="509529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Oval 58">
            <a:extLst>
              <a:ext uri="{FF2B5EF4-FFF2-40B4-BE49-F238E27FC236}">
                <a16:creationId xmlns:a16="http://schemas.microsoft.com/office/drawing/2014/main" id="{177C179E-83C0-A743-8448-7B3469B5DD5C}"/>
              </a:ext>
            </a:extLst>
          </p:cNvPr>
          <p:cNvSpPr/>
          <p:nvPr/>
        </p:nvSpPr>
        <p:spPr>
          <a:xfrm>
            <a:off x="9073698" y="5858209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3BDC40F-9645-8B9A-B209-EDC5FA13C229}"/>
              </a:ext>
            </a:extLst>
          </p:cNvPr>
          <p:cNvSpPr txBox="1"/>
          <p:nvPr/>
        </p:nvSpPr>
        <p:spPr>
          <a:xfrm>
            <a:off x="9015089" y="5902233"/>
            <a:ext cx="56013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MTG</a:t>
            </a:r>
            <a:endParaRPr lang="en-US" sz="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61CD904-7AE9-EFEE-94AE-A96CB60F5DB4}"/>
              </a:ext>
            </a:extLst>
          </p:cNvPr>
          <p:cNvSpPr txBox="1"/>
          <p:nvPr/>
        </p:nvSpPr>
        <p:spPr>
          <a:xfrm>
            <a:off x="10035813" y="5373377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6E73F92-7F19-8755-28F6-14E217C6070B}"/>
              </a:ext>
            </a:extLst>
          </p:cNvPr>
          <p:cNvSpPr/>
          <p:nvPr/>
        </p:nvSpPr>
        <p:spPr>
          <a:xfrm>
            <a:off x="6296025" y="2876247"/>
            <a:ext cx="438150" cy="43815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6114F19-44EB-2B0D-68C9-18073F63AE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96855" y="5109272"/>
            <a:ext cx="1549629" cy="111573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B1579F9-DC2A-C6F3-495F-17DF51E31272}"/>
              </a:ext>
            </a:extLst>
          </p:cNvPr>
          <p:cNvSpPr txBox="1"/>
          <p:nvPr/>
        </p:nvSpPr>
        <p:spPr>
          <a:xfrm>
            <a:off x="6265147" y="4720587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FPCN</a:t>
            </a:r>
          </a:p>
        </p:txBody>
      </p:sp>
    </p:spTree>
    <p:extLst>
      <p:ext uri="{BB962C8B-B14F-4D97-AF65-F5344CB8AC3E}">
        <p14:creationId xmlns:p14="http://schemas.microsoft.com/office/powerpoint/2010/main" val="21783348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7E6D2-D0C8-2963-4267-67194FAB8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Quadrants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578582D8-45AF-6C0F-B362-0EC6507DFD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8474" y="2812571"/>
            <a:ext cx="6035052" cy="2377445"/>
          </a:xfr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0F0C577A-0D90-DEBC-9669-54DD60BE8FE1}"/>
              </a:ext>
            </a:extLst>
          </p:cNvPr>
          <p:cNvSpPr/>
          <p:nvPr/>
        </p:nvSpPr>
        <p:spPr>
          <a:xfrm rot="4759015">
            <a:off x="5133089" y="2747323"/>
            <a:ext cx="696522" cy="32273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7F1B327-874C-049A-2EFE-712C2F138A57}"/>
              </a:ext>
            </a:extLst>
          </p:cNvPr>
          <p:cNvSpPr txBox="1">
            <a:spLocks/>
          </p:cNvSpPr>
          <p:nvPr/>
        </p:nvSpPr>
        <p:spPr>
          <a:xfrm>
            <a:off x="914400" y="1581260"/>
            <a:ext cx="11315695" cy="7904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 two modules can be split into quadrants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2EC166-DE6B-50EF-6C6E-1A6741C7A44C}"/>
              </a:ext>
            </a:extLst>
          </p:cNvPr>
          <p:cNvSpPr txBox="1"/>
          <p:nvPr/>
        </p:nvSpPr>
        <p:spPr>
          <a:xfrm>
            <a:off x="4922258" y="2175008"/>
            <a:ext cx="864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Outlier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BB0212-A703-E44F-A9EB-02B2AD3474DE}"/>
              </a:ext>
            </a:extLst>
          </p:cNvPr>
          <p:cNvSpPr txBox="1"/>
          <p:nvPr/>
        </p:nvSpPr>
        <p:spPr>
          <a:xfrm>
            <a:off x="3969806" y="2523567"/>
            <a:ext cx="12298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Parietal</a:t>
            </a:r>
            <a:endParaRPr lang="en-US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8C0F57-AF8E-41FF-B163-B1FDF0B50170}"/>
              </a:ext>
            </a:extLst>
          </p:cNvPr>
          <p:cNvSpPr txBox="1"/>
          <p:nvPr/>
        </p:nvSpPr>
        <p:spPr>
          <a:xfrm>
            <a:off x="4302345" y="5035644"/>
            <a:ext cx="14842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solidFill>
                  <a:srgbClr val="E5A90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OccTemp</a:t>
            </a:r>
            <a:endParaRPr lang="en-US" dirty="0">
              <a:solidFill>
                <a:srgbClr val="E5A90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23430A-F295-F4FB-B4AC-25C2BDC856BC}"/>
              </a:ext>
            </a:extLst>
          </p:cNvPr>
          <p:cNvSpPr txBox="1"/>
          <p:nvPr/>
        </p:nvSpPr>
        <p:spPr>
          <a:xfrm>
            <a:off x="6644890" y="4881271"/>
            <a:ext cx="7260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  <a:endParaRPr lang="en-US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FCA986-A1FF-5C2F-DE22-62F557A1D1A4}"/>
              </a:ext>
            </a:extLst>
          </p:cNvPr>
          <p:cNvSpPr txBox="1"/>
          <p:nvPr/>
        </p:nvSpPr>
        <p:spPr>
          <a:xfrm>
            <a:off x="6570767" y="2581738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  <a:endParaRPr 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7341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5">
            <a:extLst>
              <a:ext uri="{FF2B5EF4-FFF2-40B4-BE49-F238E27FC236}">
                <a16:creationId xmlns:a16="http://schemas.microsoft.com/office/drawing/2014/main" id="{36D8FAAA-505E-3DAA-4ABD-1E313CC7B7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8474" y="2812571"/>
            <a:ext cx="6035052" cy="237744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BF7E6D2-D0C8-2963-4267-67194FAB8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Quadrants (scrubbing)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7F1B327-874C-049A-2EFE-712C2F138A57}"/>
              </a:ext>
            </a:extLst>
          </p:cNvPr>
          <p:cNvSpPr txBox="1">
            <a:spLocks/>
          </p:cNvSpPr>
          <p:nvPr/>
        </p:nvSpPr>
        <p:spPr>
          <a:xfrm>
            <a:off x="914400" y="1581260"/>
            <a:ext cx="11315695" cy="7904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 two modules can be split into quadrants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BB0212-A703-E44F-A9EB-02B2AD3474DE}"/>
              </a:ext>
            </a:extLst>
          </p:cNvPr>
          <p:cNvSpPr txBox="1"/>
          <p:nvPr/>
        </p:nvSpPr>
        <p:spPr>
          <a:xfrm>
            <a:off x="3969806" y="2523567"/>
            <a:ext cx="12298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Parietal</a:t>
            </a:r>
            <a:endParaRPr lang="en-US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8C0F57-AF8E-41FF-B163-B1FDF0B50170}"/>
              </a:ext>
            </a:extLst>
          </p:cNvPr>
          <p:cNvSpPr txBox="1"/>
          <p:nvPr/>
        </p:nvSpPr>
        <p:spPr>
          <a:xfrm>
            <a:off x="4302345" y="5035644"/>
            <a:ext cx="14842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solidFill>
                  <a:srgbClr val="E5A90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OccTemp</a:t>
            </a:r>
            <a:endParaRPr lang="en-US" dirty="0">
              <a:solidFill>
                <a:srgbClr val="E5A90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23430A-F295-F4FB-B4AC-25C2BDC856BC}"/>
              </a:ext>
            </a:extLst>
          </p:cNvPr>
          <p:cNvSpPr txBox="1"/>
          <p:nvPr/>
        </p:nvSpPr>
        <p:spPr>
          <a:xfrm>
            <a:off x="6644890" y="4881271"/>
            <a:ext cx="7260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  <a:endParaRPr lang="en-US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FCA986-A1FF-5C2F-DE22-62F557A1D1A4}"/>
              </a:ext>
            </a:extLst>
          </p:cNvPr>
          <p:cNvSpPr txBox="1"/>
          <p:nvPr/>
        </p:nvSpPr>
        <p:spPr>
          <a:xfrm>
            <a:off x="6570767" y="2581738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  <a:endParaRPr 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8B5D3095-D1DC-0403-A837-934DED0FC589}"/>
              </a:ext>
            </a:extLst>
          </p:cNvPr>
          <p:cNvSpPr/>
          <p:nvPr/>
        </p:nvSpPr>
        <p:spPr>
          <a:xfrm rot="4759015">
            <a:off x="5133089" y="2747323"/>
            <a:ext cx="696522" cy="32273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F85199E-14F4-20F6-58F8-49ACE947B33E}"/>
              </a:ext>
            </a:extLst>
          </p:cNvPr>
          <p:cNvSpPr txBox="1"/>
          <p:nvPr/>
        </p:nvSpPr>
        <p:spPr>
          <a:xfrm>
            <a:off x="4922258" y="2175008"/>
            <a:ext cx="864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Outlier</a:t>
            </a:r>
          </a:p>
        </p:txBody>
      </p:sp>
    </p:spTree>
    <p:extLst>
      <p:ext uri="{BB962C8B-B14F-4D97-AF65-F5344CB8AC3E}">
        <p14:creationId xmlns:p14="http://schemas.microsoft.com/office/powerpoint/2010/main" val="593412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7DF90356-8B7B-855D-BF2A-48FFC4AC24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8474" y="2812571"/>
            <a:ext cx="6035052" cy="2377445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BF7E6D2-D0C8-2963-4267-67194FAB8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Anatomical Quadrant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7F1B327-874C-049A-2EFE-712C2F138A57}"/>
              </a:ext>
            </a:extLst>
          </p:cNvPr>
          <p:cNvSpPr txBox="1">
            <a:spLocks/>
          </p:cNvSpPr>
          <p:nvPr/>
        </p:nvSpPr>
        <p:spPr>
          <a:xfrm>
            <a:off x="914400" y="1581260"/>
            <a:ext cx="11315695" cy="79046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 quadrants could be defined anatomically</a:t>
            </a:r>
          </a:p>
          <a:p>
            <a:pPr lvl="1"/>
            <a:r>
              <a:rPr lang="en-US" dirty="0"/>
              <a:t>Here, I picked regions based on the atlas region labels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BB0212-A703-E44F-A9EB-02B2AD3474DE}"/>
              </a:ext>
            </a:extLst>
          </p:cNvPr>
          <p:cNvSpPr txBox="1"/>
          <p:nvPr/>
        </p:nvSpPr>
        <p:spPr>
          <a:xfrm>
            <a:off x="3969806" y="2523567"/>
            <a:ext cx="12298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Parietal</a:t>
            </a:r>
            <a:endParaRPr lang="en-US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8C0F57-AF8E-41FF-B163-B1FDF0B50170}"/>
              </a:ext>
            </a:extLst>
          </p:cNvPr>
          <p:cNvSpPr txBox="1"/>
          <p:nvPr/>
        </p:nvSpPr>
        <p:spPr>
          <a:xfrm>
            <a:off x="4302345" y="5035644"/>
            <a:ext cx="14842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solidFill>
                  <a:srgbClr val="E5A90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OccTemp</a:t>
            </a:r>
            <a:endParaRPr lang="en-US" dirty="0">
              <a:solidFill>
                <a:srgbClr val="E5A90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23430A-F295-F4FB-B4AC-25C2BDC856BC}"/>
              </a:ext>
            </a:extLst>
          </p:cNvPr>
          <p:cNvSpPr txBox="1"/>
          <p:nvPr/>
        </p:nvSpPr>
        <p:spPr>
          <a:xfrm>
            <a:off x="6644890" y="4881271"/>
            <a:ext cx="7260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  <a:endParaRPr lang="en-US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FCA986-A1FF-5C2F-DE22-62F557A1D1A4}"/>
              </a:ext>
            </a:extLst>
          </p:cNvPr>
          <p:cNvSpPr txBox="1"/>
          <p:nvPr/>
        </p:nvSpPr>
        <p:spPr>
          <a:xfrm>
            <a:off x="6570767" y="2581738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  <a:endParaRPr 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E3E1DE-4162-080B-5C94-D2F894FBB587}"/>
              </a:ext>
            </a:extLst>
          </p:cNvPr>
          <p:cNvSpPr txBox="1">
            <a:spLocks/>
          </p:cNvSpPr>
          <p:nvPr/>
        </p:nvSpPr>
        <p:spPr>
          <a:xfrm>
            <a:off x="912919" y="5702409"/>
            <a:ext cx="11315695" cy="7904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 didn’t pursue this in the current slides’ results, but it’s an option</a:t>
            </a:r>
          </a:p>
        </p:txBody>
      </p:sp>
    </p:spTree>
    <p:extLst>
      <p:ext uri="{BB962C8B-B14F-4D97-AF65-F5344CB8AC3E}">
        <p14:creationId xmlns:p14="http://schemas.microsoft.com/office/powerpoint/2010/main" val="14992241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47D30-34BF-FAC0-142E-5CF5AA72E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64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Traditional modularity results (for reference)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506B6B-5B83-0519-2716-04D5641683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5644" y="1171010"/>
            <a:ext cx="10515600" cy="564745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Modules based on average connectivity (quite localized)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CBA04A-94AC-95BE-E7C4-6F2788FAB1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4797" y="1799831"/>
            <a:ext cx="4032119" cy="1600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F90E7E4-D107-2211-15CC-964CB406C5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7158" y="1757578"/>
            <a:ext cx="4032119" cy="1600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8C22515-A878-FDAF-CE8A-558A10735F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4797" y="3454770"/>
            <a:ext cx="4032119" cy="16002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EA7AC72-5C94-4603-4AD9-E741F076C06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7158" y="3433644"/>
            <a:ext cx="4032119" cy="16002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36DC88B-0EB0-6527-B15C-F43760B5D08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4797" y="5109709"/>
            <a:ext cx="4032119" cy="16002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AF1E12D-BD83-6564-CF27-280C18EF6A7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7158" y="5109709"/>
            <a:ext cx="4032119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6270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99F03-E6B5-D49E-38E6-4279343DD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726" y="312127"/>
            <a:ext cx="5467350" cy="1325563"/>
          </a:xfrm>
        </p:spPr>
        <p:txBody>
          <a:bodyPr/>
          <a:lstStyle/>
          <a:p>
            <a:r>
              <a:rPr lang="en-US" dirty="0"/>
              <a:t>Quadrant seeds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06C1B65-FDA8-0817-0D47-49BE207B48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0665" y="3573455"/>
            <a:ext cx="2194560" cy="274320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F9066B0-63A2-E535-2AB2-2A20590604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8924" y="3573455"/>
            <a:ext cx="2194560" cy="2743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5199E9E-7659-B85C-7F54-19806BBF4C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8924" y="830255"/>
            <a:ext cx="2194560" cy="27432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0FBB891-1B0C-218C-2EE8-3DD3E6401A6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0665" y="830255"/>
            <a:ext cx="2194560" cy="2743200"/>
          </a:xfrm>
          <a:prstGeom prst="rect">
            <a:avLst/>
          </a:prstGeom>
        </p:spPr>
      </p:pic>
      <p:pic>
        <p:nvPicPr>
          <p:cNvPr id="12" name="Content Placeholder 8">
            <a:extLst>
              <a:ext uri="{FF2B5EF4-FFF2-40B4-BE49-F238E27FC236}">
                <a16:creationId xmlns:a16="http://schemas.microsoft.com/office/drawing/2014/main" id="{A3C7AC70-9ED7-6C4B-530C-51F80CBDE93D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903" r="29956"/>
          <a:stretch/>
        </p:blipFill>
        <p:spPr>
          <a:xfrm>
            <a:off x="2159492" y="1538288"/>
            <a:ext cx="3492087" cy="351462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A210BB6-A31A-2103-D5B0-A4B2342DAB1F}"/>
              </a:ext>
            </a:extLst>
          </p:cNvPr>
          <p:cNvSpPr txBox="1"/>
          <p:nvPr/>
        </p:nvSpPr>
        <p:spPr>
          <a:xfrm>
            <a:off x="1501995" y="1802401"/>
            <a:ext cx="12298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Parietal</a:t>
            </a:r>
            <a:endParaRPr lang="en-US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1632F09-E86E-DF40-E2DE-C47553C0A4C3}"/>
              </a:ext>
            </a:extLst>
          </p:cNvPr>
          <p:cNvSpPr txBox="1"/>
          <p:nvPr/>
        </p:nvSpPr>
        <p:spPr>
          <a:xfrm>
            <a:off x="768155" y="3080531"/>
            <a:ext cx="14842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solidFill>
                  <a:srgbClr val="E5A90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OccTemp</a:t>
            </a:r>
            <a:endParaRPr lang="en-US" dirty="0">
              <a:solidFill>
                <a:srgbClr val="E5A90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6278405-B808-FBBE-FB31-9B6740ABEC37}"/>
              </a:ext>
            </a:extLst>
          </p:cNvPr>
          <p:cNvSpPr txBox="1"/>
          <p:nvPr/>
        </p:nvSpPr>
        <p:spPr>
          <a:xfrm>
            <a:off x="4511290" y="4257973"/>
            <a:ext cx="7260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  <a:endParaRPr lang="en-US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61B39EC-E592-B476-570A-B5F5624F93D7}"/>
              </a:ext>
            </a:extLst>
          </p:cNvPr>
          <p:cNvSpPr txBox="1"/>
          <p:nvPr/>
        </p:nvSpPr>
        <p:spPr>
          <a:xfrm>
            <a:off x="5508857" y="2421880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  <a:endParaRPr 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Content Placeholder 4">
            <a:extLst>
              <a:ext uri="{FF2B5EF4-FFF2-40B4-BE49-F238E27FC236}">
                <a16:creationId xmlns:a16="http://schemas.microsoft.com/office/drawing/2014/main" id="{4470B0C8-49DF-6F7F-E33B-CAD1EFB175F9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360"/>
          <a:stretch/>
        </p:blipFill>
        <p:spPr>
          <a:xfrm>
            <a:off x="418878" y="4228568"/>
            <a:ext cx="1760462" cy="2339781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C3E15FA9-080C-AAE2-ECC2-8F6F75232BCC}"/>
              </a:ext>
            </a:extLst>
          </p:cNvPr>
          <p:cNvSpPr/>
          <p:nvPr/>
        </p:nvSpPr>
        <p:spPr>
          <a:xfrm>
            <a:off x="6888924" y="820729"/>
            <a:ext cx="2194560" cy="2743200"/>
          </a:xfrm>
          <a:prstGeom prst="rect">
            <a:avLst/>
          </a:prstGeom>
          <a:noFill/>
          <a:ln w="38100">
            <a:solidFill>
              <a:srgbClr val="08CE3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F245062-6A22-9D35-E37A-C12A6AB6300D}"/>
              </a:ext>
            </a:extLst>
          </p:cNvPr>
          <p:cNvSpPr/>
          <p:nvPr/>
        </p:nvSpPr>
        <p:spPr>
          <a:xfrm>
            <a:off x="6888924" y="3621079"/>
            <a:ext cx="2194560" cy="2743200"/>
          </a:xfrm>
          <a:prstGeom prst="rect">
            <a:avLst/>
          </a:prstGeom>
          <a:noFill/>
          <a:ln w="38100">
            <a:solidFill>
              <a:srgbClr val="E5A9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0A9876A-D3B5-513F-97E0-630D65E1FB01}"/>
              </a:ext>
            </a:extLst>
          </p:cNvPr>
          <p:cNvSpPr/>
          <p:nvPr/>
        </p:nvSpPr>
        <p:spPr>
          <a:xfrm>
            <a:off x="9140190" y="3621079"/>
            <a:ext cx="2194560" cy="2743200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1954798-1BD3-FB2C-8D4A-0C1B33F7AB03}"/>
              </a:ext>
            </a:extLst>
          </p:cNvPr>
          <p:cNvSpPr/>
          <p:nvPr/>
        </p:nvSpPr>
        <p:spPr>
          <a:xfrm>
            <a:off x="9140190" y="820729"/>
            <a:ext cx="2194560" cy="2743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B09755D-93C6-D848-FF7F-53B609AB6852}"/>
              </a:ext>
            </a:extLst>
          </p:cNvPr>
          <p:cNvSpPr txBox="1"/>
          <p:nvPr/>
        </p:nvSpPr>
        <p:spPr>
          <a:xfrm>
            <a:off x="9837360" y="349538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  <a:endParaRPr 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F98654E-F61F-B1EA-2E4C-062B0C2CFC20}"/>
              </a:ext>
            </a:extLst>
          </p:cNvPr>
          <p:cNvSpPr txBox="1"/>
          <p:nvPr/>
        </p:nvSpPr>
        <p:spPr>
          <a:xfrm>
            <a:off x="9911483" y="6396335"/>
            <a:ext cx="7260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  <a:endParaRPr lang="en-US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06847A1-95C6-A905-8B1A-A589E8D141B0}"/>
              </a:ext>
            </a:extLst>
          </p:cNvPr>
          <p:cNvSpPr txBox="1"/>
          <p:nvPr/>
        </p:nvSpPr>
        <p:spPr>
          <a:xfrm>
            <a:off x="7303164" y="6396334"/>
            <a:ext cx="14842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solidFill>
                  <a:srgbClr val="E5A90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OccTemp</a:t>
            </a:r>
            <a:endParaRPr lang="en-US" dirty="0">
              <a:solidFill>
                <a:srgbClr val="E5A90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EF18436-963C-8C29-C4CF-0A2D18768A89}"/>
              </a:ext>
            </a:extLst>
          </p:cNvPr>
          <p:cNvSpPr txBox="1"/>
          <p:nvPr/>
        </p:nvSpPr>
        <p:spPr>
          <a:xfrm>
            <a:off x="7371292" y="349538"/>
            <a:ext cx="12298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Parietal</a:t>
            </a:r>
            <a:endParaRPr lang="en-US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A908AC8-2E97-4DEC-B1AE-F77D72E56377}"/>
              </a:ext>
            </a:extLst>
          </p:cNvPr>
          <p:cNvSpPr txBox="1"/>
          <p:nvPr/>
        </p:nvSpPr>
        <p:spPr>
          <a:xfrm>
            <a:off x="3396836" y="5412937"/>
            <a:ext cx="28833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Each quadrant was tested as a seed</a:t>
            </a:r>
          </a:p>
        </p:txBody>
      </p:sp>
    </p:spTree>
    <p:extLst>
      <p:ext uri="{BB962C8B-B14F-4D97-AF65-F5344CB8AC3E}">
        <p14:creationId xmlns:p14="http://schemas.microsoft.com/office/powerpoint/2010/main" val="3701406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A900D-B6F5-C0C9-D5C8-D15FCAB78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Background: Dynamic functional connectivity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F308B2-FEB0-2B8D-1812-9121D12D76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4700" y="1508125"/>
            <a:ext cx="5207000" cy="5114925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Richard </a:t>
            </a:r>
            <a:r>
              <a:rPr lang="en-US" sz="2400" dirty="0" err="1"/>
              <a:t>Betzel</a:t>
            </a:r>
            <a:r>
              <a:rPr lang="en-US" sz="2400" dirty="0"/>
              <a:t> and Olaf </a:t>
            </a:r>
            <a:r>
              <a:rPr lang="en-US" sz="2400" dirty="0" err="1"/>
              <a:t>Sporns</a:t>
            </a:r>
            <a:r>
              <a:rPr lang="en-US" sz="2400" dirty="0"/>
              <a:t> argue in a recent </a:t>
            </a:r>
            <a:r>
              <a:rPr lang="en-US" sz="2400" dirty="0" err="1"/>
              <a:t>TiCS</a:t>
            </a:r>
            <a:r>
              <a:rPr lang="en-US" sz="2400" dirty="0"/>
              <a:t> paper:</a:t>
            </a:r>
          </a:p>
          <a:p>
            <a:pPr lvl="1"/>
            <a:r>
              <a:rPr lang="en-US" sz="2000" dirty="0"/>
              <a:t>Functional connectivity can be studied as a dynamic process</a:t>
            </a:r>
          </a:p>
          <a:p>
            <a:r>
              <a:rPr lang="en-US" sz="2400" dirty="0"/>
              <a:t>That is what I did here</a:t>
            </a:r>
          </a:p>
          <a:p>
            <a:pPr lvl="1"/>
            <a:r>
              <a:rPr lang="en-US" sz="2000" dirty="0"/>
              <a:t>I (and Shenyang) have been measuring timepoint-specific connectivity, as just the product between activation in two areas</a:t>
            </a:r>
          </a:p>
          <a:p>
            <a:pPr lvl="1"/>
            <a:r>
              <a:rPr lang="en-US" sz="2000" dirty="0"/>
              <a:t>They advocate for this and call it “time-varying FC”</a:t>
            </a:r>
          </a:p>
          <a:p>
            <a:r>
              <a:rPr lang="en-US" sz="2400" dirty="0"/>
              <a:t>They also argue that the correlations between modules/networks are meaningful</a:t>
            </a:r>
          </a:p>
          <a:p>
            <a:pPr lvl="1"/>
            <a:r>
              <a:rPr lang="en-US" sz="2000" dirty="0"/>
              <a:t>Correlate on a TR-by-TR basis</a:t>
            </a:r>
          </a:p>
          <a:p>
            <a:pPr lvl="1"/>
            <a:r>
              <a:rPr lang="en-US" sz="2000" dirty="0"/>
              <a:t>Reflect brain states and transitions</a:t>
            </a:r>
          </a:p>
          <a:p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4AAD4C-84E5-7AE4-5376-176E2A6F59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9342" y="2125998"/>
            <a:ext cx="2098585" cy="1828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C29CBD0-4740-B1F4-1087-3FFFDA7933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8750" y="4130322"/>
            <a:ext cx="2098585" cy="1828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58B94A0-412F-7FEE-3BF7-9098C9EACA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1295" y="4130322"/>
            <a:ext cx="2097215" cy="1828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852B135-EED6-2407-450F-D863BC548C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8732" y="2125998"/>
            <a:ext cx="2099778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241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8C5AA-ABDF-530A-4FA5-2BF7C5A5F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615" y="117614"/>
            <a:ext cx="3530600" cy="1325563"/>
          </a:xfrm>
        </p:spPr>
        <p:txBody>
          <a:bodyPr/>
          <a:lstStyle/>
          <a:p>
            <a:r>
              <a:rPr lang="en-US" sz="4400" dirty="0"/>
              <a:t>Ven x Dor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D1F231-2B58-3B4D-A3CC-317A916BC7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995" y="1443177"/>
            <a:ext cx="4238780" cy="2384425"/>
          </a:xfrm>
        </p:spPr>
        <p:txBody>
          <a:bodyPr>
            <a:normAutofit/>
          </a:bodyPr>
          <a:lstStyle/>
          <a:p>
            <a:r>
              <a:rPr lang="en-US" sz="2400" dirty="0"/>
              <a:t>Connectivity is not static</a:t>
            </a:r>
          </a:p>
          <a:p>
            <a:r>
              <a:rPr lang="en-US" sz="2400" dirty="0"/>
              <a:t>The modules are in flux</a:t>
            </a:r>
          </a:p>
          <a:p>
            <a:pPr lvl="1"/>
            <a:r>
              <a:rPr lang="en-US" sz="2000" dirty="0"/>
              <a:t>Notably, this (clear) fluctuation gives credence to organizing them as Ven &amp; Dor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54FDDD-CE7D-275E-F62E-8A1A9FFD8F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5400" y="826310"/>
            <a:ext cx="5355077" cy="535507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E3BD728-CAB7-1572-02FC-A374C2BED872}"/>
              </a:ext>
            </a:extLst>
          </p:cNvPr>
          <p:cNvSpPr/>
          <p:nvPr/>
        </p:nvSpPr>
        <p:spPr>
          <a:xfrm>
            <a:off x="6713031" y="3299514"/>
            <a:ext cx="2586990" cy="2715895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1F3A59-45F7-B15E-A8AA-3EFA07EE2183}"/>
              </a:ext>
            </a:extLst>
          </p:cNvPr>
          <p:cNvSpPr txBox="1"/>
          <p:nvPr/>
        </p:nvSpPr>
        <p:spPr>
          <a:xfrm>
            <a:off x="6875122" y="4206885"/>
            <a:ext cx="2351428" cy="646331"/>
          </a:xfrm>
          <a:prstGeom prst="rect">
            <a:avLst/>
          </a:prstGeom>
          <a:solidFill>
            <a:schemeClr val="bg1">
              <a:alpha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Negative correlations indicating fluctuation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DE3357F-113F-1C99-53A4-3DE9A873A4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8168" y="3664496"/>
            <a:ext cx="1364080" cy="11887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4D3CD07-B779-463B-9FE7-3EA30BFE1F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8168" y="5122720"/>
            <a:ext cx="1364080" cy="11887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75C315D-8068-DF1A-D6CE-2F612F2150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9195" y="2206272"/>
            <a:ext cx="1363190" cy="11887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78824B0-7B69-E029-D7FA-95D878581FC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47044" y="748048"/>
            <a:ext cx="1364856" cy="11887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9A20CF5-1112-41EF-DB9A-350C84B676E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1521" y="3566442"/>
            <a:ext cx="3895130" cy="143509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8EBA2DF-7030-A3C7-C1BE-16BD95AD00BA}"/>
              </a:ext>
            </a:extLst>
          </p:cNvPr>
          <p:cNvSpPr txBox="1"/>
          <p:nvPr/>
        </p:nvSpPr>
        <p:spPr>
          <a:xfrm>
            <a:off x="419791" y="5110391"/>
            <a:ext cx="41768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Perhaps instead of calling Ven and Dor as modules, it’s more appropriate to reference a “Ven-Dor state”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Processing congruency pushes participants toward the Ven-Dor state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25A313B-7908-2AF3-DFDE-9F6530A085CE}"/>
              </a:ext>
            </a:extLst>
          </p:cNvPr>
          <p:cNvSpPr txBox="1"/>
          <p:nvPr/>
        </p:nvSpPr>
        <p:spPr>
          <a:xfrm>
            <a:off x="6417131" y="6257955"/>
            <a:ext cx="53550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This figure just shows correlations from pooling every participant’s data into a big dataset but everything is consistent when I use multilevel regressions</a:t>
            </a:r>
          </a:p>
        </p:txBody>
      </p:sp>
    </p:spTree>
    <p:extLst>
      <p:ext uri="{BB962C8B-B14F-4D97-AF65-F5344CB8AC3E}">
        <p14:creationId xmlns:p14="http://schemas.microsoft.com/office/powerpoint/2010/main" val="7928321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2B358-C225-5257-2356-A3D46F458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5533"/>
            <a:ext cx="10515600" cy="1086785"/>
          </a:xfrm>
        </p:spPr>
        <p:txBody>
          <a:bodyPr/>
          <a:lstStyle/>
          <a:p>
            <a:r>
              <a:rPr lang="en-US" dirty="0"/>
              <a:t>Results 1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42F85-B9AF-622F-D6AE-E91D64BAAF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643" y="1418032"/>
            <a:ext cx="10849157" cy="2410522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Processing congruency upregulates connectivity within a Ven module and a </a:t>
            </a:r>
            <a:r>
              <a:rPr lang="en-US" dirty="0" err="1"/>
              <a:t>Dor</a:t>
            </a:r>
            <a:r>
              <a:rPr lang="en-US" dirty="0"/>
              <a:t> module</a:t>
            </a:r>
          </a:p>
          <a:p>
            <a:r>
              <a:rPr lang="en-US" dirty="0"/>
              <a:t>More specifically…</a:t>
            </a:r>
          </a:p>
          <a:p>
            <a:pPr lvl="1"/>
            <a:r>
              <a:rPr lang="en-US" dirty="0"/>
              <a:t>Individuals (YA and OA) are continuously fluctuating between a Pos-Ant state &amp; Ven-Dor state</a:t>
            </a:r>
          </a:p>
          <a:p>
            <a:pPr lvl="1"/>
            <a:r>
              <a:rPr lang="en-US" dirty="0"/>
              <a:t>Processing congruency pushes individuals toward Ven-</a:t>
            </a:r>
            <a:r>
              <a:rPr lang="en-US" dirty="0" err="1"/>
              <a:t>Dor</a:t>
            </a:r>
            <a:endParaRPr lang="en-US" dirty="0"/>
          </a:p>
          <a:p>
            <a:pPr lvl="1"/>
            <a:r>
              <a:rPr lang="en-US" dirty="0"/>
              <a:t>I haven’t searched the literature, but I assume our work is not the first to show this type of horizontal vs. vertical fluctuation…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09AE980-1F53-1457-8523-B0C615D9C61A}"/>
              </a:ext>
            </a:extLst>
          </p:cNvPr>
          <p:cNvSpPr txBox="1"/>
          <p:nvPr/>
        </p:nvSpPr>
        <p:spPr>
          <a:xfrm>
            <a:off x="7903425" y="3864268"/>
            <a:ext cx="11689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Pos-Ant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3CB6633-3F43-5D4A-D4D6-B23039878408}"/>
              </a:ext>
            </a:extLst>
          </p:cNvPr>
          <p:cNvSpPr txBox="1"/>
          <p:nvPr/>
        </p:nvSpPr>
        <p:spPr>
          <a:xfrm>
            <a:off x="3624234" y="3864268"/>
            <a:ext cx="11691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Ven-Dor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63E4336C-8F79-D7E1-3C56-E0EA8509AF9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54" r="1"/>
          <a:stretch/>
        </p:blipFill>
        <p:spPr>
          <a:xfrm>
            <a:off x="2904676" y="4283909"/>
            <a:ext cx="2677937" cy="2333625"/>
          </a:xfrm>
          <a:prstGeom prst="rect">
            <a:avLst/>
          </a:prstGeom>
        </p:spPr>
      </p:pic>
      <p:sp>
        <p:nvSpPr>
          <p:cNvPr id="37" name="Oval 36">
            <a:extLst>
              <a:ext uri="{FF2B5EF4-FFF2-40B4-BE49-F238E27FC236}">
                <a16:creationId xmlns:a16="http://schemas.microsoft.com/office/drawing/2014/main" id="{FA47AE13-BB2E-5DDE-5478-18AF98DB4B1F}"/>
              </a:ext>
            </a:extLst>
          </p:cNvPr>
          <p:cNvSpPr/>
          <p:nvPr/>
        </p:nvSpPr>
        <p:spPr>
          <a:xfrm>
            <a:off x="3644242" y="4919993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7C718546-1052-8B71-B1B3-B8F73D172F0F}"/>
              </a:ext>
            </a:extLst>
          </p:cNvPr>
          <p:cNvSpPr/>
          <p:nvPr/>
        </p:nvSpPr>
        <p:spPr>
          <a:xfrm>
            <a:off x="4929370" y="5193573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B1D5FF58-3F0F-F84E-8B45-0DCB91A16C78}"/>
              </a:ext>
            </a:extLst>
          </p:cNvPr>
          <p:cNvCxnSpPr>
            <a:cxnSpLocks/>
          </p:cNvCxnSpPr>
          <p:nvPr/>
        </p:nvCxnSpPr>
        <p:spPr>
          <a:xfrm>
            <a:off x="3666256" y="4987673"/>
            <a:ext cx="1466316" cy="354656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Oval 39">
            <a:extLst>
              <a:ext uri="{FF2B5EF4-FFF2-40B4-BE49-F238E27FC236}">
                <a16:creationId xmlns:a16="http://schemas.microsoft.com/office/drawing/2014/main" id="{C53599BC-74D7-5B5E-5168-01C336C17837}"/>
              </a:ext>
            </a:extLst>
          </p:cNvPr>
          <p:cNvSpPr/>
          <p:nvPr/>
        </p:nvSpPr>
        <p:spPr>
          <a:xfrm>
            <a:off x="3513322" y="4827066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ECB21B1-F651-9B4D-4586-21C6CD97F87F}"/>
              </a:ext>
            </a:extLst>
          </p:cNvPr>
          <p:cNvSpPr txBox="1"/>
          <p:nvPr/>
        </p:nvSpPr>
        <p:spPr>
          <a:xfrm>
            <a:off x="4872713" y="5238478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17A8597-FEAA-90F7-F5BA-FE1024CE5FC7}"/>
              </a:ext>
            </a:extLst>
          </p:cNvPr>
          <p:cNvSpPr txBox="1"/>
          <p:nvPr/>
        </p:nvSpPr>
        <p:spPr>
          <a:xfrm>
            <a:off x="3475073" y="4862780"/>
            <a:ext cx="4427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3BAD9333-48F9-A15B-0665-8C6C0339A5BA}"/>
              </a:ext>
            </a:extLst>
          </p:cNvPr>
          <p:cNvSpPr/>
          <p:nvPr/>
        </p:nvSpPr>
        <p:spPr>
          <a:xfrm>
            <a:off x="4546733" y="6037616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FB1D7A2-C60B-16B9-5902-2E9F9A6150BA}"/>
              </a:ext>
            </a:extLst>
          </p:cNvPr>
          <p:cNvCxnSpPr>
            <a:cxnSpLocks/>
          </p:cNvCxnSpPr>
          <p:nvPr/>
        </p:nvCxnSpPr>
        <p:spPr>
          <a:xfrm>
            <a:off x="3249751" y="5703261"/>
            <a:ext cx="1369324" cy="470643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7535BFA0-2D3F-1FB2-164E-5481527139B4}"/>
              </a:ext>
            </a:extLst>
          </p:cNvPr>
          <p:cNvSpPr/>
          <p:nvPr/>
        </p:nvSpPr>
        <p:spPr>
          <a:xfrm>
            <a:off x="3096817" y="5542654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C47863A-2DA4-8E35-8A19-D0C10BEEE54A}"/>
              </a:ext>
            </a:extLst>
          </p:cNvPr>
          <p:cNvSpPr txBox="1"/>
          <p:nvPr/>
        </p:nvSpPr>
        <p:spPr>
          <a:xfrm>
            <a:off x="4489746" y="6064570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8CA96A7-8D2E-0121-C4D7-1D5845EF912E}"/>
              </a:ext>
            </a:extLst>
          </p:cNvPr>
          <p:cNvSpPr txBox="1"/>
          <p:nvPr/>
        </p:nvSpPr>
        <p:spPr>
          <a:xfrm>
            <a:off x="3039516" y="5573605"/>
            <a:ext cx="4732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EC9FD6E7-D761-E905-8CF7-3C31D675129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54" r="1"/>
          <a:stretch/>
        </p:blipFill>
        <p:spPr>
          <a:xfrm>
            <a:off x="7133934" y="4286524"/>
            <a:ext cx="2677937" cy="2333625"/>
          </a:xfrm>
          <a:prstGeom prst="rect">
            <a:avLst/>
          </a:prstGeom>
        </p:spPr>
      </p:pic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A0D7BB32-3E39-D464-8669-44F26BAE3DBC}"/>
              </a:ext>
            </a:extLst>
          </p:cNvPr>
          <p:cNvCxnSpPr>
            <a:cxnSpLocks/>
          </p:cNvCxnSpPr>
          <p:nvPr/>
        </p:nvCxnSpPr>
        <p:spPr>
          <a:xfrm flipH="1">
            <a:off x="7489402" y="5024995"/>
            <a:ext cx="407225" cy="70958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7B670027-B834-E429-5064-F163BFB5D916}"/>
              </a:ext>
            </a:extLst>
          </p:cNvPr>
          <p:cNvCxnSpPr>
            <a:cxnSpLocks/>
          </p:cNvCxnSpPr>
          <p:nvPr/>
        </p:nvCxnSpPr>
        <p:spPr>
          <a:xfrm flipH="1">
            <a:off x="8969404" y="5448403"/>
            <a:ext cx="304497" cy="68813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Oval 50">
            <a:extLst>
              <a:ext uri="{FF2B5EF4-FFF2-40B4-BE49-F238E27FC236}">
                <a16:creationId xmlns:a16="http://schemas.microsoft.com/office/drawing/2014/main" id="{E4754E1F-E1DA-2C76-C53E-8A42973A2FB4}"/>
              </a:ext>
            </a:extLst>
          </p:cNvPr>
          <p:cNvSpPr/>
          <p:nvPr/>
        </p:nvSpPr>
        <p:spPr>
          <a:xfrm>
            <a:off x="7850018" y="4922608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DA83CDD3-2DD2-14EB-43BF-180EF4EE1403}"/>
              </a:ext>
            </a:extLst>
          </p:cNvPr>
          <p:cNvSpPr/>
          <p:nvPr/>
        </p:nvSpPr>
        <p:spPr>
          <a:xfrm>
            <a:off x="9135146" y="5196188"/>
            <a:ext cx="338667" cy="33866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82A8C9A5-3D53-09F9-CA89-B739A494F3DD}"/>
              </a:ext>
            </a:extLst>
          </p:cNvPr>
          <p:cNvSpPr/>
          <p:nvPr/>
        </p:nvSpPr>
        <p:spPr>
          <a:xfrm>
            <a:off x="7719098" y="4829681"/>
            <a:ext cx="338667" cy="338667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8505E35-758C-9657-3CE4-25973347F17B}"/>
              </a:ext>
            </a:extLst>
          </p:cNvPr>
          <p:cNvSpPr txBox="1"/>
          <p:nvPr/>
        </p:nvSpPr>
        <p:spPr>
          <a:xfrm>
            <a:off x="9078489" y="5241093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35FDF71-8247-027F-F821-D7E80C02FA05}"/>
              </a:ext>
            </a:extLst>
          </p:cNvPr>
          <p:cNvSpPr txBox="1"/>
          <p:nvPr/>
        </p:nvSpPr>
        <p:spPr>
          <a:xfrm>
            <a:off x="7680849" y="4865395"/>
            <a:ext cx="4427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E7CA5F78-0C03-75B7-5124-A947AE614260}"/>
              </a:ext>
            </a:extLst>
          </p:cNvPr>
          <p:cNvSpPr/>
          <p:nvPr/>
        </p:nvSpPr>
        <p:spPr>
          <a:xfrm>
            <a:off x="8752509" y="6040231"/>
            <a:ext cx="338667" cy="33866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5372F526-9907-FC5F-02B6-CC11092FE837}"/>
              </a:ext>
            </a:extLst>
          </p:cNvPr>
          <p:cNvSpPr/>
          <p:nvPr/>
        </p:nvSpPr>
        <p:spPr>
          <a:xfrm>
            <a:off x="7302593" y="5545269"/>
            <a:ext cx="338667" cy="338667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458DBEB-9330-63C9-4D90-72137C5C5282}"/>
              </a:ext>
            </a:extLst>
          </p:cNvPr>
          <p:cNvSpPr txBox="1"/>
          <p:nvPr/>
        </p:nvSpPr>
        <p:spPr>
          <a:xfrm>
            <a:off x="8695522" y="6067185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B67F3C1-F41B-48F0-6472-58AB07C0224E}"/>
              </a:ext>
            </a:extLst>
          </p:cNvPr>
          <p:cNvSpPr txBox="1"/>
          <p:nvPr/>
        </p:nvSpPr>
        <p:spPr>
          <a:xfrm>
            <a:off x="7245292" y="5576220"/>
            <a:ext cx="4732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102E94C0-E225-CF39-35B6-2116E1EB5D51}"/>
              </a:ext>
            </a:extLst>
          </p:cNvPr>
          <p:cNvCxnSpPr>
            <a:cxnSpLocks/>
          </p:cNvCxnSpPr>
          <p:nvPr/>
        </p:nvCxnSpPr>
        <p:spPr>
          <a:xfrm>
            <a:off x="5775336" y="5396711"/>
            <a:ext cx="1121869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B10D8AF4-DD10-F2BF-53A8-2B0935126E04}"/>
              </a:ext>
            </a:extLst>
          </p:cNvPr>
          <p:cNvSpPr txBox="1"/>
          <p:nvPr/>
        </p:nvSpPr>
        <p:spPr>
          <a:xfrm>
            <a:off x="5541602" y="4341961"/>
            <a:ext cx="16914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Fluctuation</a:t>
            </a:r>
          </a:p>
        </p:txBody>
      </p:sp>
    </p:spTree>
    <p:extLst>
      <p:ext uri="{BB962C8B-B14F-4D97-AF65-F5344CB8AC3E}">
        <p14:creationId xmlns:p14="http://schemas.microsoft.com/office/powerpoint/2010/main" val="17405021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E060E-DF92-E297-76AD-A5499C51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interlude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7A6B8E-3B18-B299-DDED-E293EEA2D4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does high within-connectivity mean?</a:t>
            </a:r>
          </a:p>
          <a:p>
            <a:pPr lvl="1"/>
            <a:r>
              <a:rPr lang="en-US" dirty="0"/>
              <a:t>High dorsal?</a:t>
            </a:r>
          </a:p>
          <a:p>
            <a:pPr lvl="1"/>
            <a:r>
              <a:rPr lang="en-US" dirty="0"/>
              <a:t>High ventral?</a:t>
            </a:r>
          </a:p>
        </p:txBody>
      </p:sp>
    </p:spTree>
    <p:extLst>
      <p:ext uri="{BB962C8B-B14F-4D97-AF65-F5344CB8AC3E}">
        <p14:creationId xmlns:p14="http://schemas.microsoft.com/office/powerpoint/2010/main" val="7227758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696EC1-22FE-B315-373D-9E865D5F0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73E2A-A46A-D69C-C8CB-AB443501FF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1.5 New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C9AF83-E9E4-99D4-46A6-EC9EE1CFB9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2/13/2024</a:t>
            </a:r>
          </a:p>
        </p:txBody>
      </p:sp>
    </p:spTree>
    <p:extLst>
      <p:ext uri="{BB962C8B-B14F-4D97-AF65-F5344CB8AC3E}">
        <p14:creationId xmlns:p14="http://schemas.microsoft.com/office/powerpoint/2010/main" val="33493364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67228-F707-06E1-712D-7350B5CC6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Ven-Dor ROIs do not map onto network segmentations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0E8646-AC95-A53C-BF90-1929A0D8B8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240411" cy="4351338"/>
          </a:xfrm>
        </p:spPr>
        <p:txBody>
          <a:bodyPr/>
          <a:lstStyle/>
          <a:p>
            <a:r>
              <a:rPr lang="en-US" dirty="0"/>
              <a:t>In the meeting, I completely forgot that my visuals mention which resting-state network each ROI belongs to... (?!)</a:t>
            </a:r>
          </a:p>
          <a:p>
            <a:r>
              <a:rPr lang="en-US" dirty="0"/>
              <a:t>So, we can’t say that this is the FPCN obviously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A34939-4DDE-A8BC-0026-CB79436BC09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60"/>
          <a:stretch/>
        </p:blipFill>
        <p:spPr>
          <a:xfrm>
            <a:off x="5688105" y="1812784"/>
            <a:ext cx="6336186" cy="220882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9C842F4-92CE-4C90-6F1B-59C96D7434C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54" r="1"/>
          <a:stretch/>
        </p:blipFill>
        <p:spPr>
          <a:xfrm>
            <a:off x="8675863" y="4143702"/>
            <a:ext cx="2677937" cy="2333625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F3EA8BE3-5CF2-74EF-973A-9EEA1B9B0171}"/>
              </a:ext>
            </a:extLst>
          </p:cNvPr>
          <p:cNvSpPr/>
          <p:nvPr/>
        </p:nvSpPr>
        <p:spPr>
          <a:xfrm>
            <a:off x="9391947" y="4779786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6EBCA20-2480-57BA-7CEF-7914B822932F}"/>
              </a:ext>
            </a:extLst>
          </p:cNvPr>
          <p:cNvSpPr/>
          <p:nvPr/>
        </p:nvSpPr>
        <p:spPr>
          <a:xfrm>
            <a:off x="10677075" y="5053366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981D3E7-AA1B-23AE-B399-13246BCC5AD2}"/>
              </a:ext>
            </a:extLst>
          </p:cNvPr>
          <p:cNvCxnSpPr>
            <a:cxnSpLocks/>
          </p:cNvCxnSpPr>
          <p:nvPr/>
        </p:nvCxnSpPr>
        <p:spPr>
          <a:xfrm>
            <a:off x="9413961" y="4847466"/>
            <a:ext cx="1466316" cy="354656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97C8E40C-5908-3623-A97B-6D6665B58705}"/>
              </a:ext>
            </a:extLst>
          </p:cNvPr>
          <p:cNvSpPr/>
          <p:nvPr/>
        </p:nvSpPr>
        <p:spPr>
          <a:xfrm>
            <a:off x="9261027" y="4686859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B2DC39-9F63-04AD-C9D0-5D1B9D9C7B80}"/>
              </a:ext>
            </a:extLst>
          </p:cNvPr>
          <p:cNvSpPr txBox="1"/>
          <p:nvPr/>
        </p:nvSpPr>
        <p:spPr>
          <a:xfrm rot="815892">
            <a:off x="9508561" y="4585225"/>
            <a:ext cx="1428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Congruency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ED81C3-D81C-C52B-E411-FF09813230AD}"/>
              </a:ext>
            </a:extLst>
          </p:cNvPr>
          <p:cNvSpPr txBox="1"/>
          <p:nvPr/>
        </p:nvSpPr>
        <p:spPr>
          <a:xfrm>
            <a:off x="9222778" y="4722573"/>
            <a:ext cx="4427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402C0B-2C6B-4D73-E6BF-555130BDB802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9444153" y="4984183"/>
            <a:ext cx="371722" cy="790803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AAF9A11-86DE-43DA-16BD-3E57BA4AC41E}"/>
              </a:ext>
            </a:extLst>
          </p:cNvPr>
          <p:cNvCxnSpPr>
            <a:cxnSpLocks/>
          </p:cNvCxnSpPr>
          <p:nvPr/>
        </p:nvCxnSpPr>
        <p:spPr>
          <a:xfrm flipH="1">
            <a:off x="9869579" y="5238697"/>
            <a:ext cx="928736" cy="509529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7E95961A-6034-32A4-2000-A39403C58ED7}"/>
              </a:ext>
            </a:extLst>
          </p:cNvPr>
          <p:cNvSpPr/>
          <p:nvPr/>
        </p:nvSpPr>
        <p:spPr>
          <a:xfrm>
            <a:off x="9658303" y="5583103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6F35BE4-25DD-E8DA-992E-6D2E17510C70}"/>
              </a:ext>
            </a:extLst>
          </p:cNvPr>
          <p:cNvSpPr txBox="1"/>
          <p:nvPr/>
        </p:nvSpPr>
        <p:spPr>
          <a:xfrm>
            <a:off x="9599694" y="5627127"/>
            <a:ext cx="56013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MTG</a:t>
            </a:r>
            <a:endParaRPr lang="en-US" sz="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07BAEBB-8E30-34C1-F0FF-1B8E8AF9F58F}"/>
              </a:ext>
            </a:extLst>
          </p:cNvPr>
          <p:cNvSpPr txBox="1"/>
          <p:nvPr/>
        </p:nvSpPr>
        <p:spPr>
          <a:xfrm>
            <a:off x="10620418" y="5098271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2D10E6A-B80E-4B18-415A-670A33A1224E}"/>
              </a:ext>
            </a:extLst>
          </p:cNvPr>
          <p:cNvSpPr/>
          <p:nvPr/>
        </p:nvSpPr>
        <p:spPr>
          <a:xfrm>
            <a:off x="6420011" y="2917195"/>
            <a:ext cx="438150" cy="43815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1B39412-4037-D0B0-FB69-30180F7885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481460" y="4834166"/>
            <a:ext cx="1549629" cy="111573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9FF299D-C913-D7C9-5FAB-71F7469C460E}"/>
              </a:ext>
            </a:extLst>
          </p:cNvPr>
          <p:cNvSpPr txBox="1"/>
          <p:nvPr/>
        </p:nvSpPr>
        <p:spPr>
          <a:xfrm>
            <a:off x="6849752" y="4445481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FPCN</a:t>
            </a:r>
          </a:p>
        </p:txBody>
      </p:sp>
    </p:spTree>
    <p:extLst>
      <p:ext uri="{BB962C8B-B14F-4D97-AF65-F5344CB8AC3E}">
        <p14:creationId xmlns:p14="http://schemas.microsoft.com/office/powerpoint/2010/main" val="6941988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A9B1D8-90F3-46E2-387E-31803B4E9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E03E88FC-8E0B-82E6-5507-77CCC9546D8C}"/>
              </a:ext>
            </a:extLst>
          </p:cNvPr>
          <p:cNvCxnSpPr>
            <a:cxnSpLocks/>
          </p:cNvCxnSpPr>
          <p:nvPr/>
        </p:nvCxnSpPr>
        <p:spPr>
          <a:xfrm flipH="1">
            <a:off x="5283132" y="2853332"/>
            <a:ext cx="379384" cy="935765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9BD39312-A96D-8E57-E25D-619FBD60644A}"/>
              </a:ext>
            </a:extLst>
          </p:cNvPr>
          <p:cNvCxnSpPr>
            <a:cxnSpLocks/>
          </p:cNvCxnSpPr>
          <p:nvPr/>
        </p:nvCxnSpPr>
        <p:spPr>
          <a:xfrm flipH="1">
            <a:off x="6765958" y="3291755"/>
            <a:ext cx="405159" cy="935765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FA4EDEB-9EDA-2E97-3835-D3983DF8BA6C}"/>
              </a:ext>
            </a:extLst>
          </p:cNvPr>
          <p:cNvCxnSpPr>
            <a:cxnSpLocks/>
          </p:cNvCxnSpPr>
          <p:nvPr/>
        </p:nvCxnSpPr>
        <p:spPr>
          <a:xfrm>
            <a:off x="5251221" y="3780371"/>
            <a:ext cx="1369324" cy="470643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1966C2DF-D762-77A9-3D52-7E4CB8103ACF}"/>
              </a:ext>
            </a:extLst>
          </p:cNvPr>
          <p:cNvSpPr/>
          <p:nvPr/>
        </p:nvSpPr>
        <p:spPr>
          <a:xfrm>
            <a:off x="6548203" y="4114726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735C971-DE1F-35AC-8F99-86F9D9AA1FAB}"/>
              </a:ext>
            </a:extLst>
          </p:cNvPr>
          <p:cNvSpPr txBox="1"/>
          <p:nvPr/>
        </p:nvSpPr>
        <p:spPr>
          <a:xfrm>
            <a:off x="6491216" y="4141680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6CE90955-C10A-8161-A288-8D46F791D91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654" r="1"/>
          <a:stretch/>
        </p:blipFill>
        <p:spPr>
          <a:xfrm>
            <a:off x="4680831" y="2395801"/>
            <a:ext cx="2677937" cy="2333625"/>
          </a:xfrm>
          <a:prstGeom prst="rect">
            <a:avLst/>
          </a:prstGeom>
        </p:spPr>
      </p:pic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7EA55F64-5C49-08D0-0F58-4EAA0157FBFC}"/>
              </a:ext>
            </a:extLst>
          </p:cNvPr>
          <p:cNvCxnSpPr>
            <a:cxnSpLocks/>
          </p:cNvCxnSpPr>
          <p:nvPr/>
        </p:nvCxnSpPr>
        <p:spPr>
          <a:xfrm>
            <a:off x="5111635" y="2900346"/>
            <a:ext cx="1369324" cy="470643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53CE55A5-59DC-9113-EFCA-3231C79A1CBE}"/>
              </a:ext>
            </a:extLst>
          </p:cNvPr>
          <p:cNvCxnSpPr>
            <a:cxnSpLocks/>
          </p:cNvCxnSpPr>
          <p:nvPr/>
        </p:nvCxnSpPr>
        <p:spPr>
          <a:xfrm>
            <a:off x="5682025" y="2827511"/>
            <a:ext cx="1369324" cy="470643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Oval 51">
            <a:extLst>
              <a:ext uri="{FF2B5EF4-FFF2-40B4-BE49-F238E27FC236}">
                <a16:creationId xmlns:a16="http://schemas.microsoft.com/office/drawing/2014/main" id="{D467894E-976D-F70E-240B-7B34C730C287}"/>
              </a:ext>
            </a:extLst>
          </p:cNvPr>
          <p:cNvSpPr/>
          <p:nvPr/>
        </p:nvSpPr>
        <p:spPr>
          <a:xfrm>
            <a:off x="6979007" y="3161866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5A621DB-479C-DFBB-1B96-0B2F77B62779}"/>
              </a:ext>
            </a:extLst>
          </p:cNvPr>
          <p:cNvSpPr txBox="1"/>
          <p:nvPr/>
        </p:nvSpPr>
        <p:spPr>
          <a:xfrm>
            <a:off x="6922020" y="3188820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DC53295-5084-E768-99CA-809CBA35C16C}"/>
              </a:ext>
            </a:extLst>
          </p:cNvPr>
          <p:cNvCxnSpPr>
            <a:cxnSpLocks/>
          </p:cNvCxnSpPr>
          <p:nvPr/>
        </p:nvCxnSpPr>
        <p:spPr>
          <a:xfrm>
            <a:off x="6246916" y="4345320"/>
            <a:ext cx="380407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9EFB74F3-3053-F19C-3FD5-D47038034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3721"/>
            <a:ext cx="10515600" cy="856619"/>
          </a:xfrm>
        </p:spPr>
        <p:txBody>
          <a:bodyPr/>
          <a:lstStyle/>
          <a:p>
            <a:r>
              <a:rPr lang="en-US" dirty="0"/>
              <a:t>Further evidence of modularity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289285-DF72-4C95-3A3A-2E58DECCA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223" y="1227759"/>
            <a:ext cx="4016701" cy="457872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Ven edges move in sync with other Ven edges</a:t>
            </a:r>
          </a:p>
          <a:p>
            <a:pPr lvl="1"/>
            <a:r>
              <a:rPr lang="en-US" dirty="0"/>
              <a:t>L pos-ant x R pos-ant</a:t>
            </a:r>
          </a:p>
          <a:p>
            <a:pPr lvl="1"/>
            <a:r>
              <a:rPr lang="en-US" dirty="0"/>
              <a:t>L pos-ant x pos L-R</a:t>
            </a:r>
          </a:p>
          <a:p>
            <a:pPr lvl="1"/>
            <a:r>
              <a:rPr lang="en-US" dirty="0"/>
              <a:t>etc.</a:t>
            </a:r>
          </a:p>
          <a:p>
            <a:r>
              <a:rPr lang="en-US" dirty="0"/>
              <a:t>Dor doesn’t act as a single big module </a:t>
            </a:r>
          </a:p>
          <a:p>
            <a:r>
              <a:rPr lang="en-US" dirty="0"/>
              <a:t>Similar patterns for every task</a:t>
            </a:r>
          </a:p>
          <a:p>
            <a:r>
              <a:rPr lang="en-US" dirty="0"/>
              <a:t>Ven synchrony upregulated by Inc and OA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D8AAB86-6085-17A6-D563-1463E642CC8F}"/>
              </a:ext>
            </a:extLst>
          </p:cNvPr>
          <p:cNvCxnSpPr>
            <a:cxnSpLocks/>
          </p:cNvCxnSpPr>
          <p:nvPr/>
        </p:nvCxnSpPr>
        <p:spPr>
          <a:xfrm>
            <a:off x="4680831" y="3853206"/>
            <a:ext cx="1369324" cy="470643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4D724D7C-9C17-486A-EE4E-63AF16F8239F}"/>
              </a:ext>
            </a:extLst>
          </p:cNvPr>
          <p:cNvCxnSpPr>
            <a:cxnSpLocks/>
          </p:cNvCxnSpPr>
          <p:nvPr/>
        </p:nvCxnSpPr>
        <p:spPr>
          <a:xfrm>
            <a:off x="5235057" y="2853332"/>
            <a:ext cx="380407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5DE31227-2A4F-57CB-44F8-AA635E598DD8}"/>
              </a:ext>
            </a:extLst>
          </p:cNvPr>
          <p:cNvCxnSpPr>
            <a:cxnSpLocks/>
          </p:cNvCxnSpPr>
          <p:nvPr/>
        </p:nvCxnSpPr>
        <p:spPr>
          <a:xfrm>
            <a:off x="6670942" y="3436750"/>
            <a:ext cx="380407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Content Placeholder 2">
            <a:extLst>
              <a:ext uri="{FF2B5EF4-FFF2-40B4-BE49-F238E27FC236}">
                <a16:creationId xmlns:a16="http://schemas.microsoft.com/office/drawing/2014/main" id="{654EE59E-F9D3-DCF1-DA2B-31F3162793F7}"/>
              </a:ext>
            </a:extLst>
          </p:cNvPr>
          <p:cNvSpPr txBox="1">
            <a:spLocks/>
          </p:cNvSpPr>
          <p:nvPr/>
        </p:nvSpPr>
        <p:spPr>
          <a:xfrm>
            <a:off x="590636" y="5926729"/>
            <a:ext cx="11318917" cy="7694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/>
              <a:t>Although unrelated to ven-dor, I saw one other interesting pattern: All cross-hemisphere edges correlate with one another</a:t>
            </a:r>
          </a:p>
          <a:p>
            <a:r>
              <a:rPr lang="en-US" sz="1600" dirty="0"/>
              <a:t>e.g., parietal L-R connectivity correlates with ATL L-R connectivity</a:t>
            </a:r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50025C7D-3DB2-2A0B-3F99-F93AEDA193EB}"/>
              </a:ext>
            </a:extLst>
          </p:cNvPr>
          <p:cNvCxnSpPr>
            <a:cxnSpLocks/>
          </p:cNvCxnSpPr>
          <p:nvPr/>
        </p:nvCxnSpPr>
        <p:spPr>
          <a:xfrm flipH="1">
            <a:off x="4673176" y="2956052"/>
            <a:ext cx="405159" cy="935765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31B3D66D-87DA-21FB-5AE1-95B84AC59E57}"/>
              </a:ext>
            </a:extLst>
          </p:cNvPr>
          <p:cNvCxnSpPr>
            <a:cxnSpLocks/>
          </p:cNvCxnSpPr>
          <p:nvPr/>
        </p:nvCxnSpPr>
        <p:spPr>
          <a:xfrm flipH="1">
            <a:off x="6195568" y="3401130"/>
            <a:ext cx="381011" cy="938127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60AC260E-E534-D5FC-DE16-20B4D00C0784}"/>
              </a:ext>
            </a:extLst>
          </p:cNvPr>
          <p:cNvSpPr/>
          <p:nvPr/>
        </p:nvSpPr>
        <p:spPr>
          <a:xfrm>
            <a:off x="5977813" y="4187561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05F7528-F3CC-2A20-0967-8ABC9672A315}"/>
              </a:ext>
            </a:extLst>
          </p:cNvPr>
          <p:cNvSpPr txBox="1"/>
          <p:nvPr/>
        </p:nvSpPr>
        <p:spPr>
          <a:xfrm>
            <a:off x="5920826" y="4214515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2D8C802A-C024-E10E-A471-64B2933C2267}"/>
              </a:ext>
            </a:extLst>
          </p:cNvPr>
          <p:cNvSpPr/>
          <p:nvPr/>
        </p:nvSpPr>
        <p:spPr>
          <a:xfrm>
            <a:off x="6408617" y="3234701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8944E94-8BE3-AB21-C3BB-5DF1AD5F938A}"/>
              </a:ext>
            </a:extLst>
          </p:cNvPr>
          <p:cNvSpPr txBox="1"/>
          <p:nvPr/>
        </p:nvSpPr>
        <p:spPr>
          <a:xfrm>
            <a:off x="6351630" y="3261655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12AC25DA-063E-E9BA-CFEB-1A2B6950E9AD}"/>
              </a:ext>
            </a:extLst>
          </p:cNvPr>
          <p:cNvSpPr/>
          <p:nvPr/>
        </p:nvSpPr>
        <p:spPr>
          <a:xfrm>
            <a:off x="4958701" y="2739739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010E250-32A5-EBD4-4CD2-21443A639939}"/>
              </a:ext>
            </a:extLst>
          </p:cNvPr>
          <p:cNvSpPr txBox="1"/>
          <p:nvPr/>
        </p:nvSpPr>
        <p:spPr>
          <a:xfrm>
            <a:off x="4920450" y="2770690"/>
            <a:ext cx="4427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BA18A2B3-1AFD-5064-D2DF-DDAEE2CEB395}"/>
              </a:ext>
            </a:extLst>
          </p:cNvPr>
          <p:cNvSpPr/>
          <p:nvPr/>
        </p:nvSpPr>
        <p:spPr>
          <a:xfrm>
            <a:off x="5529091" y="2666904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56E5C4B-3FAF-686B-B31B-B90395DC99D5}"/>
              </a:ext>
            </a:extLst>
          </p:cNvPr>
          <p:cNvSpPr txBox="1"/>
          <p:nvPr/>
        </p:nvSpPr>
        <p:spPr>
          <a:xfrm>
            <a:off x="5490840" y="2697855"/>
            <a:ext cx="4427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03BF68F-5CC5-3318-4631-38F83045FED2}"/>
              </a:ext>
            </a:extLst>
          </p:cNvPr>
          <p:cNvCxnSpPr>
            <a:cxnSpLocks/>
          </p:cNvCxnSpPr>
          <p:nvPr/>
        </p:nvCxnSpPr>
        <p:spPr>
          <a:xfrm>
            <a:off x="4753598" y="3832510"/>
            <a:ext cx="380407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0CAD812E-87E9-AAD0-9BC4-283F82FD710F}"/>
              </a:ext>
            </a:extLst>
          </p:cNvPr>
          <p:cNvSpPr/>
          <p:nvPr/>
        </p:nvSpPr>
        <p:spPr>
          <a:xfrm>
            <a:off x="4527897" y="3692599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23CA63-BFF0-DFEE-BCF4-6A87795E37A7}"/>
              </a:ext>
            </a:extLst>
          </p:cNvPr>
          <p:cNvSpPr txBox="1"/>
          <p:nvPr/>
        </p:nvSpPr>
        <p:spPr>
          <a:xfrm>
            <a:off x="4470596" y="3723550"/>
            <a:ext cx="4732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7BA2470-B13C-0622-7C2D-81427F5E0762}"/>
              </a:ext>
            </a:extLst>
          </p:cNvPr>
          <p:cNvSpPr/>
          <p:nvPr/>
        </p:nvSpPr>
        <p:spPr>
          <a:xfrm>
            <a:off x="5098287" y="3619764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9A9A025-0C3D-6C10-DD54-513F18990681}"/>
              </a:ext>
            </a:extLst>
          </p:cNvPr>
          <p:cNvSpPr txBox="1"/>
          <p:nvPr/>
        </p:nvSpPr>
        <p:spPr>
          <a:xfrm>
            <a:off x="5040986" y="3650715"/>
            <a:ext cx="4732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E65936-0BDE-FA58-633C-68AFFA7235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1704" y="1211089"/>
            <a:ext cx="4516833" cy="45168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B672479-7CED-D432-A65C-029FD0C186E9}"/>
              </a:ext>
            </a:extLst>
          </p:cNvPr>
          <p:cNvSpPr txBox="1"/>
          <p:nvPr/>
        </p:nvSpPr>
        <p:spPr>
          <a:xfrm>
            <a:off x="8511540" y="1575582"/>
            <a:ext cx="2383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(Anatomical quadrants)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005F6C4-9E79-11EC-166A-0B6700BFB50F}"/>
              </a:ext>
            </a:extLst>
          </p:cNvPr>
          <p:cNvCxnSpPr>
            <a:cxnSpLocks/>
          </p:cNvCxnSpPr>
          <p:nvPr/>
        </p:nvCxnSpPr>
        <p:spPr>
          <a:xfrm flipV="1">
            <a:off x="5990551" y="3047645"/>
            <a:ext cx="284565" cy="13794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9517B90-DD2F-A43B-787B-19B827932A97}"/>
              </a:ext>
            </a:extLst>
          </p:cNvPr>
          <p:cNvCxnSpPr>
            <a:cxnSpLocks/>
          </p:cNvCxnSpPr>
          <p:nvPr/>
        </p:nvCxnSpPr>
        <p:spPr>
          <a:xfrm flipV="1">
            <a:off x="5556141" y="3991588"/>
            <a:ext cx="284565" cy="13794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2608CF8-ACAD-C5E2-9C1B-ADA700B465C0}"/>
              </a:ext>
            </a:extLst>
          </p:cNvPr>
          <p:cNvCxnSpPr>
            <a:cxnSpLocks/>
          </p:cNvCxnSpPr>
          <p:nvPr/>
        </p:nvCxnSpPr>
        <p:spPr>
          <a:xfrm>
            <a:off x="5416285" y="3951288"/>
            <a:ext cx="536267" cy="198337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42523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CB80F5D1-EA2A-82EB-EC00-86097B130EB0}"/>
              </a:ext>
            </a:extLst>
          </p:cNvPr>
          <p:cNvCxnSpPr>
            <a:cxnSpLocks/>
          </p:cNvCxnSpPr>
          <p:nvPr/>
        </p:nvCxnSpPr>
        <p:spPr>
          <a:xfrm flipH="1">
            <a:off x="5283132" y="2853332"/>
            <a:ext cx="379384" cy="935765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79763BF8-747C-684A-8C5D-76FAB8A371AD}"/>
              </a:ext>
            </a:extLst>
          </p:cNvPr>
          <p:cNvCxnSpPr>
            <a:cxnSpLocks/>
          </p:cNvCxnSpPr>
          <p:nvPr/>
        </p:nvCxnSpPr>
        <p:spPr>
          <a:xfrm flipH="1">
            <a:off x="6765958" y="3291755"/>
            <a:ext cx="405159" cy="935765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5004C99-A5E7-02F2-5AB2-5ABFA144D7C9}"/>
              </a:ext>
            </a:extLst>
          </p:cNvPr>
          <p:cNvCxnSpPr>
            <a:cxnSpLocks/>
          </p:cNvCxnSpPr>
          <p:nvPr/>
        </p:nvCxnSpPr>
        <p:spPr>
          <a:xfrm>
            <a:off x="5251221" y="3780371"/>
            <a:ext cx="1369324" cy="470643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B1A6DD0F-D27E-B007-AEB2-F33BE468DD9F}"/>
              </a:ext>
            </a:extLst>
          </p:cNvPr>
          <p:cNvSpPr/>
          <p:nvPr/>
        </p:nvSpPr>
        <p:spPr>
          <a:xfrm>
            <a:off x="6548203" y="4114726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24D21BD-E06B-4331-4E56-1B57D04F4BE0}"/>
              </a:ext>
            </a:extLst>
          </p:cNvPr>
          <p:cNvSpPr txBox="1"/>
          <p:nvPr/>
        </p:nvSpPr>
        <p:spPr>
          <a:xfrm>
            <a:off x="6491216" y="4141680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2AF4955-DDB5-0DE5-E3BC-DAAF44A5C19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654" r="1"/>
          <a:stretch/>
        </p:blipFill>
        <p:spPr>
          <a:xfrm>
            <a:off x="4680831" y="2395801"/>
            <a:ext cx="2677937" cy="2333625"/>
          </a:xfrm>
          <a:prstGeom prst="rect">
            <a:avLst/>
          </a:prstGeom>
        </p:spPr>
      </p:pic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FBA316E5-EF91-8044-3E15-BC2A4C08895B}"/>
              </a:ext>
            </a:extLst>
          </p:cNvPr>
          <p:cNvCxnSpPr>
            <a:cxnSpLocks/>
          </p:cNvCxnSpPr>
          <p:nvPr/>
        </p:nvCxnSpPr>
        <p:spPr>
          <a:xfrm>
            <a:off x="5111635" y="2900346"/>
            <a:ext cx="1369324" cy="470643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7DD1E8B-20FD-CACA-C48D-4661B708644B}"/>
              </a:ext>
            </a:extLst>
          </p:cNvPr>
          <p:cNvCxnSpPr>
            <a:cxnSpLocks/>
          </p:cNvCxnSpPr>
          <p:nvPr/>
        </p:nvCxnSpPr>
        <p:spPr>
          <a:xfrm>
            <a:off x="5682025" y="2827511"/>
            <a:ext cx="1369324" cy="470643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Oval 51">
            <a:extLst>
              <a:ext uri="{FF2B5EF4-FFF2-40B4-BE49-F238E27FC236}">
                <a16:creationId xmlns:a16="http://schemas.microsoft.com/office/drawing/2014/main" id="{80E12E0A-756B-5860-BB97-26EB0497BDEE}"/>
              </a:ext>
            </a:extLst>
          </p:cNvPr>
          <p:cNvSpPr/>
          <p:nvPr/>
        </p:nvSpPr>
        <p:spPr>
          <a:xfrm>
            <a:off x="6979007" y="3161866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477E99C-9FDE-C328-42B3-AD48B7E91818}"/>
              </a:ext>
            </a:extLst>
          </p:cNvPr>
          <p:cNvSpPr txBox="1"/>
          <p:nvPr/>
        </p:nvSpPr>
        <p:spPr>
          <a:xfrm>
            <a:off x="6922020" y="3188820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539ACC2-857C-B41F-2C8D-96917A6DF094}"/>
              </a:ext>
            </a:extLst>
          </p:cNvPr>
          <p:cNvCxnSpPr>
            <a:cxnSpLocks/>
          </p:cNvCxnSpPr>
          <p:nvPr/>
        </p:nvCxnSpPr>
        <p:spPr>
          <a:xfrm>
            <a:off x="6246916" y="4345320"/>
            <a:ext cx="380407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A2F7C43-0D79-0350-735A-84AD4C63C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3721"/>
            <a:ext cx="10515600" cy="856619"/>
          </a:xfrm>
        </p:spPr>
        <p:txBody>
          <a:bodyPr/>
          <a:lstStyle/>
          <a:p>
            <a:r>
              <a:rPr lang="en-US" dirty="0"/>
              <a:t>Further evidence of modularity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0869A-2ED9-14F2-546F-D9CD0A45E5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223" y="1227759"/>
            <a:ext cx="4016701" cy="457872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Dor edges move in sync with other Dor edges</a:t>
            </a:r>
          </a:p>
          <a:p>
            <a:pPr lvl="1"/>
            <a:r>
              <a:rPr lang="en-US" dirty="0"/>
              <a:t>L pos-ant x R pos-ant</a:t>
            </a:r>
          </a:p>
          <a:p>
            <a:pPr lvl="1"/>
            <a:r>
              <a:rPr lang="en-US" dirty="0"/>
              <a:t>L pos-ant x pos L-R</a:t>
            </a:r>
          </a:p>
          <a:p>
            <a:pPr lvl="1"/>
            <a:r>
              <a:rPr lang="en-US" dirty="0"/>
              <a:t>etc.</a:t>
            </a:r>
          </a:p>
          <a:p>
            <a:pPr lvl="1"/>
            <a:r>
              <a:rPr lang="en-US" dirty="0"/>
              <a:t>Same for Ven</a:t>
            </a:r>
          </a:p>
          <a:p>
            <a:r>
              <a:rPr lang="en-US" dirty="0"/>
              <a:t>Dor &amp; Ven synchrony is upregulated by congruency</a:t>
            </a:r>
          </a:p>
          <a:p>
            <a:r>
              <a:rPr lang="en-US" dirty="0"/>
              <a:t>Ven synchrony upregulated in OA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0EE818-7DD0-A429-F843-3F031E34C17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298" t="13244" r="7630" b="7757"/>
          <a:stretch/>
        </p:blipFill>
        <p:spPr>
          <a:xfrm>
            <a:off x="7680466" y="1734679"/>
            <a:ext cx="4336438" cy="3803346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4CD5C01-82D3-7C03-A137-7F8308AB6474}"/>
              </a:ext>
            </a:extLst>
          </p:cNvPr>
          <p:cNvCxnSpPr>
            <a:cxnSpLocks/>
          </p:cNvCxnSpPr>
          <p:nvPr/>
        </p:nvCxnSpPr>
        <p:spPr>
          <a:xfrm>
            <a:off x="4680831" y="3853206"/>
            <a:ext cx="1369324" cy="470643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7808E6F5-EC55-2EAA-808E-E143FAEFD3B2}"/>
              </a:ext>
            </a:extLst>
          </p:cNvPr>
          <p:cNvCxnSpPr>
            <a:cxnSpLocks/>
          </p:cNvCxnSpPr>
          <p:nvPr/>
        </p:nvCxnSpPr>
        <p:spPr>
          <a:xfrm>
            <a:off x="5184402" y="2879650"/>
            <a:ext cx="380407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9F8EB22C-AB73-8F99-6980-5F1D5231EF58}"/>
              </a:ext>
            </a:extLst>
          </p:cNvPr>
          <p:cNvCxnSpPr>
            <a:cxnSpLocks/>
          </p:cNvCxnSpPr>
          <p:nvPr/>
        </p:nvCxnSpPr>
        <p:spPr>
          <a:xfrm>
            <a:off x="6677720" y="3392460"/>
            <a:ext cx="380407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Content Placeholder 2">
            <a:extLst>
              <a:ext uri="{FF2B5EF4-FFF2-40B4-BE49-F238E27FC236}">
                <a16:creationId xmlns:a16="http://schemas.microsoft.com/office/drawing/2014/main" id="{372B1EBA-F098-9005-83E1-014D34C29DC4}"/>
              </a:ext>
            </a:extLst>
          </p:cNvPr>
          <p:cNvSpPr txBox="1">
            <a:spLocks/>
          </p:cNvSpPr>
          <p:nvPr/>
        </p:nvSpPr>
        <p:spPr>
          <a:xfrm>
            <a:off x="590636" y="5926729"/>
            <a:ext cx="11318917" cy="7694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/>
              <a:t>Although unrelated to ven-dor, I saw one other interesting pattern: All cross-hemisphere edges correlate with one another</a:t>
            </a:r>
          </a:p>
          <a:p>
            <a:r>
              <a:rPr lang="en-US" sz="1600" dirty="0"/>
              <a:t>e.g., parietal L-R connectivity correlates with ATL L-R connectivity</a:t>
            </a:r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5CBA1F14-24D6-A8C7-8DDD-E736D3DD23E7}"/>
              </a:ext>
            </a:extLst>
          </p:cNvPr>
          <p:cNvCxnSpPr>
            <a:cxnSpLocks/>
          </p:cNvCxnSpPr>
          <p:nvPr/>
        </p:nvCxnSpPr>
        <p:spPr>
          <a:xfrm flipH="1">
            <a:off x="4673176" y="2956052"/>
            <a:ext cx="405159" cy="935765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082EF295-BC8F-96B7-5D84-83A7D01DF2F5}"/>
              </a:ext>
            </a:extLst>
          </p:cNvPr>
          <p:cNvCxnSpPr>
            <a:cxnSpLocks/>
          </p:cNvCxnSpPr>
          <p:nvPr/>
        </p:nvCxnSpPr>
        <p:spPr>
          <a:xfrm flipH="1">
            <a:off x="6195568" y="3401130"/>
            <a:ext cx="381011" cy="938127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8A2E64EF-50B1-4ECF-68D3-30B241E76811}"/>
              </a:ext>
            </a:extLst>
          </p:cNvPr>
          <p:cNvSpPr/>
          <p:nvPr/>
        </p:nvSpPr>
        <p:spPr>
          <a:xfrm>
            <a:off x="5977813" y="4187561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1D8703-45AA-82B7-678B-FB85FF25A16A}"/>
              </a:ext>
            </a:extLst>
          </p:cNvPr>
          <p:cNvSpPr txBox="1"/>
          <p:nvPr/>
        </p:nvSpPr>
        <p:spPr>
          <a:xfrm>
            <a:off x="5920826" y="4214515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317F4AE5-1493-8180-4BAF-EC871D054B8E}"/>
              </a:ext>
            </a:extLst>
          </p:cNvPr>
          <p:cNvSpPr/>
          <p:nvPr/>
        </p:nvSpPr>
        <p:spPr>
          <a:xfrm>
            <a:off x="6408617" y="3234701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306657C-0F1D-A66D-6021-F695873B33CD}"/>
              </a:ext>
            </a:extLst>
          </p:cNvPr>
          <p:cNvSpPr txBox="1"/>
          <p:nvPr/>
        </p:nvSpPr>
        <p:spPr>
          <a:xfrm>
            <a:off x="6351630" y="3261655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0B3086B3-05F2-392E-C355-6210761F3BA0}"/>
              </a:ext>
            </a:extLst>
          </p:cNvPr>
          <p:cNvSpPr/>
          <p:nvPr/>
        </p:nvSpPr>
        <p:spPr>
          <a:xfrm>
            <a:off x="4958701" y="2739739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3BA9104-09A3-CA29-CE9B-A4EB1FBEBD26}"/>
              </a:ext>
            </a:extLst>
          </p:cNvPr>
          <p:cNvSpPr txBox="1"/>
          <p:nvPr/>
        </p:nvSpPr>
        <p:spPr>
          <a:xfrm>
            <a:off x="4920450" y="2770690"/>
            <a:ext cx="4427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C7D96FF4-330E-7851-97A9-4A659278A654}"/>
              </a:ext>
            </a:extLst>
          </p:cNvPr>
          <p:cNvSpPr/>
          <p:nvPr/>
        </p:nvSpPr>
        <p:spPr>
          <a:xfrm>
            <a:off x="5529091" y="2666904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AEFEAFC-F75B-BBBF-34B1-F37AD7B7FBD3}"/>
              </a:ext>
            </a:extLst>
          </p:cNvPr>
          <p:cNvSpPr txBox="1"/>
          <p:nvPr/>
        </p:nvSpPr>
        <p:spPr>
          <a:xfrm>
            <a:off x="5490840" y="2697855"/>
            <a:ext cx="4427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D50F691-2B5E-A4C9-1000-8B7E5D4F4950}"/>
              </a:ext>
            </a:extLst>
          </p:cNvPr>
          <p:cNvCxnSpPr>
            <a:cxnSpLocks/>
          </p:cNvCxnSpPr>
          <p:nvPr/>
        </p:nvCxnSpPr>
        <p:spPr>
          <a:xfrm>
            <a:off x="4753598" y="3832510"/>
            <a:ext cx="380407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8DF91CC3-1129-488D-09E7-85767D9254E6}"/>
              </a:ext>
            </a:extLst>
          </p:cNvPr>
          <p:cNvSpPr/>
          <p:nvPr/>
        </p:nvSpPr>
        <p:spPr>
          <a:xfrm>
            <a:off x="4527897" y="3692599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973C05-E0B8-FE03-1935-9F1F8EFE7F6D}"/>
              </a:ext>
            </a:extLst>
          </p:cNvPr>
          <p:cNvSpPr txBox="1"/>
          <p:nvPr/>
        </p:nvSpPr>
        <p:spPr>
          <a:xfrm>
            <a:off x="4470596" y="3723550"/>
            <a:ext cx="4732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9389988-0F1C-DFC4-2CF3-F12F6DFC795D}"/>
              </a:ext>
            </a:extLst>
          </p:cNvPr>
          <p:cNvSpPr/>
          <p:nvPr/>
        </p:nvSpPr>
        <p:spPr>
          <a:xfrm>
            <a:off x="5098287" y="3619764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812F99C-98A0-36A6-3336-70EC9F90ADF5}"/>
              </a:ext>
            </a:extLst>
          </p:cNvPr>
          <p:cNvSpPr txBox="1"/>
          <p:nvPr/>
        </p:nvSpPr>
        <p:spPr>
          <a:xfrm>
            <a:off x="5040986" y="3650715"/>
            <a:ext cx="4732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</p:spTree>
    <p:extLst>
      <p:ext uri="{BB962C8B-B14F-4D97-AF65-F5344CB8AC3E}">
        <p14:creationId xmlns:p14="http://schemas.microsoft.com/office/powerpoint/2010/main" val="36235514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5B6CE-4BB6-DE86-E28F-BECB6BFDF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Specifying the fluctuation more exactly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E2AE3D-9C8E-81DB-9172-1828200A87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219698"/>
          </a:xfrm>
        </p:spPr>
        <p:txBody>
          <a:bodyPr/>
          <a:lstStyle/>
          <a:p>
            <a:r>
              <a:rPr lang="en-US" dirty="0"/>
              <a:t>To a degree, the fluctuation on the left is occuring</a:t>
            </a:r>
          </a:p>
          <a:p>
            <a:r>
              <a:rPr lang="en-US" dirty="0"/>
              <a:t>However, the fluctuation on the right is more intense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B95C97-931D-4B9E-4F73-38393A4E66A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4" r="1"/>
          <a:stretch/>
        </p:blipFill>
        <p:spPr>
          <a:xfrm>
            <a:off x="9179606" y="4371937"/>
            <a:ext cx="2009094" cy="1750777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C90E3C-CAC1-DA4E-6876-A8368F72EB1C}"/>
              </a:ext>
            </a:extLst>
          </p:cNvPr>
          <p:cNvCxnSpPr>
            <a:cxnSpLocks/>
          </p:cNvCxnSpPr>
          <p:nvPr/>
        </p:nvCxnSpPr>
        <p:spPr>
          <a:xfrm>
            <a:off x="9435886" y="5442327"/>
            <a:ext cx="1027321" cy="353095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2163EE84-EE63-B2AD-AD46-CF93868E19C4}"/>
              </a:ext>
            </a:extLst>
          </p:cNvPr>
          <p:cNvSpPr/>
          <p:nvPr/>
        </p:nvSpPr>
        <p:spPr>
          <a:xfrm>
            <a:off x="9321149" y="5321833"/>
            <a:ext cx="254081" cy="254081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50F1EE-8A08-30AE-0250-63120AA2C52C}"/>
              </a:ext>
            </a:extLst>
          </p:cNvPr>
          <p:cNvSpPr txBox="1"/>
          <p:nvPr/>
        </p:nvSpPr>
        <p:spPr>
          <a:xfrm>
            <a:off x="9240565" y="5325777"/>
            <a:ext cx="335776" cy="1847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B87425A-F08E-CED8-9507-63E367ABE3D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4" r="1"/>
          <a:stretch/>
        </p:blipFill>
        <p:spPr>
          <a:xfrm>
            <a:off x="6972006" y="4295023"/>
            <a:ext cx="2009094" cy="1750777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F8CAA6A-D5A3-7DBD-D0CA-1F2E8D636CD2}"/>
              </a:ext>
            </a:extLst>
          </p:cNvPr>
          <p:cNvCxnSpPr>
            <a:cxnSpLocks/>
          </p:cNvCxnSpPr>
          <p:nvPr/>
        </p:nvCxnSpPr>
        <p:spPr>
          <a:xfrm flipH="1">
            <a:off x="7229511" y="4861876"/>
            <a:ext cx="305516" cy="532361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DC84E9F8-16C9-131E-64D1-2FA147841F70}"/>
              </a:ext>
            </a:extLst>
          </p:cNvPr>
          <p:cNvSpPr/>
          <p:nvPr/>
        </p:nvSpPr>
        <p:spPr>
          <a:xfrm>
            <a:off x="7089359" y="5252206"/>
            <a:ext cx="254081" cy="254081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3315BA-2B62-A223-0E2D-7BB045E86874}"/>
              </a:ext>
            </a:extLst>
          </p:cNvPr>
          <p:cNvSpPr txBox="1"/>
          <p:nvPr/>
        </p:nvSpPr>
        <p:spPr>
          <a:xfrm>
            <a:off x="6998592" y="5265537"/>
            <a:ext cx="335776" cy="1847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BB2A75A-4FD8-C207-C27B-EB8BCC378645}"/>
              </a:ext>
            </a:extLst>
          </p:cNvPr>
          <p:cNvCxnSpPr>
            <a:cxnSpLocks/>
          </p:cNvCxnSpPr>
          <p:nvPr/>
        </p:nvCxnSpPr>
        <p:spPr>
          <a:xfrm flipH="1">
            <a:off x="10556648" y="5243624"/>
            <a:ext cx="228446" cy="51626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E4C26B0A-253A-E960-0B7D-2B4852F6D36C}"/>
              </a:ext>
            </a:extLst>
          </p:cNvPr>
          <p:cNvSpPr/>
          <p:nvPr/>
        </p:nvSpPr>
        <p:spPr>
          <a:xfrm>
            <a:off x="10680994" y="5054403"/>
            <a:ext cx="254081" cy="25408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3AF550-767B-815E-5D8B-1FD053165F6D}"/>
              </a:ext>
            </a:extLst>
          </p:cNvPr>
          <p:cNvSpPr txBox="1"/>
          <p:nvPr/>
        </p:nvSpPr>
        <p:spPr>
          <a:xfrm>
            <a:off x="10594748" y="5069043"/>
            <a:ext cx="5020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2091269-C169-D337-CFC8-3284F56021C3}"/>
              </a:ext>
            </a:extLst>
          </p:cNvPr>
          <p:cNvSpPr/>
          <p:nvPr/>
        </p:nvSpPr>
        <p:spPr>
          <a:xfrm>
            <a:off x="10393925" y="5687637"/>
            <a:ext cx="254081" cy="254081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6648B9-72CD-1C62-9D4C-E638E4C97A45}"/>
              </a:ext>
            </a:extLst>
          </p:cNvPr>
          <p:cNvSpPr txBox="1"/>
          <p:nvPr/>
        </p:nvSpPr>
        <p:spPr>
          <a:xfrm>
            <a:off x="10322596" y="5698334"/>
            <a:ext cx="420234" cy="184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8823968-757F-F2A7-2735-3FE4A0526D56}"/>
              </a:ext>
            </a:extLst>
          </p:cNvPr>
          <p:cNvSpPr/>
          <p:nvPr/>
        </p:nvSpPr>
        <p:spPr>
          <a:xfrm>
            <a:off x="7526857" y="4772238"/>
            <a:ext cx="254081" cy="254081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5FEE962-C0AC-8F13-9C83-A5C992042B93}"/>
              </a:ext>
            </a:extLst>
          </p:cNvPr>
          <p:cNvSpPr/>
          <p:nvPr/>
        </p:nvSpPr>
        <p:spPr>
          <a:xfrm>
            <a:off x="8491011" y="4977489"/>
            <a:ext cx="254081" cy="254081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B3A1227-0F79-C979-153A-D75DD36B9116}"/>
              </a:ext>
            </a:extLst>
          </p:cNvPr>
          <p:cNvCxnSpPr>
            <a:cxnSpLocks/>
          </p:cNvCxnSpPr>
          <p:nvPr/>
        </p:nvCxnSpPr>
        <p:spPr>
          <a:xfrm>
            <a:off x="7543373" y="4823014"/>
            <a:ext cx="1100088" cy="266077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DD3F32A8-1017-DC92-C9A9-E1812ABC9DCA}"/>
              </a:ext>
            </a:extLst>
          </p:cNvPr>
          <p:cNvSpPr/>
          <p:nvPr/>
        </p:nvSpPr>
        <p:spPr>
          <a:xfrm>
            <a:off x="7428636" y="4702521"/>
            <a:ext cx="254081" cy="254081"/>
          </a:xfrm>
          <a:prstGeom prst="ellipse">
            <a:avLst/>
          </a:prstGeom>
          <a:solidFill>
            <a:srgbClr val="7030A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8B5A47A-6D20-08A6-BAA5-D25AB2C2368F}"/>
              </a:ext>
            </a:extLst>
          </p:cNvPr>
          <p:cNvSpPr txBox="1"/>
          <p:nvPr/>
        </p:nvSpPr>
        <p:spPr>
          <a:xfrm>
            <a:off x="8410103" y="4982607"/>
            <a:ext cx="527202" cy="251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7DE6610-F665-3033-283A-3D4CB51179DB}"/>
              </a:ext>
            </a:extLst>
          </p:cNvPr>
          <p:cNvSpPr txBox="1"/>
          <p:nvPr/>
        </p:nvSpPr>
        <p:spPr>
          <a:xfrm>
            <a:off x="7370239" y="4698925"/>
            <a:ext cx="3834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15036FB-D93B-D42F-687F-15319A73DEFB}"/>
              </a:ext>
            </a:extLst>
          </p:cNvPr>
          <p:cNvCxnSpPr>
            <a:cxnSpLocks/>
          </p:cNvCxnSpPr>
          <p:nvPr/>
        </p:nvCxnSpPr>
        <p:spPr>
          <a:xfrm flipV="1">
            <a:off x="7408708" y="5009410"/>
            <a:ext cx="587648" cy="284857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7C5FA3C4-AAEC-E9D7-ED34-70881F23B345}"/>
              </a:ext>
            </a:extLst>
          </p:cNvPr>
          <p:cNvSpPr txBox="1"/>
          <p:nvPr/>
        </p:nvSpPr>
        <p:spPr>
          <a:xfrm rot="1142097">
            <a:off x="7310634" y="5398827"/>
            <a:ext cx="11865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Fluctuation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88E580D-E640-47D3-87A2-0971F48B36C0}"/>
              </a:ext>
            </a:extLst>
          </p:cNvPr>
          <p:cNvCxnSpPr>
            <a:cxnSpLocks/>
          </p:cNvCxnSpPr>
          <p:nvPr/>
        </p:nvCxnSpPr>
        <p:spPr>
          <a:xfrm flipV="1">
            <a:off x="10038072" y="5240347"/>
            <a:ext cx="587648" cy="284857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18E17BA6-DF08-3A9A-6F94-C5522BD0E6C4}"/>
              </a:ext>
            </a:extLst>
          </p:cNvPr>
          <p:cNvSpPr txBox="1"/>
          <p:nvPr/>
        </p:nvSpPr>
        <p:spPr>
          <a:xfrm rot="1142097">
            <a:off x="9598721" y="4669187"/>
            <a:ext cx="11865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Fluctuation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8CF3F8F-7230-007F-0349-F7ED6D83BC7C}"/>
              </a:ext>
            </a:extLst>
          </p:cNvPr>
          <p:cNvSpPr txBox="1"/>
          <p:nvPr/>
        </p:nvSpPr>
        <p:spPr>
          <a:xfrm>
            <a:off x="4437851" y="4041027"/>
            <a:ext cx="727835" cy="253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Pos-Ant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A6C6E3AC-5733-9D1C-B5CE-9E6338FE3918}"/>
              </a:ext>
            </a:extLst>
          </p:cNvPr>
          <p:cNvSpPr txBox="1"/>
          <p:nvPr/>
        </p:nvSpPr>
        <p:spPr>
          <a:xfrm>
            <a:off x="1227434" y="4041027"/>
            <a:ext cx="727739" cy="253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Ven-Dor</a:t>
            </a:r>
          </a:p>
        </p:txBody>
      </p:sp>
      <p:pic>
        <p:nvPicPr>
          <p:cNvPr id="85" name="Picture 84">
            <a:extLst>
              <a:ext uri="{FF2B5EF4-FFF2-40B4-BE49-F238E27FC236}">
                <a16:creationId xmlns:a16="http://schemas.microsoft.com/office/drawing/2014/main" id="{753AADED-C8D3-E8C1-72CA-7437ED53E02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4" r="1"/>
          <a:stretch/>
        </p:blipFill>
        <p:spPr>
          <a:xfrm>
            <a:off x="687593" y="4355858"/>
            <a:ext cx="2009094" cy="1750777"/>
          </a:xfrm>
          <a:prstGeom prst="rect">
            <a:avLst/>
          </a:prstGeom>
        </p:spPr>
      </p:pic>
      <p:sp>
        <p:nvSpPr>
          <p:cNvPr id="86" name="Oval 85">
            <a:extLst>
              <a:ext uri="{FF2B5EF4-FFF2-40B4-BE49-F238E27FC236}">
                <a16:creationId xmlns:a16="http://schemas.microsoft.com/office/drawing/2014/main" id="{D6D7BC94-BB1A-DD1B-3DAB-C7E75E65C09B}"/>
              </a:ext>
            </a:extLst>
          </p:cNvPr>
          <p:cNvSpPr/>
          <p:nvPr/>
        </p:nvSpPr>
        <p:spPr>
          <a:xfrm>
            <a:off x="1242444" y="4833073"/>
            <a:ext cx="254081" cy="254081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EC70A602-1CEE-D425-89F4-D3808B246DA9}"/>
              </a:ext>
            </a:extLst>
          </p:cNvPr>
          <p:cNvSpPr/>
          <p:nvPr/>
        </p:nvSpPr>
        <p:spPr>
          <a:xfrm>
            <a:off x="2206598" y="5038324"/>
            <a:ext cx="254081" cy="254081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DDC5B173-7CA0-6D47-E5D3-E4A3B8CD0D0F}"/>
              </a:ext>
            </a:extLst>
          </p:cNvPr>
          <p:cNvCxnSpPr>
            <a:cxnSpLocks/>
          </p:cNvCxnSpPr>
          <p:nvPr/>
        </p:nvCxnSpPr>
        <p:spPr>
          <a:xfrm>
            <a:off x="1258960" y="4883849"/>
            <a:ext cx="1100088" cy="266077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Oval 88">
            <a:extLst>
              <a:ext uri="{FF2B5EF4-FFF2-40B4-BE49-F238E27FC236}">
                <a16:creationId xmlns:a16="http://schemas.microsoft.com/office/drawing/2014/main" id="{8D293D4D-7291-B783-6FC2-A1A229204A82}"/>
              </a:ext>
            </a:extLst>
          </p:cNvPr>
          <p:cNvSpPr/>
          <p:nvPr/>
        </p:nvSpPr>
        <p:spPr>
          <a:xfrm>
            <a:off x="1144223" y="4763356"/>
            <a:ext cx="254081" cy="254081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23DA71D0-6DEB-B6A0-97C6-52B3F908C2C2}"/>
              </a:ext>
            </a:extLst>
          </p:cNvPr>
          <p:cNvSpPr txBox="1"/>
          <p:nvPr/>
        </p:nvSpPr>
        <p:spPr>
          <a:xfrm>
            <a:off x="2125690" y="5043442"/>
            <a:ext cx="527202" cy="251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8643B88-DE1A-5595-EA61-22481AA4AC2E}"/>
              </a:ext>
            </a:extLst>
          </p:cNvPr>
          <p:cNvSpPr txBox="1"/>
          <p:nvPr/>
        </p:nvSpPr>
        <p:spPr>
          <a:xfrm>
            <a:off x="1085826" y="4759760"/>
            <a:ext cx="314128" cy="1847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pic>
        <p:nvPicPr>
          <p:cNvPr id="92" name="Picture 91">
            <a:extLst>
              <a:ext uri="{FF2B5EF4-FFF2-40B4-BE49-F238E27FC236}">
                <a16:creationId xmlns:a16="http://schemas.microsoft.com/office/drawing/2014/main" id="{E83CA6C0-AF8A-1B2E-7BAC-5A35F8AD293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4" r="1"/>
          <a:stretch/>
        </p:blipFill>
        <p:spPr>
          <a:xfrm>
            <a:off x="3860548" y="4357820"/>
            <a:ext cx="2009094" cy="1750777"/>
          </a:xfrm>
          <a:prstGeom prst="rect">
            <a:avLst/>
          </a:prstGeom>
        </p:spPr>
      </p:pic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7EF5150C-AB0F-A03F-9F10-5D3A6E0147A8}"/>
              </a:ext>
            </a:extLst>
          </p:cNvPr>
          <p:cNvCxnSpPr>
            <a:cxnSpLocks/>
          </p:cNvCxnSpPr>
          <p:nvPr/>
        </p:nvCxnSpPr>
        <p:spPr>
          <a:xfrm flipH="1">
            <a:off x="4127235" y="4911850"/>
            <a:ext cx="305516" cy="532361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Oval 93">
            <a:extLst>
              <a:ext uri="{FF2B5EF4-FFF2-40B4-BE49-F238E27FC236}">
                <a16:creationId xmlns:a16="http://schemas.microsoft.com/office/drawing/2014/main" id="{F4983179-EA13-6D5D-08C4-BDE4C98309D2}"/>
              </a:ext>
            </a:extLst>
          </p:cNvPr>
          <p:cNvSpPr/>
          <p:nvPr/>
        </p:nvSpPr>
        <p:spPr>
          <a:xfrm>
            <a:off x="4397783" y="4835035"/>
            <a:ext cx="254081" cy="254081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0FDEF5D5-E01C-3ED7-2B8B-4D7B93F3D5C6}"/>
              </a:ext>
            </a:extLst>
          </p:cNvPr>
          <p:cNvSpPr/>
          <p:nvPr/>
        </p:nvSpPr>
        <p:spPr>
          <a:xfrm>
            <a:off x="4299561" y="4765318"/>
            <a:ext cx="254081" cy="254081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A5CEB5D6-7C7B-D3E5-532A-34AB490A122B}"/>
              </a:ext>
            </a:extLst>
          </p:cNvPr>
          <p:cNvSpPr txBox="1"/>
          <p:nvPr/>
        </p:nvSpPr>
        <p:spPr>
          <a:xfrm>
            <a:off x="4231639" y="4765814"/>
            <a:ext cx="314128" cy="1847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B2D27295-93CF-B74E-AB88-688593722149}"/>
              </a:ext>
            </a:extLst>
          </p:cNvPr>
          <p:cNvSpPr/>
          <p:nvPr/>
        </p:nvSpPr>
        <p:spPr>
          <a:xfrm>
            <a:off x="3987083" y="5302180"/>
            <a:ext cx="254081" cy="254081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145B86E7-8865-9516-88FB-007D27E5ED27}"/>
              </a:ext>
            </a:extLst>
          </p:cNvPr>
          <p:cNvSpPr txBox="1"/>
          <p:nvPr/>
        </p:nvSpPr>
        <p:spPr>
          <a:xfrm>
            <a:off x="3896316" y="5315511"/>
            <a:ext cx="335776" cy="1847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1795D466-A4C7-2015-6F60-CF93713E2578}"/>
              </a:ext>
            </a:extLst>
          </p:cNvPr>
          <p:cNvCxnSpPr>
            <a:cxnSpLocks/>
          </p:cNvCxnSpPr>
          <p:nvPr/>
        </p:nvCxnSpPr>
        <p:spPr>
          <a:xfrm>
            <a:off x="2841275" y="5190726"/>
            <a:ext cx="841670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21B6C0B1-384E-6ADE-DEE2-362BFAE1D463}"/>
              </a:ext>
            </a:extLst>
          </p:cNvPr>
          <p:cNvSpPr txBox="1"/>
          <p:nvPr/>
        </p:nvSpPr>
        <p:spPr>
          <a:xfrm>
            <a:off x="2665918" y="4399411"/>
            <a:ext cx="985199" cy="2770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Fluctuation</a:t>
            </a:r>
          </a:p>
        </p:txBody>
      </p: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6A7E53E3-2F70-1FAE-4DAA-C0DB24305D06}"/>
              </a:ext>
            </a:extLst>
          </p:cNvPr>
          <p:cNvCxnSpPr>
            <a:cxnSpLocks/>
          </p:cNvCxnSpPr>
          <p:nvPr/>
        </p:nvCxnSpPr>
        <p:spPr>
          <a:xfrm flipH="1">
            <a:off x="5260078" y="5182466"/>
            <a:ext cx="228446" cy="51626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Oval 101">
            <a:extLst>
              <a:ext uri="{FF2B5EF4-FFF2-40B4-BE49-F238E27FC236}">
                <a16:creationId xmlns:a16="http://schemas.microsoft.com/office/drawing/2014/main" id="{40EF610E-5C11-CE46-35EB-E065119D1493}"/>
              </a:ext>
            </a:extLst>
          </p:cNvPr>
          <p:cNvSpPr/>
          <p:nvPr/>
        </p:nvSpPr>
        <p:spPr>
          <a:xfrm>
            <a:off x="5384424" y="4993245"/>
            <a:ext cx="254081" cy="25408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8C27F283-16EA-09F6-D0D5-2062D46B1B9A}"/>
              </a:ext>
            </a:extLst>
          </p:cNvPr>
          <p:cNvSpPr txBox="1"/>
          <p:nvPr/>
        </p:nvSpPr>
        <p:spPr>
          <a:xfrm>
            <a:off x="5298178" y="5007885"/>
            <a:ext cx="5020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BD3D9BE1-5689-7CC3-635A-36B1D927E4F1}"/>
              </a:ext>
            </a:extLst>
          </p:cNvPr>
          <p:cNvSpPr/>
          <p:nvPr/>
        </p:nvSpPr>
        <p:spPr>
          <a:xfrm>
            <a:off x="5097355" y="5626479"/>
            <a:ext cx="254081" cy="25408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FD3084FA-A430-38C8-8969-3D41FA6A1307}"/>
              </a:ext>
            </a:extLst>
          </p:cNvPr>
          <p:cNvSpPr txBox="1"/>
          <p:nvPr/>
        </p:nvSpPr>
        <p:spPr>
          <a:xfrm>
            <a:off x="5026026" y="5637176"/>
            <a:ext cx="420234" cy="184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8A1014F0-0AFA-95EC-973E-B3BE31EE55DC}"/>
              </a:ext>
            </a:extLst>
          </p:cNvPr>
          <p:cNvSpPr/>
          <p:nvPr/>
        </p:nvSpPr>
        <p:spPr>
          <a:xfrm>
            <a:off x="1876932" y="5663634"/>
            <a:ext cx="254081" cy="254081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87B36B51-0C04-1768-FF11-A3092721488C}"/>
              </a:ext>
            </a:extLst>
          </p:cNvPr>
          <p:cNvCxnSpPr>
            <a:cxnSpLocks/>
          </p:cNvCxnSpPr>
          <p:nvPr/>
        </p:nvCxnSpPr>
        <p:spPr>
          <a:xfrm>
            <a:off x="903885" y="5412788"/>
            <a:ext cx="1027321" cy="353095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Oval 107">
            <a:extLst>
              <a:ext uri="{FF2B5EF4-FFF2-40B4-BE49-F238E27FC236}">
                <a16:creationId xmlns:a16="http://schemas.microsoft.com/office/drawing/2014/main" id="{01D7C4F4-8F43-94C8-0309-63D094A9176F}"/>
              </a:ext>
            </a:extLst>
          </p:cNvPr>
          <p:cNvSpPr/>
          <p:nvPr/>
        </p:nvSpPr>
        <p:spPr>
          <a:xfrm>
            <a:off x="789148" y="5292294"/>
            <a:ext cx="254081" cy="254081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4AB5E92B-D81F-36F4-273B-A4BA26B93B48}"/>
              </a:ext>
            </a:extLst>
          </p:cNvPr>
          <p:cNvSpPr txBox="1"/>
          <p:nvPr/>
        </p:nvSpPr>
        <p:spPr>
          <a:xfrm>
            <a:off x="1805605" y="5665968"/>
            <a:ext cx="420234" cy="184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0A9F35E5-EAF7-395B-5915-EE0BAC24B4D9}"/>
              </a:ext>
            </a:extLst>
          </p:cNvPr>
          <p:cNvSpPr txBox="1"/>
          <p:nvPr/>
        </p:nvSpPr>
        <p:spPr>
          <a:xfrm>
            <a:off x="708564" y="5296238"/>
            <a:ext cx="335776" cy="1847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011AD6BA-F8AE-E15B-A32D-F0AF650C6215}"/>
              </a:ext>
            </a:extLst>
          </p:cNvPr>
          <p:cNvSpPr txBox="1"/>
          <p:nvPr/>
        </p:nvSpPr>
        <p:spPr>
          <a:xfrm>
            <a:off x="2359048" y="3273360"/>
            <a:ext cx="18293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Whole brain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D751056E-C86F-B669-EB66-97B3E0C97178}"/>
              </a:ext>
            </a:extLst>
          </p:cNvPr>
          <p:cNvSpPr txBox="1"/>
          <p:nvPr/>
        </p:nvSpPr>
        <p:spPr>
          <a:xfrm>
            <a:off x="8264932" y="3273360"/>
            <a:ext cx="12121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Precise</a:t>
            </a:r>
          </a:p>
        </p:txBody>
      </p:sp>
    </p:spTree>
    <p:extLst>
      <p:ext uri="{BB962C8B-B14F-4D97-AF65-F5344CB8AC3E}">
        <p14:creationId xmlns:p14="http://schemas.microsoft.com/office/powerpoint/2010/main" val="36869912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9BEAA-2791-D95F-FF09-375D4DFCD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Anatomical vs. Functional quadrans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19B081-2328-C1D2-D356-3BC91D32EF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8000" y="2286000"/>
            <a:ext cx="4572000" cy="4572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51D31C8-547B-D958-DA20-CED014AE58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286000"/>
            <a:ext cx="4572000" cy="4572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AE43A7-A246-0AE6-1626-AF4C191956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2894"/>
            <a:ext cx="10515600" cy="1205706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The correlations are all around duller (closer to zero) if the anatomical quadrants are used</a:t>
            </a:r>
          </a:p>
          <a:p>
            <a:r>
              <a:rPr lang="en-US" dirty="0"/>
              <a:t>However, the fluctuations are still robust (rs &lt; -.3)</a:t>
            </a:r>
          </a:p>
        </p:txBody>
      </p:sp>
    </p:spTree>
    <p:extLst>
      <p:ext uri="{BB962C8B-B14F-4D97-AF65-F5344CB8AC3E}">
        <p14:creationId xmlns:p14="http://schemas.microsoft.com/office/powerpoint/2010/main" val="33457210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Picture 63">
            <a:extLst>
              <a:ext uri="{FF2B5EF4-FFF2-40B4-BE49-F238E27FC236}">
                <a16:creationId xmlns:a16="http://schemas.microsoft.com/office/drawing/2014/main" id="{4C11F947-F661-24F1-1EAA-A521C33676E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4" r="1"/>
          <a:stretch/>
        </p:blipFill>
        <p:spPr>
          <a:xfrm>
            <a:off x="932617" y="2633086"/>
            <a:ext cx="2009094" cy="1750777"/>
          </a:xfrm>
          <a:prstGeom prst="rect">
            <a:avLst/>
          </a:prstGeom>
        </p:spPr>
      </p:pic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B8FA7C18-C296-D58A-2665-C0307C9B5931}"/>
              </a:ext>
            </a:extLst>
          </p:cNvPr>
          <p:cNvCxnSpPr>
            <a:cxnSpLocks/>
          </p:cNvCxnSpPr>
          <p:nvPr/>
        </p:nvCxnSpPr>
        <p:spPr>
          <a:xfrm flipH="1">
            <a:off x="1190122" y="3199939"/>
            <a:ext cx="305516" cy="532361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Oval 80">
            <a:extLst>
              <a:ext uri="{FF2B5EF4-FFF2-40B4-BE49-F238E27FC236}">
                <a16:creationId xmlns:a16="http://schemas.microsoft.com/office/drawing/2014/main" id="{B2C5C163-E435-5B43-C665-29A116F96EC5}"/>
              </a:ext>
            </a:extLst>
          </p:cNvPr>
          <p:cNvSpPr/>
          <p:nvPr/>
        </p:nvSpPr>
        <p:spPr>
          <a:xfrm>
            <a:off x="1049970" y="3590269"/>
            <a:ext cx="254081" cy="254081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7C345375-2C69-4D07-6288-FD6EB3B063A2}"/>
              </a:ext>
            </a:extLst>
          </p:cNvPr>
          <p:cNvSpPr txBox="1"/>
          <p:nvPr/>
        </p:nvSpPr>
        <p:spPr>
          <a:xfrm>
            <a:off x="959203" y="3603600"/>
            <a:ext cx="335776" cy="1847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FE7569-D455-E792-3D55-38DA8271A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29DC6B-9FDE-6C77-299D-B0D8E7D6B0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641349"/>
          </a:xfrm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295AAC-B5E6-48D7-1B86-17A5F502422D}"/>
              </a:ext>
            </a:extLst>
          </p:cNvPr>
          <p:cNvSpPr txBox="1"/>
          <p:nvPr/>
        </p:nvSpPr>
        <p:spPr>
          <a:xfrm>
            <a:off x="4302259" y="4539710"/>
            <a:ext cx="727835" cy="253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Pos-Ant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121F25-E772-AC3B-EC69-26F013AA462A}"/>
              </a:ext>
            </a:extLst>
          </p:cNvPr>
          <p:cNvSpPr txBox="1"/>
          <p:nvPr/>
        </p:nvSpPr>
        <p:spPr>
          <a:xfrm>
            <a:off x="1091842" y="4539710"/>
            <a:ext cx="727739" cy="253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Ven-Dor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A4E702-8AFA-CDBD-C817-F47619453FF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4" r="1"/>
          <a:stretch/>
        </p:blipFill>
        <p:spPr>
          <a:xfrm>
            <a:off x="552001" y="4854541"/>
            <a:ext cx="2009094" cy="1750777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DEBBE503-D27D-33B7-B1CA-452EA85F8103}"/>
              </a:ext>
            </a:extLst>
          </p:cNvPr>
          <p:cNvSpPr/>
          <p:nvPr/>
        </p:nvSpPr>
        <p:spPr>
          <a:xfrm>
            <a:off x="1106852" y="5331756"/>
            <a:ext cx="254081" cy="254081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BF0764D-122A-7C66-D4CA-FD8B0E040272}"/>
              </a:ext>
            </a:extLst>
          </p:cNvPr>
          <p:cNvSpPr/>
          <p:nvPr/>
        </p:nvSpPr>
        <p:spPr>
          <a:xfrm>
            <a:off x="2071006" y="5537007"/>
            <a:ext cx="254081" cy="254081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36F7F94-6761-C25E-4F24-969A54D82D64}"/>
              </a:ext>
            </a:extLst>
          </p:cNvPr>
          <p:cNvCxnSpPr>
            <a:cxnSpLocks/>
          </p:cNvCxnSpPr>
          <p:nvPr/>
        </p:nvCxnSpPr>
        <p:spPr>
          <a:xfrm>
            <a:off x="1123368" y="5382532"/>
            <a:ext cx="1100088" cy="266077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C614B278-4FA0-D891-7AE8-4304C626EFE6}"/>
              </a:ext>
            </a:extLst>
          </p:cNvPr>
          <p:cNvSpPr/>
          <p:nvPr/>
        </p:nvSpPr>
        <p:spPr>
          <a:xfrm>
            <a:off x="1008631" y="5262039"/>
            <a:ext cx="254081" cy="254081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22E481C-3E71-AF7D-2EB6-369BD3917FA5}"/>
              </a:ext>
            </a:extLst>
          </p:cNvPr>
          <p:cNvSpPr txBox="1"/>
          <p:nvPr/>
        </p:nvSpPr>
        <p:spPr>
          <a:xfrm>
            <a:off x="1990098" y="5542125"/>
            <a:ext cx="527202" cy="251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FF4CD8D-91C9-E9B1-0E8F-3A02C7338D6A}"/>
              </a:ext>
            </a:extLst>
          </p:cNvPr>
          <p:cNvSpPr txBox="1"/>
          <p:nvPr/>
        </p:nvSpPr>
        <p:spPr>
          <a:xfrm>
            <a:off x="950234" y="5258443"/>
            <a:ext cx="314128" cy="1847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60C7CE8-7B19-21D8-4370-5A09DE7A660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4" r="1"/>
          <a:stretch/>
        </p:blipFill>
        <p:spPr>
          <a:xfrm>
            <a:off x="3724956" y="4856503"/>
            <a:ext cx="2009094" cy="1750777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6AEA7BB-3AFB-9A36-44EA-E1AAFEAAF4FF}"/>
              </a:ext>
            </a:extLst>
          </p:cNvPr>
          <p:cNvCxnSpPr>
            <a:cxnSpLocks/>
          </p:cNvCxnSpPr>
          <p:nvPr/>
        </p:nvCxnSpPr>
        <p:spPr>
          <a:xfrm flipH="1">
            <a:off x="3991643" y="5410533"/>
            <a:ext cx="305516" cy="532361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4F24EA97-A72C-F489-3502-6545DEA47F03}"/>
              </a:ext>
            </a:extLst>
          </p:cNvPr>
          <p:cNvSpPr/>
          <p:nvPr/>
        </p:nvSpPr>
        <p:spPr>
          <a:xfrm>
            <a:off x="4262191" y="5333718"/>
            <a:ext cx="254081" cy="254081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AF3005C-CB71-659A-BA13-B900127ABA11}"/>
              </a:ext>
            </a:extLst>
          </p:cNvPr>
          <p:cNvSpPr/>
          <p:nvPr/>
        </p:nvSpPr>
        <p:spPr>
          <a:xfrm>
            <a:off x="4163969" y="5264001"/>
            <a:ext cx="254081" cy="254081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492500C-A7A9-360D-9082-C13A9AC73251}"/>
              </a:ext>
            </a:extLst>
          </p:cNvPr>
          <p:cNvSpPr txBox="1"/>
          <p:nvPr/>
        </p:nvSpPr>
        <p:spPr>
          <a:xfrm>
            <a:off x="4096047" y="5264497"/>
            <a:ext cx="314128" cy="1847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FE3AD53-6900-02C0-258B-DFE71E06148C}"/>
              </a:ext>
            </a:extLst>
          </p:cNvPr>
          <p:cNvSpPr/>
          <p:nvPr/>
        </p:nvSpPr>
        <p:spPr>
          <a:xfrm>
            <a:off x="3851491" y="5800863"/>
            <a:ext cx="254081" cy="254081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7210DA2-9DE0-D834-52E6-8DCEE3D9B5C2}"/>
              </a:ext>
            </a:extLst>
          </p:cNvPr>
          <p:cNvSpPr txBox="1"/>
          <p:nvPr/>
        </p:nvSpPr>
        <p:spPr>
          <a:xfrm>
            <a:off x="3760724" y="5814194"/>
            <a:ext cx="335776" cy="1847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9BAD755-0926-2367-9271-5ED4278EB8EA}"/>
              </a:ext>
            </a:extLst>
          </p:cNvPr>
          <p:cNvCxnSpPr>
            <a:cxnSpLocks/>
          </p:cNvCxnSpPr>
          <p:nvPr/>
        </p:nvCxnSpPr>
        <p:spPr>
          <a:xfrm>
            <a:off x="2705683" y="5689409"/>
            <a:ext cx="841670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D963E8EC-768C-1B65-2AFF-E1A9B6260BFF}"/>
              </a:ext>
            </a:extLst>
          </p:cNvPr>
          <p:cNvSpPr txBox="1"/>
          <p:nvPr/>
        </p:nvSpPr>
        <p:spPr>
          <a:xfrm>
            <a:off x="2530326" y="4898094"/>
            <a:ext cx="985199" cy="2770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Fluctuation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C52026C-07AB-03FA-C9DA-AB67845A2F7C}"/>
              </a:ext>
            </a:extLst>
          </p:cNvPr>
          <p:cNvSpPr txBox="1"/>
          <p:nvPr/>
        </p:nvSpPr>
        <p:spPr>
          <a:xfrm>
            <a:off x="10194380" y="4556516"/>
            <a:ext cx="727835" cy="253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Pos-Ant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526082D-4F0F-170C-B429-901FBF4199EE}"/>
              </a:ext>
            </a:extLst>
          </p:cNvPr>
          <p:cNvSpPr txBox="1"/>
          <p:nvPr/>
        </p:nvSpPr>
        <p:spPr>
          <a:xfrm>
            <a:off x="6983963" y="4556516"/>
            <a:ext cx="727739" cy="253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Ven-Dor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E74A74BF-BC28-C815-4786-2E2737C50D1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4" r="1"/>
          <a:stretch/>
        </p:blipFill>
        <p:spPr>
          <a:xfrm>
            <a:off x="6444122" y="4871347"/>
            <a:ext cx="2009094" cy="1750777"/>
          </a:xfrm>
          <a:prstGeom prst="rect">
            <a:avLst/>
          </a:prstGeom>
        </p:spPr>
      </p:pic>
      <p:sp>
        <p:nvSpPr>
          <p:cNvPr id="43" name="Oval 42">
            <a:extLst>
              <a:ext uri="{FF2B5EF4-FFF2-40B4-BE49-F238E27FC236}">
                <a16:creationId xmlns:a16="http://schemas.microsoft.com/office/drawing/2014/main" id="{1A0C2BCA-CFFD-D157-D7B9-1BD25E28FCE6}"/>
              </a:ext>
            </a:extLst>
          </p:cNvPr>
          <p:cNvSpPr/>
          <p:nvPr/>
        </p:nvSpPr>
        <p:spPr>
          <a:xfrm>
            <a:off x="7676058" y="6187047"/>
            <a:ext cx="254081" cy="254081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68B624A1-6B53-7107-5B09-E783330521EE}"/>
              </a:ext>
            </a:extLst>
          </p:cNvPr>
          <p:cNvCxnSpPr>
            <a:cxnSpLocks/>
          </p:cNvCxnSpPr>
          <p:nvPr/>
        </p:nvCxnSpPr>
        <p:spPr>
          <a:xfrm>
            <a:off x="6703011" y="5936201"/>
            <a:ext cx="1027321" cy="353095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47EBD547-30EA-91D5-D0B2-F0FCAE993246}"/>
              </a:ext>
            </a:extLst>
          </p:cNvPr>
          <p:cNvSpPr/>
          <p:nvPr/>
        </p:nvSpPr>
        <p:spPr>
          <a:xfrm>
            <a:off x="6588274" y="5815707"/>
            <a:ext cx="254081" cy="254081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10CDA48-D48F-4D76-B636-784B8D605B59}"/>
              </a:ext>
            </a:extLst>
          </p:cNvPr>
          <p:cNvSpPr txBox="1"/>
          <p:nvPr/>
        </p:nvSpPr>
        <p:spPr>
          <a:xfrm>
            <a:off x="7604731" y="6189381"/>
            <a:ext cx="420234" cy="184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2185CA5-7FA9-F587-F6AC-54C8DA5D3C16}"/>
              </a:ext>
            </a:extLst>
          </p:cNvPr>
          <p:cNvSpPr txBox="1"/>
          <p:nvPr/>
        </p:nvSpPr>
        <p:spPr>
          <a:xfrm>
            <a:off x="6507690" y="5819651"/>
            <a:ext cx="335776" cy="1847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0F8C58C3-9410-9239-CC17-0D205F1B60B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4" r="1"/>
          <a:stretch/>
        </p:blipFill>
        <p:spPr>
          <a:xfrm>
            <a:off x="9617077" y="4873309"/>
            <a:ext cx="2009094" cy="1750777"/>
          </a:xfrm>
          <a:prstGeom prst="rect">
            <a:avLst/>
          </a:prstGeom>
        </p:spPr>
      </p:pic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DB233AA9-3ABD-891A-AD4F-8A49D2A8C7E2}"/>
              </a:ext>
            </a:extLst>
          </p:cNvPr>
          <p:cNvCxnSpPr>
            <a:cxnSpLocks/>
          </p:cNvCxnSpPr>
          <p:nvPr/>
        </p:nvCxnSpPr>
        <p:spPr>
          <a:xfrm flipH="1">
            <a:off x="10994119" y="5744996"/>
            <a:ext cx="228446" cy="51626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Oval 51">
            <a:extLst>
              <a:ext uri="{FF2B5EF4-FFF2-40B4-BE49-F238E27FC236}">
                <a16:creationId xmlns:a16="http://schemas.microsoft.com/office/drawing/2014/main" id="{50B09E73-0C69-B0E1-5921-510CE9AF9DA3}"/>
              </a:ext>
            </a:extLst>
          </p:cNvPr>
          <p:cNvSpPr/>
          <p:nvPr/>
        </p:nvSpPr>
        <p:spPr>
          <a:xfrm>
            <a:off x="11118465" y="5555775"/>
            <a:ext cx="254081" cy="25408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2862D1E-098B-30FE-892C-2BA0837092C1}"/>
              </a:ext>
            </a:extLst>
          </p:cNvPr>
          <p:cNvSpPr txBox="1"/>
          <p:nvPr/>
        </p:nvSpPr>
        <p:spPr>
          <a:xfrm>
            <a:off x="11032219" y="5570415"/>
            <a:ext cx="5020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13F6DC00-AFD3-633B-7EF9-F42628004100}"/>
              </a:ext>
            </a:extLst>
          </p:cNvPr>
          <p:cNvSpPr/>
          <p:nvPr/>
        </p:nvSpPr>
        <p:spPr>
          <a:xfrm>
            <a:off x="10831396" y="6189009"/>
            <a:ext cx="254081" cy="25408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C76A843-1853-2806-F1AE-D1DE4F9D9103}"/>
              </a:ext>
            </a:extLst>
          </p:cNvPr>
          <p:cNvSpPr txBox="1"/>
          <p:nvPr/>
        </p:nvSpPr>
        <p:spPr>
          <a:xfrm>
            <a:off x="10760067" y="6199706"/>
            <a:ext cx="420234" cy="184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7DD636E3-B0AE-E481-924B-F683C0D2DCBA}"/>
              </a:ext>
            </a:extLst>
          </p:cNvPr>
          <p:cNvCxnSpPr>
            <a:cxnSpLocks/>
          </p:cNvCxnSpPr>
          <p:nvPr/>
        </p:nvCxnSpPr>
        <p:spPr>
          <a:xfrm>
            <a:off x="8597804" y="5706215"/>
            <a:ext cx="841670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5B6F31AF-3599-413D-8DBC-AD05AE0734FE}"/>
              </a:ext>
            </a:extLst>
          </p:cNvPr>
          <p:cNvSpPr txBox="1"/>
          <p:nvPr/>
        </p:nvSpPr>
        <p:spPr>
          <a:xfrm>
            <a:off x="8422447" y="4914900"/>
            <a:ext cx="985199" cy="2770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Fluctuation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BB365E1-DE6A-C81E-407E-C1F5847F0346}"/>
              </a:ext>
            </a:extLst>
          </p:cNvPr>
          <p:cNvSpPr txBox="1"/>
          <p:nvPr/>
        </p:nvSpPr>
        <p:spPr>
          <a:xfrm>
            <a:off x="4682875" y="2318255"/>
            <a:ext cx="727835" cy="253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Pos-Ant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3C896E5-0696-5442-7EFF-6831C86523C6}"/>
              </a:ext>
            </a:extLst>
          </p:cNvPr>
          <p:cNvSpPr txBox="1"/>
          <p:nvPr/>
        </p:nvSpPr>
        <p:spPr>
          <a:xfrm>
            <a:off x="1472458" y="2318255"/>
            <a:ext cx="727739" cy="253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Ven-Dor</a:t>
            </a: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AA8594A1-9C3A-7BC0-F7B5-EFAF22B36CE5}"/>
              </a:ext>
            </a:extLst>
          </p:cNvPr>
          <p:cNvSpPr/>
          <p:nvPr/>
        </p:nvSpPr>
        <p:spPr>
          <a:xfrm>
            <a:off x="1487468" y="3110301"/>
            <a:ext cx="254081" cy="254081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949CFC81-BE19-6E02-C7B8-633EF2D4CEA7}"/>
              </a:ext>
            </a:extLst>
          </p:cNvPr>
          <p:cNvSpPr/>
          <p:nvPr/>
        </p:nvSpPr>
        <p:spPr>
          <a:xfrm>
            <a:off x="2451622" y="3315552"/>
            <a:ext cx="254081" cy="254081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4B7DD23B-BC41-27F4-536E-A1C355428DE7}"/>
              </a:ext>
            </a:extLst>
          </p:cNvPr>
          <p:cNvCxnSpPr>
            <a:cxnSpLocks/>
          </p:cNvCxnSpPr>
          <p:nvPr/>
        </p:nvCxnSpPr>
        <p:spPr>
          <a:xfrm>
            <a:off x="1503984" y="3161077"/>
            <a:ext cx="1100088" cy="266077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Oval 67">
            <a:extLst>
              <a:ext uri="{FF2B5EF4-FFF2-40B4-BE49-F238E27FC236}">
                <a16:creationId xmlns:a16="http://schemas.microsoft.com/office/drawing/2014/main" id="{F8B42DC8-3CE8-0F04-E113-E8E2FE757180}"/>
              </a:ext>
            </a:extLst>
          </p:cNvPr>
          <p:cNvSpPr/>
          <p:nvPr/>
        </p:nvSpPr>
        <p:spPr>
          <a:xfrm>
            <a:off x="1389247" y="3040584"/>
            <a:ext cx="254081" cy="254081"/>
          </a:xfrm>
          <a:prstGeom prst="ellipse">
            <a:avLst/>
          </a:prstGeom>
          <a:solidFill>
            <a:srgbClr val="7030A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C980373-49A3-DA4B-A817-EDA437CF731F}"/>
              </a:ext>
            </a:extLst>
          </p:cNvPr>
          <p:cNvSpPr txBox="1"/>
          <p:nvPr/>
        </p:nvSpPr>
        <p:spPr>
          <a:xfrm>
            <a:off x="2370714" y="3320670"/>
            <a:ext cx="527202" cy="251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C2C4968-13D0-FB9E-F581-E98707AA6225}"/>
              </a:ext>
            </a:extLst>
          </p:cNvPr>
          <p:cNvSpPr txBox="1"/>
          <p:nvPr/>
        </p:nvSpPr>
        <p:spPr>
          <a:xfrm>
            <a:off x="1330850" y="3036988"/>
            <a:ext cx="3834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</a:t>
            </a:r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id="{03BC14C9-3ED7-EF7A-E8CA-CF51B19858C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4" r="1"/>
          <a:stretch/>
        </p:blipFill>
        <p:spPr>
          <a:xfrm>
            <a:off x="4105572" y="2635048"/>
            <a:ext cx="2009094" cy="1750777"/>
          </a:xfrm>
          <a:prstGeom prst="rect">
            <a:avLst/>
          </a:prstGeom>
        </p:spPr>
      </p:pic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092DDAE6-475F-032A-D954-0C842CE68B51}"/>
              </a:ext>
            </a:extLst>
          </p:cNvPr>
          <p:cNvCxnSpPr>
            <a:cxnSpLocks/>
          </p:cNvCxnSpPr>
          <p:nvPr/>
        </p:nvCxnSpPr>
        <p:spPr>
          <a:xfrm flipH="1">
            <a:off x="4372259" y="3189078"/>
            <a:ext cx="305516" cy="532361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Oval 72">
            <a:extLst>
              <a:ext uri="{FF2B5EF4-FFF2-40B4-BE49-F238E27FC236}">
                <a16:creationId xmlns:a16="http://schemas.microsoft.com/office/drawing/2014/main" id="{73CABC6E-F9E5-073C-023D-AA898D498AFB}"/>
              </a:ext>
            </a:extLst>
          </p:cNvPr>
          <p:cNvSpPr/>
          <p:nvPr/>
        </p:nvSpPr>
        <p:spPr>
          <a:xfrm>
            <a:off x="4642807" y="3112263"/>
            <a:ext cx="254081" cy="254081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5DA58736-45AD-E72B-73FC-D5360D69A65D}"/>
              </a:ext>
            </a:extLst>
          </p:cNvPr>
          <p:cNvSpPr/>
          <p:nvPr/>
        </p:nvSpPr>
        <p:spPr>
          <a:xfrm>
            <a:off x="4544585" y="3042546"/>
            <a:ext cx="254081" cy="254081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98499A3-C6E7-E2E4-40EC-7070122BE357}"/>
              </a:ext>
            </a:extLst>
          </p:cNvPr>
          <p:cNvSpPr txBox="1"/>
          <p:nvPr/>
        </p:nvSpPr>
        <p:spPr>
          <a:xfrm>
            <a:off x="4476663" y="3043042"/>
            <a:ext cx="314128" cy="1847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C587D9CE-0711-AE87-9F88-C400698E6AD6}"/>
              </a:ext>
            </a:extLst>
          </p:cNvPr>
          <p:cNvSpPr/>
          <p:nvPr/>
        </p:nvSpPr>
        <p:spPr>
          <a:xfrm>
            <a:off x="4232107" y="3579408"/>
            <a:ext cx="254081" cy="254081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085C6FA-31F5-C93A-A286-0878C05360EA}"/>
              </a:ext>
            </a:extLst>
          </p:cNvPr>
          <p:cNvSpPr txBox="1"/>
          <p:nvPr/>
        </p:nvSpPr>
        <p:spPr>
          <a:xfrm>
            <a:off x="4141340" y="3592739"/>
            <a:ext cx="335776" cy="1847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304EDEAB-F566-BF90-BE58-0CF5E629B2D1}"/>
              </a:ext>
            </a:extLst>
          </p:cNvPr>
          <p:cNvCxnSpPr>
            <a:cxnSpLocks/>
          </p:cNvCxnSpPr>
          <p:nvPr/>
        </p:nvCxnSpPr>
        <p:spPr>
          <a:xfrm flipV="1">
            <a:off x="1386950" y="3384303"/>
            <a:ext cx="587648" cy="284857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A1762BE8-3147-42D0-B4C7-09A56CC0CF49}"/>
              </a:ext>
            </a:extLst>
          </p:cNvPr>
          <p:cNvSpPr txBox="1"/>
          <p:nvPr/>
        </p:nvSpPr>
        <p:spPr>
          <a:xfrm>
            <a:off x="2910942" y="2676639"/>
            <a:ext cx="985199" cy="2770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Fluctuation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A0729382-7C84-AC96-65DE-6B5266156A8A}"/>
              </a:ext>
            </a:extLst>
          </p:cNvPr>
          <p:cNvSpPr txBox="1"/>
          <p:nvPr/>
        </p:nvSpPr>
        <p:spPr>
          <a:xfrm>
            <a:off x="10910711" y="2366329"/>
            <a:ext cx="727835" cy="253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Pos-Ant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110A30B-CCB7-1487-1537-0F94D0F2E081}"/>
              </a:ext>
            </a:extLst>
          </p:cNvPr>
          <p:cNvSpPr txBox="1"/>
          <p:nvPr/>
        </p:nvSpPr>
        <p:spPr>
          <a:xfrm>
            <a:off x="7700294" y="2366329"/>
            <a:ext cx="727739" cy="253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Ven-Dor</a:t>
            </a:r>
          </a:p>
        </p:txBody>
      </p:sp>
      <p:pic>
        <p:nvPicPr>
          <p:cNvPr id="87" name="Picture 86">
            <a:extLst>
              <a:ext uri="{FF2B5EF4-FFF2-40B4-BE49-F238E27FC236}">
                <a16:creationId xmlns:a16="http://schemas.microsoft.com/office/drawing/2014/main" id="{3456B7D3-9929-3E4D-3E75-21ACF047D7F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4" r="1"/>
          <a:stretch/>
        </p:blipFill>
        <p:spPr>
          <a:xfrm>
            <a:off x="7160453" y="2681160"/>
            <a:ext cx="2009094" cy="1750777"/>
          </a:xfrm>
          <a:prstGeom prst="rect">
            <a:avLst/>
          </a:prstGeom>
        </p:spPr>
      </p:pic>
      <p:sp>
        <p:nvSpPr>
          <p:cNvPr id="88" name="Oval 87">
            <a:extLst>
              <a:ext uri="{FF2B5EF4-FFF2-40B4-BE49-F238E27FC236}">
                <a16:creationId xmlns:a16="http://schemas.microsoft.com/office/drawing/2014/main" id="{4D22DACF-C479-795F-78B5-222F35D8A7E9}"/>
              </a:ext>
            </a:extLst>
          </p:cNvPr>
          <p:cNvSpPr/>
          <p:nvPr/>
        </p:nvSpPr>
        <p:spPr>
          <a:xfrm>
            <a:off x="7715304" y="3158375"/>
            <a:ext cx="254081" cy="254081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0B6B1D8B-4AB9-718F-E4BF-A1317CD2C9D8}"/>
              </a:ext>
            </a:extLst>
          </p:cNvPr>
          <p:cNvSpPr/>
          <p:nvPr/>
        </p:nvSpPr>
        <p:spPr>
          <a:xfrm>
            <a:off x="8679458" y="3363626"/>
            <a:ext cx="254081" cy="254081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FD679E4E-260C-CEF4-A4B1-733E435B6390}"/>
              </a:ext>
            </a:extLst>
          </p:cNvPr>
          <p:cNvCxnSpPr>
            <a:cxnSpLocks/>
          </p:cNvCxnSpPr>
          <p:nvPr/>
        </p:nvCxnSpPr>
        <p:spPr>
          <a:xfrm>
            <a:off x="7731820" y="3209151"/>
            <a:ext cx="1100088" cy="266077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Oval 90">
            <a:extLst>
              <a:ext uri="{FF2B5EF4-FFF2-40B4-BE49-F238E27FC236}">
                <a16:creationId xmlns:a16="http://schemas.microsoft.com/office/drawing/2014/main" id="{00233E93-AEE1-6424-0AAD-625CBEC55D4D}"/>
              </a:ext>
            </a:extLst>
          </p:cNvPr>
          <p:cNvSpPr/>
          <p:nvPr/>
        </p:nvSpPr>
        <p:spPr>
          <a:xfrm>
            <a:off x="7617083" y="3088658"/>
            <a:ext cx="254081" cy="254081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59568166-1D84-D9F9-4003-0B6E2BBF30DD}"/>
              </a:ext>
            </a:extLst>
          </p:cNvPr>
          <p:cNvSpPr txBox="1"/>
          <p:nvPr/>
        </p:nvSpPr>
        <p:spPr>
          <a:xfrm>
            <a:off x="8598550" y="3368744"/>
            <a:ext cx="527202" cy="251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E6CFB56E-00C1-1F7F-AE66-96F5F43B56B3}"/>
              </a:ext>
            </a:extLst>
          </p:cNvPr>
          <p:cNvSpPr txBox="1"/>
          <p:nvPr/>
        </p:nvSpPr>
        <p:spPr>
          <a:xfrm>
            <a:off x="7558686" y="3085062"/>
            <a:ext cx="314128" cy="1847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pic>
        <p:nvPicPr>
          <p:cNvPr id="94" name="Picture 93">
            <a:extLst>
              <a:ext uri="{FF2B5EF4-FFF2-40B4-BE49-F238E27FC236}">
                <a16:creationId xmlns:a16="http://schemas.microsoft.com/office/drawing/2014/main" id="{E010F4EA-EAB8-B5D0-FCDB-C6E8239339E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4" r="1"/>
          <a:stretch/>
        </p:blipFill>
        <p:spPr>
          <a:xfrm>
            <a:off x="10333408" y="2683122"/>
            <a:ext cx="2009094" cy="1750777"/>
          </a:xfrm>
          <a:prstGeom prst="rect">
            <a:avLst/>
          </a:prstGeom>
        </p:spPr>
      </p:pic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8AC18CF4-6910-E287-4A18-35CD3931B274}"/>
              </a:ext>
            </a:extLst>
          </p:cNvPr>
          <p:cNvCxnSpPr>
            <a:cxnSpLocks/>
          </p:cNvCxnSpPr>
          <p:nvPr/>
        </p:nvCxnSpPr>
        <p:spPr>
          <a:xfrm flipH="1">
            <a:off x="10600095" y="3237152"/>
            <a:ext cx="305516" cy="532361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Oval 95">
            <a:extLst>
              <a:ext uri="{FF2B5EF4-FFF2-40B4-BE49-F238E27FC236}">
                <a16:creationId xmlns:a16="http://schemas.microsoft.com/office/drawing/2014/main" id="{3E3F5C46-5F79-ADE2-9135-D5BBC35A4209}"/>
              </a:ext>
            </a:extLst>
          </p:cNvPr>
          <p:cNvSpPr/>
          <p:nvPr/>
        </p:nvSpPr>
        <p:spPr>
          <a:xfrm>
            <a:off x="10870643" y="3160337"/>
            <a:ext cx="254081" cy="254081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3CFDD49E-53AF-A2A1-F328-A2B6EA6629C5}"/>
              </a:ext>
            </a:extLst>
          </p:cNvPr>
          <p:cNvSpPr/>
          <p:nvPr/>
        </p:nvSpPr>
        <p:spPr>
          <a:xfrm>
            <a:off x="10772421" y="3090620"/>
            <a:ext cx="254081" cy="254081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FF2E893C-A3DE-4D70-AF0E-6EFEEAAB9156}"/>
              </a:ext>
            </a:extLst>
          </p:cNvPr>
          <p:cNvSpPr txBox="1"/>
          <p:nvPr/>
        </p:nvSpPr>
        <p:spPr>
          <a:xfrm>
            <a:off x="10704499" y="3091116"/>
            <a:ext cx="314128" cy="1847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BDB197CA-4D86-F5E7-7557-E537126B8E20}"/>
              </a:ext>
            </a:extLst>
          </p:cNvPr>
          <p:cNvSpPr/>
          <p:nvPr/>
        </p:nvSpPr>
        <p:spPr>
          <a:xfrm>
            <a:off x="10459943" y="3627482"/>
            <a:ext cx="254081" cy="254081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82AB86EB-8313-3A3B-4780-8CCDCA98E09D}"/>
              </a:ext>
            </a:extLst>
          </p:cNvPr>
          <p:cNvSpPr txBox="1"/>
          <p:nvPr/>
        </p:nvSpPr>
        <p:spPr>
          <a:xfrm>
            <a:off x="10369176" y="3640813"/>
            <a:ext cx="335776" cy="1847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79BFE2CA-A341-CDB5-E1DA-81896F4C336F}"/>
              </a:ext>
            </a:extLst>
          </p:cNvPr>
          <p:cNvCxnSpPr>
            <a:cxnSpLocks/>
          </p:cNvCxnSpPr>
          <p:nvPr/>
        </p:nvCxnSpPr>
        <p:spPr>
          <a:xfrm>
            <a:off x="9314135" y="3516028"/>
            <a:ext cx="841670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1107CFC4-71FC-418B-E502-492635A789FB}"/>
              </a:ext>
            </a:extLst>
          </p:cNvPr>
          <p:cNvSpPr txBox="1"/>
          <p:nvPr/>
        </p:nvSpPr>
        <p:spPr>
          <a:xfrm>
            <a:off x="9138778" y="2724713"/>
            <a:ext cx="985199" cy="2770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Fluctuation</a:t>
            </a:r>
          </a:p>
        </p:txBody>
      </p: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0D006F0F-D85E-0062-84CA-A8E39C2BF734}"/>
              </a:ext>
            </a:extLst>
          </p:cNvPr>
          <p:cNvCxnSpPr>
            <a:cxnSpLocks/>
          </p:cNvCxnSpPr>
          <p:nvPr/>
        </p:nvCxnSpPr>
        <p:spPr>
          <a:xfrm flipH="1">
            <a:off x="11732938" y="3507768"/>
            <a:ext cx="228446" cy="51626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Oval 103">
            <a:extLst>
              <a:ext uri="{FF2B5EF4-FFF2-40B4-BE49-F238E27FC236}">
                <a16:creationId xmlns:a16="http://schemas.microsoft.com/office/drawing/2014/main" id="{2226B03D-638A-37AB-959B-1A63C9B2FFD2}"/>
              </a:ext>
            </a:extLst>
          </p:cNvPr>
          <p:cNvSpPr/>
          <p:nvPr/>
        </p:nvSpPr>
        <p:spPr>
          <a:xfrm>
            <a:off x="11857284" y="3318547"/>
            <a:ext cx="254081" cy="25408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C15027D0-3844-D023-49EF-546EA2194215}"/>
              </a:ext>
            </a:extLst>
          </p:cNvPr>
          <p:cNvSpPr txBox="1"/>
          <p:nvPr/>
        </p:nvSpPr>
        <p:spPr>
          <a:xfrm>
            <a:off x="11771038" y="3333187"/>
            <a:ext cx="5020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00CB58A1-9687-12D8-BCE4-D12041E6CFDD}"/>
              </a:ext>
            </a:extLst>
          </p:cNvPr>
          <p:cNvSpPr/>
          <p:nvPr/>
        </p:nvSpPr>
        <p:spPr>
          <a:xfrm>
            <a:off x="11570215" y="3951781"/>
            <a:ext cx="254081" cy="25408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ABFBC526-E55B-5A77-8BE6-70284A4C842B}"/>
              </a:ext>
            </a:extLst>
          </p:cNvPr>
          <p:cNvSpPr txBox="1"/>
          <p:nvPr/>
        </p:nvSpPr>
        <p:spPr>
          <a:xfrm>
            <a:off x="11498886" y="3962478"/>
            <a:ext cx="420234" cy="184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6C47F60D-D3FC-BEA6-951E-527C8BDD9CD3}"/>
              </a:ext>
            </a:extLst>
          </p:cNvPr>
          <p:cNvSpPr/>
          <p:nvPr/>
        </p:nvSpPr>
        <p:spPr>
          <a:xfrm>
            <a:off x="8349792" y="3988936"/>
            <a:ext cx="254081" cy="254081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D8703E0B-40AD-68C0-652B-CB13C874B4DC}"/>
              </a:ext>
            </a:extLst>
          </p:cNvPr>
          <p:cNvCxnSpPr>
            <a:cxnSpLocks/>
          </p:cNvCxnSpPr>
          <p:nvPr/>
        </p:nvCxnSpPr>
        <p:spPr>
          <a:xfrm>
            <a:off x="7376745" y="3738090"/>
            <a:ext cx="1027321" cy="353095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Oval 114">
            <a:extLst>
              <a:ext uri="{FF2B5EF4-FFF2-40B4-BE49-F238E27FC236}">
                <a16:creationId xmlns:a16="http://schemas.microsoft.com/office/drawing/2014/main" id="{6AA2774A-23DE-6395-AE5C-2E5A4F9A08CA}"/>
              </a:ext>
            </a:extLst>
          </p:cNvPr>
          <p:cNvSpPr/>
          <p:nvPr/>
        </p:nvSpPr>
        <p:spPr>
          <a:xfrm>
            <a:off x="7262008" y="3617596"/>
            <a:ext cx="254081" cy="254081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7382BB7D-5573-6B02-32BA-E1A85FF32541}"/>
              </a:ext>
            </a:extLst>
          </p:cNvPr>
          <p:cNvSpPr txBox="1"/>
          <p:nvPr/>
        </p:nvSpPr>
        <p:spPr>
          <a:xfrm>
            <a:off x="8278465" y="3991270"/>
            <a:ext cx="420234" cy="184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B12A2E6A-7A4F-085F-966A-B07F6AD4A3DC}"/>
              </a:ext>
            </a:extLst>
          </p:cNvPr>
          <p:cNvSpPr txBox="1"/>
          <p:nvPr/>
        </p:nvSpPr>
        <p:spPr>
          <a:xfrm>
            <a:off x="7181424" y="3621540"/>
            <a:ext cx="335776" cy="1847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</p:spTree>
    <p:extLst>
      <p:ext uri="{BB962C8B-B14F-4D97-AF65-F5344CB8AC3E}">
        <p14:creationId xmlns:p14="http://schemas.microsoft.com/office/powerpoint/2010/main" val="41318665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D90D05CB-804F-0930-2ECA-9AF3B5C2FA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9294" y="1404391"/>
            <a:ext cx="5020056" cy="502005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37FAF3A-F2EE-1F06-0E4F-24A2245C0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8896"/>
          </a:xfrm>
        </p:spPr>
        <p:txBody>
          <a:bodyPr/>
          <a:lstStyle/>
          <a:p>
            <a:r>
              <a:rPr lang="en-US" dirty="0"/>
              <a:t>Hemispheres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F4D7F0-6495-938A-87F0-35F0135D26F2}"/>
              </a:ext>
            </a:extLst>
          </p:cNvPr>
          <p:cNvSpPr txBox="1"/>
          <p:nvPr/>
        </p:nvSpPr>
        <p:spPr>
          <a:xfrm>
            <a:off x="3900662" y="4137651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Alternating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15A06A0-CE10-C6F9-642C-D82BFC0324DB}"/>
              </a:ext>
            </a:extLst>
          </p:cNvPr>
          <p:cNvSpPr/>
          <p:nvPr/>
        </p:nvSpPr>
        <p:spPr>
          <a:xfrm>
            <a:off x="645463" y="1114021"/>
            <a:ext cx="827392" cy="82739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598555B-16E9-2583-E900-67F278315B16}"/>
              </a:ext>
            </a:extLst>
          </p:cNvPr>
          <p:cNvSpPr txBox="1"/>
          <p:nvPr/>
        </p:nvSpPr>
        <p:spPr>
          <a:xfrm>
            <a:off x="7499350" y="1404391"/>
            <a:ext cx="4126593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No scrub, not anatomical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Question: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Ventral module works as a single large unit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Dorsal module works as two parallel units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This effect only comes out when looking at dynamic connectivity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L/R correlation is similar for DA, DP, VA, VP 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(it’s high in all cases)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Two hemispheres are in sync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However, A/P not in sync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OA show greater VV connectivity x Vant or Vpos hemispheric connectivity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Their ventral network is more in sync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348D0CC9-1CE0-A0EA-0A5A-3D586105AE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955" y="5048594"/>
            <a:ext cx="964031" cy="1352521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02343D37-771C-A110-EB04-50AF8BA165BA}"/>
              </a:ext>
            </a:extLst>
          </p:cNvPr>
          <p:cNvSpPr/>
          <p:nvPr/>
        </p:nvSpPr>
        <p:spPr>
          <a:xfrm>
            <a:off x="3078515" y="3914419"/>
            <a:ext cx="825756" cy="82575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26112B7-0E15-E124-12F3-A2423952CA8E}"/>
              </a:ext>
            </a:extLst>
          </p:cNvPr>
          <p:cNvSpPr/>
          <p:nvPr/>
        </p:nvSpPr>
        <p:spPr>
          <a:xfrm>
            <a:off x="3863358" y="3137862"/>
            <a:ext cx="825756" cy="82575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457E668-1AB2-B306-A778-621C52739694}"/>
              </a:ext>
            </a:extLst>
          </p:cNvPr>
          <p:cNvSpPr txBox="1"/>
          <p:nvPr/>
        </p:nvSpPr>
        <p:spPr>
          <a:xfrm>
            <a:off x="3813154" y="2813432"/>
            <a:ext cx="9348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Singular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5A803D7-565F-F0EC-9AFD-42DFA9B4CE4C}"/>
              </a:ext>
            </a:extLst>
          </p:cNvPr>
          <p:cNvSpPr/>
          <p:nvPr/>
        </p:nvSpPr>
        <p:spPr>
          <a:xfrm>
            <a:off x="3076734" y="2354955"/>
            <a:ext cx="825756" cy="82575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F818699-1D7B-7C44-B9B0-0A67B014009B}"/>
              </a:ext>
            </a:extLst>
          </p:cNvPr>
          <p:cNvSpPr txBox="1"/>
          <p:nvPr/>
        </p:nvSpPr>
        <p:spPr>
          <a:xfrm>
            <a:off x="2942765" y="1793686"/>
            <a:ext cx="11063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Weaker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singularity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87F745A-5B20-FEFD-297B-1F79371A9348}"/>
              </a:ext>
            </a:extLst>
          </p:cNvPr>
          <p:cNvSpPr/>
          <p:nvPr/>
        </p:nvSpPr>
        <p:spPr>
          <a:xfrm>
            <a:off x="3857008" y="4685942"/>
            <a:ext cx="832106" cy="82575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36BC879-0E7C-E2C4-AC03-E67402E64D7F}"/>
              </a:ext>
            </a:extLst>
          </p:cNvPr>
          <p:cNvSpPr txBox="1"/>
          <p:nvPr/>
        </p:nvSpPr>
        <p:spPr>
          <a:xfrm>
            <a:off x="4628757" y="4786984"/>
            <a:ext cx="10406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Weaker</a:t>
            </a:r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Alternation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91F472E-FAA2-BCEE-913B-8B226D4BF95F}"/>
              </a:ext>
            </a:extLst>
          </p:cNvPr>
          <p:cNvSpPr txBox="1"/>
          <p:nvPr/>
        </p:nvSpPr>
        <p:spPr>
          <a:xfrm>
            <a:off x="225301" y="2538377"/>
            <a:ext cx="15552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Left Dor ~ Right Dor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36AD4C6-6D08-87A0-7ED4-37B7D5A747F9}"/>
              </a:ext>
            </a:extLst>
          </p:cNvPr>
          <p:cNvSpPr txBox="1"/>
          <p:nvPr/>
        </p:nvSpPr>
        <p:spPr>
          <a:xfrm>
            <a:off x="189682" y="3026100"/>
            <a:ext cx="16264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Left Dor ~ LR/RL Dor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DEE2E9D-B389-DC08-FBAF-879F865DD90E}"/>
              </a:ext>
            </a:extLst>
          </p:cNvPr>
          <p:cNvSpPr txBox="1"/>
          <p:nvPr/>
        </p:nvSpPr>
        <p:spPr>
          <a:xfrm>
            <a:off x="2095129" y="2676877"/>
            <a:ext cx="6270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Dor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2B93900-4426-C6B6-A823-540A7810B29F}"/>
              </a:ext>
            </a:extLst>
          </p:cNvPr>
          <p:cNvSpPr txBox="1"/>
          <p:nvPr/>
        </p:nvSpPr>
        <p:spPr>
          <a:xfrm>
            <a:off x="2095129" y="3399046"/>
            <a:ext cx="641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Ven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79FDAED-522E-761A-1282-ACD2EC0D6DCD}"/>
              </a:ext>
            </a:extLst>
          </p:cNvPr>
          <p:cNvSpPr txBox="1"/>
          <p:nvPr/>
        </p:nvSpPr>
        <p:spPr>
          <a:xfrm>
            <a:off x="2095129" y="4164558"/>
            <a:ext cx="6559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Pos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AC18794-D176-E2CA-479A-0BF4D3F0E05E}"/>
              </a:ext>
            </a:extLst>
          </p:cNvPr>
          <p:cNvSpPr txBox="1"/>
          <p:nvPr/>
        </p:nvSpPr>
        <p:spPr>
          <a:xfrm>
            <a:off x="2095129" y="4943496"/>
            <a:ext cx="6126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Ant</a:t>
            </a:r>
          </a:p>
        </p:txBody>
      </p:sp>
    </p:spTree>
    <p:extLst>
      <p:ext uri="{BB962C8B-B14F-4D97-AF65-F5344CB8AC3E}">
        <p14:creationId xmlns:p14="http://schemas.microsoft.com/office/powerpoint/2010/main" val="37078206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95E4D-3A76-4818-7143-B27276F54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drawing of a brain with colored dots&#10;&#10;Description automatically generated">
            <a:extLst>
              <a:ext uri="{FF2B5EF4-FFF2-40B4-BE49-F238E27FC236}">
                <a16:creationId xmlns:a16="http://schemas.microsoft.com/office/drawing/2014/main" id="{1E49CAB9-7144-B95A-4870-3751FF4E78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8474" y="2812571"/>
            <a:ext cx="6035052" cy="2377445"/>
          </a:xfrm>
        </p:spPr>
      </p:pic>
    </p:spTree>
    <p:extLst>
      <p:ext uri="{BB962C8B-B14F-4D97-AF65-F5344CB8AC3E}">
        <p14:creationId xmlns:p14="http://schemas.microsoft.com/office/powerpoint/2010/main" val="18727139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8F5D5-A4FD-B0B8-8FEE-EEA622B1C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DA59DD-31DF-6705-E547-59DF6D1D38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8553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Result 2: The effects of aging on processing congruency and Ven-Dor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6629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FFC3-35FA-9F3A-7BA0-69C4F1D5A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47724"/>
          </a:xfrm>
        </p:spPr>
        <p:txBody>
          <a:bodyPr/>
          <a:lstStyle/>
          <a:p>
            <a:r>
              <a:rPr lang="en-US" dirty="0"/>
              <a:t>Ven vs. Dor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00B03B7F-31D1-2DAA-E9DF-0A8EAC78D1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222" y="2279253"/>
            <a:ext cx="7531678" cy="4430399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6D14D468-8423-320F-F8D2-1337481E32A1}"/>
              </a:ext>
            </a:extLst>
          </p:cNvPr>
          <p:cNvSpPr txBox="1"/>
          <p:nvPr/>
        </p:nvSpPr>
        <p:spPr>
          <a:xfrm>
            <a:off x="7611277" y="1261168"/>
            <a:ext cx="4126326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Many effects and interactions attempted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There exists Ven-Dor “brain state”, characterized by a dissociation of the two modules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High within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Low between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People (YA &amp; OA) enter this Ven-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Dor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state when processing congruency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This state is heightened at all times for OA, reflecting a constant increased application of semantic knowledge in coming stimuli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This occurs even when processing incongruency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However, this state is particularly heightened when processing congruency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Current interactions don’t significantly show this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Need to still look into ipsilateral only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ECC767-8C1C-E1FD-2633-AAB1C2ADFC0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54" r="1"/>
          <a:stretch/>
        </p:blipFill>
        <p:spPr>
          <a:xfrm>
            <a:off x="204614" y="148348"/>
            <a:ext cx="2677937" cy="2333625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0B63374-09E2-5CB4-FA1E-23C7AAE0B428}"/>
              </a:ext>
            </a:extLst>
          </p:cNvPr>
          <p:cNvCxnSpPr>
            <a:cxnSpLocks/>
          </p:cNvCxnSpPr>
          <p:nvPr/>
        </p:nvCxnSpPr>
        <p:spPr>
          <a:xfrm flipH="1">
            <a:off x="560082" y="886819"/>
            <a:ext cx="407225" cy="70958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3108021-2C8B-5DA7-5878-B2ABDFB2200D}"/>
              </a:ext>
            </a:extLst>
          </p:cNvPr>
          <p:cNvCxnSpPr>
            <a:cxnSpLocks/>
          </p:cNvCxnSpPr>
          <p:nvPr/>
        </p:nvCxnSpPr>
        <p:spPr>
          <a:xfrm flipH="1">
            <a:off x="2040084" y="1310227"/>
            <a:ext cx="304497" cy="68813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7E3C7A4C-48E4-5823-0D53-8A76779013CE}"/>
              </a:ext>
            </a:extLst>
          </p:cNvPr>
          <p:cNvSpPr/>
          <p:nvPr/>
        </p:nvSpPr>
        <p:spPr>
          <a:xfrm>
            <a:off x="920698" y="784432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492C8C3-2E6E-5998-4C3A-6E1D2EF48853}"/>
              </a:ext>
            </a:extLst>
          </p:cNvPr>
          <p:cNvSpPr/>
          <p:nvPr/>
        </p:nvSpPr>
        <p:spPr>
          <a:xfrm>
            <a:off x="2205826" y="1058012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4EC70D7-D1F4-F9FA-274C-7F52C7069638}"/>
              </a:ext>
            </a:extLst>
          </p:cNvPr>
          <p:cNvCxnSpPr>
            <a:cxnSpLocks/>
          </p:cNvCxnSpPr>
          <p:nvPr/>
        </p:nvCxnSpPr>
        <p:spPr>
          <a:xfrm>
            <a:off x="942712" y="852112"/>
            <a:ext cx="1466316" cy="354656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00CDC1A0-D39A-4A18-62E0-425D87E3B64F}"/>
              </a:ext>
            </a:extLst>
          </p:cNvPr>
          <p:cNvSpPr/>
          <p:nvPr/>
        </p:nvSpPr>
        <p:spPr>
          <a:xfrm>
            <a:off x="789778" y="691505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F216A9-E70A-5CB9-44BF-0CA804CE5E37}"/>
              </a:ext>
            </a:extLst>
          </p:cNvPr>
          <p:cNvSpPr txBox="1"/>
          <p:nvPr/>
        </p:nvSpPr>
        <p:spPr>
          <a:xfrm rot="1139387">
            <a:off x="947627" y="1476183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Within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39B811-D8C8-7597-6FB4-ACD5C8D479AE}"/>
              </a:ext>
            </a:extLst>
          </p:cNvPr>
          <p:cNvSpPr txBox="1"/>
          <p:nvPr/>
        </p:nvSpPr>
        <p:spPr>
          <a:xfrm>
            <a:off x="2149169" y="1102917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40E2E2-608B-E37F-9967-09311034BF2F}"/>
              </a:ext>
            </a:extLst>
          </p:cNvPr>
          <p:cNvSpPr txBox="1"/>
          <p:nvPr/>
        </p:nvSpPr>
        <p:spPr>
          <a:xfrm>
            <a:off x="751529" y="727219"/>
            <a:ext cx="4427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7331CE6-E0AC-A941-CF39-2652D309A0FA}"/>
              </a:ext>
            </a:extLst>
          </p:cNvPr>
          <p:cNvSpPr/>
          <p:nvPr/>
        </p:nvSpPr>
        <p:spPr>
          <a:xfrm>
            <a:off x="1823189" y="1902055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A017885-2B76-EF33-0785-A797D8E608A3}"/>
              </a:ext>
            </a:extLst>
          </p:cNvPr>
          <p:cNvCxnSpPr>
            <a:cxnSpLocks/>
          </p:cNvCxnSpPr>
          <p:nvPr/>
        </p:nvCxnSpPr>
        <p:spPr>
          <a:xfrm>
            <a:off x="526207" y="1567700"/>
            <a:ext cx="1369324" cy="470643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F0D47C4E-D545-C6ED-E14D-56AE0FBDBAFA}"/>
              </a:ext>
            </a:extLst>
          </p:cNvPr>
          <p:cNvSpPr/>
          <p:nvPr/>
        </p:nvSpPr>
        <p:spPr>
          <a:xfrm>
            <a:off x="373273" y="1407093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6371762-885F-3428-EA77-C68F15D15E02}"/>
              </a:ext>
            </a:extLst>
          </p:cNvPr>
          <p:cNvSpPr txBox="1"/>
          <p:nvPr/>
        </p:nvSpPr>
        <p:spPr>
          <a:xfrm>
            <a:off x="1766202" y="1929009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0A23297-B419-556A-D739-ED94D2540C76}"/>
              </a:ext>
            </a:extLst>
          </p:cNvPr>
          <p:cNvSpPr txBox="1"/>
          <p:nvPr/>
        </p:nvSpPr>
        <p:spPr>
          <a:xfrm>
            <a:off x="315972" y="1438044"/>
            <a:ext cx="4732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E8410FE-1CDF-C2AB-93D3-1B3EBBD96E5D}"/>
              </a:ext>
            </a:extLst>
          </p:cNvPr>
          <p:cNvSpPr txBox="1"/>
          <p:nvPr/>
        </p:nvSpPr>
        <p:spPr>
          <a:xfrm rot="791281">
            <a:off x="1341764" y="651943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Within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DA7F6E0-7D78-6196-CFAD-ABA07089B61E}"/>
              </a:ext>
            </a:extLst>
          </p:cNvPr>
          <p:cNvSpPr txBox="1"/>
          <p:nvPr/>
        </p:nvSpPr>
        <p:spPr>
          <a:xfrm rot="1001558">
            <a:off x="985157" y="1145389"/>
            <a:ext cx="108234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Between</a:t>
            </a:r>
          </a:p>
        </p:txBody>
      </p:sp>
    </p:spTree>
    <p:extLst>
      <p:ext uri="{BB962C8B-B14F-4D97-AF65-F5344CB8AC3E}">
        <p14:creationId xmlns:p14="http://schemas.microsoft.com/office/powerpoint/2010/main" val="104749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DCD26-DE83-E453-29B8-94501671D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239"/>
            <a:ext cx="10515600" cy="1325563"/>
          </a:xfrm>
        </p:spPr>
        <p:txBody>
          <a:bodyPr/>
          <a:lstStyle/>
          <a:p>
            <a:r>
              <a:rPr lang="en-US" dirty="0"/>
              <a:t>Anatomical-based results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E15DA07-A156-BACF-1907-20A5A3ECC2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5900" y="1686064"/>
            <a:ext cx="8026400" cy="472141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B60D1B8-47BA-C5C8-EF32-21E535438B0B}"/>
              </a:ext>
            </a:extLst>
          </p:cNvPr>
          <p:cNvSpPr txBox="1"/>
          <p:nvPr/>
        </p:nvSpPr>
        <p:spPr>
          <a:xfrm>
            <a:off x="139700" y="1219026"/>
            <a:ext cx="4199324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Results are a bit more attractive if we select the ROIs based on anatomical labels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One upside to this approach, is that it avoids any circularity biases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However, there is a risk, with just plucking and choosing anatomical labels, that one is making arbitrary choices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(and massaging the data)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For what it’s worth, I didn’t tweak the labels after seeing these results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Surprising that YAs do not show anything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 think the results on OA are more compelling if YA show weaker but still present Ven-Dor effect</a:t>
            </a:r>
          </a:p>
        </p:txBody>
      </p:sp>
    </p:spTree>
    <p:extLst>
      <p:ext uri="{BB962C8B-B14F-4D97-AF65-F5344CB8AC3E}">
        <p14:creationId xmlns:p14="http://schemas.microsoft.com/office/powerpoint/2010/main" val="1278047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79B19-7CAE-F1C1-09F4-3861F799AAC3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FFFF00"/>
          </a:solidFill>
        </p:spPr>
        <p:txBody>
          <a:bodyPr/>
          <a:lstStyle/>
          <a:p>
            <a:r>
              <a:rPr lang="en-US" dirty="0"/>
              <a:t>Bar graphs for the four sides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846B03-A1AC-E614-3EFC-6569956EC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59350" cy="4351338"/>
          </a:xfrm>
        </p:spPr>
        <p:txBody>
          <a:bodyPr/>
          <a:lstStyle/>
          <a:p>
            <a:r>
              <a:rPr lang="en-US" dirty="0"/>
              <a:t>I just didn’t have time to prepare this</a:t>
            </a:r>
          </a:p>
          <a:p>
            <a:r>
              <a:rPr lang="en-US" dirty="0"/>
              <a:t>Rather than just showing bars for  Between vs. Within, I wanted to show bars for all four sides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D96938-8C5B-68C0-6FA5-78A9AF9276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5215" y="2343839"/>
            <a:ext cx="2098585" cy="1828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DAA6FF1-392F-05EA-3F1E-34285BB2AE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4623" y="4348163"/>
            <a:ext cx="2098585" cy="1828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6D7886D-A35F-C7BD-4614-8A2DFBE7DF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7168" y="4348163"/>
            <a:ext cx="2097215" cy="1828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2618908-CBFB-C110-2D76-87B5DD6A6C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4605" y="2343839"/>
            <a:ext cx="2099778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5440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Picture 101">
            <a:extLst>
              <a:ext uri="{FF2B5EF4-FFF2-40B4-BE49-F238E27FC236}">
                <a16:creationId xmlns:a16="http://schemas.microsoft.com/office/drawing/2014/main" id="{32BE956F-5E6A-5B3F-E572-EABA1E1E5C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6236" y="644525"/>
            <a:ext cx="6635764" cy="60990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0D18E89-B5C2-82EF-5A67-46E680AEA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04" y="52412"/>
            <a:ext cx="3895130" cy="1325563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Aging modulates fluctuation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B77895-F93D-12D6-985A-7E7BA6858D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595" y="1377975"/>
            <a:ext cx="3430029" cy="3703447"/>
          </a:xfrm>
        </p:spPr>
        <p:txBody>
          <a:bodyPr>
            <a:normAutofit fontScale="85000" lnSpcReduction="10000"/>
          </a:bodyPr>
          <a:lstStyle/>
          <a:p>
            <a:r>
              <a:rPr lang="en-US" sz="2000" dirty="0"/>
              <a:t>Method:</a:t>
            </a:r>
          </a:p>
          <a:p>
            <a:pPr lvl="1"/>
            <a:r>
              <a:rPr lang="en-US" sz="1600" dirty="0"/>
              <a:t>These analyses do not look at congruency</a:t>
            </a:r>
          </a:p>
          <a:p>
            <a:r>
              <a:rPr lang="en-US" sz="2000" dirty="0"/>
              <a:t>Results:</a:t>
            </a:r>
          </a:p>
          <a:p>
            <a:pPr lvl="1"/>
            <a:r>
              <a:rPr lang="en-US" sz="1600" dirty="0"/>
              <a:t>In older adults, the Ven and Dor modules move in greater sync</a:t>
            </a:r>
          </a:p>
          <a:p>
            <a:pPr lvl="1"/>
            <a:r>
              <a:rPr lang="en-US" sz="1600" dirty="0"/>
              <a:t>Interestingly, so do the anterior and posterior connections</a:t>
            </a:r>
          </a:p>
          <a:p>
            <a:r>
              <a:rPr lang="en-US" sz="2000" dirty="0"/>
              <a:t>Constantly fluctuating between Ven-Dor and Ant-Pos</a:t>
            </a:r>
          </a:p>
          <a:p>
            <a:pPr lvl="1"/>
            <a:r>
              <a:rPr lang="en-US" sz="1600" dirty="0"/>
              <a:t>Fluctuation is evidenced by the negative correlations</a:t>
            </a:r>
          </a:p>
          <a:p>
            <a:pPr lvl="1"/>
            <a:r>
              <a:rPr lang="en-US" sz="1600" dirty="0"/>
              <a:t>Although it’s hard to judge magnitude based on the figure, the negative slopes are quite strong (up to r = -.38)</a:t>
            </a: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31ACBFC6-DE8F-0CA5-521D-577AD343B278}"/>
              </a:ext>
            </a:extLst>
          </p:cNvPr>
          <p:cNvSpPr/>
          <p:nvPr/>
        </p:nvSpPr>
        <p:spPr>
          <a:xfrm>
            <a:off x="6229350" y="2222500"/>
            <a:ext cx="1179342" cy="1179342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A7F1083F-EE52-B86D-EB71-9E0A14673565}"/>
              </a:ext>
            </a:extLst>
          </p:cNvPr>
          <p:cNvSpPr/>
          <p:nvPr/>
        </p:nvSpPr>
        <p:spPr>
          <a:xfrm>
            <a:off x="8968195" y="4963801"/>
            <a:ext cx="1179342" cy="1179342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7" name="Picture 116">
            <a:extLst>
              <a:ext uri="{FF2B5EF4-FFF2-40B4-BE49-F238E27FC236}">
                <a16:creationId xmlns:a16="http://schemas.microsoft.com/office/drawing/2014/main" id="{FA94A1EC-F0DD-6301-8EF2-B65E0E2A72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9948" y="3623199"/>
            <a:ext cx="1364080" cy="1188720"/>
          </a:xfrm>
          <a:prstGeom prst="rect">
            <a:avLst/>
          </a:prstGeom>
        </p:spPr>
      </p:pic>
      <p:pic>
        <p:nvPicPr>
          <p:cNvPr id="118" name="Picture 117">
            <a:extLst>
              <a:ext uri="{FF2B5EF4-FFF2-40B4-BE49-F238E27FC236}">
                <a16:creationId xmlns:a16="http://schemas.microsoft.com/office/drawing/2014/main" id="{23CB25DF-4303-C260-B92E-95436B979C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9948" y="5081423"/>
            <a:ext cx="1364080" cy="1188720"/>
          </a:xfrm>
          <a:prstGeom prst="rect">
            <a:avLst/>
          </a:prstGeom>
        </p:spPr>
      </p:pic>
      <p:pic>
        <p:nvPicPr>
          <p:cNvPr id="121" name="Picture 120">
            <a:extLst>
              <a:ext uri="{FF2B5EF4-FFF2-40B4-BE49-F238E27FC236}">
                <a16:creationId xmlns:a16="http://schemas.microsoft.com/office/drawing/2014/main" id="{D9386487-816B-7403-E974-7ABC9D3D14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30975" y="2164975"/>
            <a:ext cx="1363190" cy="1188720"/>
          </a:xfrm>
          <a:prstGeom prst="rect">
            <a:avLst/>
          </a:prstGeom>
        </p:spPr>
      </p:pic>
      <p:pic>
        <p:nvPicPr>
          <p:cNvPr id="124" name="Picture 123">
            <a:extLst>
              <a:ext uri="{FF2B5EF4-FFF2-40B4-BE49-F238E27FC236}">
                <a16:creationId xmlns:a16="http://schemas.microsoft.com/office/drawing/2014/main" id="{DF703322-3E32-AEAC-C51B-0563A2CF14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38824" y="706751"/>
            <a:ext cx="1364856" cy="1188720"/>
          </a:xfrm>
          <a:prstGeom prst="rect">
            <a:avLst/>
          </a:prstGeom>
        </p:spPr>
      </p:pic>
      <p:pic>
        <p:nvPicPr>
          <p:cNvPr id="126" name="Picture 125">
            <a:extLst>
              <a:ext uri="{FF2B5EF4-FFF2-40B4-BE49-F238E27FC236}">
                <a16:creationId xmlns:a16="http://schemas.microsoft.com/office/drawing/2014/main" id="{7C5B9005-FF53-05EA-2620-783AEF5EFD3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5476" y="5130447"/>
            <a:ext cx="3895130" cy="1435093"/>
          </a:xfrm>
          <a:prstGeom prst="rect">
            <a:avLst/>
          </a:prstGeom>
        </p:spPr>
      </p:pic>
      <p:sp>
        <p:nvSpPr>
          <p:cNvPr id="127" name="Rectangle 126">
            <a:extLst>
              <a:ext uri="{FF2B5EF4-FFF2-40B4-BE49-F238E27FC236}">
                <a16:creationId xmlns:a16="http://schemas.microsoft.com/office/drawing/2014/main" id="{F52CC0BB-E7A8-9074-F3A0-512CEB857D23}"/>
              </a:ext>
            </a:extLst>
          </p:cNvPr>
          <p:cNvSpPr/>
          <p:nvPr/>
        </p:nvSpPr>
        <p:spPr>
          <a:xfrm>
            <a:off x="6229351" y="3497580"/>
            <a:ext cx="2586990" cy="2715895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4A07D186-FB1D-14B3-1081-76EF45EBA438}"/>
              </a:ext>
            </a:extLst>
          </p:cNvPr>
          <p:cNvSpPr txBox="1"/>
          <p:nvPr/>
        </p:nvSpPr>
        <p:spPr>
          <a:xfrm>
            <a:off x="6177518" y="1528300"/>
            <a:ext cx="1955243" cy="6463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Ven x Dor</a:t>
            </a:r>
          </a:p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Aging interaction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468A428E-902A-CC8F-D362-CB83A705A986}"/>
              </a:ext>
            </a:extLst>
          </p:cNvPr>
          <p:cNvSpPr txBox="1"/>
          <p:nvPr/>
        </p:nvSpPr>
        <p:spPr>
          <a:xfrm>
            <a:off x="8944954" y="4271750"/>
            <a:ext cx="1955243" cy="646331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Ven x Dor</a:t>
            </a:r>
          </a:p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Aging interaction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F906C8EE-5281-71D8-86B6-11A2062D9EAD}"/>
              </a:ext>
            </a:extLst>
          </p:cNvPr>
          <p:cNvSpPr txBox="1"/>
          <p:nvPr/>
        </p:nvSpPr>
        <p:spPr>
          <a:xfrm>
            <a:off x="6316971" y="4532361"/>
            <a:ext cx="2411750" cy="646331"/>
          </a:xfrm>
          <a:prstGeom prst="rect">
            <a:avLst/>
          </a:prstGeom>
          <a:solidFill>
            <a:schemeClr val="bg1">
              <a:alpha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Negative correlations indicating fluctuation</a:t>
            </a:r>
          </a:p>
        </p:txBody>
      </p:sp>
    </p:spTree>
    <p:extLst>
      <p:ext uri="{BB962C8B-B14F-4D97-AF65-F5344CB8AC3E}">
        <p14:creationId xmlns:p14="http://schemas.microsoft.com/office/powerpoint/2010/main" val="124200331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2B358-C225-5257-2356-A3D46F458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971"/>
            <a:ext cx="10515600" cy="1086785"/>
          </a:xfrm>
        </p:spPr>
        <p:txBody>
          <a:bodyPr/>
          <a:lstStyle/>
          <a:p>
            <a:r>
              <a:rPr lang="en-US" dirty="0"/>
              <a:t>Interim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42F85-B9AF-622F-D6AE-E91D64BAAF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643" y="1043871"/>
            <a:ext cx="10849157" cy="259896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Individuals (YA and OA) are continuously fluctuating between a Pos-Ant state &amp; Ven-Dor state</a:t>
            </a:r>
          </a:p>
          <a:p>
            <a:pPr lvl="1"/>
            <a:r>
              <a:rPr lang="en-US" dirty="0"/>
              <a:t>Processing congruency pushes individuals toward Ven-Dor</a:t>
            </a:r>
          </a:p>
          <a:p>
            <a:r>
              <a:rPr lang="en-US" dirty="0"/>
              <a:t>OAs show a greater tendency to be in the Ven-Dor state</a:t>
            </a:r>
          </a:p>
          <a:p>
            <a:pPr lvl="1"/>
            <a:r>
              <a:rPr lang="en-US" dirty="0"/>
              <a:t>This occurs particularly when processing congruency (congruency x aging)</a:t>
            </a:r>
          </a:p>
          <a:p>
            <a:pPr lvl="1"/>
            <a:r>
              <a:rPr lang="en-US" dirty="0"/>
              <a:t>However, there is also a main effect: OAs always lean toward this state of “congruency”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09AE980-1F53-1457-8523-B0C615D9C61A}"/>
              </a:ext>
            </a:extLst>
          </p:cNvPr>
          <p:cNvSpPr txBox="1"/>
          <p:nvPr/>
        </p:nvSpPr>
        <p:spPr>
          <a:xfrm>
            <a:off x="9845179" y="3498988"/>
            <a:ext cx="11689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Pos-Ant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3CB6633-3F43-5D4A-D4D6-B23039878408}"/>
              </a:ext>
            </a:extLst>
          </p:cNvPr>
          <p:cNvSpPr txBox="1"/>
          <p:nvPr/>
        </p:nvSpPr>
        <p:spPr>
          <a:xfrm>
            <a:off x="5565988" y="3498988"/>
            <a:ext cx="11691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Ven-Dor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63E4336C-8F79-D7E1-3C56-E0EA8509AF9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4" r="1"/>
          <a:stretch/>
        </p:blipFill>
        <p:spPr>
          <a:xfrm>
            <a:off x="4846430" y="3918629"/>
            <a:ext cx="2677937" cy="2333625"/>
          </a:xfrm>
          <a:prstGeom prst="rect">
            <a:avLst/>
          </a:prstGeom>
        </p:spPr>
      </p:pic>
      <p:sp>
        <p:nvSpPr>
          <p:cNvPr id="37" name="Oval 36">
            <a:extLst>
              <a:ext uri="{FF2B5EF4-FFF2-40B4-BE49-F238E27FC236}">
                <a16:creationId xmlns:a16="http://schemas.microsoft.com/office/drawing/2014/main" id="{FA47AE13-BB2E-5DDE-5478-18AF98DB4B1F}"/>
              </a:ext>
            </a:extLst>
          </p:cNvPr>
          <p:cNvSpPr/>
          <p:nvPr/>
        </p:nvSpPr>
        <p:spPr>
          <a:xfrm>
            <a:off x="5585996" y="4554713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7C718546-1052-8B71-B1B3-B8F73D172F0F}"/>
              </a:ext>
            </a:extLst>
          </p:cNvPr>
          <p:cNvSpPr/>
          <p:nvPr/>
        </p:nvSpPr>
        <p:spPr>
          <a:xfrm>
            <a:off x="6871124" y="4828293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B1D5FF58-3F0F-F84E-8B45-0DCB91A16C78}"/>
              </a:ext>
            </a:extLst>
          </p:cNvPr>
          <p:cNvCxnSpPr>
            <a:cxnSpLocks/>
          </p:cNvCxnSpPr>
          <p:nvPr/>
        </p:nvCxnSpPr>
        <p:spPr>
          <a:xfrm>
            <a:off x="5608010" y="4622393"/>
            <a:ext cx="1466316" cy="354656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Oval 39">
            <a:extLst>
              <a:ext uri="{FF2B5EF4-FFF2-40B4-BE49-F238E27FC236}">
                <a16:creationId xmlns:a16="http://schemas.microsoft.com/office/drawing/2014/main" id="{C53599BC-74D7-5B5E-5168-01C336C17837}"/>
              </a:ext>
            </a:extLst>
          </p:cNvPr>
          <p:cNvSpPr/>
          <p:nvPr/>
        </p:nvSpPr>
        <p:spPr>
          <a:xfrm>
            <a:off x="5455076" y="4461786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ECB21B1-F651-9B4D-4586-21C6CD97F87F}"/>
              </a:ext>
            </a:extLst>
          </p:cNvPr>
          <p:cNvSpPr txBox="1"/>
          <p:nvPr/>
        </p:nvSpPr>
        <p:spPr>
          <a:xfrm>
            <a:off x="6814467" y="4873198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17A8597-FEAA-90F7-F5BA-FE1024CE5FC7}"/>
              </a:ext>
            </a:extLst>
          </p:cNvPr>
          <p:cNvSpPr txBox="1"/>
          <p:nvPr/>
        </p:nvSpPr>
        <p:spPr>
          <a:xfrm>
            <a:off x="5416827" y="4497500"/>
            <a:ext cx="4427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3BAD9333-48F9-A15B-0665-8C6C0339A5BA}"/>
              </a:ext>
            </a:extLst>
          </p:cNvPr>
          <p:cNvSpPr/>
          <p:nvPr/>
        </p:nvSpPr>
        <p:spPr>
          <a:xfrm>
            <a:off x="6488487" y="5672336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FB1D7A2-C60B-16B9-5902-2E9F9A6150BA}"/>
              </a:ext>
            </a:extLst>
          </p:cNvPr>
          <p:cNvCxnSpPr>
            <a:cxnSpLocks/>
          </p:cNvCxnSpPr>
          <p:nvPr/>
        </p:nvCxnSpPr>
        <p:spPr>
          <a:xfrm>
            <a:off x="5191505" y="5337981"/>
            <a:ext cx="1369324" cy="470643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7535BFA0-2D3F-1FB2-164E-5481527139B4}"/>
              </a:ext>
            </a:extLst>
          </p:cNvPr>
          <p:cNvSpPr/>
          <p:nvPr/>
        </p:nvSpPr>
        <p:spPr>
          <a:xfrm>
            <a:off x="5038571" y="5177374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C47863A-2DA4-8E35-8A19-D0C10BEEE54A}"/>
              </a:ext>
            </a:extLst>
          </p:cNvPr>
          <p:cNvSpPr txBox="1"/>
          <p:nvPr/>
        </p:nvSpPr>
        <p:spPr>
          <a:xfrm>
            <a:off x="6431500" y="5699290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8CA96A7-8D2E-0121-C4D7-1D5845EF912E}"/>
              </a:ext>
            </a:extLst>
          </p:cNvPr>
          <p:cNvSpPr txBox="1"/>
          <p:nvPr/>
        </p:nvSpPr>
        <p:spPr>
          <a:xfrm>
            <a:off x="4981270" y="5208325"/>
            <a:ext cx="4732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EC9FD6E7-D761-E905-8CF7-3C31D675129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4" r="1"/>
          <a:stretch/>
        </p:blipFill>
        <p:spPr>
          <a:xfrm>
            <a:off x="9075688" y="3921244"/>
            <a:ext cx="2677937" cy="2333625"/>
          </a:xfrm>
          <a:prstGeom prst="rect">
            <a:avLst/>
          </a:prstGeom>
        </p:spPr>
      </p:pic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A0D7BB32-3E39-D464-8669-44F26BAE3DBC}"/>
              </a:ext>
            </a:extLst>
          </p:cNvPr>
          <p:cNvCxnSpPr>
            <a:cxnSpLocks/>
          </p:cNvCxnSpPr>
          <p:nvPr/>
        </p:nvCxnSpPr>
        <p:spPr>
          <a:xfrm flipH="1">
            <a:off x="9431156" y="4659715"/>
            <a:ext cx="407225" cy="70958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7B670027-B834-E429-5064-F163BFB5D916}"/>
              </a:ext>
            </a:extLst>
          </p:cNvPr>
          <p:cNvCxnSpPr>
            <a:cxnSpLocks/>
          </p:cNvCxnSpPr>
          <p:nvPr/>
        </p:nvCxnSpPr>
        <p:spPr>
          <a:xfrm flipH="1">
            <a:off x="10911158" y="5083123"/>
            <a:ext cx="304497" cy="68813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Oval 50">
            <a:extLst>
              <a:ext uri="{FF2B5EF4-FFF2-40B4-BE49-F238E27FC236}">
                <a16:creationId xmlns:a16="http://schemas.microsoft.com/office/drawing/2014/main" id="{E4754E1F-E1DA-2C76-C53E-8A42973A2FB4}"/>
              </a:ext>
            </a:extLst>
          </p:cNvPr>
          <p:cNvSpPr/>
          <p:nvPr/>
        </p:nvSpPr>
        <p:spPr>
          <a:xfrm>
            <a:off x="9791772" y="4557328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DA83CDD3-2DD2-14EB-43BF-180EF4EE1403}"/>
              </a:ext>
            </a:extLst>
          </p:cNvPr>
          <p:cNvSpPr/>
          <p:nvPr/>
        </p:nvSpPr>
        <p:spPr>
          <a:xfrm>
            <a:off x="11076900" y="4830908"/>
            <a:ext cx="338667" cy="33866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82A8C9A5-3D53-09F9-CA89-B739A494F3DD}"/>
              </a:ext>
            </a:extLst>
          </p:cNvPr>
          <p:cNvSpPr/>
          <p:nvPr/>
        </p:nvSpPr>
        <p:spPr>
          <a:xfrm>
            <a:off x="9660852" y="4464401"/>
            <a:ext cx="338667" cy="338667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8505E35-758C-9657-3CE4-25973347F17B}"/>
              </a:ext>
            </a:extLst>
          </p:cNvPr>
          <p:cNvSpPr txBox="1"/>
          <p:nvPr/>
        </p:nvSpPr>
        <p:spPr>
          <a:xfrm>
            <a:off x="11020243" y="4875813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35FDF71-8247-027F-F821-D7E80C02FA05}"/>
              </a:ext>
            </a:extLst>
          </p:cNvPr>
          <p:cNvSpPr txBox="1"/>
          <p:nvPr/>
        </p:nvSpPr>
        <p:spPr>
          <a:xfrm>
            <a:off x="9622603" y="4500115"/>
            <a:ext cx="4427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E7CA5F78-0C03-75B7-5124-A947AE614260}"/>
              </a:ext>
            </a:extLst>
          </p:cNvPr>
          <p:cNvSpPr/>
          <p:nvPr/>
        </p:nvSpPr>
        <p:spPr>
          <a:xfrm>
            <a:off x="10694263" y="5674951"/>
            <a:ext cx="338667" cy="33866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5372F526-9907-FC5F-02B6-CC11092FE837}"/>
              </a:ext>
            </a:extLst>
          </p:cNvPr>
          <p:cNvSpPr/>
          <p:nvPr/>
        </p:nvSpPr>
        <p:spPr>
          <a:xfrm>
            <a:off x="9244347" y="5179989"/>
            <a:ext cx="338667" cy="338667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458DBEB-9330-63C9-4D90-72137C5C5282}"/>
              </a:ext>
            </a:extLst>
          </p:cNvPr>
          <p:cNvSpPr txBox="1"/>
          <p:nvPr/>
        </p:nvSpPr>
        <p:spPr>
          <a:xfrm>
            <a:off x="10637276" y="5701905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B67F3C1-F41B-48F0-6472-58AB07C0224E}"/>
              </a:ext>
            </a:extLst>
          </p:cNvPr>
          <p:cNvSpPr txBox="1"/>
          <p:nvPr/>
        </p:nvSpPr>
        <p:spPr>
          <a:xfrm>
            <a:off x="9187046" y="5210940"/>
            <a:ext cx="4732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102E94C0-E225-CF39-35B6-2116E1EB5D51}"/>
              </a:ext>
            </a:extLst>
          </p:cNvPr>
          <p:cNvCxnSpPr>
            <a:cxnSpLocks/>
          </p:cNvCxnSpPr>
          <p:nvPr/>
        </p:nvCxnSpPr>
        <p:spPr>
          <a:xfrm>
            <a:off x="7717090" y="5031431"/>
            <a:ext cx="1121869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B10D8AF4-DD10-F2BF-53A8-2B0935126E04}"/>
              </a:ext>
            </a:extLst>
          </p:cNvPr>
          <p:cNvSpPr txBox="1"/>
          <p:nvPr/>
        </p:nvSpPr>
        <p:spPr>
          <a:xfrm>
            <a:off x="7483356" y="3976681"/>
            <a:ext cx="16914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Fluctuation</a:t>
            </a:r>
          </a:p>
        </p:txBody>
      </p:sp>
      <p:sp>
        <p:nvSpPr>
          <p:cNvPr id="62" name="Content Placeholder 2">
            <a:extLst>
              <a:ext uri="{FF2B5EF4-FFF2-40B4-BE49-F238E27FC236}">
                <a16:creationId xmlns:a16="http://schemas.microsoft.com/office/drawing/2014/main" id="{B7AC2E41-9AFE-71C1-EFAA-851C25996A48}"/>
              </a:ext>
            </a:extLst>
          </p:cNvPr>
          <p:cNvSpPr txBox="1">
            <a:spLocks/>
          </p:cNvSpPr>
          <p:nvPr/>
        </p:nvSpPr>
        <p:spPr>
          <a:xfrm>
            <a:off x="497564" y="3576661"/>
            <a:ext cx="4253220" cy="306493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600" dirty="0"/>
              <a:t>Aging also influences fluctuation</a:t>
            </a:r>
          </a:p>
          <a:p>
            <a:pPr lvl="1"/>
            <a:r>
              <a:rPr lang="en-US" sz="2200" dirty="0"/>
              <a:t>In OA, Ven &amp; Dor move in sync more</a:t>
            </a:r>
          </a:p>
          <a:p>
            <a:pPr lvl="1"/>
            <a:r>
              <a:rPr lang="en-US" sz="2200" dirty="0"/>
              <a:t>In OA, Pos &amp; Ant move in sync more</a:t>
            </a:r>
          </a:p>
          <a:p>
            <a:pPr lvl="1"/>
            <a:r>
              <a:rPr lang="en-US" sz="2200" dirty="0"/>
              <a:t>Interpretable as OA showing less global processing?</a:t>
            </a:r>
          </a:p>
          <a:p>
            <a:r>
              <a:rPr lang="en-US" sz="2600" dirty="0"/>
              <a:t>These results together serve as strong evidence for the meaningfulness of the constructed Ven-</a:t>
            </a:r>
            <a:r>
              <a:rPr lang="en-US" sz="2600" dirty="0" err="1"/>
              <a:t>Dor</a:t>
            </a:r>
            <a:r>
              <a:rPr lang="en-US" sz="2600" dirty="0"/>
              <a:t> modules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97E503C-84EE-0177-C0C3-4C65D4F6723A}"/>
              </a:ext>
            </a:extLst>
          </p:cNvPr>
          <p:cNvSpPr txBox="1"/>
          <p:nvPr/>
        </p:nvSpPr>
        <p:spPr>
          <a:xfrm>
            <a:off x="4566691" y="6372312"/>
            <a:ext cx="76445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Would it help to look at resting state data? See if we find this fluctuation there too?</a:t>
            </a:r>
          </a:p>
        </p:txBody>
      </p:sp>
    </p:spTree>
    <p:extLst>
      <p:ext uri="{BB962C8B-B14F-4D97-AF65-F5344CB8AC3E}">
        <p14:creationId xmlns:p14="http://schemas.microsoft.com/office/powerpoint/2010/main" val="3837465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  <p:bldP spid="63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Result 3: Interpreting </a:t>
            </a:r>
            <a:br>
              <a:rPr lang="en-US" dirty="0"/>
            </a:br>
            <a:r>
              <a:rPr lang="en-US" dirty="0"/>
              <a:t>Ven &amp; Dor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(These analyses would be framed as exploratory)</a:t>
            </a:r>
          </a:p>
          <a:p>
            <a:r>
              <a:rPr lang="en-US" dirty="0"/>
              <a:t>(These results are also the least cooked. I arrived at them at the last second, I need to do my double-checks)</a:t>
            </a:r>
          </a:p>
        </p:txBody>
      </p:sp>
    </p:spTree>
    <p:extLst>
      <p:ext uri="{BB962C8B-B14F-4D97-AF65-F5344CB8AC3E}">
        <p14:creationId xmlns:p14="http://schemas.microsoft.com/office/powerpoint/2010/main" val="3438170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00C06-6EBA-2AE3-54B9-FF25AEFAC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8900"/>
            <a:ext cx="10515600" cy="873125"/>
          </a:xfrm>
        </p:spPr>
        <p:txBody>
          <a:bodyPr/>
          <a:lstStyle/>
          <a:p>
            <a:r>
              <a:rPr lang="en-US" dirty="0"/>
              <a:t>Scene representation &amp; Ven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7E8FC5E-106F-7935-D3ED-CB30B6F425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0399" y="3328194"/>
            <a:ext cx="2743200" cy="3429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CF496A3-7088-11C1-41C0-B2955E5633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6479" y="3328194"/>
            <a:ext cx="2743200" cy="3429000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65C8992-A5F8-D4BC-3ABF-3C9B44ACB4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2321" y="955675"/>
            <a:ext cx="10253979" cy="2352675"/>
          </a:xfrm>
        </p:spPr>
        <p:txBody>
          <a:bodyPr>
            <a:normAutofit/>
          </a:bodyPr>
          <a:lstStyle/>
          <a:p>
            <a:r>
              <a:rPr lang="en-US" sz="2400" dirty="0"/>
              <a:t>Participants represent the scenes</a:t>
            </a:r>
          </a:p>
          <a:p>
            <a:pPr lvl="1"/>
            <a:r>
              <a:rPr lang="en-US" sz="2000" dirty="0"/>
              <a:t>Representation stronger in OA</a:t>
            </a:r>
          </a:p>
          <a:p>
            <a:pPr lvl="1"/>
            <a:r>
              <a:rPr lang="en-US" sz="2000" dirty="0"/>
              <a:t>We can measure trial-by-trial representational strength with IRAF</a:t>
            </a:r>
          </a:p>
          <a:p>
            <a:r>
              <a:rPr lang="en-US" sz="2400" dirty="0"/>
              <a:t>Is scene representation in the most potent areas (e.g., LOC) linked to Ven or Dor?</a:t>
            </a:r>
          </a:p>
          <a:p>
            <a:pPr marL="457200" lvl="1" indent="0" algn="ctr">
              <a:buNone/>
            </a:pPr>
            <a:r>
              <a:rPr lang="en-US" sz="2000" i="1" dirty="0"/>
              <a:t>IRAF</a:t>
            </a:r>
            <a:r>
              <a:rPr lang="en-US" sz="2000" i="1" baseline="-25000" dirty="0"/>
              <a:t>LOC</a:t>
            </a:r>
            <a:r>
              <a:rPr lang="en-US" sz="2000" i="1" dirty="0"/>
              <a:t> ~ 1 + Ven + Dor + (1 + Ven + Dor | Subject)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30C69E17-E3A5-716E-3608-059D544392F8}"/>
              </a:ext>
            </a:extLst>
          </p:cNvPr>
          <p:cNvSpPr txBox="1">
            <a:spLocks/>
          </p:cNvSpPr>
          <p:nvPr/>
        </p:nvSpPr>
        <p:spPr>
          <a:xfrm>
            <a:off x="800100" y="3410744"/>
            <a:ext cx="4902199" cy="36123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Yes, stronger scene representation is linked to a stronger connectivity within the Ven module (p &lt; .01)</a:t>
            </a:r>
          </a:p>
          <a:p>
            <a:pPr lvl="1"/>
            <a:r>
              <a:rPr lang="en-US" sz="2000" dirty="0"/>
              <a:t>Remains significant when controlling for age or congruency</a:t>
            </a:r>
          </a:p>
          <a:p>
            <a:pPr lvl="1"/>
            <a:r>
              <a:rPr lang="en-US" sz="2000" dirty="0"/>
              <a:t>No effect on Dor</a:t>
            </a:r>
          </a:p>
          <a:p>
            <a:r>
              <a:rPr lang="en-US" sz="1800" i="1" dirty="0"/>
              <a:t>Note: IRAF is measured during scene presentation whereas Ven &amp; Dor are measured </a:t>
            </a:r>
            <a:r>
              <a:rPr lang="en-US" sz="1800" i="1" dirty="0" err="1"/>
              <a:t>durng</a:t>
            </a:r>
            <a:r>
              <a:rPr lang="en-US" sz="1800" i="1" dirty="0"/>
              <a:t> object presentation</a:t>
            </a:r>
          </a:p>
        </p:txBody>
      </p:sp>
    </p:spTree>
    <p:extLst>
      <p:ext uri="{BB962C8B-B14F-4D97-AF65-F5344CB8AC3E}">
        <p14:creationId xmlns:p14="http://schemas.microsoft.com/office/powerpoint/2010/main" val="3074888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73878-1AEB-E6CA-5DFE-E91E7D3F9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Conceptual memory &amp; </a:t>
            </a:r>
            <a:r>
              <a:rPr lang="en-US" dirty="0" err="1"/>
              <a:t>Dor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FF67AA-1B6C-8850-1FD4-4CE800C489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Another multilevel regression:</a:t>
            </a:r>
          </a:p>
          <a:p>
            <a:pPr marL="0" indent="0" algn="ctr">
              <a:buNone/>
            </a:pPr>
            <a:br>
              <a:rPr lang="en-US" i="1" dirty="0"/>
            </a:br>
            <a:r>
              <a:rPr lang="en-US" i="1" dirty="0"/>
              <a:t>conceptual hit ~ </a:t>
            </a:r>
            <a:r>
              <a:rPr lang="en-US" sz="2800" i="1" dirty="0"/>
              <a:t>1 + Ven + Dor + (1 + Ven + Dor | Subject)</a:t>
            </a:r>
          </a:p>
          <a:p>
            <a:endParaRPr lang="en-US" dirty="0"/>
          </a:p>
          <a:p>
            <a:r>
              <a:rPr lang="en-US" dirty="0"/>
              <a:t>Greater connectivity within the Dor module during encoding predicts subsequent memory accuracy (p = .04)</a:t>
            </a:r>
          </a:p>
          <a:p>
            <a:pPr lvl="1"/>
            <a:r>
              <a:rPr lang="en-US" dirty="0"/>
              <a:t>No effect of Ven</a:t>
            </a:r>
          </a:p>
          <a:p>
            <a:pPr lvl="1"/>
            <a:r>
              <a:rPr lang="en-US" dirty="0"/>
              <a:t>Given that this result is rather frail, I think it should be treated with some caution and regarded as exploratory</a:t>
            </a:r>
          </a:p>
          <a:p>
            <a:pPr lvl="1"/>
            <a:r>
              <a:rPr lang="en-US" dirty="0"/>
              <a:t>Hard to find anything more robust given the limited conceptual hit trial numbers</a:t>
            </a:r>
          </a:p>
          <a:p>
            <a:pPr lvl="1"/>
            <a:r>
              <a:rPr lang="en-US" dirty="0"/>
              <a:t>Results stay the same if looking at hit-hit accuracy</a:t>
            </a:r>
          </a:p>
        </p:txBody>
      </p:sp>
    </p:spTree>
    <p:extLst>
      <p:ext uri="{BB962C8B-B14F-4D97-AF65-F5344CB8AC3E}">
        <p14:creationId xmlns:p14="http://schemas.microsoft.com/office/powerpoint/2010/main" val="1168560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79CF4-2EA8-84ED-CD9B-E365A9DF6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3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5C3E1-A5D4-ED44-7C3A-9842EF72A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60050" cy="4351338"/>
          </a:xfrm>
        </p:spPr>
        <p:txBody>
          <a:bodyPr/>
          <a:lstStyle/>
          <a:p>
            <a:r>
              <a:rPr lang="en-US" dirty="0"/>
              <a:t>Why was Ven found to be linked to scene processing?</a:t>
            </a:r>
          </a:p>
          <a:p>
            <a:r>
              <a:rPr lang="en-US" dirty="0"/>
              <a:t>Why was Dor found to be linked to subsequent conceptual memory accuracy?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18C3EF-7E10-E9B7-3AB6-979AF9793604}"/>
              </a:ext>
            </a:extLst>
          </p:cNvPr>
          <p:cNvSpPr txBox="1"/>
          <p:nvPr/>
        </p:nvSpPr>
        <p:spPr>
          <a:xfrm>
            <a:off x="5198958" y="3423697"/>
            <a:ext cx="11691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Ven-Dor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381F41-B3A7-FD5F-4C57-FE17A09DC37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4" r="1"/>
          <a:stretch/>
        </p:blipFill>
        <p:spPr>
          <a:xfrm>
            <a:off x="4479400" y="3843338"/>
            <a:ext cx="2677937" cy="2333625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90F04998-0DDA-B41A-9567-2791EB43FD54}"/>
              </a:ext>
            </a:extLst>
          </p:cNvPr>
          <p:cNvSpPr/>
          <p:nvPr/>
        </p:nvSpPr>
        <p:spPr>
          <a:xfrm>
            <a:off x="5218966" y="4479422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7D25A73-C968-49C9-B6D5-89C6BBDA30EC}"/>
              </a:ext>
            </a:extLst>
          </p:cNvPr>
          <p:cNvSpPr/>
          <p:nvPr/>
        </p:nvSpPr>
        <p:spPr>
          <a:xfrm>
            <a:off x="6504094" y="4753002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F0C49B9-988A-DE22-8316-E123C1781BC6}"/>
              </a:ext>
            </a:extLst>
          </p:cNvPr>
          <p:cNvCxnSpPr>
            <a:cxnSpLocks/>
          </p:cNvCxnSpPr>
          <p:nvPr/>
        </p:nvCxnSpPr>
        <p:spPr>
          <a:xfrm>
            <a:off x="5240980" y="4547102"/>
            <a:ext cx="1466316" cy="354656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DF6EB4CD-1835-C5B5-7915-D73BDA907336}"/>
              </a:ext>
            </a:extLst>
          </p:cNvPr>
          <p:cNvSpPr/>
          <p:nvPr/>
        </p:nvSpPr>
        <p:spPr>
          <a:xfrm>
            <a:off x="5088046" y="4386495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DF1F9F-34BF-5AC1-B1F2-2670773A3EA5}"/>
              </a:ext>
            </a:extLst>
          </p:cNvPr>
          <p:cNvSpPr txBox="1"/>
          <p:nvPr/>
        </p:nvSpPr>
        <p:spPr>
          <a:xfrm>
            <a:off x="6447437" y="4797907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97192B-D818-23E0-5BAD-DEDD3A8FC5D7}"/>
              </a:ext>
            </a:extLst>
          </p:cNvPr>
          <p:cNvSpPr txBox="1"/>
          <p:nvPr/>
        </p:nvSpPr>
        <p:spPr>
          <a:xfrm>
            <a:off x="5049797" y="4422209"/>
            <a:ext cx="4427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7E7E322-6AB4-11B2-B6B8-7BF2B16F8C98}"/>
              </a:ext>
            </a:extLst>
          </p:cNvPr>
          <p:cNvSpPr/>
          <p:nvPr/>
        </p:nvSpPr>
        <p:spPr>
          <a:xfrm>
            <a:off x="6121457" y="5597045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BD1EF44-0BFD-0493-CF83-1F0463E5B053}"/>
              </a:ext>
            </a:extLst>
          </p:cNvPr>
          <p:cNvCxnSpPr>
            <a:cxnSpLocks/>
          </p:cNvCxnSpPr>
          <p:nvPr/>
        </p:nvCxnSpPr>
        <p:spPr>
          <a:xfrm>
            <a:off x="4824475" y="5262690"/>
            <a:ext cx="1369324" cy="470643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F21ACC67-28C9-0AA6-E71E-AAD53E2D6DAA}"/>
              </a:ext>
            </a:extLst>
          </p:cNvPr>
          <p:cNvSpPr/>
          <p:nvPr/>
        </p:nvSpPr>
        <p:spPr>
          <a:xfrm>
            <a:off x="4671541" y="5102083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E05CAAE-66CA-8F67-6B10-97AB50A85775}"/>
              </a:ext>
            </a:extLst>
          </p:cNvPr>
          <p:cNvSpPr txBox="1"/>
          <p:nvPr/>
        </p:nvSpPr>
        <p:spPr>
          <a:xfrm>
            <a:off x="6064470" y="5623999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0A01873-9A66-E040-FA0A-4DDA6A20ABE9}"/>
              </a:ext>
            </a:extLst>
          </p:cNvPr>
          <p:cNvSpPr txBox="1"/>
          <p:nvPr/>
        </p:nvSpPr>
        <p:spPr>
          <a:xfrm>
            <a:off x="4614240" y="5133034"/>
            <a:ext cx="4732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</p:spTree>
    <p:extLst>
      <p:ext uri="{BB962C8B-B14F-4D97-AF65-F5344CB8AC3E}">
        <p14:creationId xmlns:p14="http://schemas.microsoft.com/office/powerpoint/2010/main" val="256029692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3956DE-32E4-C793-6742-0E4995D5D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032F9-8D7E-9F0A-6C5C-012F0D9D54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3.5 New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43F86B-39D2-258B-C6F6-A738F822B3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2/13/2024</a:t>
            </a:r>
          </a:p>
        </p:txBody>
      </p:sp>
    </p:spTree>
    <p:extLst>
      <p:ext uri="{BB962C8B-B14F-4D97-AF65-F5344CB8AC3E}">
        <p14:creationId xmlns:p14="http://schemas.microsoft.com/office/powerpoint/2010/main" val="177999500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C39D1-4183-0B09-869B-86A66751C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9F9937-CAAA-2145-BFDB-BCCB95D424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38978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848C7-B79B-0069-260C-8DB99701A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4115"/>
            <a:ext cx="10515600" cy="1325563"/>
          </a:xfrm>
        </p:spPr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25336-6796-B6FE-BE7F-E996D3107D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7041"/>
            <a:ext cx="10515600" cy="4774824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When individuals process incoming information, they fluctuate between Ven-</a:t>
            </a:r>
            <a:r>
              <a:rPr lang="en-US" dirty="0" err="1"/>
              <a:t>Dor</a:t>
            </a:r>
            <a:r>
              <a:rPr lang="en-US" dirty="0"/>
              <a:t> and Pos-Ant states</a:t>
            </a:r>
          </a:p>
          <a:p>
            <a:pPr lvl="1"/>
            <a:r>
              <a:rPr lang="en-US" dirty="0"/>
              <a:t>Detecting congruency pushes the brain toward the Ven-</a:t>
            </a:r>
            <a:r>
              <a:rPr lang="en-US" dirty="0" err="1"/>
              <a:t>Dor</a:t>
            </a:r>
            <a:r>
              <a:rPr lang="en-US" dirty="0"/>
              <a:t> state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effect of aging on congruency processing should be understood in terms of these states</a:t>
            </a:r>
          </a:p>
          <a:p>
            <a:pPr lvl="1"/>
            <a:r>
              <a:rPr lang="en-US" dirty="0"/>
              <a:t>Aging pushes people toward Ven-</a:t>
            </a:r>
            <a:r>
              <a:rPr lang="en-US" dirty="0" err="1"/>
              <a:t>Dor</a:t>
            </a:r>
            <a:r>
              <a:rPr lang="en-US" dirty="0"/>
              <a:t> state</a:t>
            </a:r>
          </a:p>
          <a:p>
            <a:pPr lvl="1"/>
            <a:r>
              <a:rPr lang="en-US" dirty="0"/>
              <a:t>Particularly when processing congruency</a:t>
            </a:r>
          </a:p>
          <a:p>
            <a:pPr lvl="1"/>
            <a:r>
              <a:rPr lang="en-US" dirty="0"/>
              <a:t>However, in general, OA seem to be in Ven-</a:t>
            </a:r>
            <a:r>
              <a:rPr lang="en-US" dirty="0" err="1"/>
              <a:t>Dor</a:t>
            </a:r>
            <a:r>
              <a:rPr lang="en-US" dirty="0"/>
              <a:t> more often by default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Ven and </a:t>
            </a:r>
            <a:r>
              <a:rPr lang="en-US" dirty="0" err="1"/>
              <a:t>Dor</a:t>
            </a:r>
            <a:r>
              <a:rPr lang="en-US" dirty="0"/>
              <a:t> functioning is related to other important dimensions of congruency processing</a:t>
            </a:r>
          </a:p>
          <a:p>
            <a:pPr lvl="1"/>
            <a:r>
              <a:rPr lang="en-US" dirty="0"/>
              <a:t>Representing stimuli’s semantic features</a:t>
            </a:r>
          </a:p>
          <a:p>
            <a:pPr lvl="1"/>
            <a:r>
              <a:rPr lang="en-US" dirty="0"/>
              <a:t>Encoding conceptual information</a:t>
            </a:r>
          </a:p>
        </p:txBody>
      </p:sp>
    </p:spTree>
    <p:extLst>
      <p:ext uri="{BB962C8B-B14F-4D97-AF65-F5344CB8AC3E}">
        <p14:creationId xmlns:p14="http://schemas.microsoft.com/office/powerpoint/2010/main" val="177818170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 101">
            <a:extLst>
              <a:ext uri="{FF2B5EF4-FFF2-40B4-BE49-F238E27FC236}">
                <a16:creationId xmlns:a16="http://schemas.microsoft.com/office/drawing/2014/main" id="{E303B548-641D-8CDB-36D9-3AE37DE312B0}"/>
              </a:ext>
            </a:extLst>
          </p:cNvPr>
          <p:cNvSpPr/>
          <p:nvPr/>
        </p:nvSpPr>
        <p:spPr>
          <a:xfrm>
            <a:off x="3197748" y="2528521"/>
            <a:ext cx="7047188" cy="2557642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D3C6B0-39A5-E38A-E332-D2C0F2D7F0F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4" r="1"/>
          <a:stretch/>
        </p:blipFill>
        <p:spPr>
          <a:xfrm>
            <a:off x="10256203" y="227318"/>
            <a:ext cx="2677937" cy="2333625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238D48F4-2C19-F02A-6431-CD46737EC698}"/>
              </a:ext>
            </a:extLst>
          </p:cNvPr>
          <p:cNvSpPr/>
          <p:nvPr/>
        </p:nvSpPr>
        <p:spPr>
          <a:xfrm>
            <a:off x="10972287" y="863402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D8C36D6-5DCC-ADE3-89C5-906689ACB6D4}"/>
              </a:ext>
            </a:extLst>
          </p:cNvPr>
          <p:cNvSpPr/>
          <p:nvPr/>
        </p:nvSpPr>
        <p:spPr>
          <a:xfrm>
            <a:off x="10331119" y="1494699"/>
            <a:ext cx="338667" cy="33866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2D44BE4-8E7F-C91D-3248-118DC589FAC5}"/>
              </a:ext>
            </a:extLst>
          </p:cNvPr>
          <p:cNvSpPr/>
          <p:nvPr/>
        </p:nvSpPr>
        <p:spPr>
          <a:xfrm>
            <a:off x="11072084" y="1734225"/>
            <a:ext cx="338667" cy="33866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D838E0E-A45B-6D5B-591B-F08B398FCA2A}"/>
              </a:ext>
            </a:extLst>
          </p:cNvPr>
          <p:cNvSpPr/>
          <p:nvPr/>
        </p:nvSpPr>
        <p:spPr>
          <a:xfrm>
            <a:off x="11894973" y="2072892"/>
            <a:ext cx="338667" cy="33866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880ABE3-284F-7F61-82F1-1CC409699A79}"/>
              </a:ext>
            </a:extLst>
          </p:cNvPr>
          <p:cNvSpPr/>
          <p:nvPr/>
        </p:nvSpPr>
        <p:spPr>
          <a:xfrm>
            <a:off x="12257415" y="1136982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54A4F11-1462-50CB-EDD0-BB7EEC982028}"/>
              </a:ext>
            </a:extLst>
          </p:cNvPr>
          <p:cNvCxnSpPr/>
          <p:nvPr/>
        </p:nvCxnSpPr>
        <p:spPr>
          <a:xfrm flipH="1">
            <a:off x="10523373" y="931082"/>
            <a:ext cx="474496" cy="71755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867D584-8A35-B4DE-B53B-F0C645345040}"/>
              </a:ext>
            </a:extLst>
          </p:cNvPr>
          <p:cNvCxnSpPr>
            <a:cxnSpLocks/>
          </p:cNvCxnSpPr>
          <p:nvPr/>
        </p:nvCxnSpPr>
        <p:spPr>
          <a:xfrm>
            <a:off x="10997869" y="931082"/>
            <a:ext cx="234950" cy="95885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455F204-A123-58C8-3A6B-CB96EFF913DC}"/>
              </a:ext>
            </a:extLst>
          </p:cNvPr>
          <p:cNvCxnSpPr>
            <a:cxnSpLocks/>
          </p:cNvCxnSpPr>
          <p:nvPr/>
        </p:nvCxnSpPr>
        <p:spPr>
          <a:xfrm>
            <a:off x="10997869" y="931082"/>
            <a:ext cx="1079500" cy="132080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C4EAE98-A498-1C47-9C46-8C46EB13383F}"/>
              </a:ext>
            </a:extLst>
          </p:cNvPr>
          <p:cNvCxnSpPr>
            <a:cxnSpLocks/>
          </p:cNvCxnSpPr>
          <p:nvPr/>
        </p:nvCxnSpPr>
        <p:spPr>
          <a:xfrm>
            <a:off x="10994301" y="931082"/>
            <a:ext cx="1466316" cy="354656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D4FE15F5-87DB-0597-B048-876447BDFE21}"/>
              </a:ext>
            </a:extLst>
          </p:cNvPr>
          <p:cNvSpPr/>
          <p:nvPr/>
        </p:nvSpPr>
        <p:spPr>
          <a:xfrm>
            <a:off x="10841367" y="770475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4A68B25-9819-1E65-1AFD-ECDCDEA79023}"/>
              </a:ext>
            </a:extLst>
          </p:cNvPr>
          <p:cNvSpPr txBox="1"/>
          <p:nvPr/>
        </p:nvSpPr>
        <p:spPr>
          <a:xfrm rot="815892">
            <a:off x="11088901" y="668841"/>
            <a:ext cx="1428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Congruency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8B96E6F-F136-F174-863D-E657A00F401B}"/>
              </a:ext>
            </a:extLst>
          </p:cNvPr>
          <p:cNvSpPr txBox="1"/>
          <p:nvPr/>
        </p:nvSpPr>
        <p:spPr>
          <a:xfrm>
            <a:off x="11016260" y="1767233"/>
            <a:ext cx="45878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FuG</a:t>
            </a:r>
            <a:endParaRPr lang="en-US" sz="11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0DCF213-3F8E-10DE-EFC7-EB4A5C5769DA}"/>
              </a:ext>
            </a:extLst>
          </p:cNvPr>
          <p:cNvSpPr txBox="1"/>
          <p:nvPr/>
        </p:nvSpPr>
        <p:spPr>
          <a:xfrm>
            <a:off x="10271062" y="1540232"/>
            <a:ext cx="47481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A6D2459-4953-F105-89C7-FA22D9267C0B}"/>
              </a:ext>
            </a:extLst>
          </p:cNvPr>
          <p:cNvSpPr txBox="1"/>
          <p:nvPr/>
        </p:nvSpPr>
        <p:spPr>
          <a:xfrm>
            <a:off x="11852663" y="2103969"/>
            <a:ext cx="44435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2B54994-4DA4-D0FA-2831-02988261E77F}"/>
              </a:ext>
            </a:extLst>
          </p:cNvPr>
          <p:cNvSpPr txBox="1"/>
          <p:nvPr/>
        </p:nvSpPr>
        <p:spPr>
          <a:xfrm>
            <a:off x="12183138" y="1172512"/>
            <a:ext cx="49725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MFG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D6C3B6B-0879-30CC-E8EB-4CFDC1B0A40C}"/>
              </a:ext>
            </a:extLst>
          </p:cNvPr>
          <p:cNvSpPr txBox="1"/>
          <p:nvPr/>
        </p:nvSpPr>
        <p:spPr>
          <a:xfrm>
            <a:off x="10822168" y="806189"/>
            <a:ext cx="39626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IPL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8CACC973-9E77-EFCC-2F00-BB821DCA51A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4" r="1"/>
          <a:stretch/>
        </p:blipFill>
        <p:spPr>
          <a:xfrm>
            <a:off x="461988" y="850974"/>
            <a:ext cx="2677937" cy="2333625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B0E54AF-3751-D4ED-92D1-9C31FCFA4BB0}"/>
              </a:ext>
            </a:extLst>
          </p:cNvPr>
          <p:cNvCxnSpPr>
            <a:cxnSpLocks/>
          </p:cNvCxnSpPr>
          <p:nvPr/>
        </p:nvCxnSpPr>
        <p:spPr>
          <a:xfrm flipH="1">
            <a:off x="840938" y="1589445"/>
            <a:ext cx="407225" cy="70958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BB822CD-23BC-C207-C3FC-017E368E68B1}"/>
              </a:ext>
            </a:extLst>
          </p:cNvPr>
          <p:cNvCxnSpPr>
            <a:cxnSpLocks/>
          </p:cNvCxnSpPr>
          <p:nvPr/>
        </p:nvCxnSpPr>
        <p:spPr>
          <a:xfrm flipH="1">
            <a:off x="2320940" y="2012853"/>
            <a:ext cx="304497" cy="68813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F7521B9C-2E0B-CF68-7AA8-55D181A9DAC2}"/>
              </a:ext>
            </a:extLst>
          </p:cNvPr>
          <p:cNvSpPr/>
          <p:nvPr/>
        </p:nvSpPr>
        <p:spPr>
          <a:xfrm>
            <a:off x="1201554" y="1487058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EA2E3AA2-F481-13D5-F372-11E8511E79B6}"/>
              </a:ext>
            </a:extLst>
          </p:cNvPr>
          <p:cNvSpPr/>
          <p:nvPr/>
        </p:nvSpPr>
        <p:spPr>
          <a:xfrm>
            <a:off x="2486682" y="1760638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C4B5F53-E022-EF5C-0045-E86021BD483C}"/>
              </a:ext>
            </a:extLst>
          </p:cNvPr>
          <p:cNvCxnSpPr>
            <a:cxnSpLocks/>
          </p:cNvCxnSpPr>
          <p:nvPr/>
        </p:nvCxnSpPr>
        <p:spPr>
          <a:xfrm>
            <a:off x="1223568" y="1554738"/>
            <a:ext cx="1466316" cy="354656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3D32F802-9C46-E1A6-75C9-465456FC5EC9}"/>
              </a:ext>
            </a:extLst>
          </p:cNvPr>
          <p:cNvSpPr/>
          <p:nvPr/>
        </p:nvSpPr>
        <p:spPr>
          <a:xfrm>
            <a:off x="1070634" y="1394131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E9FA972-B760-68FD-7C51-BB57C90A5E17}"/>
              </a:ext>
            </a:extLst>
          </p:cNvPr>
          <p:cNvSpPr txBox="1"/>
          <p:nvPr/>
        </p:nvSpPr>
        <p:spPr>
          <a:xfrm rot="815892">
            <a:off x="1318168" y="1292497"/>
            <a:ext cx="1428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Congruency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09E0CC5-8365-3F19-96E7-5E063B2478CB}"/>
              </a:ext>
            </a:extLst>
          </p:cNvPr>
          <p:cNvSpPr txBox="1"/>
          <p:nvPr/>
        </p:nvSpPr>
        <p:spPr>
          <a:xfrm>
            <a:off x="2430025" y="1805543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AB62543-6084-EBC7-8941-7C41C71BFC42}"/>
              </a:ext>
            </a:extLst>
          </p:cNvPr>
          <p:cNvSpPr txBox="1"/>
          <p:nvPr/>
        </p:nvSpPr>
        <p:spPr>
          <a:xfrm>
            <a:off x="1032385" y="1429845"/>
            <a:ext cx="4427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ECBA7B5D-AD39-B5C5-D563-6853DD2B5C99}"/>
              </a:ext>
            </a:extLst>
          </p:cNvPr>
          <p:cNvSpPr/>
          <p:nvPr/>
        </p:nvSpPr>
        <p:spPr>
          <a:xfrm>
            <a:off x="2104045" y="2604681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2BA92A1-4549-C248-5B3D-D76A2A4A1823}"/>
              </a:ext>
            </a:extLst>
          </p:cNvPr>
          <p:cNvCxnSpPr>
            <a:cxnSpLocks/>
          </p:cNvCxnSpPr>
          <p:nvPr/>
        </p:nvCxnSpPr>
        <p:spPr>
          <a:xfrm>
            <a:off x="807063" y="2270326"/>
            <a:ext cx="1369324" cy="470643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C83FBA30-B829-38C0-4538-6CD70BED7BD4}"/>
              </a:ext>
            </a:extLst>
          </p:cNvPr>
          <p:cNvSpPr/>
          <p:nvPr/>
        </p:nvSpPr>
        <p:spPr>
          <a:xfrm>
            <a:off x="654129" y="2109719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561B9C6-4894-F784-9910-DBAACE6531DE}"/>
              </a:ext>
            </a:extLst>
          </p:cNvPr>
          <p:cNvSpPr txBox="1"/>
          <p:nvPr/>
        </p:nvSpPr>
        <p:spPr>
          <a:xfrm>
            <a:off x="2047058" y="2631635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1FFA5B2-A3A6-9258-22FA-768575D5A38C}"/>
              </a:ext>
            </a:extLst>
          </p:cNvPr>
          <p:cNvSpPr txBox="1"/>
          <p:nvPr/>
        </p:nvSpPr>
        <p:spPr>
          <a:xfrm>
            <a:off x="596828" y="2140670"/>
            <a:ext cx="4732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693C4F5-727F-CAA4-C7D2-032157EB77E6}"/>
              </a:ext>
            </a:extLst>
          </p:cNvPr>
          <p:cNvSpPr txBox="1"/>
          <p:nvPr/>
        </p:nvSpPr>
        <p:spPr>
          <a:xfrm rot="1053603">
            <a:off x="904000" y="2151531"/>
            <a:ext cx="1428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Congruency</a:t>
            </a:r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2CA94B21-11BB-2FC6-2D53-20651DAB872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4" r="1"/>
          <a:stretch/>
        </p:blipFill>
        <p:spPr>
          <a:xfrm>
            <a:off x="-1006046" y="3068871"/>
            <a:ext cx="2677937" cy="2333625"/>
          </a:xfrm>
          <a:prstGeom prst="rect">
            <a:avLst/>
          </a:prstGeom>
        </p:spPr>
      </p:pic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BB01E2B6-27F4-7FC7-FEB8-5121BACE84EC}"/>
              </a:ext>
            </a:extLst>
          </p:cNvPr>
          <p:cNvCxnSpPr>
            <a:cxnSpLocks/>
          </p:cNvCxnSpPr>
          <p:nvPr/>
        </p:nvCxnSpPr>
        <p:spPr>
          <a:xfrm flipH="1">
            <a:off x="-650578" y="3807342"/>
            <a:ext cx="407225" cy="70958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139A6FA5-723C-3689-CA43-8943FD0F4B32}"/>
              </a:ext>
            </a:extLst>
          </p:cNvPr>
          <p:cNvCxnSpPr>
            <a:cxnSpLocks/>
          </p:cNvCxnSpPr>
          <p:nvPr/>
        </p:nvCxnSpPr>
        <p:spPr>
          <a:xfrm flipH="1">
            <a:off x="829424" y="4230750"/>
            <a:ext cx="304497" cy="68813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Oval 63">
            <a:extLst>
              <a:ext uri="{FF2B5EF4-FFF2-40B4-BE49-F238E27FC236}">
                <a16:creationId xmlns:a16="http://schemas.microsoft.com/office/drawing/2014/main" id="{D86C3B4C-6E68-B6F2-EC59-98A7ECFD6BC7}"/>
              </a:ext>
            </a:extLst>
          </p:cNvPr>
          <p:cNvSpPr/>
          <p:nvPr/>
        </p:nvSpPr>
        <p:spPr>
          <a:xfrm>
            <a:off x="-289962" y="3704955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0704C8C1-61AF-DDD7-8026-7DEDF90856AC}"/>
              </a:ext>
            </a:extLst>
          </p:cNvPr>
          <p:cNvSpPr/>
          <p:nvPr/>
        </p:nvSpPr>
        <p:spPr>
          <a:xfrm>
            <a:off x="995166" y="3978535"/>
            <a:ext cx="338667" cy="33866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B764A368-8B67-2E23-B904-270E59181AE6}"/>
              </a:ext>
            </a:extLst>
          </p:cNvPr>
          <p:cNvSpPr/>
          <p:nvPr/>
        </p:nvSpPr>
        <p:spPr>
          <a:xfrm>
            <a:off x="-420882" y="3612028"/>
            <a:ext cx="338667" cy="338667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9346A96-839B-9809-8B1A-0C6616A3F60A}"/>
              </a:ext>
            </a:extLst>
          </p:cNvPr>
          <p:cNvSpPr txBox="1"/>
          <p:nvPr/>
        </p:nvSpPr>
        <p:spPr>
          <a:xfrm rot="17902530">
            <a:off x="-794569" y="3880590"/>
            <a:ext cx="156966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Incongruency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D99FAAF-C8E1-234C-CA8A-5BD7BBE8D159}"/>
              </a:ext>
            </a:extLst>
          </p:cNvPr>
          <p:cNvSpPr txBox="1"/>
          <p:nvPr/>
        </p:nvSpPr>
        <p:spPr>
          <a:xfrm>
            <a:off x="938509" y="4023440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D5EDAA7-D128-85A5-E4FD-A8F4BED9EF99}"/>
              </a:ext>
            </a:extLst>
          </p:cNvPr>
          <p:cNvSpPr txBox="1"/>
          <p:nvPr/>
        </p:nvSpPr>
        <p:spPr>
          <a:xfrm>
            <a:off x="-459131" y="3647742"/>
            <a:ext cx="4427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07581C05-1B2F-771B-7725-EB1FDFCE2781}"/>
              </a:ext>
            </a:extLst>
          </p:cNvPr>
          <p:cNvSpPr/>
          <p:nvPr/>
        </p:nvSpPr>
        <p:spPr>
          <a:xfrm>
            <a:off x="612529" y="4822578"/>
            <a:ext cx="338667" cy="33866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EB2B7DF1-6BB9-C7FC-7B5D-52F19347CE5B}"/>
              </a:ext>
            </a:extLst>
          </p:cNvPr>
          <p:cNvSpPr/>
          <p:nvPr/>
        </p:nvSpPr>
        <p:spPr>
          <a:xfrm>
            <a:off x="-837387" y="4327616"/>
            <a:ext cx="338667" cy="338667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CC5FB98-C49A-1B94-04A1-A6CDC082193B}"/>
              </a:ext>
            </a:extLst>
          </p:cNvPr>
          <p:cNvSpPr txBox="1"/>
          <p:nvPr/>
        </p:nvSpPr>
        <p:spPr>
          <a:xfrm>
            <a:off x="555542" y="4849532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0DCEE16-6FE0-91CA-91CC-B22A2170D73F}"/>
              </a:ext>
            </a:extLst>
          </p:cNvPr>
          <p:cNvSpPr txBox="1"/>
          <p:nvPr/>
        </p:nvSpPr>
        <p:spPr>
          <a:xfrm>
            <a:off x="-894688" y="4358567"/>
            <a:ext cx="4732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70B937B5-D7BA-C627-D74E-0F834AED8086}"/>
              </a:ext>
            </a:extLst>
          </p:cNvPr>
          <p:cNvSpPr txBox="1"/>
          <p:nvPr/>
        </p:nvSpPr>
        <p:spPr>
          <a:xfrm rot="17597976">
            <a:off x="-106709" y="4132607"/>
            <a:ext cx="156966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Incongruency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3D5535B0-37B1-BF7E-BB33-29206BF752C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4" r="1"/>
          <a:stretch/>
        </p:blipFill>
        <p:spPr>
          <a:xfrm>
            <a:off x="7424530" y="2701482"/>
            <a:ext cx="2677937" cy="2333625"/>
          </a:xfrm>
          <a:prstGeom prst="rect">
            <a:avLst/>
          </a:prstGeom>
        </p:spPr>
      </p:pic>
      <p:sp>
        <p:nvSpPr>
          <p:cNvPr id="57" name="Oval 56">
            <a:extLst>
              <a:ext uri="{FF2B5EF4-FFF2-40B4-BE49-F238E27FC236}">
                <a16:creationId xmlns:a16="http://schemas.microsoft.com/office/drawing/2014/main" id="{28298A92-F34C-259B-27F3-DA1836E09ED1}"/>
              </a:ext>
            </a:extLst>
          </p:cNvPr>
          <p:cNvSpPr/>
          <p:nvPr/>
        </p:nvSpPr>
        <p:spPr>
          <a:xfrm>
            <a:off x="8164096" y="3337566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CC7B934B-ABB9-A390-9462-5A3917DD5BAB}"/>
              </a:ext>
            </a:extLst>
          </p:cNvPr>
          <p:cNvSpPr/>
          <p:nvPr/>
        </p:nvSpPr>
        <p:spPr>
          <a:xfrm>
            <a:off x="9449224" y="3611146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B9DA4288-E02C-30D0-FF2F-5732EB6C2F9D}"/>
              </a:ext>
            </a:extLst>
          </p:cNvPr>
          <p:cNvCxnSpPr>
            <a:cxnSpLocks/>
          </p:cNvCxnSpPr>
          <p:nvPr/>
        </p:nvCxnSpPr>
        <p:spPr>
          <a:xfrm>
            <a:off x="8186110" y="3405246"/>
            <a:ext cx="1466316" cy="354656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Oval 59">
            <a:extLst>
              <a:ext uri="{FF2B5EF4-FFF2-40B4-BE49-F238E27FC236}">
                <a16:creationId xmlns:a16="http://schemas.microsoft.com/office/drawing/2014/main" id="{C8FF1D90-7DAE-EC53-EB42-6EF539CD5CC1}"/>
              </a:ext>
            </a:extLst>
          </p:cNvPr>
          <p:cNvSpPr/>
          <p:nvPr/>
        </p:nvSpPr>
        <p:spPr>
          <a:xfrm>
            <a:off x="8033176" y="3244639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E1E5326-A897-E38D-2F94-01F1F1FEB382}"/>
              </a:ext>
            </a:extLst>
          </p:cNvPr>
          <p:cNvSpPr txBox="1"/>
          <p:nvPr/>
        </p:nvSpPr>
        <p:spPr>
          <a:xfrm>
            <a:off x="9392567" y="3656051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9A2F1BB-F54B-A83E-799F-E4A7A7042EAF}"/>
              </a:ext>
            </a:extLst>
          </p:cNvPr>
          <p:cNvSpPr txBox="1"/>
          <p:nvPr/>
        </p:nvSpPr>
        <p:spPr>
          <a:xfrm>
            <a:off x="7994927" y="3280353"/>
            <a:ext cx="4427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B671097A-2FD0-A93C-C7C7-0B16249020BE}"/>
              </a:ext>
            </a:extLst>
          </p:cNvPr>
          <p:cNvSpPr/>
          <p:nvPr/>
        </p:nvSpPr>
        <p:spPr>
          <a:xfrm>
            <a:off x="9066587" y="4455189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9765E97D-30F5-359D-C070-F92E7D37DD5E}"/>
              </a:ext>
            </a:extLst>
          </p:cNvPr>
          <p:cNvCxnSpPr>
            <a:cxnSpLocks/>
          </p:cNvCxnSpPr>
          <p:nvPr/>
        </p:nvCxnSpPr>
        <p:spPr>
          <a:xfrm>
            <a:off x="7769605" y="4120834"/>
            <a:ext cx="1369324" cy="470643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Oval 78">
            <a:extLst>
              <a:ext uri="{FF2B5EF4-FFF2-40B4-BE49-F238E27FC236}">
                <a16:creationId xmlns:a16="http://schemas.microsoft.com/office/drawing/2014/main" id="{1FCBE99E-FE1A-76B5-2279-0E1A867540C4}"/>
              </a:ext>
            </a:extLst>
          </p:cNvPr>
          <p:cNvSpPr/>
          <p:nvPr/>
        </p:nvSpPr>
        <p:spPr>
          <a:xfrm>
            <a:off x="7616671" y="3960227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E3A5B4D-0764-C7C5-BA2F-AC4EF82FAB15}"/>
              </a:ext>
            </a:extLst>
          </p:cNvPr>
          <p:cNvSpPr txBox="1"/>
          <p:nvPr/>
        </p:nvSpPr>
        <p:spPr>
          <a:xfrm>
            <a:off x="9009600" y="4482143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B68E44B-31C8-BB2B-9061-052F826C77B0}"/>
              </a:ext>
            </a:extLst>
          </p:cNvPr>
          <p:cNvSpPr txBox="1"/>
          <p:nvPr/>
        </p:nvSpPr>
        <p:spPr>
          <a:xfrm>
            <a:off x="7559370" y="3991178"/>
            <a:ext cx="4732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  <p:pic>
        <p:nvPicPr>
          <p:cNvPr id="83" name="Picture 82">
            <a:extLst>
              <a:ext uri="{FF2B5EF4-FFF2-40B4-BE49-F238E27FC236}">
                <a16:creationId xmlns:a16="http://schemas.microsoft.com/office/drawing/2014/main" id="{E87777EC-FF18-4A52-FF54-3C8D98BFCDF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4" r="1"/>
          <a:stretch/>
        </p:blipFill>
        <p:spPr>
          <a:xfrm>
            <a:off x="3360688" y="2704097"/>
            <a:ext cx="2677937" cy="2333625"/>
          </a:xfrm>
          <a:prstGeom prst="rect">
            <a:avLst/>
          </a:prstGeom>
        </p:spPr>
      </p:pic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8706AF85-E0A0-E357-8C94-4C34B13BF5B2}"/>
              </a:ext>
            </a:extLst>
          </p:cNvPr>
          <p:cNvCxnSpPr>
            <a:cxnSpLocks/>
          </p:cNvCxnSpPr>
          <p:nvPr/>
        </p:nvCxnSpPr>
        <p:spPr>
          <a:xfrm flipH="1">
            <a:off x="3716156" y="3442568"/>
            <a:ext cx="407225" cy="70958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3DB7A108-EF51-04B8-B9FF-719C32C8E17C}"/>
              </a:ext>
            </a:extLst>
          </p:cNvPr>
          <p:cNvCxnSpPr>
            <a:cxnSpLocks/>
          </p:cNvCxnSpPr>
          <p:nvPr/>
        </p:nvCxnSpPr>
        <p:spPr>
          <a:xfrm flipH="1">
            <a:off x="5196158" y="3865976"/>
            <a:ext cx="304497" cy="68813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Oval 85">
            <a:extLst>
              <a:ext uri="{FF2B5EF4-FFF2-40B4-BE49-F238E27FC236}">
                <a16:creationId xmlns:a16="http://schemas.microsoft.com/office/drawing/2014/main" id="{AD9D64AF-3CA5-6F6E-71E8-83ED8F240BD2}"/>
              </a:ext>
            </a:extLst>
          </p:cNvPr>
          <p:cNvSpPr/>
          <p:nvPr/>
        </p:nvSpPr>
        <p:spPr>
          <a:xfrm>
            <a:off x="4076772" y="3340181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818D7599-C2C9-FB64-392A-EE02A5205E29}"/>
              </a:ext>
            </a:extLst>
          </p:cNvPr>
          <p:cNvSpPr/>
          <p:nvPr/>
        </p:nvSpPr>
        <p:spPr>
          <a:xfrm>
            <a:off x="5361900" y="3613761"/>
            <a:ext cx="338667" cy="33866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CDEF5CFD-F263-2B36-C5DE-6DFFFC010E52}"/>
              </a:ext>
            </a:extLst>
          </p:cNvPr>
          <p:cNvSpPr/>
          <p:nvPr/>
        </p:nvSpPr>
        <p:spPr>
          <a:xfrm>
            <a:off x="3945852" y="3247254"/>
            <a:ext cx="338667" cy="338667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DCAA50B2-A648-9402-98AE-B3DFDA1C2863}"/>
              </a:ext>
            </a:extLst>
          </p:cNvPr>
          <p:cNvSpPr txBox="1"/>
          <p:nvPr/>
        </p:nvSpPr>
        <p:spPr>
          <a:xfrm>
            <a:off x="5305243" y="3658666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6A2602E2-306E-E193-F224-5FC3BBD11851}"/>
              </a:ext>
            </a:extLst>
          </p:cNvPr>
          <p:cNvSpPr txBox="1"/>
          <p:nvPr/>
        </p:nvSpPr>
        <p:spPr>
          <a:xfrm>
            <a:off x="3907603" y="3282968"/>
            <a:ext cx="4427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ECE43761-56C3-EF62-A090-95104090C754}"/>
              </a:ext>
            </a:extLst>
          </p:cNvPr>
          <p:cNvSpPr/>
          <p:nvPr/>
        </p:nvSpPr>
        <p:spPr>
          <a:xfrm>
            <a:off x="4979263" y="4457804"/>
            <a:ext cx="338667" cy="33866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5F912BB4-6C62-E818-74D0-0833A05606B0}"/>
              </a:ext>
            </a:extLst>
          </p:cNvPr>
          <p:cNvSpPr/>
          <p:nvPr/>
        </p:nvSpPr>
        <p:spPr>
          <a:xfrm>
            <a:off x="3529347" y="3962842"/>
            <a:ext cx="338667" cy="338667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6E472C2B-4241-7603-9138-25814FA88C6D}"/>
              </a:ext>
            </a:extLst>
          </p:cNvPr>
          <p:cNvSpPr txBox="1"/>
          <p:nvPr/>
        </p:nvSpPr>
        <p:spPr>
          <a:xfrm>
            <a:off x="4922276" y="4484758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13F69A16-062D-E25B-AD9A-2FEB098FCE02}"/>
              </a:ext>
            </a:extLst>
          </p:cNvPr>
          <p:cNvSpPr txBox="1"/>
          <p:nvPr/>
        </p:nvSpPr>
        <p:spPr>
          <a:xfrm>
            <a:off x="3472046" y="3993793"/>
            <a:ext cx="4732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E82BDBE3-0913-ED08-AFD1-A953CB6E3AD3}"/>
              </a:ext>
            </a:extLst>
          </p:cNvPr>
          <p:cNvCxnSpPr>
            <a:cxnSpLocks/>
          </p:cNvCxnSpPr>
          <p:nvPr/>
        </p:nvCxnSpPr>
        <p:spPr>
          <a:xfrm>
            <a:off x="6167690" y="3814284"/>
            <a:ext cx="1121869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632CFD4D-E6CE-503F-2BAC-719B7EC238A1}"/>
              </a:ext>
            </a:extLst>
          </p:cNvPr>
          <p:cNvSpPr txBox="1"/>
          <p:nvPr/>
        </p:nvSpPr>
        <p:spPr>
          <a:xfrm>
            <a:off x="5933956" y="2759534"/>
            <a:ext cx="16914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Fluctuation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32854FE8-664B-49E1-5613-11FF3FCE1DCD}"/>
              </a:ext>
            </a:extLst>
          </p:cNvPr>
          <p:cNvSpPr/>
          <p:nvPr/>
        </p:nvSpPr>
        <p:spPr>
          <a:xfrm>
            <a:off x="3197748" y="5366582"/>
            <a:ext cx="7047188" cy="2557642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5" name="Picture 104">
            <a:extLst>
              <a:ext uri="{FF2B5EF4-FFF2-40B4-BE49-F238E27FC236}">
                <a16:creationId xmlns:a16="http://schemas.microsoft.com/office/drawing/2014/main" id="{D613952E-6F89-BB6E-60FE-31D4CEBA216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4" r="1"/>
          <a:stretch/>
        </p:blipFill>
        <p:spPr>
          <a:xfrm>
            <a:off x="3297030" y="5539543"/>
            <a:ext cx="2677937" cy="2333625"/>
          </a:xfrm>
          <a:prstGeom prst="rect">
            <a:avLst/>
          </a:prstGeom>
        </p:spPr>
      </p:pic>
      <p:sp>
        <p:nvSpPr>
          <p:cNvPr id="106" name="Oval 105">
            <a:extLst>
              <a:ext uri="{FF2B5EF4-FFF2-40B4-BE49-F238E27FC236}">
                <a16:creationId xmlns:a16="http://schemas.microsoft.com/office/drawing/2014/main" id="{238DA74A-F9C5-31C6-83A6-9D8B55AC66D6}"/>
              </a:ext>
            </a:extLst>
          </p:cNvPr>
          <p:cNvSpPr/>
          <p:nvPr/>
        </p:nvSpPr>
        <p:spPr>
          <a:xfrm>
            <a:off x="4036596" y="6175627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F34F83E0-D4FD-6EF2-F8C2-8974234F1577}"/>
              </a:ext>
            </a:extLst>
          </p:cNvPr>
          <p:cNvSpPr/>
          <p:nvPr/>
        </p:nvSpPr>
        <p:spPr>
          <a:xfrm>
            <a:off x="5321724" y="6449207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C79473AF-88F3-DA63-1EB3-9C9374B5FE15}"/>
              </a:ext>
            </a:extLst>
          </p:cNvPr>
          <p:cNvCxnSpPr>
            <a:cxnSpLocks/>
          </p:cNvCxnSpPr>
          <p:nvPr/>
        </p:nvCxnSpPr>
        <p:spPr>
          <a:xfrm>
            <a:off x="4058610" y="6243307"/>
            <a:ext cx="1466316" cy="354656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Oval 108">
            <a:extLst>
              <a:ext uri="{FF2B5EF4-FFF2-40B4-BE49-F238E27FC236}">
                <a16:creationId xmlns:a16="http://schemas.microsoft.com/office/drawing/2014/main" id="{E5ADA815-AA24-4D05-4CEF-8EEC19433326}"/>
              </a:ext>
            </a:extLst>
          </p:cNvPr>
          <p:cNvSpPr/>
          <p:nvPr/>
        </p:nvSpPr>
        <p:spPr>
          <a:xfrm>
            <a:off x="3905676" y="6082700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D466D8CD-6516-D3B2-791C-E12D2CA6D3BA}"/>
              </a:ext>
            </a:extLst>
          </p:cNvPr>
          <p:cNvSpPr txBox="1"/>
          <p:nvPr/>
        </p:nvSpPr>
        <p:spPr>
          <a:xfrm>
            <a:off x="5265067" y="6494112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D0CFE261-4A09-9E45-FF41-95237662DFA8}"/>
              </a:ext>
            </a:extLst>
          </p:cNvPr>
          <p:cNvSpPr txBox="1"/>
          <p:nvPr/>
        </p:nvSpPr>
        <p:spPr>
          <a:xfrm>
            <a:off x="3867427" y="6118414"/>
            <a:ext cx="4427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EFCC46E9-5878-0B09-F0EC-5726AAEE141D}"/>
              </a:ext>
            </a:extLst>
          </p:cNvPr>
          <p:cNvSpPr/>
          <p:nvPr/>
        </p:nvSpPr>
        <p:spPr>
          <a:xfrm>
            <a:off x="4939087" y="7293250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085011F1-E1CD-4451-C632-A129EDA67F73}"/>
              </a:ext>
            </a:extLst>
          </p:cNvPr>
          <p:cNvCxnSpPr>
            <a:cxnSpLocks/>
          </p:cNvCxnSpPr>
          <p:nvPr/>
        </p:nvCxnSpPr>
        <p:spPr>
          <a:xfrm>
            <a:off x="3642105" y="6958895"/>
            <a:ext cx="1369324" cy="470643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Oval 113">
            <a:extLst>
              <a:ext uri="{FF2B5EF4-FFF2-40B4-BE49-F238E27FC236}">
                <a16:creationId xmlns:a16="http://schemas.microsoft.com/office/drawing/2014/main" id="{39EC617D-D427-39D3-C3D9-A99BDFF1F874}"/>
              </a:ext>
            </a:extLst>
          </p:cNvPr>
          <p:cNvSpPr/>
          <p:nvPr/>
        </p:nvSpPr>
        <p:spPr>
          <a:xfrm>
            <a:off x="3489171" y="6798288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C0E90497-B11A-B73C-59D0-685D2ECF9216}"/>
              </a:ext>
            </a:extLst>
          </p:cNvPr>
          <p:cNvSpPr txBox="1"/>
          <p:nvPr/>
        </p:nvSpPr>
        <p:spPr>
          <a:xfrm>
            <a:off x="4882100" y="7320204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594C6B3E-989A-7381-733C-EA787046B10B}"/>
              </a:ext>
            </a:extLst>
          </p:cNvPr>
          <p:cNvSpPr txBox="1"/>
          <p:nvPr/>
        </p:nvSpPr>
        <p:spPr>
          <a:xfrm>
            <a:off x="3431870" y="6829239"/>
            <a:ext cx="4732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  <p:pic>
        <p:nvPicPr>
          <p:cNvPr id="117" name="Picture 116">
            <a:extLst>
              <a:ext uri="{FF2B5EF4-FFF2-40B4-BE49-F238E27FC236}">
                <a16:creationId xmlns:a16="http://schemas.microsoft.com/office/drawing/2014/main" id="{A8BF8316-06BE-F15C-5602-BBE5DB115AE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4" r="1"/>
          <a:stretch/>
        </p:blipFill>
        <p:spPr>
          <a:xfrm>
            <a:off x="7526288" y="5542158"/>
            <a:ext cx="2677937" cy="2333625"/>
          </a:xfrm>
          <a:prstGeom prst="rect">
            <a:avLst/>
          </a:prstGeom>
        </p:spPr>
      </p:pic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AC550079-CA42-9ED0-8B2F-DDD6C9BB29BE}"/>
              </a:ext>
            </a:extLst>
          </p:cNvPr>
          <p:cNvCxnSpPr>
            <a:cxnSpLocks/>
          </p:cNvCxnSpPr>
          <p:nvPr/>
        </p:nvCxnSpPr>
        <p:spPr>
          <a:xfrm flipH="1">
            <a:off x="7881756" y="6280629"/>
            <a:ext cx="407225" cy="70958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053C3E1E-49B1-316A-84FE-DC72D343DE4B}"/>
              </a:ext>
            </a:extLst>
          </p:cNvPr>
          <p:cNvCxnSpPr>
            <a:cxnSpLocks/>
          </p:cNvCxnSpPr>
          <p:nvPr/>
        </p:nvCxnSpPr>
        <p:spPr>
          <a:xfrm flipH="1">
            <a:off x="9361758" y="6704037"/>
            <a:ext cx="304497" cy="68813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Oval 119">
            <a:extLst>
              <a:ext uri="{FF2B5EF4-FFF2-40B4-BE49-F238E27FC236}">
                <a16:creationId xmlns:a16="http://schemas.microsoft.com/office/drawing/2014/main" id="{6DA4E68A-9493-50F1-E074-C4F09C486A64}"/>
              </a:ext>
            </a:extLst>
          </p:cNvPr>
          <p:cNvSpPr/>
          <p:nvPr/>
        </p:nvSpPr>
        <p:spPr>
          <a:xfrm>
            <a:off x="8242372" y="6178242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Oval 120">
            <a:extLst>
              <a:ext uri="{FF2B5EF4-FFF2-40B4-BE49-F238E27FC236}">
                <a16:creationId xmlns:a16="http://schemas.microsoft.com/office/drawing/2014/main" id="{EFE0FE3E-184D-3AE3-F8B3-23AB06EA9629}"/>
              </a:ext>
            </a:extLst>
          </p:cNvPr>
          <p:cNvSpPr/>
          <p:nvPr/>
        </p:nvSpPr>
        <p:spPr>
          <a:xfrm>
            <a:off x="9527500" y="6451822"/>
            <a:ext cx="338667" cy="33866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Oval 121">
            <a:extLst>
              <a:ext uri="{FF2B5EF4-FFF2-40B4-BE49-F238E27FC236}">
                <a16:creationId xmlns:a16="http://schemas.microsoft.com/office/drawing/2014/main" id="{D1BEFA66-D2C5-A2A5-9F0A-2760261429FF}"/>
              </a:ext>
            </a:extLst>
          </p:cNvPr>
          <p:cNvSpPr/>
          <p:nvPr/>
        </p:nvSpPr>
        <p:spPr>
          <a:xfrm>
            <a:off x="8111452" y="6085315"/>
            <a:ext cx="338667" cy="338667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C68BD258-E307-C5E8-60BA-43AF69A2671B}"/>
              </a:ext>
            </a:extLst>
          </p:cNvPr>
          <p:cNvSpPr txBox="1"/>
          <p:nvPr/>
        </p:nvSpPr>
        <p:spPr>
          <a:xfrm>
            <a:off x="9470843" y="6496727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F41EFDAF-1088-38FF-FCC2-93E13B377AD3}"/>
              </a:ext>
            </a:extLst>
          </p:cNvPr>
          <p:cNvSpPr txBox="1"/>
          <p:nvPr/>
        </p:nvSpPr>
        <p:spPr>
          <a:xfrm>
            <a:off x="8073203" y="6121029"/>
            <a:ext cx="4427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sp>
        <p:nvSpPr>
          <p:cNvPr id="125" name="Oval 124">
            <a:extLst>
              <a:ext uri="{FF2B5EF4-FFF2-40B4-BE49-F238E27FC236}">
                <a16:creationId xmlns:a16="http://schemas.microsoft.com/office/drawing/2014/main" id="{A13F45C8-A4AD-ED37-6756-5A0626C63501}"/>
              </a:ext>
            </a:extLst>
          </p:cNvPr>
          <p:cNvSpPr/>
          <p:nvPr/>
        </p:nvSpPr>
        <p:spPr>
          <a:xfrm>
            <a:off x="9144863" y="7295865"/>
            <a:ext cx="338667" cy="33866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Oval 125">
            <a:extLst>
              <a:ext uri="{FF2B5EF4-FFF2-40B4-BE49-F238E27FC236}">
                <a16:creationId xmlns:a16="http://schemas.microsoft.com/office/drawing/2014/main" id="{5302BBC7-673F-13C3-B0B7-E567341C039A}"/>
              </a:ext>
            </a:extLst>
          </p:cNvPr>
          <p:cNvSpPr/>
          <p:nvPr/>
        </p:nvSpPr>
        <p:spPr>
          <a:xfrm>
            <a:off x="7694947" y="6800903"/>
            <a:ext cx="338667" cy="338667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ECB8335D-A68E-59F0-37E9-4C844D79DC88}"/>
              </a:ext>
            </a:extLst>
          </p:cNvPr>
          <p:cNvSpPr txBox="1"/>
          <p:nvPr/>
        </p:nvSpPr>
        <p:spPr>
          <a:xfrm>
            <a:off x="9087876" y="7322819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F8EFFF43-9DD9-A1A3-3DEA-5E9332946BE4}"/>
              </a:ext>
            </a:extLst>
          </p:cNvPr>
          <p:cNvSpPr txBox="1"/>
          <p:nvPr/>
        </p:nvSpPr>
        <p:spPr>
          <a:xfrm>
            <a:off x="7637646" y="6831854"/>
            <a:ext cx="4732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2C07677A-0648-07EB-93AA-83D45513959F}"/>
              </a:ext>
            </a:extLst>
          </p:cNvPr>
          <p:cNvCxnSpPr>
            <a:cxnSpLocks/>
          </p:cNvCxnSpPr>
          <p:nvPr/>
        </p:nvCxnSpPr>
        <p:spPr>
          <a:xfrm>
            <a:off x="6167690" y="6652345"/>
            <a:ext cx="1121869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TextBox 129">
            <a:extLst>
              <a:ext uri="{FF2B5EF4-FFF2-40B4-BE49-F238E27FC236}">
                <a16:creationId xmlns:a16="http://schemas.microsoft.com/office/drawing/2014/main" id="{8D4CDDD3-F267-6E39-437B-C50E235830CF}"/>
              </a:ext>
            </a:extLst>
          </p:cNvPr>
          <p:cNvSpPr txBox="1"/>
          <p:nvPr/>
        </p:nvSpPr>
        <p:spPr>
          <a:xfrm>
            <a:off x="5933956" y="5597595"/>
            <a:ext cx="16914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Fluctuation</a:t>
            </a:r>
          </a:p>
        </p:txBody>
      </p:sp>
    </p:spTree>
    <p:extLst>
      <p:ext uri="{BB962C8B-B14F-4D97-AF65-F5344CB8AC3E}">
        <p14:creationId xmlns:p14="http://schemas.microsoft.com/office/powerpoint/2010/main" val="135020630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DA879-656E-48B4-B866-55CD7EBD9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Vendor effect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6D244ED-15B1-5F1A-D660-BDF427657F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020" y="1985645"/>
            <a:ext cx="6278350" cy="3701415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6AD53DEE-B5FB-6865-5FD5-1C4C6B53C949}"/>
              </a:ext>
            </a:extLst>
          </p:cNvPr>
          <p:cNvSpPr txBox="1"/>
          <p:nvPr/>
        </p:nvSpPr>
        <p:spPr>
          <a:xfrm>
            <a:off x="8573771" y="729890"/>
            <a:ext cx="22717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Effects in OA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64FD8338-C954-4801-13D3-62DCC3074A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2844" y="1591754"/>
            <a:ext cx="3571004" cy="2330196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F072F000-6333-3BBF-D6D0-8CAF3E7ED7A8}"/>
              </a:ext>
            </a:extLst>
          </p:cNvPr>
          <p:cNvSpPr txBox="1"/>
          <p:nvPr/>
        </p:nvSpPr>
        <p:spPr>
          <a:xfrm>
            <a:off x="7714198" y="4079249"/>
            <a:ext cx="4363502" cy="181588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Plot VEN &amp; plot DOR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Could plot a triangle matrix for each pair?</a:t>
            </a:r>
          </a:p>
        </p:txBody>
      </p:sp>
    </p:spTree>
    <p:extLst>
      <p:ext uri="{BB962C8B-B14F-4D97-AF65-F5344CB8AC3E}">
        <p14:creationId xmlns:p14="http://schemas.microsoft.com/office/powerpoint/2010/main" val="355622797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C1453-96F7-4427-A494-05FC40571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633DBC-A5CE-FB08-4860-DBA357B663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9404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ank.potx" id="{9C6B1436-0ACE-4CC3-BC66-C2BCB97D7D52}" vid="{95E57EA4-F55F-474A-9811-FDC52FAD54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4559</TotalTime>
  <Words>2256</Words>
  <Application>Microsoft Office PowerPoint</Application>
  <PresentationFormat>Widescreen</PresentationFormat>
  <Paragraphs>422</Paragraphs>
  <Slides>45</Slides>
  <Notes>6</Notes>
  <HiddenSlides>5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0" baseType="lpstr">
      <vt:lpstr>Arial</vt:lpstr>
      <vt:lpstr>Calibri</vt:lpstr>
      <vt:lpstr>Courier New</vt:lpstr>
      <vt:lpstr>Wingdings</vt:lpstr>
      <vt:lpstr>Office Theme</vt:lpstr>
      <vt:lpstr>Ven-Dor</vt:lpstr>
      <vt:lpstr>Introduction</vt:lpstr>
      <vt:lpstr>Introduction</vt:lpstr>
      <vt:lpstr>Questions / Aims</vt:lpstr>
      <vt:lpstr>3-session fMRI study (SchemRep)</vt:lpstr>
      <vt:lpstr>Result 1: Identifying the Ven-Dor modules</vt:lpstr>
      <vt:lpstr>Result 1: How do YA and OA process congruency?</vt:lpstr>
      <vt:lpstr>Incongruency-congruency conn matrix</vt:lpstr>
      <vt:lpstr>Modularity</vt:lpstr>
      <vt:lpstr>Dort?</vt:lpstr>
      <vt:lpstr>Quadrants</vt:lpstr>
      <vt:lpstr>Quadrants (scrubbing)</vt:lpstr>
      <vt:lpstr>Anatomical Quadrant</vt:lpstr>
      <vt:lpstr>Traditional modularity results (for reference)</vt:lpstr>
      <vt:lpstr>Quadrant seeds</vt:lpstr>
      <vt:lpstr>Background: Dynamic functional connectivity</vt:lpstr>
      <vt:lpstr>Ven x Dor</vt:lpstr>
      <vt:lpstr>Results 1 summary</vt:lpstr>
      <vt:lpstr>An interlude</vt:lpstr>
      <vt:lpstr>1.5 New</vt:lpstr>
      <vt:lpstr>Ven-Dor ROIs do not map onto network segmentations</vt:lpstr>
      <vt:lpstr>Further evidence of modularity</vt:lpstr>
      <vt:lpstr>Further evidence of modularity</vt:lpstr>
      <vt:lpstr>Specifying the fluctuation more exactly</vt:lpstr>
      <vt:lpstr>Anatomical vs. Functional quadrans</vt:lpstr>
      <vt:lpstr>PowerPoint Presentation</vt:lpstr>
      <vt:lpstr>Hemispheres</vt:lpstr>
      <vt:lpstr>PowerPoint Presentation</vt:lpstr>
      <vt:lpstr>PowerPoint Presentation</vt:lpstr>
      <vt:lpstr>Result 2: The effects of aging on processing congruency and Ven-Dor</vt:lpstr>
      <vt:lpstr>Ven vs. Dor</vt:lpstr>
      <vt:lpstr>Anatomical-based results</vt:lpstr>
      <vt:lpstr>Bar graphs for the four sides</vt:lpstr>
      <vt:lpstr>Aging modulates fluctuation</vt:lpstr>
      <vt:lpstr>Interim summary</vt:lpstr>
      <vt:lpstr>Result 3: Interpreting  Ven &amp; Dor</vt:lpstr>
      <vt:lpstr>Scene representation &amp; Ven</vt:lpstr>
      <vt:lpstr>Conceptual memory &amp; Dor</vt:lpstr>
      <vt:lpstr>Results 3 summary</vt:lpstr>
      <vt:lpstr>3.5 New</vt:lpstr>
      <vt:lpstr>PowerPoint Presentation</vt:lpstr>
      <vt:lpstr>Conclusion</vt:lpstr>
      <vt:lpstr>PowerPoint Presentation</vt:lpstr>
      <vt:lpstr>Vendor effect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Bogdan, Paul Christian</dc:creator>
  <cp:lastModifiedBy>Paul Bogdan</cp:lastModifiedBy>
  <cp:revision>25</cp:revision>
  <dcterms:created xsi:type="dcterms:W3CDTF">2024-02-08T13:12:41Z</dcterms:created>
  <dcterms:modified xsi:type="dcterms:W3CDTF">2024-02-13T21:21:18Z</dcterms:modified>
</cp:coreProperties>
</file>