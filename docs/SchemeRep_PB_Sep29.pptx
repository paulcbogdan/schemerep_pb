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64" r:id="rId3"/>
    <p:sldId id="312" r:id="rId4"/>
    <p:sldId id="313" r:id="rId5"/>
    <p:sldId id="302" r:id="rId6"/>
    <p:sldId id="263" r:id="rId7"/>
    <p:sldId id="304" r:id="rId8"/>
    <p:sldId id="280" r:id="rId9"/>
    <p:sldId id="306" r:id="rId10"/>
    <p:sldId id="292" r:id="rId11"/>
    <p:sldId id="310" r:id="rId12"/>
    <p:sldId id="309" r:id="rId13"/>
    <p:sldId id="293" r:id="rId14"/>
    <p:sldId id="291" r:id="rId15"/>
    <p:sldId id="303" r:id="rId16"/>
    <p:sldId id="297" r:id="rId17"/>
    <p:sldId id="279" r:id="rId18"/>
    <p:sldId id="307" r:id="rId19"/>
    <p:sldId id="290" r:id="rId20"/>
    <p:sldId id="284" r:id="rId21"/>
    <p:sldId id="278" r:id="rId22"/>
    <p:sldId id="298" r:id="rId23"/>
    <p:sldId id="308" r:id="rId24"/>
    <p:sldId id="314" r:id="rId25"/>
    <p:sldId id="311" r:id="rId26"/>
    <p:sldId id="319" r:id="rId27"/>
    <p:sldId id="320" r:id="rId28"/>
    <p:sldId id="316" r:id="rId29"/>
    <p:sldId id="31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7C80"/>
    <a:srgbClr val="804710"/>
    <a:srgbClr val="00FFCC"/>
    <a:srgbClr val="D2E935"/>
    <a:srgbClr val="452A4F"/>
    <a:srgbClr val="FE962B"/>
    <a:srgbClr val="33CC33"/>
    <a:srgbClr val="FDA631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2" autoAdjust="0"/>
    <p:restoredTop sz="83292" autoAdjust="0"/>
  </p:normalViewPr>
  <p:slideViewPr>
    <p:cSldViewPr snapToGrid="0">
      <p:cViewPr varScale="1">
        <p:scale>
          <a:sx n="133" d="100"/>
          <a:sy n="133" d="100"/>
        </p:scale>
        <p:origin x="5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98493-CA63-4D0A-8042-ED8AF27DCFF3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3E675-13CA-4196-84E5-E684757D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2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Prediction error is not just an “outcome” of processing information but rather is a computational mechanism that influences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 of perceptional prediction error: car honking feels louder in a classroom than on a busy street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Meta analysis: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Corlett, P. R.,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Mollick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A.,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Kober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 (2022). Meta-analysis of human prediction error for incentives, perception, cognition, and action.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Neuropsychopharmacology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(7), 1339-1349.</a:t>
            </a:r>
          </a:p>
          <a:p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Perception results: Iglesias, S.,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Mathys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Brodersen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 H., Kasper, L.,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Piccirelli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den Ouden, H. E., &amp; Stephan, K. E. (2013). Hierarchical prediction errors in midbrain and basal forebrain during sensory learning.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80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519-530.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dlPFC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result (IFG and MFG)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3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32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learned about how to run Word2Vec + DNNs because </a:t>
            </a:r>
            <a:r>
              <a:rPr lang="en-US" dirty="0" err="1"/>
              <a:t>Lifu</a:t>
            </a:r>
            <a:r>
              <a:rPr lang="en-US" dirty="0"/>
              <a:t> didn’t yet try applying these to the scene images</a:t>
            </a:r>
          </a:p>
          <a:p>
            <a:pPr lvl="1"/>
            <a:r>
              <a:rPr lang="en-US" dirty="0"/>
              <a:t>However, I didn’t do the word2vec properly, so I don’t provide results on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4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Notably organized into:</a:t>
            </a:r>
          </a:p>
          <a:p>
            <a:pPr lvl="1"/>
            <a:r>
              <a:rPr lang="en-US" dirty="0"/>
              <a:t>EVC</a:t>
            </a:r>
          </a:p>
          <a:p>
            <a:pPr lvl="1"/>
            <a:r>
              <a:rPr lang="en-US" dirty="0"/>
              <a:t>LOC</a:t>
            </a:r>
          </a:p>
          <a:p>
            <a:pPr lvl="1"/>
            <a:r>
              <a:rPr lang="en-US" dirty="0" err="1"/>
              <a:t>FuG</a:t>
            </a:r>
            <a:endParaRPr lang="en-US" dirty="0"/>
          </a:p>
          <a:p>
            <a:pPr lvl="1"/>
            <a:r>
              <a:rPr lang="en-US" dirty="0"/>
              <a:t>ATL</a:t>
            </a:r>
          </a:p>
          <a:p>
            <a:pPr lvl="1"/>
            <a:r>
              <a:rPr lang="en-US" dirty="0"/>
              <a:t>Hippocampus</a:t>
            </a:r>
          </a:p>
          <a:p>
            <a:pPr lvl="1"/>
            <a:r>
              <a:rPr lang="en-US" dirty="0"/>
              <a:t>IFG</a:t>
            </a:r>
          </a:p>
          <a:p>
            <a:pPr lvl="1"/>
            <a:r>
              <a:rPr lang="en-US" dirty="0"/>
              <a:t>MFG</a:t>
            </a:r>
          </a:p>
          <a:p>
            <a:pPr lvl="1"/>
            <a:r>
              <a:rPr lang="en-US" dirty="0"/>
              <a:t>SFG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93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5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34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hoc tests on bilateral SFG, for the eight </a:t>
            </a:r>
            <a:r>
              <a:rPr lang="en-US" dirty="0" err="1"/>
              <a:t>dmPFC</a:t>
            </a:r>
            <a:r>
              <a:rPr lang="en-US" dirty="0"/>
              <a:t> ROIs, t = 4.14. For the six </a:t>
            </a:r>
            <a:r>
              <a:rPr lang="en-US" dirty="0" err="1"/>
              <a:t>dlPFC</a:t>
            </a:r>
            <a:r>
              <a:rPr lang="en-US" dirty="0"/>
              <a:t> ROIs, t = 2.94. SFG bilateral altogether is 4.17.</a:t>
            </a:r>
          </a:p>
          <a:p>
            <a:r>
              <a:rPr lang="en-US" dirty="0" err="1"/>
              <a:t>mPFC</a:t>
            </a:r>
            <a:r>
              <a:rPr lang="en-US" dirty="0"/>
              <a:t> overall (including some orbital and CG, yields 3.85. Excluding CG, we get 3.6.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3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amygdala also shows an interesting pattern</a:t>
            </a:r>
          </a:p>
          <a:p>
            <a:pPr lvl="1"/>
            <a:r>
              <a:rPr lang="en-US" dirty="0"/>
              <a:t>Stronger representation in the </a:t>
            </a:r>
            <a:r>
              <a:rPr lang="en-US" dirty="0" err="1"/>
              <a:t>amgydala</a:t>
            </a:r>
            <a:r>
              <a:rPr lang="en-US" dirty="0"/>
              <a:t> is linked to decreased connectivity with everything else</a:t>
            </a:r>
          </a:p>
          <a:p>
            <a:pPr lvl="1"/>
            <a:r>
              <a:rPr lang="en-US" dirty="0"/>
              <a:t>Beyond the present focus?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8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63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possible to explain in terms of </a:t>
            </a:r>
            <a:r>
              <a:rPr lang="en-US" u="sng" dirty="0"/>
              <a:t>priming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Scene primes neural populations, which influences those populations’ responses to the object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86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7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Paul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9/18/2023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A4B5-A432-541F-65E4-23FD5294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200"/>
            <a:ext cx="10515600" cy="974558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6084-ED24-0F80-EB4D-A00B47A1B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22"/>
            <a:ext cx="10689000" cy="5391278"/>
          </a:xfrm>
        </p:spPr>
        <p:txBody>
          <a:bodyPr>
            <a:normAutofit/>
          </a:bodyPr>
          <a:lstStyle/>
          <a:p>
            <a:r>
              <a:rPr lang="en-US" dirty="0"/>
              <a:t>Predictive coding theory argues that all information is processed in terms of prediction errors</a:t>
            </a:r>
          </a:p>
          <a:p>
            <a:pPr lvl="1"/>
            <a:r>
              <a:rPr lang="en-US" dirty="0"/>
              <a:t>Prediction error is a computational mechanism used across the brain</a:t>
            </a:r>
          </a:p>
          <a:p>
            <a:pPr lvl="2"/>
            <a:r>
              <a:rPr lang="en-US" dirty="0"/>
              <a:t>Goes well beyond early theories that </a:t>
            </a:r>
            <a:r>
              <a:rPr lang="en-US" i="1" dirty="0"/>
              <a:t>reward prediction error </a:t>
            </a:r>
            <a:r>
              <a:rPr lang="en-US" dirty="0"/>
              <a:t>underlies behavioral learning and ventral striatum processing</a:t>
            </a:r>
          </a:p>
          <a:p>
            <a:pPr lvl="1"/>
            <a:r>
              <a:rPr lang="en-US" i="1" dirty="0"/>
              <a:t>Perceptual prediction error</a:t>
            </a:r>
          </a:p>
          <a:p>
            <a:pPr lvl="2"/>
            <a:r>
              <a:rPr lang="en-US" dirty="0"/>
              <a:t>Perception depends on the perceived likelihood of encountering a stimulus</a:t>
            </a:r>
          </a:p>
          <a:p>
            <a:pPr lvl="1"/>
            <a:r>
              <a:rPr lang="en-US" i="1" dirty="0"/>
              <a:t>Cognitive prediction error</a:t>
            </a:r>
          </a:p>
          <a:p>
            <a:pPr lvl="2"/>
            <a:r>
              <a:rPr lang="en-US" dirty="0"/>
              <a:t>Information is processed in terms of prior beliefs and updating</a:t>
            </a:r>
          </a:p>
          <a:p>
            <a:r>
              <a:rPr lang="en-US" dirty="0"/>
              <a:t>Predictive coding has been studied with univariate analyses</a:t>
            </a:r>
          </a:p>
          <a:p>
            <a:pPr lvl="1"/>
            <a:r>
              <a:rPr lang="en-US" dirty="0"/>
              <a:t>Perceptual prediction error correlated with activity in both cortical and subcortical regions</a:t>
            </a:r>
          </a:p>
        </p:txBody>
      </p:sp>
    </p:spTree>
    <p:extLst>
      <p:ext uri="{BB962C8B-B14F-4D97-AF65-F5344CB8AC3E}">
        <p14:creationId xmlns:p14="http://schemas.microsoft.com/office/powerpoint/2010/main" val="239747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2C74-7939-7509-0F4F-EB79CECC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525"/>
            <a:ext cx="10515600" cy="1325563"/>
          </a:xfrm>
        </p:spPr>
        <p:txBody>
          <a:bodyPr/>
          <a:lstStyle/>
          <a:p>
            <a:r>
              <a:rPr lang="en-US" dirty="0"/>
              <a:t>Primary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DC41D-33FB-7658-8B99-25CE7E0DA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889"/>
            <a:ext cx="10515600" cy="4960586"/>
          </a:xfrm>
        </p:spPr>
        <p:txBody>
          <a:bodyPr>
            <a:normAutofit/>
          </a:bodyPr>
          <a:lstStyle/>
          <a:p>
            <a:r>
              <a:rPr lang="en-US" dirty="0"/>
              <a:t>Are stimuli </a:t>
            </a:r>
            <a:r>
              <a:rPr lang="en-US" i="1" dirty="0"/>
              <a:t>represented </a:t>
            </a:r>
            <a:r>
              <a:rPr lang="en-US" dirty="0"/>
              <a:t>as prediction errors?</a:t>
            </a:r>
          </a:p>
          <a:p>
            <a:pPr lvl="1"/>
            <a:r>
              <a:rPr lang="en-US" dirty="0"/>
              <a:t>No study has genuinely investigated this question </a:t>
            </a:r>
          </a:p>
          <a:p>
            <a:pPr lvl="2"/>
            <a:r>
              <a:rPr lang="en-US" dirty="0"/>
              <a:t>“Genuinely” = beyond univariate tests</a:t>
            </a:r>
          </a:p>
          <a:p>
            <a:pPr lvl="1"/>
            <a:r>
              <a:rPr lang="en-US" dirty="0"/>
              <a:t>Yet, this idea is a central element of predictive coding theory</a:t>
            </a:r>
          </a:p>
          <a:p>
            <a:pPr lvl="1"/>
            <a:r>
              <a:rPr lang="en-US" dirty="0"/>
              <a:t>This question gets at a critical point of contention</a:t>
            </a:r>
          </a:p>
          <a:p>
            <a:pPr lvl="2"/>
            <a:r>
              <a:rPr lang="en-US" dirty="0"/>
              <a:t>Opponents of the theory accept that prediction error plays some role in the brain (e.g., in the striatum) but push back against these bolder higher-order claims</a:t>
            </a:r>
          </a:p>
          <a:p>
            <a:r>
              <a:rPr lang="en-US" dirty="0"/>
              <a:t>Multivariate analyses of representations are strong tests of predictive coding theory</a:t>
            </a:r>
          </a:p>
          <a:p>
            <a:pPr lvl="1"/>
            <a:r>
              <a:rPr lang="en-US" dirty="0"/>
              <a:t>Other neural theories, supported by univariate results, broke down when tested via multivariate methods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1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60B6-D308-6B57-292E-427E3DA4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Present Study and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3511-B5DF-1D7E-BAA1-FED76B02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800" y="1395488"/>
            <a:ext cx="10941000" cy="492611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areas that make </a:t>
            </a:r>
            <a:r>
              <a:rPr lang="en-US" i="1" dirty="0"/>
              <a:t>predictions</a:t>
            </a:r>
          </a:p>
          <a:p>
            <a:pPr lvl="1"/>
            <a:r>
              <a:rPr lang="en-US" dirty="0"/>
              <a:t>Based on schema (scene) presentation, which regions represent the schema?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Among the regions representing the scene, does any area represent the object as a </a:t>
            </a:r>
            <a:r>
              <a:rPr lang="en-US" i="1" dirty="0"/>
              <a:t>prediction error </a:t>
            </a:r>
            <a:r>
              <a:rPr lang="en-US" dirty="0"/>
              <a:t>relative to the scene?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 prediction error used as a computational mechanism?</a:t>
            </a:r>
          </a:p>
          <a:p>
            <a:pPr lvl="1"/>
            <a:r>
              <a:rPr lang="en-US" dirty="0"/>
              <a:t>Specifically, is object information encoded as a prediction error?</a:t>
            </a:r>
          </a:p>
          <a:p>
            <a:pPr lvl="2"/>
            <a:r>
              <a:rPr lang="en-US" dirty="0"/>
              <a:t>Does stronger prediction-error representation predict subsequent memory?</a:t>
            </a:r>
          </a:p>
          <a:p>
            <a:pPr lvl="2"/>
            <a:r>
              <a:rPr lang="en-US" dirty="0"/>
              <a:t>Are there signatures of prediction error during retrieval, even when the original scheme is no longer shown?</a:t>
            </a:r>
          </a:p>
        </p:txBody>
      </p:sp>
    </p:spTree>
    <p:extLst>
      <p:ext uri="{BB962C8B-B14F-4D97-AF65-F5344CB8AC3E}">
        <p14:creationId xmlns:p14="http://schemas.microsoft.com/office/powerpoint/2010/main" val="427520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1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02D1-35A2-0961-5D36-E0E9AA71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19"/>
            <a:ext cx="10515600" cy="1325563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C058-A51C-1556-7D96-EBE2AAA3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67" y="1766262"/>
            <a:ext cx="4991100" cy="2564718"/>
          </a:xfrm>
        </p:spPr>
        <p:txBody>
          <a:bodyPr>
            <a:normAutofit/>
          </a:bodyPr>
          <a:lstStyle/>
          <a:p>
            <a:r>
              <a:rPr lang="en-US" dirty="0"/>
              <a:t>I looked at the encoding data for </a:t>
            </a:r>
            <a:r>
              <a:rPr lang="en-US" dirty="0" err="1"/>
              <a:t>SchemeRep</a:t>
            </a:r>
            <a:endParaRPr lang="en-US" dirty="0"/>
          </a:p>
          <a:p>
            <a:pPr lvl="1"/>
            <a:r>
              <a:rPr lang="en-US" dirty="0"/>
              <a:t>Object presentation screen</a:t>
            </a:r>
          </a:p>
          <a:p>
            <a:pPr lvl="1"/>
            <a:r>
              <a:rPr lang="en-US" dirty="0"/>
              <a:t>Scene presentation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2B615-26EA-1DBA-FEFA-63AADAC2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7780"/>
            <a:ext cx="5929487" cy="3834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0B90D-9868-3B52-205D-0F4752E87869}"/>
              </a:ext>
            </a:extLst>
          </p:cNvPr>
          <p:cNvSpPr txBox="1"/>
          <p:nvPr/>
        </p:nvSpPr>
        <p:spPr>
          <a:xfrm>
            <a:off x="80720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3DE0-4791-3361-89F0-78F8E84800FD}"/>
              </a:ext>
            </a:extLst>
          </p:cNvPr>
          <p:cNvSpPr txBox="1"/>
          <p:nvPr/>
        </p:nvSpPr>
        <p:spPr>
          <a:xfrm>
            <a:off x="8674640" y="5601737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jitter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B9B45-5711-97E7-7B90-45543FA7075F}"/>
              </a:ext>
            </a:extLst>
          </p:cNvPr>
          <p:cNvSpPr txBox="1"/>
          <p:nvPr/>
        </p:nvSpPr>
        <p:spPr>
          <a:xfrm>
            <a:off x="94055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s</a:t>
            </a:r>
          </a:p>
        </p:txBody>
      </p:sp>
    </p:spTree>
    <p:extLst>
      <p:ext uri="{BB962C8B-B14F-4D97-AF65-F5344CB8AC3E}">
        <p14:creationId xmlns:p14="http://schemas.microsoft.com/office/powerpoint/2010/main" val="93052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288F-3618-88F3-339F-3554A9A6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497367"/>
            <a:ext cx="5054600" cy="1325563"/>
          </a:xfrm>
        </p:spPr>
        <p:txBody>
          <a:bodyPr/>
          <a:lstStyle/>
          <a:p>
            <a:r>
              <a:rPr lang="en-US" dirty="0" err="1"/>
              <a:t>Brainnetome</a:t>
            </a:r>
            <a:r>
              <a:rPr lang="en-US" dirty="0"/>
              <a:t>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55C-1B9D-9B47-EDE2-4C945C7A4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549" y="2035702"/>
            <a:ext cx="4216400" cy="2416811"/>
          </a:xfrm>
        </p:spPr>
        <p:txBody>
          <a:bodyPr>
            <a:normAutofit/>
          </a:bodyPr>
          <a:lstStyle/>
          <a:p>
            <a:r>
              <a:rPr lang="en-US" dirty="0"/>
              <a:t>Used by </a:t>
            </a:r>
            <a:r>
              <a:rPr lang="en-US" dirty="0" err="1"/>
              <a:t>Lifu</a:t>
            </a:r>
            <a:r>
              <a:rPr lang="en-US" dirty="0"/>
              <a:t> and Shenyang</a:t>
            </a:r>
          </a:p>
          <a:p>
            <a:r>
              <a:rPr lang="en-US" dirty="0"/>
              <a:t>246 ROIs</a:t>
            </a:r>
          </a:p>
          <a:p>
            <a:pPr lvl="1"/>
            <a:r>
              <a:rPr lang="en-US" dirty="0"/>
              <a:t>Cortical and subcortical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31BC8-BAB9-F6A9-85AB-86C38A9B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4320"/>
            <a:ext cx="5892798" cy="594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6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4990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673309"/>
          </a:xfrm>
        </p:spPr>
        <p:txBody>
          <a:bodyPr>
            <a:normAutofit fontScale="90000"/>
          </a:bodyPr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787" y="969487"/>
            <a:ext cx="5489285" cy="5472839"/>
          </a:xfrm>
        </p:spPr>
        <p:txBody>
          <a:bodyPr>
            <a:normAutofit/>
          </a:bodyPr>
          <a:lstStyle/>
          <a:p>
            <a:r>
              <a:rPr lang="en-US" dirty="0"/>
              <a:t>Presentation of the scheme serves to inform the </a:t>
            </a:r>
            <a:r>
              <a:rPr lang="en-US" i="1" dirty="0"/>
              <a:t>prediction</a:t>
            </a:r>
          </a:p>
          <a:p>
            <a:pPr lvl="1"/>
            <a:r>
              <a:rPr lang="en-US" dirty="0"/>
              <a:t>RSA: scene vector x scene presentation fMRI</a:t>
            </a:r>
          </a:p>
          <a:p>
            <a:r>
              <a:rPr lang="en-US" dirty="0"/>
              <a:t>Presentation of the object may elicit a </a:t>
            </a:r>
            <a:r>
              <a:rPr lang="en-US" i="1" dirty="0"/>
              <a:t>prediction error</a:t>
            </a:r>
            <a:endParaRPr lang="en-US" dirty="0"/>
          </a:p>
          <a:p>
            <a:pPr lvl="1"/>
            <a:r>
              <a:rPr lang="en-US" dirty="0"/>
              <a:t>RSA with the absolute-difference vector x object presentation fMRI</a:t>
            </a:r>
          </a:p>
          <a:p>
            <a:pPr lvl="1"/>
            <a:r>
              <a:rPr lang="en-US" dirty="0"/>
              <a:t>Confound risk:</a:t>
            </a:r>
          </a:p>
          <a:p>
            <a:pPr lvl="2"/>
            <a:r>
              <a:rPr lang="en-US" dirty="0"/>
              <a:t>Driven by solely the object</a:t>
            </a:r>
          </a:p>
          <a:p>
            <a:pPr lvl="2"/>
            <a:r>
              <a:rPr lang="en-US" dirty="0"/>
              <a:t>Driven by solely the scene</a:t>
            </a:r>
          </a:p>
          <a:p>
            <a:pPr lvl="1"/>
            <a:r>
              <a:rPr lang="en-US" dirty="0"/>
              <a:t>Hence:</a:t>
            </a:r>
          </a:p>
          <a:p>
            <a:pPr lvl="2"/>
            <a:r>
              <a:rPr lang="en-US" dirty="0"/>
              <a:t>Regress out object RSA z-score and scene RSA z-score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7687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5207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2748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2748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2749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2737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2741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2757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30274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30274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30275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30263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30267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30283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7610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7610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7611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7599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7602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7618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20689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7675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5232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4704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4990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8756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8820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8821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8809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8813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10886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10854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10887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10875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10878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2968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2968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2969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2957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2961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5034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5034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5035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5023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5027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7065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7065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7066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7054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7081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3778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3778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3778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3778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3778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9268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1358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3449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5539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7741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8820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6250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6313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6314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6302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6306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8379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8347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8380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8368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8372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30462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30462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30463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30451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30454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2527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2527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2529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2517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2520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4587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4587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4588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4576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4604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1272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1272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1272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1272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1272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6761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8851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30942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3032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5122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6313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3744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3807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3809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3797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3800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5873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5842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5874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5862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5866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7956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7956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7957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7945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7949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50022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50022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50023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50011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50015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2082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2082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2083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2071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2098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8766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8766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8766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8766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8766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4255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6346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8436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50526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2617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3807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3681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1314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8659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8067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5748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2464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373490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9" grpId="0"/>
      <p:bldP spid="1083" grpId="0" animBg="1"/>
      <p:bldP spid="1084" grpId="0" animBg="1"/>
      <p:bldP spid="1085" grpId="0" animBg="1"/>
      <p:bldP spid="1086" grpId="0" animBg="1"/>
      <p:bldP spid="1087" grpId="0" animBg="1"/>
      <p:bldP spid="1088" grpId="0" animBg="1"/>
      <p:bldP spid="1089" grpId="0" animBg="1"/>
      <p:bldP spid="1090" grpId="0" animBg="1"/>
      <p:bldP spid="1091" grpId="0" animBg="1"/>
      <p:bldP spid="1092" grpId="0" animBg="1"/>
      <p:bldP spid="1093" grpId="0" animBg="1"/>
      <p:bldP spid="1094" grpId="0" animBg="1"/>
      <p:bldP spid="1095" grpId="0" animBg="1"/>
      <p:bldP spid="1096" grpId="0" animBg="1"/>
      <p:bldP spid="1097" grpId="0" animBg="1"/>
      <p:bldP spid="1098" grpId="0" animBg="1"/>
      <p:bldP spid="1099" grpId="0" animBg="1"/>
      <p:bldP spid="1100" grpId="0" animBg="1"/>
      <p:bldP spid="1101" grpId="0" animBg="1"/>
      <p:bldP spid="1102" grpId="0" animBg="1"/>
      <p:bldP spid="1103" grpId="0" animBg="1"/>
      <p:bldP spid="1104" grpId="0" animBg="1"/>
      <p:bldP spid="1105" grpId="0" animBg="1"/>
      <p:bldP spid="1106" grpId="0" animBg="1"/>
      <p:bldP spid="1107" grpId="0" animBg="1"/>
      <p:bldP spid="1108" grpId="0"/>
      <p:bldP spid="1109" grpId="0"/>
      <p:bldP spid="1110" grpId="0"/>
      <p:bldP spid="1111" grpId="0"/>
      <p:bldP spid="1112" grpId="0"/>
      <p:bldP spid="1113" grpId="0"/>
      <p:bldP spid="1114" grpId="0"/>
      <p:bldP spid="1115" grpId="0"/>
      <p:bldP spid="1116" grpId="0"/>
      <p:bldP spid="1117" grpId="0"/>
      <p:bldP spid="1118" grpId="0" animBg="1"/>
      <p:bldP spid="1119" grpId="0" animBg="1"/>
      <p:bldP spid="1120" grpId="0" animBg="1"/>
      <p:bldP spid="1121" grpId="0" animBg="1"/>
      <p:bldP spid="1122" grpId="0" animBg="1"/>
      <p:bldP spid="1123" grpId="0" animBg="1"/>
      <p:bldP spid="1124" grpId="0" animBg="1"/>
      <p:bldP spid="1125" grpId="0" animBg="1"/>
      <p:bldP spid="1126" grpId="0" animBg="1"/>
      <p:bldP spid="1127" grpId="0" animBg="1"/>
      <p:bldP spid="1128" grpId="0" animBg="1"/>
      <p:bldP spid="1129" grpId="0" animBg="1"/>
      <p:bldP spid="1130" grpId="0" animBg="1"/>
      <p:bldP spid="1131" grpId="0" animBg="1"/>
      <p:bldP spid="1132" grpId="0" animBg="1"/>
      <p:bldP spid="1133" grpId="0" animBg="1"/>
      <p:bldP spid="1134" grpId="0" animBg="1"/>
      <p:bldP spid="1135" grpId="0" animBg="1"/>
      <p:bldP spid="1136" grpId="0" animBg="1"/>
      <p:bldP spid="1137" grpId="0" animBg="1"/>
      <p:bldP spid="1138" grpId="0" animBg="1"/>
      <p:bldP spid="1139" grpId="0" animBg="1"/>
      <p:bldP spid="1140" grpId="0" animBg="1"/>
      <p:bldP spid="1141" grpId="0" animBg="1"/>
      <p:bldP spid="1142" grpId="0" animBg="1"/>
      <p:bldP spid="1143" grpId="0" animBg="1"/>
      <p:bldP spid="1144" grpId="0"/>
      <p:bldP spid="1145" grpId="0"/>
      <p:bldP spid="1146" grpId="0"/>
      <p:bldP spid="1147" grpId="0"/>
      <p:bldP spid="1148" grpId="0"/>
      <p:bldP spid="1149" grpId="0"/>
      <p:bldP spid="1150" grpId="0"/>
      <p:bldP spid="1151" grpId="0"/>
      <p:bldP spid="1152" grpId="0"/>
      <p:bldP spid="1153" grpId="0"/>
      <p:bldP spid="1154" grpId="0" animBg="1"/>
      <p:bldP spid="1162" grpId="0"/>
      <p:bldP spid="116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490"/>
            <a:ext cx="10515600" cy="876313"/>
          </a:xfrm>
        </p:spPr>
        <p:txBody>
          <a:bodyPr>
            <a:normAutofit fontScale="90000"/>
          </a:bodyPr>
          <a:lstStyle/>
          <a:p>
            <a:r>
              <a:rPr lang="en-US" dirty="0"/>
              <a:t>Many ways to interpret the difference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800" y="1360799"/>
            <a:ext cx="11130092" cy="51696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Psychological meaning of the difference vector: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 “prediction”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2"/>
            <a:r>
              <a:rPr lang="en-US" dirty="0"/>
              <a:t>Link to repetition suppression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r>
              <a:rPr lang="en-US" dirty="0"/>
              <a:t>Speculative: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</a:t>
            </a:r>
          </a:p>
          <a:p>
            <a:pPr lvl="2"/>
            <a:r>
              <a:rPr lang="en-US" dirty="0"/>
              <a:t>Nonetheless, because this measure combines object and scene information, the findings must reflect some type of interaction between representations</a:t>
            </a:r>
          </a:p>
          <a:p>
            <a:pPr lvl="1"/>
            <a:r>
              <a:rPr lang="en-US" dirty="0"/>
              <a:t>Analogical reasoning</a:t>
            </a:r>
          </a:p>
          <a:p>
            <a:pPr lvl="2"/>
            <a:r>
              <a:rPr lang="en-US" dirty="0"/>
              <a:t>In the analysis, representational similarity entails parallels between trial 1’s scene-object relationship and trial 2’s scene-object relationship (i.e., an analogy)</a:t>
            </a:r>
          </a:p>
          <a:p>
            <a:pPr lvl="2"/>
            <a:r>
              <a:rPr lang="en-US" dirty="0"/>
              <a:t>Because the analysis is looking for analogies, this implies that this is related to how humans process analogies? </a:t>
            </a:r>
          </a:p>
          <a:p>
            <a:r>
              <a:rPr lang="en-US" dirty="0"/>
              <a:t>Framed as possible competing hypotheses?</a:t>
            </a:r>
          </a:p>
        </p:txBody>
      </p:sp>
    </p:spTree>
    <p:extLst>
      <p:ext uri="{BB962C8B-B14F-4D97-AF65-F5344CB8AC3E}">
        <p14:creationId xmlns:p14="http://schemas.microsoft.com/office/powerpoint/2010/main" val="1993664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6B7C-CD14-6718-A840-E9F7F745D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350"/>
            <a:ext cx="10515600" cy="1325563"/>
          </a:xfrm>
        </p:spPr>
        <p:txBody>
          <a:bodyPr/>
          <a:lstStyle/>
          <a:p>
            <a:r>
              <a:rPr lang="en-US" dirty="0"/>
              <a:t>Perceptual vectors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C0434-B8A9-C66E-2089-3689BEA9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48" y="2072486"/>
            <a:ext cx="5710152" cy="4282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E9A5B7-E80F-D711-F7C3-99E3B4ECDC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49" t="7884" r="5196" b="16252"/>
          <a:stretch/>
        </p:blipFill>
        <p:spPr>
          <a:xfrm>
            <a:off x="491838" y="2158688"/>
            <a:ext cx="5604162" cy="42826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D2E80-770C-7A5E-675F-02064152D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838" y="1496288"/>
            <a:ext cx="5604162" cy="6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Scene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1CCAF9-A782-97AA-7928-D6F0988DFE5B}"/>
              </a:ext>
            </a:extLst>
          </p:cNvPr>
          <p:cNvSpPr txBox="1">
            <a:spLocks/>
          </p:cNvSpPr>
          <p:nvPr/>
        </p:nvSpPr>
        <p:spPr>
          <a:xfrm>
            <a:off x="6314400" y="1496288"/>
            <a:ext cx="5550000" cy="6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387741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048B-6995-A536-9102-2C894ADF8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00275" cy="1325563"/>
          </a:xfrm>
        </p:spPr>
        <p:txBody>
          <a:bodyPr/>
          <a:lstStyle/>
          <a:p>
            <a:r>
              <a:rPr lang="en-US" dirty="0"/>
              <a:t>Abs-</a:t>
            </a:r>
            <a:r>
              <a:rPr lang="en-US" dirty="0" err="1"/>
              <a:t>dif</a:t>
            </a:r>
            <a:r>
              <a:rPr lang="en-US" dirty="0"/>
              <a:t>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AFDE-86CA-CD03-1EAC-ED71B92BF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750" y="2746375"/>
            <a:ext cx="2422525" cy="4286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Object   Scene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9F5F4F-9A7C-DC80-1400-0138A241E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1" y="87511"/>
            <a:ext cx="8910637" cy="668297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C9FF80B-611C-7D23-5040-49E5CD09F6F4}"/>
              </a:ext>
            </a:extLst>
          </p:cNvPr>
          <p:cNvSpPr/>
          <p:nvPr/>
        </p:nvSpPr>
        <p:spPr>
          <a:xfrm>
            <a:off x="8324850" y="3079750"/>
            <a:ext cx="1270000" cy="5207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7AE2A0-6ADC-AE3A-2C30-B2F18978D3C1}"/>
              </a:ext>
            </a:extLst>
          </p:cNvPr>
          <p:cNvSpPr/>
          <p:nvPr/>
        </p:nvSpPr>
        <p:spPr>
          <a:xfrm>
            <a:off x="6838950" y="4133850"/>
            <a:ext cx="920750" cy="3873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63E13B-3974-BE57-F5F1-309DAAB2AEAE}"/>
              </a:ext>
            </a:extLst>
          </p:cNvPr>
          <p:cNvSpPr/>
          <p:nvPr/>
        </p:nvSpPr>
        <p:spPr>
          <a:xfrm>
            <a:off x="5787230" y="4572000"/>
            <a:ext cx="1820070" cy="17399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F6C56-1EA4-4F91-2677-6E020AB52119}"/>
              </a:ext>
            </a:extLst>
          </p:cNvPr>
          <p:cNvSpPr txBox="1"/>
          <p:nvPr/>
        </p:nvSpPr>
        <p:spPr>
          <a:xfrm>
            <a:off x="5950243" y="632327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Green scene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9429E4-F6B0-B625-42C4-6D71DE421A6C}"/>
              </a:ext>
            </a:extLst>
          </p:cNvPr>
          <p:cNvSpPr/>
          <p:nvPr/>
        </p:nvSpPr>
        <p:spPr>
          <a:xfrm>
            <a:off x="565150" y="2559050"/>
            <a:ext cx="2473325" cy="7429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DAAAFA-9EA7-FED0-321A-4CA39E7A17BE}"/>
              </a:ext>
            </a:extLst>
          </p:cNvPr>
          <p:cNvCxnSpPr>
            <a:cxnSpLocks/>
          </p:cNvCxnSpPr>
          <p:nvPr/>
        </p:nvCxnSpPr>
        <p:spPr>
          <a:xfrm>
            <a:off x="1792175" y="2559050"/>
            <a:ext cx="0" cy="7429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AC701AF-8C01-E6B8-094D-C6FD65229E7D}"/>
              </a:ext>
            </a:extLst>
          </p:cNvPr>
          <p:cNvSpPr/>
          <p:nvPr/>
        </p:nvSpPr>
        <p:spPr>
          <a:xfrm>
            <a:off x="8519970" y="3821741"/>
            <a:ext cx="1270000" cy="64378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730EC3-026F-A399-9B7D-3B87AED9D585}"/>
              </a:ext>
            </a:extLst>
          </p:cNvPr>
          <p:cNvSpPr/>
          <p:nvPr/>
        </p:nvSpPr>
        <p:spPr>
          <a:xfrm>
            <a:off x="7171151" y="1146132"/>
            <a:ext cx="2286000" cy="116492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AE857B-5274-5E44-36C3-C45A08D4168B}"/>
              </a:ext>
            </a:extLst>
          </p:cNvPr>
          <p:cNvSpPr txBox="1"/>
          <p:nvPr/>
        </p:nvSpPr>
        <p:spPr>
          <a:xfrm>
            <a:off x="3070300" y="3637075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Brown scene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E621DD-AAD6-B534-57BB-71FD7AEF6D66}"/>
              </a:ext>
            </a:extLst>
          </p:cNvPr>
          <p:cNvSpPr/>
          <p:nvPr/>
        </p:nvSpPr>
        <p:spPr>
          <a:xfrm>
            <a:off x="4706214" y="2995808"/>
            <a:ext cx="1542185" cy="148411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CB105E-E5F2-569F-6B73-6ED42D0C74CB}"/>
              </a:ext>
            </a:extLst>
          </p:cNvPr>
          <p:cNvSpPr txBox="1"/>
          <p:nvPr/>
        </p:nvSpPr>
        <p:spPr>
          <a:xfrm>
            <a:off x="7646670" y="790544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Pink object</a:t>
            </a:r>
          </a:p>
        </p:txBody>
      </p:sp>
    </p:spTree>
    <p:extLst>
      <p:ext uri="{BB962C8B-B14F-4D97-AF65-F5344CB8AC3E}">
        <p14:creationId xmlns:p14="http://schemas.microsoft.com/office/powerpoint/2010/main" val="1584716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EB2B-4B13-E382-7A99-CCD991A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82250"/>
            <a:ext cx="10515600" cy="939800"/>
          </a:xfrm>
        </p:spPr>
        <p:txBody>
          <a:bodyPr/>
          <a:lstStyle/>
          <a:p>
            <a:r>
              <a:rPr lang="en-US" dirty="0"/>
              <a:t>Analysis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EFE-C7F3-5D61-EDFD-7FC4A2DF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100" y="1693049"/>
            <a:ext cx="8487900" cy="4470151"/>
          </a:xfrm>
        </p:spPr>
        <p:txBody>
          <a:bodyPr>
            <a:normAutofit/>
          </a:bodyPr>
          <a:lstStyle/>
          <a:p>
            <a:r>
              <a:rPr lang="en-US" sz="3600" dirty="0"/>
              <a:t>Perform RSA</a:t>
            </a:r>
          </a:p>
          <a:p>
            <a:pPr lvl="1"/>
            <a:r>
              <a:rPr lang="en-US" sz="3200" dirty="0"/>
              <a:t>fMRI RDM based on:</a:t>
            </a:r>
          </a:p>
          <a:p>
            <a:pPr lvl="2"/>
            <a:r>
              <a:rPr lang="en-US" sz="2800" dirty="0"/>
              <a:t>Scene-presentation screen single-trial betas</a:t>
            </a:r>
          </a:p>
          <a:p>
            <a:pPr lvl="2"/>
            <a:r>
              <a:rPr lang="en-US" sz="2800" dirty="0"/>
              <a:t>Object-presentation screen single-trial betas</a:t>
            </a:r>
          </a:p>
          <a:p>
            <a:pPr lvl="1"/>
            <a:r>
              <a:rPr lang="en-US" sz="3200" dirty="0"/>
              <a:t>Stimulus RDM based on:</a:t>
            </a:r>
          </a:p>
          <a:p>
            <a:pPr lvl="2"/>
            <a:r>
              <a:rPr lang="en-US" sz="2800" dirty="0"/>
              <a:t>Object stimulus vector</a:t>
            </a:r>
          </a:p>
          <a:p>
            <a:pPr lvl="2"/>
            <a:r>
              <a:rPr lang="en-US" sz="2800" dirty="0"/>
              <a:t>Scene stimulus vector</a:t>
            </a:r>
          </a:p>
          <a:p>
            <a:pPr lvl="2"/>
            <a:r>
              <a:rPr lang="en-US" sz="2800" dirty="0"/>
              <a:t>Object-scene difference stimulus vector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B288ED-5577-B808-FB91-897C009D32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87" t="54667" r="53475" b="14256"/>
          <a:stretch/>
        </p:blipFill>
        <p:spPr>
          <a:xfrm>
            <a:off x="9156702" y="1286463"/>
            <a:ext cx="1176338" cy="1191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5DE59D-1DC3-9286-DB82-91F5D131D2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0671148" y="1286463"/>
            <a:ext cx="1176338" cy="11916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269657-AD14-6D58-8F52-314B346E40F8}"/>
              </a:ext>
            </a:extLst>
          </p:cNvPr>
          <p:cNvSpPr/>
          <p:nvPr/>
        </p:nvSpPr>
        <p:spPr>
          <a:xfrm>
            <a:off x="9662865" y="2667959"/>
            <a:ext cx="189411" cy="1894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1CD011-FA63-412D-C2CC-8DA88EAE3BE3}"/>
              </a:ext>
            </a:extLst>
          </p:cNvPr>
          <p:cNvSpPr/>
          <p:nvPr/>
        </p:nvSpPr>
        <p:spPr>
          <a:xfrm>
            <a:off x="9662865" y="2873626"/>
            <a:ext cx="189411" cy="1894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225A0-2531-819A-FD32-99B40E12EA27}"/>
              </a:ext>
            </a:extLst>
          </p:cNvPr>
          <p:cNvSpPr/>
          <p:nvPr/>
        </p:nvSpPr>
        <p:spPr>
          <a:xfrm>
            <a:off x="9662976" y="3079293"/>
            <a:ext cx="189411" cy="1894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486D94-8F41-8D4A-D9E4-D82AD62EE43C}"/>
              </a:ext>
            </a:extLst>
          </p:cNvPr>
          <p:cNvSpPr/>
          <p:nvPr/>
        </p:nvSpPr>
        <p:spPr>
          <a:xfrm>
            <a:off x="9661776" y="3284960"/>
            <a:ext cx="189411" cy="1894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99324E-8C3F-F9A1-CADD-8F465DC4C9E8}"/>
              </a:ext>
            </a:extLst>
          </p:cNvPr>
          <p:cNvSpPr/>
          <p:nvPr/>
        </p:nvSpPr>
        <p:spPr>
          <a:xfrm>
            <a:off x="9662137" y="349062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3A0DD-8958-175A-60B0-2376E9F47728}"/>
              </a:ext>
            </a:extLst>
          </p:cNvPr>
          <p:cNvSpPr/>
          <p:nvPr/>
        </p:nvSpPr>
        <p:spPr>
          <a:xfrm>
            <a:off x="9663715" y="3696294"/>
            <a:ext cx="189411" cy="1894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9534C-E17A-A77F-9151-CE78D94487B8}"/>
              </a:ext>
            </a:extLst>
          </p:cNvPr>
          <p:cNvSpPr/>
          <p:nvPr/>
        </p:nvSpPr>
        <p:spPr>
          <a:xfrm>
            <a:off x="11177865" y="2667959"/>
            <a:ext cx="189411" cy="189411"/>
          </a:xfrm>
          <a:prstGeom prst="rect">
            <a:avLst/>
          </a:prstGeom>
          <a:solidFill>
            <a:srgbClr val="FF7C8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4F8DE7-62DE-9771-9AA7-A17BEA53EB83}"/>
              </a:ext>
            </a:extLst>
          </p:cNvPr>
          <p:cNvSpPr/>
          <p:nvPr/>
        </p:nvSpPr>
        <p:spPr>
          <a:xfrm>
            <a:off x="11177865" y="287362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D019B-0605-2C8F-AD6C-C22171898583}"/>
              </a:ext>
            </a:extLst>
          </p:cNvPr>
          <p:cNvSpPr/>
          <p:nvPr/>
        </p:nvSpPr>
        <p:spPr>
          <a:xfrm>
            <a:off x="11177976" y="3079293"/>
            <a:ext cx="189411" cy="189411"/>
          </a:xfrm>
          <a:prstGeom prst="rect">
            <a:avLst/>
          </a:prstGeom>
          <a:solidFill>
            <a:srgbClr val="FFCC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A74018-6484-5ABC-50F3-590F76F8783A}"/>
              </a:ext>
            </a:extLst>
          </p:cNvPr>
          <p:cNvSpPr/>
          <p:nvPr/>
        </p:nvSpPr>
        <p:spPr>
          <a:xfrm>
            <a:off x="11176776" y="328496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98845C-F2D4-D98B-25F3-8D208BCF6E72}"/>
              </a:ext>
            </a:extLst>
          </p:cNvPr>
          <p:cNvSpPr/>
          <p:nvPr/>
        </p:nvSpPr>
        <p:spPr>
          <a:xfrm>
            <a:off x="11177137" y="3490627"/>
            <a:ext cx="189411" cy="189411"/>
          </a:xfrm>
          <a:prstGeom prst="rect">
            <a:avLst/>
          </a:prstGeom>
          <a:solidFill>
            <a:srgbClr val="FFCC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A56399-8A5A-CE07-1B8F-F8DEBBB9C86F}"/>
              </a:ext>
            </a:extLst>
          </p:cNvPr>
          <p:cNvSpPr/>
          <p:nvPr/>
        </p:nvSpPr>
        <p:spPr>
          <a:xfrm>
            <a:off x="11178715" y="3696294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45BF95-4961-CBE1-1673-B0798392F337}"/>
              </a:ext>
            </a:extLst>
          </p:cNvPr>
          <p:cNvSpPr txBox="1"/>
          <p:nvPr/>
        </p:nvSpPr>
        <p:spPr>
          <a:xfrm>
            <a:off x="9266400" y="393817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fMRI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34B566-45B6-3974-CC61-8E01BC3F1A35}"/>
              </a:ext>
            </a:extLst>
          </p:cNvPr>
          <p:cNvSpPr txBox="1"/>
          <p:nvPr/>
        </p:nvSpPr>
        <p:spPr>
          <a:xfrm>
            <a:off x="10798814" y="393817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fMRI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A344DF-26EF-A5CC-D10F-190B9ABA17F4}"/>
              </a:ext>
            </a:extLst>
          </p:cNvPr>
          <p:cNvCxnSpPr>
            <a:cxnSpLocks/>
          </p:cNvCxnSpPr>
          <p:nvPr/>
        </p:nvCxnSpPr>
        <p:spPr>
          <a:xfrm>
            <a:off x="9748983" y="4663709"/>
            <a:ext cx="0" cy="604911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060453-1B0A-07A1-D2E2-E7DAF86362A6}"/>
              </a:ext>
            </a:extLst>
          </p:cNvPr>
          <p:cNvCxnSpPr>
            <a:cxnSpLocks/>
          </p:cNvCxnSpPr>
          <p:nvPr/>
        </p:nvCxnSpPr>
        <p:spPr>
          <a:xfrm>
            <a:off x="11292910" y="4663709"/>
            <a:ext cx="0" cy="60491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A8B32EC-010F-EDED-C91A-AB0FB4A40607}"/>
              </a:ext>
            </a:extLst>
          </p:cNvPr>
          <p:cNvSpPr txBox="1"/>
          <p:nvPr/>
        </p:nvSpPr>
        <p:spPr>
          <a:xfrm>
            <a:off x="9266400" y="532264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EF4FBF-5F57-BE7B-4E97-86BCF7C420CF}"/>
              </a:ext>
            </a:extLst>
          </p:cNvPr>
          <p:cNvSpPr txBox="1"/>
          <p:nvPr/>
        </p:nvSpPr>
        <p:spPr>
          <a:xfrm>
            <a:off x="10798814" y="5322648"/>
            <a:ext cx="988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RDM</a:t>
            </a:r>
          </a:p>
        </p:txBody>
      </p:sp>
    </p:spTree>
    <p:extLst>
      <p:ext uri="{BB962C8B-B14F-4D97-AF65-F5344CB8AC3E}">
        <p14:creationId xmlns:p14="http://schemas.microsoft.com/office/powerpoint/2010/main" val="159647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656A-B113-00B4-2C2B-B4E8AF46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6"/>
            <a:ext cx="10515600" cy="1325563"/>
          </a:xfrm>
        </p:spPr>
        <p:txBody>
          <a:bodyPr/>
          <a:lstStyle/>
          <a:p>
            <a:r>
              <a:rPr lang="en-US" dirty="0"/>
              <a:t>Stimulus RSM/RDMs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F4C0-E858-3747-E631-FE1DEA6E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83" y="5878191"/>
            <a:ext cx="10515600" cy="588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Although not visualized here, the congruent/incongruent/neutral conditions don’t have much bearing on the vectors or RSMs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53EFF8-37D1-8AD3-84BF-2D1F8081F6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3"/>
          <a:stretch/>
        </p:blipFill>
        <p:spPr>
          <a:xfrm>
            <a:off x="147320" y="2387281"/>
            <a:ext cx="4242526" cy="3383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6135DA-83D9-57DA-3DB1-1658F085B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939" y="2387281"/>
            <a:ext cx="4511040" cy="3383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0B223A-2B5E-A9A7-9476-487B8E87A4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43"/>
          <a:stretch/>
        </p:blipFill>
        <p:spPr>
          <a:xfrm>
            <a:off x="7894320" y="2387281"/>
            <a:ext cx="4188823" cy="3383280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568BBB0-ADDC-25C4-25E9-7AE8BCF39A94}"/>
              </a:ext>
            </a:extLst>
          </p:cNvPr>
          <p:cNvSpPr txBox="1">
            <a:spLocks/>
          </p:cNvSpPr>
          <p:nvPr/>
        </p:nvSpPr>
        <p:spPr>
          <a:xfrm>
            <a:off x="1062083" y="1350649"/>
            <a:ext cx="10515600" cy="107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Perceptual representations (1</a:t>
            </a:r>
            <a:r>
              <a:rPr lang="en-US" baseline="30000" dirty="0"/>
              <a:t>st</a:t>
            </a:r>
            <a:r>
              <a:rPr lang="en-US" dirty="0"/>
              <a:t> layer of DNN)</a:t>
            </a:r>
          </a:p>
          <a:p>
            <a:r>
              <a:rPr lang="en-US" dirty="0"/>
              <a:t>The difference vector RSM doesn’t look particularly weird</a:t>
            </a:r>
          </a:p>
        </p:txBody>
      </p:sp>
    </p:spTree>
    <p:extLst>
      <p:ext uri="{BB962C8B-B14F-4D97-AF65-F5344CB8AC3E}">
        <p14:creationId xmlns:p14="http://schemas.microsoft.com/office/powerpoint/2010/main" val="2471976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92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4C0307-ED64-0827-0AC2-8C66081A1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81" y="152075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1A: Schema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5C454-0847-D5A3-539E-785DCAA011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87" t="54667" r="53475" b="14256"/>
          <a:stretch/>
        </p:blipFill>
        <p:spPr>
          <a:xfrm>
            <a:off x="60374" y="572830"/>
            <a:ext cx="1176338" cy="1191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BEECFC-4E93-B729-18A9-FD7BA45DF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006" y="1520751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272805" y="1168642"/>
            <a:ext cx="4322366" cy="570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829" y="1187803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13E75-8F47-C208-EADC-6BDF1ADCEFF0}"/>
              </a:ext>
            </a:extLst>
          </p:cNvPr>
          <p:cNvSpPr txBox="1"/>
          <p:nvPr/>
        </p:nvSpPr>
        <p:spPr>
          <a:xfrm>
            <a:off x="4243408" y="6250435"/>
            <a:ext cx="4283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Establishes the prediction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28BE08-E5C7-8D5E-EE89-6C88F88B0DE3}"/>
              </a:ext>
            </a:extLst>
          </p:cNvPr>
          <p:cNvSpPr/>
          <p:nvPr/>
        </p:nvSpPr>
        <p:spPr>
          <a:xfrm>
            <a:off x="1049511" y="2628000"/>
            <a:ext cx="858489" cy="17602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DB7D3-CEF3-F5C3-8EC1-BCB430634C8C}"/>
              </a:ext>
            </a:extLst>
          </p:cNvPr>
          <p:cNvSpPr txBox="1"/>
          <p:nvPr/>
        </p:nvSpPr>
        <p:spPr>
          <a:xfrm>
            <a:off x="1736697" y="245588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</p:spTree>
    <p:extLst>
      <p:ext uri="{BB962C8B-B14F-4D97-AF65-F5344CB8AC3E}">
        <p14:creationId xmlns:p14="http://schemas.microsoft.com/office/powerpoint/2010/main" val="2466956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1C/1D: Object representation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A3CD8-10F5-F7CD-247C-4982C4FCD6CF}"/>
              </a:ext>
            </a:extLst>
          </p:cNvPr>
          <p:cNvSpPr txBox="1">
            <a:spLocks/>
          </p:cNvSpPr>
          <p:nvPr/>
        </p:nvSpPr>
        <p:spPr>
          <a:xfrm>
            <a:off x="2448910" y="6271600"/>
            <a:ext cx="729417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Reproducing patterns from </a:t>
            </a:r>
            <a:r>
              <a:rPr lang="en-US" sz="2400" dirty="0" err="1"/>
              <a:t>Lifu’s</a:t>
            </a:r>
            <a:r>
              <a:rPr lang="en-US" sz="2400" dirty="0"/>
              <a:t> thesis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397000" y="1168642"/>
            <a:ext cx="4210697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Perceptual object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201" y="1187803"/>
            <a:ext cx="4805510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Semantic object decoding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4CAE8B-86A9-C9E3-84F2-7D7EE788E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52400" y="380620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CE3EA-77A5-2739-A6A7-19BBFF2B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14696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E31F0-D5F8-84BD-0947-659B14855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133" y="1529792"/>
            <a:ext cx="6096000" cy="4572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6B237AD-3B29-504D-A6A7-35343FE29138}"/>
              </a:ext>
            </a:extLst>
          </p:cNvPr>
          <p:cNvSpPr/>
          <p:nvPr/>
        </p:nvSpPr>
        <p:spPr>
          <a:xfrm>
            <a:off x="1077014" y="2542710"/>
            <a:ext cx="895786" cy="164769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4FB2C-30AC-B6B9-EF9C-DE2CB4E34ABF}"/>
              </a:ext>
            </a:extLst>
          </p:cNvPr>
          <p:cNvSpPr txBox="1"/>
          <p:nvPr/>
        </p:nvSpPr>
        <p:spPr>
          <a:xfrm>
            <a:off x="2109014" y="2542710"/>
            <a:ext cx="15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Weak/Null PFC</a:t>
            </a:r>
          </a:p>
        </p:txBody>
      </p:sp>
    </p:spTree>
    <p:extLst>
      <p:ext uri="{BB962C8B-B14F-4D97-AF65-F5344CB8AC3E}">
        <p14:creationId xmlns:p14="http://schemas.microsoft.com/office/powerpoint/2010/main" val="3840370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D782045-1A11-F3B0-3310-98ADC92F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3" y="1392149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99569" y="1971299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82741" y="204923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033210"/>
            <a:ext cx="3851176" cy="5479290"/>
          </a:xfrm>
        </p:spPr>
        <p:txBody>
          <a:bodyPr>
            <a:normAutofit/>
          </a:bodyPr>
          <a:lstStyle/>
          <a:p>
            <a:r>
              <a:rPr lang="en-US" dirty="0"/>
              <a:t>Null scene RSA</a:t>
            </a:r>
          </a:p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Activation averaged by ROI</a:t>
            </a:r>
          </a:p>
          <a:p>
            <a:pPr lvl="2"/>
            <a:r>
              <a:rPr lang="en-US" dirty="0"/>
              <a:t>26 ROIs = 26-length vector</a:t>
            </a:r>
          </a:p>
          <a:p>
            <a:pPr lvl="2"/>
            <a:r>
              <a:rPr lang="en-US" dirty="0"/>
              <a:t>Submitted to RDM</a:t>
            </a:r>
          </a:p>
          <a:p>
            <a:pPr lvl="1"/>
            <a:r>
              <a:rPr lang="en-US" dirty="0"/>
              <a:t>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10CFC-365D-A63A-F7F3-D833A099DE4E}"/>
              </a:ext>
            </a:extLst>
          </p:cNvPr>
          <p:cNvSpPr/>
          <p:nvPr/>
        </p:nvSpPr>
        <p:spPr>
          <a:xfrm>
            <a:off x="4941826" y="2987623"/>
            <a:ext cx="304372" cy="3043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D4892-A308-0620-B43E-9912687E7C95}"/>
              </a:ext>
            </a:extLst>
          </p:cNvPr>
          <p:cNvSpPr txBox="1"/>
          <p:nvPr/>
        </p:nvSpPr>
        <p:spPr>
          <a:xfrm>
            <a:off x="4110299" y="2485806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Hipp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AA3943-B517-E798-DA43-951207643A12}"/>
              </a:ext>
            </a:extLst>
          </p:cNvPr>
          <p:cNvSpPr/>
          <p:nvPr/>
        </p:nvSpPr>
        <p:spPr>
          <a:xfrm>
            <a:off x="10507143" y="218536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A4999-7885-FF41-7720-BAF6464B9A64}"/>
              </a:ext>
            </a:extLst>
          </p:cNvPr>
          <p:cNvSpPr/>
          <p:nvPr/>
        </p:nvSpPr>
        <p:spPr>
          <a:xfrm>
            <a:off x="10507143" y="2385088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7B5A0-4AAE-5DB2-AD4C-960553D74DA2}"/>
              </a:ext>
            </a:extLst>
          </p:cNvPr>
          <p:cNvSpPr/>
          <p:nvPr/>
        </p:nvSpPr>
        <p:spPr>
          <a:xfrm>
            <a:off x="10507143" y="258481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3E06F8-2A2C-D0B8-0FC8-CD454576B8D9}"/>
              </a:ext>
            </a:extLst>
          </p:cNvPr>
          <p:cNvSpPr/>
          <p:nvPr/>
        </p:nvSpPr>
        <p:spPr>
          <a:xfrm>
            <a:off x="10507143" y="278454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26C97-E041-0C7B-E355-2123F9D0B2E6}"/>
              </a:ext>
            </a:extLst>
          </p:cNvPr>
          <p:cNvSpPr/>
          <p:nvPr/>
        </p:nvSpPr>
        <p:spPr>
          <a:xfrm>
            <a:off x="10507143" y="298426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94CCB-AD28-20F1-421F-79663BCBCCBB}"/>
              </a:ext>
            </a:extLst>
          </p:cNvPr>
          <p:cNvSpPr/>
          <p:nvPr/>
        </p:nvSpPr>
        <p:spPr>
          <a:xfrm>
            <a:off x="10507143" y="3183992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4D1F4-2C80-8365-CD56-C3C22F7F2A87}"/>
              </a:ext>
            </a:extLst>
          </p:cNvPr>
          <p:cNvSpPr/>
          <p:nvPr/>
        </p:nvSpPr>
        <p:spPr>
          <a:xfrm>
            <a:off x="10507143" y="3383718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28360C-98D8-9519-B6F9-17B7A0E69DC8}"/>
              </a:ext>
            </a:extLst>
          </p:cNvPr>
          <p:cNvSpPr/>
          <p:nvPr/>
        </p:nvSpPr>
        <p:spPr>
          <a:xfrm>
            <a:off x="10507143" y="358344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211291-4412-9E28-84B0-9E669BE91AF8}"/>
              </a:ext>
            </a:extLst>
          </p:cNvPr>
          <p:cNvSpPr/>
          <p:nvPr/>
        </p:nvSpPr>
        <p:spPr>
          <a:xfrm>
            <a:off x="10507143" y="3783170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60388-B992-6D1D-B1D0-06ACBDDAF1E5}"/>
              </a:ext>
            </a:extLst>
          </p:cNvPr>
          <p:cNvSpPr/>
          <p:nvPr/>
        </p:nvSpPr>
        <p:spPr>
          <a:xfrm>
            <a:off x="10507143" y="398289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7BC739-1C77-0A15-A368-C865B3483F69}"/>
              </a:ext>
            </a:extLst>
          </p:cNvPr>
          <p:cNvSpPr/>
          <p:nvPr/>
        </p:nvSpPr>
        <p:spPr>
          <a:xfrm>
            <a:off x="10507143" y="418262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DEF091-104B-2B8F-2FEC-8CB21E108C53}"/>
              </a:ext>
            </a:extLst>
          </p:cNvPr>
          <p:cNvSpPr/>
          <p:nvPr/>
        </p:nvSpPr>
        <p:spPr>
          <a:xfrm>
            <a:off x="10507143" y="438234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757A-4822-9336-8F58-3F7A86CE5303}"/>
              </a:ext>
            </a:extLst>
          </p:cNvPr>
          <p:cNvSpPr/>
          <p:nvPr/>
        </p:nvSpPr>
        <p:spPr>
          <a:xfrm>
            <a:off x="10507143" y="458207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1C81F0-1437-A4E1-21EE-6EAD1C0266DB}"/>
              </a:ext>
            </a:extLst>
          </p:cNvPr>
          <p:cNvSpPr/>
          <p:nvPr/>
        </p:nvSpPr>
        <p:spPr>
          <a:xfrm>
            <a:off x="10507143" y="478180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8190D8-9990-AA84-64C6-FC5E2263AB9C}"/>
              </a:ext>
            </a:extLst>
          </p:cNvPr>
          <p:cNvSpPr/>
          <p:nvPr/>
        </p:nvSpPr>
        <p:spPr>
          <a:xfrm>
            <a:off x="10507143" y="4981526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57D43-C4FD-5A97-3597-A83982C2535D}"/>
              </a:ext>
            </a:extLst>
          </p:cNvPr>
          <p:cNvSpPr/>
          <p:nvPr/>
        </p:nvSpPr>
        <p:spPr>
          <a:xfrm>
            <a:off x="10507143" y="5181252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697EE0-0379-6529-A5FF-5DA81BCE46B8}"/>
              </a:ext>
            </a:extLst>
          </p:cNvPr>
          <p:cNvSpPr/>
          <p:nvPr/>
        </p:nvSpPr>
        <p:spPr>
          <a:xfrm>
            <a:off x="10507143" y="5380978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16B0DF-5970-D5EC-175F-2C0613730EED}"/>
              </a:ext>
            </a:extLst>
          </p:cNvPr>
          <p:cNvSpPr/>
          <p:nvPr/>
        </p:nvSpPr>
        <p:spPr>
          <a:xfrm>
            <a:off x="10507143" y="5580708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4866AC9D-920C-F410-DE1B-BA767E44B525}"/>
              </a:ext>
            </a:extLst>
          </p:cNvPr>
          <p:cNvSpPr/>
          <p:nvPr/>
        </p:nvSpPr>
        <p:spPr>
          <a:xfrm>
            <a:off x="11058178" y="221836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4F636BE4-FC78-DE52-ECE7-B0F7A837C498}"/>
              </a:ext>
            </a:extLst>
          </p:cNvPr>
          <p:cNvSpPr/>
          <p:nvPr/>
        </p:nvSpPr>
        <p:spPr>
          <a:xfrm>
            <a:off x="11058178" y="341076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9E511F93-9368-8305-9D15-BF9FE84D2FEF}"/>
              </a:ext>
            </a:extLst>
          </p:cNvPr>
          <p:cNvSpPr/>
          <p:nvPr/>
        </p:nvSpPr>
        <p:spPr>
          <a:xfrm>
            <a:off x="11058178" y="4598110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02A34-B13C-C16B-E528-391968B2EE2C}"/>
              </a:ext>
            </a:extLst>
          </p:cNvPr>
          <p:cNvSpPr/>
          <p:nvPr/>
        </p:nvSpPr>
        <p:spPr>
          <a:xfrm>
            <a:off x="11582817" y="2632547"/>
            <a:ext cx="370640" cy="3706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2F9CF1-642F-C362-BB78-28A6E2C9A967}"/>
              </a:ext>
            </a:extLst>
          </p:cNvPr>
          <p:cNvSpPr/>
          <p:nvPr/>
        </p:nvSpPr>
        <p:spPr>
          <a:xfrm>
            <a:off x="11582817" y="3833590"/>
            <a:ext cx="370640" cy="370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C8F4BC-4DDA-B974-F2C3-6C30046CB7F8}"/>
              </a:ext>
            </a:extLst>
          </p:cNvPr>
          <p:cNvSpPr/>
          <p:nvPr/>
        </p:nvSpPr>
        <p:spPr>
          <a:xfrm>
            <a:off x="11582817" y="5013955"/>
            <a:ext cx="370640" cy="370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ABD2D0-021A-9406-0EBF-DF02F4780444}"/>
              </a:ext>
            </a:extLst>
          </p:cNvPr>
          <p:cNvSpPr txBox="1"/>
          <p:nvPr/>
        </p:nvSpPr>
        <p:spPr>
          <a:xfrm>
            <a:off x="10103494" y="1185654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“Micro”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(standard)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ED383B-1366-70A9-0DC1-B52EF1FDD611}"/>
              </a:ext>
            </a:extLst>
          </p:cNvPr>
          <p:cNvSpPr txBox="1"/>
          <p:nvPr/>
        </p:nvSpPr>
        <p:spPr>
          <a:xfrm>
            <a:off x="11142371" y="1185654"/>
            <a:ext cx="10663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“Macro”</a:t>
            </a:r>
          </a:p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4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E760-A46A-F959-E420-A54C3033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344"/>
            <a:ext cx="10515600" cy="1325563"/>
          </a:xfrm>
        </p:spPr>
        <p:txBody>
          <a:bodyPr/>
          <a:lstStyle/>
          <a:p>
            <a:r>
              <a:rPr lang="en-US" dirty="0"/>
              <a:t>Result 2C: Connectivity: Activity x IRAF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870E-25E1-7272-892B-16761148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1770378"/>
            <a:ext cx="10163175" cy="3563621"/>
          </a:xfrm>
        </p:spPr>
        <p:txBody>
          <a:bodyPr>
            <a:normAutofit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sz="2000" dirty="0"/>
              <a:t>Region A: Mean connectivity across all voxels for a given trial</a:t>
            </a:r>
          </a:p>
          <a:p>
            <a:pPr lvl="1"/>
            <a:r>
              <a:rPr lang="en-US" sz="2000" dirty="0"/>
              <a:t>Region B: IRAF</a:t>
            </a:r>
          </a:p>
          <a:p>
            <a:pPr lvl="1"/>
            <a:r>
              <a:rPr lang="en-US" sz="2000" dirty="0"/>
              <a:t>Note: A x B ≠ B x A</a:t>
            </a:r>
          </a:p>
          <a:p>
            <a:pPr lvl="1"/>
            <a:r>
              <a:rPr lang="en-US" sz="2000" dirty="0"/>
              <a:t>Test if significantly above zero</a:t>
            </a:r>
            <a:endParaRPr lang="en-US" sz="16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0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B6520D-33EB-1EA0-E3DB-8437129E6C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45" r="8889" b="7917"/>
          <a:stretch/>
        </p:blipFill>
        <p:spPr>
          <a:xfrm>
            <a:off x="5324475" y="1158874"/>
            <a:ext cx="6248400" cy="5495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AD4DE0-0B64-9F84-DFE1-D26E4A71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794" y="365126"/>
            <a:ext cx="10732750" cy="917856"/>
          </a:xfrm>
        </p:spPr>
        <p:txBody>
          <a:bodyPr/>
          <a:lstStyle/>
          <a:p>
            <a:r>
              <a:rPr lang="en-US" dirty="0"/>
              <a:t>Result 2C: Difference RSA x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3875F-37A6-A015-3CEF-182AC00E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818" y="1554303"/>
            <a:ext cx="4410075" cy="482917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***</a:t>
            </a:r>
          </a:p>
          <a:p>
            <a:r>
              <a:rPr lang="en-US" dirty="0"/>
              <a:t>MFG IRAF linked to stronger LOC connectivity</a:t>
            </a:r>
          </a:p>
          <a:p>
            <a:pPr lvl="1"/>
            <a:r>
              <a:rPr lang="en-US" dirty="0"/>
              <a:t>General pattern of LPFC-Occipital</a:t>
            </a:r>
          </a:p>
          <a:p>
            <a:pPr lvl="1"/>
            <a:r>
              <a:rPr lang="en-US" dirty="0"/>
              <a:t>Possible link to fusiform gyrus and posterior inferior temporal lobe as well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1F282F-4487-41A6-34D1-6A14B4EE86FB}"/>
              </a:ext>
            </a:extLst>
          </p:cNvPr>
          <p:cNvSpPr/>
          <p:nvPr/>
        </p:nvSpPr>
        <p:spPr>
          <a:xfrm>
            <a:off x="6182518" y="2402642"/>
            <a:ext cx="431839" cy="4318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4D20B-C54B-1338-D7E9-F541444E67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41456" y="365126"/>
            <a:ext cx="1176338" cy="119162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A27ECAF-5989-AB68-FE99-B4BDBA95F35B}"/>
              </a:ext>
            </a:extLst>
          </p:cNvPr>
          <p:cNvSpPr/>
          <p:nvPr/>
        </p:nvSpPr>
        <p:spPr>
          <a:xfrm>
            <a:off x="6268659" y="3992241"/>
            <a:ext cx="596145" cy="6151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05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E80CE7-5358-89F9-F510-EDD664758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67" y="157480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Result 2A/2B/2C: Schema-object integration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170075" y="2153745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889841" y="2340698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726" y="1292451"/>
            <a:ext cx="5050154" cy="542076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26 ROIs</a:t>
            </a:r>
          </a:p>
          <a:p>
            <a:pPr lvl="1"/>
            <a:r>
              <a:rPr lang="en-US" dirty="0"/>
              <a:t>Activation averaged across ROI</a:t>
            </a:r>
          </a:p>
          <a:p>
            <a:pPr lvl="1"/>
            <a:r>
              <a:rPr lang="en-US" dirty="0"/>
              <a:t>fMRI vector calculated using ROI-activation in place of voxel-activation</a:t>
            </a:r>
          </a:p>
          <a:p>
            <a:pPr lvl="1"/>
            <a:r>
              <a:rPr lang="en-US" dirty="0"/>
              <a:t>Submitted to RDM</a:t>
            </a:r>
          </a:p>
          <a:p>
            <a:pPr lvl="1"/>
            <a:r>
              <a:rPr lang="en-US" dirty="0"/>
              <a:t>Yields 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  <a:p>
            <a:r>
              <a:rPr lang="en-US" dirty="0"/>
              <a:t>Trend suggests that high LPFC IRAF linked to subsequent memory hit</a:t>
            </a:r>
          </a:p>
          <a:p>
            <a:pPr lvl="1"/>
            <a:r>
              <a:rPr lang="en-US" dirty="0"/>
              <a:t>Analysis on shown in graph significant if looking at hits but not if looking at misses</a:t>
            </a:r>
          </a:p>
          <a:p>
            <a:pPr lvl="1"/>
            <a:r>
              <a:rPr lang="en-US" dirty="0"/>
              <a:t>However, the t-test comparing IRAFs for hit vs. miss doesn’t cross the  significance threshold</a:t>
            </a:r>
          </a:p>
          <a:p>
            <a:pPr lvl="1"/>
            <a:r>
              <a:rPr lang="en-US" dirty="0"/>
              <a:t>Link to memory not seen for </a:t>
            </a:r>
            <a:r>
              <a:rPr lang="en-US" dirty="0" err="1"/>
              <a:t>hipp</a:t>
            </a:r>
            <a:r>
              <a:rPr lang="en-US" dirty="0"/>
              <a:t>.</a:t>
            </a:r>
          </a:p>
          <a:p>
            <a:r>
              <a:rPr lang="en-US" dirty="0"/>
              <a:t>Unexpectedly, OA do not show this effect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10CFC-365D-A63A-F7F3-D833A099DE4E}"/>
              </a:ext>
            </a:extLst>
          </p:cNvPr>
          <p:cNvSpPr/>
          <p:nvPr/>
        </p:nvSpPr>
        <p:spPr>
          <a:xfrm>
            <a:off x="5028418" y="2997148"/>
            <a:ext cx="304372" cy="3043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D4892-A308-0620-B43E-9912687E7C95}"/>
              </a:ext>
            </a:extLst>
          </p:cNvPr>
          <p:cNvSpPr txBox="1"/>
          <p:nvPr/>
        </p:nvSpPr>
        <p:spPr>
          <a:xfrm>
            <a:off x="4224599" y="2495331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Hipp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50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2AB2-6284-2964-7539-8D0720D6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5358"/>
            <a:ext cx="10515600" cy="780068"/>
          </a:xfrm>
        </p:spPr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3B26-5544-D94B-97AD-BACEEB1F4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077"/>
            <a:ext cx="7820025" cy="2295523"/>
          </a:xfrm>
        </p:spPr>
        <p:txBody>
          <a:bodyPr>
            <a:normAutofit/>
          </a:bodyPr>
          <a:lstStyle/>
          <a:p>
            <a:r>
              <a:rPr lang="en-US" dirty="0"/>
              <a:t>LPFC findings consistent with the </a:t>
            </a:r>
            <a:r>
              <a:rPr lang="en-US" u="sng" dirty="0"/>
              <a:t>prediction error</a:t>
            </a:r>
            <a:r>
              <a:rPr lang="en-US" dirty="0"/>
              <a:t> idea</a:t>
            </a:r>
          </a:p>
          <a:p>
            <a:pPr lvl="1"/>
            <a:r>
              <a:rPr lang="en-US" dirty="0"/>
              <a:t>LPFC processes the scene</a:t>
            </a:r>
          </a:p>
          <a:p>
            <a:pPr lvl="1"/>
            <a:r>
              <a:rPr lang="en-US" dirty="0"/>
              <a:t>The LPFC processes the object relative to the scene</a:t>
            </a:r>
          </a:p>
          <a:p>
            <a:endParaRPr lang="en-US" dirty="0"/>
          </a:p>
        </p:txBody>
      </p:sp>
      <p:pic>
        <p:nvPicPr>
          <p:cNvPr id="2050" name="Picture 2" descr="The color cube illusion | Download Scientific Diagram">
            <a:extLst>
              <a:ext uri="{FF2B5EF4-FFF2-40B4-BE49-F238E27FC236}">
                <a16:creationId xmlns:a16="http://schemas.microsoft.com/office/drawing/2014/main" id="{08ABCCF6-2220-72E7-8697-B250C6470D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8" t="8681" r="17450" b="25972"/>
          <a:stretch/>
        </p:blipFill>
        <p:spPr bwMode="auto">
          <a:xfrm>
            <a:off x="8905875" y="2487865"/>
            <a:ext cx="2447925" cy="265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232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2AB2-6284-2964-7539-8D0720D6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808"/>
            <a:ext cx="10515600" cy="780068"/>
          </a:xfrm>
        </p:spPr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3B26-5544-D94B-97AD-BACEEB1F4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1076"/>
            <a:ext cx="7820025" cy="55244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LPFC result:</a:t>
            </a:r>
          </a:p>
          <a:p>
            <a:pPr lvl="1"/>
            <a:r>
              <a:rPr lang="en-US" dirty="0"/>
              <a:t>Findings consistent with the </a:t>
            </a:r>
            <a:r>
              <a:rPr lang="en-US" u="sng" dirty="0"/>
              <a:t>prediction error</a:t>
            </a:r>
            <a:r>
              <a:rPr lang="en-US" dirty="0"/>
              <a:t> idea</a:t>
            </a:r>
          </a:p>
          <a:p>
            <a:pPr lvl="2"/>
            <a:r>
              <a:rPr lang="en-US" dirty="0"/>
              <a:t>LPFC processes the scene</a:t>
            </a:r>
          </a:p>
          <a:p>
            <a:pPr lvl="2"/>
            <a:r>
              <a:rPr lang="en-US" dirty="0"/>
              <a:t>The LPFC processes the object relative to the scene</a:t>
            </a:r>
          </a:p>
          <a:p>
            <a:pPr lvl="1"/>
            <a:r>
              <a:rPr lang="en-US" dirty="0"/>
              <a:t>However, it is hard to analytically distinguish this interpretation from the </a:t>
            </a:r>
            <a:r>
              <a:rPr lang="en-US" u="sng" dirty="0"/>
              <a:t>priming</a:t>
            </a:r>
            <a:r>
              <a:rPr lang="en-US" dirty="0"/>
              <a:t> idea:</a:t>
            </a:r>
          </a:p>
          <a:p>
            <a:pPr lvl="2"/>
            <a:r>
              <a:rPr lang="en-US" dirty="0"/>
              <a:t>Scene primes neural populations, which influences those populations’ responses to the object</a:t>
            </a:r>
          </a:p>
          <a:p>
            <a:pPr lvl="2"/>
            <a:r>
              <a:rPr lang="en-US" dirty="0"/>
              <a:t>Could the fact that this analysis panned out for the perceptual but not semantic RSA support one of the two views?</a:t>
            </a:r>
          </a:p>
          <a:p>
            <a:r>
              <a:rPr lang="en-US" dirty="0"/>
              <a:t>Hippocampus result</a:t>
            </a:r>
          </a:p>
          <a:p>
            <a:pPr lvl="1"/>
            <a:r>
              <a:rPr lang="en-US" dirty="0"/>
              <a:t>The hippocampus does </a:t>
            </a:r>
            <a:r>
              <a:rPr lang="en-US" i="1" dirty="0"/>
              <a:t>not </a:t>
            </a:r>
            <a:r>
              <a:rPr lang="en-US" dirty="0"/>
              <a:t>bind information arbitrarily</a:t>
            </a:r>
          </a:p>
          <a:p>
            <a:pPr lvl="1"/>
            <a:r>
              <a:rPr lang="en-US" dirty="0"/>
              <a:t>Rather, the hippocampus’s response depends on what items it is binding</a:t>
            </a:r>
          </a:p>
          <a:p>
            <a:pPr lvl="1"/>
            <a:r>
              <a:rPr lang="en-US" dirty="0"/>
              <a:t>The binding should be seen as a </a:t>
            </a:r>
            <a:r>
              <a:rPr lang="en-US" i="1" dirty="0"/>
              <a:t>relationship</a:t>
            </a:r>
            <a:r>
              <a:rPr lang="en-US" dirty="0"/>
              <a:t>, whose meaning is based on </a:t>
            </a:r>
            <a:r>
              <a:rPr lang="en-US" i="1" dirty="0"/>
              <a:t>analogies</a:t>
            </a:r>
            <a:r>
              <a:rPr lang="en-US" dirty="0"/>
              <a:t> to other bound pieces of information</a:t>
            </a:r>
          </a:p>
          <a:p>
            <a:pPr lvl="2"/>
            <a:r>
              <a:rPr lang="en-US" dirty="0"/>
              <a:t>e.g., when people associate a red stimulus and a green stimulus, they infer the relationship between the two stimuli by bootstrapping previously formed relationships between red and green stimuli</a:t>
            </a:r>
          </a:p>
          <a:p>
            <a:pPr lvl="2"/>
            <a:r>
              <a:rPr lang="en-US" dirty="0"/>
              <a:t>Green stoplight = go, red stoplight = stop</a:t>
            </a:r>
          </a:p>
          <a:p>
            <a:pPr lvl="2"/>
            <a:r>
              <a:rPr lang="en-US" dirty="0"/>
              <a:t>Green text = reward, red text = punishment</a:t>
            </a:r>
          </a:p>
        </p:txBody>
      </p:sp>
      <p:pic>
        <p:nvPicPr>
          <p:cNvPr id="2050" name="Picture 2" descr="The color cube illusion | Download Scientific Diagram">
            <a:extLst>
              <a:ext uri="{FF2B5EF4-FFF2-40B4-BE49-F238E27FC236}">
                <a16:creationId xmlns:a16="http://schemas.microsoft.com/office/drawing/2014/main" id="{08ABCCF6-2220-72E7-8697-B250C6470D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8" t="8681" r="17450" b="25972"/>
          <a:stretch/>
        </p:blipFill>
        <p:spPr bwMode="auto">
          <a:xfrm>
            <a:off x="8905875" y="2334712"/>
            <a:ext cx="2447925" cy="265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188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616F-448C-25B8-3907-B941FB36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3A: Prediction error IRAF predicts subsequent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9230-98CE-5856-FBD3-4D47056CE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LPFC abs-</a:t>
            </a:r>
            <a:r>
              <a:rPr lang="en-US" dirty="0" err="1"/>
              <a:t>dif</a:t>
            </a:r>
            <a:r>
              <a:rPr lang="en-US" dirty="0"/>
              <a:t> IRAF predicts subsequent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453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F17E-1EE9-B525-4301-3DCC345C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95" y="171322"/>
            <a:ext cx="10515600" cy="1325563"/>
          </a:xfrm>
        </p:spPr>
        <p:txBody>
          <a:bodyPr/>
          <a:lstStyle/>
          <a:p>
            <a:r>
              <a:rPr lang="en-US" dirty="0"/>
              <a:t>Result 3B: Retrieval retrieves scene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6187-0D0D-5642-D562-823A0E31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570037"/>
            <a:ext cx="5010912" cy="511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Conceptual task: Scene 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A69BD-9E42-5222-0C2C-937DB1373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37" y="2081212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18CFB-C6FA-34D4-42FE-130C4593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095" y="2081212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CF343B-3C57-D3F3-CCA6-72F01CB3559D}"/>
              </a:ext>
            </a:extLst>
          </p:cNvPr>
          <p:cNvSpPr txBox="1">
            <a:spLocks/>
          </p:cNvSpPr>
          <p:nvPr/>
        </p:nvSpPr>
        <p:spPr>
          <a:xfrm>
            <a:off x="6843295" y="1570037"/>
            <a:ext cx="4673600" cy="51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Visual task: Scene RSA</a:t>
            </a:r>
          </a:p>
        </p:txBody>
      </p:sp>
    </p:spTree>
    <p:extLst>
      <p:ext uri="{BB962C8B-B14F-4D97-AF65-F5344CB8AC3E}">
        <p14:creationId xmlns:p14="http://schemas.microsoft.com/office/powerpoint/2010/main" val="877066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F8A30-9097-C6DF-4F19-3F47E35C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pic>
        <p:nvPicPr>
          <p:cNvPr id="7" name="Content Placeholder 6" descr="A diagram of a brain&#10;&#10;Description automatically generated">
            <a:extLst>
              <a:ext uri="{FF2B5EF4-FFF2-40B4-BE49-F238E27FC236}">
                <a16:creationId xmlns:a16="http://schemas.microsoft.com/office/drawing/2014/main" id="{F876F9C2-1A68-4477-18E0-142F7A385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00" t="10834"/>
          <a:stretch/>
        </p:blipFill>
        <p:spPr>
          <a:xfrm>
            <a:off x="6455028" y="1658919"/>
            <a:ext cx="5323645" cy="290720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1B3735-50A5-ED6C-FCA7-924BC8814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38" y="1658920"/>
            <a:ext cx="5323645" cy="290720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9D59E4-3E30-5031-69BE-D146CFE67648}"/>
              </a:ext>
            </a:extLst>
          </p:cNvPr>
          <p:cNvSpPr txBox="1">
            <a:spLocks/>
          </p:cNvSpPr>
          <p:nvPr/>
        </p:nvSpPr>
        <p:spPr>
          <a:xfrm>
            <a:off x="838200" y="5010727"/>
            <a:ext cx="10515600" cy="981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Replicate modules identified by </a:t>
            </a:r>
            <a:r>
              <a:rPr lang="en-US" dirty="0" err="1"/>
              <a:t>Lifu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574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60B0-E6A5-35D9-2E2A-E5CEA68D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retrieval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44C49-FBAE-6683-0B29-86BEFC65E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see it</a:t>
            </a:r>
          </a:p>
          <a:p>
            <a:r>
              <a:rPr lang="en-US" dirty="0"/>
              <a:t>Baseline x encoding</a:t>
            </a:r>
          </a:p>
          <a:p>
            <a:r>
              <a:rPr lang="en-US" dirty="0"/>
              <a:t>Baseline x visual</a:t>
            </a:r>
          </a:p>
          <a:p>
            <a:r>
              <a:rPr lang="en-US" dirty="0"/>
              <a:t>Encoding x visual</a:t>
            </a:r>
          </a:p>
        </p:txBody>
      </p:sp>
    </p:spTree>
    <p:extLst>
      <p:ext uri="{BB962C8B-B14F-4D97-AF65-F5344CB8AC3E}">
        <p14:creationId xmlns:p14="http://schemas.microsoft.com/office/powerpoint/2010/main" val="1244846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Whiffs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9/18/2023</a:t>
            </a:r>
          </a:p>
        </p:txBody>
      </p:sp>
    </p:spTree>
    <p:extLst>
      <p:ext uri="{BB962C8B-B14F-4D97-AF65-F5344CB8AC3E}">
        <p14:creationId xmlns:p14="http://schemas.microsoft.com/office/powerpoint/2010/main" val="4002651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2EF9-B761-D3F7-853D-F40968FF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407"/>
            <a:ext cx="10515600" cy="1325563"/>
          </a:xfrm>
        </p:spPr>
        <p:txBody>
          <a:bodyPr/>
          <a:lstStyle/>
          <a:p>
            <a:r>
              <a:rPr lang="en-US" dirty="0"/>
              <a:t>Other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86783-DCF9-96A2-6BFD-5070AC584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970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Can you do RSA with respect to the fMRI difference vector (object – baseline, visual – object, visual – baseline)?</a:t>
            </a:r>
          </a:p>
          <a:p>
            <a:pPr lvl="1"/>
            <a:r>
              <a:rPr lang="en-US" dirty="0"/>
              <a:t>Yes, but you won’t get significant results</a:t>
            </a:r>
          </a:p>
          <a:p>
            <a:pPr lvl="1"/>
            <a:r>
              <a:rPr lang="en-US" dirty="0"/>
              <a:t>It would have been interesting to see how the scene presentation shifts the neural representation of the object</a:t>
            </a:r>
          </a:p>
          <a:p>
            <a:r>
              <a:rPr lang="en-US" dirty="0"/>
              <a:t>Does congruency lead to connectivity patterns during scene presentation being more correlated with connectivity during object presentation?</a:t>
            </a:r>
          </a:p>
          <a:p>
            <a:pPr lvl="1"/>
            <a:r>
              <a:rPr lang="en-US" dirty="0"/>
              <a:t>No, it doesn’t</a:t>
            </a:r>
          </a:p>
          <a:p>
            <a:r>
              <a:rPr lang="en-US" dirty="0"/>
              <a:t>If you calculate single-trial connectivity based on the scene x object betas (binary connectivity), and submit the data to RSA, will you find significant results?</a:t>
            </a:r>
          </a:p>
          <a:p>
            <a:pPr lvl="1"/>
            <a:r>
              <a:rPr lang="en-US" dirty="0"/>
              <a:t>No, not really. Can’t do RSA with perception vectors</a:t>
            </a:r>
          </a:p>
        </p:txBody>
      </p:sp>
    </p:spTree>
    <p:extLst>
      <p:ext uri="{BB962C8B-B14F-4D97-AF65-F5344CB8AC3E}">
        <p14:creationId xmlns:p14="http://schemas.microsoft.com/office/powerpoint/2010/main" val="3949150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15327</TotalTime>
  <Words>1827</Words>
  <Application>Microsoft Office PowerPoint</Application>
  <PresentationFormat>Widescreen</PresentationFormat>
  <Paragraphs>279</Paragraphs>
  <Slides>29</Slides>
  <Notes>13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Courier New</vt:lpstr>
      <vt:lpstr>Wingdings</vt:lpstr>
      <vt:lpstr>Office Theme</vt:lpstr>
      <vt:lpstr>Paul Update</vt:lpstr>
      <vt:lpstr>Background</vt:lpstr>
      <vt:lpstr>Primary Question</vt:lpstr>
      <vt:lpstr>Present Study and Hypotheses</vt:lpstr>
      <vt:lpstr>Methods</vt:lpstr>
      <vt:lpstr>Data</vt:lpstr>
      <vt:lpstr>3-session fMRI study (SchemRep)</vt:lpstr>
      <vt:lpstr>Brainnetome atlas</vt:lpstr>
      <vt:lpstr>Stimulus representations</vt:lpstr>
      <vt:lpstr>Many ways to interpret the difference vector</vt:lpstr>
      <vt:lpstr>Perceptual vectors</vt:lpstr>
      <vt:lpstr>Abs-dif vector</vt:lpstr>
      <vt:lpstr>Analysis overview</vt:lpstr>
      <vt:lpstr>Stimulus RSM/RDMs</vt:lpstr>
      <vt:lpstr>Results</vt:lpstr>
      <vt:lpstr>Result 1A: Schema representation</vt:lpstr>
      <vt:lpstr>Result 1C/1D: Object representation</vt:lpstr>
      <vt:lpstr>Result 2A/2B: Schema-object prediction error</vt:lpstr>
      <vt:lpstr>Result 2C: Connectivity: Activity x IRAF</vt:lpstr>
      <vt:lpstr>Result 2C: Difference RSA x connectivity</vt:lpstr>
      <vt:lpstr>Result 2A/2B/2C: Schema-object integration</vt:lpstr>
      <vt:lpstr>Interpretation</vt:lpstr>
      <vt:lpstr>Interpretation</vt:lpstr>
      <vt:lpstr>Result 3A: Prediction error IRAF predicts subsequent memory</vt:lpstr>
      <vt:lpstr>Result 3B: Retrieval retrieves scene representation</vt:lpstr>
      <vt:lpstr>Modularity</vt:lpstr>
      <vt:lpstr>Encoding retrieval similarity</vt:lpstr>
      <vt:lpstr>Whiffs </vt:lpstr>
      <vt:lpstr>Other analyses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51</cp:revision>
  <dcterms:created xsi:type="dcterms:W3CDTF">2023-09-14T13:36:35Z</dcterms:created>
  <dcterms:modified xsi:type="dcterms:W3CDTF">2023-10-01T18:44:53Z</dcterms:modified>
</cp:coreProperties>
</file>