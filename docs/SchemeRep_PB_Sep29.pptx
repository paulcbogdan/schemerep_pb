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256" r:id="rId2"/>
    <p:sldId id="264" r:id="rId3"/>
    <p:sldId id="312" r:id="rId4"/>
    <p:sldId id="313" r:id="rId5"/>
    <p:sldId id="302" r:id="rId6"/>
    <p:sldId id="263" r:id="rId7"/>
    <p:sldId id="304" r:id="rId8"/>
    <p:sldId id="280" r:id="rId9"/>
    <p:sldId id="293" r:id="rId10"/>
    <p:sldId id="306" r:id="rId11"/>
    <p:sldId id="292" r:id="rId12"/>
    <p:sldId id="310" r:id="rId13"/>
    <p:sldId id="309" r:id="rId14"/>
    <p:sldId id="291" r:id="rId15"/>
    <p:sldId id="303" r:id="rId16"/>
    <p:sldId id="297" r:id="rId17"/>
    <p:sldId id="279" r:id="rId18"/>
    <p:sldId id="307" r:id="rId19"/>
    <p:sldId id="290" r:id="rId20"/>
    <p:sldId id="284" r:id="rId21"/>
    <p:sldId id="278" r:id="rId22"/>
    <p:sldId id="298" r:id="rId23"/>
    <p:sldId id="308" r:id="rId24"/>
    <p:sldId id="314" r:id="rId25"/>
    <p:sldId id="311" r:id="rId26"/>
    <p:sldId id="319" r:id="rId27"/>
    <p:sldId id="318" r:id="rId28"/>
    <p:sldId id="317" r:id="rId29"/>
    <p:sldId id="320" r:id="rId30"/>
    <p:sldId id="316" r:id="rId31"/>
    <p:sldId id="315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04710"/>
    <a:srgbClr val="00FFCC"/>
    <a:srgbClr val="D2E935"/>
    <a:srgbClr val="452A4F"/>
    <a:srgbClr val="FE962B"/>
    <a:srgbClr val="33CC33"/>
    <a:srgbClr val="FDA631"/>
    <a:srgbClr val="A6A6A6"/>
    <a:srgbClr val="D83706"/>
    <a:srgbClr val="3E9B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72" autoAdjust="0"/>
    <p:restoredTop sz="83292" autoAdjust="0"/>
  </p:normalViewPr>
  <p:slideViewPr>
    <p:cSldViewPr snapToGrid="0">
      <p:cViewPr varScale="1">
        <p:scale>
          <a:sx n="138" d="100"/>
          <a:sy n="138" d="100"/>
        </p:scale>
        <p:origin x="960" y="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B98493-CA63-4D0A-8042-ED8AF27DCFF3}" type="datetimeFigureOut">
              <a:rPr lang="en-US" smtClean="0"/>
              <a:t>9/26/2023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E3E675-13CA-4196-84E5-E684757DD2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3210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Prediction error is not just an “outcome” of processing information but rather is a computational mechanism that influences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Example of perceptional prediction error: car honking feels louder in a classroom than on a busy street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Meta analysis: </a:t>
            </a:r>
            <a:r>
              <a:rPr lang="en-US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Corlett, P. R., </a:t>
            </a:r>
            <a:r>
              <a:rPr lang="en-US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Mollick</a:t>
            </a:r>
            <a:r>
              <a:rPr lang="en-US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, J. A., &amp; </a:t>
            </a:r>
            <a:r>
              <a:rPr lang="en-US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Kober</a:t>
            </a:r>
            <a:r>
              <a:rPr lang="en-US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, H. (2022). Meta-analysis of human prediction error for incentives, perception, cognition, and action. </a:t>
            </a:r>
            <a:r>
              <a:rPr lang="en-US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Neuropsychopharmacology</a:t>
            </a:r>
            <a:r>
              <a:rPr lang="en-US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, </a:t>
            </a:r>
            <a:r>
              <a:rPr lang="en-US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47</a:t>
            </a:r>
            <a:r>
              <a:rPr lang="en-US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(7), 1339-1349.</a:t>
            </a:r>
          </a:p>
          <a:p>
            <a:endParaRPr lang="en-US" b="0" i="0" dirty="0">
              <a:solidFill>
                <a:srgbClr val="222222"/>
              </a:solidFill>
              <a:effectLst/>
              <a:latin typeface="Arial" panose="020B0604020202020204" pitchFamily="34" charset="0"/>
            </a:endParaRPr>
          </a:p>
          <a:p>
            <a:r>
              <a:rPr lang="en-US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Perception results: Iglesias, S., </a:t>
            </a:r>
            <a:r>
              <a:rPr lang="en-US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Mathys</a:t>
            </a:r>
            <a:r>
              <a:rPr lang="en-US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, C., </a:t>
            </a:r>
            <a:r>
              <a:rPr lang="en-US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Brodersen</a:t>
            </a:r>
            <a:r>
              <a:rPr lang="en-US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, K. H., Kasper, L., </a:t>
            </a:r>
            <a:r>
              <a:rPr lang="en-US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Piccirelli</a:t>
            </a:r>
            <a:r>
              <a:rPr lang="en-US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, M., den Ouden, H. E., &amp; Stephan, K. E. (2013). Hierarchical prediction errors in midbrain and basal forebrain during sensory learning. </a:t>
            </a:r>
            <a:r>
              <a:rPr lang="en-US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Neuron</a:t>
            </a:r>
            <a:r>
              <a:rPr lang="en-US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, </a:t>
            </a:r>
            <a:r>
              <a:rPr lang="en-US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80</a:t>
            </a:r>
            <a:r>
              <a:rPr lang="en-US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(2), 519-530.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* </a:t>
            </a:r>
            <a:r>
              <a:rPr lang="en-US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dlPFC</a:t>
            </a:r>
            <a:r>
              <a:rPr lang="en-US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result (IFG and MFG)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E3E675-13CA-4196-84E5-E684757DD2A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28035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E3E675-13CA-4196-84E5-E684757DD2A6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2327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learned about how to run Word2Vec + DNNs because </a:t>
            </a:r>
            <a:r>
              <a:rPr lang="en-US" dirty="0" err="1"/>
              <a:t>Lifu</a:t>
            </a:r>
            <a:r>
              <a:rPr lang="en-US" dirty="0"/>
              <a:t> didn’t yet try applying these to the scene images</a:t>
            </a:r>
          </a:p>
          <a:p>
            <a:pPr lvl="1"/>
            <a:r>
              <a:rPr lang="en-US" dirty="0"/>
              <a:t>However, I didn’t do the word2vec properly, so I don’t provide results on that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E3E675-13CA-4196-84E5-E684757DD2A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1497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Notably organized into:</a:t>
            </a:r>
          </a:p>
          <a:p>
            <a:pPr lvl="1"/>
            <a:r>
              <a:rPr lang="en-US" dirty="0"/>
              <a:t>EVC</a:t>
            </a:r>
          </a:p>
          <a:p>
            <a:pPr lvl="1"/>
            <a:r>
              <a:rPr lang="en-US" dirty="0"/>
              <a:t>LOC</a:t>
            </a:r>
          </a:p>
          <a:p>
            <a:pPr lvl="1"/>
            <a:r>
              <a:rPr lang="en-US" dirty="0" err="1"/>
              <a:t>FuG</a:t>
            </a:r>
            <a:endParaRPr lang="en-US" dirty="0"/>
          </a:p>
          <a:p>
            <a:pPr lvl="1"/>
            <a:r>
              <a:rPr lang="en-US" dirty="0"/>
              <a:t>ATL</a:t>
            </a:r>
          </a:p>
          <a:p>
            <a:pPr lvl="1"/>
            <a:r>
              <a:rPr lang="en-US" dirty="0"/>
              <a:t>Hippocampus</a:t>
            </a:r>
          </a:p>
          <a:p>
            <a:pPr lvl="1"/>
            <a:r>
              <a:rPr lang="en-US" dirty="0"/>
              <a:t>IFG</a:t>
            </a:r>
          </a:p>
          <a:p>
            <a:pPr lvl="1"/>
            <a:r>
              <a:rPr lang="en-US" dirty="0"/>
              <a:t>MFG</a:t>
            </a:r>
          </a:p>
          <a:p>
            <a:pPr lvl="1"/>
            <a:r>
              <a:rPr lang="en-US" dirty="0"/>
              <a:t>SFG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E3E675-13CA-4196-84E5-E684757DD2A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20933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E3E675-13CA-4196-84E5-E684757DD2A6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454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E3E675-13CA-4196-84E5-E684757DD2A6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0100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E3E675-13CA-4196-84E5-E684757DD2A6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7340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Post hoc tests on bilateral SFG, for the eight </a:t>
            </a:r>
            <a:r>
              <a:rPr lang="en-US" dirty="0" err="1"/>
              <a:t>dmPFC</a:t>
            </a:r>
            <a:r>
              <a:rPr lang="en-US" dirty="0"/>
              <a:t> ROIs, t = 4.14. For the six </a:t>
            </a:r>
            <a:r>
              <a:rPr lang="en-US" dirty="0" err="1"/>
              <a:t>dlPFC</a:t>
            </a:r>
            <a:r>
              <a:rPr lang="en-US" dirty="0"/>
              <a:t> ROIs, t = 2.94. SFG bilateral altogether is 4.17.</a:t>
            </a:r>
          </a:p>
          <a:p>
            <a:r>
              <a:rPr lang="en-US" dirty="0" err="1"/>
              <a:t>mPFC</a:t>
            </a:r>
            <a:r>
              <a:rPr lang="en-US" dirty="0"/>
              <a:t> overall (including some orbital and CG, yields 3.85. Excluding CG, we get 3.6.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E3E675-13CA-4196-84E5-E684757DD2A6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5636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Downside: Doesn’t pan out for word2vec analysis. </a:t>
            </a:r>
            <a:r>
              <a:rPr lang="en-US" dirty="0" err="1"/>
              <a:t>lPFC</a:t>
            </a:r>
            <a:r>
              <a:rPr lang="en-US" dirty="0"/>
              <a:t> doesn’t pan out for connectivity. Also, doesn’t work if only looking at a single congruent/incongruent/neutral condition</a:t>
            </a:r>
          </a:p>
          <a:p>
            <a:r>
              <a:rPr lang="en-US" dirty="0"/>
              <a:t>HC result a bit less robust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E3E675-13CA-4196-84E5-E684757DD2A6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87514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amygdala also shows an interesting pattern</a:t>
            </a:r>
          </a:p>
          <a:p>
            <a:pPr lvl="1"/>
            <a:r>
              <a:rPr lang="en-US" dirty="0"/>
              <a:t>Stronger representation in the </a:t>
            </a:r>
            <a:r>
              <a:rPr lang="en-US" dirty="0" err="1"/>
              <a:t>amgydala</a:t>
            </a:r>
            <a:r>
              <a:rPr lang="en-US" dirty="0"/>
              <a:t> is linked to decreased connectivity with everything else</a:t>
            </a:r>
          </a:p>
          <a:p>
            <a:pPr lvl="1"/>
            <a:r>
              <a:rPr lang="en-US" dirty="0"/>
              <a:t>Beyond the present focus?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E3E675-13CA-4196-84E5-E684757DD2A6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71850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Downside: Doesn’t pan out for word2vec analysis. </a:t>
            </a:r>
            <a:r>
              <a:rPr lang="en-US" dirty="0" err="1"/>
              <a:t>lPFC</a:t>
            </a:r>
            <a:r>
              <a:rPr lang="en-US" dirty="0"/>
              <a:t> doesn’t pan out for connectivity. Also, doesn’t work if only looking at a single congruent/incongruent/neutral condition</a:t>
            </a:r>
          </a:p>
          <a:p>
            <a:r>
              <a:rPr lang="en-US" dirty="0"/>
              <a:t>HC result a bit less robust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E3E675-13CA-4196-84E5-E684757DD2A6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25632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Also possible to explain in terms of </a:t>
            </a:r>
            <a:r>
              <a:rPr lang="en-US" u="sng" dirty="0"/>
              <a:t>priming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Scene primes neural populations, which influences those populations’ responses to the object	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E3E675-13CA-4196-84E5-E684757DD2A6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2866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E3E675-13CA-4196-84E5-E684757DD2A6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67758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4AD00B-6584-4BEB-BB07-D320C42443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093775-97DA-4F0C-8091-7243A71F5A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2E7B29-494F-46C3-98E5-9F2CFE6B57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B2E29-6454-4170-AF87-B006FFB35D00}" type="datetimeFigureOut">
              <a:rPr lang="en-US" smtClean="0"/>
              <a:t>9/26/2023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629F06-03E1-4DE2-98E0-74887BAC9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FE5F46-6594-4C1E-B5CA-1F1D6F20F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BFAFE-0FA7-4047-BC8F-BE5A172793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7703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18E2B-D6F1-4EA2-8F10-7D5D17974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AD061B-03B3-4665-AA43-89C80159D0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buFont typeface="Courier New" panose="02070309020205020404" pitchFamily="49" charset="0"/>
              <a:buChar char="o"/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 typeface="Wingdings" panose="05000000000000000000" pitchFamily="2" charset="2"/>
              <a:buChar char="§"/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buFont typeface="Wingdings" panose="05000000000000000000" pitchFamily="2" charset="2"/>
              <a:buChar char="v"/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E68A43-9AA0-4950-B1EC-6BFB6F75E7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B2E29-6454-4170-AF87-B006FFB35D00}" type="datetimeFigureOut">
              <a:rPr lang="en-US" smtClean="0"/>
              <a:t>9/26/2023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1BB70E-48FE-49D7-B925-546DA100FE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8C68AE-EABA-4A35-AFE9-C39F595883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BFAFE-0FA7-4047-BC8F-BE5A172793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355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89B53F-ED2E-4673-A940-F01A32CB4A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9796FD-D16C-4F81-BDA1-928AE471D6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6B1EED-EFC9-4E32-A27E-A04910ABAF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B2E29-6454-4170-AF87-B006FFB35D00}" type="datetimeFigureOut">
              <a:rPr lang="en-US" smtClean="0"/>
              <a:t>9/26/2023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30C3AC-D4C3-43A1-B81B-0FE71EF265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1631A4-C8E4-40B1-8060-9CD773F03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BFAFE-0FA7-4047-BC8F-BE5A172793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247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74271-11DA-4E97-B187-22F01CD292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D5DB8-CF97-4315-BD7D-836111B754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D2452B-E913-4410-8B5A-FEA37D312D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060FC7-4A31-4ECB-B9E2-E3F479496C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B2E29-6454-4170-AF87-B006FFB35D00}" type="datetimeFigureOut">
              <a:rPr lang="en-US" smtClean="0"/>
              <a:t>9/26/2023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F10980-53A5-4B2D-8BF1-430BA182B1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17DF36-9C11-43B0-AFBB-13D8E0BB4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BFAFE-0FA7-4047-BC8F-BE5A172793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49018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51C380-5819-47C0-B6DB-1BCA49A315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281FCE-3703-4337-967E-C2A5382DEB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6731D9-4835-412C-88CC-3CD3C6FA3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628CEF9-828A-4745-997E-A7DBBAD108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D2CBA7-3ACA-46DD-B733-BAC85603BC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35F5A09-EDB5-46E6-893D-EFB70025FE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B2E29-6454-4170-AF87-B006FFB35D00}" type="datetimeFigureOut">
              <a:rPr lang="en-US" smtClean="0"/>
              <a:t>9/26/2023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1002CA3-1581-43C3-98FC-59A33E3D2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D09075-C4B1-42AC-8C75-4FB488376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BFAFE-0FA7-4047-BC8F-BE5A172793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7364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0B10F9-1F70-4CC0-A1BC-D1C42C2B7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5B85726-DBEF-4CA3-839B-352075533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B2E29-6454-4170-AF87-B006FFB35D00}" type="datetimeFigureOut">
              <a:rPr lang="en-US" smtClean="0"/>
              <a:t>9/26/2023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BA00EA-3C23-4588-BF03-F22ABBE80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9F3800-C9A5-4235-B574-19A012682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BFAFE-0FA7-4047-BC8F-BE5A172793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4829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CBCECA6-D996-452B-AD6A-269CA18468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B2E29-6454-4170-AF87-B006FFB35D00}" type="datetimeFigureOut">
              <a:rPr lang="en-US" smtClean="0"/>
              <a:t>9/26/2023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60A0586-0096-41A3-A9AF-EE9CB38C9B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777BFA-2216-49F0-AF38-B46C9D82B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BFAFE-0FA7-4047-BC8F-BE5A172793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8535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1C996-C8A9-4FB0-A317-2E7E90812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127B42-DBC2-47A8-A40D-BAE97758B6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521C7B-35CB-4880-A0AC-805BFB5B98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D47D0-2081-45E3-9C7E-BF43B9672E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B2E29-6454-4170-AF87-B006FFB35D00}" type="datetimeFigureOut">
              <a:rPr lang="en-US" smtClean="0"/>
              <a:t>9/26/2023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BC9F89-7930-49B0-A81E-736C95A73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624FF2-1361-4D73-A914-D03027804B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BFAFE-0FA7-4047-BC8F-BE5A172793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8733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C6A0EA-C4AE-4F36-8754-7F92C6FD49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A581EA3-D358-4C88-8CEE-AF58C0349F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9D2496-CC08-4831-A9A9-D5744A808C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3AED85-6938-40CE-A6E8-A23E81056D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B2E29-6454-4170-AF87-B006FFB35D00}" type="datetimeFigureOut">
              <a:rPr lang="en-US" smtClean="0"/>
              <a:t>9/26/2023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3890F1-7ABC-438C-86BC-16AABE5A36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A9E24A-6694-40DE-A232-40F924DE7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BFAFE-0FA7-4047-BC8F-BE5A172793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7015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2ED043-E298-4666-8D40-3D14B1C9CB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9E29ED-D0CE-46BF-BF1D-C444FE7CCF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0FE7BF-BCB2-4C76-9FCF-0BC648695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B2E29-6454-4170-AF87-B006FFB35D00}" type="datetimeFigureOut">
              <a:rPr lang="en-US" smtClean="0"/>
              <a:t>9/26/2023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DD8F2D-07AF-4D6E-8EE6-F00A819F29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D59C9D-03F5-4136-A115-2B5FC467AC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BFAFE-0FA7-4047-BC8F-BE5A172793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58920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C978F8E-91D5-4268-9E68-89B29C78C7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0A7A88-61E4-488E-96E2-DC43AFC7C5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0A047E-85C8-4E09-8CD6-618AA4BB79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B2E29-6454-4170-AF87-B006FFB35D00}" type="datetimeFigureOut">
              <a:rPr lang="en-US" smtClean="0"/>
              <a:t>9/26/2023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1B3190-D85C-4508-A9FB-2F4F4CA9E2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317CC3-2A4A-4F7B-970D-92630A69D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BFAFE-0FA7-4047-BC8F-BE5A172793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88360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6B8FB9C-8843-415F-A091-7ADDE32AF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904287-E011-453F-99FD-D95C1BD669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C8B418-76C4-4EDB-91EF-C8E4A73B4C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6B2E29-6454-4170-AF87-B006FFB35D00}" type="datetimeFigureOut">
              <a:rPr lang="en-US" smtClean="0"/>
              <a:t>9/26/2023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B74509-FFF9-4164-B6C3-46DDB68E46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8F2CDD-6359-4BCA-92D7-C7A8CB3D21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8BFAFE-0FA7-4047-BC8F-BE5A172793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6718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Courier New" panose="02070309020205020404" pitchFamily="49" charset="0"/>
        <a:buChar char="o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v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36406-BE6A-43D1-8823-925981A4EA2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Paul Update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E9E69C-B0CF-4A44-A6F4-E20B9170421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9/18/2023</a:t>
            </a:r>
          </a:p>
        </p:txBody>
      </p:sp>
    </p:spTree>
    <p:extLst>
      <p:ext uri="{BB962C8B-B14F-4D97-AF65-F5344CB8AC3E}">
        <p14:creationId xmlns:p14="http://schemas.microsoft.com/office/powerpoint/2010/main" val="30579078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4A4B5-A432-541F-65E4-23FD529470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5200"/>
            <a:ext cx="10515600" cy="974558"/>
          </a:xfrm>
        </p:spPr>
        <p:txBody>
          <a:bodyPr/>
          <a:lstStyle/>
          <a:p>
            <a:r>
              <a:rPr lang="en-US" dirty="0"/>
              <a:t>Background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AC6084-ED24-0F80-EB4D-A00B47A1B1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1922"/>
            <a:ext cx="10689000" cy="5391278"/>
          </a:xfrm>
        </p:spPr>
        <p:txBody>
          <a:bodyPr>
            <a:normAutofit/>
          </a:bodyPr>
          <a:lstStyle/>
          <a:p>
            <a:r>
              <a:rPr lang="en-US" dirty="0"/>
              <a:t>Predictive coding theory argues that all information is processed in terms of prediction errors</a:t>
            </a:r>
          </a:p>
          <a:p>
            <a:pPr lvl="1"/>
            <a:r>
              <a:rPr lang="en-US" dirty="0"/>
              <a:t>Prediction error is a computational mechanism used across the brain</a:t>
            </a:r>
          </a:p>
          <a:p>
            <a:pPr lvl="2"/>
            <a:r>
              <a:rPr lang="en-US" dirty="0"/>
              <a:t>Goes well beyond early theories that </a:t>
            </a:r>
            <a:r>
              <a:rPr lang="en-US" i="1" dirty="0"/>
              <a:t>reward prediction error </a:t>
            </a:r>
            <a:r>
              <a:rPr lang="en-US" dirty="0"/>
              <a:t>underlies behavioral learning and ventral striatum processing</a:t>
            </a:r>
          </a:p>
          <a:p>
            <a:pPr lvl="1"/>
            <a:r>
              <a:rPr lang="en-US" i="1" dirty="0"/>
              <a:t>Perceptual prediction error</a:t>
            </a:r>
          </a:p>
          <a:p>
            <a:pPr lvl="2"/>
            <a:r>
              <a:rPr lang="en-US" dirty="0"/>
              <a:t>Perception depends on the perceived likelihood of encountering a stimulus</a:t>
            </a:r>
          </a:p>
          <a:p>
            <a:pPr lvl="1"/>
            <a:r>
              <a:rPr lang="en-US" i="1" dirty="0"/>
              <a:t>Cognitive prediction error</a:t>
            </a:r>
          </a:p>
          <a:p>
            <a:pPr lvl="2"/>
            <a:r>
              <a:rPr lang="en-US" dirty="0"/>
              <a:t>Information is processed in terms of prior beliefs and updating</a:t>
            </a:r>
          </a:p>
          <a:p>
            <a:r>
              <a:rPr lang="en-US" dirty="0"/>
              <a:t>Predictive coding has been studied with univariate analyses</a:t>
            </a:r>
          </a:p>
          <a:p>
            <a:pPr lvl="1"/>
            <a:r>
              <a:rPr lang="en-US" dirty="0"/>
              <a:t>Perceptual prediction error correlated with activity in both cortical and subcortical regions</a:t>
            </a:r>
          </a:p>
        </p:txBody>
      </p:sp>
    </p:spTree>
    <p:extLst>
      <p:ext uri="{BB962C8B-B14F-4D97-AF65-F5344CB8AC3E}">
        <p14:creationId xmlns:p14="http://schemas.microsoft.com/office/powerpoint/2010/main" val="23974740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B02C74-7939-7509-0F4F-EB79CECC20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5525"/>
            <a:ext cx="10515600" cy="1325563"/>
          </a:xfrm>
        </p:spPr>
        <p:txBody>
          <a:bodyPr/>
          <a:lstStyle/>
          <a:p>
            <a:r>
              <a:rPr lang="en-US" dirty="0"/>
              <a:t>Primary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3DC41D-33FB-7658-8B99-25CE7E0DAC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61889"/>
            <a:ext cx="10515600" cy="4960586"/>
          </a:xfrm>
        </p:spPr>
        <p:txBody>
          <a:bodyPr>
            <a:normAutofit/>
          </a:bodyPr>
          <a:lstStyle/>
          <a:p>
            <a:r>
              <a:rPr lang="en-US" dirty="0"/>
              <a:t>Are stimuli </a:t>
            </a:r>
            <a:r>
              <a:rPr lang="en-US" i="1" dirty="0"/>
              <a:t>represented </a:t>
            </a:r>
            <a:r>
              <a:rPr lang="en-US" dirty="0"/>
              <a:t>as prediction errors?</a:t>
            </a:r>
          </a:p>
          <a:p>
            <a:pPr lvl="1"/>
            <a:r>
              <a:rPr lang="en-US" dirty="0"/>
              <a:t>No study has genuinely investigated this question </a:t>
            </a:r>
          </a:p>
          <a:p>
            <a:pPr lvl="2"/>
            <a:r>
              <a:rPr lang="en-US" dirty="0"/>
              <a:t>“Genuinely” = beyond univariate tests</a:t>
            </a:r>
          </a:p>
          <a:p>
            <a:pPr lvl="1"/>
            <a:r>
              <a:rPr lang="en-US" dirty="0"/>
              <a:t>Yet, this idea is a central element of predictive coding theory</a:t>
            </a:r>
          </a:p>
          <a:p>
            <a:pPr lvl="1"/>
            <a:r>
              <a:rPr lang="en-US" dirty="0"/>
              <a:t>This question gets at a critical point of contention</a:t>
            </a:r>
          </a:p>
          <a:p>
            <a:pPr lvl="2"/>
            <a:r>
              <a:rPr lang="en-US" dirty="0"/>
              <a:t>Opponents of the theory accept that prediction error plays some role in the brain (e.g., in the striatum) but push back against these bolder higher-order claims</a:t>
            </a:r>
          </a:p>
          <a:p>
            <a:r>
              <a:rPr lang="en-US" dirty="0"/>
              <a:t>Multivariate analyses of representations are strong tests of predictive coding theory</a:t>
            </a:r>
          </a:p>
          <a:p>
            <a:pPr lvl="1"/>
            <a:r>
              <a:rPr lang="en-US" dirty="0"/>
              <a:t>Other neural theories, supported by univariate results, broke down when tested via multivariate methods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42166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3B60B6-D308-6B57-292E-427E3DA47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Present Study and Hypotheses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383511-B5DF-1D7E-BAA1-FED76B024F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4600" y="1208288"/>
            <a:ext cx="10941000" cy="5329312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Identify areas that make </a:t>
            </a:r>
            <a:r>
              <a:rPr lang="en-US" i="1" dirty="0"/>
              <a:t>predictions</a:t>
            </a:r>
          </a:p>
          <a:p>
            <a:pPr lvl="1"/>
            <a:r>
              <a:rPr lang="en-US" dirty="0"/>
              <a:t>Based on schema (scene) presentation, which regions represent the schema?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Among the regions representing the scene, does any area represent the object as a </a:t>
            </a:r>
            <a:r>
              <a:rPr lang="en-US" i="1" dirty="0"/>
              <a:t>prediction error </a:t>
            </a:r>
            <a:r>
              <a:rPr lang="en-US" dirty="0"/>
              <a:t>relative to the scene?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Is prediction error used as a computational mechanism?</a:t>
            </a:r>
          </a:p>
          <a:p>
            <a:pPr lvl="1"/>
            <a:r>
              <a:rPr lang="en-US" dirty="0"/>
              <a:t>Specifically, is object information encoded as a prediction error?</a:t>
            </a:r>
          </a:p>
          <a:p>
            <a:pPr lvl="2"/>
            <a:r>
              <a:rPr lang="en-US" dirty="0"/>
              <a:t>Does stronger prediction-error representation predict subsequent memory?</a:t>
            </a:r>
          </a:p>
          <a:p>
            <a:pPr lvl="2"/>
            <a:r>
              <a:rPr lang="en-US" dirty="0"/>
              <a:t>Are there signatures of prediction error during retrieval, even when the original scheme is no longer shown?</a:t>
            </a:r>
          </a:p>
        </p:txBody>
      </p:sp>
    </p:spTree>
    <p:extLst>
      <p:ext uri="{BB962C8B-B14F-4D97-AF65-F5344CB8AC3E}">
        <p14:creationId xmlns:p14="http://schemas.microsoft.com/office/powerpoint/2010/main" val="42752061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36406-BE6A-43D1-8823-925981A4EA2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Methods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E9E69C-B0CF-4A44-A6F4-E20B9170421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03192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8302D1-35A2-0961-5D36-E0E9AA71E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6119"/>
            <a:ext cx="10515600" cy="1325563"/>
          </a:xfrm>
        </p:spPr>
        <p:txBody>
          <a:bodyPr/>
          <a:lstStyle/>
          <a:p>
            <a:r>
              <a:rPr lang="en-US" dirty="0"/>
              <a:t>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79C058-A51C-1556-7D96-EBE2AAA364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0267" y="1766262"/>
            <a:ext cx="4991100" cy="2564718"/>
          </a:xfrm>
        </p:spPr>
        <p:txBody>
          <a:bodyPr>
            <a:normAutofit/>
          </a:bodyPr>
          <a:lstStyle/>
          <a:p>
            <a:r>
              <a:rPr lang="en-US" dirty="0"/>
              <a:t>I looked at the encoding data for </a:t>
            </a:r>
            <a:r>
              <a:rPr lang="en-US" dirty="0" err="1"/>
              <a:t>SchemeRep</a:t>
            </a:r>
            <a:endParaRPr lang="en-US" dirty="0"/>
          </a:p>
          <a:p>
            <a:pPr lvl="1"/>
            <a:r>
              <a:rPr lang="en-US" dirty="0"/>
              <a:t>Object presentation screen</a:t>
            </a:r>
          </a:p>
          <a:p>
            <a:pPr lvl="1"/>
            <a:r>
              <a:rPr lang="en-US" dirty="0"/>
              <a:t>Scene presentation screen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B52B615-26EA-1DBA-FEFA-63AADAC284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767780"/>
            <a:ext cx="5929487" cy="383424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BD0B90D-9868-3B52-205D-0F4752E87869}"/>
              </a:ext>
            </a:extLst>
          </p:cNvPr>
          <p:cNvSpPr txBox="1"/>
          <p:nvPr/>
        </p:nvSpPr>
        <p:spPr>
          <a:xfrm>
            <a:off x="8072010" y="5601737"/>
            <a:ext cx="4924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3 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723DE0-4791-3361-89F0-78F8E84800FD}"/>
              </a:ext>
            </a:extLst>
          </p:cNvPr>
          <p:cNvSpPr txBox="1"/>
          <p:nvPr/>
        </p:nvSpPr>
        <p:spPr>
          <a:xfrm>
            <a:off x="8674640" y="5601737"/>
            <a:ext cx="620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3 s </a:t>
            </a:r>
          </a:p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jitter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3B9B45-5711-97E7-7B90-45543FA7075F}"/>
              </a:ext>
            </a:extLst>
          </p:cNvPr>
          <p:cNvSpPr txBox="1"/>
          <p:nvPr/>
        </p:nvSpPr>
        <p:spPr>
          <a:xfrm>
            <a:off x="9405510" y="5601737"/>
            <a:ext cx="4924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4 s</a:t>
            </a:r>
          </a:p>
        </p:txBody>
      </p:sp>
    </p:spTree>
    <p:extLst>
      <p:ext uri="{BB962C8B-B14F-4D97-AF65-F5344CB8AC3E}">
        <p14:creationId xmlns:p14="http://schemas.microsoft.com/office/powerpoint/2010/main" val="930529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3-session fMRI study (</a:t>
            </a:r>
            <a:r>
              <a:rPr lang="en-US" altLang="zh-CN" dirty="0" err="1"/>
              <a:t>SchemRep</a:t>
            </a:r>
            <a:r>
              <a:rPr lang="en-US" dirty="0"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090737"/>
            <a:ext cx="4985773" cy="4767263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altLang="zh-CN" b="1" dirty="0"/>
              <a:t>Baseline</a:t>
            </a:r>
            <a:r>
              <a:rPr lang="en-US" altLang="zh-CN" dirty="0"/>
              <a:t>: rated image-label typicality for objects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Encoding</a:t>
            </a:r>
            <a:r>
              <a:rPr lang="en-US" dirty="0"/>
              <a:t>: 3 pre-defined conditions for scene-object schema congruency, subjective ratings 1-4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Retrieval</a:t>
            </a:r>
            <a:r>
              <a:rPr lang="en-US" dirty="0"/>
              <a:t>: conceptual old/new followed by visual old/similar/new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2383D4-A18D-BBFA-1BDA-099C2F8C8C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C0481F-DE52-414A-8886-8B7F01508184}" type="slidenum">
              <a:rPr lang="en-US" smtClean="0"/>
              <a:t>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A59CECC-3013-1697-DB76-D42854B95E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0108" y="2371725"/>
            <a:ext cx="6371892" cy="3614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814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B3288F-3618-88F3-339F-3554A9A6BD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449" y="497367"/>
            <a:ext cx="5054600" cy="1325563"/>
          </a:xfrm>
        </p:spPr>
        <p:txBody>
          <a:bodyPr/>
          <a:lstStyle/>
          <a:p>
            <a:r>
              <a:rPr lang="en-US" dirty="0" err="1"/>
              <a:t>Brainnetome</a:t>
            </a:r>
            <a:r>
              <a:rPr lang="en-US" dirty="0"/>
              <a:t> atlas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E8E55C-1B9D-9B47-EDE2-4C945C7A47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7549" y="2035702"/>
            <a:ext cx="4216400" cy="2416811"/>
          </a:xfrm>
        </p:spPr>
        <p:txBody>
          <a:bodyPr>
            <a:normAutofit/>
          </a:bodyPr>
          <a:lstStyle/>
          <a:p>
            <a:r>
              <a:rPr lang="en-US" dirty="0"/>
              <a:t>Used by </a:t>
            </a:r>
            <a:r>
              <a:rPr lang="en-US" dirty="0" err="1"/>
              <a:t>Lifu</a:t>
            </a:r>
            <a:r>
              <a:rPr lang="en-US" dirty="0"/>
              <a:t> and Shenyang</a:t>
            </a:r>
          </a:p>
          <a:p>
            <a:r>
              <a:rPr lang="en-US" dirty="0"/>
              <a:t>246 ROIs</a:t>
            </a:r>
          </a:p>
          <a:p>
            <a:pPr lvl="1"/>
            <a:r>
              <a:rPr lang="en-US" dirty="0"/>
              <a:t>Cortical and subcortical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F531BC8-BAB9-F6A9-85AB-86C38A9B4B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654320"/>
            <a:ext cx="5892798" cy="5942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6869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FEB2B-4B13-E382-7A99-CCD991A16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482250"/>
            <a:ext cx="10515600" cy="939800"/>
          </a:xfrm>
        </p:spPr>
        <p:txBody>
          <a:bodyPr/>
          <a:lstStyle/>
          <a:p>
            <a:r>
              <a:rPr lang="en-US" dirty="0"/>
              <a:t>Analysis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2CEFE-C7F3-5D61-EDFD-7FC4A2DF7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0100" y="1743449"/>
            <a:ext cx="7536754" cy="3168825"/>
          </a:xfrm>
        </p:spPr>
        <p:txBody>
          <a:bodyPr>
            <a:normAutofit/>
          </a:bodyPr>
          <a:lstStyle/>
          <a:p>
            <a:r>
              <a:rPr lang="en-US" dirty="0"/>
              <a:t>Perform RSA</a:t>
            </a:r>
          </a:p>
          <a:p>
            <a:pPr lvl="1"/>
            <a:r>
              <a:rPr lang="en-US" dirty="0"/>
              <a:t>fMRI RDM based on:</a:t>
            </a:r>
          </a:p>
          <a:p>
            <a:pPr lvl="2"/>
            <a:r>
              <a:rPr lang="en-US" dirty="0"/>
              <a:t>Scene-presentation screen single-trial betas</a:t>
            </a:r>
          </a:p>
          <a:p>
            <a:pPr lvl="2"/>
            <a:r>
              <a:rPr lang="en-US" dirty="0"/>
              <a:t>Object-presentation screen single-trial betas</a:t>
            </a:r>
          </a:p>
          <a:p>
            <a:pPr lvl="1"/>
            <a:r>
              <a:rPr lang="en-US" dirty="0"/>
              <a:t>Stimulus RDM based on:</a:t>
            </a:r>
          </a:p>
          <a:p>
            <a:pPr lvl="2"/>
            <a:r>
              <a:rPr lang="en-US" dirty="0"/>
              <a:t>Object stimulus vector</a:t>
            </a:r>
          </a:p>
          <a:p>
            <a:pPr lvl="2"/>
            <a:r>
              <a:rPr lang="en-US" dirty="0"/>
              <a:t>Scene stimulus vector</a:t>
            </a:r>
          </a:p>
          <a:p>
            <a:pPr lvl="2"/>
            <a:r>
              <a:rPr lang="en-US" dirty="0"/>
              <a:t>Object-scene difference stimulus vector</a:t>
            </a:r>
          </a:p>
        </p:txBody>
      </p:sp>
    </p:spTree>
    <p:extLst>
      <p:ext uri="{BB962C8B-B14F-4D97-AF65-F5344CB8AC3E}">
        <p14:creationId xmlns:p14="http://schemas.microsoft.com/office/powerpoint/2010/main" val="1596473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9" name="Rectangle 1028">
            <a:extLst>
              <a:ext uri="{FF2B5EF4-FFF2-40B4-BE49-F238E27FC236}">
                <a16:creationId xmlns:a16="http://schemas.microsoft.com/office/drawing/2014/main" id="{71DA3CBB-0E70-024A-EBC2-5261289C45C8}"/>
              </a:ext>
            </a:extLst>
          </p:cNvPr>
          <p:cNvSpPr/>
          <p:nvPr/>
        </p:nvSpPr>
        <p:spPr>
          <a:xfrm>
            <a:off x="499026" y="1280761"/>
            <a:ext cx="5237310" cy="300037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F9D74C-FB51-E387-833E-0D917F8C79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364"/>
            <a:ext cx="10515600" cy="673309"/>
          </a:xfrm>
        </p:spPr>
        <p:txBody>
          <a:bodyPr>
            <a:normAutofit fontScale="90000"/>
          </a:bodyPr>
          <a:lstStyle/>
          <a:p>
            <a:r>
              <a:rPr lang="en-US" dirty="0"/>
              <a:t>Stimulus representations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EA1933-6C2A-C270-C1C2-01C180E279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01787" y="969487"/>
            <a:ext cx="5489285" cy="5472839"/>
          </a:xfrm>
        </p:spPr>
        <p:txBody>
          <a:bodyPr>
            <a:normAutofit/>
          </a:bodyPr>
          <a:lstStyle/>
          <a:p>
            <a:r>
              <a:rPr lang="en-US" dirty="0"/>
              <a:t>Presentation of the scheme serves to inform the </a:t>
            </a:r>
            <a:r>
              <a:rPr lang="en-US" i="1" dirty="0"/>
              <a:t>prediction</a:t>
            </a:r>
          </a:p>
          <a:p>
            <a:pPr lvl="1"/>
            <a:r>
              <a:rPr lang="en-US" dirty="0"/>
              <a:t>RSA: scene vector x scene presentation fMRI</a:t>
            </a:r>
          </a:p>
          <a:p>
            <a:r>
              <a:rPr lang="en-US" dirty="0"/>
              <a:t>Presentation of the object may elicit a </a:t>
            </a:r>
            <a:r>
              <a:rPr lang="en-US" i="1" dirty="0"/>
              <a:t>prediction error</a:t>
            </a:r>
            <a:endParaRPr lang="en-US" dirty="0"/>
          </a:p>
          <a:p>
            <a:pPr lvl="1"/>
            <a:r>
              <a:rPr lang="en-US" dirty="0"/>
              <a:t>RSA with the absolute-difference vector x object presentation fMRI</a:t>
            </a:r>
          </a:p>
          <a:p>
            <a:pPr lvl="1"/>
            <a:r>
              <a:rPr lang="en-US" dirty="0"/>
              <a:t>Confound risk:</a:t>
            </a:r>
          </a:p>
          <a:p>
            <a:pPr lvl="2"/>
            <a:r>
              <a:rPr lang="en-US" dirty="0"/>
              <a:t>Driven by solely the object</a:t>
            </a:r>
          </a:p>
          <a:p>
            <a:pPr lvl="2"/>
            <a:r>
              <a:rPr lang="en-US" dirty="0"/>
              <a:t>Driven by solely the scene</a:t>
            </a:r>
          </a:p>
          <a:p>
            <a:pPr lvl="1"/>
            <a:r>
              <a:rPr lang="en-US" dirty="0"/>
              <a:t>Hence:</a:t>
            </a:r>
          </a:p>
          <a:p>
            <a:pPr lvl="2"/>
            <a:r>
              <a:rPr lang="en-US" dirty="0"/>
              <a:t>Regress out object RSA z-score and scene RSA z-score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049168C-F2CD-A5A6-41BF-C317088DB08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6687" t="54667" r="53475" b="14256"/>
          <a:stretch/>
        </p:blipFill>
        <p:spPr>
          <a:xfrm>
            <a:off x="768702" y="1444863"/>
            <a:ext cx="1176338" cy="119162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DFCB511-91FB-CF26-1142-F039262BBEB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0552" t="54668" r="29609" b="14254"/>
          <a:stretch/>
        </p:blipFill>
        <p:spPr>
          <a:xfrm>
            <a:off x="2520748" y="1444863"/>
            <a:ext cx="1176338" cy="119162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F7C2078-DCA7-B9B3-C174-D7A5D94AA104}"/>
              </a:ext>
            </a:extLst>
          </p:cNvPr>
          <p:cNvSpPr/>
          <p:nvPr/>
        </p:nvSpPr>
        <p:spPr>
          <a:xfrm>
            <a:off x="1274865" y="2747159"/>
            <a:ext cx="189411" cy="18941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31EFDD6-0BFF-9672-8882-CBBD22ED4191}"/>
              </a:ext>
            </a:extLst>
          </p:cNvPr>
          <p:cNvSpPr/>
          <p:nvPr/>
        </p:nvSpPr>
        <p:spPr>
          <a:xfrm>
            <a:off x="1274865" y="2952826"/>
            <a:ext cx="189411" cy="189411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11870F9-A353-2443-E7B7-5BA5B0C76095}"/>
              </a:ext>
            </a:extLst>
          </p:cNvPr>
          <p:cNvSpPr/>
          <p:nvPr/>
        </p:nvSpPr>
        <p:spPr>
          <a:xfrm>
            <a:off x="1274976" y="3158493"/>
            <a:ext cx="189411" cy="18941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5A0FF4F-E367-2D21-4C5D-8F0913820890}"/>
              </a:ext>
            </a:extLst>
          </p:cNvPr>
          <p:cNvSpPr/>
          <p:nvPr/>
        </p:nvSpPr>
        <p:spPr>
          <a:xfrm>
            <a:off x="1273776" y="3364160"/>
            <a:ext cx="189411" cy="18941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3112E56-16E2-217E-858B-BB5B67C9A253}"/>
              </a:ext>
            </a:extLst>
          </p:cNvPr>
          <p:cNvSpPr/>
          <p:nvPr/>
        </p:nvSpPr>
        <p:spPr>
          <a:xfrm>
            <a:off x="1274137" y="3569827"/>
            <a:ext cx="189411" cy="18941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4F959E1-73DA-C99B-710E-D0109BD36B4F}"/>
              </a:ext>
            </a:extLst>
          </p:cNvPr>
          <p:cNvSpPr/>
          <p:nvPr/>
        </p:nvSpPr>
        <p:spPr>
          <a:xfrm>
            <a:off x="1275715" y="3775494"/>
            <a:ext cx="189411" cy="189411"/>
          </a:xfrm>
          <a:prstGeom prst="rect">
            <a:avLst/>
          </a:prstGeom>
          <a:solidFill>
            <a:srgbClr val="A6A6A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6FF82F9-B65A-84C0-6163-5AD1F8432D52}"/>
              </a:ext>
            </a:extLst>
          </p:cNvPr>
          <p:cNvSpPr/>
          <p:nvPr/>
        </p:nvSpPr>
        <p:spPr>
          <a:xfrm>
            <a:off x="3027465" y="2747159"/>
            <a:ext cx="189411" cy="18941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AEC8558-E951-512C-DF4A-B3680DE79094}"/>
              </a:ext>
            </a:extLst>
          </p:cNvPr>
          <p:cNvSpPr/>
          <p:nvPr/>
        </p:nvSpPr>
        <p:spPr>
          <a:xfrm>
            <a:off x="3027465" y="2952826"/>
            <a:ext cx="189411" cy="18941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4CA5F9D-2D7C-7A55-06B5-FBFD1C921390}"/>
              </a:ext>
            </a:extLst>
          </p:cNvPr>
          <p:cNvSpPr/>
          <p:nvPr/>
        </p:nvSpPr>
        <p:spPr>
          <a:xfrm>
            <a:off x="3027576" y="3158493"/>
            <a:ext cx="189411" cy="189411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ACFB69B-D5CC-0859-38FE-A068FB9EE06A}"/>
              </a:ext>
            </a:extLst>
          </p:cNvPr>
          <p:cNvSpPr/>
          <p:nvPr/>
        </p:nvSpPr>
        <p:spPr>
          <a:xfrm>
            <a:off x="3026376" y="3364160"/>
            <a:ext cx="189411" cy="189411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D46FE7A-2A9D-BE6D-1F65-1710912C1E19}"/>
              </a:ext>
            </a:extLst>
          </p:cNvPr>
          <p:cNvSpPr/>
          <p:nvPr/>
        </p:nvSpPr>
        <p:spPr>
          <a:xfrm>
            <a:off x="3026737" y="3569827"/>
            <a:ext cx="189411" cy="18941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CA86753-EA15-6762-D8F3-E8336F7B7C89}"/>
              </a:ext>
            </a:extLst>
          </p:cNvPr>
          <p:cNvSpPr/>
          <p:nvPr/>
        </p:nvSpPr>
        <p:spPr>
          <a:xfrm>
            <a:off x="3028315" y="3775494"/>
            <a:ext cx="189411" cy="18941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88F4B69-202F-9AB7-26AE-DD6AC7A2445B}"/>
              </a:ext>
            </a:extLst>
          </p:cNvPr>
          <p:cNvSpPr/>
          <p:nvPr/>
        </p:nvSpPr>
        <p:spPr>
          <a:xfrm>
            <a:off x="4761015" y="2747159"/>
            <a:ext cx="189411" cy="189411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9E8ABE5-D1D6-BF19-2959-345CA92737ED}"/>
              </a:ext>
            </a:extLst>
          </p:cNvPr>
          <p:cNvSpPr/>
          <p:nvPr/>
        </p:nvSpPr>
        <p:spPr>
          <a:xfrm>
            <a:off x="4761015" y="2952826"/>
            <a:ext cx="189411" cy="18941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1FA26B4-90B3-F263-8479-1EF0FD39EE3E}"/>
              </a:ext>
            </a:extLst>
          </p:cNvPr>
          <p:cNvSpPr/>
          <p:nvPr/>
        </p:nvSpPr>
        <p:spPr>
          <a:xfrm>
            <a:off x="4761126" y="3158493"/>
            <a:ext cx="189411" cy="18941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BF775ED-AADF-76DB-09B8-0013050F777F}"/>
              </a:ext>
            </a:extLst>
          </p:cNvPr>
          <p:cNvSpPr/>
          <p:nvPr/>
        </p:nvSpPr>
        <p:spPr>
          <a:xfrm>
            <a:off x="4759926" y="3364160"/>
            <a:ext cx="189411" cy="18941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9064FDE-6490-0529-F195-4BF9BC45D56F}"/>
              </a:ext>
            </a:extLst>
          </p:cNvPr>
          <p:cNvSpPr/>
          <p:nvPr/>
        </p:nvSpPr>
        <p:spPr>
          <a:xfrm>
            <a:off x="4760287" y="3569827"/>
            <a:ext cx="189411" cy="18941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A042064-4BAA-CCBC-219A-EEC672B2DF58}"/>
              </a:ext>
            </a:extLst>
          </p:cNvPr>
          <p:cNvSpPr/>
          <p:nvPr/>
        </p:nvSpPr>
        <p:spPr>
          <a:xfrm>
            <a:off x="4761865" y="3775494"/>
            <a:ext cx="189411" cy="189411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9D073D8-EA5C-C531-8DB7-B472EB104AC9}"/>
              </a:ext>
            </a:extLst>
          </p:cNvPr>
          <p:cNvSpPr txBox="1"/>
          <p:nvPr/>
        </p:nvSpPr>
        <p:spPr>
          <a:xfrm>
            <a:off x="2068995" y="3018201"/>
            <a:ext cx="3385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EBEE57B-A293-F3C6-750A-33A542D46620}"/>
              </a:ext>
            </a:extLst>
          </p:cNvPr>
          <p:cNvSpPr txBox="1"/>
          <p:nvPr/>
        </p:nvSpPr>
        <p:spPr>
          <a:xfrm>
            <a:off x="3767538" y="3059576"/>
            <a:ext cx="4539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0596581-EA83-24AF-0A07-D37D3129F7C8}"/>
              </a:ext>
            </a:extLst>
          </p:cNvPr>
          <p:cNvSpPr txBox="1"/>
          <p:nvPr/>
        </p:nvSpPr>
        <p:spPr>
          <a:xfrm>
            <a:off x="3523250" y="3628340"/>
            <a:ext cx="96686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absolute</a:t>
            </a:r>
          </a:p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difference</a:t>
            </a:r>
          </a:p>
        </p:txBody>
      </p:sp>
      <p:pic>
        <p:nvPicPr>
          <p:cNvPr id="1026" name="Picture 2" descr="Squiggly line doodle | Line doodles, Elements of art, Pattern drawing">
            <a:extLst>
              <a:ext uri="{FF2B5EF4-FFF2-40B4-BE49-F238E27FC236}">
                <a16:creationId xmlns:a16="http://schemas.microsoft.com/office/drawing/2014/main" id="{C057F522-E979-18AA-9CBC-2BD88DB51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4470455" y="1489529"/>
            <a:ext cx="768350" cy="1077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0" name="TextBox 1029">
            <a:extLst>
              <a:ext uri="{FF2B5EF4-FFF2-40B4-BE49-F238E27FC236}">
                <a16:creationId xmlns:a16="http://schemas.microsoft.com/office/drawing/2014/main" id="{4D0E3313-A857-EBF1-D8EC-E02A6EDF0F08}"/>
              </a:ext>
            </a:extLst>
          </p:cNvPr>
          <p:cNvSpPr txBox="1"/>
          <p:nvPr/>
        </p:nvSpPr>
        <p:spPr>
          <a:xfrm>
            <a:off x="499026" y="889564"/>
            <a:ext cx="52223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Single trial</a:t>
            </a:r>
          </a:p>
        </p:txBody>
      </p:sp>
      <p:sp>
        <p:nvSpPr>
          <p:cNvPr id="1031" name="Rectangle 1030">
            <a:extLst>
              <a:ext uri="{FF2B5EF4-FFF2-40B4-BE49-F238E27FC236}">
                <a16:creationId xmlns:a16="http://schemas.microsoft.com/office/drawing/2014/main" id="{961F192B-343B-C4DC-5678-4ACC02F53778}"/>
              </a:ext>
            </a:extLst>
          </p:cNvPr>
          <p:cNvSpPr/>
          <p:nvPr/>
        </p:nvSpPr>
        <p:spPr>
          <a:xfrm>
            <a:off x="875686" y="5324391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2" name="Rectangle 1031">
            <a:extLst>
              <a:ext uri="{FF2B5EF4-FFF2-40B4-BE49-F238E27FC236}">
                <a16:creationId xmlns:a16="http://schemas.microsoft.com/office/drawing/2014/main" id="{C8888FC6-35E9-75ED-8200-50A4897D7407}"/>
              </a:ext>
            </a:extLst>
          </p:cNvPr>
          <p:cNvSpPr/>
          <p:nvPr/>
        </p:nvSpPr>
        <p:spPr>
          <a:xfrm>
            <a:off x="882036" y="5530058"/>
            <a:ext cx="189411" cy="189411"/>
          </a:xfrm>
          <a:prstGeom prst="rect">
            <a:avLst/>
          </a:prstGeom>
          <a:solidFill>
            <a:srgbClr val="00B0F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3" name="Rectangle 1032">
            <a:extLst>
              <a:ext uri="{FF2B5EF4-FFF2-40B4-BE49-F238E27FC236}">
                <a16:creationId xmlns:a16="http://schemas.microsoft.com/office/drawing/2014/main" id="{59159CA4-ED9B-CE03-0560-FE6BC93E538D}"/>
              </a:ext>
            </a:extLst>
          </p:cNvPr>
          <p:cNvSpPr/>
          <p:nvPr/>
        </p:nvSpPr>
        <p:spPr>
          <a:xfrm>
            <a:off x="882147" y="5735725"/>
            <a:ext cx="189411" cy="189411"/>
          </a:xfrm>
          <a:prstGeom prst="rect">
            <a:avLst/>
          </a:prstGeom>
          <a:solidFill>
            <a:srgbClr val="33CC3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4" name="Rectangle 1033">
            <a:extLst>
              <a:ext uri="{FF2B5EF4-FFF2-40B4-BE49-F238E27FC236}">
                <a16:creationId xmlns:a16="http://schemas.microsoft.com/office/drawing/2014/main" id="{D8EB8E62-49A1-43D5-6180-DC8238187EF2}"/>
              </a:ext>
            </a:extLst>
          </p:cNvPr>
          <p:cNvSpPr/>
          <p:nvPr/>
        </p:nvSpPr>
        <p:spPr>
          <a:xfrm>
            <a:off x="880947" y="5941392"/>
            <a:ext cx="189411" cy="189411"/>
          </a:xfrm>
          <a:prstGeom prst="rect">
            <a:avLst/>
          </a:prstGeom>
          <a:solidFill>
            <a:srgbClr val="00FFC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321B294A-21D1-E7C6-88BC-275DCDABBB23}"/>
              </a:ext>
            </a:extLst>
          </p:cNvPr>
          <p:cNvSpPr/>
          <p:nvPr/>
        </p:nvSpPr>
        <p:spPr>
          <a:xfrm>
            <a:off x="881308" y="6147059"/>
            <a:ext cx="189411" cy="189411"/>
          </a:xfrm>
          <a:prstGeom prst="rect">
            <a:avLst/>
          </a:prstGeom>
          <a:solidFill>
            <a:srgbClr val="452A4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E7BC6558-DFCB-3345-0095-40E6AC05C306}"/>
              </a:ext>
            </a:extLst>
          </p:cNvPr>
          <p:cNvSpPr/>
          <p:nvPr/>
        </p:nvSpPr>
        <p:spPr>
          <a:xfrm>
            <a:off x="1088624" y="5327019"/>
            <a:ext cx="189411" cy="189411"/>
          </a:xfrm>
          <a:prstGeom prst="rect">
            <a:avLst/>
          </a:prstGeom>
          <a:solidFill>
            <a:srgbClr val="00B0F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8" name="Rectangle 1037">
            <a:extLst>
              <a:ext uri="{FF2B5EF4-FFF2-40B4-BE49-F238E27FC236}">
                <a16:creationId xmlns:a16="http://schemas.microsoft.com/office/drawing/2014/main" id="{D061B90B-3B11-0C61-3ECA-29F9F821EF95}"/>
              </a:ext>
            </a:extLst>
          </p:cNvPr>
          <p:cNvSpPr/>
          <p:nvPr/>
        </p:nvSpPr>
        <p:spPr>
          <a:xfrm>
            <a:off x="1085449" y="5532686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9" name="Rectangle 1038">
            <a:extLst>
              <a:ext uri="{FF2B5EF4-FFF2-40B4-BE49-F238E27FC236}">
                <a16:creationId xmlns:a16="http://schemas.microsoft.com/office/drawing/2014/main" id="{BF33B847-6F53-C54D-D496-3F65BC916CCF}"/>
              </a:ext>
            </a:extLst>
          </p:cNvPr>
          <p:cNvSpPr/>
          <p:nvPr/>
        </p:nvSpPr>
        <p:spPr>
          <a:xfrm>
            <a:off x="1088735" y="5738353"/>
            <a:ext cx="189411" cy="189411"/>
          </a:xfrm>
          <a:prstGeom prst="rect">
            <a:avLst/>
          </a:prstGeom>
          <a:solidFill>
            <a:srgbClr val="D2E93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0" name="Rectangle 1039">
            <a:extLst>
              <a:ext uri="{FF2B5EF4-FFF2-40B4-BE49-F238E27FC236}">
                <a16:creationId xmlns:a16="http://schemas.microsoft.com/office/drawing/2014/main" id="{41D1C2DE-7816-F7CD-F41C-248F444BEACD}"/>
              </a:ext>
            </a:extLst>
          </p:cNvPr>
          <p:cNvSpPr/>
          <p:nvPr/>
        </p:nvSpPr>
        <p:spPr>
          <a:xfrm>
            <a:off x="1087535" y="5944020"/>
            <a:ext cx="189411" cy="189411"/>
          </a:xfrm>
          <a:prstGeom prst="re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1" name="Rectangle 1040">
            <a:extLst>
              <a:ext uri="{FF2B5EF4-FFF2-40B4-BE49-F238E27FC236}">
                <a16:creationId xmlns:a16="http://schemas.microsoft.com/office/drawing/2014/main" id="{36B12E92-0F78-A864-2E89-6DAA636B61D0}"/>
              </a:ext>
            </a:extLst>
          </p:cNvPr>
          <p:cNvSpPr/>
          <p:nvPr/>
        </p:nvSpPr>
        <p:spPr>
          <a:xfrm>
            <a:off x="1087896" y="6149687"/>
            <a:ext cx="189411" cy="189411"/>
          </a:xfrm>
          <a:prstGeom prst="rect">
            <a:avLst/>
          </a:prstGeom>
          <a:solidFill>
            <a:srgbClr val="FDA63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3" name="Rectangle 1042">
            <a:extLst>
              <a:ext uri="{FF2B5EF4-FFF2-40B4-BE49-F238E27FC236}">
                <a16:creationId xmlns:a16="http://schemas.microsoft.com/office/drawing/2014/main" id="{07B6C71C-2374-C1EB-A801-EA0A8E23ABD2}"/>
              </a:ext>
            </a:extLst>
          </p:cNvPr>
          <p:cNvSpPr/>
          <p:nvPr/>
        </p:nvSpPr>
        <p:spPr>
          <a:xfrm>
            <a:off x="1296883" y="5330361"/>
            <a:ext cx="189411" cy="189411"/>
          </a:xfrm>
          <a:prstGeom prst="rect">
            <a:avLst/>
          </a:prstGeom>
          <a:solidFill>
            <a:srgbClr val="33CC3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4" name="Rectangle 1043">
            <a:extLst>
              <a:ext uri="{FF2B5EF4-FFF2-40B4-BE49-F238E27FC236}">
                <a16:creationId xmlns:a16="http://schemas.microsoft.com/office/drawing/2014/main" id="{B957C6C8-D85C-99E4-BE8B-BBAB253720DB}"/>
              </a:ext>
            </a:extLst>
          </p:cNvPr>
          <p:cNvSpPr/>
          <p:nvPr/>
        </p:nvSpPr>
        <p:spPr>
          <a:xfrm>
            <a:off x="1296883" y="5536028"/>
            <a:ext cx="189411" cy="189411"/>
          </a:xfrm>
          <a:prstGeom prst="rect">
            <a:avLst/>
          </a:prstGeom>
          <a:solidFill>
            <a:srgbClr val="D2E93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5" name="Rectangle 1044">
            <a:extLst>
              <a:ext uri="{FF2B5EF4-FFF2-40B4-BE49-F238E27FC236}">
                <a16:creationId xmlns:a16="http://schemas.microsoft.com/office/drawing/2014/main" id="{7DE68A5D-DCD6-1DDC-805D-F988530D7D9A}"/>
              </a:ext>
            </a:extLst>
          </p:cNvPr>
          <p:cNvSpPr/>
          <p:nvPr/>
        </p:nvSpPr>
        <p:spPr>
          <a:xfrm>
            <a:off x="1296994" y="5741695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6" name="Rectangle 1045">
            <a:extLst>
              <a:ext uri="{FF2B5EF4-FFF2-40B4-BE49-F238E27FC236}">
                <a16:creationId xmlns:a16="http://schemas.microsoft.com/office/drawing/2014/main" id="{0D4C95B2-3824-56D8-9747-096D936398FE}"/>
              </a:ext>
            </a:extLst>
          </p:cNvPr>
          <p:cNvSpPr/>
          <p:nvPr/>
        </p:nvSpPr>
        <p:spPr>
          <a:xfrm>
            <a:off x="1295794" y="5947362"/>
            <a:ext cx="189411" cy="189411"/>
          </a:xfrm>
          <a:prstGeom prst="rect">
            <a:avLst/>
          </a:prstGeom>
          <a:solidFill>
            <a:srgbClr val="00FFC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7" name="Rectangle 1046">
            <a:extLst>
              <a:ext uri="{FF2B5EF4-FFF2-40B4-BE49-F238E27FC236}">
                <a16:creationId xmlns:a16="http://schemas.microsoft.com/office/drawing/2014/main" id="{0637B578-9D37-BF2F-81B9-BEE325B8088C}"/>
              </a:ext>
            </a:extLst>
          </p:cNvPr>
          <p:cNvSpPr/>
          <p:nvPr/>
        </p:nvSpPr>
        <p:spPr>
          <a:xfrm>
            <a:off x="1296155" y="6153029"/>
            <a:ext cx="189411" cy="189411"/>
          </a:xfrm>
          <a:prstGeom prst="rect">
            <a:avLst/>
          </a:prstGeom>
          <a:solidFill>
            <a:srgbClr val="0070C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9" name="Rectangle 1048">
            <a:extLst>
              <a:ext uri="{FF2B5EF4-FFF2-40B4-BE49-F238E27FC236}">
                <a16:creationId xmlns:a16="http://schemas.microsoft.com/office/drawing/2014/main" id="{10D886AB-A7A5-8904-928F-49F0B58D09B8}"/>
              </a:ext>
            </a:extLst>
          </p:cNvPr>
          <p:cNvSpPr/>
          <p:nvPr/>
        </p:nvSpPr>
        <p:spPr>
          <a:xfrm>
            <a:off x="1503471" y="5329021"/>
            <a:ext cx="189411" cy="189411"/>
          </a:xfrm>
          <a:prstGeom prst="rect">
            <a:avLst/>
          </a:prstGeom>
          <a:solidFill>
            <a:srgbClr val="00FFC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0" name="Rectangle 1049">
            <a:extLst>
              <a:ext uri="{FF2B5EF4-FFF2-40B4-BE49-F238E27FC236}">
                <a16:creationId xmlns:a16="http://schemas.microsoft.com/office/drawing/2014/main" id="{774CA5B2-EB7A-161B-47DB-3C22D977C4E5}"/>
              </a:ext>
            </a:extLst>
          </p:cNvPr>
          <p:cNvSpPr/>
          <p:nvPr/>
        </p:nvSpPr>
        <p:spPr>
          <a:xfrm>
            <a:off x="1503471" y="5534688"/>
            <a:ext cx="189411" cy="189411"/>
          </a:xfrm>
          <a:prstGeom prst="re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1" name="Rectangle 1050">
            <a:extLst>
              <a:ext uri="{FF2B5EF4-FFF2-40B4-BE49-F238E27FC236}">
                <a16:creationId xmlns:a16="http://schemas.microsoft.com/office/drawing/2014/main" id="{8BC4F8D2-E7E1-58EB-4819-98E800A921B9}"/>
              </a:ext>
            </a:extLst>
          </p:cNvPr>
          <p:cNvSpPr/>
          <p:nvPr/>
        </p:nvSpPr>
        <p:spPr>
          <a:xfrm>
            <a:off x="1503582" y="5740355"/>
            <a:ext cx="189411" cy="189411"/>
          </a:xfrm>
          <a:prstGeom prst="rect">
            <a:avLst/>
          </a:prstGeom>
          <a:solidFill>
            <a:srgbClr val="00FFC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2" name="Rectangle 1051">
            <a:extLst>
              <a:ext uri="{FF2B5EF4-FFF2-40B4-BE49-F238E27FC236}">
                <a16:creationId xmlns:a16="http://schemas.microsoft.com/office/drawing/2014/main" id="{5832DC68-32B9-CC9F-4611-74137F5B732F}"/>
              </a:ext>
            </a:extLst>
          </p:cNvPr>
          <p:cNvSpPr/>
          <p:nvPr/>
        </p:nvSpPr>
        <p:spPr>
          <a:xfrm>
            <a:off x="1502382" y="5953166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3" name="Rectangle 1052">
            <a:extLst>
              <a:ext uri="{FF2B5EF4-FFF2-40B4-BE49-F238E27FC236}">
                <a16:creationId xmlns:a16="http://schemas.microsoft.com/office/drawing/2014/main" id="{090A4416-C4A9-9476-F782-87BC446C9F41}"/>
              </a:ext>
            </a:extLst>
          </p:cNvPr>
          <p:cNvSpPr/>
          <p:nvPr/>
        </p:nvSpPr>
        <p:spPr>
          <a:xfrm>
            <a:off x="1502743" y="6154070"/>
            <a:ext cx="189411" cy="189411"/>
          </a:xfrm>
          <a:prstGeom prst="rect">
            <a:avLst/>
          </a:prstGeom>
          <a:solidFill>
            <a:srgbClr val="00B0F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5" name="Rectangle 1054">
            <a:extLst>
              <a:ext uri="{FF2B5EF4-FFF2-40B4-BE49-F238E27FC236}">
                <a16:creationId xmlns:a16="http://schemas.microsoft.com/office/drawing/2014/main" id="{7867F2BF-232B-FEFF-E579-219384FBEFDB}"/>
              </a:ext>
            </a:extLst>
          </p:cNvPr>
          <p:cNvSpPr/>
          <p:nvPr/>
        </p:nvSpPr>
        <p:spPr>
          <a:xfrm>
            <a:off x="1706530" y="5330363"/>
            <a:ext cx="189411" cy="189411"/>
          </a:xfrm>
          <a:prstGeom prst="rect">
            <a:avLst/>
          </a:prstGeom>
          <a:solidFill>
            <a:srgbClr val="452A4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6" name="Rectangle 1055">
            <a:extLst>
              <a:ext uri="{FF2B5EF4-FFF2-40B4-BE49-F238E27FC236}">
                <a16:creationId xmlns:a16="http://schemas.microsoft.com/office/drawing/2014/main" id="{02938C82-8445-E4DB-0A5B-01D2CF2AA9F9}"/>
              </a:ext>
            </a:extLst>
          </p:cNvPr>
          <p:cNvSpPr/>
          <p:nvPr/>
        </p:nvSpPr>
        <p:spPr>
          <a:xfrm>
            <a:off x="1706530" y="5536030"/>
            <a:ext cx="189411" cy="189411"/>
          </a:xfrm>
          <a:prstGeom prst="rect">
            <a:avLst/>
          </a:prstGeom>
          <a:solidFill>
            <a:srgbClr val="FFC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7" name="Rectangle 1056">
            <a:extLst>
              <a:ext uri="{FF2B5EF4-FFF2-40B4-BE49-F238E27FC236}">
                <a16:creationId xmlns:a16="http://schemas.microsoft.com/office/drawing/2014/main" id="{307AE4D0-FEC8-840D-C404-658644533B29}"/>
              </a:ext>
            </a:extLst>
          </p:cNvPr>
          <p:cNvSpPr/>
          <p:nvPr/>
        </p:nvSpPr>
        <p:spPr>
          <a:xfrm>
            <a:off x="1706641" y="5741697"/>
            <a:ext cx="189411" cy="189411"/>
          </a:xfrm>
          <a:prstGeom prst="rect">
            <a:avLst/>
          </a:prstGeom>
          <a:solidFill>
            <a:srgbClr val="0070C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8" name="Rectangle 1057">
            <a:extLst>
              <a:ext uri="{FF2B5EF4-FFF2-40B4-BE49-F238E27FC236}">
                <a16:creationId xmlns:a16="http://schemas.microsoft.com/office/drawing/2014/main" id="{2DFEDA45-B166-9CE8-A686-676938900F01}"/>
              </a:ext>
            </a:extLst>
          </p:cNvPr>
          <p:cNvSpPr/>
          <p:nvPr/>
        </p:nvSpPr>
        <p:spPr>
          <a:xfrm>
            <a:off x="1705441" y="5947364"/>
            <a:ext cx="189411" cy="189411"/>
          </a:xfrm>
          <a:prstGeom prst="rect">
            <a:avLst/>
          </a:prstGeom>
          <a:solidFill>
            <a:srgbClr val="00B0F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9" name="Rectangle 1058">
            <a:extLst>
              <a:ext uri="{FF2B5EF4-FFF2-40B4-BE49-F238E27FC236}">
                <a16:creationId xmlns:a16="http://schemas.microsoft.com/office/drawing/2014/main" id="{1998D44C-CAD7-0292-860C-F410535A3047}"/>
              </a:ext>
            </a:extLst>
          </p:cNvPr>
          <p:cNvSpPr/>
          <p:nvPr/>
        </p:nvSpPr>
        <p:spPr>
          <a:xfrm>
            <a:off x="1708183" y="6157793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7" name="TextBox 1066">
            <a:extLst>
              <a:ext uri="{FF2B5EF4-FFF2-40B4-BE49-F238E27FC236}">
                <a16:creationId xmlns:a16="http://schemas.microsoft.com/office/drawing/2014/main" id="{ED6C1D37-A616-04A6-B51B-9CC389820A8D}"/>
              </a:ext>
            </a:extLst>
          </p:cNvPr>
          <p:cNvSpPr txBox="1"/>
          <p:nvPr/>
        </p:nvSpPr>
        <p:spPr>
          <a:xfrm>
            <a:off x="377894" y="5330741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1</a:t>
            </a:r>
          </a:p>
        </p:txBody>
      </p:sp>
      <p:sp>
        <p:nvSpPr>
          <p:cNvPr id="1068" name="TextBox 1067">
            <a:extLst>
              <a:ext uri="{FF2B5EF4-FFF2-40B4-BE49-F238E27FC236}">
                <a16:creationId xmlns:a16="http://schemas.microsoft.com/office/drawing/2014/main" id="{14E58F4F-027A-2851-DAE8-31E783920643}"/>
              </a:ext>
            </a:extLst>
          </p:cNvPr>
          <p:cNvSpPr txBox="1"/>
          <p:nvPr/>
        </p:nvSpPr>
        <p:spPr>
          <a:xfrm>
            <a:off x="377894" y="5536408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2</a:t>
            </a:r>
          </a:p>
        </p:txBody>
      </p:sp>
      <p:sp>
        <p:nvSpPr>
          <p:cNvPr id="1069" name="TextBox 1068">
            <a:extLst>
              <a:ext uri="{FF2B5EF4-FFF2-40B4-BE49-F238E27FC236}">
                <a16:creationId xmlns:a16="http://schemas.microsoft.com/office/drawing/2014/main" id="{3F54CD22-7939-CB7E-3C6D-78A7B99280CD}"/>
              </a:ext>
            </a:extLst>
          </p:cNvPr>
          <p:cNvSpPr txBox="1"/>
          <p:nvPr/>
        </p:nvSpPr>
        <p:spPr>
          <a:xfrm>
            <a:off x="377894" y="5742075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3</a:t>
            </a:r>
          </a:p>
        </p:txBody>
      </p:sp>
      <p:sp>
        <p:nvSpPr>
          <p:cNvPr id="1070" name="TextBox 1069">
            <a:extLst>
              <a:ext uri="{FF2B5EF4-FFF2-40B4-BE49-F238E27FC236}">
                <a16:creationId xmlns:a16="http://schemas.microsoft.com/office/drawing/2014/main" id="{D36B1B08-FE41-C1B4-F4C4-A030C4B8F65F}"/>
              </a:ext>
            </a:extLst>
          </p:cNvPr>
          <p:cNvSpPr txBox="1"/>
          <p:nvPr/>
        </p:nvSpPr>
        <p:spPr>
          <a:xfrm>
            <a:off x="377894" y="5947742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4</a:t>
            </a:r>
          </a:p>
        </p:txBody>
      </p:sp>
      <p:sp>
        <p:nvSpPr>
          <p:cNvPr id="1071" name="TextBox 1070">
            <a:extLst>
              <a:ext uri="{FF2B5EF4-FFF2-40B4-BE49-F238E27FC236}">
                <a16:creationId xmlns:a16="http://schemas.microsoft.com/office/drawing/2014/main" id="{B255B512-7AD5-739E-AE4B-E4581688137C}"/>
              </a:ext>
            </a:extLst>
          </p:cNvPr>
          <p:cNvSpPr txBox="1"/>
          <p:nvPr/>
        </p:nvSpPr>
        <p:spPr>
          <a:xfrm>
            <a:off x="377894" y="6153409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5</a:t>
            </a:r>
          </a:p>
        </p:txBody>
      </p:sp>
      <p:sp>
        <p:nvSpPr>
          <p:cNvPr id="1072" name="TextBox 1071">
            <a:extLst>
              <a:ext uri="{FF2B5EF4-FFF2-40B4-BE49-F238E27FC236}">
                <a16:creationId xmlns:a16="http://schemas.microsoft.com/office/drawing/2014/main" id="{55168102-463C-5602-3568-6096DF771FB0}"/>
              </a:ext>
            </a:extLst>
          </p:cNvPr>
          <p:cNvSpPr txBox="1"/>
          <p:nvPr/>
        </p:nvSpPr>
        <p:spPr>
          <a:xfrm>
            <a:off x="926822" y="5120977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1077" name="TextBox 1076">
            <a:extLst>
              <a:ext uri="{FF2B5EF4-FFF2-40B4-BE49-F238E27FC236}">
                <a16:creationId xmlns:a16="http://schemas.microsoft.com/office/drawing/2014/main" id="{31F0F18E-56E1-BA72-5CD2-DA8AB4EB13F5}"/>
              </a:ext>
            </a:extLst>
          </p:cNvPr>
          <p:cNvSpPr txBox="1"/>
          <p:nvPr/>
        </p:nvSpPr>
        <p:spPr>
          <a:xfrm>
            <a:off x="1135861" y="5120977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1078" name="TextBox 1077">
            <a:extLst>
              <a:ext uri="{FF2B5EF4-FFF2-40B4-BE49-F238E27FC236}">
                <a16:creationId xmlns:a16="http://schemas.microsoft.com/office/drawing/2014/main" id="{83778C76-A844-0571-C098-5A28B9915D08}"/>
              </a:ext>
            </a:extLst>
          </p:cNvPr>
          <p:cNvSpPr txBox="1"/>
          <p:nvPr/>
        </p:nvSpPr>
        <p:spPr>
          <a:xfrm>
            <a:off x="1344900" y="5120977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1079" name="TextBox 1078">
            <a:extLst>
              <a:ext uri="{FF2B5EF4-FFF2-40B4-BE49-F238E27FC236}">
                <a16:creationId xmlns:a16="http://schemas.microsoft.com/office/drawing/2014/main" id="{E16FDFFF-7934-E91C-FBD2-785AFD8D0D91}"/>
              </a:ext>
            </a:extLst>
          </p:cNvPr>
          <p:cNvSpPr txBox="1"/>
          <p:nvPr/>
        </p:nvSpPr>
        <p:spPr>
          <a:xfrm>
            <a:off x="1553939" y="5120977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1080" name="TextBox 1079">
            <a:extLst>
              <a:ext uri="{FF2B5EF4-FFF2-40B4-BE49-F238E27FC236}">
                <a16:creationId xmlns:a16="http://schemas.microsoft.com/office/drawing/2014/main" id="{AB839C31-A100-3728-8963-A4772A59C260}"/>
              </a:ext>
            </a:extLst>
          </p:cNvPr>
          <p:cNvSpPr txBox="1"/>
          <p:nvPr/>
        </p:nvSpPr>
        <p:spPr>
          <a:xfrm>
            <a:off x="1774115" y="5120977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</a:p>
        </p:txBody>
      </p:sp>
      <p:sp>
        <p:nvSpPr>
          <p:cNvPr id="1081" name="Rectangle 1080">
            <a:extLst>
              <a:ext uri="{FF2B5EF4-FFF2-40B4-BE49-F238E27FC236}">
                <a16:creationId xmlns:a16="http://schemas.microsoft.com/office/drawing/2014/main" id="{4F73087F-4E1C-D838-68BF-B031FB54B02C}"/>
              </a:ext>
            </a:extLst>
          </p:cNvPr>
          <p:cNvSpPr/>
          <p:nvPr/>
        </p:nvSpPr>
        <p:spPr>
          <a:xfrm>
            <a:off x="882036" y="5330360"/>
            <a:ext cx="1015746" cy="10061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3" name="Rectangle 1082">
            <a:extLst>
              <a:ext uri="{FF2B5EF4-FFF2-40B4-BE49-F238E27FC236}">
                <a16:creationId xmlns:a16="http://schemas.microsoft.com/office/drawing/2014/main" id="{3308AF80-0B4A-E913-D125-47EAE24BDABE}"/>
              </a:ext>
            </a:extLst>
          </p:cNvPr>
          <p:cNvSpPr/>
          <p:nvPr/>
        </p:nvSpPr>
        <p:spPr>
          <a:xfrm>
            <a:off x="2625006" y="5323636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4" name="Rectangle 1083">
            <a:extLst>
              <a:ext uri="{FF2B5EF4-FFF2-40B4-BE49-F238E27FC236}">
                <a16:creationId xmlns:a16="http://schemas.microsoft.com/office/drawing/2014/main" id="{549B0FC4-B332-DCAC-1C11-6BE1D1D92D89}"/>
              </a:ext>
            </a:extLst>
          </p:cNvPr>
          <p:cNvSpPr/>
          <p:nvPr/>
        </p:nvSpPr>
        <p:spPr>
          <a:xfrm>
            <a:off x="2631356" y="5529303"/>
            <a:ext cx="189411" cy="189411"/>
          </a:xfrm>
          <a:prstGeom prst="rect">
            <a:avLst/>
          </a:prstGeom>
          <a:solidFill>
            <a:srgbClr val="452A4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5" name="Rectangle 1084">
            <a:extLst>
              <a:ext uri="{FF2B5EF4-FFF2-40B4-BE49-F238E27FC236}">
                <a16:creationId xmlns:a16="http://schemas.microsoft.com/office/drawing/2014/main" id="{27D89914-F6E7-6490-D0BC-0FF236112D5F}"/>
              </a:ext>
            </a:extLst>
          </p:cNvPr>
          <p:cNvSpPr/>
          <p:nvPr/>
        </p:nvSpPr>
        <p:spPr>
          <a:xfrm>
            <a:off x="2631467" y="5734970"/>
            <a:ext cx="189411" cy="189411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6" name="Rectangle 1085">
            <a:extLst>
              <a:ext uri="{FF2B5EF4-FFF2-40B4-BE49-F238E27FC236}">
                <a16:creationId xmlns:a16="http://schemas.microsoft.com/office/drawing/2014/main" id="{B97F6709-CF41-96F9-3A33-783A7F42BE6A}"/>
              </a:ext>
            </a:extLst>
          </p:cNvPr>
          <p:cNvSpPr/>
          <p:nvPr/>
        </p:nvSpPr>
        <p:spPr>
          <a:xfrm>
            <a:off x="2630267" y="5940637"/>
            <a:ext cx="189411" cy="189411"/>
          </a:xfrm>
          <a:prstGeom prst="rect">
            <a:avLst/>
          </a:prstGeom>
          <a:solidFill>
            <a:srgbClr val="00FFC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7" name="Rectangle 1086">
            <a:extLst>
              <a:ext uri="{FF2B5EF4-FFF2-40B4-BE49-F238E27FC236}">
                <a16:creationId xmlns:a16="http://schemas.microsoft.com/office/drawing/2014/main" id="{BFF1AB2A-2828-D83C-4FB7-999C1E2FC2F6}"/>
              </a:ext>
            </a:extLst>
          </p:cNvPr>
          <p:cNvSpPr/>
          <p:nvPr/>
        </p:nvSpPr>
        <p:spPr>
          <a:xfrm>
            <a:off x="2630628" y="6146304"/>
            <a:ext cx="189411" cy="189411"/>
          </a:xfrm>
          <a:prstGeom prst="re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8" name="Rectangle 1087">
            <a:extLst>
              <a:ext uri="{FF2B5EF4-FFF2-40B4-BE49-F238E27FC236}">
                <a16:creationId xmlns:a16="http://schemas.microsoft.com/office/drawing/2014/main" id="{F35A1772-6935-32BD-1B25-32C470F788CF}"/>
              </a:ext>
            </a:extLst>
          </p:cNvPr>
          <p:cNvSpPr/>
          <p:nvPr/>
        </p:nvSpPr>
        <p:spPr>
          <a:xfrm>
            <a:off x="2837944" y="5326264"/>
            <a:ext cx="189411" cy="189411"/>
          </a:xfrm>
          <a:prstGeom prst="rect">
            <a:avLst/>
          </a:prstGeom>
          <a:solidFill>
            <a:srgbClr val="452A4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9" name="Rectangle 1088">
            <a:extLst>
              <a:ext uri="{FF2B5EF4-FFF2-40B4-BE49-F238E27FC236}">
                <a16:creationId xmlns:a16="http://schemas.microsoft.com/office/drawing/2014/main" id="{B13B2732-643E-45EC-0DDB-A1F8C99E09FE}"/>
              </a:ext>
            </a:extLst>
          </p:cNvPr>
          <p:cNvSpPr/>
          <p:nvPr/>
        </p:nvSpPr>
        <p:spPr>
          <a:xfrm>
            <a:off x="2834769" y="5531931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0" name="Rectangle 1089">
            <a:extLst>
              <a:ext uri="{FF2B5EF4-FFF2-40B4-BE49-F238E27FC236}">
                <a16:creationId xmlns:a16="http://schemas.microsoft.com/office/drawing/2014/main" id="{D38C898D-25AF-456B-0FE2-0F72636D4950}"/>
              </a:ext>
            </a:extLst>
          </p:cNvPr>
          <p:cNvSpPr/>
          <p:nvPr/>
        </p:nvSpPr>
        <p:spPr>
          <a:xfrm>
            <a:off x="2838055" y="5737598"/>
            <a:ext cx="189411" cy="189411"/>
          </a:xfrm>
          <a:prstGeom prst="rect">
            <a:avLst/>
          </a:prstGeom>
          <a:solidFill>
            <a:srgbClr val="D2E93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1" name="Rectangle 1090">
            <a:extLst>
              <a:ext uri="{FF2B5EF4-FFF2-40B4-BE49-F238E27FC236}">
                <a16:creationId xmlns:a16="http://schemas.microsoft.com/office/drawing/2014/main" id="{664AC44A-1B9B-EDFC-981D-F40253EB13A9}"/>
              </a:ext>
            </a:extLst>
          </p:cNvPr>
          <p:cNvSpPr/>
          <p:nvPr/>
        </p:nvSpPr>
        <p:spPr>
          <a:xfrm>
            <a:off x="2836855" y="5943265"/>
            <a:ext cx="189411" cy="189411"/>
          </a:xfrm>
          <a:prstGeom prst="rect">
            <a:avLst/>
          </a:prstGeom>
          <a:solidFill>
            <a:srgbClr val="FFFF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2" name="Rectangle 1091">
            <a:extLst>
              <a:ext uri="{FF2B5EF4-FFF2-40B4-BE49-F238E27FC236}">
                <a16:creationId xmlns:a16="http://schemas.microsoft.com/office/drawing/2014/main" id="{61B38C61-0431-A969-8BCD-E44468010E04}"/>
              </a:ext>
            </a:extLst>
          </p:cNvPr>
          <p:cNvSpPr/>
          <p:nvPr/>
        </p:nvSpPr>
        <p:spPr>
          <a:xfrm>
            <a:off x="2837216" y="6148932"/>
            <a:ext cx="189411" cy="189411"/>
          </a:xfrm>
          <a:prstGeom prst="rect">
            <a:avLst/>
          </a:prstGeom>
          <a:solidFill>
            <a:srgbClr val="FDA63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3" name="Rectangle 1092">
            <a:extLst>
              <a:ext uri="{FF2B5EF4-FFF2-40B4-BE49-F238E27FC236}">
                <a16:creationId xmlns:a16="http://schemas.microsoft.com/office/drawing/2014/main" id="{FD77E336-DDEB-CDD0-572E-6F56D37C78BD}"/>
              </a:ext>
            </a:extLst>
          </p:cNvPr>
          <p:cNvSpPr/>
          <p:nvPr/>
        </p:nvSpPr>
        <p:spPr>
          <a:xfrm>
            <a:off x="3046203" y="5329606"/>
            <a:ext cx="189411" cy="189411"/>
          </a:xfrm>
          <a:prstGeom prst="rect">
            <a:avLst/>
          </a:prstGeom>
          <a:solidFill>
            <a:srgbClr val="FFC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4" name="Rectangle 1093">
            <a:extLst>
              <a:ext uri="{FF2B5EF4-FFF2-40B4-BE49-F238E27FC236}">
                <a16:creationId xmlns:a16="http://schemas.microsoft.com/office/drawing/2014/main" id="{A06B5A45-A323-6269-2D84-F5690D3B00F9}"/>
              </a:ext>
            </a:extLst>
          </p:cNvPr>
          <p:cNvSpPr/>
          <p:nvPr/>
        </p:nvSpPr>
        <p:spPr>
          <a:xfrm>
            <a:off x="3046203" y="5535273"/>
            <a:ext cx="189411" cy="189411"/>
          </a:xfrm>
          <a:prstGeom prst="rect">
            <a:avLst/>
          </a:prstGeom>
          <a:solidFill>
            <a:srgbClr val="D2E93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5" name="Rectangle 1094">
            <a:extLst>
              <a:ext uri="{FF2B5EF4-FFF2-40B4-BE49-F238E27FC236}">
                <a16:creationId xmlns:a16="http://schemas.microsoft.com/office/drawing/2014/main" id="{8021AAEC-0F65-C6F0-4913-326F38054739}"/>
              </a:ext>
            </a:extLst>
          </p:cNvPr>
          <p:cNvSpPr/>
          <p:nvPr/>
        </p:nvSpPr>
        <p:spPr>
          <a:xfrm>
            <a:off x="3046314" y="5740940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6" name="Rectangle 1095">
            <a:extLst>
              <a:ext uri="{FF2B5EF4-FFF2-40B4-BE49-F238E27FC236}">
                <a16:creationId xmlns:a16="http://schemas.microsoft.com/office/drawing/2014/main" id="{00E8CADD-2238-34B6-9599-75A7AA780D19}"/>
              </a:ext>
            </a:extLst>
          </p:cNvPr>
          <p:cNvSpPr/>
          <p:nvPr/>
        </p:nvSpPr>
        <p:spPr>
          <a:xfrm>
            <a:off x="3045114" y="5946607"/>
            <a:ext cx="189411" cy="189411"/>
          </a:xfrm>
          <a:prstGeom prst="rect">
            <a:avLst/>
          </a:prstGeom>
          <a:solidFill>
            <a:srgbClr val="33CC3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7" name="Rectangle 1096">
            <a:extLst>
              <a:ext uri="{FF2B5EF4-FFF2-40B4-BE49-F238E27FC236}">
                <a16:creationId xmlns:a16="http://schemas.microsoft.com/office/drawing/2014/main" id="{AEF2CCFA-C6E6-24A9-BBBE-223C1E307D3E}"/>
              </a:ext>
            </a:extLst>
          </p:cNvPr>
          <p:cNvSpPr/>
          <p:nvPr/>
        </p:nvSpPr>
        <p:spPr>
          <a:xfrm>
            <a:off x="3045475" y="6152274"/>
            <a:ext cx="189411" cy="189411"/>
          </a:xfrm>
          <a:prstGeom prst="rect">
            <a:avLst/>
          </a:prstGeom>
          <a:solidFill>
            <a:srgbClr val="0070C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8" name="Rectangle 1097">
            <a:extLst>
              <a:ext uri="{FF2B5EF4-FFF2-40B4-BE49-F238E27FC236}">
                <a16:creationId xmlns:a16="http://schemas.microsoft.com/office/drawing/2014/main" id="{E60D794C-CCA1-D1EA-DA45-0D2033A6C21A}"/>
              </a:ext>
            </a:extLst>
          </p:cNvPr>
          <p:cNvSpPr/>
          <p:nvPr/>
        </p:nvSpPr>
        <p:spPr>
          <a:xfrm>
            <a:off x="3252791" y="5328266"/>
            <a:ext cx="189411" cy="189411"/>
          </a:xfrm>
          <a:prstGeom prst="rect">
            <a:avLst/>
          </a:prstGeom>
          <a:solidFill>
            <a:srgbClr val="00FFC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9" name="Rectangle 1098">
            <a:extLst>
              <a:ext uri="{FF2B5EF4-FFF2-40B4-BE49-F238E27FC236}">
                <a16:creationId xmlns:a16="http://schemas.microsoft.com/office/drawing/2014/main" id="{0D1C5E17-7FCB-33CC-55A5-755DAD84FEA9}"/>
              </a:ext>
            </a:extLst>
          </p:cNvPr>
          <p:cNvSpPr/>
          <p:nvPr/>
        </p:nvSpPr>
        <p:spPr>
          <a:xfrm>
            <a:off x="3252791" y="5533933"/>
            <a:ext cx="189411" cy="189411"/>
          </a:xfrm>
          <a:prstGeom prst="rect">
            <a:avLst/>
          </a:prstGeom>
          <a:solidFill>
            <a:srgbClr val="FFFF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0" name="Rectangle 1099">
            <a:extLst>
              <a:ext uri="{FF2B5EF4-FFF2-40B4-BE49-F238E27FC236}">
                <a16:creationId xmlns:a16="http://schemas.microsoft.com/office/drawing/2014/main" id="{EB8B2EC3-4CCF-8FFA-4F2E-56B168E4ECF7}"/>
              </a:ext>
            </a:extLst>
          </p:cNvPr>
          <p:cNvSpPr/>
          <p:nvPr/>
        </p:nvSpPr>
        <p:spPr>
          <a:xfrm>
            <a:off x="3252902" y="5739600"/>
            <a:ext cx="189411" cy="189411"/>
          </a:xfrm>
          <a:prstGeom prst="rect">
            <a:avLst/>
          </a:prstGeom>
          <a:solidFill>
            <a:srgbClr val="33CC3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1" name="Rectangle 1100">
            <a:extLst>
              <a:ext uri="{FF2B5EF4-FFF2-40B4-BE49-F238E27FC236}">
                <a16:creationId xmlns:a16="http://schemas.microsoft.com/office/drawing/2014/main" id="{09954724-BE8F-3E96-9A66-29C440E64E3B}"/>
              </a:ext>
            </a:extLst>
          </p:cNvPr>
          <p:cNvSpPr/>
          <p:nvPr/>
        </p:nvSpPr>
        <p:spPr>
          <a:xfrm>
            <a:off x="3251702" y="5952411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2" name="Rectangle 1101">
            <a:extLst>
              <a:ext uri="{FF2B5EF4-FFF2-40B4-BE49-F238E27FC236}">
                <a16:creationId xmlns:a16="http://schemas.microsoft.com/office/drawing/2014/main" id="{6EE58CAA-BBA3-40AD-0C5A-030953AD287F}"/>
              </a:ext>
            </a:extLst>
          </p:cNvPr>
          <p:cNvSpPr/>
          <p:nvPr/>
        </p:nvSpPr>
        <p:spPr>
          <a:xfrm>
            <a:off x="3252063" y="6153315"/>
            <a:ext cx="189411" cy="189411"/>
          </a:xfrm>
          <a:prstGeom prst="re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3" name="Rectangle 1102">
            <a:extLst>
              <a:ext uri="{FF2B5EF4-FFF2-40B4-BE49-F238E27FC236}">
                <a16:creationId xmlns:a16="http://schemas.microsoft.com/office/drawing/2014/main" id="{89009D07-CB1C-5FC7-4F79-D0187AB6706C}"/>
              </a:ext>
            </a:extLst>
          </p:cNvPr>
          <p:cNvSpPr/>
          <p:nvPr/>
        </p:nvSpPr>
        <p:spPr>
          <a:xfrm>
            <a:off x="3458780" y="5329608"/>
            <a:ext cx="189411" cy="189411"/>
          </a:xfrm>
          <a:prstGeom prst="re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4" name="Rectangle 1103">
            <a:extLst>
              <a:ext uri="{FF2B5EF4-FFF2-40B4-BE49-F238E27FC236}">
                <a16:creationId xmlns:a16="http://schemas.microsoft.com/office/drawing/2014/main" id="{05643561-A6D3-2E91-CF96-48CD6E5FFB93}"/>
              </a:ext>
            </a:extLst>
          </p:cNvPr>
          <p:cNvSpPr/>
          <p:nvPr/>
        </p:nvSpPr>
        <p:spPr>
          <a:xfrm>
            <a:off x="3458780" y="5535275"/>
            <a:ext cx="189411" cy="189411"/>
          </a:xfrm>
          <a:prstGeom prst="rect">
            <a:avLst/>
          </a:prstGeom>
          <a:solidFill>
            <a:srgbClr val="FFC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5" name="Rectangle 1104">
            <a:extLst>
              <a:ext uri="{FF2B5EF4-FFF2-40B4-BE49-F238E27FC236}">
                <a16:creationId xmlns:a16="http://schemas.microsoft.com/office/drawing/2014/main" id="{DF2E4C72-2ABC-EA4D-A0F3-5DA04385FA2D}"/>
              </a:ext>
            </a:extLst>
          </p:cNvPr>
          <p:cNvSpPr/>
          <p:nvPr/>
        </p:nvSpPr>
        <p:spPr>
          <a:xfrm>
            <a:off x="3458891" y="5740942"/>
            <a:ext cx="189411" cy="189411"/>
          </a:xfrm>
          <a:prstGeom prst="rect">
            <a:avLst/>
          </a:prstGeom>
          <a:solidFill>
            <a:srgbClr val="0070C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6" name="Rectangle 1105">
            <a:extLst>
              <a:ext uri="{FF2B5EF4-FFF2-40B4-BE49-F238E27FC236}">
                <a16:creationId xmlns:a16="http://schemas.microsoft.com/office/drawing/2014/main" id="{1DCDF257-708E-2BE2-6664-A6CD58D909B6}"/>
              </a:ext>
            </a:extLst>
          </p:cNvPr>
          <p:cNvSpPr/>
          <p:nvPr/>
        </p:nvSpPr>
        <p:spPr>
          <a:xfrm>
            <a:off x="3457691" y="5946609"/>
            <a:ext cx="189411" cy="189411"/>
          </a:xfrm>
          <a:prstGeom prst="re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7" name="Rectangle 1106">
            <a:extLst>
              <a:ext uri="{FF2B5EF4-FFF2-40B4-BE49-F238E27FC236}">
                <a16:creationId xmlns:a16="http://schemas.microsoft.com/office/drawing/2014/main" id="{F5DBE20A-542C-FA5C-34C9-1800B043CDA5}"/>
              </a:ext>
            </a:extLst>
          </p:cNvPr>
          <p:cNvSpPr/>
          <p:nvPr/>
        </p:nvSpPr>
        <p:spPr>
          <a:xfrm>
            <a:off x="3460433" y="6157038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8" name="TextBox 1107">
            <a:extLst>
              <a:ext uri="{FF2B5EF4-FFF2-40B4-BE49-F238E27FC236}">
                <a16:creationId xmlns:a16="http://schemas.microsoft.com/office/drawing/2014/main" id="{BF107B2B-1F6A-3EE7-8435-97645B3612AD}"/>
              </a:ext>
            </a:extLst>
          </p:cNvPr>
          <p:cNvSpPr txBox="1"/>
          <p:nvPr/>
        </p:nvSpPr>
        <p:spPr>
          <a:xfrm>
            <a:off x="2127214" y="5329986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1</a:t>
            </a:r>
          </a:p>
        </p:txBody>
      </p:sp>
      <p:sp>
        <p:nvSpPr>
          <p:cNvPr id="1109" name="TextBox 1108">
            <a:extLst>
              <a:ext uri="{FF2B5EF4-FFF2-40B4-BE49-F238E27FC236}">
                <a16:creationId xmlns:a16="http://schemas.microsoft.com/office/drawing/2014/main" id="{AAFBFD53-F569-B34D-C08C-3B900214CC19}"/>
              </a:ext>
            </a:extLst>
          </p:cNvPr>
          <p:cNvSpPr txBox="1"/>
          <p:nvPr/>
        </p:nvSpPr>
        <p:spPr>
          <a:xfrm>
            <a:off x="2127214" y="5535653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2</a:t>
            </a:r>
          </a:p>
        </p:txBody>
      </p:sp>
      <p:sp>
        <p:nvSpPr>
          <p:cNvPr id="1110" name="TextBox 1109">
            <a:extLst>
              <a:ext uri="{FF2B5EF4-FFF2-40B4-BE49-F238E27FC236}">
                <a16:creationId xmlns:a16="http://schemas.microsoft.com/office/drawing/2014/main" id="{61A2D6EE-9E1B-8B42-075E-CD06EEF67FFB}"/>
              </a:ext>
            </a:extLst>
          </p:cNvPr>
          <p:cNvSpPr txBox="1"/>
          <p:nvPr/>
        </p:nvSpPr>
        <p:spPr>
          <a:xfrm>
            <a:off x="2127214" y="5741320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3</a:t>
            </a:r>
          </a:p>
        </p:txBody>
      </p:sp>
      <p:sp>
        <p:nvSpPr>
          <p:cNvPr id="1111" name="TextBox 1110">
            <a:extLst>
              <a:ext uri="{FF2B5EF4-FFF2-40B4-BE49-F238E27FC236}">
                <a16:creationId xmlns:a16="http://schemas.microsoft.com/office/drawing/2014/main" id="{0DD861D0-D2A9-7F63-1878-E362F0A885CC}"/>
              </a:ext>
            </a:extLst>
          </p:cNvPr>
          <p:cNvSpPr txBox="1"/>
          <p:nvPr/>
        </p:nvSpPr>
        <p:spPr>
          <a:xfrm>
            <a:off x="2127214" y="5946987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4</a:t>
            </a:r>
          </a:p>
        </p:txBody>
      </p:sp>
      <p:sp>
        <p:nvSpPr>
          <p:cNvPr id="1112" name="TextBox 1111">
            <a:extLst>
              <a:ext uri="{FF2B5EF4-FFF2-40B4-BE49-F238E27FC236}">
                <a16:creationId xmlns:a16="http://schemas.microsoft.com/office/drawing/2014/main" id="{81CBCE39-A54D-1602-12BE-9F34E91B1A86}"/>
              </a:ext>
            </a:extLst>
          </p:cNvPr>
          <p:cNvSpPr txBox="1"/>
          <p:nvPr/>
        </p:nvSpPr>
        <p:spPr>
          <a:xfrm>
            <a:off x="2127214" y="6152654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5</a:t>
            </a:r>
          </a:p>
        </p:txBody>
      </p:sp>
      <p:sp>
        <p:nvSpPr>
          <p:cNvPr id="1113" name="TextBox 1112">
            <a:extLst>
              <a:ext uri="{FF2B5EF4-FFF2-40B4-BE49-F238E27FC236}">
                <a16:creationId xmlns:a16="http://schemas.microsoft.com/office/drawing/2014/main" id="{60C4CC48-E0FD-04B7-A2A5-BCCBF182BFAA}"/>
              </a:ext>
            </a:extLst>
          </p:cNvPr>
          <p:cNvSpPr txBox="1"/>
          <p:nvPr/>
        </p:nvSpPr>
        <p:spPr>
          <a:xfrm>
            <a:off x="2676142" y="5120222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1114" name="TextBox 1113">
            <a:extLst>
              <a:ext uri="{FF2B5EF4-FFF2-40B4-BE49-F238E27FC236}">
                <a16:creationId xmlns:a16="http://schemas.microsoft.com/office/drawing/2014/main" id="{4DB0D961-2909-4EC6-05B5-AD3BE3F99B6C}"/>
              </a:ext>
            </a:extLst>
          </p:cNvPr>
          <p:cNvSpPr txBox="1"/>
          <p:nvPr/>
        </p:nvSpPr>
        <p:spPr>
          <a:xfrm>
            <a:off x="2885181" y="5120222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1115" name="TextBox 1114">
            <a:extLst>
              <a:ext uri="{FF2B5EF4-FFF2-40B4-BE49-F238E27FC236}">
                <a16:creationId xmlns:a16="http://schemas.microsoft.com/office/drawing/2014/main" id="{8B4DFD2A-2662-F778-9567-E5DCD7A826AC}"/>
              </a:ext>
            </a:extLst>
          </p:cNvPr>
          <p:cNvSpPr txBox="1"/>
          <p:nvPr/>
        </p:nvSpPr>
        <p:spPr>
          <a:xfrm>
            <a:off x="3094220" y="5120222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1116" name="TextBox 1115">
            <a:extLst>
              <a:ext uri="{FF2B5EF4-FFF2-40B4-BE49-F238E27FC236}">
                <a16:creationId xmlns:a16="http://schemas.microsoft.com/office/drawing/2014/main" id="{C811FEDA-2E0C-CC6A-C54D-C3841A794EC5}"/>
              </a:ext>
            </a:extLst>
          </p:cNvPr>
          <p:cNvSpPr txBox="1"/>
          <p:nvPr/>
        </p:nvSpPr>
        <p:spPr>
          <a:xfrm>
            <a:off x="3303259" y="5120222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1117" name="TextBox 1116">
            <a:extLst>
              <a:ext uri="{FF2B5EF4-FFF2-40B4-BE49-F238E27FC236}">
                <a16:creationId xmlns:a16="http://schemas.microsoft.com/office/drawing/2014/main" id="{2F0FDFDA-8DF6-34BA-52A3-FA1F8FC027F2}"/>
              </a:ext>
            </a:extLst>
          </p:cNvPr>
          <p:cNvSpPr txBox="1"/>
          <p:nvPr/>
        </p:nvSpPr>
        <p:spPr>
          <a:xfrm>
            <a:off x="3512297" y="5120222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</a:p>
        </p:txBody>
      </p:sp>
      <p:sp>
        <p:nvSpPr>
          <p:cNvPr id="1118" name="Rectangle 1117">
            <a:extLst>
              <a:ext uri="{FF2B5EF4-FFF2-40B4-BE49-F238E27FC236}">
                <a16:creationId xmlns:a16="http://schemas.microsoft.com/office/drawing/2014/main" id="{1FDAC2F7-95CA-7595-0744-8B0A12E0C00E}"/>
              </a:ext>
            </a:extLst>
          </p:cNvPr>
          <p:cNvSpPr/>
          <p:nvPr/>
        </p:nvSpPr>
        <p:spPr>
          <a:xfrm>
            <a:off x="2631356" y="5329605"/>
            <a:ext cx="1015746" cy="10061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9" name="Rectangle 1118">
            <a:extLst>
              <a:ext uri="{FF2B5EF4-FFF2-40B4-BE49-F238E27FC236}">
                <a16:creationId xmlns:a16="http://schemas.microsoft.com/office/drawing/2014/main" id="{9D3B496F-3B3A-256B-4C8F-685F4EAEF8B1}"/>
              </a:ext>
            </a:extLst>
          </p:cNvPr>
          <p:cNvSpPr/>
          <p:nvPr/>
        </p:nvSpPr>
        <p:spPr>
          <a:xfrm>
            <a:off x="4374446" y="5330648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0" name="Rectangle 1119">
            <a:extLst>
              <a:ext uri="{FF2B5EF4-FFF2-40B4-BE49-F238E27FC236}">
                <a16:creationId xmlns:a16="http://schemas.microsoft.com/office/drawing/2014/main" id="{8795FAF4-C3FF-244F-CBEC-54B1FE92A41B}"/>
              </a:ext>
            </a:extLst>
          </p:cNvPr>
          <p:cNvSpPr/>
          <p:nvPr/>
        </p:nvSpPr>
        <p:spPr>
          <a:xfrm>
            <a:off x="4380796" y="5536315"/>
            <a:ext cx="189411" cy="189411"/>
          </a:xfrm>
          <a:prstGeom prst="rect">
            <a:avLst/>
          </a:prstGeom>
          <a:solidFill>
            <a:srgbClr val="C0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1" name="Rectangle 1120">
            <a:extLst>
              <a:ext uri="{FF2B5EF4-FFF2-40B4-BE49-F238E27FC236}">
                <a16:creationId xmlns:a16="http://schemas.microsoft.com/office/drawing/2014/main" id="{0B0113C9-076B-B6B6-504A-BD4221205190}"/>
              </a:ext>
            </a:extLst>
          </p:cNvPr>
          <p:cNvSpPr/>
          <p:nvPr/>
        </p:nvSpPr>
        <p:spPr>
          <a:xfrm>
            <a:off x="4380907" y="5741982"/>
            <a:ext cx="189411" cy="189411"/>
          </a:xfrm>
          <a:prstGeom prst="rect">
            <a:avLst/>
          </a:prstGeom>
          <a:solidFill>
            <a:srgbClr val="00FFC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2" name="Rectangle 1121">
            <a:extLst>
              <a:ext uri="{FF2B5EF4-FFF2-40B4-BE49-F238E27FC236}">
                <a16:creationId xmlns:a16="http://schemas.microsoft.com/office/drawing/2014/main" id="{5BEF87D7-2ADD-4248-7F69-FEC6C56149CA}"/>
              </a:ext>
            </a:extLst>
          </p:cNvPr>
          <p:cNvSpPr/>
          <p:nvPr/>
        </p:nvSpPr>
        <p:spPr>
          <a:xfrm>
            <a:off x="4379707" y="5947649"/>
            <a:ext cx="189411" cy="189411"/>
          </a:xfrm>
          <a:prstGeom prst="rect">
            <a:avLst/>
          </a:prstGeom>
          <a:solidFill>
            <a:srgbClr val="452A4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3" name="Rectangle 1122">
            <a:extLst>
              <a:ext uri="{FF2B5EF4-FFF2-40B4-BE49-F238E27FC236}">
                <a16:creationId xmlns:a16="http://schemas.microsoft.com/office/drawing/2014/main" id="{510C789A-BD49-452F-8233-567441FC32E5}"/>
              </a:ext>
            </a:extLst>
          </p:cNvPr>
          <p:cNvSpPr/>
          <p:nvPr/>
        </p:nvSpPr>
        <p:spPr>
          <a:xfrm>
            <a:off x="4380068" y="6153316"/>
            <a:ext cx="189411" cy="189411"/>
          </a:xfrm>
          <a:prstGeom prst="rect">
            <a:avLst/>
          </a:prstGeom>
          <a:solidFill>
            <a:srgbClr val="FE962B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4" name="Rectangle 1123">
            <a:extLst>
              <a:ext uri="{FF2B5EF4-FFF2-40B4-BE49-F238E27FC236}">
                <a16:creationId xmlns:a16="http://schemas.microsoft.com/office/drawing/2014/main" id="{C78B49DE-D355-AED7-5B43-9A79994B2CD8}"/>
              </a:ext>
            </a:extLst>
          </p:cNvPr>
          <p:cNvSpPr/>
          <p:nvPr/>
        </p:nvSpPr>
        <p:spPr>
          <a:xfrm>
            <a:off x="4587384" y="5333276"/>
            <a:ext cx="189411" cy="189411"/>
          </a:xfrm>
          <a:prstGeom prst="rect">
            <a:avLst/>
          </a:prstGeom>
          <a:solidFill>
            <a:srgbClr val="C0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5" name="Rectangle 1124">
            <a:extLst>
              <a:ext uri="{FF2B5EF4-FFF2-40B4-BE49-F238E27FC236}">
                <a16:creationId xmlns:a16="http://schemas.microsoft.com/office/drawing/2014/main" id="{4B702B5B-EF20-C080-F232-3507952BFA61}"/>
              </a:ext>
            </a:extLst>
          </p:cNvPr>
          <p:cNvSpPr/>
          <p:nvPr/>
        </p:nvSpPr>
        <p:spPr>
          <a:xfrm>
            <a:off x="4584209" y="5538943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6" name="Rectangle 1125">
            <a:extLst>
              <a:ext uri="{FF2B5EF4-FFF2-40B4-BE49-F238E27FC236}">
                <a16:creationId xmlns:a16="http://schemas.microsoft.com/office/drawing/2014/main" id="{BD135577-CB3C-DC4E-E12F-0302E8512964}"/>
              </a:ext>
            </a:extLst>
          </p:cNvPr>
          <p:cNvSpPr/>
          <p:nvPr/>
        </p:nvSpPr>
        <p:spPr>
          <a:xfrm>
            <a:off x="4587495" y="5744610"/>
            <a:ext cx="189411" cy="189411"/>
          </a:xfrm>
          <a:prstGeom prst="rect">
            <a:avLst/>
          </a:prstGeom>
          <a:solidFill>
            <a:srgbClr val="D2E93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7" name="Rectangle 1126">
            <a:extLst>
              <a:ext uri="{FF2B5EF4-FFF2-40B4-BE49-F238E27FC236}">
                <a16:creationId xmlns:a16="http://schemas.microsoft.com/office/drawing/2014/main" id="{FDF10CE2-EADE-2D76-02DB-4E684E7C2B88}"/>
              </a:ext>
            </a:extLst>
          </p:cNvPr>
          <p:cNvSpPr/>
          <p:nvPr/>
        </p:nvSpPr>
        <p:spPr>
          <a:xfrm>
            <a:off x="4586295" y="5950277"/>
            <a:ext cx="189411" cy="189411"/>
          </a:xfrm>
          <a:prstGeom prst="rect">
            <a:avLst/>
          </a:prstGeom>
          <a:solidFill>
            <a:srgbClr val="FFFF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8" name="Rectangle 1127">
            <a:extLst>
              <a:ext uri="{FF2B5EF4-FFF2-40B4-BE49-F238E27FC236}">
                <a16:creationId xmlns:a16="http://schemas.microsoft.com/office/drawing/2014/main" id="{D6C01A9D-44C4-5B49-110A-480C78A9116F}"/>
              </a:ext>
            </a:extLst>
          </p:cNvPr>
          <p:cNvSpPr/>
          <p:nvPr/>
        </p:nvSpPr>
        <p:spPr>
          <a:xfrm>
            <a:off x="4586656" y="6155944"/>
            <a:ext cx="189411" cy="189411"/>
          </a:xfrm>
          <a:prstGeom prst="rect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9" name="Rectangle 1128">
            <a:extLst>
              <a:ext uri="{FF2B5EF4-FFF2-40B4-BE49-F238E27FC236}">
                <a16:creationId xmlns:a16="http://schemas.microsoft.com/office/drawing/2014/main" id="{6805282B-5D17-DA74-8A8A-F3A430B02AD1}"/>
              </a:ext>
            </a:extLst>
          </p:cNvPr>
          <p:cNvSpPr/>
          <p:nvPr/>
        </p:nvSpPr>
        <p:spPr>
          <a:xfrm>
            <a:off x="4795643" y="5336618"/>
            <a:ext cx="189411" cy="189411"/>
          </a:xfrm>
          <a:prstGeom prst="rect">
            <a:avLst/>
          </a:prstGeom>
          <a:solidFill>
            <a:srgbClr val="00FFC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0" name="Rectangle 1129">
            <a:extLst>
              <a:ext uri="{FF2B5EF4-FFF2-40B4-BE49-F238E27FC236}">
                <a16:creationId xmlns:a16="http://schemas.microsoft.com/office/drawing/2014/main" id="{586B10C5-337A-7DAA-8A38-E85441904862}"/>
              </a:ext>
            </a:extLst>
          </p:cNvPr>
          <p:cNvSpPr/>
          <p:nvPr/>
        </p:nvSpPr>
        <p:spPr>
          <a:xfrm>
            <a:off x="4795643" y="5542285"/>
            <a:ext cx="189411" cy="189411"/>
          </a:xfrm>
          <a:prstGeom prst="rect">
            <a:avLst/>
          </a:prstGeom>
          <a:solidFill>
            <a:srgbClr val="D2E93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1" name="Rectangle 1130">
            <a:extLst>
              <a:ext uri="{FF2B5EF4-FFF2-40B4-BE49-F238E27FC236}">
                <a16:creationId xmlns:a16="http://schemas.microsoft.com/office/drawing/2014/main" id="{1E38908C-60C3-E78F-5D19-C23CD6725C26}"/>
              </a:ext>
            </a:extLst>
          </p:cNvPr>
          <p:cNvSpPr/>
          <p:nvPr/>
        </p:nvSpPr>
        <p:spPr>
          <a:xfrm>
            <a:off x="4795754" y="5747952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2" name="Rectangle 1131">
            <a:extLst>
              <a:ext uri="{FF2B5EF4-FFF2-40B4-BE49-F238E27FC236}">
                <a16:creationId xmlns:a16="http://schemas.microsoft.com/office/drawing/2014/main" id="{5CAD34CB-83B4-7083-F6DF-6A4B1214D9C1}"/>
              </a:ext>
            </a:extLst>
          </p:cNvPr>
          <p:cNvSpPr/>
          <p:nvPr/>
        </p:nvSpPr>
        <p:spPr>
          <a:xfrm>
            <a:off x="4794554" y="5953619"/>
            <a:ext cx="189411" cy="189411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3" name="Rectangle 1132">
            <a:extLst>
              <a:ext uri="{FF2B5EF4-FFF2-40B4-BE49-F238E27FC236}">
                <a16:creationId xmlns:a16="http://schemas.microsoft.com/office/drawing/2014/main" id="{8D86693D-B01C-C0AB-5DB1-163652333285}"/>
              </a:ext>
            </a:extLst>
          </p:cNvPr>
          <p:cNvSpPr/>
          <p:nvPr/>
        </p:nvSpPr>
        <p:spPr>
          <a:xfrm>
            <a:off x="4794915" y="6159286"/>
            <a:ext cx="189411" cy="189411"/>
          </a:xfrm>
          <a:prstGeom prst="rect">
            <a:avLst/>
          </a:prstGeom>
          <a:solidFill>
            <a:srgbClr val="D2E93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4" name="Rectangle 1133">
            <a:extLst>
              <a:ext uri="{FF2B5EF4-FFF2-40B4-BE49-F238E27FC236}">
                <a16:creationId xmlns:a16="http://schemas.microsoft.com/office/drawing/2014/main" id="{766694FF-6481-B669-7D04-38FB8EA158D3}"/>
              </a:ext>
            </a:extLst>
          </p:cNvPr>
          <p:cNvSpPr/>
          <p:nvPr/>
        </p:nvSpPr>
        <p:spPr>
          <a:xfrm>
            <a:off x="5002231" y="5335278"/>
            <a:ext cx="189411" cy="189411"/>
          </a:xfrm>
          <a:prstGeom prst="rect">
            <a:avLst/>
          </a:prstGeom>
          <a:solidFill>
            <a:srgbClr val="452A4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5" name="Rectangle 1134">
            <a:extLst>
              <a:ext uri="{FF2B5EF4-FFF2-40B4-BE49-F238E27FC236}">
                <a16:creationId xmlns:a16="http://schemas.microsoft.com/office/drawing/2014/main" id="{8960AFEF-4AA4-1985-6B87-2E89B8773FCE}"/>
              </a:ext>
            </a:extLst>
          </p:cNvPr>
          <p:cNvSpPr/>
          <p:nvPr/>
        </p:nvSpPr>
        <p:spPr>
          <a:xfrm>
            <a:off x="5002231" y="5540945"/>
            <a:ext cx="189411" cy="189411"/>
          </a:xfrm>
          <a:prstGeom prst="rect">
            <a:avLst/>
          </a:prstGeom>
          <a:solidFill>
            <a:srgbClr val="FFFF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6" name="Rectangle 1135">
            <a:extLst>
              <a:ext uri="{FF2B5EF4-FFF2-40B4-BE49-F238E27FC236}">
                <a16:creationId xmlns:a16="http://schemas.microsoft.com/office/drawing/2014/main" id="{766D5F51-EE42-9D94-1D81-1E06A460AA3A}"/>
              </a:ext>
            </a:extLst>
          </p:cNvPr>
          <p:cNvSpPr/>
          <p:nvPr/>
        </p:nvSpPr>
        <p:spPr>
          <a:xfrm>
            <a:off x="5002342" y="5746612"/>
            <a:ext cx="189411" cy="189411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7" name="Rectangle 1136">
            <a:extLst>
              <a:ext uri="{FF2B5EF4-FFF2-40B4-BE49-F238E27FC236}">
                <a16:creationId xmlns:a16="http://schemas.microsoft.com/office/drawing/2014/main" id="{B2C65A12-7B9E-7B06-2F64-32E5F25EAAD2}"/>
              </a:ext>
            </a:extLst>
          </p:cNvPr>
          <p:cNvSpPr/>
          <p:nvPr/>
        </p:nvSpPr>
        <p:spPr>
          <a:xfrm>
            <a:off x="5001142" y="5959423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8" name="Rectangle 1137">
            <a:extLst>
              <a:ext uri="{FF2B5EF4-FFF2-40B4-BE49-F238E27FC236}">
                <a16:creationId xmlns:a16="http://schemas.microsoft.com/office/drawing/2014/main" id="{DAF8A47B-302C-E07E-3E72-9A101B28D8BE}"/>
              </a:ext>
            </a:extLst>
          </p:cNvPr>
          <p:cNvSpPr/>
          <p:nvPr/>
        </p:nvSpPr>
        <p:spPr>
          <a:xfrm>
            <a:off x="5001503" y="6160327"/>
            <a:ext cx="189411" cy="189411"/>
          </a:xfrm>
          <a:prstGeom prst="re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9" name="Rectangle 1138">
            <a:extLst>
              <a:ext uri="{FF2B5EF4-FFF2-40B4-BE49-F238E27FC236}">
                <a16:creationId xmlns:a16="http://schemas.microsoft.com/office/drawing/2014/main" id="{6293F2F2-1B97-7D50-62EE-D2C3A88A95C2}"/>
              </a:ext>
            </a:extLst>
          </p:cNvPr>
          <p:cNvSpPr/>
          <p:nvPr/>
        </p:nvSpPr>
        <p:spPr>
          <a:xfrm>
            <a:off x="5208220" y="5336620"/>
            <a:ext cx="189411" cy="189411"/>
          </a:xfrm>
          <a:prstGeom prst="rect">
            <a:avLst/>
          </a:prstGeom>
          <a:solidFill>
            <a:srgbClr val="FE962B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0" name="Rectangle 1139">
            <a:extLst>
              <a:ext uri="{FF2B5EF4-FFF2-40B4-BE49-F238E27FC236}">
                <a16:creationId xmlns:a16="http://schemas.microsoft.com/office/drawing/2014/main" id="{65CD5945-D106-1E98-1844-FD2FE3531C08}"/>
              </a:ext>
            </a:extLst>
          </p:cNvPr>
          <p:cNvSpPr/>
          <p:nvPr/>
        </p:nvSpPr>
        <p:spPr>
          <a:xfrm>
            <a:off x="5208220" y="5542287"/>
            <a:ext cx="189411" cy="189411"/>
          </a:xfrm>
          <a:prstGeom prst="rect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1" name="Rectangle 1140">
            <a:extLst>
              <a:ext uri="{FF2B5EF4-FFF2-40B4-BE49-F238E27FC236}">
                <a16:creationId xmlns:a16="http://schemas.microsoft.com/office/drawing/2014/main" id="{837A171E-0DA1-08FE-F2C6-745B75427164}"/>
              </a:ext>
            </a:extLst>
          </p:cNvPr>
          <p:cNvSpPr/>
          <p:nvPr/>
        </p:nvSpPr>
        <p:spPr>
          <a:xfrm>
            <a:off x="5208331" y="5747954"/>
            <a:ext cx="189411" cy="189411"/>
          </a:xfrm>
          <a:prstGeom prst="rect">
            <a:avLst/>
          </a:prstGeom>
          <a:solidFill>
            <a:srgbClr val="D2E93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2" name="Rectangle 1141">
            <a:extLst>
              <a:ext uri="{FF2B5EF4-FFF2-40B4-BE49-F238E27FC236}">
                <a16:creationId xmlns:a16="http://schemas.microsoft.com/office/drawing/2014/main" id="{965D7D6A-1D6B-E429-413D-FE464BCB1526}"/>
              </a:ext>
            </a:extLst>
          </p:cNvPr>
          <p:cNvSpPr/>
          <p:nvPr/>
        </p:nvSpPr>
        <p:spPr>
          <a:xfrm>
            <a:off x="5207131" y="5953621"/>
            <a:ext cx="189411" cy="189411"/>
          </a:xfrm>
          <a:prstGeom prst="re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3" name="Rectangle 1142">
            <a:extLst>
              <a:ext uri="{FF2B5EF4-FFF2-40B4-BE49-F238E27FC236}">
                <a16:creationId xmlns:a16="http://schemas.microsoft.com/office/drawing/2014/main" id="{68D4DF1C-F28F-638C-4FA1-B5DC2FDE48A5}"/>
              </a:ext>
            </a:extLst>
          </p:cNvPr>
          <p:cNvSpPr/>
          <p:nvPr/>
        </p:nvSpPr>
        <p:spPr>
          <a:xfrm>
            <a:off x="5209873" y="6164050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4" name="TextBox 1143">
            <a:extLst>
              <a:ext uri="{FF2B5EF4-FFF2-40B4-BE49-F238E27FC236}">
                <a16:creationId xmlns:a16="http://schemas.microsoft.com/office/drawing/2014/main" id="{D5C65C1A-E2C1-049E-138F-ED6BB55F4A0C}"/>
              </a:ext>
            </a:extLst>
          </p:cNvPr>
          <p:cNvSpPr txBox="1"/>
          <p:nvPr/>
        </p:nvSpPr>
        <p:spPr>
          <a:xfrm>
            <a:off x="3876654" y="5336998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1</a:t>
            </a:r>
          </a:p>
        </p:txBody>
      </p:sp>
      <p:sp>
        <p:nvSpPr>
          <p:cNvPr id="1145" name="TextBox 1144">
            <a:extLst>
              <a:ext uri="{FF2B5EF4-FFF2-40B4-BE49-F238E27FC236}">
                <a16:creationId xmlns:a16="http://schemas.microsoft.com/office/drawing/2014/main" id="{73133EFF-FABA-84F0-EA6F-2C68DC561886}"/>
              </a:ext>
            </a:extLst>
          </p:cNvPr>
          <p:cNvSpPr txBox="1"/>
          <p:nvPr/>
        </p:nvSpPr>
        <p:spPr>
          <a:xfrm>
            <a:off x="3876654" y="5542665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2</a:t>
            </a:r>
          </a:p>
        </p:txBody>
      </p:sp>
      <p:sp>
        <p:nvSpPr>
          <p:cNvPr id="1146" name="TextBox 1145">
            <a:extLst>
              <a:ext uri="{FF2B5EF4-FFF2-40B4-BE49-F238E27FC236}">
                <a16:creationId xmlns:a16="http://schemas.microsoft.com/office/drawing/2014/main" id="{D1F39983-78E8-D156-96FA-13FBE38DEE88}"/>
              </a:ext>
            </a:extLst>
          </p:cNvPr>
          <p:cNvSpPr txBox="1"/>
          <p:nvPr/>
        </p:nvSpPr>
        <p:spPr>
          <a:xfrm>
            <a:off x="3876654" y="5748332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3</a:t>
            </a:r>
          </a:p>
        </p:txBody>
      </p:sp>
      <p:sp>
        <p:nvSpPr>
          <p:cNvPr id="1147" name="TextBox 1146">
            <a:extLst>
              <a:ext uri="{FF2B5EF4-FFF2-40B4-BE49-F238E27FC236}">
                <a16:creationId xmlns:a16="http://schemas.microsoft.com/office/drawing/2014/main" id="{1D878C6B-85CD-6944-3203-3ABA404BDC67}"/>
              </a:ext>
            </a:extLst>
          </p:cNvPr>
          <p:cNvSpPr txBox="1"/>
          <p:nvPr/>
        </p:nvSpPr>
        <p:spPr>
          <a:xfrm>
            <a:off x="3876654" y="5953999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4</a:t>
            </a:r>
          </a:p>
        </p:txBody>
      </p:sp>
      <p:sp>
        <p:nvSpPr>
          <p:cNvPr id="1148" name="TextBox 1147">
            <a:extLst>
              <a:ext uri="{FF2B5EF4-FFF2-40B4-BE49-F238E27FC236}">
                <a16:creationId xmlns:a16="http://schemas.microsoft.com/office/drawing/2014/main" id="{A44BAB99-BBEB-7E74-94E9-5132A3CBEDFB}"/>
              </a:ext>
            </a:extLst>
          </p:cNvPr>
          <p:cNvSpPr txBox="1"/>
          <p:nvPr/>
        </p:nvSpPr>
        <p:spPr>
          <a:xfrm>
            <a:off x="3876654" y="6159666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5</a:t>
            </a:r>
          </a:p>
        </p:txBody>
      </p:sp>
      <p:sp>
        <p:nvSpPr>
          <p:cNvPr id="1149" name="TextBox 1148">
            <a:extLst>
              <a:ext uri="{FF2B5EF4-FFF2-40B4-BE49-F238E27FC236}">
                <a16:creationId xmlns:a16="http://schemas.microsoft.com/office/drawing/2014/main" id="{3A470E50-7FA0-F6BE-137E-8D2287B71E14}"/>
              </a:ext>
            </a:extLst>
          </p:cNvPr>
          <p:cNvSpPr txBox="1"/>
          <p:nvPr/>
        </p:nvSpPr>
        <p:spPr>
          <a:xfrm>
            <a:off x="4425582" y="5127234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1150" name="TextBox 1149">
            <a:extLst>
              <a:ext uri="{FF2B5EF4-FFF2-40B4-BE49-F238E27FC236}">
                <a16:creationId xmlns:a16="http://schemas.microsoft.com/office/drawing/2014/main" id="{6A92020D-EE8D-61CA-10C1-508E782031E1}"/>
              </a:ext>
            </a:extLst>
          </p:cNvPr>
          <p:cNvSpPr txBox="1"/>
          <p:nvPr/>
        </p:nvSpPr>
        <p:spPr>
          <a:xfrm>
            <a:off x="4634621" y="5127234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1151" name="TextBox 1150">
            <a:extLst>
              <a:ext uri="{FF2B5EF4-FFF2-40B4-BE49-F238E27FC236}">
                <a16:creationId xmlns:a16="http://schemas.microsoft.com/office/drawing/2014/main" id="{6748257D-6019-66FA-1F49-7EE345B7ED47}"/>
              </a:ext>
            </a:extLst>
          </p:cNvPr>
          <p:cNvSpPr txBox="1"/>
          <p:nvPr/>
        </p:nvSpPr>
        <p:spPr>
          <a:xfrm>
            <a:off x="4843660" y="5127234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1152" name="TextBox 1151">
            <a:extLst>
              <a:ext uri="{FF2B5EF4-FFF2-40B4-BE49-F238E27FC236}">
                <a16:creationId xmlns:a16="http://schemas.microsoft.com/office/drawing/2014/main" id="{771A24CB-80B7-A800-3837-5130E18464B5}"/>
              </a:ext>
            </a:extLst>
          </p:cNvPr>
          <p:cNvSpPr txBox="1"/>
          <p:nvPr/>
        </p:nvSpPr>
        <p:spPr>
          <a:xfrm>
            <a:off x="5052699" y="5127234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1153" name="TextBox 1152">
            <a:extLst>
              <a:ext uri="{FF2B5EF4-FFF2-40B4-BE49-F238E27FC236}">
                <a16:creationId xmlns:a16="http://schemas.microsoft.com/office/drawing/2014/main" id="{A5D44601-7434-E0B7-1FEA-8BF7F882761C}"/>
              </a:ext>
            </a:extLst>
          </p:cNvPr>
          <p:cNvSpPr txBox="1"/>
          <p:nvPr/>
        </p:nvSpPr>
        <p:spPr>
          <a:xfrm>
            <a:off x="5261737" y="5127234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</a:p>
        </p:txBody>
      </p:sp>
      <p:sp>
        <p:nvSpPr>
          <p:cNvPr id="1154" name="Rectangle 1153">
            <a:extLst>
              <a:ext uri="{FF2B5EF4-FFF2-40B4-BE49-F238E27FC236}">
                <a16:creationId xmlns:a16="http://schemas.microsoft.com/office/drawing/2014/main" id="{052A2336-F9DC-5000-C446-0FE958681CAB}"/>
              </a:ext>
            </a:extLst>
          </p:cNvPr>
          <p:cNvSpPr/>
          <p:nvPr/>
        </p:nvSpPr>
        <p:spPr>
          <a:xfrm>
            <a:off x="4380796" y="5336617"/>
            <a:ext cx="1015746" cy="10061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56" name="Straight Arrow Connector 1155">
            <a:extLst>
              <a:ext uri="{FF2B5EF4-FFF2-40B4-BE49-F238E27FC236}">
                <a16:creationId xmlns:a16="http://schemas.microsoft.com/office/drawing/2014/main" id="{C03238F0-B669-49A9-07DC-F86D46FB25E5}"/>
              </a:ext>
            </a:extLst>
          </p:cNvPr>
          <p:cNvCxnSpPr>
            <a:cxnSpLocks/>
          </p:cNvCxnSpPr>
          <p:nvPr/>
        </p:nvCxnSpPr>
        <p:spPr>
          <a:xfrm>
            <a:off x="1368183" y="4395290"/>
            <a:ext cx="0" cy="60491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9" name="Straight Arrow Connector 1158">
            <a:extLst>
              <a:ext uri="{FF2B5EF4-FFF2-40B4-BE49-F238E27FC236}">
                <a16:creationId xmlns:a16="http://schemas.microsoft.com/office/drawing/2014/main" id="{E619CD30-A62C-A0B8-C019-4C7AF60730C6}"/>
              </a:ext>
            </a:extLst>
          </p:cNvPr>
          <p:cNvCxnSpPr>
            <a:cxnSpLocks/>
          </p:cNvCxnSpPr>
          <p:nvPr/>
        </p:nvCxnSpPr>
        <p:spPr>
          <a:xfrm>
            <a:off x="3131441" y="4395290"/>
            <a:ext cx="0" cy="60491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0" name="Straight Arrow Connector 1159">
            <a:extLst>
              <a:ext uri="{FF2B5EF4-FFF2-40B4-BE49-F238E27FC236}">
                <a16:creationId xmlns:a16="http://schemas.microsoft.com/office/drawing/2014/main" id="{24407AEF-94AF-EF41-C232-A1BE4F2FC62C}"/>
              </a:ext>
            </a:extLst>
          </p:cNvPr>
          <p:cNvCxnSpPr>
            <a:cxnSpLocks/>
          </p:cNvCxnSpPr>
          <p:nvPr/>
        </p:nvCxnSpPr>
        <p:spPr>
          <a:xfrm>
            <a:off x="4865993" y="4395290"/>
            <a:ext cx="0" cy="60491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1" name="TextBox 1160">
            <a:extLst>
              <a:ext uri="{FF2B5EF4-FFF2-40B4-BE49-F238E27FC236}">
                <a16:creationId xmlns:a16="http://schemas.microsoft.com/office/drawing/2014/main" id="{DCBAB425-CE40-100A-B17B-AC722469D973}"/>
              </a:ext>
            </a:extLst>
          </p:cNvPr>
          <p:cNvSpPr txBox="1"/>
          <p:nvPr/>
        </p:nvSpPr>
        <p:spPr>
          <a:xfrm>
            <a:off x="806786" y="6377901"/>
            <a:ext cx="11608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Object RDM</a:t>
            </a:r>
          </a:p>
        </p:txBody>
      </p:sp>
      <p:sp>
        <p:nvSpPr>
          <p:cNvPr id="1162" name="TextBox 1161">
            <a:extLst>
              <a:ext uri="{FF2B5EF4-FFF2-40B4-BE49-F238E27FC236}">
                <a16:creationId xmlns:a16="http://schemas.microsoft.com/office/drawing/2014/main" id="{952434B0-BB8F-8E95-1484-1C0F663394CC}"/>
              </a:ext>
            </a:extLst>
          </p:cNvPr>
          <p:cNvSpPr txBox="1"/>
          <p:nvPr/>
        </p:nvSpPr>
        <p:spPr>
          <a:xfrm>
            <a:off x="2574855" y="6377901"/>
            <a:ext cx="11512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Scene RDM</a:t>
            </a:r>
          </a:p>
        </p:txBody>
      </p:sp>
      <p:sp>
        <p:nvSpPr>
          <p:cNvPr id="1163" name="TextBox 1162">
            <a:extLst>
              <a:ext uri="{FF2B5EF4-FFF2-40B4-BE49-F238E27FC236}">
                <a16:creationId xmlns:a16="http://schemas.microsoft.com/office/drawing/2014/main" id="{F457D580-29C4-114A-D4DC-1118A531979E}"/>
              </a:ext>
            </a:extLst>
          </p:cNvPr>
          <p:cNvSpPr txBox="1"/>
          <p:nvPr/>
        </p:nvSpPr>
        <p:spPr>
          <a:xfrm>
            <a:off x="4246473" y="6377901"/>
            <a:ext cx="12742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Abs-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Dif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RDM</a:t>
            </a:r>
          </a:p>
        </p:txBody>
      </p:sp>
    </p:spTree>
    <p:extLst>
      <p:ext uri="{BB962C8B-B14F-4D97-AF65-F5344CB8AC3E}">
        <p14:creationId xmlns:p14="http://schemas.microsoft.com/office/powerpoint/2010/main" val="37349090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9" name="Rectangle 1028">
            <a:extLst>
              <a:ext uri="{FF2B5EF4-FFF2-40B4-BE49-F238E27FC236}">
                <a16:creationId xmlns:a16="http://schemas.microsoft.com/office/drawing/2014/main" id="{71DA3CBB-0E70-024A-EBC2-5261289C45C8}"/>
              </a:ext>
            </a:extLst>
          </p:cNvPr>
          <p:cNvSpPr/>
          <p:nvPr/>
        </p:nvSpPr>
        <p:spPr>
          <a:xfrm>
            <a:off x="384726" y="1280761"/>
            <a:ext cx="5237310" cy="300037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F9D74C-FB51-E387-833E-0D917F8C79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364"/>
            <a:ext cx="10515600" cy="876313"/>
          </a:xfrm>
        </p:spPr>
        <p:txBody>
          <a:bodyPr/>
          <a:lstStyle/>
          <a:p>
            <a:r>
              <a:rPr lang="en-US" dirty="0"/>
              <a:t>Stimulus representations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EA1933-6C2A-C270-C1C2-01C180E279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37906" y="986895"/>
            <a:ext cx="6356986" cy="5806110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Psychological meaning of the difference vector:</a:t>
            </a:r>
          </a:p>
          <a:p>
            <a:pPr lvl="1"/>
            <a:r>
              <a:rPr lang="en-US" dirty="0"/>
              <a:t>Priming: </a:t>
            </a:r>
          </a:p>
          <a:p>
            <a:pPr lvl="2"/>
            <a:r>
              <a:rPr lang="en-US" dirty="0"/>
              <a:t>Scenes prime some representations, which will show weaker/stronger responses if activated again by the object</a:t>
            </a:r>
          </a:p>
          <a:p>
            <a:pPr lvl="2"/>
            <a:r>
              <a:rPr lang="en-US" dirty="0"/>
              <a:t>Link to repetition suppression</a:t>
            </a:r>
          </a:p>
          <a:p>
            <a:pPr lvl="1"/>
            <a:r>
              <a:rPr lang="en-US" dirty="0"/>
              <a:t>Prediction error: </a:t>
            </a:r>
          </a:p>
          <a:p>
            <a:pPr lvl="2"/>
            <a:r>
              <a:rPr lang="en-US" dirty="0"/>
              <a:t>Scenes establish a “prediction” that may be violated</a:t>
            </a:r>
          </a:p>
          <a:p>
            <a:pPr lvl="2"/>
            <a:r>
              <a:rPr lang="en-US" dirty="0"/>
              <a:t>Predictive coding theory argues that all information is processed as prediction errors</a:t>
            </a:r>
          </a:p>
          <a:p>
            <a:pPr lvl="2"/>
            <a:r>
              <a:rPr lang="en-US" dirty="0"/>
              <a:t>Hard to distinguish from priming view</a:t>
            </a:r>
          </a:p>
          <a:p>
            <a:pPr lvl="1"/>
            <a:r>
              <a:rPr lang="en-US" dirty="0"/>
              <a:t>Relational memory:</a:t>
            </a:r>
          </a:p>
          <a:p>
            <a:pPr lvl="2"/>
            <a:r>
              <a:rPr lang="en-US" dirty="0"/>
              <a:t>Broadly: The informational content of items influences how an association is encoded</a:t>
            </a:r>
          </a:p>
          <a:p>
            <a:pPr lvl="2"/>
            <a:r>
              <a:rPr lang="en-US" dirty="0"/>
              <a:t>Specifically: Associative memories do not just blindly connect item representations. Rather, associations should be seen as representations that encode the relationship between the items</a:t>
            </a:r>
          </a:p>
          <a:p>
            <a:r>
              <a:rPr lang="en-US" dirty="0"/>
              <a:t>Speculative:</a:t>
            </a:r>
          </a:p>
          <a:p>
            <a:pPr lvl="1"/>
            <a:r>
              <a:rPr lang="en-US" dirty="0"/>
              <a:t>Unclear meaning yet informative</a:t>
            </a:r>
          </a:p>
          <a:p>
            <a:pPr lvl="2"/>
            <a:r>
              <a:rPr lang="en-US" dirty="0"/>
              <a:t>There is no clear psychological meaning of a “difference vector”</a:t>
            </a:r>
          </a:p>
          <a:p>
            <a:pPr lvl="2"/>
            <a:r>
              <a:rPr lang="en-US" dirty="0"/>
              <a:t>Nonetheless, because this measure combines object and scene information, the findings must reflect some type of interaction between representations</a:t>
            </a:r>
          </a:p>
          <a:p>
            <a:pPr lvl="1"/>
            <a:r>
              <a:rPr lang="en-US" dirty="0"/>
              <a:t>Analogical reasoning</a:t>
            </a:r>
          </a:p>
          <a:p>
            <a:pPr lvl="2"/>
            <a:r>
              <a:rPr lang="en-US" dirty="0"/>
              <a:t>In the analysis, representational similarity entails parallels between trial 1’s scene-object relationship and trial 2’s scene-object relationship (i.e., an analogy)</a:t>
            </a:r>
          </a:p>
          <a:p>
            <a:pPr lvl="2"/>
            <a:r>
              <a:rPr lang="en-US" dirty="0"/>
              <a:t>Because the analysis is looking for analogies, this implies that this is related to how humans process analogies? </a:t>
            </a:r>
          </a:p>
          <a:p>
            <a:r>
              <a:rPr lang="en-US" dirty="0"/>
              <a:t>Possible competing hypotheses?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049168C-F2CD-A5A6-41BF-C317088DB08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6687" t="54667" r="53475" b="14256"/>
          <a:stretch/>
        </p:blipFill>
        <p:spPr>
          <a:xfrm>
            <a:off x="654402" y="1444863"/>
            <a:ext cx="1176338" cy="119162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DFCB511-91FB-CF26-1142-F039262BBEB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0552" t="54668" r="29609" b="14254"/>
          <a:stretch/>
        </p:blipFill>
        <p:spPr>
          <a:xfrm>
            <a:off x="2406448" y="1444863"/>
            <a:ext cx="1176338" cy="119162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F7C2078-DCA7-B9B3-C174-D7A5D94AA104}"/>
              </a:ext>
            </a:extLst>
          </p:cNvPr>
          <p:cNvSpPr/>
          <p:nvPr/>
        </p:nvSpPr>
        <p:spPr>
          <a:xfrm>
            <a:off x="1160565" y="2747159"/>
            <a:ext cx="189411" cy="18941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31EFDD6-0BFF-9672-8882-CBBD22ED4191}"/>
              </a:ext>
            </a:extLst>
          </p:cNvPr>
          <p:cNvSpPr/>
          <p:nvPr/>
        </p:nvSpPr>
        <p:spPr>
          <a:xfrm>
            <a:off x="1160565" y="2952826"/>
            <a:ext cx="189411" cy="189411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11870F9-A353-2443-E7B7-5BA5B0C76095}"/>
              </a:ext>
            </a:extLst>
          </p:cNvPr>
          <p:cNvSpPr/>
          <p:nvPr/>
        </p:nvSpPr>
        <p:spPr>
          <a:xfrm>
            <a:off x="1160676" y="3158493"/>
            <a:ext cx="189411" cy="18941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5A0FF4F-E367-2D21-4C5D-8F0913820890}"/>
              </a:ext>
            </a:extLst>
          </p:cNvPr>
          <p:cNvSpPr/>
          <p:nvPr/>
        </p:nvSpPr>
        <p:spPr>
          <a:xfrm>
            <a:off x="1159476" y="3364160"/>
            <a:ext cx="189411" cy="18941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3112E56-16E2-217E-858B-BB5B67C9A253}"/>
              </a:ext>
            </a:extLst>
          </p:cNvPr>
          <p:cNvSpPr/>
          <p:nvPr/>
        </p:nvSpPr>
        <p:spPr>
          <a:xfrm>
            <a:off x="1159837" y="3569827"/>
            <a:ext cx="189411" cy="18941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4F959E1-73DA-C99B-710E-D0109BD36B4F}"/>
              </a:ext>
            </a:extLst>
          </p:cNvPr>
          <p:cNvSpPr/>
          <p:nvPr/>
        </p:nvSpPr>
        <p:spPr>
          <a:xfrm>
            <a:off x="1161415" y="3775494"/>
            <a:ext cx="189411" cy="189411"/>
          </a:xfrm>
          <a:prstGeom prst="rect">
            <a:avLst/>
          </a:prstGeom>
          <a:solidFill>
            <a:srgbClr val="A6A6A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6FF82F9-B65A-84C0-6163-5AD1F8432D52}"/>
              </a:ext>
            </a:extLst>
          </p:cNvPr>
          <p:cNvSpPr/>
          <p:nvPr/>
        </p:nvSpPr>
        <p:spPr>
          <a:xfrm>
            <a:off x="2913165" y="2747159"/>
            <a:ext cx="189411" cy="18941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AEC8558-E951-512C-DF4A-B3680DE79094}"/>
              </a:ext>
            </a:extLst>
          </p:cNvPr>
          <p:cNvSpPr/>
          <p:nvPr/>
        </p:nvSpPr>
        <p:spPr>
          <a:xfrm>
            <a:off x="2913165" y="2952826"/>
            <a:ext cx="189411" cy="18941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4CA5F9D-2D7C-7A55-06B5-FBFD1C921390}"/>
              </a:ext>
            </a:extLst>
          </p:cNvPr>
          <p:cNvSpPr/>
          <p:nvPr/>
        </p:nvSpPr>
        <p:spPr>
          <a:xfrm>
            <a:off x="2913276" y="3158493"/>
            <a:ext cx="189411" cy="189411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ACFB69B-D5CC-0859-38FE-A068FB9EE06A}"/>
              </a:ext>
            </a:extLst>
          </p:cNvPr>
          <p:cNvSpPr/>
          <p:nvPr/>
        </p:nvSpPr>
        <p:spPr>
          <a:xfrm>
            <a:off x="2912076" y="3364160"/>
            <a:ext cx="189411" cy="189411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D46FE7A-2A9D-BE6D-1F65-1710912C1E19}"/>
              </a:ext>
            </a:extLst>
          </p:cNvPr>
          <p:cNvSpPr/>
          <p:nvPr/>
        </p:nvSpPr>
        <p:spPr>
          <a:xfrm>
            <a:off x="2912437" y="3569827"/>
            <a:ext cx="189411" cy="18941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CA86753-EA15-6762-D8F3-E8336F7B7C89}"/>
              </a:ext>
            </a:extLst>
          </p:cNvPr>
          <p:cNvSpPr/>
          <p:nvPr/>
        </p:nvSpPr>
        <p:spPr>
          <a:xfrm>
            <a:off x="2914015" y="3775494"/>
            <a:ext cx="189411" cy="18941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88F4B69-202F-9AB7-26AE-DD6AC7A2445B}"/>
              </a:ext>
            </a:extLst>
          </p:cNvPr>
          <p:cNvSpPr/>
          <p:nvPr/>
        </p:nvSpPr>
        <p:spPr>
          <a:xfrm>
            <a:off x="4646715" y="2747159"/>
            <a:ext cx="189411" cy="189411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9E8ABE5-D1D6-BF19-2959-345CA92737ED}"/>
              </a:ext>
            </a:extLst>
          </p:cNvPr>
          <p:cNvSpPr/>
          <p:nvPr/>
        </p:nvSpPr>
        <p:spPr>
          <a:xfrm>
            <a:off x="4646715" y="2952826"/>
            <a:ext cx="189411" cy="18941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1FA26B4-90B3-F263-8479-1EF0FD39EE3E}"/>
              </a:ext>
            </a:extLst>
          </p:cNvPr>
          <p:cNvSpPr/>
          <p:nvPr/>
        </p:nvSpPr>
        <p:spPr>
          <a:xfrm>
            <a:off x="4646826" y="3158493"/>
            <a:ext cx="189411" cy="18941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BF775ED-AADF-76DB-09B8-0013050F777F}"/>
              </a:ext>
            </a:extLst>
          </p:cNvPr>
          <p:cNvSpPr/>
          <p:nvPr/>
        </p:nvSpPr>
        <p:spPr>
          <a:xfrm>
            <a:off x="4645626" y="3364160"/>
            <a:ext cx="189411" cy="18941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9064FDE-6490-0529-F195-4BF9BC45D56F}"/>
              </a:ext>
            </a:extLst>
          </p:cNvPr>
          <p:cNvSpPr/>
          <p:nvPr/>
        </p:nvSpPr>
        <p:spPr>
          <a:xfrm>
            <a:off x="4645987" y="3569827"/>
            <a:ext cx="189411" cy="18941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A042064-4BAA-CCBC-219A-EEC672B2DF58}"/>
              </a:ext>
            </a:extLst>
          </p:cNvPr>
          <p:cNvSpPr/>
          <p:nvPr/>
        </p:nvSpPr>
        <p:spPr>
          <a:xfrm>
            <a:off x="4647565" y="3775494"/>
            <a:ext cx="189411" cy="189411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9D073D8-EA5C-C531-8DB7-B472EB104AC9}"/>
              </a:ext>
            </a:extLst>
          </p:cNvPr>
          <p:cNvSpPr txBox="1"/>
          <p:nvPr/>
        </p:nvSpPr>
        <p:spPr>
          <a:xfrm>
            <a:off x="1954695" y="3018201"/>
            <a:ext cx="3385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EBEE57B-A293-F3C6-750A-33A542D46620}"/>
              </a:ext>
            </a:extLst>
          </p:cNvPr>
          <p:cNvSpPr txBox="1"/>
          <p:nvPr/>
        </p:nvSpPr>
        <p:spPr>
          <a:xfrm>
            <a:off x="3653238" y="3059576"/>
            <a:ext cx="4539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0596581-EA83-24AF-0A07-D37D3129F7C8}"/>
              </a:ext>
            </a:extLst>
          </p:cNvPr>
          <p:cNvSpPr txBox="1"/>
          <p:nvPr/>
        </p:nvSpPr>
        <p:spPr>
          <a:xfrm>
            <a:off x="3408950" y="3628340"/>
            <a:ext cx="96686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absolute</a:t>
            </a:r>
          </a:p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difference</a:t>
            </a:r>
          </a:p>
        </p:txBody>
      </p:sp>
      <p:pic>
        <p:nvPicPr>
          <p:cNvPr id="1026" name="Picture 2" descr="Squiggly line doodle | Line doodles, Elements of art, Pattern drawing">
            <a:extLst>
              <a:ext uri="{FF2B5EF4-FFF2-40B4-BE49-F238E27FC236}">
                <a16:creationId xmlns:a16="http://schemas.microsoft.com/office/drawing/2014/main" id="{C057F522-E979-18AA-9CBC-2BD88DB51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4356155" y="1489529"/>
            <a:ext cx="768350" cy="1077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0" name="TextBox 1029">
            <a:extLst>
              <a:ext uri="{FF2B5EF4-FFF2-40B4-BE49-F238E27FC236}">
                <a16:creationId xmlns:a16="http://schemas.microsoft.com/office/drawing/2014/main" id="{4D0E3313-A857-EBF1-D8EC-E02A6EDF0F08}"/>
              </a:ext>
            </a:extLst>
          </p:cNvPr>
          <p:cNvSpPr txBox="1"/>
          <p:nvPr/>
        </p:nvSpPr>
        <p:spPr>
          <a:xfrm>
            <a:off x="384726" y="889564"/>
            <a:ext cx="52223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Single trial</a:t>
            </a:r>
          </a:p>
        </p:txBody>
      </p:sp>
      <p:sp>
        <p:nvSpPr>
          <p:cNvPr id="1031" name="Rectangle 1030">
            <a:extLst>
              <a:ext uri="{FF2B5EF4-FFF2-40B4-BE49-F238E27FC236}">
                <a16:creationId xmlns:a16="http://schemas.microsoft.com/office/drawing/2014/main" id="{961F192B-343B-C4DC-5678-4ACC02F53778}"/>
              </a:ext>
            </a:extLst>
          </p:cNvPr>
          <p:cNvSpPr/>
          <p:nvPr/>
        </p:nvSpPr>
        <p:spPr>
          <a:xfrm>
            <a:off x="761386" y="5324391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2" name="Rectangle 1031">
            <a:extLst>
              <a:ext uri="{FF2B5EF4-FFF2-40B4-BE49-F238E27FC236}">
                <a16:creationId xmlns:a16="http://schemas.microsoft.com/office/drawing/2014/main" id="{C8888FC6-35E9-75ED-8200-50A4897D7407}"/>
              </a:ext>
            </a:extLst>
          </p:cNvPr>
          <p:cNvSpPr/>
          <p:nvPr/>
        </p:nvSpPr>
        <p:spPr>
          <a:xfrm>
            <a:off x="767736" y="5530058"/>
            <a:ext cx="189411" cy="189411"/>
          </a:xfrm>
          <a:prstGeom prst="rect">
            <a:avLst/>
          </a:prstGeom>
          <a:solidFill>
            <a:srgbClr val="00B0F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3" name="Rectangle 1032">
            <a:extLst>
              <a:ext uri="{FF2B5EF4-FFF2-40B4-BE49-F238E27FC236}">
                <a16:creationId xmlns:a16="http://schemas.microsoft.com/office/drawing/2014/main" id="{59159CA4-ED9B-CE03-0560-FE6BC93E538D}"/>
              </a:ext>
            </a:extLst>
          </p:cNvPr>
          <p:cNvSpPr/>
          <p:nvPr/>
        </p:nvSpPr>
        <p:spPr>
          <a:xfrm>
            <a:off x="767847" y="5735725"/>
            <a:ext cx="189411" cy="189411"/>
          </a:xfrm>
          <a:prstGeom prst="rect">
            <a:avLst/>
          </a:prstGeom>
          <a:solidFill>
            <a:srgbClr val="33CC3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4" name="Rectangle 1033">
            <a:extLst>
              <a:ext uri="{FF2B5EF4-FFF2-40B4-BE49-F238E27FC236}">
                <a16:creationId xmlns:a16="http://schemas.microsoft.com/office/drawing/2014/main" id="{D8EB8E62-49A1-43D5-6180-DC8238187EF2}"/>
              </a:ext>
            </a:extLst>
          </p:cNvPr>
          <p:cNvSpPr/>
          <p:nvPr/>
        </p:nvSpPr>
        <p:spPr>
          <a:xfrm>
            <a:off x="766647" y="5941392"/>
            <a:ext cx="189411" cy="189411"/>
          </a:xfrm>
          <a:prstGeom prst="rect">
            <a:avLst/>
          </a:prstGeom>
          <a:solidFill>
            <a:srgbClr val="00FFC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321B294A-21D1-E7C6-88BC-275DCDABBB23}"/>
              </a:ext>
            </a:extLst>
          </p:cNvPr>
          <p:cNvSpPr/>
          <p:nvPr/>
        </p:nvSpPr>
        <p:spPr>
          <a:xfrm>
            <a:off x="767008" y="6147059"/>
            <a:ext cx="189411" cy="189411"/>
          </a:xfrm>
          <a:prstGeom prst="rect">
            <a:avLst/>
          </a:prstGeom>
          <a:solidFill>
            <a:srgbClr val="452A4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E7BC6558-DFCB-3345-0095-40E6AC05C306}"/>
              </a:ext>
            </a:extLst>
          </p:cNvPr>
          <p:cNvSpPr/>
          <p:nvPr/>
        </p:nvSpPr>
        <p:spPr>
          <a:xfrm>
            <a:off x="974324" y="5327019"/>
            <a:ext cx="189411" cy="189411"/>
          </a:xfrm>
          <a:prstGeom prst="rect">
            <a:avLst/>
          </a:prstGeom>
          <a:solidFill>
            <a:srgbClr val="00B0F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8" name="Rectangle 1037">
            <a:extLst>
              <a:ext uri="{FF2B5EF4-FFF2-40B4-BE49-F238E27FC236}">
                <a16:creationId xmlns:a16="http://schemas.microsoft.com/office/drawing/2014/main" id="{D061B90B-3B11-0C61-3ECA-29F9F821EF95}"/>
              </a:ext>
            </a:extLst>
          </p:cNvPr>
          <p:cNvSpPr/>
          <p:nvPr/>
        </p:nvSpPr>
        <p:spPr>
          <a:xfrm>
            <a:off x="971149" y="5532686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9" name="Rectangle 1038">
            <a:extLst>
              <a:ext uri="{FF2B5EF4-FFF2-40B4-BE49-F238E27FC236}">
                <a16:creationId xmlns:a16="http://schemas.microsoft.com/office/drawing/2014/main" id="{BF33B847-6F53-C54D-D496-3F65BC916CCF}"/>
              </a:ext>
            </a:extLst>
          </p:cNvPr>
          <p:cNvSpPr/>
          <p:nvPr/>
        </p:nvSpPr>
        <p:spPr>
          <a:xfrm>
            <a:off x="974435" y="5738353"/>
            <a:ext cx="189411" cy="189411"/>
          </a:xfrm>
          <a:prstGeom prst="rect">
            <a:avLst/>
          </a:prstGeom>
          <a:solidFill>
            <a:srgbClr val="D2E93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0" name="Rectangle 1039">
            <a:extLst>
              <a:ext uri="{FF2B5EF4-FFF2-40B4-BE49-F238E27FC236}">
                <a16:creationId xmlns:a16="http://schemas.microsoft.com/office/drawing/2014/main" id="{41D1C2DE-7816-F7CD-F41C-248F444BEACD}"/>
              </a:ext>
            </a:extLst>
          </p:cNvPr>
          <p:cNvSpPr/>
          <p:nvPr/>
        </p:nvSpPr>
        <p:spPr>
          <a:xfrm>
            <a:off x="973235" y="5944020"/>
            <a:ext cx="189411" cy="189411"/>
          </a:xfrm>
          <a:prstGeom prst="re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1" name="Rectangle 1040">
            <a:extLst>
              <a:ext uri="{FF2B5EF4-FFF2-40B4-BE49-F238E27FC236}">
                <a16:creationId xmlns:a16="http://schemas.microsoft.com/office/drawing/2014/main" id="{36B12E92-0F78-A864-2E89-6DAA636B61D0}"/>
              </a:ext>
            </a:extLst>
          </p:cNvPr>
          <p:cNvSpPr/>
          <p:nvPr/>
        </p:nvSpPr>
        <p:spPr>
          <a:xfrm>
            <a:off x="973596" y="6149687"/>
            <a:ext cx="189411" cy="189411"/>
          </a:xfrm>
          <a:prstGeom prst="rect">
            <a:avLst/>
          </a:prstGeom>
          <a:solidFill>
            <a:srgbClr val="FDA63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3" name="Rectangle 1042">
            <a:extLst>
              <a:ext uri="{FF2B5EF4-FFF2-40B4-BE49-F238E27FC236}">
                <a16:creationId xmlns:a16="http://schemas.microsoft.com/office/drawing/2014/main" id="{07B6C71C-2374-C1EB-A801-EA0A8E23ABD2}"/>
              </a:ext>
            </a:extLst>
          </p:cNvPr>
          <p:cNvSpPr/>
          <p:nvPr/>
        </p:nvSpPr>
        <p:spPr>
          <a:xfrm>
            <a:off x="1182583" y="5330361"/>
            <a:ext cx="189411" cy="189411"/>
          </a:xfrm>
          <a:prstGeom prst="rect">
            <a:avLst/>
          </a:prstGeom>
          <a:solidFill>
            <a:srgbClr val="33CC3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4" name="Rectangle 1043">
            <a:extLst>
              <a:ext uri="{FF2B5EF4-FFF2-40B4-BE49-F238E27FC236}">
                <a16:creationId xmlns:a16="http://schemas.microsoft.com/office/drawing/2014/main" id="{B957C6C8-D85C-99E4-BE8B-BBAB253720DB}"/>
              </a:ext>
            </a:extLst>
          </p:cNvPr>
          <p:cNvSpPr/>
          <p:nvPr/>
        </p:nvSpPr>
        <p:spPr>
          <a:xfrm>
            <a:off x="1182583" y="5536028"/>
            <a:ext cx="189411" cy="189411"/>
          </a:xfrm>
          <a:prstGeom prst="rect">
            <a:avLst/>
          </a:prstGeom>
          <a:solidFill>
            <a:srgbClr val="D2E93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5" name="Rectangle 1044">
            <a:extLst>
              <a:ext uri="{FF2B5EF4-FFF2-40B4-BE49-F238E27FC236}">
                <a16:creationId xmlns:a16="http://schemas.microsoft.com/office/drawing/2014/main" id="{7DE68A5D-DCD6-1DDC-805D-F988530D7D9A}"/>
              </a:ext>
            </a:extLst>
          </p:cNvPr>
          <p:cNvSpPr/>
          <p:nvPr/>
        </p:nvSpPr>
        <p:spPr>
          <a:xfrm>
            <a:off x="1182694" y="5741695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6" name="Rectangle 1045">
            <a:extLst>
              <a:ext uri="{FF2B5EF4-FFF2-40B4-BE49-F238E27FC236}">
                <a16:creationId xmlns:a16="http://schemas.microsoft.com/office/drawing/2014/main" id="{0D4C95B2-3824-56D8-9747-096D936398FE}"/>
              </a:ext>
            </a:extLst>
          </p:cNvPr>
          <p:cNvSpPr/>
          <p:nvPr/>
        </p:nvSpPr>
        <p:spPr>
          <a:xfrm>
            <a:off x="1181494" y="5947362"/>
            <a:ext cx="189411" cy="189411"/>
          </a:xfrm>
          <a:prstGeom prst="rect">
            <a:avLst/>
          </a:prstGeom>
          <a:solidFill>
            <a:srgbClr val="00FFC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7" name="Rectangle 1046">
            <a:extLst>
              <a:ext uri="{FF2B5EF4-FFF2-40B4-BE49-F238E27FC236}">
                <a16:creationId xmlns:a16="http://schemas.microsoft.com/office/drawing/2014/main" id="{0637B578-9D37-BF2F-81B9-BEE325B8088C}"/>
              </a:ext>
            </a:extLst>
          </p:cNvPr>
          <p:cNvSpPr/>
          <p:nvPr/>
        </p:nvSpPr>
        <p:spPr>
          <a:xfrm>
            <a:off x="1181855" y="6153029"/>
            <a:ext cx="189411" cy="189411"/>
          </a:xfrm>
          <a:prstGeom prst="rect">
            <a:avLst/>
          </a:prstGeom>
          <a:solidFill>
            <a:srgbClr val="0070C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9" name="Rectangle 1048">
            <a:extLst>
              <a:ext uri="{FF2B5EF4-FFF2-40B4-BE49-F238E27FC236}">
                <a16:creationId xmlns:a16="http://schemas.microsoft.com/office/drawing/2014/main" id="{10D886AB-A7A5-8904-928F-49F0B58D09B8}"/>
              </a:ext>
            </a:extLst>
          </p:cNvPr>
          <p:cNvSpPr/>
          <p:nvPr/>
        </p:nvSpPr>
        <p:spPr>
          <a:xfrm>
            <a:off x="1389171" y="5329021"/>
            <a:ext cx="189411" cy="189411"/>
          </a:xfrm>
          <a:prstGeom prst="rect">
            <a:avLst/>
          </a:prstGeom>
          <a:solidFill>
            <a:srgbClr val="00FFC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0" name="Rectangle 1049">
            <a:extLst>
              <a:ext uri="{FF2B5EF4-FFF2-40B4-BE49-F238E27FC236}">
                <a16:creationId xmlns:a16="http://schemas.microsoft.com/office/drawing/2014/main" id="{774CA5B2-EB7A-161B-47DB-3C22D977C4E5}"/>
              </a:ext>
            </a:extLst>
          </p:cNvPr>
          <p:cNvSpPr/>
          <p:nvPr/>
        </p:nvSpPr>
        <p:spPr>
          <a:xfrm>
            <a:off x="1389171" y="5534688"/>
            <a:ext cx="189411" cy="189411"/>
          </a:xfrm>
          <a:prstGeom prst="re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1" name="Rectangle 1050">
            <a:extLst>
              <a:ext uri="{FF2B5EF4-FFF2-40B4-BE49-F238E27FC236}">
                <a16:creationId xmlns:a16="http://schemas.microsoft.com/office/drawing/2014/main" id="{8BC4F8D2-E7E1-58EB-4819-98E800A921B9}"/>
              </a:ext>
            </a:extLst>
          </p:cNvPr>
          <p:cNvSpPr/>
          <p:nvPr/>
        </p:nvSpPr>
        <p:spPr>
          <a:xfrm>
            <a:off x="1389282" y="5740355"/>
            <a:ext cx="189411" cy="189411"/>
          </a:xfrm>
          <a:prstGeom prst="rect">
            <a:avLst/>
          </a:prstGeom>
          <a:solidFill>
            <a:srgbClr val="00FFC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2" name="Rectangle 1051">
            <a:extLst>
              <a:ext uri="{FF2B5EF4-FFF2-40B4-BE49-F238E27FC236}">
                <a16:creationId xmlns:a16="http://schemas.microsoft.com/office/drawing/2014/main" id="{5832DC68-32B9-CC9F-4611-74137F5B732F}"/>
              </a:ext>
            </a:extLst>
          </p:cNvPr>
          <p:cNvSpPr/>
          <p:nvPr/>
        </p:nvSpPr>
        <p:spPr>
          <a:xfrm>
            <a:off x="1388082" y="5953166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3" name="Rectangle 1052">
            <a:extLst>
              <a:ext uri="{FF2B5EF4-FFF2-40B4-BE49-F238E27FC236}">
                <a16:creationId xmlns:a16="http://schemas.microsoft.com/office/drawing/2014/main" id="{090A4416-C4A9-9476-F782-87BC446C9F41}"/>
              </a:ext>
            </a:extLst>
          </p:cNvPr>
          <p:cNvSpPr/>
          <p:nvPr/>
        </p:nvSpPr>
        <p:spPr>
          <a:xfrm>
            <a:off x="1388443" y="6154070"/>
            <a:ext cx="189411" cy="189411"/>
          </a:xfrm>
          <a:prstGeom prst="rect">
            <a:avLst/>
          </a:prstGeom>
          <a:solidFill>
            <a:srgbClr val="00B0F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5" name="Rectangle 1054">
            <a:extLst>
              <a:ext uri="{FF2B5EF4-FFF2-40B4-BE49-F238E27FC236}">
                <a16:creationId xmlns:a16="http://schemas.microsoft.com/office/drawing/2014/main" id="{7867F2BF-232B-FEFF-E579-219384FBEFDB}"/>
              </a:ext>
            </a:extLst>
          </p:cNvPr>
          <p:cNvSpPr/>
          <p:nvPr/>
        </p:nvSpPr>
        <p:spPr>
          <a:xfrm>
            <a:off x="1592230" y="5330363"/>
            <a:ext cx="189411" cy="189411"/>
          </a:xfrm>
          <a:prstGeom prst="rect">
            <a:avLst/>
          </a:prstGeom>
          <a:solidFill>
            <a:srgbClr val="452A4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6" name="Rectangle 1055">
            <a:extLst>
              <a:ext uri="{FF2B5EF4-FFF2-40B4-BE49-F238E27FC236}">
                <a16:creationId xmlns:a16="http://schemas.microsoft.com/office/drawing/2014/main" id="{02938C82-8445-E4DB-0A5B-01D2CF2AA9F9}"/>
              </a:ext>
            </a:extLst>
          </p:cNvPr>
          <p:cNvSpPr/>
          <p:nvPr/>
        </p:nvSpPr>
        <p:spPr>
          <a:xfrm>
            <a:off x="1592230" y="5536030"/>
            <a:ext cx="189411" cy="189411"/>
          </a:xfrm>
          <a:prstGeom prst="rect">
            <a:avLst/>
          </a:prstGeom>
          <a:solidFill>
            <a:srgbClr val="FFC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7" name="Rectangle 1056">
            <a:extLst>
              <a:ext uri="{FF2B5EF4-FFF2-40B4-BE49-F238E27FC236}">
                <a16:creationId xmlns:a16="http://schemas.microsoft.com/office/drawing/2014/main" id="{307AE4D0-FEC8-840D-C404-658644533B29}"/>
              </a:ext>
            </a:extLst>
          </p:cNvPr>
          <p:cNvSpPr/>
          <p:nvPr/>
        </p:nvSpPr>
        <p:spPr>
          <a:xfrm>
            <a:off x="1592341" y="5741697"/>
            <a:ext cx="189411" cy="189411"/>
          </a:xfrm>
          <a:prstGeom prst="rect">
            <a:avLst/>
          </a:prstGeom>
          <a:solidFill>
            <a:srgbClr val="0070C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8" name="Rectangle 1057">
            <a:extLst>
              <a:ext uri="{FF2B5EF4-FFF2-40B4-BE49-F238E27FC236}">
                <a16:creationId xmlns:a16="http://schemas.microsoft.com/office/drawing/2014/main" id="{2DFEDA45-B166-9CE8-A686-676938900F01}"/>
              </a:ext>
            </a:extLst>
          </p:cNvPr>
          <p:cNvSpPr/>
          <p:nvPr/>
        </p:nvSpPr>
        <p:spPr>
          <a:xfrm>
            <a:off x="1591141" y="5947364"/>
            <a:ext cx="189411" cy="189411"/>
          </a:xfrm>
          <a:prstGeom prst="rect">
            <a:avLst/>
          </a:prstGeom>
          <a:solidFill>
            <a:srgbClr val="00B0F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9" name="Rectangle 1058">
            <a:extLst>
              <a:ext uri="{FF2B5EF4-FFF2-40B4-BE49-F238E27FC236}">
                <a16:creationId xmlns:a16="http://schemas.microsoft.com/office/drawing/2014/main" id="{1998D44C-CAD7-0292-860C-F410535A3047}"/>
              </a:ext>
            </a:extLst>
          </p:cNvPr>
          <p:cNvSpPr/>
          <p:nvPr/>
        </p:nvSpPr>
        <p:spPr>
          <a:xfrm>
            <a:off x="1593883" y="6157793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7" name="TextBox 1066">
            <a:extLst>
              <a:ext uri="{FF2B5EF4-FFF2-40B4-BE49-F238E27FC236}">
                <a16:creationId xmlns:a16="http://schemas.microsoft.com/office/drawing/2014/main" id="{ED6C1D37-A616-04A6-B51B-9CC389820A8D}"/>
              </a:ext>
            </a:extLst>
          </p:cNvPr>
          <p:cNvSpPr txBox="1"/>
          <p:nvPr/>
        </p:nvSpPr>
        <p:spPr>
          <a:xfrm>
            <a:off x="263594" y="5330741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1</a:t>
            </a:r>
          </a:p>
        </p:txBody>
      </p:sp>
      <p:sp>
        <p:nvSpPr>
          <p:cNvPr id="1068" name="TextBox 1067">
            <a:extLst>
              <a:ext uri="{FF2B5EF4-FFF2-40B4-BE49-F238E27FC236}">
                <a16:creationId xmlns:a16="http://schemas.microsoft.com/office/drawing/2014/main" id="{14E58F4F-027A-2851-DAE8-31E783920643}"/>
              </a:ext>
            </a:extLst>
          </p:cNvPr>
          <p:cNvSpPr txBox="1"/>
          <p:nvPr/>
        </p:nvSpPr>
        <p:spPr>
          <a:xfrm>
            <a:off x="263594" y="5536408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2</a:t>
            </a:r>
          </a:p>
        </p:txBody>
      </p:sp>
      <p:sp>
        <p:nvSpPr>
          <p:cNvPr id="1069" name="TextBox 1068">
            <a:extLst>
              <a:ext uri="{FF2B5EF4-FFF2-40B4-BE49-F238E27FC236}">
                <a16:creationId xmlns:a16="http://schemas.microsoft.com/office/drawing/2014/main" id="{3F54CD22-7939-CB7E-3C6D-78A7B99280CD}"/>
              </a:ext>
            </a:extLst>
          </p:cNvPr>
          <p:cNvSpPr txBox="1"/>
          <p:nvPr/>
        </p:nvSpPr>
        <p:spPr>
          <a:xfrm>
            <a:off x="263594" y="5742075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3</a:t>
            </a:r>
          </a:p>
        </p:txBody>
      </p:sp>
      <p:sp>
        <p:nvSpPr>
          <p:cNvPr id="1070" name="TextBox 1069">
            <a:extLst>
              <a:ext uri="{FF2B5EF4-FFF2-40B4-BE49-F238E27FC236}">
                <a16:creationId xmlns:a16="http://schemas.microsoft.com/office/drawing/2014/main" id="{D36B1B08-FE41-C1B4-F4C4-A030C4B8F65F}"/>
              </a:ext>
            </a:extLst>
          </p:cNvPr>
          <p:cNvSpPr txBox="1"/>
          <p:nvPr/>
        </p:nvSpPr>
        <p:spPr>
          <a:xfrm>
            <a:off x="263594" y="5947742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4</a:t>
            </a:r>
          </a:p>
        </p:txBody>
      </p:sp>
      <p:sp>
        <p:nvSpPr>
          <p:cNvPr id="1071" name="TextBox 1070">
            <a:extLst>
              <a:ext uri="{FF2B5EF4-FFF2-40B4-BE49-F238E27FC236}">
                <a16:creationId xmlns:a16="http://schemas.microsoft.com/office/drawing/2014/main" id="{B255B512-7AD5-739E-AE4B-E4581688137C}"/>
              </a:ext>
            </a:extLst>
          </p:cNvPr>
          <p:cNvSpPr txBox="1"/>
          <p:nvPr/>
        </p:nvSpPr>
        <p:spPr>
          <a:xfrm>
            <a:off x="263594" y="6153409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5</a:t>
            </a:r>
          </a:p>
        </p:txBody>
      </p:sp>
      <p:sp>
        <p:nvSpPr>
          <p:cNvPr id="1072" name="TextBox 1071">
            <a:extLst>
              <a:ext uri="{FF2B5EF4-FFF2-40B4-BE49-F238E27FC236}">
                <a16:creationId xmlns:a16="http://schemas.microsoft.com/office/drawing/2014/main" id="{55168102-463C-5602-3568-6096DF771FB0}"/>
              </a:ext>
            </a:extLst>
          </p:cNvPr>
          <p:cNvSpPr txBox="1"/>
          <p:nvPr/>
        </p:nvSpPr>
        <p:spPr>
          <a:xfrm>
            <a:off x="812522" y="5120977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1077" name="TextBox 1076">
            <a:extLst>
              <a:ext uri="{FF2B5EF4-FFF2-40B4-BE49-F238E27FC236}">
                <a16:creationId xmlns:a16="http://schemas.microsoft.com/office/drawing/2014/main" id="{31F0F18E-56E1-BA72-5CD2-DA8AB4EB13F5}"/>
              </a:ext>
            </a:extLst>
          </p:cNvPr>
          <p:cNvSpPr txBox="1"/>
          <p:nvPr/>
        </p:nvSpPr>
        <p:spPr>
          <a:xfrm>
            <a:off x="1021561" y="5120977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1078" name="TextBox 1077">
            <a:extLst>
              <a:ext uri="{FF2B5EF4-FFF2-40B4-BE49-F238E27FC236}">
                <a16:creationId xmlns:a16="http://schemas.microsoft.com/office/drawing/2014/main" id="{83778C76-A844-0571-C098-5A28B9915D08}"/>
              </a:ext>
            </a:extLst>
          </p:cNvPr>
          <p:cNvSpPr txBox="1"/>
          <p:nvPr/>
        </p:nvSpPr>
        <p:spPr>
          <a:xfrm>
            <a:off x="1230600" y="5120977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1079" name="TextBox 1078">
            <a:extLst>
              <a:ext uri="{FF2B5EF4-FFF2-40B4-BE49-F238E27FC236}">
                <a16:creationId xmlns:a16="http://schemas.microsoft.com/office/drawing/2014/main" id="{E16FDFFF-7934-E91C-FBD2-785AFD8D0D91}"/>
              </a:ext>
            </a:extLst>
          </p:cNvPr>
          <p:cNvSpPr txBox="1"/>
          <p:nvPr/>
        </p:nvSpPr>
        <p:spPr>
          <a:xfrm>
            <a:off x="1439639" y="5120977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1080" name="TextBox 1079">
            <a:extLst>
              <a:ext uri="{FF2B5EF4-FFF2-40B4-BE49-F238E27FC236}">
                <a16:creationId xmlns:a16="http://schemas.microsoft.com/office/drawing/2014/main" id="{AB839C31-A100-3728-8963-A4772A59C260}"/>
              </a:ext>
            </a:extLst>
          </p:cNvPr>
          <p:cNvSpPr txBox="1"/>
          <p:nvPr/>
        </p:nvSpPr>
        <p:spPr>
          <a:xfrm>
            <a:off x="1659815" y="5120977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</a:p>
        </p:txBody>
      </p:sp>
      <p:sp>
        <p:nvSpPr>
          <p:cNvPr id="1081" name="Rectangle 1080">
            <a:extLst>
              <a:ext uri="{FF2B5EF4-FFF2-40B4-BE49-F238E27FC236}">
                <a16:creationId xmlns:a16="http://schemas.microsoft.com/office/drawing/2014/main" id="{4F73087F-4E1C-D838-68BF-B031FB54B02C}"/>
              </a:ext>
            </a:extLst>
          </p:cNvPr>
          <p:cNvSpPr/>
          <p:nvPr/>
        </p:nvSpPr>
        <p:spPr>
          <a:xfrm>
            <a:off x="767736" y="5330360"/>
            <a:ext cx="1015746" cy="10061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3" name="Rectangle 1082">
            <a:extLst>
              <a:ext uri="{FF2B5EF4-FFF2-40B4-BE49-F238E27FC236}">
                <a16:creationId xmlns:a16="http://schemas.microsoft.com/office/drawing/2014/main" id="{3308AF80-0B4A-E913-D125-47EAE24BDABE}"/>
              </a:ext>
            </a:extLst>
          </p:cNvPr>
          <p:cNvSpPr/>
          <p:nvPr/>
        </p:nvSpPr>
        <p:spPr>
          <a:xfrm>
            <a:off x="2510706" y="5323636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4" name="Rectangle 1083">
            <a:extLst>
              <a:ext uri="{FF2B5EF4-FFF2-40B4-BE49-F238E27FC236}">
                <a16:creationId xmlns:a16="http://schemas.microsoft.com/office/drawing/2014/main" id="{549B0FC4-B332-DCAC-1C11-6BE1D1D92D89}"/>
              </a:ext>
            </a:extLst>
          </p:cNvPr>
          <p:cNvSpPr/>
          <p:nvPr/>
        </p:nvSpPr>
        <p:spPr>
          <a:xfrm>
            <a:off x="2517056" y="5529303"/>
            <a:ext cx="189411" cy="189411"/>
          </a:xfrm>
          <a:prstGeom prst="rect">
            <a:avLst/>
          </a:prstGeom>
          <a:solidFill>
            <a:srgbClr val="452A4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5" name="Rectangle 1084">
            <a:extLst>
              <a:ext uri="{FF2B5EF4-FFF2-40B4-BE49-F238E27FC236}">
                <a16:creationId xmlns:a16="http://schemas.microsoft.com/office/drawing/2014/main" id="{27D89914-F6E7-6490-D0BC-0FF236112D5F}"/>
              </a:ext>
            </a:extLst>
          </p:cNvPr>
          <p:cNvSpPr/>
          <p:nvPr/>
        </p:nvSpPr>
        <p:spPr>
          <a:xfrm>
            <a:off x="2517167" y="5734970"/>
            <a:ext cx="189411" cy="189411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6" name="Rectangle 1085">
            <a:extLst>
              <a:ext uri="{FF2B5EF4-FFF2-40B4-BE49-F238E27FC236}">
                <a16:creationId xmlns:a16="http://schemas.microsoft.com/office/drawing/2014/main" id="{B97F6709-CF41-96F9-3A33-783A7F42BE6A}"/>
              </a:ext>
            </a:extLst>
          </p:cNvPr>
          <p:cNvSpPr/>
          <p:nvPr/>
        </p:nvSpPr>
        <p:spPr>
          <a:xfrm>
            <a:off x="2515967" y="5940637"/>
            <a:ext cx="189411" cy="189411"/>
          </a:xfrm>
          <a:prstGeom prst="rect">
            <a:avLst/>
          </a:prstGeom>
          <a:solidFill>
            <a:srgbClr val="00FFC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7" name="Rectangle 1086">
            <a:extLst>
              <a:ext uri="{FF2B5EF4-FFF2-40B4-BE49-F238E27FC236}">
                <a16:creationId xmlns:a16="http://schemas.microsoft.com/office/drawing/2014/main" id="{BFF1AB2A-2828-D83C-4FB7-999C1E2FC2F6}"/>
              </a:ext>
            </a:extLst>
          </p:cNvPr>
          <p:cNvSpPr/>
          <p:nvPr/>
        </p:nvSpPr>
        <p:spPr>
          <a:xfrm>
            <a:off x="2516328" y="6146304"/>
            <a:ext cx="189411" cy="189411"/>
          </a:xfrm>
          <a:prstGeom prst="re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8" name="Rectangle 1087">
            <a:extLst>
              <a:ext uri="{FF2B5EF4-FFF2-40B4-BE49-F238E27FC236}">
                <a16:creationId xmlns:a16="http://schemas.microsoft.com/office/drawing/2014/main" id="{F35A1772-6935-32BD-1B25-32C470F788CF}"/>
              </a:ext>
            </a:extLst>
          </p:cNvPr>
          <p:cNvSpPr/>
          <p:nvPr/>
        </p:nvSpPr>
        <p:spPr>
          <a:xfrm>
            <a:off x="2723644" y="5326264"/>
            <a:ext cx="189411" cy="189411"/>
          </a:xfrm>
          <a:prstGeom prst="rect">
            <a:avLst/>
          </a:prstGeom>
          <a:solidFill>
            <a:srgbClr val="452A4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9" name="Rectangle 1088">
            <a:extLst>
              <a:ext uri="{FF2B5EF4-FFF2-40B4-BE49-F238E27FC236}">
                <a16:creationId xmlns:a16="http://schemas.microsoft.com/office/drawing/2014/main" id="{B13B2732-643E-45EC-0DDB-A1F8C99E09FE}"/>
              </a:ext>
            </a:extLst>
          </p:cNvPr>
          <p:cNvSpPr/>
          <p:nvPr/>
        </p:nvSpPr>
        <p:spPr>
          <a:xfrm>
            <a:off x="2720469" y="5531931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0" name="Rectangle 1089">
            <a:extLst>
              <a:ext uri="{FF2B5EF4-FFF2-40B4-BE49-F238E27FC236}">
                <a16:creationId xmlns:a16="http://schemas.microsoft.com/office/drawing/2014/main" id="{D38C898D-25AF-456B-0FE2-0F72636D4950}"/>
              </a:ext>
            </a:extLst>
          </p:cNvPr>
          <p:cNvSpPr/>
          <p:nvPr/>
        </p:nvSpPr>
        <p:spPr>
          <a:xfrm>
            <a:off x="2723755" y="5737598"/>
            <a:ext cx="189411" cy="189411"/>
          </a:xfrm>
          <a:prstGeom prst="rect">
            <a:avLst/>
          </a:prstGeom>
          <a:solidFill>
            <a:srgbClr val="D2E93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1" name="Rectangle 1090">
            <a:extLst>
              <a:ext uri="{FF2B5EF4-FFF2-40B4-BE49-F238E27FC236}">
                <a16:creationId xmlns:a16="http://schemas.microsoft.com/office/drawing/2014/main" id="{664AC44A-1B9B-EDFC-981D-F40253EB13A9}"/>
              </a:ext>
            </a:extLst>
          </p:cNvPr>
          <p:cNvSpPr/>
          <p:nvPr/>
        </p:nvSpPr>
        <p:spPr>
          <a:xfrm>
            <a:off x="2722555" y="5943265"/>
            <a:ext cx="189411" cy="189411"/>
          </a:xfrm>
          <a:prstGeom prst="rect">
            <a:avLst/>
          </a:prstGeom>
          <a:solidFill>
            <a:srgbClr val="FFFF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2" name="Rectangle 1091">
            <a:extLst>
              <a:ext uri="{FF2B5EF4-FFF2-40B4-BE49-F238E27FC236}">
                <a16:creationId xmlns:a16="http://schemas.microsoft.com/office/drawing/2014/main" id="{61B38C61-0431-A969-8BCD-E44468010E04}"/>
              </a:ext>
            </a:extLst>
          </p:cNvPr>
          <p:cNvSpPr/>
          <p:nvPr/>
        </p:nvSpPr>
        <p:spPr>
          <a:xfrm>
            <a:off x="2722916" y="6148932"/>
            <a:ext cx="189411" cy="189411"/>
          </a:xfrm>
          <a:prstGeom prst="rect">
            <a:avLst/>
          </a:prstGeom>
          <a:solidFill>
            <a:srgbClr val="FDA63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3" name="Rectangle 1092">
            <a:extLst>
              <a:ext uri="{FF2B5EF4-FFF2-40B4-BE49-F238E27FC236}">
                <a16:creationId xmlns:a16="http://schemas.microsoft.com/office/drawing/2014/main" id="{FD77E336-DDEB-CDD0-572E-6F56D37C78BD}"/>
              </a:ext>
            </a:extLst>
          </p:cNvPr>
          <p:cNvSpPr/>
          <p:nvPr/>
        </p:nvSpPr>
        <p:spPr>
          <a:xfrm>
            <a:off x="2931903" y="5329606"/>
            <a:ext cx="189411" cy="189411"/>
          </a:xfrm>
          <a:prstGeom prst="rect">
            <a:avLst/>
          </a:prstGeom>
          <a:solidFill>
            <a:srgbClr val="FFC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4" name="Rectangle 1093">
            <a:extLst>
              <a:ext uri="{FF2B5EF4-FFF2-40B4-BE49-F238E27FC236}">
                <a16:creationId xmlns:a16="http://schemas.microsoft.com/office/drawing/2014/main" id="{A06B5A45-A323-6269-2D84-F5690D3B00F9}"/>
              </a:ext>
            </a:extLst>
          </p:cNvPr>
          <p:cNvSpPr/>
          <p:nvPr/>
        </p:nvSpPr>
        <p:spPr>
          <a:xfrm>
            <a:off x="2931903" y="5535273"/>
            <a:ext cx="189411" cy="189411"/>
          </a:xfrm>
          <a:prstGeom prst="rect">
            <a:avLst/>
          </a:prstGeom>
          <a:solidFill>
            <a:srgbClr val="D2E93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5" name="Rectangle 1094">
            <a:extLst>
              <a:ext uri="{FF2B5EF4-FFF2-40B4-BE49-F238E27FC236}">
                <a16:creationId xmlns:a16="http://schemas.microsoft.com/office/drawing/2014/main" id="{8021AAEC-0F65-C6F0-4913-326F38054739}"/>
              </a:ext>
            </a:extLst>
          </p:cNvPr>
          <p:cNvSpPr/>
          <p:nvPr/>
        </p:nvSpPr>
        <p:spPr>
          <a:xfrm>
            <a:off x="2932014" y="5740940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6" name="Rectangle 1095">
            <a:extLst>
              <a:ext uri="{FF2B5EF4-FFF2-40B4-BE49-F238E27FC236}">
                <a16:creationId xmlns:a16="http://schemas.microsoft.com/office/drawing/2014/main" id="{00E8CADD-2238-34B6-9599-75A7AA780D19}"/>
              </a:ext>
            </a:extLst>
          </p:cNvPr>
          <p:cNvSpPr/>
          <p:nvPr/>
        </p:nvSpPr>
        <p:spPr>
          <a:xfrm>
            <a:off x="2930814" y="5946607"/>
            <a:ext cx="189411" cy="189411"/>
          </a:xfrm>
          <a:prstGeom prst="rect">
            <a:avLst/>
          </a:prstGeom>
          <a:solidFill>
            <a:srgbClr val="33CC3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7" name="Rectangle 1096">
            <a:extLst>
              <a:ext uri="{FF2B5EF4-FFF2-40B4-BE49-F238E27FC236}">
                <a16:creationId xmlns:a16="http://schemas.microsoft.com/office/drawing/2014/main" id="{AEF2CCFA-C6E6-24A9-BBBE-223C1E307D3E}"/>
              </a:ext>
            </a:extLst>
          </p:cNvPr>
          <p:cNvSpPr/>
          <p:nvPr/>
        </p:nvSpPr>
        <p:spPr>
          <a:xfrm>
            <a:off x="2931175" y="6152274"/>
            <a:ext cx="189411" cy="189411"/>
          </a:xfrm>
          <a:prstGeom prst="rect">
            <a:avLst/>
          </a:prstGeom>
          <a:solidFill>
            <a:srgbClr val="0070C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8" name="Rectangle 1097">
            <a:extLst>
              <a:ext uri="{FF2B5EF4-FFF2-40B4-BE49-F238E27FC236}">
                <a16:creationId xmlns:a16="http://schemas.microsoft.com/office/drawing/2014/main" id="{E60D794C-CCA1-D1EA-DA45-0D2033A6C21A}"/>
              </a:ext>
            </a:extLst>
          </p:cNvPr>
          <p:cNvSpPr/>
          <p:nvPr/>
        </p:nvSpPr>
        <p:spPr>
          <a:xfrm>
            <a:off x="3138491" y="5328266"/>
            <a:ext cx="189411" cy="189411"/>
          </a:xfrm>
          <a:prstGeom prst="rect">
            <a:avLst/>
          </a:prstGeom>
          <a:solidFill>
            <a:srgbClr val="00FFC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9" name="Rectangle 1098">
            <a:extLst>
              <a:ext uri="{FF2B5EF4-FFF2-40B4-BE49-F238E27FC236}">
                <a16:creationId xmlns:a16="http://schemas.microsoft.com/office/drawing/2014/main" id="{0D1C5E17-7FCB-33CC-55A5-755DAD84FEA9}"/>
              </a:ext>
            </a:extLst>
          </p:cNvPr>
          <p:cNvSpPr/>
          <p:nvPr/>
        </p:nvSpPr>
        <p:spPr>
          <a:xfrm>
            <a:off x="3138491" y="5533933"/>
            <a:ext cx="189411" cy="189411"/>
          </a:xfrm>
          <a:prstGeom prst="rect">
            <a:avLst/>
          </a:prstGeom>
          <a:solidFill>
            <a:srgbClr val="FFFF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0" name="Rectangle 1099">
            <a:extLst>
              <a:ext uri="{FF2B5EF4-FFF2-40B4-BE49-F238E27FC236}">
                <a16:creationId xmlns:a16="http://schemas.microsoft.com/office/drawing/2014/main" id="{EB8B2EC3-4CCF-8FFA-4F2E-56B168E4ECF7}"/>
              </a:ext>
            </a:extLst>
          </p:cNvPr>
          <p:cNvSpPr/>
          <p:nvPr/>
        </p:nvSpPr>
        <p:spPr>
          <a:xfrm>
            <a:off x="3138602" y="5739600"/>
            <a:ext cx="189411" cy="189411"/>
          </a:xfrm>
          <a:prstGeom prst="rect">
            <a:avLst/>
          </a:prstGeom>
          <a:solidFill>
            <a:srgbClr val="33CC3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1" name="Rectangle 1100">
            <a:extLst>
              <a:ext uri="{FF2B5EF4-FFF2-40B4-BE49-F238E27FC236}">
                <a16:creationId xmlns:a16="http://schemas.microsoft.com/office/drawing/2014/main" id="{09954724-BE8F-3E96-9A66-29C440E64E3B}"/>
              </a:ext>
            </a:extLst>
          </p:cNvPr>
          <p:cNvSpPr/>
          <p:nvPr/>
        </p:nvSpPr>
        <p:spPr>
          <a:xfrm>
            <a:off x="3137402" y="5952411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2" name="Rectangle 1101">
            <a:extLst>
              <a:ext uri="{FF2B5EF4-FFF2-40B4-BE49-F238E27FC236}">
                <a16:creationId xmlns:a16="http://schemas.microsoft.com/office/drawing/2014/main" id="{6EE58CAA-BBA3-40AD-0C5A-030953AD287F}"/>
              </a:ext>
            </a:extLst>
          </p:cNvPr>
          <p:cNvSpPr/>
          <p:nvPr/>
        </p:nvSpPr>
        <p:spPr>
          <a:xfrm>
            <a:off x="3137763" y="6153315"/>
            <a:ext cx="189411" cy="189411"/>
          </a:xfrm>
          <a:prstGeom prst="re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3" name="Rectangle 1102">
            <a:extLst>
              <a:ext uri="{FF2B5EF4-FFF2-40B4-BE49-F238E27FC236}">
                <a16:creationId xmlns:a16="http://schemas.microsoft.com/office/drawing/2014/main" id="{89009D07-CB1C-5FC7-4F79-D0187AB6706C}"/>
              </a:ext>
            </a:extLst>
          </p:cNvPr>
          <p:cNvSpPr/>
          <p:nvPr/>
        </p:nvSpPr>
        <p:spPr>
          <a:xfrm>
            <a:off x="3344480" y="5329608"/>
            <a:ext cx="189411" cy="189411"/>
          </a:xfrm>
          <a:prstGeom prst="re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4" name="Rectangle 1103">
            <a:extLst>
              <a:ext uri="{FF2B5EF4-FFF2-40B4-BE49-F238E27FC236}">
                <a16:creationId xmlns:a16="http://schemas.microsoft.com/office/drawing/2014/main" id="{05643561-A6D3-2E91-CF96-48CD6E5FFB93}"/>
              </a:ext>
            </a:extLst>
          </p:cNvPr>
          <p:cNvSpPr/>
          <p:nvPr/>
        </p:nvSpPr>
        <p:spPr>
          <a:xfrm>
            <a:off x="3344480" y="5535275"/>
            <a:ext cx="189411" cy="189411"/>
          </a:xfrm>
          <a:prstGeom prst="rect">
            <a:avLst/>
          </a:prstGeom>
          <a:solidFill>
            <a:srgbClr val="FFC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5" name="Rectangle 1104">
            <a:extLst>
              <a:ext uri="{FF2B5EF4-FFF2-40B4-BE49-F238E27FC236}">
                <a16:creationId xmlns:a16="http://schemas.microsoft.com/office/drawing/2014/main" id="{DF2E4C72-2ABC-EA4D-A0F3-5DA04385FA2D}"/>
              </a:ext>
            </a:extLst>
          </p:cNvPr>
          <p:cNvSpPr/>
          <p:nvPr/>
        </p:nvSpPr>
        <p:spPr>
          <a:xfrm>
            <a:off x="3344591" y="5740942"/>
            <a:ext cx="189411" cy="189411"/>
          </a:xfrm>
          <a:prstGeom prst="rect">
            <a:avLst/>
          </a:prstGeom>
          <a:solidFill>
            <a:srgbClr val="0070C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6" name="Rectangle 1105">
            <a:extLst>
              <a:ext uri="{FF2B5EF4-FFF2-40B4-BE49-F238E27FC236}">
                <a16:creationId xmlns:a16="http://schemas.microsoft.com/office/drawing/2014/main" id="{1DCDF257-708E-2BE2-6664-A6CD58D909B6}"/>
              </a:ext>
            </a:extLst>
          </p:cNvPr>
          <p:cNvSpPr/>
          <p:nvPr/>
        </p:nvSpPr>
        <p:spPr>
          <a:xfrm>
            <a:off x="3343391" y="5946609"/>
            <a:ext cx="189411" cy="189411"/>
          </a:xfrm>
          <a:prstGeom prst="re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7" name="Rectangle 1106">
            <a:extLst>
              <a:ext uri="{FF2B5EF4-FFF2-40B4-BE49-F238E27FC236}">
                <a16:creationId xmlns:a16="http://schemas.microsoft.com/office/drawing/2014/main" id="{F5DBE20A-542C-FA5C-34C9-1800B043CDA5}"/>
              </a:ext>
            </a:extLst>
          </p:cNvPr>
          <p:cNvSpPr/>
          <p:nvPr/>
        </p:nvSpPr>
        <p:spPr>
          <a:xfrm>
            <a:off x="3346133" y="6157038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8" name="TextBox 1107">
            <a:extLst>
              <a:ext uri="{FF2B5EF4-FFF2-40B4-BE49-F238E27FC236}">
                <a16:creationId xmlns:a16="http://schemas.microsoft.com/office/drawing/2014/main" id="{BF107B2B-1F6A-3EE7-8435-97645B3612AD}"/>
              </a:ext>
            </a:extLst>
          </p:cNvPr>
          <p:cNvSpPr txBox="1"/>
          <p:nvPr/>
        </p:nvSpPr>
        <p:spPr>
          <a:xfrm>
            <a:off x="2012914" y="5329986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1</a:t>
            </a:r>
          </a:p>
        </p:txBody>
      </p:sp>
      <p:sp>
        <p:nvSpPr>
          <p:cNvPr id="1109" name="TextBox 1108">
            <a:extLst>
              <a:ext uri="{FF2B5EF4-FFF2-40B4-BE49-F238E27FC236}">
                <a16:creationId xmlns:a16="http://schemas.microsoft.com/office/drawing/2014/main" id="{AAFBFD53-F569-B34D-C08C-3B900214CC19}"/>
              </a:ext>
            </a:extLst>
          </p:cNvPr>
          <p:cNvSpPr txBox="1"/>
          <p:nvPr/>
        </p:nvSpPr>
        <p:spPr>
          <a:xfrm>
            <a:off x="2012914" y="5535653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2</a:t>
            </a:r>
          </a:p>
        </p:txBody>
      </p:sp>
      <p:sp>
        <p:nvSpPr>
          <p:cNvPr id="1110" name="TextBox 1109">
            <a:extLst>
              <a:ext uri="{FF2B5EF4-FFF2-40B4-BE49-F238E27FC236}">
                <a16:creationId xmlns:a16="http://schemas.microsoft.com/office/drawing/2014/main" id="{61A2D6EE-9E1B-8B42-075E-CD06EEF67FFB}"/>
              </a:ext>
            </a:extLst>
          </p:cNvPr>
          <p:cNvSpPr txBox="1"/>
          <p:nvPr/>
        </p:nvSpPr>
        <p:spPr>
          <a:xfrm>
            <a:off x="2012914" y="5741320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3</a:t>
            </a:r>
          </a:p>
        </p:txBody>
      </p:sp>
      <p:sp>
        <p:nvSpPr>
          <p:cNvPr id="1111" name="TextBox 1110">
            <a:extLst>
              <a:ext uri="{FF2B5EF4-FFF2-40B4-BE49-F238E27FC236}">
                <a16:creationId xmlns:a16="http://schemas.microsoft.com/office/drawing/2014/main" id="{0DD861D0-D2A9-7F63-1878-E362F0A885CC}"/>
              </a:ext>
            </a:extLst>
          </p:cNvPr>
          <p:cNvSpPr txBox="1"/>
          <p:nvPr/>
        </p:nvSpPr>
        <p:spPr>
          <a:xfrm>
            <a:off x="2012914" y="5946987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4</a:t>
            </a:r>
          </a:p>
        </p:txBody>
      </p:sp>
      <p:sp>
        <p:nvSpPr>
          <p:cNvPr id="1112" name="TextBox 1111">
            <a:extLst>
              <a:ext uri="{FF2B5EF4-FFF2-40B4-BE49-F238E27FC236}">
                <a16:creationId xmlns:a16="http://schemas.microsoft.com/office/drawing/2014/main" id="{81CBCE39-A54D-1602-12BE-9F34E91B1A86}"/>
              </a:ext>
            </a:extLst>
          </p:cNvPr>
          <p:cNvSpPr txBox="1"/>
          <p:nvPr/>
        </p:nvSpPr>
        <p:spPr>
          <a:xfrm>
            <a:off x="2012914" y="6152654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5</a:t>
            </a:r>
          </a:p>
        </p:txBody>
      </p:sp>
      <p:sp>
        <p:nvSpPr>
          <p:cNvPr id="1113" name="TextBox 1112">
            <a:extLst>
              <a:ext uri="{FF2B5EF4-FFF2-40B4-BE49-F238E27FC236}">
                <a16:creationId xmlns:a16="http://schemas.microsoft.com/office/drawing/2014/main" id="{60C4CC48-E0FD-04B7-A2A5-BCCBF182BFAA}"/>
              </a:ext>
            </a:extLst>
          </p:cNvPr>
          <p:cNvSpPr txBox="1"/>
          <p:nvPr/>
        </p:nvSpPr>
        <p:spPr>
          <a:xfrm>
            <a:off x="2561842" y="5120222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1114" name="TextBox 1113">
            <a:extLst>
              <a:ext uri="{FF2B5EF4-FFF2-40B4-BE49-F238E27FC236}">
                <a16:creationId xmlns:a16="http://schemas.microsoft.com/office/drawing/2014/main" id="{4DB0D961-2909-4EC6-05B5-AD3BE3F99B6C}"/>
              </a:ext>
            </a:extLst>
          </p:cNvPr>
          <p:cNvSpPr txBox="1"/>
          <p:nvPr/>
        </p:nvSpPr>
        <p:spPr>
          <a:xfrm>
            <a:off x="2770881" y="5120222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1115" name="TextBox 1114">
            <a:extLst>
              <a:ext uri="{FF2B5EF4-FFF2-40B4-BE49-F238E27FC236}">
                <a16:creationId xmlns:a16="http://schemas.microsoft.com/office/drawing/2014/main" id="{8B4DFD2A-2662-F778-9567-E5DCD7A826AC}"/>
              </a:ext>
            </a:extLst>
          </p:cNvPr>
          <p:cNvSpPr txBox="1"/>
          <p:nvPr/>
        </p:nvSpPr>
        <p:spPr>
          <a:xfrm>
            <a:off x="2979920" y="5120222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1116" name="TextBox 1115">
            <a:extLst>
              <a:ext uri="{FF2B5EF4-FFF2-40B4-BE49-F238E27FC236}">
                <a16:creationId xmlns:a16="http://schemas.microsoft.com/office/drawing/2014/main" id="{C811FEDA-2E0C-CC6A-C54D-C3841A794EC5}"/>
              </a:ext>
            </a:extLst>
          </p:cNvPr>
          <p:cNvSpPr txBox="1"/>
          <p:nvPr/>
        </p:nvSpPr>
        <p:spPr>
          <a:xfrm>
            <a:off x="3188959" y="5120222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1117" name="TextBox 1116">
            <a:extLst>
              <a:ext uri="{FF2B5EF4-FFF2-40B4-BE49-F238E27FC236}">
                <a16:creationId xmlns:a16="http://schemas.microsoft.com/office/drawing/2014/main" id="{2F0FDFDA-8DF6-34BA-52A3-FA1F8FC027F2}"/>
              </a:ext>
            </a:extLst>
          </p:cNvPr>
          <p:cNvSpPr txBox="1"/>
          <p:nvPr/>
        </p:nvSpPr>
        <p:spPr>
          <a:xfrm>
            <a:off x="3397997" y="5120222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</a:p>
        </p:txBody>
      </p:sp>
      <p:sp>
        <p:nvSpPr>
          <p:cNvPr id="1118" name="Rectangle 1117">
            <a:extLst>
              <a:ext uri="{FF2B5EF4-FFF2-40B4-BE49-F238E27FC236}">
                <a16:creationId xmlns:a16="http://schemas.microsoft.com/office/drawing/2014/main" id="{1FDAC2F7-95CA-7595-0744-8B0A12E0C00E}"/>
              </a:ext>
            </a:extLst>
          </p:cNvPr>
          <p:cNvSpPr/>
          <p:nvPr/>
        </p:nvSpPr>
        <p:spPr>
          <a:xfrm>
            <a:off x="2517056" y="5329605"/>
            <a:ext cx="1015746" cy="10061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9" name="Rectangle 1118">
            <a:extLst>
              <a:ext uri="{FF2B5EF4-FFF2-40B4-BE49-F238E27FC236}">
                <a16:creationId xmlns:a16="http://schemas.microsoft.com/office/drawing/2014/main" id="{9D3B496F-3B3A-256B-4C8F-685F4EAEF8B1}"/>
              </a:ext>
            </a:extLst>
          </p:cNvPr>
          <p:cNvSpPr/>
          <p:nvPr/>
        </p:nvSpPr>
        <p:spPr>
          <a:xfrm>
            <a:off x="4260146" y="5330648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0" name="Rectangle 1119">
            <a:extLst>
              <a:ext uri="{FF2B5EF4-FFF2-40B4-BE49-F238E27FC236}">
                <a16:creationId xmlns:a16="http://schemas.microsoft.com/office/drawing/2014/main" id="{8795FAF4-C3FF-244F-CBEC-54B1FE92A41B}"/>
              </a:ext>
            </a:extLst>
          </p:cNvPr>
          <p:cNvSpPr/>
          <p:nvPr/>
        </p:nvSpPr>
        <p:spPr>
          <a:xfrm>
            <a:off x="4266496" y="5536315"/>
            <a:ext cx="189411" cy="189411"/>
          </a:xfrm>
          <a:prstGeom prst="rect">
            <a:avLst/>
          </a:prstGeom>
          <a:solidFill>
            <a:srgbClr val="C0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1" name="Rectangle 1120">
            <a:extLst>
              <a:ext uri="{FF2B5EF4-FFF2-40B4-BE49-F238E27FC236}">
                <a16:creationId xmlns:a16="http://schemas.microsoft.com/office/drawing/2014/main" id="{0B0113C9-076B-B6B6-504A-BD4221205190}"/>
              </a:ext>
            </a:extLst>
          </p:cNvPr>
          <p:cNvSpPr/>
          <p:nvPr/>
        </p:nvSpPr>
        <p:spPr>
          <a:xfrm>
            <a:off x="4266607" y="5741982"/>
            <a:ext cx="189411" cy="189411"/>
          </a:xfrm>
          <a:prstGeom prst="rect">
            <a:avLst/>
          </a:prstGeom>
          <a:solidFill>
            <a:srgbClr val="00FFC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2" name="Rectangle 1121">
            <a:extLst>
              <a:ext uri="{FF2B5EF4-FFF2-40B4-BE49-F238E27FC236}">
                <a16:creationId xmlns:a16="http://schemas.microsoft.com/office/drawing/2014/main" id="{5BEF87D7-2ADD-4248-7F69-FEC6C56149CA}"/>
              </a:ext>
            </a:extLst>
          </p:cNvPr>
          <p:cNvSpPr/>
          <p:nvPr/>
        </p:nvSpPr>
        <p:spPr>
          <a:xfrm>
            <a:off x="4265407" y="5947649"/>
            <a:ext cx="189411" cy="189411"/>
          </a:xfrm>
          <a:prstGeom prst="rect">
            <a:avLst/>
          </a:prstGeom>
          <a:solidFill>
            <a:srgbClr val="452A4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3" name="Rectangle 1122">
            <a:extLst>
              <a:ext uri="{FF2B5EF4-FFF2-40B4-BE49-F238E27FC236}">
                <a16:creationId xmlns:a16="http://schemas.microsoft.com/office/drawing/2014/main" id="{510C789A-BD49-452F-8233-567441FC32E5}"/>
              </a:ext>
            </a:extLst>
          </p:cNvPr>
          <p:cNvSpPr/>
          <p:nvPr/>
        </p:nvSpPr>
        <p:spPr>
          <a:xfrm>
            <a:off x="4265768" y="6153316"/>
            <a:ext cx="189411" cy="189411"/>
          </a:xfrm>
          <a:prstGeom prst="rect">
            <a:avLst/>
          </a:prstGeom>
          <a:solidFill>
            <a:srgbClr val="FE962B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4" name="Rectangle 1123">
            <a:extLst>
              <a:ext uri="{FF2B5EF4-FFF2-40B4-BE49-F238E27FC236}">
                <a16:creationId xmlns:a16="http://schemas.microsoft.com/office/drawing/2014/main" id="{C78B49DE-D355-AED7-5B43-9A79994B2CD8}"/>
              </a:ext>
            </a:extLst>
          </p:cNvPr>
          <p:cNvSpPr/>
          <p:nvPr/>
        </p:nvSpPr>
        <p:spPr>
          <a:xfrm>
            <a:off x="4473084" y="5333276"/>
            <a:ext cx="189411" cy="189411"/>
          </a:xfrm>
          <a:prstGeom prst="rect">
            <a:avLst/>
          </a:prstGeom>
          <a:solidFill>
            <a:srgbClr val="C0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5" name="Rectangle 1124">
            <a:extLst>
              <a:ext uri="{FF2B5EF4-FFF2-40B4-BE49-F238E27FC236}">
                <a16:creationId xmlns:a16="http://schemas.microsoft.com/office/drawing/2014/main" id="{4B702B5B-EF20-C080-F232-3507952BFA61}"/>
              </a:ext>
            </a:extLst>
          </p:cNvPr>
          <p:cNvSpPr/>
          <p:nvPr/>
        </p:nvSpPr>
        <p:spPr>
          <a:xfrm>
            <a:off x="4469909" y="5538943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6" name="Rectangle 1125">
            <a:extLst>
              <a:ext uri="{FF2B5EF4-FFF2-40B4-BE49-F238E27FC236}">
                <a16:creationId xmlns:a16="http://schemas.microsoft.com/office/drawing/2014/main" id="{BD135577-CB3C-DC4E-E12F-0302E8512964}"/>
              </a:ext>
            </a:extLst>
          </p:cNvPr>
          <p:cNvSpPr/>
          <p:nvPr/>
        </p:nvSpPr>
        <p:spPr>
          <a:xfrm>
            <a:off x="4473195" y="5744610"/>
            <a:ext cx="189411" cy="189411"/>
          </a:xfrm>
          <a:prstGeom prst="rect">
            <a:avLst/>
          </a:prstGeom>
          <a:solidFill>
            <a:srgbClr val="D2E93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7" name="Rectangle 1126">
            <a:extLst>
              <a:ext uri="{FF2B5EF4-FFF2-40B4-BE49-F238E27FC236}">
                <a16:creationId xmlns:a16="http://schemas.microsoft.com/office/drawing/2014/main" id="{FDF10CE2-EADE-2D76-02DB-4E684E7C2B88}"/>
              </a:ext>
            </a:extLst>
          </p:cNvPr>
          <p:cNvSpPr/>
          <p:nvPr/>
        </p:nvSpPr>
        <p:spPr>
          <a:xfrm>
            <a:off x="4471995" y="5950277"/>
            <a:ext cx="189411" cy="189411"/>
          </a:xfrm>
          <a:prstGeom prst="rect">
            <a:avLst/>
          </a:prstGeom>
          <a:solidFill>
            <a:srgbClr val="FFFF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8" name="Rectangle 1127">
            <a:extLst>
              <a:ext uri="{FF2B5EF4-FFF2-40B4-BE49-F238E27FC236}">
                <a16:creationId xmlns:a16="http://schemas.microsoft.com/office/drawing/2014/main" id="{D6C01A9D-44C4-5B49-110A-480C78A9116F}"/>
              </a:ext>
            </a:extLst>
          </p:cNvPr>
          <p:cNvSpPr/>
          <p:nvPr/>
        </p:nvSpPr>
        <p:spPr>
          <a:xfrm>
            <a:off x="4472356" y="6155944"/>
            <a:ext cx="189411" cy="189411"/>
          </a:xfrm>
          <a:prstGeom prst="rect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9" name="Rectangle 1128">
            <a:extLst>
              <a:ext uri="{FF2B5EF4-FFF2-40B4-BE49-F238E27FC236}">
                <a16:creationId xmlns:a16="http://schemas.microsoft.com/office/drawing/2014/main" id="{6805282B-5D17-DA74-8A8A-F3A430B02AD1}"/>
              </a:ext>
            </a:extLst>
          </p:cNvPr>
          <p:cNvSpPr/>
          <p:nvPr/>
        </p:nvSpPr>
        <p:spPr>
          <a:xfrm>
            <a:off x="4681343" y="5336618"/>
            <a:ext cx="189411" cy="189411"/>
          </a:xfrm>
          <a:prstGeom prst="rect">
            <a:avLst/>
          </a:prstGeom>
          <a:solidFill>
            <a:srgbClr val="00FFC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0" name="Rectangle 1129">
            <a:extLst>
              <a:ext uri="{FF2B5EF4-FFF2-40B4-BE49-F238E27FC236}">
                <a16:creationId xmlns:a16="http://schemas.microsoft.com/office/drawing/2014/main" id="{586B10C5-337A-7DAA-8A38-E85441904862}"/>
              </a:ext>
            </a:extLst>
          </p:cNvPr>
          <p:cNvSpPr/>
          <p:nvPr/>
        </p:nvSpPr>
        <p:spPr>
          <a:xfrm>
            <a:off x="4681343" y="5542285"/>
            <a:ext cx="189411" cy="189411"/>
          </a:xfrm>
          <a:prstGeom prst="rect">
            <a:avLst/>
          </a:prstGeom>
          <a:solidFill>
            <a:srgbClr val="D2E93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1" name="Rectangle 1130">
            <a:extLst>
              <a:ext uri="{FF2B5EF4-FFF2-40B4-BE49-F238E27FC236}">
                <a16:creationId xmlns:a16="http://schemas.microsoft.com/office/drawing/2014/main" id="{1E38908C-60C3-E78F-5D19-C23CD6725C26}"/>
              </a:ext>
            </a:extLst>
          </p:cNvPr>
          <p:cNvSpPr/>
          <p:nvPr/>
        </p:nvSpPr>
        <p:spPr>
          <a:xfrm>
            <a:off x="4681454" y="5747952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2" name="Rectangle 1131">
            <a:extLst>
              <a:ext uri="{FF2B5EF4-FFF2-40B4-BE49-F238E27FC236}">
                <a16:creationId xmlns:a16="http://schemas.microsoft.com/office/drawing/2014/main" id="{5CAD34CB-83B4-7083-F6DF-6A4B1214D9C1}"/>
              </a:ext>
            </a:extLst>
          </p:cNvPr>
          <p:cNvSpPr/>
          <p:nvPr/>
        </p:nvSpPr>
        <p:spPr>
          <a:xfrm>
            <a:off x="4680254" y="5953619"/>
            <a:ext cx="189411" cy="189411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3" name="Rectangle 1132">
            <a:extLst>
              <a:ext uri="{FF2B5EF4-FFF2-40B4-BE49-F238E27FC236}">
                <a16:creationId xmlns:a16="http://schemas.microsoft.com/office/drawing/2014/main" id="{8D86693D-B01C-C0AB-5DB1-163652333285}"/>
              </a:ext>
            </a:extLst>
          </p:cNvPr>
          <p:cNvSpPr/>
          <p:nvPr/>
        </p:nvSpPr>
        <p:spPr>
          <a:xfrm>
            <a:off x="4680615" y="6159286"/>
            <a:ext cx="189411" cy="189411"/>
          </a:xfrm>
          <a:prstGeom prst="rect">
            <a:avLst/>
          </a:prstGeom>
          <a:solidFill>
            <a:srgbClr val="D2E93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4" name="Rectangle 1133">
            <a:extLst>
              <a:ext uri="{FF2B5EF4-FFF2-40B4-BE49-F238E27FC236}">
                <a16:creationId xmlns:a16="http://schemas.microsoft.com/office/drawing/2014/main" id="{766694FF-6481-B669-7D04-38FB8EA158D3}"/>
              </a:ext>
            </a:extLst>
          </p:cNvPr>
          <p:cNvSpPr/>
          <p:nvPr/>
        </p:nvSpPr>
        <p:spPr>
          <a:xfrm>
            <a:off x="4887931" y="5335278"/>
            <a:ext cx="189411" cy="189411"/>
          </a:xfrm>
          <a:prstGeom prst="rect">
            <a:avLst/>
          </a:prstGeom>
          <a:solidFill>
            <a:srgbClr val="452A4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5" name="Rectangle 1134">
            <a:extLst>
              <a:ext uri="{FF2B5EF4-FFF2-40B4-BE49-F238E27FC236}">
                <a16:creationId xmlns:a16="http://schemas.microsoft.com/office/drawing/2014/main" id="{8960AFEF-4AA4-1985-6B87-2E89B8773FCE}"/>
              </a:ext>
            </a:extLst>
          </p:cNvPr>
          <p:cNvSpPr/>
          <p:nvPr/>
        </p:nvSpPr>
        <p:spPr>
          <a:xfrm>
            <a:off x="4887931" y="5540945"/>
            <a:ext cx="189411" cy="189411"/>
          </a:xfrm>
          <a:prstGeom prst="rect">
            <a:avLst/>
          </a:prstGeom>
          <a:solidFill>
            <a:srgbClr val="FFFF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6" name="Rectangle 1135">
            <a:extLst>
              <a:ext uri="{FF2B5EF4-FFF2-40B4-BE49-F238E27FC236}">
                <a16:creationId xmlns:a16="http://schemas.microsoft.com/office/drawing/2014/main" id="{766D5F51-EE42-9D94-1D81-1E06A460AA3A}"/>
              </a:ext>
            </a:extLst>
          </p:cNvPr>
          <p:cNvSpPr/>
          <p:nvPr/>
        </p:nvSpPr>
        <p:spPr>
          <a:xfrm>
            <a:off x="4888042" y="5746612"/>
            <a:ext cx="189411" cy="189411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7" name="Rectangle 1136">
            <a:extLst>
              <a:ext uri="{FF2B5EF4-FFF2-40B4-BE49-F238E27FC236}">
                <a16:creationId xmlns:a16="http://schemas.microsoft.com/office/drawing/2014/main" id="{B2C65A12-7B9E-7B06-2F64-32E5F25EAAD2}"/>
              </a:ext>
            </a:extLst>
          </p:cNvPr>
          <p:cNvSpPr/>
          <p:nvPr/>
        </p:nvSpPr>
        <p:spPr>
          <a:xfrm>
            <a:off x="4886842" y="5959423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8" name="Rectangle 1137">
            <a:extLst>
              <a:ext uri="{FF2B5EF4-FFF2-40B4-BE49-F238E27FC236}">
                <a16:creationId xmlns:a16="http://schemas.microsoft.com/office/drawing/2014/main" id="{DAF8A47B-302C-E07E-3E72-9A101B28D8BE}"/>
              </a:ext>
            </a:extLst>
          </p:cNvPr>
          <p:cNvSpPr/>
          <p:nvPr/>
        </p:nvSpPr>
        <p:spPr>
          <a:xfrm>
            <a:off x="4887203" y="6160327"/>
            <a:ext cx="189411" cy="189411"/>
          </a:xfrm>
          <a:prstGeom prst="re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9" name="Rectangle 1138">
            <a:extLst>
              <a:ext uri="{FF2B5EF4-FFF2-40B4-BE49-F238E27FC236}">
                <a16:creationId xmlns:a16="http://schemas.microsoft.com/office/drawing/2014/main" id="{6293F2F2-1B97-7D50-62EE-D2C3A88A95C2}"/>
              </a:ext>
            </a:extLst>
          </p:cNvPr>
          <p:cNvSpPr/>
          <p:nvPr/>
        </p:nvSpPr>
        <p:spPr>
          <a:xfrm>
            <a:off x="5093920" y="5336620"/>
            <a:ext cx="189411" cy="189411"/>
          </a:xfrm>
          <a:prstGeom prst="rect">
            <a:avLst/>
          </a:prstGeom>
          <a:solidFill>
            <a:srgbClr val="FE962B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0" name="Rectangle 1139">
            <a:extLst>
              <a:ext uri="{FF2B5EF4-FFF2-40B4-BE49-F238E27FC236}">
                <a16:creationId xmlns:a16="http://schemas.microsoft.com/office/drawing/2014/main" id="{65CD5945-D106-1E98-1844-FD2FE3531C08}"/>
              </a:ext>
            </a:extLst>
          </p:cNvPr>
          <p:cNvSpPr/>
          <p:nvPr/>
        </p:nvSpPr>
        <p:spPr>
          <a:xfrm>
            <a:off x="5093920" y="5542287"/>
            <a:ext cx="189411" cy="189411"/>
          </a:xfrm>
          <a:prstGeom prst="rect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1" name="Rectangle 1140">
            <a:extLst>
              <a:ext uri="{FF2B5EF4-FFF2-40B4-BE49-F238E27FC236}">
                <a16:creationId xmlns:a16="http://schemas.microsoft.com/office/drawing/2014/main" id="{837A171E-0DA1-08FE-F2C6-745B75427164}"/>
              </a:ext>
            </a:extLst>
          </p:cNvPr>
          <p:cNvSpPr/>
          <p:nvPr/>
        </p:nvSpPr>
        <p:spPr>
          <a:xfrm>
            <a:off x="5094031" y="5747954"/>
            <a:ext cx="189411" cy="189411"/>
          </a:xfrm>
          <a:prstGeom prst="rect">
            <a:avLst/>
          </a:prstGeom>
          <a:solidFill>
            <a:srgbClr val="D2E93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2" name="Rectangle 1141">
            <a:extLst>
              <a:ext uri="{FF2B5EF4-FFF2-40B4-BE49-F238E27FC236}">
                <a16:creationId xmlns:a16="http://schemas.microsoft.com/office/drawing/2014/main" id="{965D7D6A-1D6B-E429-413D-FE464BCB1526}"/>
              </a:ext>
            </a:extLst>
          </p:cNvPr>
          <p:cNvSpPr/>
          <p:nvPr/>
        </p:nvSpPr>
        <p:spPr>
          <a:xfrm>
            <a:off x="5092831" y="5953621"/>
            <a:ext cx="189411" cy="189411"/>
          </a:xfrm>
          <a:prstGeom prst="re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3" name="Rectangle 1142">
            <a:extLst>
              <a:ext uri="{FF2B5EF4-FFF2-40B4-BE49-F238E27FC236}">
                <a16:creationId xmlns:a16="http://schemas.microsoft.com/office/drawing/2014/main" id="{68D4DF1C-F28F-638C-4FA1-B5DC2FDE48A5}"/>
              </a:ext>
            </a:extLst>
          </p:cNvPr>
          <p:cNvSpPr/>
          <p:nvPr/>
        </p:nvSpPr>
        <p:spPr>
          <a:xfrm>
            <a:off x="5095573" y="6164050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4" name="TextBox 1143">
            <a:extLst>
              <a:ext uri="{FF2B5EF4-FFF2-40B4-BE49-F238E27FC236}">
                <a16:creationId xmlns:a16="http://schemas.microsoft.com/office/drawing/2014/main" id="{D5C65C1A-E2C1-049E-138F-ED6BB55F4A0C}"/>
              </a:ext>
            </a:extLst>
          </p:cNvPr>
          <p:cNvSpPr txBox="1"/>
          <p:nvPr/>
        </p:nvSpPr>
        <p:spPr>
          <a:xfrm>
            <a:off x="3762354" y="5336998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1</a:t>
            </a:r>
          </a:p>
        </p:txBody>
      </p:sp>
      <p:sp>
        <p:nvSpPr>
          <p:cNvPr id="1145" name="TextBox 1144">
            <a:extLst>
              <a:ext uri="{FF2B5EF4-FFF2-40B4-BE49-F238E27FC236}">
                <a16:creationId xmlns:a16="http://schemas.microsoft.com/office/drawing/2014/main" id="{73133EFF-FABA-84F0-EA6F-2C68DC561886}"/>
              </a:ext>
            </a:extLst>
          </p:cNvPr>
          <p:cNvSpPr txBox="1"/>
          <p:nvPr/>
        </p:nvSpPr>
        <p:spPr>
          <a:xfrm>
            <a:off x="3762354" y="5542665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2</a:t>
            </a:r>
          </a:p>
        </p:txBody>
      </p:sp>
      <p:sp>
        <p:nvSpPr>
          <p:cNvPr id="1146" name="TextBox 1145">
            <a:extLst>
              <a:ext uri="{FF2B5EF4-FFF2-40B4-BE49-F238E27FC236}">
                <a16:creationId xmlns:a16="http://schemas.microsoft.com/office/drawing/2014/main" id="{D1F39983-78E8-D156-96FA-13FBE38DEE88}"/>
              </a:ext>
            </a:extLst>
          </p:cNvPr>
          <p:cNvSpPr txBox="1"/>
          <p:nvPr/>
        </p:nvSpPr>
        <p:spPr>
          <a:xfrm>
            <a:off x="3762354" y="5748332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3</a:t>
            </a:r>
          </a:p>
        </p:txBody>
      </p:sp>
      <p:sp>
        <p:nvSpPr>
          <p:cNvPr id="1147" name="TextBox 1146">
            <a:extLst>
              <a:ext uri="{FF2B5EF4-FFF2-40B4-BE49-F238E27FC236}">
                <a16:creationId xmlns:a16="http://schemas.microsoft.com/office/drawing/2014/main" id="{1D878C6B-85CD-6944-3203-3ABA404BDC67}"/>
              </a:ext>
            </a:extLst>
          </p:cNvPr>
          <p:cNvSpPr txBox="1"/>
          <p:nvPr/>
        </p:nvSpPr>
        <p:spPr>
          <a:xfrm>
            <a:off x="3762354" y="5953999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4</a:t>
            </a:r>
          </a:p>
        </p:txBody>
      </p:sp>
      <p:sp>
        <p:nvSpPr>
          <p:cNvPr id="1148" name="TextBox 1147">
            <a:extLst>
              <a:ext uri="{FF2B5EF4-FFF2-40B4-BE49-F238E27FC236}">
                <a16:creationId xmlns:a16="http://schemas.microsoft.com/office/drawing/2014/main" id="{A44BAB99-BBEB-7E74-94E9-5132A3CBEDFB}"/>
              </a:ext>
            </a:extLst>
          </p:cNvPr>
          <p:cNvSpPr txBox="1"/>
          <p:nvPr/>
        </p:nvSpPr>
        <p:spPr>
          <a:xfrm>
            <a:off x="3762354" y="6159666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5</a:t>
            </a:r>
          </a:p>
        </p:txBody>
      </p:sp>
      <p:sp>
        <p:nvSpPr>
          <p:cNvPr id="1149" name="TextBox 1148">
            <a:extLst>
              <a:ext uri="{FF2B5EF4-FFF2-40B4-BE49-F238E27FC236}">
                <a16:creationId xmlns:a16="http://schemas.microsoft.com/office/drawing/2014/main" id="{3A470E50-7FA0-F6BE-137E-8D2287B71E14}"/>
              </a:ext>
            </a:extLst>
          </p:cNvPr>
          <p:cNvSpPr txBox="1"/>
          <p:nvPr/>
        </p:nvSpPr>
        <p:spPr>
          <a:xfrm>
            <a:off x="4311282" y="5127234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1150" name="TextBox 1149">
            <a:extLst>
              <a:ext uri="{FF2B5EF4-FFF2-40B4-BE49-F238E27FC236}">
                <a16:creationId xmlns:a16="http://schemas.microsoft.com/office/drawing/2014/main" id="{6A92020D-EE8D-61CA-10C1-508E782031E1}"/>
              </a:ext>
            </a:extLst>
          </p:cNvPr>
          <p:cNvSpPr txBox="1"/>
          <p:nvPr/>
        </p:nvSpPr>
        <p:spPr>
          <a:xfrm>
            <a:off x="4520321" y="5127234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1151" name="TextBox 1150">
            <a:extLst>
              <a:ext uri="{FF2B5EF4-FFF2-40B4-BE49-F238E27FC236}">
                <a16:creationId xmlns:a16="http://schemas.microsoft.com/office/drawing/2014/main" id="{6748257D-6019-66FA-1F49-7EE345B7ED47}"/>
              </a:ext>
            </a:extLst>
          </p:cNvPr>
          <p:cNvSpPr txBox="1"/>
          <p:nvPr/>
        </p:nvSpPr>
        <p:spPr>
          <a:xfrm>
            <a:off x="4729360" y="5127234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1152" name="TextBox 1151">
            <a:extLst>
              <a:ext uri="{FF2B5EF4-FFF2-40B4-BE49-F238E27FC236}">
                <a16:creationId xmlns:a16="http://schemas.microsoft.com/office/drawing/2014/main" id="{771A24CB-80B7-A800-3837-5130E18464B5}"/>
              </a:ext>
            </a:extLst>
          </p:cNvPr>
          <p:cNvSpPr txBox="1"/>
          <p:nvPr/>
        </p:nvSpPr>
        <p:spPr>
          <a:xfrm>
            <a:off x="4938399" y="5127234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1153" name="TextBox 1152">
            <a:extLst>
              <a:ext uri="{FF2B5EF4-FFF2-40B4-BE49-F238E27FC236}">
                <a16:creationId xmlns:a16="http://schemas.microsoft.com/office/drawing/2014/main" id="{A5D44601-7434-E0B7-1FEA-8BF7F882761C}"/>
              </a:ext>
            </a:extLst>
          </p:cNvPr>
          <p:cNvSpPr txBox="1"/>
          <p:nvPr/>
        </p:nvSpPr>
        <p:spPr>
          <a:xfrm>
            <a:off x="5147437" y="5127234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</a:p>
        </p:txBody>
      </p:sp>
      <p:sp>
        <p:nvSpPr>
          <p:cNvPr id="1154" name="Rectangle 1153">
            <a:extLst>
              <a:ext uri="{FF2B5EF4-FFF2-40B4-BE49-F238E27FC236}">
                <a16:creationId xmlns:a16="http://schemas.microsoft.com/office/drawing/2014/main" id="{052A2336-F9DC-5000-C446-0FE958681CAB}"/>
              </a:ext>
            </a:extLst>
          </p:cNvPr>
          <p:cNvSpPr/>
          <p:nvPr/>
        </p:nvSpPr>
        <p:spPr>
          <a:xfrm>
            <a:off x="4266496" y="5336617"/>
            <a:ext cx="1015746" cy="10061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56" name="Straight Arrow Connector 1155">
            <a:extLst>
              <a:ext uri="{FF2B5EF4-FFF2-40B4-BE49-F238E27FC236}">
                <a16:creationId xmlns:a16="http://schemas.microsoft.com/office/drawing/2014/main" id="{C03238F0-B669-49A9-07DC-F86D46FB25E5}"/>
              </a:ext>
            </a:extLst>
          </p:cNvPr>
          <p:cNvCxnSpPr>
            <a:cxnSpLocks/>
          </p:cNvCxnSpPr>
          <p:nvPr/>
        </p:nvCxnSpPr>
        <p:spPr>
          <a:xfrm>
            <a:off x="1253883" y="4395290"/>
            <a:ext cx="0" cy="60491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9" name="Straight Arrow Connector 1158">
            <a:extLst>
              <a:ext uri="{FF2B5EF4-FFF2-40B4-BE49-F238E27FC236}">
                <a16:creationId xmlns:a16="http://schemas.microsoft.com/office/drawing/2014/main" id="{E619CD30-A62C-A0B8-C019-4C7AF60730C6}"/>
              </a:ext>
            </a:extLst>
          </p:cNvPr>
          <p:cNvCxnSpPr>
            <a:cxnSpLocks/>
          </p:cNvCxnSpPr>
          <p:nvPr/>
        </p:nvCxnSpPr>
        <p:spPr>
          <a:xfrm>
            <a:off x="3017141" y="4395290"/>
            <a:ext cx="0" cy="60491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0" name="Straight Arrow Connector 1159">
            <a:extLst>
              <a:ext uri="{FF2B5EF4-FFF2-40B4-BE49-F238E27FC236}">
                <a16:creationId xmlns:a16="http://schemas.microsoft.com/office/drawing/2014/main" id="{24407AEF-94AF-EF41-C232-A1BE4F2FC62C}"/>
              </a:ext>
            </a:extLst>
          </p:cNvPr>
          <p:cNvCxnSpPr>
            <a:cxnSpLocks/>
          </p:cNvCxnSpPr>
          <p:nvPr/>
        </p:nvCxnSpPr>
        <p:spPr>
          <a:xfrm>
            <a:off x="4751693" y="4395290"/>
            <a:ext cx="0" cy="60491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1" name="TextBox 1160">
            <a:extLst>
              <a:ext uri="{FF2B5EF4-FFF2-40B4-BE49-F238E27FC236}">
                <a16:creationId xmlns:a16="http://schemas.microsoft.com/office/drawing/2014/main" id="{DCBAB425-CE40-100A-B17B-AC722469D973}"/>
              </a:ext>
            </a:extLst>
          </p:cNvPr>
          <p:cNvSpPr txBox="1"/>
          <p:nvPr/>
        </p:nvSpPr>
        <p:spPr>
          <a:xfrm>
            <a:off x="692486" y="6377901"/>
            <a:ext cx="11608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Object RDM</a:t>
            </a:r>
          </a:p>
        </p:txBody>
      </p:sp>
      <p:sp>
        <p:nvSpPr>
          <p:cNvPr id="1162" name="TextBox 1161">
            <a:extLst>
              <a:ext uri="{FF2B5EF4-FFF2-40B4-BE49-F238E27FC236}">
                <a16:creationId xmlns:a16="http://schemas.microsoft.com/office/drawing/2014/main" id="{952434B0-BB8F-8E95-1484-1C0F663394CC}"/>
              </a:ext>
            </a:extLst>
          </p:cNvPr>
          <p:cNvSpPr txBox="1"/>
          <p:nvPr/>
        </p:nvSpPr>
        <p:spPr>
          <a:xfrm>
            <a:off x="2460555" y="6377901"/>
            <a:ext cx="11512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Scene RDM</a:t>
            </a:r>
          </a:p>
        </p:txBody>
      </p:sp>
      <p:sp>
        <p:nvSpPr>
          <p:cNvPr id="1163" name="TextBox 1162">
            <a:extLst>
              <a:ext uri="{FF2B5EF4-FFF2-40B4-BE49-F238E27FC236}">
                <a16:creationId xmlns:a16="http://schemas.microsoft.com/office/drawing/2014/main" id="{F457D580-29C4-114A-D4DC-1118A531979E}"/>
              </a:ext>
            </a:extLst>
          </p:cNvPr>
          <p:cNvSpPr txBox="1"/>
          <p:nvPr/>
        </p:nvSpPr>
        <p:spPr>
          <a:xfrm>
            <a:off x="4132173" y="6377901"/>
            <a:ext cx="12742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Abs-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Dif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RDM</a:t>
            </a:r>
          </a:p>
        </p:txBody>
      </p:sp>
    </p:spTree>
    <p:extLst>
      <p:ext uri="{BB962C8B-B14F-4D97-AF65-F5344CB8AC3E}">
        <p14:creationId xmlns:p14="http://schemas.microsoft.com/office/powerpoint/2010/main" val="19936647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F6B7C-CD14-6718-A840-E9F7F745D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Scene and object vectors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3C0434-B8A9-C66E-2089-3689BEA9B4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048" y="1914086"/>
            <a:ext cx="5710152" cy="428261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4E9A5B7-E80F-D711-F7C3-99E3B4ECDC6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0349" t="7884" r="5196" b="16252"/>
          <a:stretch/>
        </p:blipFill>
        <p:spPr>
          <a:xfrm>
            <a:off x="6156945" y="1982811"/>
            <a:ext cx="5604162" cy="4282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7414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C048B-6995-A536-9102-2C894ADF8C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200275" cy="1325563"/>
          </a:xfrm>
        </p:spPr>
        <p:txBody>
          <a:bodyPr/>
          <a:lstStyle/>
          <a:p>
            <a:r>
              <a:rPr lang="en-US" dirty="0"/>
              <a:t>Abs-</a:t>
            </a:r>
            <a:r>
              <a:rPr lang="en-US" dirty="0" err="1"/>
              <a:t>dif</a:t>
            </a:r>
            <a:r>
              <a:rPr lang="en-US" dirty="0"/>
              <a:t> vector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16AFDE-86CA-CD03-1EAC-ED71B92BFC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950" y="2746375"/>
            <a:ext cx="2422525" cy="42862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Object   Scene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D9F5F4F-9A7C-DC80-1400-0138A241EB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5151" y="87511"/>
            <a:ext cx="8910637" cy="6682978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2C9FF80B-611C-7D23-5040-49E5CD09F6F4}"/>
              </a:ext>
            </a:extLst>
          </p:cNvPr>
          <p:cNvSpPr/>
          <p:nvPr/>
        </p:nvSpPr>
        <p:spPr>
          <a:xfrm>
            <a:off x="8324850" y="3079750"/>
            <a:ext cx="1270000" cy="520700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E7AE2A0-6ADC-AE3A-2C30-B2F18978D3C1}"/>
              </a:ext>
            </a:extLst>
          </p:cNvPr>
          <p:cNvSpPr/>
          <p:nvPr/>
        </p:nvSpPr>
        <p:spPr>
          <a:xfrm>
            <a:off x="6838950" y="4133850"/>
            <a:ext cx="920750" cy="387350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9E63E13B-3974-BE57-F5F1-309DAAB2AEAE}"/>
              </a:ext>
            </a:extLst>
          </p:cNvPr>
          <p:cNvSpPr/>
          <p:nvPr/>
        </p:nvSpPr>
        <p:spPr>
          <a:xfrm>
            <a:off x="5787230" y="4572000"/>
            <a:ext cx="1820070" cy="1739900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1F6C56-1EA4-4F91-2677-6E020AB52119}"/>
              </a:ext>
            </a:extLst>
          </p:cNvPr>
          <p:cNvSpPr txBox="1"/>
          <p:nvPr/>
        </p:nvSpPr>
        <p:spPr>
          <a:xfrm>
            <a:off x="5950243" y="6323270"/>
            <a:ext cx="15055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Green scene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E9429E4-F6B0-B625-42C4-6D71DE421A6C}"/>
              </a:ext>
            </a:extLst>
          </p:cNvPr>
          <p:cNvSpPr/>
          <p:nvPr/>
        </p:nvSpPr>
        <p:spPr>
          <a:xfrm>
            <a:off x="565150" y="2559050"/>
            <a:ext cx="2473325" cy="74295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DDAAAFA-9EA7-FED0-321A-4CA39E7A17BE}"/>
              </a:ext>
            </a:extLst>
          </p:cNvPr>
          <p:cNvCxnSpPr>
            <a:cxnSpLocks/>
          </p:cNvCxnSpPr>
          <p:nvPr/>
        </p:nvCxnSpPr>
        <p:spPr>
          <a:xfrm>
            <a:off x="1806575" y="2559050"/>
            <a:ext cx="0" cy="7429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EAC701AF-8C01-E6B8-094D-C6FD65229E7D}"/>
              </a:ext>
            </a:extLst>
          </p:cNvPr>
          <p:cNvSpPr/>
          <p:nvPr/>
        </p:nvSpPr>
        <p:spPr>
          <a:xfrm>
            <a:off x="8519970" y="3821741"/>
            <a:ext cx="1270000" cy="643788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ED730EC3-026F-A399-9B7D-3B87AED9D585}"/>
              </a:ext>
            </a:extLst>
          </p:cNvPr>
          <p:cNvSpPr/>
          <p:nvPr/>
        </p:nvSpPr>
        <p:spPr>
          <a:xfrm>
            <a:off x="7171151" y="1146132"/>
            <a:ext cx="2286000" cy="1164920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EAE857B-5274-5E44-36C3-C45A08D4168B}"/>
              </a:ext>
            </a:extLst>
          </p:cNvPr>
          <p:cNvSpPr txBox="1"/>
          <p:nvPr/>
        </p:nvSpPr>
        <p:spPr>
          <a:xfrm>
            <a:off x="3070300" y="3637075"/>
            <a:ext cx="1518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Brown scene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5CE621DD-AAD6-B534-57BB-71FD7AEF6D66}"/>
              </a:ext>
            </a:extLst>
          </p:cNvPr>
          <p:cNvSpPr/>
          <p:nvPr/>
        </p:nvSpPr>
        <p:spPr>
          <a:xfrm>
            <a:off x="4706214" y="2995808"/>
            <a:ext cx="1542185" cy="1484117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0CB105E-E5F2-569F-6B73-6ED42D0C74CB}"/>
              </a:ext>
            </a:extLst>
          </p:cNvPr>
          <p:cNvSpPr txBox="1"/>
          <p:nvPr/>
        </p:nvSpPr>
        <p:spPr>
          <a:xfrm>
            <a:off x="7646670" y="790544"/>
            <a:ext cx="13131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Pink object</a:t>
            </a:r>
          </a:p>
        </p:txBody>
      </p:sp>
    </p:spTree>
    <p:extLst>
      <p:ext uri="{BB962C8B-B14F-4D97-AF65-F5344CB8AC3E}">
        <p14:creationId xmlns:p14="http://schemas.microsoft.com/office/powerpoint/2010/main" val="15847163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B3656A-B113-00B4-2C2B-B4E8AF463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086"/>
            <a:ext cx="10515600" cy="1325563"/>
          </a:xfrm>
        </p:spPr>
        <p:txBody>
          <a:bodyPr/>
          <a:lstStyle/>
          <a:p>
            <a:r>
              <a:rPr lang="en-US" dirty="0"/>
              <a:t>Stimulus RSM/RDMs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47F4C0-E858-3747-E631-FE1DEA6E8E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7783" y="5878191"/>
            <a:ext cx="10515600" cy="588963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Although not visualized here, the congruent/incongruent/neutral conditions don’t have much bearing on the vectors or RSMs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3953EFF8-37D1-8AD3-84BF-2D1F8081F60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953"/>
          <a:stretch/>
        </p:blipFill>
        <p:spPr>
          <a:xfrm>
            <a:off x="147320" y="2387281"/>
            <a:ext cx="4242526" cy="338328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36135DA-83D9-57DA-3DB1-1658F085BF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1939" y="2387281"/>
            <a:ext cx="4511040" cy="338328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10B223A-2B5E-A9A7-9476-487B8E87A49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r="7143"/>
          <a:stretch/>
        </p:blipFill>
        <p:spPr>
          <a:xfrm>
            <a:off x="7894320" y="2387281"/>
            <a:ext cx="4188823" cy="3383280"/>
          </a:xfrm>
          <a:prstGeom prst="rect">
            <a:avLst/>
          </a:prstGeom>
        </p:spPr>
      </p:pic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F568BBB0-ADDC-25C4-25E9-7AE8BCF39A94}"/>
              </a:ext>
            </a:extLst>
          </p:cNvPr>
          <p:cNvSpPr txBox="1">
            <a:spLocks/>
          </p:cNvSpPr>
          <p:nvPr/>
        </p:nvSpPr>
        <p:spPr>
          <a:xfrm>
            <a:off x="1062083" y="1350649"/>
            <a:ext cx="10515600" cy="10760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ourier New" panose="02070309020205020404" pitchFamily="49" charset="0"/>
              <a:buChar char="o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v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Perceptual representations (1</a:t>
            </a:r>
            <a:r>
              <a:rPr lang="en-US" baseline="30000" dirty="0"/>
              <a:t>st</a:t>
            </a:r>
            <a:r>
              <a:rPr lang="en-US" dirty="0"/>
              <a:t> layer of DNN)</a:t>
            </a:r>
          </a:p>
          <a:p>
            <a:r>
              <a:rPr lang="en-US" dirty="0"/>
              <a:t>The difference vector RSM doesn’t look particularly weird</a:t>
            </a:r>
          </a:p>
        </p:txBody>
      </p:sp>
    </p:spTree>
    <p:extLst>
      <p:ext uri="{BB962C8B-B14F-4D97-AF65-F5344CB8AC3E}">
        <p14:creationId xmlns:p14="http://schemas.microsoft.com/office/powerpoint/2010/main" val="24719769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36406-BE6A-43D1-8823-925981A4EA2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E9E69C-B0CF-4A44-A6F4-E20B9170421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09920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F94C0307-ED64-0827-0AC2-8C66081A17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181" y="1520751"/>
            <a:ext cx="6096000" cy="457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B52E04B-B629-C701-6FF7-C3CE963702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66502"/>
            <a:ext cx="10515600" cy="870155"/>
          </a:xfrm>
        </p:spPr>
        <p:txBody>
          <a:bodyPr/>
          <a:lstStyle/>
          <a:p>
            <a:r>
              <a:rPr lang="en-US" dirty="0"/>
              <a:t>Result 1A: Schema representation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5B5C454-0847-D5A3-539E-785DCAA0117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6687" t="54667" r="53475" b="14256"/>
          <a:stretch/>
        </p:blipFill>
        <p:spPr>
          <a:xfrm>
            <a:off x="60374" y="572830"/>
            <a:ext cx="1176338" cy="119162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FBEECFC-4E93-B729-18A9-FD7BA45DFF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7006" y="1520751"/>
            <a:ext cx="6096000" cy="4572000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8D59F1ED-F06D-0840-2805-1E0D028EFAC8}"/>
              </a:ext>
            </a:extLst>
          </p:cNvPr>
          <p:cNvSpPr txBox="1">
            <a:spLocks/>
          </p:cNvSpPr>
          <p:nvPr/>
        </p:nvSpPr>
        <p:spPr>
          <a:xfrm>
            <a:off x="1272805" y="1168642"/>
            <a:ext cx="4322366" cy="57015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ourier New" panose="02070309020205020404" pitchFamily="49" charset="0"/>
              <a:buChar char="o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v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Perceptual scene decoding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6CDAC4-F965-383B-7BB2-7957DB7676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0829" y="1187803"/>
            <a:ext cx="4702356" cy="57015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dirty="0"/>
              <a:t>Semantic scene decoding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5E13E75-8F47-C208-EADC-6BDF1ADCEFF0}"/>
              </a:ext>
            </a:extLst>
          </p:cNvPr>
          <p:cNvSpPr txBox="1"/>
          <p:nvPr/>
        </p:nvSpPr>
        <p:spPr>
          <a:xfrm>
            <a:off x="4243408" y="6250435"/>
            <a:ext cx="42835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Establishes the prediction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728BE08-E5C7-8D5E-EE89-6C88F88B0DE3}"/>
              </a:ext>
            </a:extLst>
          </p:cNvPr>
          <p:cNvSpPr/>
          <p:nvPr/>
        </p:nvSpPr>
        <p:spPr>
          <a:xfrm>
            <a:off x="1049511" y="2628000"/>
            <a:ext cx="858489" cy="176024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FDDB7D3-CEF3-F5C3-8EC1-BCB430634C8C}"/>
              </a:ext>
            </a:extLst>
          </p:cNvPr>
          <p:cNvSpPr txBox="1"/>
          <p:nvPr/>
        </p:nvSpPr>
        <p:spPr>
          <a:xfrm>
            <a:off x="1736697" y="2455886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PFC</a:t>
            </a:r>
          </a:p>
        </p:txBody>
      </p:sp>
    </p:spTree>
    <p:extLst>
      <p:ext uri="{BB962C8B-B14F-4D97-AF65-F5344CB8AC3E}">
        <p14:creationId xmlns:p14="http://schemas.microsoft.com/office/powerpoint/2010/main" val="24669565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52E04B-B629-C701-6FF7-C3CE963702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66502"/>
            <a:ext cx="10515600" cy="870155"/>
          </a:xfrm>
        </p:spPr>
        <p:txBody>
          <a:bodyPr/>
          <a:lstStyle/>
          <a:p>
            <a:r>
              <a:rPr lang="en-US" dirty="0"/>
              <a:t>Result 1C/1D: Object representation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0C0A3CD8-10F5-F7CD-247C-4982C4FCD6CF}"/>
              </a:ext>
            </a:extLst>
          </p:cNvPr>
          <p:cNvSpPr txBox="1">
            <a:spLocks/>
          </p:cNvSpPr>
          <p:nvPr/>
        </p:nvSpPr>
        <p:spPr>
          <a:xfrm>
            <a:off x="2448910" y="6271600"/>
            <a:ext cx="7294179" cy="5701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ourier New" panose="02070309020205020404" pitchFamily="49" charset="0"/>
              <a:buChar char="o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v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/>
              <a:t>Reproducing patterns from </a:t>
            </a:r>
            <a:r>
              <a:rPr lang="en-US" sz="2400" dirty="0" err="1"/>
              <a:t>Lifu’s</a:t>
            </a:r>
            <a:r>
              <a:rPr lang="en-US" sz="2400" dirty="0"/>
              <a:t> thesis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8D59F1ED-F06D-0840-2805-1E0D028EFAC8}"/>
              </a:ext>
            </a:extLst>
          </p:cNvPr>
          <p:cNvSpPr txBox="1">
            <a:spLocks/>
          </p:cNvSpPr>
          <p:nvPr/>
        </p:nvSpPr>
        <p:spPr>
          <a:xfrm>
            <a:off x="1397000" y="1168642"/>
            <a:ext cx="4210697" cy="5701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ourier New" panose="02070309020205020404" pitchFamily="49" charset="0"/>
              <a:buChar char="o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v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/>
              <a:t>Perceptual object decoding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6CDAC4-F965-383B-7BB2-7957DB7676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80201" y="1187803"/>
            <a:ext cx="4805510" cy="57015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2400" dirty="0"/>
              <a:t>Semantic object decoding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704CAE8B-86A9-C9E3-84F2-7D7EE788E28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0552" t="54668" r="29609" b="14254"/>
          <a:stretch/>
        </p:blipFill>
        <p:spPr>
          <a:xfrm>
            <a:off x="152400" y="380620"/>
            <a:ext cx="1176338" cy="119162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AACE3EA-77A5-2739-A6A7-19BBFF2B33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" y="1614696"/>
            <a:ext cx="6096000" cy="4572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86E31F0-D5F8-84BD-0947-659B148554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8133" y="1529792"/>
            <a:ext cx="6096000" cy="4572000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E6B237AD-3B29-504D-A6A7-35343FE29138}"/>
              </a:ext>
            </a:extLst>
          </p:cNvPr>
          <p:cNvSpPr/>
          <p:nvPr/>
        </p:nvSpPr>
        <p:spPr>
          <a:xfrm>
            <a:off x="1077014" y="2542710"/>
            <a:ext cx="895786" cy="1647690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C44FB2C-30AC-B6B9-EF9C-DE2CB4E34ABF}"/>
              </a:ext>
            </a:extLst>
          </p:cNvPr>
          <p:cNvSpPr txBox="1"/>
          <p:nvPr/>
        </p:nvSpPr>
        <p:spPr>
          <a:xfrm>
            <a:off x="2109014" y="2542710"/>
            <a:ext cx="15768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Weak/Null PFC</a:t>
            </a:r>
          </a:p>
        </p:txBody>
      </p:sp>
    </p:spTree>
    <p:extLst>
      <p:ext uri="{BB962C8B-B14F-4D97-AF65-F5344CB8AC3E}">
        <p14:creationId xmlns:p14="http://schemas.microsoft.com/office/powerpoint/2010/main" val="38403707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Picture 38">
            <a:extLst>
              <a:ext uri="{FF2B5EF4-FFF2-40B4-BE49-F238E27FC236}">
                <a16:creationId xmlns:a16="http://schemas.microsoft.com/office/drawing/2014/main" id="{CD782045-1A11-F3B0-3310-98ADC92F4E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543" y="1392149"/>
            <a:ext cx="6096000" cy="457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D2BB550-A16C-6A35-B757-97EEF35FBA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5894" y="-37781"/>
            <a:ext cx="10515600" cy="980982"/>
          </a:xfrm>
        </p:spPr>
        <p:txBody>
          <a:bodyPr>
            <a:normAutofit/>
          </a:bodyPr>
          <a:lstStyle/>
          <a:p>
            <a:r>
              <a:rPr lang="en-US" sz="4000" dirty="0"/>
              <a:t>Result 2A/2B: Schema-object prediction error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0A40B5E-B11E-4636-4978-77451EFA2F8D}"/>
              </a:ext>
            </a:extLst>
          </p:cNvPr>
          <p:cNvSpPr/>
          <p:nvPr/>
        </p:nvSpPr>
        <p:spPr>
          <a:xfrm>
            <a:off x="1099569" y="1971299"/>
            <a:ext cx="683172" cy="68317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ADFFBA-0D41-F469-9C89-DA39B5F54153}"/>
              </a:ext>
            </a:extLst>
          </p:cNvPr>
          <p:cNvSpPr txBox="1"/>
          <p:nvPr/>
        </p:nvSpPr>
        <p:spPr>
          <a:xfrm>
            <a:off x="1782741" y="2049234"/>
            <a:ext cx="9717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LPFC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708F8071-8A66-374A-E2DF-E70150532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033210"/>
            <a:ext cx="3851176" cy="5479290"/>
          </a:xfrm>
        </p:spPr>
        <p:txBody>
          <a:bodyPr>
            <a:normAutofit/>
          </a:bodyPr>
          <a:lstStyle/>
          <a:p>
            <a:r>
              <a:rPr lang="en-US" dirty="0"/>
              <a:t>Null scene RSA</a:t>
            </a:r>
          </a:p>
          <a:p>
            <a:r>
              <a:rPr lang="en-US" dirty="0"/>
              <a:t>Confirmed by an additional “macro-level” analysis focusing on the LPFC overall</a:t>
            </a:r>
          </a:p>
          <a:p>
            <a:pPr lvl="1"/>
            <a:r>
              <a:rPr lang="en-US" dirty="0"/>
              <a:t>Activation averaged by ROI</a:t>
            </a:r>
          </a:p>
          <a:p>
            <a:pPr lvl="2"/>
            <a:r>
              <a:rPr lang="en-US" dirty="0"/>
              <a:t>26 ROIs = 26-length vector</a:t>
            </a:r>
          </a:p>
          <a:p>
            <a:pPr lvl="2"/>
            <a:r>
              <a:rPr lang="en-US" dirty="0"/>
              <a:t>Submitted to RDM</a:t>
            </a:r>
          </a:p>
          <a:p>
            <a:pPr lvl="1"/>
            <a:r>
              <a:rPr lang="en-US" dirty="0"/>
              <a:t>Significant RSA effect </a:t>
            </a:r>
            <a:br>
              <a:rPr lang="en-US" dirty="0"/>
            </a:br>
            <a:r>
              <a:rPr lang="en-US" dirty="0"/>
              <a:t>(</a:t>
            </a:r>
            <a:r>
              <a:rPr lang="en-US" i="1" dirty="0"/>
              <a:t>t</a:t>
            </a:r>
            <a:r>
              <a:rPr lang="en-US" dirty="0"/>
              <a:t> = 2.1, </a:t>
            </a:r>
            <a:r>
              <a:rPr lang="en-US" i="1" dirty="0"/>
              <a:t>p </a:t>
            </a:r>
            <a:r>
              <a:rPr lang="en-US" dirty="0"/>
              <a:t>= .02)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86910CFC-365D-A63A-F7F3-D833A099DE4E}"/>
              </a:ext>
            </a:extLst>
          </p:cNvPr>
          <p:cNvSpPr/>
          <p:nvPr/>
        </p:nvSpPr>
        <p:spPr>
          <a:xfrm>
            <a:off x="4941826" y="2987623"/>
            <a:ext cx="304372" cy="30437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1BD4892-A308-0620-B43E-9912687E7C95}"/>
              </a:ext>
            </a:extLst>
          </p:cNvPr>
          <p:cNvSpPr txBox="1"/>
          <p:nvPr/>
        </p:nvSpPr>
        <p:spPr>
          <a:xfrm>
            <a:off x="4110299" y="2485806"/>
            <a:ext cx="9044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err="1">
                <a:latin typeface="Arial" panose="020B0604020202020204" pitchFamily="34" charset="0"/>
                <a:cs typeface="Arial" panose="020B0604020202020204" pitchFamily="34" charset="0"/>
              </a:rPr>
              <a:t>Hipp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93B72B5-5973-5D12-0EBC-22A1DF85B36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50552" t="54668" r="29609" b="14254"/>
          <a:stretch/>
        </p:blipFill>
        <p:spPr>
          <a:xfrm>
            <a:off x="160506" y="329961"/>
            <a:ext cx="1176338" cy="1191624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3DAA3943-B517-E798-DA43-951207643A12}"/>
              </a:ext>
            </a:extLst>
          </p:cNvPr>
          <p:cNvSpPr/>
          <p:nvPr/>
        </p:nvSpPr>
        <p:spPr>
          <a:xfrm>
            <a:off x="10507143" y="2185362"/>
            <a:ext cx="189411" cy="18941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EDA4999-7885-FF41-7720-BAF6464B9A64}"/>
              </a:ext>
            </a:extLst>
          </p:cNvPr>
          <p:cNvSpPr/>
          <p:nvPr/>
        </p:nvSpPr>
        <p:spPr>
          <a:xfrm>
            <a:off x="10507143" y="2385088"/>
            <a:ext cx="189411" cy="189411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3B7B5A0-4AAE-5DB2-AD4C-960553D74DA2}"/>
              </a:ext>
            </a:extLst>
          </p:cNvPr>
          <p:cNvSpPr/>
          <p:nvPr/>
        </p:nvSpPr>
        <p:spPr>
          <a:xfrm>
            <a:off x="10507143" y="2584814"/>
            <a:ext cx="189411" cy="18941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C3E06F8-2A2C-D0B8-0FC8-CD454576B8D9}"/>
              </a:ext>
            </a:extLst>
          </p:cNvPr>
          <p:cNvSpPr/>
          <p:nvPr/>
        </p:nvSpPr>
        <p:spPr>
          <a:xfrm>
            <a:off x="10507143" y="2784540"/>
            <a:ext cx="189411" cy="18941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EF26C97-E041-0C7B-E355-2123F9D0B2E6}"/>
              </a:ext>
            </a:extLst>
          </p:cNvPr>
          <p:cNvSpPr/>
          <p:nvPr/>
        </p:nvSpPr>
        <p:spPr>
          <a:xfrm>
            <a:off x="10507143" y="2984266"/>
            <a:ext cx="189411" cy="18941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B294CCB-AD28-20F1-421F-79663BCBCCBB}"/>
              </a:ext>
            </a:extLst>
          </p:cNvPr>
          <p:cNvSpPr/>
          <p:nvPr/>
        </p:nvSpPr>
        <p:spPr>
          <a:xfrm>
            <a:off x="10507143" y="3183992"/>
            <a:ext cx="189411" cy="189411"/>
          </a:xfrm>
          <a:prstGeom prst="rect">
            <a:avLst/>
          </a:prstGeom>
          <a:solidFill>
            <a:srgbClr val="A6A6A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C54D1F4-2C80-8365-CD56-C3C22F7F2A87}"/>
              </a:ext>
            </a:extLst>
          </p:cNvPr>
          <p:cNvSpPr/>
          <p:nvPr/>
        </p:nvSpPr>
        <p:spPr>
          <a:xfrm>
            <a:off x="10507143" y="3383718"/>
            <a:ext cx="189411" cy="18941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428360C-98D8-9519-B6F9-17B7A0E69DC8}"/>
              </a:ext>
            </a:extLst>
          </p:cNvPr>
          <p:cNvSpPr/>
          <p:nvPr/>
        </p:nvSpPr>
        <p:spPr>
          <a:xfrm>
            <a:off x="10507143" y="3583444"/>
            <a:ext cx="189411" cy="18941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2211291-4412-9E28-84B0-9E669BE91AF8}"/>
              </a:ext>
            </a:extLst>
          </p:cNvPr>
          <p:cNvSpPr/>
          <p:nvPr/>
        </p:nvSpPr>
        <p:spPr>
          <a:xfrm>
            <a:off x="10507143" y="3783170"/>
            <a:ext cx="189411" cy="189411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0060388-B992-6D1D-B1D0-06ACBDDAF1E5}"/>
              </a:ext>
            </a:extLst>
          </p:cNvPr>
          <p:cNvSpPr/>
          <p:nvPr/>
        </p:nvSpPr>
        <p:spPr>
          <a:xfrm>
            <a:off x="10507143" y="3982896"/>
            <a:ext cx="189411" cy="189411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67BC739-1C77-0A15-A368-C865B3483F69}"/>
              </a:ext>
            </a:extLst>
          </p:cNvPr>
          <p:cNvSpPr/>
          <p:nvPr/>
        </p:nvSpPr>
        <p:spPr>
          <a:xfrm>
            <a:off x="10507143" y="4182622"/>
            <a:ext cx="189411" cy="18941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1DEF091-104B-2B8F-2FEC-8CB21E108C53}"/>
              </a:ext>
            </a:extLst>
          </p:cNvPr>
          <p:cNvSpPr/>
          <p:nvPr/>
        </p:nvSpPr>
        <p:spPr>
          <a:xfrm>
            <a:off x="10507143" y="4382348"/>
            <a:ext cx="189411" cy="18941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F48757A-4822-9336-8F58-3F7A86CE5303}"/>
              </a:ext>
            </a:extLst>
          </p:cNvPr>
          <p:cNvSpPr/>
          <p:nvPr/>
        </p:nvSpPr>
        <p:spPr>
          <a:xfrm>
            <a:off x="10507143" y="4582074"/>
            <a:ext cx="189411" cy="189411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D1C81F0-1437-A4E1-21EE-6EAD1C0266DB}"/>
              </a:ext>
            </a:extLst>
          </p:cNvPr>
          <p:cNvSpPr/>
          <p:nvPr/>
        </p:nvSpPr>
        <p:spPr>
          <a:xfrm>
            <a:off x="10507143" y="4781800"/>
            <a:ext cx="189411" cy="18941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E8190D8-9990-AA84-64C6-FC5E2263AB9C}"/>
              </a:ext>
            </a:extLst>
          </p:cNvPr>
          <p:cNvSpPr/>
          <p:nvPr/>
        </p:nvSpPr>
        <p:spPr>
          <a:xfrm>
            <a:off x="10507143" y="4981526"/>
            <a:ext cx="189411" cy="18941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D357D43-C4FD-5A97-3597-A83982C2535D}"/>
              </a:ext>
            </a:extLst>
          </p:cNvPr>
          <p:cNvSpPr/>
          <p:nvPr/>
        </p:nvSpPr>
        <p:spPr>
          <a:xfrm>
            <a:off x="10507143" y="5181252"/>
            <a:ext cx="189411" cy="18941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B697EE0-0379-6529-A5FF-5DA81BCE46B8}"/>
              </a:ext>
            </a:extLst>
          </p:cNvPr>
          <p:cNvSpPr/>
          <p:nvPr/>
        </p:nvSpPr>
        <p:spPr>
          <a:xfrm>
            <a:off x="10507143" y="5380978"/>
            <a:ext cx="189411" cy="189411"/>
          </a:xfrm>
          <a:prstGeom prst="rect">
            <a:avLst/>
          </a:prstGeom>
          <a:solidFill>
            <a:srgbClr val="A6A6A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816B0DF-5970-D5EC-175F-2C0613730EED}"/>
              </a:ext>
            </a:extLst>
          </p:cNvPr>
          <p:cNvSpPr/>
          <p:nvPr/>
        </p:nvSpPr>
        <p:spPr>
          <a:xfrm>
            <a:off x="10507143" y="5580708"/>
            <a:ext cx="189411" cy="18941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ight Brace 27">
            <a:extLst>
              <a:ext uri="{FF2B5EF4-FFF2-40B4-BE49-F238E27FC236}">
                <a16:creationId xmlns:a16="http://schemas.microsoft.com/office/drawing/2014/main" id="{4866AC9D-920C-F410-DE1B-BA767E44B525}"/>
              </a:ext>
            </a:extLst>
          </p:cNvPr>
          <p:cNvSpPr/>
          <p:nvPr/>
        </p:nvSpPr>
        <p:spPr>
          <a:xfrm>
            <a:off x="11058178" y="2218366"/>
            <a:ext cx="312792" cy="1167994"/>
          </a:xfrm>
          <a:prstGeom prst="rightBrac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ight Brace 28">
            <a:extLst>
              <a:ext uri="{FF2B5EF4-FFF2-40B4-BE49-F238E27FC236}">
                <a16:creationId xmlns:a16="http://schemas.microsoft.com/office/drawing/2014/main" id="{4F636BE4-FC78-DE52-ECE7-B0F7A837C498}"/>
              </a:ext>
            </a:extLst>
          </p:cNvPr>
          <p:cNvSpPr/>
          <p:nvPr/>
        </p:nvSpPr>
        <p:spPr>
          <a:xfrm>
            <a:off x="11058178" y="3410766"/>
            <a:ext cx="312792" cy="1167994"/>
          </a:xfrm>
          <a:prstGeom prst="rightBrac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ight Brace 29">
            <a:extLst>
              <a:ext uri="{FF2B5EF4-FFF2-40B4-BE49-F238E27FC236}">
                <a16:creationId xmlns:a16="http://schemas.microsoft.com/office/drawing/2014/main" id="{9E511F93-9368-8305-9D15-BF9FE84D2FEF}"/>
              </a:ext>
            </a:extLst>
          </p:cNvPr>
          <p:cNvSpPr/>
          <p:nvPr/>
        </p:nvSpPr>
        <p:spPr>
          <a:xfrm>
            <a:off x="11058178" y="4598110"/>
            <a:ext cx="312792" cy="1167994"/>
          </a:xfrm>
          <a:prstGeom prst="rightBrac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F202A34-B13C-C16B-E528-391968B2EE2C}"/>
              </a:ext>
            </a:extLst>
          </p:cNvPr>
          <p:cNvSpPr/>
          <p:nvPr/>
        </p:nvSpPr>
        <p:spPr>
          <a:xfrm>
            <a:off x="11582817" y="2632547"/>
            <a:ext cx="370640" cy="3706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32F9CF1-642F-C362-BB78-28A6E2C9A967}"/>
              </a:ext>
            </a:extLst>
          </p:cNvPr>
          <p:cNvSpPr/>
          <p:nvPr/>
        </p:nvSpPr>
        <p:spPr>
          <a:xfrm>
            <a:off x="11582817" y="3833590"/>
            <a:ext cx="370640" cy="37064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AC8F4BC-4DDA-B974-F2C3-6C30046CB7F8}"/>
              </a:ext>
            </a:extLst>
          </p:cNvPr>
          <p:cNvSpPr/>
          <p:nvPr/>
        </p:nvSpPr>
        <p:spPr>
          <a:xfrm>
            <a:off x="11582817" y="5013955"/>
            <a:ext cx="370640" cy="37064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7ABD2D0-021A-9406-0EBF-DF02F4780444}"/>
              </a:ext>
            </a:extLst>
          </p:cNvPr>
          <p:cNvSpPr txBox="1"/>
          <p:nvPr/>
        </p:nvSpPr>
        <p:spPr>
          <a:xfrm>
            <a:off x="10103494" y="1185654"/>
            <a:ext cx="11208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“Micro”</a:t>
            </a:r>
          </a:p>
          <a:p>
            <a:pPr algn="ctr"/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(standard)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CED383B-1366-70A9-0DC1-B52EF1FDD611}"/>
              </a:ext>
            </a:extLst>
          </p:cNvPr>
          <p:cNvSpPr txBox="1"/>
          <p:nvPr/>
        </p:nvSpPr>
        <p:spPr>
          <a:xfrm>
            <a:off x="11142371" y="1185654"/>
            <a:ext cx="106631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“Macro”</a:t>
            </a:r>
          </a:p>
          <a:p>
            <a:pPr algn="ctr"/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8149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5E760-A46A-F959-E420-A54C3033C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7344"/>
            <a:ext cx="10515600" cy="1325563"/>
          </a:xfrm>
        </p:spPr>
        <p:txBody>
          <a:bodyPr/>
          <a:lstStyle/>
          <a:p>
            <a:r>
              <a:rPr lang="en-US" dirty="0"/>
              <a:t>Result 2C: Connectivity: Activity x IRAF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02870E-25E1-7272-892B-16761148BD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4412" y="1770378"/>
            <a:ext cx="10163175" cy="3563621"/>
          </a:xfrm>
        </p:spPr>
        <p:txBody>
          <a:bodyPr>
            <a:normAutofit/>
          </a:bodyPr>
          <a:lstStyle/>
          <a:p>
            <a:r>
              <a:rPr lang="en-US" dirty="0"/>
              <a:t>Related to the </a:t>
            </a:r>
            <a:r>
              <a:rPr lang="en-US" u="sng" dirty="0"/>
              <a:t>linking</a:t>
            </a:r>
            <a:r>
              <a:rPr lang="en-US" dirty="0"/>
              <a:t> and </a:t>
            </a:r>
            <a:r>
              <a:rPr lang="en-US" u="sng" dirty="0"/>
              <a:t>boosting</a:t>
            </a:r>
            <a:r>
              <a:rPr lang="en-US" dirty="0"/>
              <a:t> points made in the grant/papers</a:t>
            </a:r>
          </a:p>
          <a:p>
            <a:r>
              <a:rPr lang="en-US" dirty="0"/>
              <a:t>Correlate:</a:t>
            </a:r>
          </a:p>
          <a:p>
            <a:pPr lvl="1"/>
            <a:r>
              <a:rPr lang="en-US" sz="2000" dirty="0"/>
              <a:t>Region A: Mean connectivity across all voxels for a given trial</a:t>
            </a:r>
          </a:p>
          <a:p>
            <a:pPr lvl="1"/>
            <a:r>
              <a:rPr lang="en-US" sz="2000" dirty="0"/>
              <a:t>Region B: IRAF</a:t>
            </a:r>
          </a:p>
          <a:p>
            <a:pPr lvl="1"/>
            <a:r>
              <a:rPr lang="en-US" sz="2000" dirty="0"/>
              <a:t>Note: A x B ≠ B x A</a:t>
            </a:r>
          </a:p>
          <a:p>
            <a:pPr lvl="1"/>
            <a:r>
              <a:rPr lang="en-US" sz="2000" dirty="0"/>
              <a:t>Test if significantly above zero</a:t>
            </a:r>
            <a:endParaRPr lang="en-US" sz="1600" dirty="0"/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89903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FEB6520D-33EB-1EA0-E3DB-8437129E6CC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1945" r="8889" b="7917"/>
          <a:stretch/>
        </p:blipFill>
        <p:spPr>
          <a:xfrm>
            <a:off x="5324475" y="1158874"/>
            <a:ext cx="6248400" cy="549592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0AD4DE0-0B64-9F84-DFE1-D26E4A71B1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7794" y="365126"/>
            <a:ext cx="10732750" cy="917856"/>
          </a:xfrm>
        </p:spPr>
        <p:txBody>
          <a:bodyPr/>
          <a:lstStyle/>
          <a:p>
            <a:r>
              <a:rPr lang="en-US" dirty="0"/>
              <a:t>Result 2C: Difference RSA x connectivity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D3875F-37A6-A015-3CEF-182AC00EA0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2818" y="1554303"/>
            <a:ext cx="4410075" cy="482917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dirty="0"/>
              <a:t>***</a:t>
            </a:r>
          </a:p>
          <a:p>
            <a:r>
              <a:rPr lang="en-US" dirty="0"/>
              <a:t>MFG IRAF linked to stronger LOC connectivity</a:t>
            </a:r>
          </a:p>
          <a:p>
            <a:pPr lvl="1"/>
            <a:r>
              <a:rPr lang="en-US" dirty="0"/>
              <a:t>General pattern of LPFC-Occipital</a:t>
            </a:r>
          </a:p>
          <a:p>
            <a:pPr lvl="1"/>
            <a:r>
              <a:rPr lang="en-US" dirty="0"/>
              <a:t>Possible link to fusiform gyrus and posterior inferior temporal lobe as well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21F282F-4487-41A6-34D1-6A14B4EE86FB}"/>
              </a:ext>
            </a:extLst>
          </p:cNvPr>
          <p:cNvSpPr/>
          <p:nvPr/>
        </p:nvSpPr>
        <p:spPr>
          <a:xfrm>
            <a:off x="6182518" y="2402642"/>
            <a:ext cx="431839" cy="431839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7D4D20B-C54B-1338-D7E9-F541444E673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50552" t="54668" r="29609" b="14254"/>
          <a:stretch/>
        </p:blipFill>
        <p:spPr>
          <a:xfrm>
            <a:off x="141456" y="365126"/>
            <a:ext cx="1176338" cy="1191624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EA27ECAF-5989-AB68-FE99-B4BDBA95F35B}"/>
              </a:ext>
            </a:extLst>
          </p:cNvPr>
          <p:cNvSpPr/>
          <p:nvPr/>
        </p:nvSpPr>
        <p:spPr>
          <a:xfrm>
            <a:off x="6268659" y="3992241"/>
            <a:ext cx="596145" cy="615155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98050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5E80CE7-5358-89F9-F510-EDD6647584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967" y="1574801"/>
            <a:ext cx="6096000" cy="457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D2BB550-A16C-6A35-B757-97EEF35FBA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5894" y="-37782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Result 2A/2B/2C: Schema-object integration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0A40B5E-B11E-4636-4978-77451EFA2F8D}"/>
              </a:ext>
            </a:extLst>
          </p:cNvPr>
          <p:cNvSpPr/>
          <p:nvPr/>
        </p:nvSpPr>
        <p:spPr>
          <a:xfrm>
            <a:off x="1170075" y="2153745"/>
            <a:ext cx="683172" cy="68317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ADFFBA-0D41-F469-9C89-DA39B5F54153}"/>
              </a:ext>
            </a:extLst>
          </p:cNvPr>
          <p:cNvSpPr txBox="1"/>
          <p:nvPr/>
        </p:nvSpPr>
        <p:spPr>
          <a:xfrm>
            <a:off x="1889841" y="2340698"/>
            <a:ext cx="9717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LPFC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708F8071-8A66-374A-E2DF-E70150532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62726" y="1292451"/>
            <a:ext cx="5050154" cy="5420769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Confirmed by an additional “macro-level” analysis focusing on the LPFC overall</a:t>
            </a:r>
          </a:p>
          <a:p>
            <a:pPr lvl="1"/>
            <a:r>
              <a:rPr lang="en-US" dirty="0"/>
              <a:t>26 ROIs</a:t>
            </a:r>
          </a:p>
          <a:p>
            <a:pPr lvl="1"/>
            <a:r>
              <a:rPr lang="en-US" dirty="0"/>
              <a:t>Activation averaged across ROI</a:t>
            </a:r>
          </a:p>
          <a:p>
            <a:pPr lvl="1"/>
            <a:r>
              <a:rPr lang="en-US" dirty="0"/>
              <a:t>fMRI vector calculated using ROI-activation in place of voxel-activation</a:t>
            </a:r>
          </a:p>
          <a:p>
            <a:pPr lvl="1"/>
            <a:r>
              <a:rPr lang="en-US" dirty="0"/>
              <a:t>Submitted to RDM</a:t>
            </a:r>
          </a:p>
          <a:p>
            <a:pPr lvl="1"/>
            <a:r>
              <a:rPr lang="en-US" dirty="0"/>
              <a:t>Yields significant RSA effect </a:t>
            </a:r>
            <a:br>
              <a:rPr lang="en-US" dirty="0"/>
            </a:br>
            <a:r>
              <a:rPr lang="en-US" dirty="0"/>
              <a:t>(</a:t>
            </a:r>
            <a:r>
              <a:rPr lang="en-US" i="1" dirty="0"/>
              <a:t>t</a:t>
            </a:r>
            <a:r>
              <a:rPr lang="en-US" dirty="0"/>
              <a:t> = 2.1, </a:t>
            </a:r>
            <a:r>
              <a:rPr lang="en-US" i="1" dirty="0"/>
              <a:t>p </a:t>
            </a:r>
            <a:r>
              <a:rPr lang="en-US" dirty="0"/>
              <a:t>= .02)</a:t>
            </a:r>
          </a:p>
          <a:p>
            <a:r>
              <a:rPr lang="en-US" dirty="0"/>
              <a:t>Trend suggests that high LPFC IRAF linked to subsequent memory hit</a:t>
            </a:r>
          </a:p>
          <a:p>
            <a:pPr lvl="1"/>
            <a:r>
              <a:rPr lang="en-US" dirty="0"/>
              <a:t>Analysis on shown in graph significant if looking at hits but not if looking at misses</a:t>
            </a:r>
          </a:p>
          <a:p>
            <a:pPr lvl="1"/>
            <a:r>
              <a:rPr lang="en-US" dirty="0"/>
              <a:t>However, the t-test comparing IRAFs for hit vs. miss doesn’t cross the  significance threshold</a:t>
            </a:r>
          </a:p>
          <a:p>
            <a:pPr lvl="1"/>
            <a:r>
              <a:rPr lang="en-US" dirty="0"/>
              <a:t>Link to memory not seen for </a:t>
            </a:r>
            <a:r>
              <a:rPr lang="en-US" dirty="0" err="1"/>
              <a:t>hipp</a:t>
            </a:r>
            <a:r>
              <a:rPr lang="en-US" dirty="0"/>
              <a:t>.</a:t>
            </a:r>
          </a:p>
          <a:p>
            <a:r>
              <a:rPr lang="en-US" dirty="0"/>
              <a:t>Unexpectedly, OA do not show this effect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86910CFC-365D-A63A-F7F3-D833A099DE4E}"/>
              </a:ext>
            </a:extLst>
          </p:cNvPr>
          <p:cNvSpPr/>
          <p:nvPr/>
        </p:nvSpPr>
        <p:spPr>
          <a:xfrm>
            <a:off x="5028418" y="2997148"/>
            <a:ext cx="304372" cy="30437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1BD4892-A308-0620-B43E-9912687E7C95}"/>
              </a:ext>
            </a:extLst>
          </p:cNvPr>
          <p:cNvSpPr txBox="1"/>
          <p:nvPr/>
        </p:nvSpPr>
        <p:spPr>
          <a:xfrm>
            <a:off x="4224599" y="2495331"/>
            <a:ext cx="9044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Hipp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93B72B5-5973-5D12-0EBC-22A1DF85B36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50552" t="54668" r="29609" b="14254"/>
          <a:stretch/>
        </p:blipFill>
        <p:spPr>
          <a:xfrm>
            <a:off x="160506" y="329961"/>
            <a:ext cx="1176338" cy="1191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63501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12AB2-6284-2964-7539-8D0720D6B3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15358"/>
            <a:ext cx="10515600" cy="780068"/>
          </a:xfrm>
        </p:spPr>
        <p:txBody>
          <a:bodyPr/>
          <a:lstStyle/>
          <a:p>
            <a:r>
              <a:rPr lang="en-US" dirty="0"/>
              <a:t>Interpretation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F43B26-5544-D94B-97AD-BACEEB1F47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24077"/>
            <a:ext cx="7820025" cy="2295523"/>
          </a:xfrm>
        </p:spPr>
        <p:txBody>
          <a:bodyPr>
            <a:normAutofit/>
          </a:bodyPr>
          <a:lstStyle/>
          <a:p>
            <a:r>
              <a:rPr lang="en-US" dirty="0"/>
              <a:t>LPFC findings consistent with the </a:t>
            </a:r>
            <a:r>
              <a:rPr lang="en-US" u="sng" dirty="0"/>
              <a:t>prediction error</a:t>
            </a:r>
            <a:r>
              <a:rPr lang="en-US" dirty="0"/>
              <a:t> idea</a:t>
            </a:r>
          </a:p>
          <a:p>
            <a:pPr lvl="1"/>
            <a:r>
              <a:rPr lang="en-US" dirty="0"/>
              <a:t>LPFC processes the scene</a:t>
            </a:r>
          </a:p>
          <a:p>
            <a:pPr lvl="1"/>
            <a:r>
              <a:rPr lang="en-US" dirty="0"/>
              <a:t>The LPFC processes the object relative to the scene</a:t>
            </a:r>
          </a:p>
          <a:p>
            <a:endParaRPr lang="en-US" dirty="0"/>
          </a:p>
        </p:txBody>
      </p:sp>
      <p:pic>
        <p:nvPicPr>
          <p:cNvPr id="2050" name="Picture 2" descr="The color cube illusion | Download Scientific Diagram">
            <a:extLst>
              <a:ext uri="{FF2B5EF4-FFF2-40B4-BE49-F238E27FC236}">
                <a16:creationId xmlns:a16="http://schemas.microsoft.com/office/drawing/2014/main" id="{08ABCCF6-2220-72E7-8697-B250C6470D6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788" t="8681" r="17450" b="25972"/>
          <a:stretch/>
        </p:blipFill>
        <p:spPr bwMode="auto">
          <a:xfrm>
            <a:off x="8905875" y="2487865"/>
            <a:ext cx="2447925" cy="26537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042327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12AB2-6284-2964-7539-8D0720D6B3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4808"/>
            <a:ext cx="10515600" cy="780068"/>
          </a:xfrm>
        </p:spPr>
        <p:txBody>
          <a:bodyPr/>
          <a:lstStyle/>
          <a:p>
            <a:r>
              <a:rPr lang="en-US" dirty="0"/>
              <a:t>Interpretation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F43B26-5544-D94B-97AD-BACEEB1F47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81076"/>
            <a:ext cx="7820025" cy="5524499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LPFC result:</a:t>
            </a:r>
          </a:p>
          <a:p>
            <a:pPr lvl="1"/>
            <a:r>
              <a:rPr lang="en-US" dirty="0"/>
              <a:t>Findings consistent with the </a:t>
            </a:r>
            <a:r>
              <a:rPr lang="en-US" u="sng" dirty="0"/>
              <a:t>prediction error</a:t>
            </a:r>
            <a:r>
              <a:rPr lang="en-US" dirty="0"/>
              <a:t> idea</a:t>
            </a:r>
          </a:p>
          <a:p>
            <a:pPr lvl="2"/>
            <a:r>
              <a:rPr lang="en-US" dirty="0"/>
              <a:t>LPFC processes the scene</a:t>
            </a:r>
          </a:p>
          <a:p>
            <a:pPr lvl="2"/>
            <a:r>
              <a:rPr lang="en-US" dirty="0"/>
              <a:t>The LPFC processes the object relative to the scene</a:t>
            </a:r>
          </a:p>
          <a:p>
            <a:pPr lvl="1"/>
            <a:r>
              <a:rPr lang="en-US" dirty="0"/>
              <a:t>However, it is hard to analytically distinguish this interpretation from the </a:t>
            </a:r>
            <a:r>
              <a:rPr lang="en-US" u="sng" dirty="0"/>
              <a:t>priming</a:t>
            </a:r>
            <a:r>
              <a:rPr lang="en-US" dirty="0"/>
              <a:t> idea:</a:t>
            </a:r>
          </a:p>
          <a:p>
            <a:pPr lvl="2"/>
            <a:r>
              <a:rPr lang="en-US" dirty="0"/>
              <a:t>Scene primes neural populations, which influences those populations’ responses to the object</a:t>
            </a:r>
          </a:p>
          <a:p>
            <a:pPr lvl="2"/>
            <a:r>
              <a:rPr lang="en-US" dirty="0"/>
              <a:t>Could the fact that this analysis panned out for the perceptual but not semantic RSA support one of the two views?</a:t>
            </a:r>
          </a:p>
          <a:p>
            <a:r>
              <a:rPr lang="en-US" dirty="0"/>
              <a:t>Hippocampus result</a:t>
            </a:r>
          </a:p>
          <a:p>
            <a:pPr lvl="1"/>
            <a:r>
              <a:rPr lang="en-US" dirty="0"/>
              <a:t>The hippocampus does </a:t>
            </a:r>
            <a:r>
              <a:rPr lang="en-US" i="1" dirty="0"/>
              <a:t>not </a:t>
            </a:r>
            <a:r>
              <a:rPr lang="en-US" dirty="0"/>
              <a:t>bind information arbitrarily</a:t>
            </a:r>
          </a:p>
          <a:p>
            <a:pPr lvl="1"/>
            <a:r>
              <a:rPr lang="en-US" dirty="0"/>
              <a:t>Rather, the hippocampus’s response depends on what items it is binding</a:t>
            </a:r>
          </a:p>
          <a:p>
            <a:pPr lvl="1"/>
            <a:r>
              <a:rPr lang="en-US" dirty="0"/>
              <a:t>The binding should be seen as a </a:t>
            </a:r>
            <a:r>
              <a:rPr lang="en-US" i="1" dirty="0"/>
              <a:t>relationship</a:t>
            </a:r>
            <a:r>
              <a:rPr lang="en-US" dirty="0"/>
              <a:t>, whose meaning is based on </a:t>
            </a:r>
            <a:r>
              <a:rPr lang="en-US" i="1" dirty="0"/>
              <a:t>analogies</a:t>
            </a:r>
            <a:r>
              <a:rPr lang="en-US" dirty="0"/>
              <a:t> to other bound pieces of information</a:t>
            </a:r>
          </a:p>
          <a:p>
            <a:pPr lvl="2"/>
            <a:r>
              <a:rPr lang="en-US" dirty="0"/>
              <a:t>e.g., when people associate a red stimulus and a green stimulus, they infer the relationship between the two stimuli by bootstrapping previously formed relationships between red and green stimuli</a:t>
            </a:r>
          </a:p>
          <a:p>
            <a:pPr lvl="2"/>
            <a:r>
              <a:rPr lang="en-US" dirty="0"/>
              <a:t>Green stoplight = go, red stoplight = stop</a:t>
            </a:r>
          </a:p>
          <a:p>
            <a:pPr lvl="2"/>
            <a:r>
              <a:rPr lang="en-US" dirty="0"/>
              <a:t>Green text = reward, red text = punishment</a:t>
            </a:r>
          </a:p>
        </p:txBody>
      </p:sp>
      <p:pic>
        <p:nvPicPr>
          <p:cNvPr id="2050" name="Picture 2" descr="The color cube illusion | Download Scientific Diagram">
            <a:extLst>
              <a:ext uri="{FF2B5EF4-FFF2-40B4-BE49-F238E27FC236}">
                <a16:creationId xmlns:a16="http://schemas.microsoft.com/office/drawing/2014/main" id="{08ABCCF6-2220-72E7-8697-B250C6470D6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788" t="8681" r="17450" b="25972"/>
          <a:stretch/>
        </p:blipFill>
        <p:spPr bwMode="auto">
          <a:xfrm>
            <a:off x="8905875" y="2334712"/>
            <a:ext cx="2447925" cy="26537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291883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81616F-448C-25B8-3907-B941FB3687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 3A: Prediction error IRAF predicts subsequent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279230-98CE-5856-FBD3-4D47056CE0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LPFC abs-</a:t>
            </a:r>
            <a:r>
              <a:rPr lang="en-US" dirty="0" err="1"/>
              <a:t>dif</a:t>
            </a:r>
            <a:r>
              <a:rPr lang="en-US" dirty="0"/>
              <a:t> IRAF predicts subsequent memory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24534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9F17E-1EE9-B525-4301-3DCC345C1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7295" y="171322"/>
            <a:ext cx="10515600" cy="1325563"/>
          </a:xfrm>
        </p:spPr>
        <p:txBody>
          <a:bodyPr/>
          <a:lstStyle/>
          <a:p>
            <a:r>
              <a:rPr lang="en-US" dirty="0"/>
              <a:t>Result 3B: Retrieval retrieves scene representation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F6187-0D0D-5642-D562-823A0E31D3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3440" y="1570037"/>
            <a:ext cx="5010912" cy="51117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dirty="0"/>
              <a:t>Conceptual task: Scene RSA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FA69BD-9E42-5222-0C2C-937DB1373C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337" y="2081212"/>
            <a:ext cx="6096000" cy="4572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7E18CFB-C6FA-34D4-42FE-130C4593A2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2095" y="2081212"/>
            <a:ext cx="6096000" cy="4572000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2CF343B-3C57-D3F3-CCA6-72F01CB3559D}"/>
              </a:ext>
            </a:extLst>
          </p:cNvPr>
          <p:cNvSpPr txBox="1">
            <a:spLocks/>
          </p:cNvSpPr>
          <p:nvPr/>
        </p:nvSpPr>
        <p:spPr>
          <a:xfrm>
            <a:off x="6843295" y="1570037"/>
            <a:ext cx="4673600" cy="5111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ourier New" panose="02070309020205020404" pitchFamily="49" charset="0"/>
              <a:buChar char="o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v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Visual task: Scene RSA</a:t>
            </a:r>
          </a:p>
        </p:txBody>
      </p:sp>
    </p:spTree>
    <p:extLst>
      <p:ext uri="{BB962C8B-B14F-4D97-AF65-F5344CB8AC3E}">
        <p14:creationId xmlns:p14="http://schemas.microsoft.com/office/powerpoint/2010/main" val="8770668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6F8A30-9097-C6DF-4F19-3F47E35CCC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Modularity</a:t>
            </a:r>
          </a:p>
        </p:txBody>
      </p:sp>
      <p:pic>
        <p:nvPicPr>
          <p:cNvPr id="7" name="Content Placeholder 6" descr="A diagram of a brain&#10;&#10;Description automatically generated">
            <a:extLst>
              <a:ext uri="{FF2B5EF4-FFF2-40B4-BE49-F238E27FC236}">
                <a16:creationId xmlns:a16="http://schemas.microsoft.com/office/drawing/2014/main" id="{F876F9C2-1A68-4477-18E0-142F7A385B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200" t="10834"/>
          <a:stretch/>
        </p:blipFill>
        <p:spPr>
          <a:xfrm>
            <a:off x="6455028" y="1658919"/>
            <a:ext cx="5323645" cy="2907207"/>
          </a:xfr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A1B3735-50A5-ED6C-FCA7-924BC88149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338" y="1658920"/>
            <a:ext cx="5323645" cy="2907206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69D59E4-3E30-5031-69BE-D146CFE67648}"/>
              </a:ext>
            </a:extLst>
          </p:cNvPr>
          <p:cNvSpPr txBox="1">
            <a:spLocks/>
          </p:cNvSpPr>
          <p:nvPr/>
        </p:nvSpPr>
        <p:spPr>
          <a:xfrm>
            <a:off x="838200" y="5010727"/>
            <a:ext cx="10515600" cy="981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ourier New" panose="02070309020205020404" pitchFamily="49" charset="0"/>
              <a:buChar char="o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v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Replicate patterns identified by </a:t>
            </a:r>
            <a:r>
              <a:rPr lang="en-US" dirty="0" err="1"/>
              <a:t>Lifu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45744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B2EF9-B761-D3F7-853D-F40968FFE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1407"/>
            <a:ext cx="10515600" cy="1325563"/>
          </a:xfrm>
        </p:spPr>
        <p:txBody>
          <a:bodyPr/>
          <a:lstStyle/>
          <a:p>
            <a:r>
              <a:rPr lang="en-US" dirty="0"/>
              <a:t>Connectivity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C86783-DCF9-96A2-6BFD-5070AC5843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6970"/>
            <a:ext cx="10515600" cy="4351338"/>
          </a:xfrm>
        </p:spPr>
        <p:txBody>
          <a:bodyPr/>
          <a:lstStyle/>
          <a:p>
            <a:r>
              <a:rPr lang="en-US" dirty="0"/>
              <a:t>Does congruency lead to connectivity patterns during scene presentation being more correlated with connectivity during object presentation?</a:t>
            </a:r>
          </a:p>
          <a:p>
            <a:pPr lvl="1"/>
            <a:r>
              <a:rPr lang="en-US" dirty="0"/>
              <a:t>No, it doesn’t</a:t>
            </a:r>
          </a:p>
          <a:p>
            <a:r>
              <a:rPr lang="en-US" dirty="0"/>
              <a:t>If you calculate single-trial connectivity based on the scene x object betas (binary connectivity), and submit the data to RSA, will you find significant results?</a:t>
            </a:r>
          </a:p>
          <a:p>
            <a:pPr lvl="1"/>
            <a:r>
              <a:rPr lang="en-US" dirty="0"/>
              <a:t>No, not really</a:t>
            </a:r>
          </a:p>
        </p:txBody>
      </p:sp>
    </p:spTree>
    <p:extLst>
      <p:ext uri="{BB962C8B-B14F-4D97-AF65-F5344CB8AC3E}">
        <p14:creationId xmlns:p14="http://schemas.microsoft.com/office/powerpoint/2010/main" val="39491506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AE526-0753-64D9-3300-910DA6BA8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connectivity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41D623-91C7-7837-3205-BAC62406D5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 = .002 (DNN = -1) but otherwise null</a:t>
            </a:r>
          </a:p>
        </p:txBody>
      </p:sp>
    </p:spTree>
    <p:extLst>
      <p:ext uri="{BB962C8B-B14F-4D97-AF65-F5344CB8AC3E}">
        <p14:creationId xmlns:p14="http://schemas.microsoft.com/office/powerpoint/2010/main" val="41022434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049A3-090F-143A-15E7-CEDF119A0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fMRI difference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6722B-241B-E911-8DE5-17D5EEA0E0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ENC – BL and VIS – BL fMRI</a:t>
            </a:r>
          </a:p>
          <a:p>
            <a:pPr lvl="1"/>
            <a:r>
              <a:rPr lang="en-US" dirty="0"/>
              <a:t>See if the scene vector is moving the representation</a:t>
            </a:r>
          </a:p>
        </p:txBody>
      </p:sp>
    </p:spTree>
    <p:extLst>
      <p:ext uri="{BB962C8B-B14F-4D97-AF65-F5344CB8AC3E}">
        <p14:creationId xmlns:p14="http://schemas.microsoft.com/office/powerpoint/2010/main" val="137965489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36406-BE6A-43D1-8823-925981A4EA2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Whiffs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E9E69C-B0CF-4A44-A6F4-E20B9170421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9/18/2023</a:t>
            </a:r>
          </a:p>
        </p:txBody>
      </p:sp>
    </p:spTree>
    <p:extLst>
      <p:ext uri="{BB962C8B-B14F-4D97-AF65-F5344CB8AC3E}">
        <p14:creationId xmlns:p14="http://schemas.microsoft.com/office/powerpoint/2010/main" val="40026512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060B0-E6A5-35D9-2E2A-E5CEA68DE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644C49-FBAE-6683-0B29-86BEFC65E4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Encoding-retrieval similarity</a:t>
            </a:r>
          </a:p>
          <a:p>
            <a:r>
              <a:rPr lang="en-US" dirty="0"/>
              <a:t>IRAF x IRAF connectivity</a:t>
            </a:r>
          </a:p>
        </p:txBody>
      </p:sp>
    </p:spTree>
    <p:extLst>
      <p:ext uri="{BB962C8B-B14F-4D97-AF65-F5344CB8AC3E}">
        <p14:creationId xmlns:p14="http://schemas.microsoft.com/office/powerpoint/2010/main" val="31746661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lank.potx" id="{9C6B1436-0ACE-4CC3-BC66-C2BCB97D7D52}" vid="{95E57EA4-F55F-474A-9811-FDC52FAD541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13468</TotalTime>
  <Words>1836</Words>
  <Application>Microsoft Office PowerPoint</Application>
  <PresentationFormat>Widescreen</PresentationFormat>
  <Paragraphs>307</Paragraphs>
  <Slides>31</Slides>
  <Notes>13</Notes>
  <HiddenSlides>5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6" baseType="lpstr">
      <vt:lpstr>Arial</vt:lpstr>
      <vt:lpstr>Calibri</vt:lpstr>
      <vt:lpstr>Courier New</vt:lpstr>
      <vt:lpstr>Wingdings</vt:lpstr>
      <vt:lpstr>Office Theme</vt:lpstr>
      <vt:lpstr>Paul Update</vt:lpstr>
      <vt:lpstr>Background</vt:lpstr>
      <vt:lpstr>Primary Question</vt:lpstr>
      <vt:lpstr>Present Study and Hypotheses</vt:lpstr>
      <vt:lpstr>Methods</vt:lpstr>
      <vt:lpstr>Data</vt:lpstr>
      <vt:lpstr>3-session fMRI study (SchemRep)</vt:lpstr>
      <vt:lpstr>Brainnetome atlas</vt:lpstr>
      <vt:lpstr>Analysis overview</vt:lpstr>
      <vt:lpstr>Stimulus representations</vt:lpstr>
      <vt:lpstr>Stimulus representations</vt:lpstr>
      <vt:lpstr>Scene and object vectors</vt:lpstr>
      <vt:lpstr>Abs-dif vector</vt:lpstr>
      <vt:lpstr>Stimulus RSM/RDMs</vt:lpstr>
      <vt:lpstr>Results</vt:lpstr>
      <vt:lpstr>Result 1A: Schema representation</vt:lpstr>
      <vt:lpstr>Result 1C/1D: Object representation</vt:lpstr>
      <vt:lpstr>Result 2A/2B: Schema-object prediction error</vt:lpstr>
      <vt:lpstr>Result 2C: Connectivity: Activity x IRAF</vt:lpstr>
      <vt:lpstr>Result 2C: Difference RSA x connectivity</vt:lpstr>
      <vt:lpstr>Result 2A/2B/2C: Schema-object integration</vt:lpstr>
      <vt:lpstr>Interpretation</vt:lpstr>
      <vt:lpstr>Interpretation</vt:lpstr>
      <vt:lpstr>Result 3A: Prediction error IRAF predicts subsequent memory</vt:lpstr>
      <vt:lpstr>Result 3B: Retrieval retrieves scene representation</vt:lpstr>
      <vt:lpstr>Modularity</vt:lpstr>
      <vt:lpstr>Connectivity analysis</vt:lpstr>
      <vt:lpstr>Binary connectivity</vt:lpstr>
      <vt:lpstr>fMRI difference</vt:lpstr>
      <vt:lpstr>Whiffs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Bogdan, Paul Christian</dc:creator>
  <cp:lastModifiedBy>Bogdan, Paul Christian</cp:lastModifiedBy>
  <cp:revision>48</cp:revision>
  <dcterms:created xsi:type="dcterms:W3CDTF">2023-09-14T13:36:35Z</dcterms:created>
  <dcterms:modified xsi:type="dcterms:W3CDTF">2023-09-29T20:53:02Z</dcterms:modified>
</cp:coreProperties>
</file>