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3"/>
  </p:notesMasterIdLst>
  <p:sldIdLst>
    <p:sldId id="256" r:id="rId2"/>
    <p:sldId id="304" r:id="rId3"/>
    <p:sldId id="430" r:id="rId4"/>
    <p:sldId id="431" r:id="rId5"/>
    <p:sldId id="433" r:id="rId6"/>
    <p:sldId id="439" r:id="rId7"/>
    <p:sldId id="441" r:id="rId8"/>
    <p:sldId id="428" r:id="rId9"/>
    <p:sldId id="435" r:id="rId10"/>
    <p:sldId id="436" r:id="rId11"/>
    <p:sldId id="443" r:id="rId12"/>
    <p:sldId id="442" r:id="rId13"/>
    <p:sldId id="438" r:id="rId14"/>
    <p:sldId id="437" r:id="rId15"/>
    <p:sldId id="434" r:id="rId16"/>
    <p:sldId id="432" r:id="rId17"/>
    <p:sldId id="424" r:id="rId18"/>
    <p:sldId id="425" r:id="rId19"/>
    <p:sldId id="426" r:id="rId20"/>
    <p:sldId id="427" r:id="rId21"/>
    <p:sldId id="429" r:id="rId22"/>
    <p:sldId id="325" r:id="rId23"/>
    <p:sldId id="364" r:id="rId24"/>
    <p:sldId id="423" r:id="rId25"/>
    <p:sldId id="319" r:id="rId26"/>
    <p:sldId id="393" r:id="rId27"/>
    <p:sldId id="394" r:id="rId28"/>
    <p:sldId id="398" r:id="rId29"/>
    <p:sldId id="397" r:id="rId30"/>
    <p:sldId id="400" r:id="rId31"/>
    <p:sldId id="399" r:id="rId32"/>
    <p:sldId id="404" r:id="rId33"/>
    <p:sldId id="386" r:id="rId34"/>
    <p:sldId id="401" r:id="rId35"/>
    <p:sldId id="407" r:id="rId36"/>
    <p:sldId id="409" r:id="rId37"/>
    <p:sldId id="410" r:id="rId38"/>
    <p:sldId id="412" r:id="rId39"/>
    <p:sldId id="413" r:id="rId40"/>
    <p:sldId id="408" r:id="rId41"/>
    <p:sldId id="402" r:id="rId42"/>
    <p:sldId id="416" r:id="rId43"/>
    <p:sldId id="418" r:id="rId44"/>
    <p:sldId id="417" r:id="rId45"/>
    <p:sldId id="420" r:id="rId46"/>
    <p:sldId id="414" r:id="rId47"/>
    <p:sldId id="421" r:id="rId48"/>
    <p:sldId id="422" r:id="rId49"/>
    <p:sldId id="419" r:id="rId50"/>
    <p:sldId id="405" r:id="rId51"/>
    <p:sldId id="403" r:id="rId52"/>
    <p:sldId id="367" r:id="rId53"/>
    <p:sldId id="368" r:id="rId54"/>
    <p:sldId id="372" r:id="rId55"/>
    <p:sldId id="373" r:id="rId56"/>
    <p:sldId id="374" r:id="rId57"/>
    <p:sldId id="375" r:id="rId58"/>
    <p:sldId id="329" r:id="rId59"/>
    <p:sldId id="333" r:id="rId60"/>
    <p:sldId id="381" r:id="rId61"/>
    <p:sldId id="382" r:id="rId6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FCC"/>
    <a:srgbClr val="FFCCCC"/>
    <a:srgbClr val="FE962B"/>
    <a:srgbClr val="D2E935"/>
    <a:srgbClr val="FF7C80"/>
    <a:srgbClr val="FDA631"/>
    <a:srgbClr val="33CC33"/>
    <a:srgbClr val="804710"/>
    <a:srgbClr val="452A4F"/>
    <a:srgbClr val="A6A6A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4346" autoAdjust="0"/>
    <p:restoredTop sz="92240" autoAdjust="0"/>
  </p:normalViewPr>
  <p:slideViewPr>
    <p:cSldViewPr snapToGrid="0">
      <p:cViewPr>
        <p:scale>
          <a:sx n="75" d="100"/>
          <a:sy n="75" d="100"/>
        </p:scale>
        <p:origin x="36" y="1636"/>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B98493-CA63-4D0A-8042-ED8AF27DCFF3}" type="datetimeFigureOut">
              <a:rPr lang="en-US" smtClean="0"/>
              <a:t>11/8/2023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2E3E675-13CA-4196-84E5-E684757DD2A6}" type="slidenum">
              <a:rPr lang="en-US" smtClean="0"/>
              <a:t>‹#›</a:t>
            </a:fld>
            <a:endParaRPr lang="en-US"/>
          </a:p>
        </p:txBody>
      </p:sp>
    </p:spTree>
    <p:extLst>
      <p:ext uri="{BB962C8B-B14F-4D97-AF65-F5344CB8AC3E}">
        <p14:creationId xmlns:p14="http://schemas.microsoft.com/office/powerpoint/2010/main" val="39133210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Can alternatively be roughly framed as an interaction effect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This quantity is orthogonal to simple beta activation </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5</a:t>
            </a:fld>
            <a:endParaRPr lang="en-US"/>
          </a:p>
        </p:txBody>
      </p:sp>
    </p:spTree>
    <p:extLst>
      <p:ext uri="{BB962C8B-B14F-4D97-AF65-F5344CB8AC3E}">
        <p14:creationId xmlns:p14="http://schemas.microsoft.com/office/powerpoint/2010/main" val="33170040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Could measure connectivity between session</a:t>
            </a:r>
          </a:p>
        </p:txBody>
      </p:sp>
      <p:sp>
        <p:nvSpPr>
          <p:cNvPr id="4" name="Slide Number Placeholder 3"/>
          <p:cNvSpPr>
            <a:spLocks noGrp="1"/>
          </p:cNvSpPr>
          <p:nvPr>
            <p:ph type="sldNum" sz="quarter" idx="5"/>
          </p:nvPr>
        </p:nvSpPr>
        <p:spPr/>
        <p:txBody>
          <a:bodyPr/>
          <a:lstStyle/>
          <a:p>
            <a:fld id="{92E3E675-13CA-4196-84E5-E684757DD2A6}" type="slidenum">
              <a:rPr lang="en-US" smtClean="0"/>
              <a:t>7</a:t>
            </a:fld>
            <a:endParaRPr lang="en-US"/>
          </a:p>
        </p:txBody>
      </p:sp>
    </p:spTree>
    <p:extLst>
      <p:ext uri="{BB962C8B-B14F-4D97-AF65-F5344CB8AC3E}">
        <p14:creationId xmlns:p14="http://schemas.microsoft.com/office/powerpoint/2010/main" val="41466657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may be of general interest: You know how the RSA values (z-scores and IRAFs) between regions seem to be spatially correlated (neighboring regions are similar). This violates assumptions of independence. This violation may mean that multiple hypothesis correction methods may not be appropriate, and FWER corrections will be too strict. I explored this question in the </a:t>
            </a:r>
            <a:r>
              <a:rPr lang="en-US" dirty="0" err="1"/>
              <a:t>SchemeRep</a:t>
            </a:r>
            <a:r>
              <a:rPr lang="en-US" dirty="0"/>
              <a:t> data. The data can be split into either 45 large or 222 smaller ROIs meaning 45 or 222 comparisons*. I did a permutation-testing analysis, where I shuffled every trial, meaning that every trial’s fMRI data is matched with random stimulus data. I only shuffled within-run (e.g., moving Run 2 trial 1’s fMRI data to the Run 2 trial 5 position), to avoid issues related to within/between run RSA. The RSA analysis, for each ROI, entailed doing the </a:t>
            </a:r>
            <a:r>
              <a:rPr lang="en-US" dirty="0" err="1"/>
              <a:t>fMRI_RDM</a:t>
            </a:r>
            <a:r>
              <a:rPr lang="en-US" dirty="0"/>
              <a:t> x </a:t>
            </a:r>
            <a:r>
              <a:rPr lang="en-US" dirty="0" err="1"/>
              <a:t>stim_RDM</a:t>
            </a:r>
            <a:r>
              <a:rPr lang="en-US" dirty="0"/>
              <a:t> correlation, and submitting each participant’s score to a one-sample t-test, examining whether it is significantly above zero. I did this 2000 times for the analysis of 50 ROIs and 760 times for the analysis of 250 ROIs.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dirty="0"/>
              <a:t>I plot here, in red, the maximum t-value seen across any ROI, for a given simulation. For reference, I also plot in green what would be expected if each ROI’s analysis independent from each other ROI’s analysis (this parallels the t-value threshold required after Bonferroni correction). We can see that the red line is slightly lower than the green line but not by very much (e.g., Bonferroni correction would require t = ~3.3, but the simulation suggests that t = ~3.15 is sufficient for FWER correction). In blue, I also tried modeling the red line to gain some intuition for its shape. It basically models the t-values by sampling from a multilevel model using variance settings measured from the simulated data.</a:t>
            </a:r>
          </a:p>
          <a:p>
            <a:endParaRPr lang="en-US" dirty="0"/>
          </a:p>
          <a:p>
            <a:r>
              <a:rPr lang="en-US" b="1" dirty="0"/>
              <a:t>In sum</a:t>
            </a:r>
            <a:r>
              <a:rPr lang="en-US" dirty="0"/>
              <a:t>, standard multiple hypothesis correction techniques are basically fine. However, if your results are just barely falling under a standard FWER threshold, they may end up significant if permutation-testing is used. It’s not clear to mean what implications this would have for FDR correction.</a:t>
            </a:r>
          </a:p>
          <a:p>
            <a:endParaRPr lang="en-US" dirty="0"/>
          </a:p>
          <a:p>
            <a:r>
              <a:rPr lang="en-US" dirty="0"/>
              <a:t>*Note, I’m using the </a:t>
            </a:r>
            <a:r>
              <a:rPr lang="en-US" dirty="0" err="1"/>
              <a:t>brainnetome</a:t>
            </a:r>
            <a:r>
              <a:rPr lang="en-US" dirty="0"/>
              <a:t> atlas and 222 is slightly less than the number of ROIs in the </a:t>
            </a:r>
            <a:r>
              <a:rPr lang="en-US" dirty="0" err="1"/>
              <a:t>brainnetome</a:t>
            </a:r>
            <a:r>
              <a:rPr lang="en-US" dirty="0"/>
              <a:t> atlas. This is lower because I simply discarding ROIs where one or more participants have too many nan values. </a:t>
            </a:r>
          </a:p>
        </p:txBody>
      </p:sp>
      <p:sp>
        <p:nvSpPr>
          <p:cNvPr id="4" name="Slide Number Placeholder 3"/>
          <p:cNvSpPr>
            <a:spLocks noGrp="1"/>
          </p:cNvSpPr>
          <p:nvPr>
            <p:ph type="sldNum" sz="quarter" idx="5"/>
          </p:nvPr>
        </p:nvSpPr>
        <p:spPr/>
        <p:txBody>
          <a:bodyPr/>
          <a:lstStyle/>
          <a:p>
            <a:fld id="{92E3E675-13CA-4196-84E5-E684757DD2A6}" type="slidenum">
              <a:rPr lang="en-US" smtClean="0"/>
              <a:t>23</a:t>
            </a:fld>
            <a:endParaRPr lang="en-US"/>
          </a:p>
        </p:txBody>
      </p:sp>
    </p:spTree>
    <p:extLst>
      <p:ext uri="{BB962C8B-B14F-4D97-AF65-F5344CB8AC3E}">
        <p14:creationId xmlns:p14="http://schemas.microsoft.com/office/powerpoint/2010/main" val="33975254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25</a:t>
            </a:fld>
            <a:endParaRPr lang="en-US"/>
          </a:p>
        </p:txBody>
      </p:sp>
    </p:spTree>
    <p:extLst>
      <p:ext uri="{BB962C8B-B14F-4D97-AF65-F5344CB8AC3E}">
        <p14:creationId xmlns:p14="http://schemas.microsoft.com/office/powerpoint/2010/main" val="42167758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27</a:t>
            </a:fld>
            <a:endParaRPr lang="en-US"/>
          </a:p>
        </p:txBody>
      </p:sp>
    </p:spTree>
    <p:extLst>
      <p:ext uri="{BB962C8B-B14F-4D97-AF65-F5344CB8AC3E}">
        <p14:creationId xmlns:p14="http://schemas.microsoft.com/office/powerpoint/2010/main" val="29145308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28</a:t>
            </a:fld>
            <a:endParaRPr lang="en-US"/>
          </a:p>
        </p:txBody>
      </p:sp>
    </p:spTree>
    <p:extLst>
      <p:ext uri="{BB962C8B-B14F-4D97-AF65-F5344CB8AC3E}">
        <p14:creationId xmlns:p14="http://schemas.microsoft.com/office/powerpoint/2010/main" val="17010959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30</a:t>
            </a:fld>
            <a:endParaRPr lang="en-US"/>
          </a:p>
        </p:txBody>
      </p:sp>
    </p:spTree>
    <p:extLst>
      <p:ext uri="{BB962C8B-B14F-4D97-AF65-F5344CB8AC3E}">
        <p14:creationId xmlns:p14="http://schemas.microsoft.com/office/powerpoint/2010/main" val="6433572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31</a:t>
            </a:fld>
            <a:endParaRPr lang="en-US"/>
          </a:p>
        </p:txBody>
      </p:sp>
    </p:spTree>
    <p:extLst>
      <p:ext uri="{BB962C8B-B14F-4D97-AF65-F5344CB8AC3E}">
        <p14:creationId xmlns:p14="http://schemas.microsoft.com/office/powerpoint/2010/main" val="32285605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Correlation between spatial IRAF x analogical IRAF = </a:t>
            </a:r>
          </a:p>
        </p:txBody>
      </p:sp>
      <p:sp>
        <p:nvSpPr>
          <p:cNvPr id="4" name="Slide Number Placeholder 3"/>
          <p:cNvSpPr>
            <a:spLocks noGrp="1"/>
          </p:cNvSpPr>
          <p:nvPr>
            <p:ph type="sldNum" sz="quarter" idx="5"/>
          </p:nvPr>
        </p:nvSpPr>
        <p:spPr/>
        <p:txBody>
          <a:bodyPr/>
          <a:lstStyle/>
          <a:p>
            <a:fld id="{92E3E675-13CA-4196-84E5-E684757DD2A6}" type="slidenum">
              <a:rPr lang="en-US" smtClean="0"/>
              <a:t>33</a:t>
            </a:fld>
            <a:endParaRPr lang="en-US"/>
          </a:p>
        </p:txBody>
      </p:sp>
    </p:spTree>
    <p:extLst>
      <p:ext uri="{BB962C8B-B14F-4D97-AF65-F5344CB8AC3E}">
        <p14:creationId xmlns:p14="http://schemas.microsoft.com/office/powerpoint/2010/main" val="9315925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34</a:t>
            </a:fld>
            <a:endParaRPr lang="en-US"/>
          </a:p>
        </p:txBody>
      </p:sp>
    </p:spTree>
    <p:extLst>
      <p:ext uri="{BB962C8B-B14F-4D97-AF65-F5344CB8AC3E}">
        <p14:creationId xmlns:p14="http://schemas.microsoft.com/office/powerpoint/2010/main" val="9422519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36</a:t>
            </a:fld>
            <a:endParaRPr lang="en-US"/>
          </a:p>
        </p:txBody>
      </p:sp>
    </p:spTree>
    <p:extLst>
      <p:ext uri="{BB962C8B-B14F-4D97-AF65-F5344CB8AC3E}">
        <p14:creationId xmlns:p14="http://schemas.microsoft.com/office/powerpoint/2010/main" val="38934418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37</a:t>
            </a:fld>
            <a:endParaRPr lang="en-US"/>
          </a:p>
        </p:txBody>
      </p:sp>
    </p:spTree>
    <p:extLst>
      <p:ext uri="{BB962C8B-B14F-4D97-AF65-F5344CB8AC3E}">
        <p14:creationId xmlns:p14="http://schemas.microsoft.com/office/powerpoint/2010/main" val="10778718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38</a:t>
            </a:fld>
            <a:endParaRPr lang="en-US"/>
          </a:p>
        </p:txBody>
      </p:sp>
    </p:spTree>
    <p:extLst>
      <p:ext uri="{BB962C8B-B14F-4D97-AF65-F5344CB8AC3E}">
        <p14:creationId xmlns:p14="http://schemas.microsoft.com/office/powerpoint/2010/main" val="32843290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39</a:t>
            </a:fld>
            <a:endParaRPr lang="en-US"/>
          </a:p>
        </p:txBody>
      </p:sp>
    </p:spTree>
    <p:extLst>
      <p:ext uri="{BB962C8B-B14F-4D97-AF65-F5344CB8AC3E}">
        <p14:creationId xmlns:p14="http://schemas.microsoft.com/office/powerpoint/2010/main" val="6511685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Do between-experience links differ from within-experience relations?</a:t>
            </a:r>
          </a:p>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41</a:t>
            </a:fld>
            <a:endParaRPr lang="en-US"/>
          </a:p>
        </p:txBody>
      </p:sp>
    </p:spTree>
    <p:extLst>
      <p:ext uri="{BB962C8B-B14F-4D97-AF65-F5344CB8AC3E}">
        <p14:creationId xmlns:p14="http://schemas.microsoft.com/office/powerpoint/2010/main" val="3743658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Downside because participants will need to be trained</a:t>
            </a:r>
          </a:p>
        </p:txBody>
      </p:sp>
      <p:sp>
        <p:nvSpPr>
          <p:cNvPr id="4" name="Slide Number Placeholder 3"/>
          <p:cNvSpPr>
            <a:spLocks noGrp="1"/>
          </p:cNvSpPr>
          <p:nvPr>
            <p:ph type="sldNum" sz="quarter" idx="5"/>
          </p:nvPr>
        </p:nvSpPr>
        <p:spPr/>
        <p:txBody>
          <a:bodyPr/>
          <a:lstStyle/>
          <a:p>
            <a:fld id="{92E3E675-13CA-4196-84E5-E684757DD2A6}" type="slidenum">
              <a:rPr lang="en-US" smtClean="0"/>
              <a:t>44</a:t>
            </a:fld>
            <a:endParaRPr lang="en-US"/>
          </a:p>
        </p:txBody>
      </p:sp>
    </p:spTree>
    <p:extLst>
      <p:ext uri="{BB962C8B-B14F-4D97-AF65-F5344CB8AC3E}">
        <p14:creationId xmlns:p14="http://schemas.microsoft.com/office/powerpoint/2010/main" val="254635593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they visit multiple times, then R/K is questionable</a:t>
            </a:r>
          </a:p>
        </p:txBody>
      </p:sp>
      <p:sp>
        <p:nvSpPr>
          <p:cNvPr id="4" name="Slide Number Placeholder 3"/>
          <p:cNvSpPr>
            <a:spLocks noGrp="1"/>
          </p:cNvSpPr>
          <p:nvPr>
            <p:ph type="sldNum" sz="quarter" idx="5"/>
          </p:nvPr>
        </p:nvSpPr>
        <p:spPr/>
        <p:txBody>
          <a:bodyPr/>
          <a:lstStyle/>
          <a:p>
            <a:fld id="{92E3E675-13CA-4196-84E5-E684757DD2A6}" type="slidenum">
              <a:rPr lang="en-US" smtClean="0"/>
              <a:t>49</a:t>
            </a:fld>
            <a:endParaRPr lang="en-US"/>
          </a:p>
        </p:txBody>
      </p:sp>
    </p:spTree>
    <p:extLst>
      <p:ext uri="{BB962C8B-B14F-4D97-AF65-F5344CB8AC3E}">
        <p14:creationId xmlns:p14="http://schemas.microsoft.com/office/powerpoint/2010/main" val="4376585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Evaluate episodic vs. semantic retrieval based on speed?</a:t>
            </a:r>
          </a:p>
        </p:txBody>
      </p:sp>
      <p:sp>
        <p:nvSpPr>
          <p:cNvPr id="4" name="Slide Number Placeholder 3"/>
          <p:cNvSpPr>
            <a:spLocks noGrp="1"/>
          </p:cNvSpPr>
          <p:nvPr>
            <p:ph type="sldNum" sz="quarter" idx="5"/>
          </p:nvPr>
        </p:nvSpPr>
        <p:spPr/>
        <p:txBody>
          <a:bodyPr/>
          <a:lstStyle/>
          <a:p>
            <a:fld id="{92E3E675-13CA-4196-84E5-E684757DD2A6}" type="slidenum">
              <a:rPr lang="en-US" smtClean="0"/>
              <a:t>50</a:t>
            </a:fld>
            <a:endParaRPr lang="en-US"/>
          </a:p>
        </p:txBody>
      </p:sp>
    </p:spTree>
    <p:extLst>
      <p:ext uri="{BB962C8B-B14F-4D97-AF65-F5344CB8AC3E}">
        <p14:creationId xmlns:p14="http://schemas.microsoft.com/office/powerpoint/2010/main" val="12247422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a:buFont typeface="Arial" panose="020B0604020202020204" pitchFamily="34" charset="0"/>
              <a:buChar char="•"/>
            </a:pPr>
            <a:r>
              <a:rPr lang="en-US" sz="2400" i="1" dirty="0">
                <a:latin typeface="Arial" panose="020B0604020202020204" pitchFamily="34" charset="0"/>
                <a:cs typeface="Arial" panose="020B0604020202020204" pitchFamily="34" charset="0"/>
              </a:rPr>
              <a:t>Consolidation</a:t>
            </a:r>
          </a:p>
          <a:p>
            <a:pPr marL="742950" lvl="1" indent="-285750">
              <a:buFont typeface="Courier New" panose="02070309020205020404" pitchFamily="49" charset="0"/>
              <a:buChar char="o"/>
            </a:pPr>
            <a:r>
              <a:rPr lang="en-US" sz="2400" dirty="0">
                <a:latin typeface="Arial" panose="020B0604020202020204" pitchFamily="34" charset="0"/>
                <a:cs typeface="Arial" panose="020B0604020202020204" pitchFamily="34" charset="0"/>
              </a:rPr>
              <a:t>Via episodic memory retrieval, a semantic network is built</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Possibly also entails retrieving an “action”</a:t>
            </a:r>
          </a:p>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52</a:t>
            </a:fld>
            <a:endParaRPr lang="en-US"/>
          </a:p>
        </p:txBody>
      </p:sp>
    </p:spTree>
    <p:extLst>
      <p:ext uri="{BB962C8B-B14F-4D97-AF65-F5344CB8AC3E}">
        <p14:creationId xmlns:p14="http://schemas.microsoft.com/office/powerpoint/2010/main" val="30118654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53</a:t>
            </a:fld>
            <a:endParaRPr lang="en-US"/>
          </a:p>
        </p:txBody>
      </p:sp>
    </p:spTree>
    <p:extLst>
      <p:ext uri="{BB962C8B-B14F-4D97-AF65-F5344CB8AC3E}">
        <p14:creationId xmlns:p14="http://schemas.microsoft.com/office/powerpoint/2010/main" val="215373855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en-US" sz="1200" dirty="0"/>
              <a:t>This analysis is premised on the idea that (1) how relations are encoded depends on the information being encoded and (2) this contingency is captured by the stimulus features we can model, e.g., with a DNN or word2vec</a:t>
            </a:r>
          </a:p>
          <a:p>
            <a:pPr lvl="1"/>
            <a:r>
              <a:rPr lang="en-US" sz="1200" dirty="0"/>
              <a:t>However, what if relational memory encoding isn’t tracked by our stimulus features</a:t>
            </a:r>
          </a:p>
          <a:p>
            <a:endParaRPr lang="en-US" dirty="0"/>
          </a:p>
          <a:p>
            <a:endParaRPr lang="en-US" dirty="0"/>
          </a:p>
          <a:p>
            <a:r>
              <a:rPr lang="en-US" dirty="0"/>
              <a:t>Maybe include a baseline task where participants just see all the targets. This will also help with encoding</a:t>
            </a:r>
          </a:p>
        </p:txBody>
      </p:sp>
      <p:sp>
        <p:nvSpPr>
          <p:cNvPr id="4" name="Slide Number Placeholder 3"/>
          <p:cNvSpPr>
            <a:spLocks noGrp="1"/>
          </p:cNvSpPr>
          <p:nvPr>
            <p:ph type="sldNum" sz="quarter" idx="5"/>
          </p:nvPr>
        </p:nvSpPr>
        <p:spPr/>
        <p:txBody>
          <a:bodyPr/>
          <a:lstStyle/>
          <a:p>
            <a:fld id="{92E3E675-13CA-4196-84E5-E684757DD2A6}" type="slidenum">
              <a:rPr lang="en-US" smtClean="0"/>
              <a:t>55</a:t>
            </a:fld>
            <a:endParaRPr lang="en-US"/>
          </a:p>
        </p:txBody>
      </p:sp>
    </p:spTree>
    <p:extLst>
      <p:ext uri="{BB962C8B-B14F-4D97-AF65-F5344CB8AC3E}">
        <p14:creationId xmlns:p14="http://schemas.microsoft.com/office/powerpoint/2010/main" val="390940573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task design 2, participants may encode X-A, X-B, and B-A simultaneously as an episodic memory)</a:t>
            </a:r>
          </a:p>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56</a:t>
            </a:fld>
            <a:endParaRPr lang="en-US"/>
          </a:p>
        </p:txBody>
      </p:sp>
    </p:spTree>
    <p:extLst>
      <p:ext uri="{BB962C8B-B14F-4D97-AF65-F5344CB8AC3E}">
        <p14:creationId xmlns:p14="http://schemas.microsoft.com/office/powerpoint/2010/main" val="257855326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57</a:t>
            </a:fld>
            <a:endParaRPr lang="en-US"/>
          </a:p>
        </p:txBody>
      </p:sp>
    </p:spTree>
    <p:extLst>
      <p:ext uri="{BB962C8B-B14F-4D97-AF65-F5344CB8AC3E}">
        <p14:creationId xmlns:p14="http://schemas.microsoft.com/office/powerpoint/2010/main" val="188481586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58</a:t>
            </a:fld>
            <a:endParaRPr lang="en-US"/>
          </a:p>
        </p:txBody>
      </p:sp>
    </p:spTree>
    <p:extLst>
      <p:ext uri="{BB962C8B-B14F-4D97-AF65-F5344CB8AC3E}">
        <p14:creationId xmlns:p14="http://schemas.microsoft.com/office/powerpoint/2010/main" val="346248516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latin typeface="Times New Roman" panose="02020603050405020304" pitchFamily="18" charset="0"/>
                <a:cs typeface="Times New Roman" panose="02020603050405020304" pitchFamily="18" charset="0"/>
              </a:rPr>
              <a:t>u</a:t>
            </a:r>
            <a:r>
              <a:rPr lang="en-US" dirty="0"/>
              <a:t>,</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v</a:t>
            </a:r>
            <a:r>
              <a:rPr lang="en-US" dirty="0"/>
              <a:t>,</a:t>
            </a:r>
            <a:r>
              <a:rPr lang="en-US" b="1" dirty="0">
                <a:latin typeface="Times New Roman" panose="02020603050405020304" pitchFamily="18" charset="0"/>
                <a:cs typeface="Times New Roman" panose="02020603050405020304" pitchFamily="18" charset="0"/>
              </a:rPr>
              <a:t> w</a:t>
            </a:r>
            <a:r>
              <a:rPr lang="en-US" dirty="0"/>
              <a:t>,</a:t>
            </a:r>
            <a:r>
              <a:rPr lang="en-US" b="1" dirty="0">
                <a:latin typeface="Times New Roman" panose="02020603050405020304" pitchFamily="18" charset="0"/>
                <a:cs typeface="Times New Roman" panose="02020603050405020304" pitchFamily="18" charset="0"/>
              </a:rPr>
              <a:t> x</a:t>
            </a:r>
            <a:r>
              <a:rPr lang="en-US" dirty="0"/>
              <a:t>,</a:t>
            </a:r>
            <a:r>
              <a:rPr lang="en-US" b="1" dirty="0">
                <a:latin typeface="Times New Roman" panose="02020603050405020304" pitchFamily="18" charset="0"/>
                <a:cs typeface="Times New Roman" panose="02020603050405020304" pitchFamily="18" charset="0"/>
              </a:rPr>
              <a:t> y</a:t>
            </a:r>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59</a:t>
            </a:fld>
            <a:endParaRPr lang="en-US"/>
          </a:p>
        </p:txBody>
      </p:sp>
    </p:spTree>
    <p:extLst>
      <p:ext uri="{BB962C8B-B14F-4D97-AF65-F5344CB8AC3E}">
        <p14:creationId xmlns:p14="http://schemas.microsoft.com/office/powerpoint/2010/main" val="326227047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on true analogies (e.g., “ingredient of” or “cooked in”) and not just overlapping features or category examples</a:t>
            </a:r>
          </a:p>
          <a:p>
            <a:pPr lvl="1"/>
            <a:r>
              <a:rPr lang="en-US" dirty="0"/>
              <a:t>However, this makes the design more challenging</a:t>
            </a:r>
          </a:p>
          <a:p>
            <a:r>
              <a:rPr lang="en-US" dirty="0"/>
              <a:t>Either way, it would be hard to just look at similarity of analogy processing since it could just be confounded by overlaps in the representations of a given item (e.g., retrieving USA-Fried chicken :: Italy-Pizza, could be confounded by features “country” and “food”)</a:t>
            </a:r>
          </a:p>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60</a:t>
            </a:fld>
            <a:endParaRPr lang="en-US"/>
          </a:p>
        </p:txBody>
      </p:sp>
    </p:spTree>
    <p:extLst>
      <p:ext uri="{BB962C8B-B14F-4D97-AF65-F5344CB8AC3E}">
        <p14:creationId xmlns:p14="http://schemas.microsoft.com/office/powerpoint/2010/main" val="42171786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4AD00B-6584-4BEB-BB07-D320C42443A6}"/>
              </a:ext>
            </a:extLst>
          </p:cNvPr>
          <p:cNvSpPr>
            <a:spLocks noGrp="1"/>
          </p:cNvSpPr>
          <p:nvPr>
            <p:ph type="ctrTitle"/>
          </p:nvPr>
        </p:nvSpPr>
        <p:spPr>
          <a:xfrm>
            <a:off x="1524000" y="1122363"/>
            <a:ext cx="9144000" cy="2387600"/>
          </a:xfrm>
        </p:spPr>
        <p:txBody>
          <a:bodyPr anchor="b"/>
          <a:lstStyle>
            <a:lvl1pPr algn="ctr">
              <a:defRPr sz="600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EE093775-97DA-4F0C-8091-7243A71F5AB9}"/>
              </a:ext>
            </a:extLst>
          </p:cNvPr>
          <p:cNvSpPr>
            <a:spLocks noGrp="1"/>
          </p:cNvSpPr>
          <p:nvPr>
            <p:ph type="subTitle" idx="1"/>
          </p:nvPr>
        </p:nvSpPr>
        <p:spPr>
          <a:xfrm>
            <a:off x="1524000" y="3602038"/>
            <a:ext cx="9144000" cy="1655762"/>
          </a:xfrm>
        </p:spPr>
        <p:txBody>
          <a:bodyPr/>
          <a:lstStyle>
            <a:lvl1pPr marL="0" indent="0" algn="ctr">
              <a:buNone/>
              <a:defRPr sz="2400">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0C2E7B29-494F-46C3-98E5-9F2CFE6B57A9}"/>
              </a:ext>
            </a:extLst>
          </p:cNvPr>
          <p:cNvSpPr>
            <a:spLocks noGrp="1"/>
          </p:cNvSpPr>
          <p:nvPr>
            <p:ph type="dt" sz="half" idx="10"/>
          </p:nvPr>
        </p:nvSpPr>
        <p:spPr/>
        <p:txBody>
          <a:bodyPr/>
          <a:lstStyle/>
          <a:p>
            <a:fld id="{826B2E29-6454-4170-AF87-B006FFB35D00}" type="datetimeFigureOut">
              <a:rPr lang="en-US" smtClean="0"/>
              <a:t>11/8/2023</a:t>
            </a:fld>
            <a:endParaRPr lang="en-US" dirty="0"/>
          </a:p>
        </p:txBody>
      </p:sp>
      <p:sp>
        <p:nvSpPr>
          <p:cNvPr id="5" name="Footer Placeholder 4">
            <a:extLst>
              <a:ext uri="{FF2B5EF4-FFF2-40B4-BE49-F238E27FC236}">
                <a16:creationId xmlns:a16="http://schemas.microsoft.com/office/drawing/2014/main" id="{1C629F06-03E1-4DE2-98E0-74887BAC9B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6FE5F46-6594-4C1E-B5CA-1F1D6F20F0C5}"/>
              </a:ext>
            </a:extLst>
          </p:cNvPr>
          <p:cNvSpPr>
            <a:spLocks noGrp="1"/>
          </p:cNvSpPr>
          <p:nvPr>
            <p:ph type="sldNum" sz="quarter" idx="12"/>
          </p:nvPr>
        </p:nvSpPr>
        <p:spPr/>
        <p:txBody>
          <a:bodyPr/>
          <a:lstStyle/>
          <a:p>
            <a:fld id="{608BFAFE-0FA7-4047-BC8F-BE5A17279354}" type="slidenum">
              <a:rPr lang="en-US" smtClean="0"/>
              <a:t>‹#›</a:t>
            </a:fld>
            <a:endParaRPr lang="en-US"/>
          </a:p>
        </p:txBody>
      </p:sp>
    </p:spTree>
    <p:extLst>
      <p:ext uri="{BB962C8B-B14F-4D97-AF65-F5344CB8AC3E}">
        <p14:creationId xmlns:p14="http://schemas.microsoft.com/office/powerpoint/2010/main" val="29217703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118E2B-D6F1-4EA2-8F10-7D5D17974DB8}"/>
              </a:ext>
            </a:extLst>
          </p:cNvPr>
          <p:cNvSpPr>
            <a:spLocks noGrp="1"/>
          </p:cNvSpPr>
          <p:nvPr>
            <p:ph type="title"/>
          </p:nvPr>
        </p:nvSpPr>
        <p:spPr/>
        <p:txBody>
          <a:bodyPr/>
          <a:lstStyle>
            <a:lvl1pPr algn="ctr">
              <a:defRPr>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7AD061B-03B3-4665-AA43-89C80159D0F0}"/>
              </a:ext>
            </a:extLst>
          </p:cNvPr>
          <p:cNvSpPr>
            <a:spLocks noGrp="1"/>
          </p:cNvSpPr>
          <p:nvPr>
            <p:ph idx="1"/>
          </p:nvPr>
        </p:nvSpPr>
        <p:spPr/>
        <p:txBody>
          <a:bodyPr/>
          <a:lstStyle>
            <a:lvl1pPr>
              <a:defRPr>
                <a:latin typeface="Arial" panose="020B0604020202020204" pitchFamily="34" charset="0"/>
                <a:cs typeface="Arial" panose="020B0604020202020204" pitchFamily="34" charset="0"/>
              </a:defRPr>
            </a:lvl1pPr>
            <a:lvl2pPr marL="685800" indent="-228600">
              <a:buFont typeface="Courier New" panose="02070309020205020404" pitchFamily="49" charset="0"/>
              <a:buChar char="o"/>
              <a:defRPr>
                <a:latin typeface="Arial" panose="020B0604020202020204" pitchFamily="34" charset="0"/>
                <a:cs typeface="Arial" panose="020B0604020202020204" pitchFamily="34" charset="0"/>
              </a:defRPr>
            </a:lvl2pPr>
            <a:lvl3pPr marL="1143000" indent="-228600">
              <a:buFont typeface="Wingdings" panose="05000000000000000000" pitchFamily="2" charset="2"/>
              <a:buChar char="§"/>
              <a:defRPr>
                <a:latin typeface="Arial" panose="020B0604020202020204" pitchFamily="34" charset="0"/>
                <a:cs typeface="Arial" panose="020B0604020202020204" pitchFamily="34" charset="0"/>
              </a:defRPr>
            </a:lvl3pPr>
            <a:lvl4pPr marL="1600200" indent="-228600">
              <a:buFont typeface="Wingdings" panose="05000000000000000000" pitchFamily="2" charset="2"/>
              <a:buChar char="v"/>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DE68A43-9AA0-4950-B1EC-6BFB6F75E798}"/>
              </a:ext>
            </a:extLst>
          </p:cNvPr>
          <p:cNvSpPr>
            <a:spLocks noGrp="1"/>
          </p:cNvSpPr>
          <p:nvPr>
            <p:ph type="dt" sz="half" idx="10"/>
          </p:nvPr>
        </p:nvSpPr>
        <p:spPr/>
        <p:txBody>
          <a:bodyPr/>
          <a:lstStyle/>
          <a:p>
            <a:fld id="{826B2E29-6454-4170-AF87-B006FFB35D00}" type="datetimeFigureOut">
              <a:rPr lang="en-US" smtClean="0"/>
              <a:t>11/8/2023</a:t>
            </a:fld>
            <a:endParaRPr lang="en-US"/>
          </a:p>
        </p:txBody>
      </p:sp>
      <p:sp>
        <p:nvSpPr>
          <p:cNvPr id="5" name="Footer Placeholder 4">
            <a:extLst>
              <a:ext uri="{FF2B5EF4-FFF2-40B4-BE49-F238E27FC236}">
                <a16:creationId xmlns:a16="http://schemas.microsoft.com/office/drawing/2014/main" id="{3D1BB70E-48FE-49D7-B925-546DA100FE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D8C68AE-EABA-4A35-AFE9-C39F59588379}"/>
              </a:ext>
            </a:extLst>
          </p:cNvPr>
          <p:cNvSpPr>
            <a:spLocks noGrp="1"/>
          </p:cNvSpPr>
          <p:nvPr>
            <p:ph type="sldNum" sz="quarter" idx="12"/>
          </p:nvPr>
        </p:nvSpPr>
        <p:spPr/>
        <p:txBody>
          <a:bodyPr/>
          <a:lstStyle/>
          <a:p>
            <a:fld id="{608BFAFE-0FA7-4047-BC8F-BE5A17279354}" type="slidenum">
              <a:rPr lang="en-US" smtClean="0"/>
              <a:t>‹#›</a:t>
            </a:fld>
            <a:endParaRPr lang="en-US"/>
          </a:p>
        </p:txBody>
      </p:sp>
    </p:spTree>
    <p:extLst>
      <p:ext uri="{BB962C8B-B14F-4D97-AF65-F5344CB8AC3E}">
        <p14:creationId xmlns:p14="http://schemas.microsoft.com/office/powerpoint/2010/main" val="606355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89B53F-ED2E-4673-A940-F01A32CB4A3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D9796FD-D16C-4F81-BDA1-928AE471D66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36B1EED-EFC9-4E32-A27E-A04910ABAF18}"/>
              </a:ext>
            </a:extLst>
          </p:cNvPr>
          <p:cNvSpPr>
            <a:spLocks noGrp="1"/>
          </p:cNvSpPr>
          <p:nvPr>
            <p:ph type="dt" sz="half" idx="10"/>
          </p:nvPr>
        </p:nvSpPr>
        <p:spPr/>
        <p:txBody>
          <a:bodyPr/>
          <a:lstStyle/>
          <a:p>
            <a:fld id="{826B2E29-6454-4170-AF87-B006FFB35D00}" type="datetimeFigureOut">
              <a:rPr lang="en-US" smtClean="0"/>
              <a:t>11/8/2023</a:t>
            </a:fld>
            <a:endParaRPr lang="en-US"/>
          </a:p>
        </p:txBody>
      </p:sp>
      <p:sp>
        <p:nvSpPr>
          <p:cNvPr id="5" name="Footer Placeholder 4">
            <a:extLst>
              <a:ext uri="{FF2B5EF4-FFF2-40B4-BE49-F238E27FC236}">
                <a16:creationId xmlns:a16="http://schemas.microsoft.com/office/drawing/2014/main" id="{5930C3AC-D4C3-43A1-B81B-0FE71EF265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1631A4-C8E4-40B1-8060-9CD773F03DB6}"/>
              </a:ext>
            </a:extLst>
          </p:cNvPr>
          <p:cNvSpPr>
            <a:spLocks noGrp="1"/>
          </p:cNvSpPr>
          <p:nvPr>
            <p:ph type="sldNum" sz="quarter" idx="12"/>
          </p:nvPr>
        </p:nvSpPr>
        <p:spPr/>
        <p:txBody>
          <a:bodyPr/>
          <a:lstStyle/>
          <a:p>
            <a:fld id="{608BFAFE-0FA7-4047-BC8F-BE5A17279354}" type="slidenum">
              <a:rPr lang="en-US" smtClean="0"/>
              <a:t>‹#›</a:t>
            </a:fld>
            <a:endParaRPr lang="en-US"/>
          </a:p>
        </p:txBody>
      </p:sp>
    </p:spTree>
    <p:extLst>
      <p:ext uri="{BB962C8B-B14F-4D97-AF65-F5344CB8AC3E}">
        <p14:creationId xmlns:p14="http://schemas.microsoft.com/office/powerpoint/2010/main" val="33582478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74271-11DA-4E97-B187-22F01CD292D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7AD5DB8-CF97-4315-BD7D-836111B7543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FD2452B-E913-4410-8B5A-FEA37D312DB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D060FC7-4A31-4ECB-B9E2-E3F479496C2B}"/>
              </a:ext>
            </a:extLst>
          </p:cNvPr>
          <p:cNvSpPr>
            <a:spLocks noGrp="1"/>
          </p:cNvSpPr>
          <p:nvPr>
            <p:ph type="dt" sz="half" idx="10"/>
          </p:nvPr>
        </p:nvSpPr>
        <p:spPr/>
        <p:txBody>
          <a:bodyPr/>
          <a:lstStyle/>
          <a:p>
            <a:fld id="{826B2E29-6454-4170-AF87-B006FFB35D00}" type="datetimeFigureOut">
              <a:rPr lang="en-US" smtClean="0"/>
              <a:t>11/8/2023</a:t>
            </a:fld>
            <a:endParaRPr lang="en-US"/>
          </a:p>
        </p:txBody>
      </p:sp>
      <p:sp>
        <p:nvSpPr>
          <p:cNvPr id="6" name="Footer Placeholder 5">
            <a:extLst>
              <a:ext uri="{FF2B5EF4-FFF2-40B4-BE49-F238E27FC236}">
                <a16:creationId xmlns:a16="http://schemas.microsoft.com/office/drawing/2014/main" id="{3EF10980-53A5-4B2D-8BF1-430BA182B19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17DF36-9C11-43B0-AFBB-13D8E0BB40F3}"/>
              </a:ext>
            </a:extLst>
          </p:cNvPr>
          <p:cNvSpPr>
            <a:spLocks noGrp="1"/>
          </p:cNvSpPr>
          <p:nvPr>
            <p:ph type="sldNum" sz="quarter" idx="12"/>
          </p:nvPr>
        </p:nvSpPr>
        <p:spPr/>
        <p:txBody>
          <a:bodyPr/>
          <a:lstStyle/>
          <a:p>
            <a:fld id="{608BFAFE-0FA7-4047-BC8F-BE5A17279354}" type="slidenum">
              <a:rPr lang="en-US" smtClean="0"/>
              <a:t>‹#›</a:t>
            </a:fld>
            <a:endParaRPr lang="en-US"/>
          </a:p>
        </p:txBody>
      </p:sp>
    </p:spTree>
    <p:extLst>
      <p:ext uri="{BB962C8B-B14F-4D97-AF65-F5344CB8AC3E}">
        <p14:creationId xmlns:p14="http://schemas.microsoft.com/office/powerpoint/2010/main" val="42149018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51C380-5819-47C0-B6DB-1BCA49A315D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6281FCE-3703-4337-967E-C2A5382DEBB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6731D9-4835-412C-88CC-3CD3C6FA3E0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628CEF9-828A-4745-997E-A7DBBAD1084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ED2CBA7-3ACA-46DD-B733-BAC85603BCD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35F5A09-EDB5-46E6-893D-EFB70025FE62}"/>
              </a:ext>
            </a:extLst>
          </p:cNvPr>
          <p:cNvSpPr>
            <a:spLocks noGrp="1"/>
          </p:cNvSpPr>
          <p:nvPr>
            <p:ph type="dt" sz="half" idx="10"/>
          </p:nvPr>
        </p:nvSpPr>
        <p:spPr/>
        <p:txBody>
          <a:bodyPr/>
          <a:lstStyle/>
          <a:p>
            <a:fld id="{826B2E29-6454-4170-AF87-B006FFB35D00}" type="datetimeFigureOut">
              <a:rPr lang="en-US" smtClean="0"/>
              <a:t>11/8/2023</a:t>
            </a:fld>
            <a:endParaRPr lang="en-US"/>
          </a:p>
        </p:txBody>
      </p:sp>
      <p:sp>
        <p:nvSpPr>
          <p:cNvPr id="8" name="Footer Placeholder 7">
            <a:extLst>
              <a:ext uri="{FF2B5EF4-FFF2-40B4-BE49-F238E27FC236}">
                <a16:creationId xmlns:a16="http://schemas.microsoft.com/office/drawing/2014/main" id="{01002CA3-1581-43C3-98FC-59A33E3D226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CD09075-C4B1-42AC-8C75-4FB488376E15}"/>
              </a:ext>
            </a:extLst>
          </p:cNvPr>
          <p:cNvSpPr>
            <a:spLocks noGrp="1"/>
          </p:cNvSpPr>
          <p:nvPr>
            <p:ph type="sldNum" sz="quarter" idx="12"/>
          </p:nvPr>
        </p:nvSpPr>
        <p:spPr/>
        <p:txBody>
          <a:bodyPr/>
          <a:lstStyle/>
          <a:p>
            <a:fld id="{608BFAFE-0FA7-4047-BC8F-BE5A17279354}" type="slidenum">
              <a:rPr lang="en-US" smtClean="0"/>
              <a:t>‹#›</a:t>
            </a:fld>
            <a:endParaRPr lang="en-US"/>
          </a:p>
        </p:txBody>
      </p:sp>
    </p:spTree>
    <p:extLst>
      <p:ext uri="{BB962C8B-B14F-4D97-AF65-F5344CB8AC3E}">
        <p14:creationId xmlns:p14="http://schemas.microsoft.com/office/powerpoint/2010/main" val="24977364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B10F9-1F70-4CC0-A1BC-D1C42C2B756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5B85726-DBEF-4CA3-839B-352075533D1B}"/>
              </a:ext>
            </a:extLst>
          </p:cNvPr>
          <p:cNvSpPr>
            <a:spLocks noGrp="1"/>
          </p:cNvSpPr>
          <p:nvPr>
            <p:ph type="dt" sz="half" idx="10"/>
          </p:nvPr>
        </p:nvSpPr>
        <p:spPr/>
        <p:txBody>
          <a:bodyPr/>
          <a:lstStyle/>
          <a:p>
            <a:fld id="{826B2E29-6454-4170-AF87-B006FFB35D00}" type="datetimeFigureOut">
              <a:rPr lang="en-US" smtClean="0"/>
              <a:t>11/8/2023</a:t>
            </a:fld>
            <a:endParaRPr lang="en-US"/>
          </a:p>
        </p:txBody>
      </p:sp>
      <p:sp>
        <p:nvSpPr>
          <p:cNvPr id="4" name="Footer Placeholder 3">
            <a:extLst>
              <a:ext uri="{FF2B5EF4-FFF2-40B4-BE49-F238E27FC236}">
                <a16:creationId xmlns:a16="http://schemas.microsoft.com/office/drawing/2014/main" id="{05BA00EA-3C23-4588-BF03-F22ABBE80D4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89F3800-C9A5-4235-B574-19A012682222}"/>
              </a:ext>
            </a:extLst>
          </p:cNvPr>
          <p:cNvSpPr>
            <a:spLocks noGrp="1"/>
          </p:cNvSpPr>
          <p:nvPr>
            <p:ph type="sldNum" sz="quarter" idx="12"/>
          </p:nvPr>
        </p:nvSpPr>
        <p:spPr/>
        <p:txBody>
          <a:bodyPr/>
          <a:lstStyle/>
          <a:p>
            <a:fld id="{608BFAFE-0FA7-4047-BC8F-BE5A17279354}" type="slidenum">
              <a:rPr lang="en-US" smtClean="0"/>
              <a:t>‹#›</a:t>
            </a:fld>
            <a:endParaRPr lang="en-US"/>
          </a:p>
        </p:txBody>
      </p:sp>
    </p:spTree>
    <p:extLst>
      <p:ext uri="{BB962C8B-B14F-4D97-AF65-F5344CB8AC3E}">
        <p14:creationId xmlns:p14="http://schemas.microsoft.com/office/powerpoint/2010/main" val="36964829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CBCECA6-D996-452B-AD6A-269CA18468B3}"/>
              </a:ext>
            </a:extLst>
          </p:cNvPr>
          <p:cNvSpPr>
            <a:spLocks noGrp="1"/>
          </p:cNvSpPr>
          <p:nvPr>
            <p:ph type="dt" sz="half" idx="10"/>
          </p:nvPr>
        </p:nvSpPr>
        <p:spPr/>
        <p:txBody>
          <a:bodyPr/>
          <a:lstStyle/>
          <a:p>
            <a:fld id="{826B2E29-6454-4170-AF87-B006FFB35D00}" type="datetimeFigureOut">
              <a:rPr lang="en-US" smtClean="0"/>
              <a:t>11/8/2023</a:t>
            </a:fld>
            <a:endParaRPr lang="en-US"/>
          </a:p>
        </p:txBody>
      </p:sp>
      <p:sp>
        <p:nvSpPr>
          <p:cNvPr id="3" name="Footer Placeholder 2">
            <a:extLst>
              <a:ext uri="{FF2B5EF4-FFF2-40B4-BE49-F238E27FC236}">
                <a16:creationId xmlns:a16="http://schemas.microsoft.com/office/drawing/2014/main" id="{F60A0586-0096-41A3-A9AF-EE9CB38C9B4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5777BFA-2216-49F0-AF38-B46C9D82B7E4}"/>
              </a:ext>
            </a:extLst>
          </p:cNvPr>
          <p:cNvSpPr>
            <a:spLocks noGrp="1"/>
          </p:cNvSpPr>
          <p:nvPr>
            <p:ph type="sldNum" sz="quarter" idx="12"/>
          </p:nvPr>
        </p:nvSpPr>
        <p:spPr/>
        <p:txBody>
          <a:bodyPr/>
          <a:lstStyle/>
          <a:p>
            <a:fld id="{608BFAFE-0FA7-4047-BC8F-BE5A17279354}" type="slidenum">
              <a:rPr lang="en-US" smtClean="0"/>
              <a:t>‹#›</a:t>
            </a:fld>
            <a:endParaRPr lang="en-US"/>
          </a:p>
        </p:txBody>
      </p:sp>
    </p:spTree>
    <p:extLst>
      <p:ext uri="{BB962C8B-B14F-4D97-AF65-F5344CB8AC3E}">
        <p14:creationId xmlns:p14="http://schemas.microsoft.com/office/powerpoint/2010/main" val="14828535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A1C996-C8A9-4FB0-A317-2E7E90812F6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F127B42-DBC2-47A8-A40D-BAE97758B67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7521C7B-35CB-4880-A0AC-805BFB5B98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D47D0-2081-45E3-9C7E-BF43B9672EFD}"/>
              </a:ext>
            </a:extLst>
          </p:cNvPr>
          <p:cNvSpPr>
            <a:spLocks noGrp="1"/>
          </p:cNvSpPr>
          <p:nvPr>
            <p:ph type="dt" sz="half" idx="10"/>
          </p:nvPr>
        </p:nvSpPr>
        <p:spPr/>
        <p:txBody>
          <a:bodyPr/>
          <a:lstStyle/>
          <a:p>
            <a:fld id="{826B2E29-6454-4170-AF87-B006FFB35D00}" type="datetimeFigureOut">
              <a:rPr lang="en-US" smtClean="0"/>
              <a:t>11/8/2023</a:t>
            </a:fld>
            <a:endParaRPr lang="en-US"/>
          </a:p>
        </p:txBody>
      </p:sp>
      <p:sp>
        <p:nvSpPr>
          <p:cNvPr id="6" name="Footer Placeholder 5">
            <a:extLst>
              <a:ext uri="{FF2B5EF4-FFF2-40B4-BE49-F238E27FC236}">
                <a16:creationId xmlns:a16="http://schemas.microsoft.com/office/drawing/2014/main" id="{3ABC9F89-7930-49B0-A81E-736C95A736F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D624FF2-1361-4D73-A914-D03027804B03}"/>
              </a:ext>
            </a:extLst>
          </p:cNvPr>
          <p:cNvSpPr>
            <a:spLocks noGrp="1"/>
          </p:cNvSpPr>
          <p:nvPr>
            <p:ph type="sldNum" sz="quarter" idx="12"/>
          </p:nvPr>
        </p:nvSpPr>
        <p:spPr/>
        <p:txBody>
          <a:bodyPr/>
          <a:lstStyle/>
          <a:p>
            <a:fld id="{608BFAFE-0FA7-4047-BC8F-BE5A17279354}" type="slidenum">
              <a:rPr lang="en-US" smtClean="0"/>
              <a:t>‹#›</a:t>
            </a:fld>
            <a:endParaRPr lang="en-US"/>
          </a:p>
        </p:txBody>
      </p:sp>
    </p:spTree>
    <p:extLst>
      <p:ext uri="{BB962C8B-B14F-4D97-AF65-F5344CB8AC3E}">
        <p14:creationId xmlns:p14="http://schemas.microsoft.com/office/powerpoint/2010/main" val="23698733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6A0EA-C4AE-4F36-8754-7F92C6FD490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A581EA3-D358-4C88-8CEE-AF58C0349F4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8B9D2496-CC08-4831-A9A9-D5744A808C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D3AED85-6938-40CE-A6E8-A23E81056D88}"/>
              </a:ext>
            </a:extLst>
          </p:cNvPr>
          <p:cNvSpPr>
            <a:spLocks noGrp="1"/>
          </p:cNvSpPr>
          <p:nvPr>
            <p:ph type="dt" sz="half" idx="10"/>
          </p:nvPr>
        </p:nvSpPr>
        <p:spPr/>
        <p:txBody>
          <a:bodyPr/>
          <a:lstStyle/>
          <a:p>
            <a:fld id="{826B2E29-6454-4170-AF87-B006FFB35D00}" type="datetimeFigureOut">
              <a:rPr lang="en-US" smtClean="0"/>
              <a:t>11/8/2023</a:t>
            </a:fld>
            <a:endParaRPr lang="en-US"/>
          </a:p>
        </p:txBody>
      </p:sp>
      <p:sp>
        <p:nvSpPr>
          <p:cNvPr id="6" name="Footer Placeholder 5">
            <a:extLst>
              <a:ext uri="{FF2B5EF4-FFF2-40B4-BE49-F238E27FC236}">
                <a16:creationId xmlns:a16="http://schemas.microsoft.com/office/drawing/2014/main" id="{C33890F1-7ABC-438C-86BC-16AABE5A36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0A9E24A-6694-40DE-A232-40F924DE7463}"/>
              </a:ext>
            </a:extLst>
          </p:cNvPr>
          <p:cNvSpPr>
            <a:spLocks noGrp="1"/>
          </p:cNvSpPr>
          <p:nvPr>
            <p:ph type="sldNum" sz="quarter" idx="12"/>
          </p:nvPr>
        </p:nvSpPr>
        <p:spPr/>
        <p:txBody>
          <a:bodyPr/>
          <a:lstStyle/>
          <a:p>
            <a:fld id="{608BFAFE-0FA7-4047-BC8F-BE5A17279354}" type="slidenum">
              <a:rPr lang="en-US" smtClean="0"/>
              <a:t>‹#›</a:t>
            </a:fld>
            <a:endParaRPr lang="en-US"/>
          </a:p>
        </p:txBody>
      </p:sp>
    </p:spTree>
    <p:extLst>
      <p:ext uri="{BB962C8B-B14F-4D97-AF65-F5344CB8AC3E}">
        <p14:creationId xmlns:p14="http://schemas.microsoft.com/office/powerpoint/2010/main" val="14557015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ED043-E298-4666-8D40-3D14B1C9CB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D9E29ED-D0CE-46BF-BF1D-C444FE7CCFB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A0FE7BF-BCB2-4C76-9FCF-0BC648695851}"/>
              </a:ext>
            </a:extLst>
          </p:cNvPr>
          <p:cNvSpPr>
            <a:spLocks noGrp="1"/>
          </p:cNvSpPr>
          <p:nvPr>
            <p:ph type="dt" sz="half" idx="10"/>
          </p:nvPr>
        </p:nvSpPr>
        <p:spPr/>
        <p:txBody>
          <a:bodyPr/>
          <a:lstStyle/>
          <a:p>
            <a:fld id="{826B2E29-6454-4170-AF87-B006FFB35D00}" type="datetimeFigureOut">
              <a:rPr lang="en-US" smtClean="0"/>
              <a:t>11/8/2023</a:t>
            </a:fld>
            <a:endParaRPr lang="en-US"/>
          </a:p>
        </p:txBody>
      </p:sp>
      <p:sp>
        <p:nvSpPr>
          <p:cNvPr id="5" name="Footer Placeholder 4">
            <a:extLst>
              <a:ext uri="{FF2B5EF4-FFF2-40B4-BE49-F238E27FC236}">
                <a16:creationId xmlns:a16="http://schemas.microsoft.com/office/drawing/2014/main" id="{68DD8F2D-07AF-4D6E-8EE6-F00A819F292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D59C9D-03F5-4136-A115-2B5FC467ACCE}"/>
              </a:ext>
            </a:extLst>
          </p:cNvPr>
          <p:cNvSpPr>
            <a:spLocks noGrp="1"/>
          </p:cNvSpPr>
          <p:nvPr>
            <p:ph type="sldNum" sz="quarter" idx="12"/>
          </p:nvPr>
        </p:nvSpPr>
        <p:spPr/>
        <p:txBody>
          <a:bodyPr/>
          <a:lstStyle/>
          <a:p>
            <a:fld id="{608BFAFE-0FA7-4047-BC8F-BE5A17279354}" type="slidenum">
              <a:rPr lang="en-US" smtClean="0"/>
              <a:t>‹#›</a:t>
            </a:fld>
            <a:endParaRPr lang="en-US"/>
          </a:p>
        </p:txBody>
      </p:sp>
    </p:spTree>
    <p:extLst>
      <p:ext uri="{BB962C8B-B14F-4D97-AF65-F5344CB8AC3E}">
        <p14:creationId xmlns:p14="http://schemas.microsoft.com/office/powerpoint/2010/main" val="30358920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C978F8E-91D5-4268-9E68-89B29C78C7B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20A7A88-61E4-488E-96E2-DC43AFC7C58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0A047E-85C8-4E09-8CD6-618AA4BB7918}"/>
              </a:ext>
            </a:extLst>
          </p:cNvPr>
          <p:cNvSpPr>
            <a:spLocks noGrp="1"/>
          </p:cNvSpPr>
          <p:nvPr>
            <p:ph type="dt" sz="half" idx="10"/>
          </p:nvPr>
        </p:nvSpPr>
        <p:spPr/>
        <p:txBody>
          <a:bodyPr/>
          <a:lstStyle/>
          <a:p>
            <a:fld id="{826B2E29-6454-4170-AF87-B006FFB35D00}" type="datetimeFigureOut">
              <a:rPr lang="en-US" smtClean="0"/>
              <a:t>11/8/2023</a:t>
            </a:fld>
            <a:endParaRPr lang="en-US"/>
          </a:p>
        </p:txBody>
      </p:sp>
      <p:sp>
        <p:nvSpPr>
          <p:cNvPr id="5" name="Footer Placeholder 4">
            <a:extLst>
              <a:ext uri="{FF2B5EF4-FFF2-40B4-BE49-F238E27FC236}">
                <a16:creationId xmlns:a16="http://schemas.microsoft.com/office/drawing/2014/main" id="{C91B3190-D85C-4508-A9FB-2F4F4CA9E2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17CC3-2A4A-4F7B-970D-92630A69D12C}"/>
              </a:ext>
            </a:extLst>
          </p:cNvPr>
          <p:cNvSpPr>
            <a:spLocks noGrp="1"/>
          </p:cNvSpPr>
          <p:nvPr>
            <p:ph type="sldNum" sz="quarter" idx="12"/>
          </p:nvPr>
        </p:nvSpPr>
        <p:spPr/>
        <p:txBody>
          <a:bodyPr/>
          <a:lstStyle/>
          <a:p>
            <a:fld id="{608BFAFE-0FA7-4047-BC8F-BE5A17279354}" type="slidenum">
              <a:rPr lang="en-US" smtClean="0"/>
              <a:t>‹#›</a:t>
            </a:fld>
            <a:endParaRPr lang="en-US"/>
          </a:p>
        </p:txBody>
      </p:sp>
    </p:spTree>
    <p:extLst>
      <p:ext uri="{BB962C8B-B14F-4D97-AF65-F5344CB8AC3E}">
        <p14:creationId xmlns:p14="http://schemas.microsoft.com/office/powerpoint/2010/main" val="8888360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6B8FB9C-8843-415F-A091-7ADDE32AF17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1A904287-E011-453F-99FD-D95C1BD669B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91C8B418-76C4-4EDB-91EF-C8E4A73B4C8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6B2E29-6454-4170-AF87-B006FFB35D00}" type="datetimeFigureOut">
              <a:rPr lang="en-US" smtClean="0"/>
              <a:t>11/8/2023</a:t>
            </a:fld>
            <a:endParaRPr lang="en-US"/>
          </a:p>
        </p:txBody>
      </p:sp>
      <p:sp>
        <p:nvSpPr>
          <p:cNvPr id="5" name="Footer Placeholder 4">
            <a:extLst>
              <a:ext uri="{FF2B5EF4-FFF2-40B4-BE49-F238E27FC236}">
                <a16:creationId xmlns:a16="http://schemas.microsoft.com/office/drawing/2014/main" id="{DDB74509-FFF9-4164-B6C3-46DDB68E465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28F2CDD-6359-4BCA-92D7-C7A8CB3D21D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08BFAFE-0FA7-4047-BC8F-BE5A17279354}" type="slidenum">
              <a:rPr lang="en-US" smtClean="0"/>
              <a:t>‹#›</a:t>
            </a:fld>
            <a:endParaRPr lang="en-US"/>
          </a:p>
        </p:txBody>
      </p:sp>
    </p:spTree>
    <p:extLst>
      <p:ext uri="{BB962C8B-B14F-4D97-AF65-F5344CB8AC3E}">
        <p14:creationId xmlns:p14="http://schemas.microsoft.com/office/powerpoint/2010/main" val="42226718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5.jpeg"/></Relationships>
</file>

<file path=ppt/slides/_rels/slide2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5.jpeg"/><Relationship Id="rId5" Type="http://schemas.openxmlformats.org/officeDocument/2006/relationships/image" Target="../media/image14.png"/><Relationship Id="rId4" Type="http://schemas.openxmlformats.org/officeDocument/2006/relationships/image" Target="../media/image17.jpe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5.jpeg"/></Relationships>
</file>

<file path=ppt/slides/_rels/slide3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9.jpeg"/><Relationship Id="rId5" Type="http://schemas.openxmlformats.org/officeDocument/2006/relationships/image" Target="../media/image18.jpeg"/><Relationship Id="rId4" Type="http://schemas.openxmlformats.org/officeDocument/2006/relationships/image" Target="../media/image15.jpe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36406-BE6A-43D1-8823-925981A4EA2E}"/>
              </a:ext>
            </a:extLst>
          </p:cNvPr>
          <p:cNvSpPr>
            <a:spLocks noGrp="1"/>
          </p:cNvSpPr>
          <p:nvPr>
            <p:ph type="ctrTitle"/>
          </p:nvPr>
        </p:nvSpPr>
        <p:spPr/>
        <p:txBody>
          <a:bodyPr/>
          <a:lstStyle/>
          <a:p>
            <a:r>
              <a:rPr lang="en-US" dirty="0"/>
              <a:t>Paul Update </a:t>
            </a:r>
            <a:br>
              <a:rPr lang="en-US" dirty="0"/>
            </a:br>
            <a:r>
              <a:rPr lang="en-US" dirty="0"/>
              <a:t>(now, with results now)</a:t>
            </a:r>
          </a:p>
        </p:txBody>
      </p:sp>
      <p:sp>
        <p:nvSpPr>
          <p:cNvPr id="3" name="Subtitle 2">
            <a:extLst>
              <a:ext uri="{FF2B5EF4-FFF2-40B4-BE49-F238E27FC236}">
                <a16:creationId xmlns:a16="http://schemas.microsoft.com/office/drawing/2014/main" id="{18E9E69C-B0CF-4A44-A6F4-E20B91704211}"/>
              </a:ext>
            </a:extLst>
          </p:cNvPr>
          <p:cNvSpPr>
            <a:spLocks noGrp="1"/>
          </p:cNvSpPr>
          <p:nvPr>
            <p:ph type="subTitle" idx="1"/>
          </p:nvPr>
        </p:nvSpPr>
        <p:spPr/>
        <p:txBody>
          <a:bodyPr/>
          <a:lstStyle/>
          <a:p>
            <a:r>
              <a:rPr lang="en-US" dirty="0"/>
              <a:t>11/12/2023</a:t>
            </a:r>
          </a:p>
        </p:txBody>
      </p:sp>
    </p:spTree>
    <p:extLst>
      <p:ext uri="{BB962C8B-B14F-4D97-AF65-F5344CB8AC3E}">
        <p14:creationId xmlns:p14="http://schemas.microsoft.com/office/powerpoint/2010/main" val="30579078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3-session fMRI study (</a:t>
            </a:r>
            <a:r>
              <a:rPr lang="en-US" altLang="zh-CN" dirty="0" err="1"/>
              <a:t>SchemRep</a:t>
            </a:r>
            <a:r>
              <a:rPr lang="en-US" dirty="0"/>
              <a:t>)</a:t>
            </a:r>
          </a:p>
        </p:txBody>
      </p:sp>
      <p:sp>
        <p:nvSpPr>
          <p:cNvPr id="3" name="Content Placeholder 2"/>
          <p:cNvSpPr>
            <a:spLocks noGrp="1"/>
          </p:cNvSpPr>
          <p:nvPr>
            <p:ph idx="1"/>
          </p:nvPr>
        </p:nvSpPr>
        <p:spPr>
          <a:xfrm>
            <a:off x="635000" y="1954212"/>
            <a:ext cx="4985773" cy="4767263"/>
          </a:xfrm>
        </p:spPr>
        <p:txBody>
          <a:bodyPr>
            <a:normAutofit/>
          </a:bodyPr>
          <a:lstStyle/>
          <a:p>
            <a:pPr marL="514350" indent="-514350">
              <a:buFont typeface="+mj-lt"/>
              <a:buAutoNum type="arabicPeriod"/>
            </a:pPr>
            <a:r>
              <a:rPr lang="en-US" altLang="zh-CN" b="1" dirty="0"/>
              <a:t>Baseline</a:t>
            </a:r>
            <a:r>
              <a:rPr lang="en-US" altLang="zh-CN" dirty="0"/>
              <a:t>: rated image-label typicality for objects</a:t>
            </a:r>
          </a:p>
          <a:p>
            <a:pPr marL="514350" indent="-514350">
              <a:buFont typeface="+mj-lt"/>
              <a:buAutoNum type="arabicPeriod"/>
            </a:pPr>
            <a:r>
              <a:rPr lang="en-US" b="1" dirty="0"/>
              <a:t>Encoding</a:t>
            </a:r>
            <a:r>
              <a:rPr lang="en-US" dirty="0"/>
              <a:t>: Presentation of scene and object. Rated how likely one is to find the object in the scene</a:t>
            </a:r>
          </a:p>
          <a:p>
            <a:pPr marL="514350" indent="-514350">
              <a:buFont typeface="+mj-lt"/>
              <a:buAutoNum type="arabicPeriod"/>
            </a:pPr>
            <a:r>
              <a:rPr lang="en-US" b="1" dirty="0"/>
              <a:t>Retrieval</a:t>
            </a:r>
            <a:r>
              <a:rPr lang="en-US" dirty="0"/>
              <a:t>: conceptual old/new followed by visual old/similar/new</a:t>
            </a:r>
          </a:p>
        </p:txBody>
      </p:sp>
      <p:sp>
        <p:nvSpPr>
          <p:cNvPr id="4" name="Slide Number Placeholder 3">
            <a:extLst>
              <a:ext uri="{FF2B5EF4-FFF2-40B4-BE49-F238E27FC236}">
                <a16:creationId xmlns:a16="http://schemas.microsoft.com/office/drawing/2014/main" id="{1F2383D4-A18D-BBFA-1BDA-099C2F8C8C43}"/>
              </a:ext>
            </a:extLst>
          </p:cNvPr>
          <p:cNvSpPr>
            <a:spLocks noGrp="1"/>
          </p:cNvSpPr>
          <p:nvPr>
            <p:ph type="sldNum" sz="quarter" idx="12"/>
          </p:nvPr>
        </p:nvSpPr>
        <p:spPr/>
        <p:txBody>
          <a:bodyPr/>
          <a:lstStyle/>
          <a:p>
            <a:fld id="{5BC0481F-DE52-414A-8886-8B7F01508184}" type="slidenum">
              <a:rPr lang="en-US" smtClean="0"/>
              <a:t>2</a:t>
            </a:fld>
            <a:endParaRPr lang="en-US"/>
          </a:p>
        </p:txBody>
      </p:sp>
      <p:pic>
        <p:nvPicPr>
          <p:cNvPr id="6" name="Picture 5">
            <a:extLst>
              <a:ext uri="{FF2B5EF4-FFF2-40B4-BE49-F238E27FC236}">
                <a16:creationId xmlns:a16="http://schemas.microsoft.com/office/drawing/2014/main" id="{4A59CECC-3013-1697-DB76-D42854B95E96}"/>
              </a:ext>
            </a:extLst>
          </p:cNvPr>
          <p:cNvPicPr>
            <a:picLocks noChangeAspect="1"/>
          </p:cNvPicPr>
          <p:nvPr/>
        </p:nvPicPr>
        <p:blipFill>
          <a:blip r:embed="rId2"/>
          <a:stretch>
            <a:fillRect/>
          </a:stretch>
        </p:blipFill>
        <p:spPr>
          <a:xfrm>
            <a:off x="5820108" y="2371725"/>
            <a:ext cx="6371892" cy="3614057"/>
          </a:xfrm>
          <a:prstGeom prst="rect">
            <a:avLst/>
          </a:prstGeom>
        </p:spPr>
      </p:pic>
    </p:spTree>
    <p:extLst>
      <p:ext uri="{BB962C8B-B14F-4D97-AF65-F5344CB8AC3E}">
        <p14:creationId xmlns:p14="http://schemas.microsoft.com/office/powerpoint/2010/main" val="508141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E91FF-D31B-A914-C220-9B0FE9C04C9B}"/>
              </a:ext>
            </a:extLst>
          </p:cNvPr>
          <p:cNvSpPr>
            <a:spLocks noGrp="1"/>
          </p:cNvSpPr>
          <p:nvPr>
            <p:ph type="title"/>
          </p:nvPr>
        </p:nvSpPr>
        <p:spPr/>
        <p:txBody>
          <a:bodyPr>
            <a:normAutofit/>
          </a:bodyPr>
          <a:lstStyle/>
          <a:p>
            <a:r>
              <a:rPr lang="en-US" sz="4000" dirty="0"/>
              <a:t>Standard way to mix RSA and connectivity</a:t>
            </a:r>
          </a:p>
        </p:txBody>
      </p:sp>
      <p:sp>
        <p:nvSpPr>
          <p:cNvPr id="3" name="Content Placeholder 2">
            <a:extLst>
              <a:ext uri="{FF2B5EF4-FFF2-40B4-BE49-F238E27FC236}">
                <a16:creationId xmlns:a16="http://schemas.microsoft.com/office/drawing/2014/main" id="{2ABB21F1-BF11-0739-D93A-93611527A502}"/>
              </a:ext>
            </a:extLst>
          </p:cNvPr>
          <p:cNvSpPr>
            <a:spLocks noGrp="1"/>
          </p:cNvSpPr>
          <p:nvPr>
            <p:ph idx="1"/>
          </p:nvPr>
        </p:nvSpPr>
        <p:spPr>
          <a:xfrm>
            <a:off x="838200" y="1825625"/>
            <a:ext cx="10515600" cy="4667250"/>
          </a:xfrm>
        </p:spPr>
        <p:txBody>
          <a:bodyPr>
            <a:normAutofit/>
          </a:bodyPr>
          <a:lstStyle/>
          <a:p>
            <a:r>
              <a:rPr lang="en-US" sz="2800" dirty="0"/>
              <a:t>Informational connectivity:</a:t>
            </a:r>
          </a:p>
          <a:p>
            <a:pPr lvl="1"/>
            <a:r>
              <a:rPr lang="en-US" dirty="0"/>
              <a:t>Create fMRI RDM for each ROI</a:t>
            </a:r>
          </a:p>
          <a:p>
            <a:pPr lvl="1"/>
            <a:r>
              <a:rPr lang="en-US" dirty="0"/>
              <a:t>Measure RDM</a:t>
            </a:r>
            <a:r>
              <a:rPr lang="en-US" baseline="-25000" dirty="0"/>
              <a:t>ROI-0</a:t>
            </a:r>
            <a:r>
              <a:rPr lang="en-US" dirty="0"/>
              <a:t> x RDM</a:t>
            </a:r>
            <a:r>
              <a:rPr lang="en-US" baseline="-25000" dirty="0"/>
              <a:t>ROI-1</a:t>
            </a:r>
          </a:p>
          <a:p>
            <a:pPr lvl="1"/>
            <a:r>
              <a:rPr lang="en-US" dirty="0"/>
              <a:t>Difficult to interpret</a:t>
            </a:r>
          </a:p>
          <a:p>
            <a:pPr lvl="2"/>
            <a:r>
              <a:rPr lang="en-US" dirty="0"/>
              <a:t>Roughly: When one region strongly represents a stimulus, another region will also tend to strongly represent the stimulus</a:t>
            </a:r>
          </a:p>
          <a:p>
            <a:pPr lvl="2"/>
            <a:r>
              <a:rPr lang="en-US" dirty="0"/>
              <a:t>However, this method is model-free (does not incorporate stimulus RDM)</a:t>
            </a:r>
          </a:p>
          <a:p>
            <a:r>
              <a:rPr lang="en-US" sz="2800" dirty="0"/>
              <a:t>IRAF x IRAF</a:t>
            </a:r>
          </a:p>
          <a:p>
            <a:pPr lvl="1"/>
            <a:r>
              <a:rPr lang="en-US" dirty="0"/>
              <a:t>Correlate IRAF</a:t>
            </a:r>
            <a:r>
              <a:rPr lang="en-US" baseline="-25000" dirty="0"/>
              <a:t>ROI-0</a:t>
            </a:r>
            <a:r>
              <a:rPr lang="en-US" dirty="0"/>
              <a:t> x IRAF</a:t>
            </a:r>
            <a:r>
              <a:rPr lang="en-US" baseline="-25000" dirty="0"/>
              <a:t>ROI-1 </a:t>
            </a:r>
            <a:r>
              <a:rPr lang="en-US" dirty="0"/>
              <a:t>across trials</a:t>
            </a:r>
          </a:p>
          <a:p>
            <a:pPr lvl="1"/>
            <a:r>
              <a:rPr lang="en-US" dirty="0"/>
              <a:t>Model-based</a:t>
            </a:r>
          </a:p>
          <a:p>
            <a:pPr lvl="2"/>
            <a:r>
              <a:rPr lang="en-US" dirty="0"/>
              <a:t>Unlike above, with this, you can discern what stimulus information is represented</a:t>
            </a:r>
          </a:p>
        </p:txBody>
      </p:sp>
    </p:spTree>
    <p:extLst>
      <p:ext uri="{BB962C8B-B14F-4D97-AF65-F5344CB8AC3E}">
        <p14:creationId xmlns:p14="http://schemas.microsoft.com/office/powerpoint/2010/main" val="32723005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7F81C7-A58A-597A-7307-3AB25A91539E}"/>
              </a:ext>
            </a:extLst>
          </p:cNvPr>
          <p:cNvSpPr>
            <a:spLocks noGrp="1"/>
          </p:cNvSpPr>
          <p:nvPr>
            <p:ph type="title"/>
          </p:nvPr>
        </p:nvSpPr>
        <p:spPr/>
        <p:txBody>
          <a:bodyPr/>
          <a:lstStyle/>
          <a:p>
            <a:r>
              <a:rPr lang="en-US" dirty="0"/>
              <a:t>Question </a:t>
            </a:r>
          </a:p>
        </p:txBody>
      </p:sp>
      <p:sp>
        <p:nvSpPr>
          <p:cNvPr id="3" name="Content Placeholder 2">
            <a:extLst>
              <a:ext uri="{FF2B5EF4-FFF2-40B4-BE49-F238E27FC236}">
                <a16:creationId xmlns:a16="http://schemas.microsoft.com/office/drawing/2014/main" id="{4A951938-9279-D6C9-64CE-196A05A2776A}"/>
              </a:ext>
            </a:extLst>
          </p:cNvPr>
          <p:cNvSpPr>
            <a:spLocks noGrp="1"/>
          </p:cNvSpPr>
          <p:nvPr>
            <p:ph idx="1"/>
          </p:nvPr>
        </p:nvSpPr>
        <p:spPr/>
        <p:txBody>
          <a:bodyPr/>
          <a:lstStyle/>
          <a:p>
            <a:r>
              <a:rPr lang="en-US" dirty="0"/>
              <a:t>RSA is typically thought to identify regions where populations of neurons represent some information</a:t>
            </a:r>
          </a:p>
          <a:p>
            <a:r>
              <a:rPr lang="en-US" dirty="0"/>
              <a:t>Is information also represented based on signals between regions?</a:t>
            </a:r>
          </a:p>
          <a:p>
            <a:pPr lvl="1"/>
            <a:r>
              <a:rPr lang="en-US" dirty="0"/>
              <a:t>Informational connectivity methods do </a:t>
            </a:r>
            <a:r>
              <a:rPr lang="en-US" u="sng" dirty="0"/>
              <a:t>not</a:t>
            </a:r>
            <a:r>
              <a:rPr lang="en-US" dirty="0"/>
              <a:t> probe this</a:t>
            </a:r>
          </a:p>
          <a:p>
            <a:pPr lvl="1"/>
            <a:r>
              <a:rPr lang="en-US" dirty="0"/>
              <a:t>Informational connectivity analyses attempt identify pairs of regions that are related in how their neural populations represent information</a:t>
            </a:r>
          </a:p>
          <a:p>
            <a:pPr lvl="1"/>
            <a:r>
              <a:rPr lang="en-US" dirty="0"/>
              <a:t>Here, I wonder whether information is represented as communication within a network</a:t>
            </a:r>
          </a:p>
        </p:txBody>
      </p:sp>
    </p:spTree>
    <p:extLst>
      <p:ext uri="{BB962C8B-B14F-4D97-AF65-F5344CB8AC3E}">
        <p14:creationId xmlns:p14="http://schemas.microsoft.com/office/powerpoint/2010/main" val="3905496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BAECC8-9913-1F37-3F44-8E83B65F33EE}"/>
              </a:ext>
            </a:extLst>
          </p:cNvPr>
          <p:cNvSpPr>
            <a:spLocks noGrp="1"/>
          </p:cNvSpPr>
          <p:nvPr>
            <p:ph type="title"/>
          </p:nvPr>
        </p:nvSpPr>
        <p:spPr>
          <a:xfrm>
            <a:off x="838200" y="0"/>
            <a:ext cx="10515600" cy="1325563"/>
          </a:xfrm>
        </p:spPr>
        <p:txBody>
          <a:bodyPr/>
          <a:lstStyle/>
          <a:p>
            <a:r>
              <a:rPr lang="en-US" dirty="0"/>
              <a:t>Methodological issue</a:t>
            </a:r>
          </a:p>
        </p:txBody>
      </p:sp>
      <p:sp>
        <p:nvSpPr>
          <p:cNvPr id="3" name="Content Placeholder 2">
            <a:extLst>
              <a:ext uri="{FF2B5EF4-FFF2-40B4-BE49-F238E27FC236}">
                <a16:creationId xmlns:a16="http://schemas.microsoft.com/office/drawing/2014/main" id="{43F0243C-4A62-EF45-7CFF-1F7DB831AA4E}"/>
              </a:ext>
            </a:extLst>
          </p:cNvPr>
          <p:cNvSpPr>
            <a:spLocks noGrp="1"/>
          </p:cNvSpPr>
          <p:nvPr>
            <p:ph idx="1"/>
          </p:nvPr>
        </p:nvSpPr>
        <p:spPr>
          <a:xfrm>
            <a:off x="854819" y="1257785"/>
            <a:ext cx="7962900" cy="5490148"/>
          </a:xfrm>
        </p:spPr>
        <p:txBody>
          <a:bodyPr>
            <a:normAutofit/>
          </a:bodyPr>
          <a:lstStyle/>
          <a:p>
            <a:r>
              <a:rPr lang="en-US" dirty="0"/>
              <a:t>RSA requires making a neural RDM</a:t>
            </a:r>
          </a:p>
          <a:p>
            <a:pPr lvl="1"/>
            <a:r>
              <a:rPr lang="en-US" dirty="0"/>
              <a:t>RDM requires measuring similarity in neural responses between every trial and every other trial</a:t>
            </a:r>
          </a:p>
          <a:p>
            <a:pPr lvl="1"/>
            <a:r>
              <a:rPr lang="en-US" dirty="0"/>
              <a:t>Hence, we must measure be able to quantify each trial’s neural response</a:t>
            </a:r>
          </a:p>
          <a:p>
            <a:pPr lvl="1"/>
            <a:r>
              <a:rPr lang="en-US" dirty="0"/>
              <a:t>However, functional connectivity is generally measured as a Pearson correlation over the course of multiple trials</a:t>
            </a:r>
          </a:p>
          <a:p>
            <a:pPr lvl="2"/>
            <a:r>
              <a:rPr lang="en-US" dirty="0"/>
              <a:t>Thus, Pearson correlations can’t quantify the extent of connectivity in a single trial</a:t>
            </a:r>
          </a:p>
          <a:p>
            <a:r>
              <a:rPr lang="en-US" dirty="0"/>
              <a:t>Hence, I measured “connectivity” in terms of Euclidean distance</a:t>
            </a:r>
          </a:p>
          <a:p>
            <a:pPr lvl="1"/>
            <a:r>
              <a:rPr lang="en-US" dirty="0"/>
              <a:t>In a given trial, if ROI-0 beta = 4.0 and ROI-1 beta = 2.5, then the connectivity is 1.5</a:t>
            </a:r>
          </a:p>
        </p:txBody>
      </p:sp>
      <p:grpSp>
        <p:nvGrpSpPr>
          <p:cNvPr id="1040" name="Group 1039">
            <a:extLst>
              <a:ext uri="{FF2B5EF4-FFF2-40B4-BE49-F238E27FC236}">
                <a16:creationId xmlns:a16="http://schemas.microsoft.com/office/drawing/2014/main" id="{4EE13FEB-8F00-17BE-165A-3E5DF9AF185C}"/>
              </a:ext>
            </a:extLst>
          </p:cNvPr>
          <p:cNvGrpSpPr/>
          <p:nvPr/>
        </p:nvGrpSpPr>
        <p:grpSpPr>
          <a:xfrm>
            <a:off x="9258918" y="1029849"/>
            <a:ext cx="2484663" cy="2299138"/>
            <a:chOff x="9275852" y="2376049"/>
            <a:chExt cx="2484663" cy="2299138"/>
          </a:xfrm>
        </p:grpSpPr>
        <p:cxnSp>
          <p:nvCxnSpPr>
            <p:cNvPr id="19" name="Straight Connector 18">
              <a:extLst>
                <a:ext uri="{FF2B5EF4-FFF2-40B4-BE49-F238E27FC236}">
                  <a16:creationId xmlns:a16="http://schemas.microsoft.com/office/drawing/2014/main" id="{8E3CFAC9-0AC1-0B5E-7C1F-F273CB376EE8}"/>
                </a:ext>
              </a:extLst>
            </p:cNvPr>
            <p:cNvCxnSpPr/>
            <p:nvPr/>
          </p:nvCxnSpPr>
          <p:spPr>
            <a:xfrm flipV="1">
              <a:off x="9696450" y="2571750"/>
              <a:ext cx="1657349" cy="1666875"/>
            </a:xfrm>
            <a:prstGeom prst="line">
              <a:avLst/>
            </a:prstGeom>
            <a:ln w="317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9F3F248-D1E7-CCFE-0EB8-35BF58E1515F}"/>
                </a:ext>
              </a:extLst>
            </p:cNvPr>
            <p:cNvCxnSpPr/>
            <p:nvPr/>
          </p:nvCxnSpPr>
          <p:spPr>
            <a:xfrm>
              <a:off x="9696450" y="2571750"/>
              <a:ext cx="0" cy="166687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BB228D15-03E7-7D5C-576E-D3E26D7754A2}"/>
                </a:ext>
              </a:extLst>
            </p:cNvPr>
            <p:cNvCxnSpPr>
              <a:cxnSpLocks/>
            </p:cNvCxnSpPr>
            <p:nvPr/>
          </p:nvCxnSpPr>
          <p:spPr>
            <a:xfrm flipH="1">
              <a:off x="9696450" y="4238625"/>
              <a:ext cx="1657349"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37CE83BB-6B9D-CCFC-8A89-411241BECDC6}"/>
                </a:ext>
              </a:extLst>
            </p:cNvPr>
            <p:cNvSpPr/>
            <p:nvPr/>
          </p:nvSpPr>
          <p:spPr>
            <a:xfrm>
              <a:off x="10069483" y="3228165"/>
              <a:ext cx="100117" cy="100117"/>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65AE6D09-0714-9478-BED0-A45D2F6AF634}"/>
                </a:ext>
              </a:extLst>
            </p:cNvPr>
            <p:cNvSpPr/>
            <p:nvPr/>
          </p:nvSpPr>
          <p:spPr>
            <a:xfrm>
              <a:off x="10454735" y="3072336"/>
              <a:ext cx="100117" cy="100117"/>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39D08971-448A-924A-98AD-B179B795984A}"/>
                </a:ext>
              </a:extLst>
            </p:cNvPr>
            <p:cNvSpPr/>
            <p:nvPr/>
          </p:nvSpPr>
          <p:spPr>
            <a:xfrm>
              <a:off x="10763201" y="3646973"/>
              <a:ext cx="100117" cy="100117"/>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9E425A9E-11AB-0A88-F585-30F8D7F4A809}"/>
                </a:ext>
              </a:extLst>
            </p:cNvPr>
            <p:cNvSpPr/>
            <p:nvPr/>
          </p:nvSpPr>
          <p:spPr>
            <a:xfrm>
              <a:off x="9865120" y="3941019"/>
              <a:ext cx="100117" cy="100117"/>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74A67056-A313-431C-0D35-A6C78BFAD811}"/>
                </a:ext>
              </a:extLst>
            </p:cNvPr>
            <p:cNvSpPr/>
            <p:nvPr/>
          </p:nvSpPr>
          <p:spPr>
            <a:xfrm>
              <a:off x="11067842" y="3020622"/>
              <a:ext cx="100117" cy="100117"/>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3B534457-FA24-4D1F-0649-0E09ECA3BE83}"/>
                </a:ext>
              </a:extLst>
            </p:cNvPr>
            <p:cNvSpPr/>
            <p:nvPr/>
          </p:nvSpPr>
          <p:spPr>
            <a:xfrm>
              <a:off x="10525124" y="2488077"/>
              <a:ext cx="100117" cy="100117"/>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E7CEA8BC-81BF-B9B9-9D98-052868A5E3D1}"/>
                </a:ext>
              </a:extLst>
            </p:cNvPr>
            <p:cNvSpPr txBox="1"/>
            <p:nvPr/>
          </p:nvSpPr>
          <p:spPr>
            <a:xfrm>
              <a:off x="9987866" y="4305855"/>
              <a:ext cx="1107996"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Region 2</a:t>
              </a:r>
            </a:p>
          </p:txBody>
        </p:sp>
        <p:sp>
          <p:nvSpPr>
            <p:cNvPr id="21" name="TextBox 20">
              <a:extLst>
                <a:ext uri="{FF2B5EF4-FFF2-40B4-BE49-F238E27FC236}">
                  <a16:creationId xmlns:a16="http://schemas.microsoft.com/office/drawing/2014/main" id="{DE84E590-55AA-28F4-2D9C-10FE53789864}"/>
                </a:ext>
              </a:extLst>
            </p:cNvPr>
            <p:cNvSpPr txBox="1"/>
            <p:nvPr/>
          </p:nvSpPr>
          <p:spPr>
            <a:xfrm rot="16200000">
              <a:off x="8906520" y="3057348"/>
              <a:ext cx="1107996"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Region 1</a:t>
              </a:r>
            </a:p>
          </p:txBody>
        </p:sp>
        <p:sp>
          <p:nvSpPr>
            <p:cNvPr id="22" name="Oval 21">
              <a:extLst>
                <a:ext uri="{FF2B5EF4-FFF2-40B4-BE49-F238E27FC236}">
                  <a16:creationId xmlns:a16="http://schemas.microsoft.com/office/drawing/2014/main" id="{1B9F67B5-8037-BDFF-EE83-E701F3B1A56B}"/>
                </a:ext>
              </a:extLst>
            </p:cNvPr>
            <p:cNvSpPr/>
            <p:nvPr/>
          </p:nvSpPr>
          <p:spPr>
            <a:xfrm>
              <a:off x="11251415" y="2538135"/>
              <a:ext cx="100117" cy="100117"/>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F9031212-77BC-6AA5-BCDB-5BF993F91E02}"/>
                </a:ext>
              </a:extLst>
            </p:cNvPr>
            <p:cNvSpPr/>
            <p:nvPr/>
          </p:nvSpPr>
          <p:spPr>
            <a:xfrm>
              <a:off x="9732477" y="3788927"/>
              <a:ext cx="391400" cy="391400"/>
            </a:xfrm>
            <a:prstGeom prst="ellipse">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2E0E5F2-525A-3F81-3804-C26A3AE75548}"/>
                </a:ext>
              </a:extLst>
            </p:cNvPr>
            <p:cNvSpPr/>
            <p:nvPr/>
          </p:nvSpPr>
          <p:spPr>
            <a:xfrm>
              <a:off x="11057982" y="2376049"/>
              <a:ext cx="391400" cy="391400"/>
            </a:xfrm>
            <a:prstGeom prst="ellipse">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 name="Straight Arrow Connector 25">
              <a:extLst>
                <a:ext uri="{FF2B5EF4-FFF2-40B4-BE49-F238E27FC236}">
                  <a16:creationId xmlns:a16="http://schemas.microsoft.com/office/drawing/2014/main" id="{3B2AB036-418A-3AB2-971A-7506FCC507A0}"/>
                </a:ext>
              </a:extLst>
            </p:cNvPr>
            <p:cNvCxnSpPr>
              <a:endCxn id="23" idx="6"/>
            </p:cNvCxnSpPr>
            <p:nvPr/>
          </p:nvCxnSpPr>
          <p:spPr>
            <a:xfrm flipH="1">
              <a:off x="10123877" y="3788927"/>
              <a:ext cx="784153" cy="19570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FC078C87-E7AC-BA6A-5021-D47E7CD11987}"/>
                </a:ext>
              </a:extLst>
            </p:cNvPr>
            <p:cNvCxnSpPr>
              <a:cxnSpLocks/>
              <a:endCxn id="24" idx="4"/>
            </p:cNvCxnSpPr>
            <p:nvPr/>
          </p:nvCxnSpPr>
          <p:spPr>
            <a:xfrm flipV="1">
              <a:off x="11167959" y="2767449"/>
              <a:ext cx="85723" cy="818821"/>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A96DF5B2-0E5E-40CB-41FA-831A9B5F98C9}"/>
                </a:ext>
              </a:extLst>
            </p:cNvPr>
            <p:cNvSpPr txBox="1"/>
            <p:nvPr/>
          </p:nvSpPr>
          <p:spPr>
            <a:xfrm>
              <a:off x="10868924" y="3586271"/>
              <a:ext cx="891591" cy="461665"/>
            </a:xfrm>
            <a:prstGeom prst="rect">
              <a:avLst/>
            </a:prstGeom>
            <a:noFill/>
          </p:spPr>
          <p:txBody>
            <a:bodyPr wrap="none" rtlCol="0">
              <a:spAutoFit/>
            </a:bodyPr>
            <a:lstStyle/>
            <a:p>
              <a:r>
                <a:rPr lang="en-US" sz="1200" dirty="0">
                  <a:solidFill>
                    <a:srgbClr val="FF0000"/>
                  </a:solidFill>
                  <a:latin typeface="Arial" panose="020B0604020202020204" pitchFamily="34" charset="0"/>
                  <a:cs typeface="Arial" panose="020B0604020202020204" pitchFamily="34" charset="0"/>
                </a:rPr>
                <a:t>Strongly</a:t>
              </a:r>
              <a:br>
                <a:rPr lang="en-US" sz="1200" dirty="0">
                  <a:solidFill>
                    <a:srgbClr val="FF0000"/>
                  </a:solidFill>
                  <a:latin typeface="Arial" panose="020B0604020202020204" pitchFamily="34" charset="0"/>
                  <a:cs typeface="Arial" panose="020B0604020202020204" pitchFamily="34" charset="0"/>
                </a:rPr>
              </a:br>
              <a:r>
                <a:rPr lang="en-US" sz="1200" dirty="0">
                  <a:solidFill>
                    <a:srgbClr val="FF0000"/>
                  </a:solidFill>
                  <a:latin typeface="Arial" panose="020B0604020202020204" pitchFamily="34" charset="0"/>
                  <a:cs typeface="Arial" panose="020B0604020202020204" pitchFamily="34" charset="0"/>
                </a:rPr>
                <a:t>connected</a:t>
              </a:r>
            </a:p>
          </p:txBody>
        </p:sp>
        <p:cxnSp>
          <p:nvCxnSpPr>
            <p:cNvPr id="1028" name="Straight Connector 1027">
              <a:extLst>
                <a:ext uri="{FF2B5EF4-FFF2-40B4-BE49-F238E27FC236}">
                  <a16:creationId xmlns:a16="http://schemas.microsoft.com/office/drawing/2014/main" id="{53AEE544-7ED7-7DBB-6C8F-E5C61F9E5DEB}"/>
                </a:ext>
              </a:extLst>
            </p:cNvPr>
            <p:cNvCxnSpPr>
              <a:cxnSpLocks/>
            </p:cNvCxnSpPr>
            <p:nvPr/>
          </p:nvCxnSpPr>
          <p:spPr>
            <a:xfrm>
              <a:off x="10575182" y="2588192"/>
              <a:ext cx="0" cy="777240"/>
            </a:xfrm>
            <a:prstGeom prst="line">
              <a:avLst/>
            </a:prstGeom>
            <a:ln w="127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032" name="Straight Connector 1031">
              <a:extLst>
                <a:ext uri="{FF2B5EF4-FFF2-40B4-BE49-F238E27FC236}">
                  <a16:creationId xmlns:a16="http://schemas.microsoft.com/office/drawing/2014/main" id="{460F9D93-3960-117A-29F2-2FA641F0FAF7}"/>
                </a:ext>
              </a:extLst>
            </p:cNvPr>
            <p:cNvCxnSpPr>
              <a:cxnSpLocks/>
            </p:cNvCxnSpPr>
            <p:nvPr/>
          </p:nvCxnSpPr>
          <p:spPr>
            <a:xfrm>
              <a:off x="10502386" y="3163779"/>
              <a:ext cx="0" cy="265221"/>
            </a:xfrm>
            <a:prstGeom prst="line">
              <a:avLst/>
            </a:prstGeom>
            <a:ln w="127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034" name="Straight Connector 1033">
              <a:extLst>
                <a:ext uri="{FF2B5EF4-FFF2-40B4-BE49-F238E27FC236}">
                  <a16:creationId xmlns:a16="http://schemas.microsoft.com/office/drawing/2014/main" id="{7BE7CA17-04F5-8D4B-1AC9-BB14EDB808B2}"/>
                </a:ext>
              </a:extLst>
            </p:cNvPr>
            <p:cNvCxnSpPr>
              <a:cxnSpLocks/>
            </p:cNvCxnSpPr>
            <p:nvPr/>
          </p:nvCxnSpPr>
          <p:spPr>
            <a:xfrm>
              <a:off x="10123125" y="3336289"/>
              <a:ext cx="4036" cy="452638"/>
            </a:xfrm>
            <a:prstGeom prst="line">
              <a:avLst/>
            </a:prstGeom>
            <a:ln w="127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036" name="Straight Connector 1035">
              <a:extLst>
                <a:ext uri="{FF2B5EF4-FFF2-40B4-BE49-F238E27FC236}">
                  <a16:creationId xmlns:a16="http://schemas.microsoft.com/office/drawing/2014/main" id="{8CF7B4FA-D536-5A6D-E316-63940E0CEA44}"/>
                </a:ext>
              </a:extLst>
            </p:cNvPr>
            <p:cNvCxnSpPr>
              <a:cxnSpLocks/>
            </p:cNvCxnSpPr>
            <p:nvPr/>
          </p:nvCxnSpPr>
          <p:spPr>
            <a:xfrm>
              <a:off x="10813259" y="3163779"/>
              <a:ext cx="0" cy="483194"/>
            </a:xfrm>
            <a:prstGeom prst="line">
              <a:avLst/>
            </a:prstGeom>
            <a:ln w="127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038" name="Straight Connector 1037">
              <a:extLst>
                <a:ext uri="{FF2B5EF4-FFF2-40B4-BE49-F238E27FC236}">
                  <a16:creationId xmlns:a16="http://schemas.microsoft.com/office/drawing/2014/main" id="{0C9F02EC-D76F-89F2-567D-11B21AAF8898}"/>
                </a:ext>
              </a:extLst>
            </p:cNvPr>
            <p:cNvCxnSpPr>
              <a:cxnSpLocks/>
              <a:endCxn id="16" idx="0"/>
            </p:cNvCxnSpPr>
            <p:nvPr/>
          </p:nvCxnSpPr>
          <p:spPr>
            <a:xfrm>
              <a:off x="11117900" y="2804654"/>
              <a:ext cx="1" cy="215968"/>
            </a:xfrm>
            <a:prstGeom prst="line">
              <a:avLst/>
            </a:prstGeom>
            <a:ln w="12700">
              <a:solidFill>
                <a:srgbClr val="0070C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49967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A7E7E7-84C6-62F5-31BD-7FA8EAD21A64}"/>
              </a:ext>
            </a:extLst>
          </p:cNvPr>
          <p:cNvSpPr>
            <a:spLocks noGrp="1"/>
          </p:cNvSpPr>
          <p:nvPr>
            <p:ph type="title"/>
          </p:nvPr>
        </p:nvSpPr>
        <p:spPr/>
        <p:txBody>
          <a:bodyPr/>
          <a:lstStyle/>
          <a:p>
            <a:r>
              <a:rPr lang="en-US" dirty="0"/>
              <a:t>Model-free and model-based analyses</a:t>
            </a:r>
          </a:p>
        </p:txBody>
      </p:sp>
      <p:sp>
        <p:nvSpPr>
          <p:cNvPr id="3" name="Content Placeholder 2">
            <a:extLst>
              <a:ext uri="{FF2B5EF4-FFF2-40B4-BE49-F238E27FC236}">
                <a16:creationId xmlns:a16="http://schemas.microsoft.com/office/drawing/2014/main" id="{4A7352F2-4293-4F82-2B07-E9D9993544A9}"/>
              </a:ext>
            </a:extLst>
          </p:cNvPr>
          <p:cNvSpPr>
            <a:spLocks noGrp="1"/>
          </p:cNvSpPr>
          <p:nvPr>
            <p:ph idx="1"/>
          </p:nvPr>
        </p:nvSpPr>
        <p:spPr>
          <a:xfrm>
            <a:off x="657225" y="1690687"/>
            <a:ext cx="5905500" cy="4273237"/>
          </a:xfrm>
        </p:spPr>
        <p:txBody>
          <a:bodyPr/>
          <a:lstStyle/>
          <a:p>
            <a:r>
              <a:rPr lang="en-US" dirty="0"/>
              <a:t>Model-free analysis</a:t>
            </a:r>
          </a:p>
          <a:p>
            <a:pPr lvl="1"/>
            <a:r>
              <a:rPr lang="en-US" dirty="0"/>
              <a:t>Measure between-session similarity</a:t>
            </a:r>
          </a:p>
          <a:p>
            <a:pPr lvl="1"/>
            <a:r>
              <a:rPr lang="en-US" dirty="0"/>
              <a:t>E.g., similarity between occipital connectivity in baseline and object</a:t>
            </a:r>
          </a:p>
          <a:p>
            <a:r>
              <a:rPr lang="en-US" dirty="0"/>
              <a:t>Model-based analysis</a:t>
            </a:r>
          </a:p>
          <a:p>
            <a:pPr lvl="1"/>
            <a:r>
              <a:rPr lang="en-US" dirty="0"/>
              <a:t>RSA</a:t>
            </a:r>
          </a:p>
          <a:p>
            <a:pPr lvl="1"/>
            <a:endParaRPr lang="en-US" dirty="0"/>
          </a:p>
        </p:txBody>
      </p:sp>
      <p:pic>
        <p:nvPicPr>
          <p:cNvPr id="4" name="Picture 3">
            <a:extLst>
              <a:ext uri="{FF2B5EF4-FFF2-40B4-BE49-F238E27FC236}">
                <a16:creationId xmlns:a16="http://schemas.microsoft.com/office/drawing/2014/main" id="{A35906C9-AD2C-7696-56C5-DB5475DFF726}"/>
              </a:ext>
            </a:extLst>
          </p:cNvPr>
          <p:cNvPicPr>
            <a:picLocks noChangeAspect="1"/>
          </p:cNvPicPr>
          <p:nvPr/>
        </p:nvPicPr>
        <p:blipFill>
          <a:blip r:embed="rId2"/>
          <a:stretch>
            <a:fillRect/>
          </a:stretch>
        </p:blipFill>
        <p:spPr>
          <a:xfrm>
            <a:off x="6562725" y="2639106"/>
            <a:ext cx="5448300" cy="3090207"/>
          </a:xfrm>
          <a:prstGeom prst="rect">
            <a:avLst/>
          </a:prstGeom>
        </p:spPr>
      </p:pic>
      <p:sp>
        <p:nvSpPr>
          <p:cNvPr id="6" name="Rectangle 5">
            <a:extLst>
              <a:ext uri="{FF2B5EF4-FFF2-40B4-BE49-F238E27FC236}">
                <a16:creationId xmlns:a16="http://schemas.microsoft.com/office/drawing/2014/main" id="{EFAA08CD-5669-38BA-35A0-929393D84D57}"/>
              </a:ext>
            </a:extLst>
          </p:cNvPr>
          <p:cNvSpPr/>
          <p:nvPr/>
        </p:nvSpPr>
        <p:spPr>
          <a:xfrm>
            <a:off x="7029449" y="2838450"/>
            <a:ext cx="742951" cy="52387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59CB6DDB-9A3C-0464-641B-3EF8C19E9DBA}"/>
              </a:ext>
            </a:extLst>
          </p:cNvPr>
          <p:cNvSpPr/>
          <p:nvPr/>
        </p:nvSpPr>
        <p:spPr>
          <a:xfrm>
            <a:off x="9791699" y="2847975"/>
            <a:ext cx="742951" cy="52387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5D045E6D-760D-5180-0D49-6EDDA4CEF99B}"/>
              </a:ext>
            </a:extLst>
          </p:cNvPr>
          <p:cNvCxnSpPr>
            <a:cxnSpLocks/>
            <a:stCxn id="6" idx="3"/>
            <a:endCxn id="7" idx="1"/>
          </p:cNvCxnSpPr>
          <p:nvPr/>
        </p:nvCxnSpPr>
        <p:spPr>
          <a:xfrm>
            <a:off x="7772400" y="3100388"/>
            <a:ext cx="2019299" cy="9525"/>
          </a:xfrm>
          <a:prstGeom prst="straightConnector1">
            <a:avLst/>
          </a:prstGeom>
          <a:ln w="5715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872836EF-E909-0C32-7D9A-FA38754CA005}"/>
              </a:ext>
            </a:extLst>
          </p:cNvPr>
          <p:cNvSpPr txBox="1"/>
          <p:nvPr/>
        </p:nvSpPr>
        <p:spPr>
          <a:xfrm>
            <a:off x="7988277" y="2721797"/>
            <a:ext cx="1120820" cy="369332"/>
          </a:xfrm>
          <a:prstGeom prst="rect">
            <a:avLst/>
          </a:prstGeom>
          <a:noFill/>
        </p:spPr>
        <p:txBody>
          <a:bodyPr wrap="none" rtlCol="0">
            <a:spAutoFit/>
          </a:bodyPr>
          <a:lstStyle/>
          <a:p>
            <a:r>
              <a:rPr lang="en-US" dirty="0">
                <a:solidFill>
                  <a:srgbClr val="FF0000"/>
                </a:solidFill>
                <a:latin typeface="Arial" panose="020B0604020202020204" pitchFamily="34" charset="0"/>
                <a:cs typeface="Arial" panose="020B0604020202020204" pitchFamily="34" charset="0"/>
              </a:rPr>
              <a:t>Similarity</a:t>
            </a:r>
          </a:p>
        </p:txBody>
      </p:sp>
      <p:grpSp>
        <p:nvGrpSpPr>
          <p:cNvPr id="49" name="Group 48">
            <a:extLst>
              <a:ext uri="{FF2B5EF4-FFF2-40B4-BE49-F238E27FC236}">
                <a16:creationId xmlns:a16="http://schemas.microsoft.com/office/drawing/2014/main" id="{F5ACDFD6-39FD-F3C6-FDB6-C9DA91CBC7D3}"/>
              </a:ext>
            </a:extLst>
          </p:cNvPr>
          <p:cNvGrpSpPr/>
          <p:nvPr/>
        </p:nvGrpSpPr>
        <p:grpSpPr>
          <a:xfrm>
            <a:off x="5708981" y="3634891"/>
            <a:ext cx="716890" cy="715474"/>
            <a:chOff x="2625006" y="5323636"/>
            <a:chExt cx="1024838" cy="1022813"/>
          </a:xfrm>
        </p:grpSpPr>
        <p:sp>
          <p:nvSpPr>
            <p:cNvPr id="18" name="Rectangle 17">
              <a:extLst>
                <a:ext uri="{FF2B5EF4-FFF2-40B4-BE49-F238E27FC236}">
                  <a16:creationId xmlns:a16="http://schemas.microsoft.com/office/drawing/2014/main" id="{B6D7CB41-CCB8-3D74-0978-405468434501}"/>
                </a:ext>
              </a:extLst>
            </p:cNvPr>
            <p:cNvSpPr/>
            <p:nvPr/>
          </p:nvSpPr>
          <p:spPr>
            <a:xfrm>
              <a:off x="2625006" y="5323636"/>
              <a:ext cx="189411" cy="1894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45A58D1A-922B-6248-1192-BDF6185859D9}"/>
                </a:ext>
              </a:extLst>
            </p:cNvPr>
            <p:cNvSpPr/>
            <p:nvPr/>
          </p:nvSpPr>
          <p:spPr>
            <a:xfrm>
              <a:off x="2631356" y="5529303"/>
              <a:ext cx="189411" cy="189411"/>
            </a:xfrm>
            <a:prstGeom prst="rect">
              <a:avLst/>
            </a:prstGeom>
            <a:solidFill>
              <a:srgbClr val="452A4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DDEB7DB8-A45E-D739-D33E-62731F893E14}"/>
                </a:ext>
              </a:extLst>
            </p:cNvPr>
            <p:cNvSpPr/>
            <p:nvPr/>
          </p:nvSpPr>
          <p:spPr>
            <a:xfrm>
              <a:off x="2631467" y="5734970"/>
              <a:ext cx="189411" cy="189411"/>
            </a:xfrm>
            <a:prstGeom prst="rect">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15491B02-BD8F-8DCD-8036-509B4F0D1241}"/>
                </a:ext>
              </a:extLst>
            </p:cNvPr>
            <p:cNvSpPr/>
            <p:nvPr/>
          </p:nvSpPr>
          <p:spPr>
            <a:xfrm>
              <a:off x="2630267" y="5940637"/>
              <a:ext cx="189411" cy="189411"/>
            </a:xfrm>
            <a:prstGeom prst="rect">
              <a:avLst/>
            </a:prstGeom>
            <a:solidFill>
              <a:srgbClr val="00FFC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175C71B7-987A-D50F-170F-74731EAA63EC}"/>
                </a:ext>
              </a:extLst>
            </p:cNvPr>
            <p:cNvSpPr/>
            <p:nvPr/>
          </p:nvSpPr>
          <p:spPr>
            <a:xfrm>
              <a:off x="2630628" y="6146304"/>
              <a:ext cx="189411" cy="189411"/>
            </a:xfrm>
            <a:prstGeom prst="rect">
              <a:avLst/>
            </a:prstGeom>
            <a:solidFill>
              <a:srgbClr val="FF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5C4B3D2C-5DF9-21FB-5F37-9D86AA0E9766}"/>
                </a:ext>
              </a:extLst>
            </p:cNvPr>
            <p:cNvSpPr/>
            <p:nvPr/>
          </p:nvSpPr>
          <p:spPr>
            <a:xfrm>
              <a:off x="2837944" y="5326264"/>
              <a:ext cx="189411" cy="189411"/>
            </a:xfrm>
            <a:prstGeom prst="rect">
              <a:avLst/>
            </a:prstGeom>
            <a:solidFill>
              <a:srgbClr val="452A4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C7B4E3C6-A41B-00F0-84E0-435C439F0FA7}"/>
                </a:ext>
              </a:extLst>
            </p:cNvPr>
            <p:cNvSpPr/>
            <p:nvPr/>
          </p:nvSpPr>
          <p:spPr>
            <a:xfrm>
              <a:off x="2834769" y="5531931"/>
              <a:ext cx="189411" cy="1894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3F35FC40-AE3A-E6C3-0D90-65E395575E12}"/>
                </a:ext>
              </a:extLst>
            </p:cNvPr>
            <p:cNvSpPr/>
            <p:nvPr/>
          </p:nvSpPr>
          <p:spPr>
            <a:xfrm>
              <a:off x="2838055" y="5737598"/>
              <a:ext cx="189411" cy="189411"/>
            </a:xfrm>
            <a:prstGeom prst="rect">
              <a:avLst/>
            </a:prstGeom>
            <a:solidFill>
              <a:srgbClr val="D2E93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FCBCBCDB-9D3D-8562-583C-806B166AF0C2}"/>
                </a:ext>
              </a:extLst>
            </p:cNvPr>
            <p:cNvSpPr/>
            <p:nvPr/>
          </p:nvSpPr>
          <p:spPr>
            <a:xfrm>
              <a:off x="2836855" y="5943265"/>
              <a:ext cx="189411" cy="189411"/>
            </a:xfrm>
            <a:prstGeom prst="rect">
              <a:avLst/>
            </a:prstGeom>
            <a:solidFill>
              <a:srgbClr val="FFFF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F4CACC58-6486-7C69-BD2D-812B0D7B1307}"/>
                </a:ext>
              </a:extLst>
            </p:cNvPr>
            <p:cNvSpPr/>
            <p:nvPr/>
          </p:nvSpPr>
          <p:spPr>
            <a:xfrm>
              <a:off x="2837216" y="6148932"/>
              <a:ext cx="189411" cy="189411"/>
            </a:xfrm>
            <a:prstGeom prst="rect">
              <a:avLst/>
            </a:prstGeom>
            <a:solidFill>
              <a:srgbClr val="FDA63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F9E8242F-88AB-78D7-4F58-FDE1BB00BF0E}"/>
                </a:ext>
              </a:extLst>
            </p:cNvPr>
            <p:cNvSpPr/>
            <p:nvPr/>
          </p:nvSpPr>
          <p:spPr>
            <a:xfrm>
              <a:off x="3046203" y="5329606"/>
              <a:ext cx="189411" cy="189411"/>
            </a:xfrm>
            <a:prstGeom prst="rect">
              <a:avLst/>
            </a:prstGeom>
            <a:solidFill>
              <a:srgbClr val="FFC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23E53460-20AA-F25C-744D-32AB593DBDEF}"/>
                </a:ext>
              </a:extLst>
            </p:cNvPr>
            <p:cNvSpPr/>
            <p:nvPr/>
          </p:nvSpPr>
          <p:spPr>
            <a:xfrm>
              <a:off x="3046203" y="5535273"/>
              <a:ext cx="189411" cy="189411"/>
            </a:xfrm>
            <a:prstGeom prst="rect">
              <a:avLst/>
            </a:prstGeom>
            <a:solidFill>
              <a:srgbClr val="D2E93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459A3ECD-9B59-57A8-1705-0A779D1F509B}"/>
                </a:ext>
              </a:extLst>
            </p:cNvPr>
            <p:cNvSpPr/>
            <p:nvPr/>
          </p:nvSpPr>
          <p:spPr>
            <a:xfrm>
              <a:off x="3046314" y="5740940"/>
              <a:ext cx="189411" cy="1894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1A7EBB32-C08D-67A8-9561-B4F7D56C3D05}"/>
                </a:ext>
              </a:extLst>
            </p:cNvPr>
            <p:cNvSpPr/>
            <p:nvPr/>
          </p:nvSpPr>
          <p:spPr>
            <a:xfrm>
              <a:off x="3045114" y="5946607"/>
              <a:ext cx="189411" cy="189411"/>
            </a:xfrm>
            <a:prstGeom prst="rect">
              <a:avLst/>
            </a:prstGeom>
            <a:solidFill>
              <a:srgbClr val="33CC33"/>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DAED71D7-9888-94DE-875B-34BBD4013FCB}"/>
                </a:ext>
              </a:extLst>
            </p:cNvPr>
            <p:cNvSpPr/>
            <p:nvPr/>
          </p:nvSpPr>
          <p:spPr>
            <a:xfrm>
              <a:off x="3045475" y="6152274"/>
              <a:ext cx="189411" cy="189411"/>
            </a:xfrm>
            <a:prstGeom prst="rect">
              <a:avLst/>
            </a:prstGeom>
            <a:solidFill>
              <a:srgbClr val="0070C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E7C24DDD-6DFF-0DD7-314C-B7728EB493EC}"/>
                </a:ext>
              </a:extLst>
            </p:cNvPr>
            <p:cNvSpPr/>
            <p:nvPr/>
          </p:nvSpPr>
          <p:spPr>
            <a:xfrm>
              <a:off x="3252791" y="5328266"/>
              <a:ext cx="189411" cy="189411"/>
            </a:xfrm>
            <a:prstGeom prst="rect">
              <a:avLst/>
            </a:prstGeom>
            <a:solidFill>
              <a:srgbClr val="00FFC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5B7DAC5A-1C8A-D1E9-BAEB-B2B13D277981}"/>
                </a:ext>
              </a:extLst>
            </p:cNvPr>
            <p:cNvSpPr/>
            <p:nvPr/>
          </p:nvSpPr>
          <p:spPr>
            <a:xfrm>
              <a:off x="3252791" y="5533933"/>
              <a:ext cx="189411" cy="189411"/>
            </a:xfrm>
            <a:prstGeom prst="rect">
              <a:avLst/>
            </a:prstGeom>
            <a:solidFill>
              <a:srgbClr val="FFFF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2A50DDA4-6BB6-C996-DADB-01C880FAD203}"/>
                </a:ext>
              </a:extLst>
            </p:cNvPr>
            <p:cNvSpPr/>
            <p:nvPr/>
          </p:nvSpPr>
          <p:spPr>
            <a:xfrm>
              <a:off x="3252902" y="5739600"/>
              <a:ext cx="189411" cy="189411"/>
            </a:xfrm>
            <a:prstGeom prst="rect">
              <a:avLst/>
            </a:prstGeom>
            <a:solidFill>
              <a:srgbClr val="33CC33"/>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DA002076-12B8-1366-B8E4-44E5362D9894}"/>
                </a:ext>
              </a:extLst>
            </p:cNvPr>
            <p:cNvSpPr/>
            <p:nvPr/>
          </p:nvSpPr>
          <p:spPr>
            <a:xfrm>
              <a:off x="3251702" y="5952411"/>
              <a:ext cx="189411" cy="1894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55A4553F-9ED8-0318-69B7-44CC45D91A55}"/>
                </a:ext>
              </a:extLst>
            </p:cNvPr>
            <p:cNvSpPr/>
            <p:nvPr/>
          </p:nvSpPr>
          <p:spPr>
            <a:xfrm>
              <a:off x="3252063" y="6153315"/>
              <a:ext cx="189411" cy="189411"/>
            </a:xfrm>
            <a:prstGeom prst="rect">
              <a:avLst/>
            </a:prstGeom>
            <a:solidFill>
              <a:srgbClr val="FF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F08FA267-3028-633A-EB96-3031543109C1}"/>
                </a:ext>
              </a:extLst>
            </p:cNvPr>
            <p:cNvSpPr/>
            <p:nvPr/>
          </p:nvSpPr>
          <p:spPr>
            <a:xfrm>
              <a:off x="3458780" y="5329608"/>
              <a:ext cx="189411" cy="189411"/>
            </a:xfrm>
            <a:prstGeom prst="rect">
              <a:avLst/>
            </a:prstGeom>
            <a:solidFill>
              <a:srgbClr val="FF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3BABCF1C-9960-8E02-CD28-A8BFFCE8D78F}"/>
                </a:ext>
              </a:extLst>
            </p:cNvPr>
            <p:cNvSpPr/>
            <p:nvPr/>
          </p:nvSpPr>
          <p:spPr>
            <a:xfrm>
              <a:off x="3458780" y="5535275"/>
              <a:ext cx="189411" cy="189411"/>
            </a:xfrm>
            <a:prstGeom prst="rect">
              <a:avLst/>
            </a:prstGeom>
            <a:solidFill>
              <a:srgbClr val="FFC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09678678-58B2-7F08-F949-8F5C88F661A9}"/>
                </a:ext>
              </a:extLst>
            </p:cNvPr>
            <p:cNvSpPr/>
            <p:nvPr/>
          </p:nvSpPr>
          <p:spPr>
            <a:xfrm>
              <a:off x="3458891" y="5740942"/>
              <a:ext cx="189411" cy="189411"/>
            </a:xfrm>
            <a:prstGeom prst="rect">
              <a:avLst/>
            </a:prstGeom>
            <a:solidFill>
              <a:srgbClr val="0070C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D121F793-0FB9-4F89-837C-041ABB61CB80}"/>
                </a:ext>
              </a:extLst>
            </p:cNvPr>
            <p:cNvSpPr/>
            <p:nvPr/>
          </p:nvSpPr>
          <p:spPr>
            <a:xfrm>
              <a:off x="3457691" y="5946609"/>
              <a:ext cx="189411" cy="189411"/>
            </a:xfrm>
            <a:prstGeom prst="rect">
              <a:avLst/>
            </a:prstGeom>
            <a:solidFill>
              <a:srgbClr val="FF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94241916-A9D0-81DE-9833-221326779813}"/>
                </a:ext>
              </a:extLst>
            </p:cNvPr>
            <p:cNvSpPr/>
            <p:nvPr/>
          </p:nvSpPr>
          <p:spPr>
            <a:xfrm>
              <a:off x="3460433" y="6157038"/>
              <a:ext cx="189411" cy="1894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FD5CF568-0F37-19F9-9553-6EE4383AD90D}"/>
                </a:ext>
              </a:extLst>
            </p:cNvPr>
            <p:cNvSpPr/>
            <p:nvPr/>
          </p:nvSpPr>
          <p:spPr>
            <a:xfrm>
              <a:off x="2631356" y="5329605"/>
              <a:ext cx="1015746" cy="100610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52" name="Straight Arrow Connector 51">
            <a:extLst>
              <a:ext uri="{FF2B5EF4-FFF2-40B4-BE49-F238E27FC236}">
                <a16:creationId xmlns:a16="http://schemas.microsoft.com/office/drawing/2014/main" id="{646550DA-C53B-C811-2739-A8450FCF316E}"/>
              </a:ext>
            </a:extLst>
          </p:cNvPr>
          <p:cNvCxnSpPr/>
          <p:nvPr/>
        </p:nvCxnSpPr>
        <p:spPr>
          <a:xfrm>
            <a:off x="7200900" y="3362325"/>
            <a:ext cx="0" cy="466725"/>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AEA9999A-A775-E1A4-56D1-30D7A5949F77}"/>
              </a:ext>
            </a:extLst>
          </p:cNvPr>
          <p:cNvSpPr txBox="1"/>
          <p:nvPr/>
        </p:nvSpPr>
        <p:spPr>
          <a:xfrm>
            <a:off x="6871443" y="3815608"/>
            <a:ext cx="659155" cy="369332"/>
          </a:xfrm>
          <a:prstGeom prst="rect">
            <a:avLst/>
          </a:prstGeom>
          <a:noFill/>
        </p:spPr>
        <p:txBody>
          <a:bodyPr wrap="none" rtlCol="0">
            <a:spAutoFit/>
          </a:bodyPr>
          <a:lstStyle/>
          <a:p>
            <a:r>
              <a:rPr lang="en-US" dirty="0">
                <a:solidFill>
                  <a:srgbClr val="7030A0"/>
                </a:solidFill>
                <a:latin typeface="Arial" panose="020B0604020202020204" pitchFamily="34" charset="0"/>
                <a:cs typeface="Arial" panose="020B0604020202020204" pitchFamily="34" charset="0"/>
              </a:rPr>
              <a:t>RSA</a:t>
            </a:r>
          </a:p>
        </p:txBody>
      </p:sp>
      <p:cxnSp>
        <p:nvCxnSpPr>
          <p:cNvPr id="54" name="Straight Arrow Connector 53">
            <a:extLst>
              <a:ext uri="{FF2B5EF4-FFF2-40B4-BE49-F238E27FC236}">
                <a16:creationId xmlns:a16="http://schemas.microsoft.com/office/drawing/2014/main" id="{677321A7-19B8-B41A-151F-C4BCD11E6918}"/>
              </a:ext>
            </a:extLst>
          </p:cNvPr>
          <p:cNvCxnSpPr>
            <a:cxnSpLocks/>
          </p:cNvCxnSpPr>
          <p:nvPr/>
        </p:nvCxnSpPr>
        <p:spPr>
          <a:xfrm flipV="1">
            <a:off x="6429604" y="3992628"/>
            <a:ext cx="456620" cy="8236"/>
          </a:xfrm>
          <a:prstGeom prst="straightConnector1">
            <a:avLst/>
          </a:prstGeom>
          <a:ln w="5715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57" name="Rectangle 56">
            <a:extLst>
              <a:ext uri="{FF2B5EF4-FFF2-40B4-BE49-F238E27FC236}">
                <a16:creationId xmlns:a16="http://schemas.microsoft.com/office/drawing/2014/main" id="{111B7AEF-65FB-7867-72E7-87C90A6D91B9}"/>
              </a:ext>
            </a:extLst>
          </p:cNvPr>
          <p:cNvSpPr/>
          <p:nvPr/>
        </p:nvSpPr>
        <p:spPr>
          <a:xfrm>
            <a:off x="5697212" y="3648764"/>
            <a:ext cx="742951" cy="703616"/>
          </a:xfrm>
          <a:prstGeom prst="rect">
            <a:avLst/>
          </a:prstGeom>
          <a:no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TextBox 57">
            <a:extLst>
              <a:ext uri="{FF2B5EF4-FFF2-40B4-BE49-F238E27FC236}">
                <a16:creationId xmlns:a16="http://schemas.microsoft.com/office/drawing/2014/main" id="{62148696-E98D-1089-C4AA-E4FCA1673276}"/>
              </a:ext>
            </a:extLst>
          </p:cNvPr>
          <p:cNvSpPr txBox="1"/>
          <p:nvPr/>
        </p:nvSpPr>
        <p:spPr>
          <a:xfrm>
            <a:off x="5538697" y="4348556"/>
            <a:ext cx="1119217" cy="338554"/>
          </a:xfrm>
          <a:prstGeom prst="rect">
            <a:avLst/>
          </a:prstGeom>
          <a:noFill/>
        </p:spPr>
        <p:txBody>
          <a:bodyPr wrap="none" rtlCol="0">
            <a:spAutoFit/>
          </a:bodyPr>
          <a:lstStyle/>
          <a:p>
            <a:r>
              <a:rPr lang="en-US" sz="1600" dirty="0">
                <a:solidFill>
                  <a:srgbClr val="0070C0"/>
                </a:solidFill>
                <a:latin typeface="Arial" panose="020B0604020202020204" pitchFamily="34" charset="0"/>
                <a:cs typeface="Arial" panose="020B0604020202020204" pitchFamily="34" charset="0"/>
              </a:rPr>
              <a:t>Stim RDM</a:t>
            </a:r>
          </a:p>
        </p:txBody>
      </p:sp>
    </p:spTree>
    <p:extLst>
      <p:ext uri="{BB962C8B-B14F-4D97-AF65-F5344CB8AC3E}">
        <p14:creationId xmlns:p14="http://schemas.microsoft.com/office/powerpoint/2010/main" val="26167202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A7E7E7-84C6-62F5-31BD-7FA8EAD21A64}"/>
              </a:ext>
            </a:extLst>
          </p:cNvPr>
          <p:cNvSpPr>
            <a:spLocks noGrp="1"/>
          </p:cNvSpPr>
          <p:nvPr>
            <p:ph type="title"/>
          </p:nvPr>
        </p:nvSpPr>
        <p:spPr/>
        <p:txBody>
          <a:bodyPr/>
          <a:lstStyle/>
          <a:p>
            <a:r>
              <a:rPr lang="en-US" dirty="0"/>
              <a:t>Many sessions</a:t>
            </a:r>
          </a:p>
        </p:txBody>
      </p:sp>
      <p:sp>
        <p:nvSpPr>
          <p:cNvPr id="3" name="Content Placeholder 2">
            <a:extLst>
              <a:ext uri="{FF2B5EF4-FFF2-40B4-BE49-F238E27FC236}">
                <a16:creationId xmlns:a16="http://schemas.microsoft.com/office/drawing/2014/main" id="{4A7352F2-4293-4F82-2B07-E9D9993544A9}"/>
              </a:ext>
            </a:extLst>
          </p:cNvPr>
          <p:cNvSpPr>
            <a:spLocks noGrp="1"/>
          </p:cNvSpPr>
          <p:nvPr>
            <p:ph idx="1"/>
          </p:nvPr>
        </p:nvSpPr>
        <p:spPr>
          <a:xfrm>
            <a:off x="657225" y="1690687"/>
            <a:ext cx="5905500" cy="4802187"/>
          </a:xfrm>
        </p:spPr>
        <p:txBody>
          <a:bodyPr>
            <a:normAutofit lnSpcReduction="10000"/>
          </a:bodyPr>
          <a:lstStyle/>
          <a:p>
            <a:r>
              <a:rPr lang="en-US" dirty="0"/>
              <a:t>Increase power by using data from 3+ sessions</a:t>
            </a:r>
          </a:p>
          <a:p>
            <a:pPr lvl="1"/>
            <a:r>
              <a:rPr lang="en-US" dirty="0"/>
              <a:t>Consider sessions: (a) baseline, (b) encoding, (c) visual retrieval</a:t>
            </a:r>
          </a:p>
          <a:p>
            <a:pPr lvl="1"/>
            <a:r>
              <a:rPr lang="en-US" dirty="0"/>
              <a:t>Similarity measured for a-b, a-c, b-c and averaged</a:t>
            </a:r>
          </a:p>
          <a:p>
            <a:pPr lvl="1"/>
            <a:r>
              <a:rPr lang="en-US" dirty="0"/>
              <a:t>RSA calculated for a, b, c and averaged</a:t>
            </a:r>
          </a:p>
          <a:p>
            <a:pPr lvl="1"/>
            <a:r>
              <a:rPr lang="en-US" dirty="0"/>
              <a:t>Debatable whether it would help to add (d) conceptual retrieval</a:t>
            </a:r>
          </a:p>
          <a:p>
            <a:r>
              <a:rPr lang="en-US" dirty="0"/>
              <a:t>Combining data for multiple sessions is what let me get this off the ground</a:t>
            </a:r>
          </a:p>
        </p:txBody>
      </p:sp>
      <p:pic>
        <p:nvPicPr>
          <p:cNvPr id="4" name="Picture 3">
            <a:extLst>
              <a:ext uri="{FF2B5EF4-FFF2-40B4-BE49-F238E27FC236}">
                <a16:creationId xmlns:a16="http://schemas.microsoft.com/office/drawing/2014/main" id="{A35906C9-AD2C-7696-56C5-DB5475DFF726}"/>
              </a:ext>
            </a:extLst>
          </p:cNvPr>
          <p:cNvPicPr>
            <a:picLocks noChangeAspect="1"/>
          </p:cNvPicPr>
          <p:nvPr/>
        </p:nvPicPr>
        <p:blipFill>
          <a:blip r:embed="rId3"/>
          <a:stretch>
            <a:fillRect/>
          </a:stretch>
        </p:blipFill>
        <p:spPr>
          <a:xfrm>
            <a:off x="6562725" y="2639106"/>
            <a:ext cx="5448300" cy="3090207"/>
          </a:xfrm>
          <a:prstGeom prst="rect">
            <a:avLst/>
          </a:prstGeom>
        </p:spPr>
      </p:pic>
      <p:sp>
        <p:nvSpPr>
          <p:cNvPr id="6" name="Rectangle 5">
            <a:extLst>
              <a:ext uri="{FF2B5EF4-FFF2-40B4-BE49-F238E27FC236}">
                <a16:creationId xmlns:a16="http://schemas.microsoft.com/office/drawing/2014/main" id="{EFAA08CD-5669-38BA-35A0-929393D84D57}"/>
              </a:ext>
            </a:extLst>
          </p:cNvPr>
          <p:cNvSpPr/>
          <p:nvPr/>
        </p:nvSpPr>
        <p:spPr>
          <a:xfrm>
            <a:off x="7029449" y="2838450"/>
            <a:ext cx="742951" cy="52387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59CB6DDB-9A3C-0464-641B-3EF8C19E9DBA}"/>
              </a:ext>
            </a:extLst>
          </p:cNvPr>
          <p:cNvSpPr/>
          <p:nvPr/>
        </p:nvSpPr>
        <p:spPr>
          <a:xfrm>
            <a:off x="9791699" y="2847975"/>
            <a:ext cx="742951" cy="52387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5D045E6D-760D-5180-0D49-6EDDA4CEF99B}"/>
              </a:ext>
            </a:extLst>
          </p:cNvPr>
          <p:cNvCxnSpPr>
            <a:cxnSpLocks/>
            <a:stCxn id="6" idx="3"/>
            <a:endCxn id="7" idx="1"/>
          </p:cNvCxnSpPr>
          <p:nvPr/>
        </p:nvCxnSpPr>
        <p:spPr>
          <a:xfrm>
            <a:off x="7772400" y="3100388"/>
            <a:ext cx="2019299" cy="9525"/>
          </a:xfrm>
          <a:prstGeom prst="straightConnector1">
            <a:avLst/>
          </a:prstGeom>
          <a:ln w="5715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872836EF-E909-0C32-7D9A-FA38754CA005}"/>
              </a:ext>
            </a:extLst>
          </p:cNvPr>
          <p:cNvSpPr txBox="1"/>
          <p:nvPr/>
        </p:nvSpPr>
        <p:spPr>
          <a:xfrm>
            <a:off x="8312195" y="3293090"/>
            <a:ext cx="1435008" cy="461665"/>
          </a:xfrm>
          <a:prstGeom prst="rect">
            <a:avLst/>
          </a:prstGeom>
          <a:solidFill>
            <a:schemeClr val="bg1"/>
          </a:solidFill>
        </p:spPr>
        <p:txBody>
          <a:bodyPr wrap="none" rtlCol="0">
            <a:spAutoFit/>
          </a:bodyPr>
          <a:lstStyle/>
          <a:p>
            <a:r>
              <a:rPr lang="en-US" sz="2400" dirty="0">
                <a:solidFill>
                  <a:srgbClr val="FF0000"/>
                </a:solidFill>
                <a:latin typeface="Arial" panose="020B0604020202020204" pitchFamily="34" charset="0"/>
                <a:cs typeface="Arial" panose="020B0604020202020204" pitchFamily="34" charset="0"/>
              </a:rPr>
              <a:t>Similarity</a:t>
            </a:r>
          </a:p>
        </p:txBody>
      </p:sp>
      <p:grpSp>
        <p:nvGrpSpPr>
          <p:cNvPr id="49" name="Group 48">
            <a:extLst>
              <a:ext uri="{FF2B5EF4-FFF2-40B4-BE49-F238E27FC236}">
                <a16:creationId xmlns:a16="http://schemas.microsoft.com/office/drawing/2014/main" id="{F5ACDFD6-39FD-F3C6-FDB6-C9DA91CBC7D3}"/>
              </a:ext>
            </a:extLst>
          </p:cNvPr>
          <p:cNvGrpSpPr/>
          <p:nvPr/>
        </p:nvGrpSpPr>
        <p:grpSpPr>
          <a:xfrm>
            <a:off x="-1499319" y="5335150"/>
            <a:ext cx="1024838" cy="1022813"/>
            <a:chOff x="2625006" y="5323636"/>
            <a:chExt cx="1024838" cy="1022813"/>
          </a:xfrm>
        </p:grpSpPr>
        <p:sp>
          <p:nvSpPr>
            <p:cNvPr id="18" name="Rectangle 17">
              <a:extLst>
                <a:ext uri="{FF2B5EF4-FFF2-40B4-BE49-F238E27FC236}">
                  <a16:creationId xmlns:a16="http://schemas.microsoft.com/office/drawing/2014/main" id="{B6D7CB41-CCB8-3D74-0978-405468434501}"/>
                </a:ext>
              </a:extLst>
            </p:cNvPr>
            <p:cNvSpPr/>
            <p:nvPr/>
          </p:nvSpPr>
          <p:spPr>
            <a:xfrm>
              <a:off x="2625006" y="5323636"/>
              <a:ext cx="189411" cy="1894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45A58D1A-922B-6248-1192-BDF6185859D9}"/>
                </a:ext>
              </a:extLst>
            </p:cNvPr>
            <p:cNvSpPr/>
            <p:nvPr/>
          </p:nvSpPr>
          <p:spPr>
            <a:xfrm>
              <a:off x="2631356" y="5529303"/>
              <a:ext cx="189411" cy="189411"/>
            </a:xfrm>
            <a:prstGeom prst="rect">
              <a:avLst/>
            </a:prstGeom>
            <a:solidFill>
              <a:srgbClr val="452A4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DDEB7DB8-A45E-D739-D33E-62731F893E14}"/>
                </a:ext>
              </a:extLst>
            </p:cNvPr>
            <p:cNvSpPr/>
            <p:nvPr/>
          </p:nvSpPr>
          <p:spPr>
            <a:xfrm>
              <a:off x="2631467" y="5734970"/>
              <a:ext cx="189411" cy="189411"/>
            </a:xfrm>
            <a:prstGeom prst="rect">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15491B02-BD8F-8DCD-8036-509B4F0D1241}"/>
                </a:ext>
              </a:extLst>
            </p:cNvPr>
            <p:cNvSpPr/>
            <p:nvPr/>
          </p:nvSpPr>
          <p:spPr>
            <a:xfrm>
              <a:off x="2630267" y="5940637"/>
              <a:ext cx="189411" cy="189411"/>
            </a:xfrm>
            <a:prstGeom prst="rect">
              <a:avLst/>
            </a:prstGeom>
            <a:solidFill>
              <a:srgbClr val="00FFC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175C71B7-987A-D50F-170F-74731EAA63EC}"/>
                </a:ext>
              </a:extLst>
            </p:cNvPr>
            <p:cNvSpPr/>
            <p:nvPr/>
          </p:nvSpPr>
          <p:spPr>
            <a:xfrm>
              <a:off x="2630628" y="6146304"/>
              <a:ext cx="189411" cy="189411"/>
            </a:xfrm>
            <a:prstGeom prst="rect">
              <a:avLst/>
            </a:prstGeom>
            <a:solidFill>
              <a:srgbClr val="FF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5C4B3D2C-5DF9-21FB-5F37-9D86AA0E9766}"/>
                </a:ext>
              </a:extLst>
            </p:cNvPr>
            <p:cNvSpPr/>
            <p:nvPr/>
          </p:nvSpPr>
          <p:spPr>
            <a:xfrm>
              <a:off x="2837944" y="5326264"/>
              <a:ext cx="189411" cy="189411"/>
            </a:xfrm>
            <a:prstGeom prst="rect">
              <a:avLst/>
            </a:prstGeom>
            <a:solidFill>
              <a:srgbClr val="452A4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C7B4E3C6-A41B-00F0-84E0-435C439F0FA7}"/>
                </a:ext>
              </a:extLst>
            </p:cNvPr>
            <p:cNvSpPr/>
            <p:nvPr/>
          </p:nvSpPr>
          <p:spPr>
            <a:xfrm>
              <a:off x="2834769" y="5531931"/>
              <a:ext cx="189411" cy="1894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3F35FC40-AE3A-E6C3-0D90-65E395575E12}"/>
                </a:ext>
              </a:extLst>
            </p:cNvPr>
            <p:cNvSpPr/>
            <p:nvPr/>
          </p:nvSpPr>
          <p:spPr>
            <a:xfrm>
              <a:off x="2838055" y="5737598"/>
              <a:ext cx="189411" cy="189411"/>
            </a:xfrm>
            <a:prstGeom prst="rect">
              <a:avLst/>
            </a:prstGeom>
            <a:solidFill>
              <a:srgbClr val="D2E93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FCBCBCDB-9D3D-8562-583C-806B166AF0C2}"/>
                </a:ext>
              </a:extLst>
            </p:cNvPr>
            <p:cNvSpPr/>
            <p:nvPr/>
          </p:nvSpPr>
          <p:spPr>
            <a:xfrm>
              <a:off x="2836855" y="5943265"/>
              <a:ext cx="189411" cy="189411"/>
            </a:xfrm>
            <a:prstGeom prst="rect">
              <a:avLst/>
            </a:prstGeom>
            <a:solidFill>
              <a:srgbClr val="FFFF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F4CACC58-6486-7C69-BD2D-812B0D7B1307}"/>
                </a:ext>
              </a:extLst>
            </p:cNvPr>
            <p:cNvSpPr/>
            <p:nvPr/>
          </p:nvSpPr>
          <p:spPr>
            <a:xfrm>
              <a:off x="2837216" y="6148932"/>
              <a:ext cx="189411" cy="189411"/>
            </a:xfrm>
            <a:prstGeom prst="rect">
              <a:avLst/>
            </a:prstGeom>
            <a:solidFill>
              <a:srgbClr val="FDA63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F9E8242F-88AB-78D7-4F58-FDE1BB00BF0E}"/>
                </a:ext>
              </a:extLst>
            </p:cNvPr>
            <p:cNvSpPr/>
            <p:nvPr/>
          </p:nvSpPr>
          <p:spPr>
            <a:xfrm>
              <a:off x="3046203" y="5329606"/>
              <a:ext cx="189411" cy="189411"/>
            </a:xfrm>
            <a:prstGeom prst="rect">
              <a:avLst/>
            </a:prstGeom>
            <a:solidFill>
              <a:srgbClr val="FFC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23E53460-20AA-F25C-744D-32AB593DBDEF}"/>
                </a:ext>
              </a:extLst>
            </p:cNvPr>
            <p:cNvSpPr/>
            <p:nvPr/>
          </p:nvSpPr>
          <p:spPr>
            <a:xfrm>
              <a:off x="3046203" y="5535273"/>
              <a:ext cx="189411" cy="189411"/>
            </a:xfrm>
            <a:prstGeom prst="rect">
              <a:avLst/>
            </a:prstGeom>
            <a:solidFill>
              <a:srgbClr val="D2E93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459A3ECD-9B59-57A8-1705-0A779D1F509B}"/>
                </a:ext>
              </a:extLst>
            </p:cNvPr>
            <p:cNvSpPr/>
            <p:nvPr/>
          </p:nvSpPr>
          <p:spPr>
            <a:xfrm>
              <a:off x="3046314" y="5740940"/>
              <a:ext cx="189411" cy="1894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1A7EBB32-C08D-67A8-9561-B4F7D56C3D05}"/>
                </a:ext>
              </a:extLst>
            </p:cNvPr>
            <p:cNvSpPr/>
            <p:nvPr/>
          </p:nvSpPr>
          <p:spPr>
            <a:xfrm>
              <a:off x="3045114" y="5946607"/>
              <a:ext cx="189411" cy="189411"/>
            </a:xfrm>
            <a:prstGeom prst="rect">
              <a:avLst/>
            </a:prstGeom>
            <a:solidFill>
              <a:srgbClr val="33CC33"/>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DAED71D7-9888-94DE-875B-34BBD4013FCB}"/>
                </a:ext>
              </a:extLst>
            </p:cNvPr>
            <p:cNvSpPr/>
            <p:nvPr/>
          </p:nvSpPr>
          <p:spPr>
            <a:xfrm>
              <a:off x="3045475" y="6152274"/>
              <a:ext cx="189411" cy="189411"/>
            </a:xfrm>
            <a:prstGeom prst="rect">
              <a:avLst/>
            </a:prstGeom>
            <a:solidFill>
              <a:srgbClr val="0070C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E7C24DDD-6DFF-0DD7-314C-B7728EB493EC}"/>
                </a:ext>
              </a:extLst>
            </p:cNvPr>
            <p:cNvSpPr/>
            <p:nvPr/>
          </p:nvSpPr>
          <p:spPr>
            <a:xfrm>
              <a:off x="3252791" y="5328266"/>
              <a:ext cx="189411" cy="189411"/>
            </a:xfrm>
            <a:prstGeom prst="rect">
              <a:avLst/>
            </a:prstGeom>
            <a:solidFill>
              <a:srgbClr val="00FFC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5B7DAC5A-1C8A-D1E9-BAEB-B2B13D277981}"/>
                </a:ext>
              </a:extLst>
            </p:cNvPr>
            <p:cNvSpPr/>
            <p:nvPr/>
          </p:nvSpPr>
          <p:spPr>
            <a:xfrm>
              <a:off x="3252791" y="5533933"/>
              <a:ext cx="189411" cy="189411"/>
            </a:xfrm>
            <a:prstGeom prst="rect">
              <a:avLst/>
            </a:prstGeom>
            <a:solidFill>
              <a:srgbClr val="FFFF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2A50DDA4-6BB6-C996-DADB-01C880FAD203}"/>
                </a:ext>
              </a:extLst>
            </p:cNvPr>
            <p:cNvSpPr/>
            <p:nvPr/>
          </p:nvSpPr>
          <p:spPr>
            <a:xfrm>
              <a:off x="3252902" y="5739600"/>
              <a:ext cx="189411" cy="189411"/>
            </a:xfrm>
            <a:prstGeom prst="rect">
              <a:avLst/>
            </a:prstGeom>
            <a:solidFill>
              <a:srgbClr val="33CC33"/>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DA002076-12B8-1366-B8E4-44E5362D9894}"/>
                </a:ext>
              </a:extLst>
            </p:cNvPr>
            <p:cNvSpPr/>
            <p:nvPr/>
          </p:nvSpPr>
          <p:spPr>
            <a:xfrm>
              <a:off x="3251702" y="5952411"/>
              <a:ext cx="189411" cy="1894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55A4553F-9ED8-0318-69B7-44CC45D91A55}"/>
                </a:ext>
              </a:extLst>
            </p:cNvPr>
            <p:cNvSpPr/>
            <p:nvPr/>
          </p:nvSpPr>
          <p:spPr>
            <a:xfrm>
              <a:off x="3252063" y="6153315"/>
              <a:ext cx="189411" cy="189411"/>
            </a:xfrm>
            <a:prstGeom prst="rect">
              <a:avLst/>
            </a:prstGeom>
            <a:solidFill>
              <a:srgbClr val="FF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F08FA267-3028-633A-EB96-3031543109C1}"/>
                </a:ext>
              </a:extLst>
            </p:cNvPr>
            <p:cNvSpPr/>
            <p:nvPr/>
          </p:nvSpPr>
          <p:spPr>
            <a:xfrm>
              <a:off x="3458780" y="5329608"/>
              <a:ext cx="189411" cy="189411"/>
            </a:xfrm>
            <a:prstGeom prst="rect">
              <a:avLst/>
            </a:prstGeom>
            <a:solidFill>
              <a:srgbClr val="FF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3BABCF1C-9960-8E02-CD28-A8BFFCE8D78F}"/>
                </a:ext>
              </a:extLst>
            </p:cNvPr>
            <p:cNvSpPr/>
            <p:nvPr/>
          </p:nvSpPr>
          <p:spPr>
            <a:xfrm>
              <a:off x="3458780" y="5535275"/>
              <a:ext cx="189411" cy="189411"/>
            </a:xfrm>
            <a:prstGeom prst="rect">
              <a:avLst/>
            </a:prstGeom>
            <a:solidFill>
              <a:srgbClr val="FFC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09678678-58B2-7F08-F949-8F5C88F661A9}"/>
                </a:ext>
              </a:extLst>
            </p:cNvPr>
            <p:cNvSpPr/>
            <p:nvPr/>
          </p:nvSpPr>
          <p:spPr>
            <a:xfrm>
              <a:off x="3458891" y="5740942"/>
              <a:ext cx="189411" cy="189411"/>
            </a:xfrm>
            <a:prstGeom prst="rect">
              <a:avLst/>
            </a:prstGeom>
            <a:solidFill>
              <a:srgbClr val="0070C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D121F793-0FB9-4F89-837C-041ABB61CB80}"/>
                </a:ext>
              </a:extLst>
            </p:cNvPr>
            <p:cNvSpPr/>
            <p:nvPr/>
          </p:nvSpPr>
          <p:spPr>
            <a:xfrm>
              <a:off x="3457691" y="5946609"/>
              <a:ext cx="189411" cy="189411"/>
            </a:xfrm>
            <a:prstGeom prst="rect">
              <a:avLst/>
            </a:prstGeom>
            <a:solidFill>
              <a:srgbClr val="FF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94241916-A9D0-81DE-9833-221326779813}"/>
                </a:ext>
              </a:extLst>
            </p:cNvPr>
            <p:cNvSpPr/>
            <p:nvPr/>
          </p:nvSpPr>
          <p:spPr>
            <a:xfrm>
              <a:off x="3460433" y="6157038"/>
              <a:ext cx="189411" cy="1894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FD5CF568-0F37-19F9-9553-6EE4383AD90D}"/>
                </a:ext>
              </a:extLst>
            </p:cNvPr>
            <p:cNvSpPr/>
            <p:nvPr/>
          </p:nvSpPr>
          <p:spPr>
            <a:xfrm>
              <a:off x="2631356" y="5329605"/>
              <a:ext cx="1015746" cy="100610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52" name="Straight Arrow Connector 51">
            <a:extLst>
              <a:ext uri="{FF2B5EF4-FFF2-40B4-BE49-F238E27FC236}">
                <a16:creationId xmlns:a16="http://schemas.microsoft.com/office/drawing/2014/main" id="{646550DA-C53B-C811-2739-A8450FCF316E}"/>
              </a:ext>
            </a:extLst>
          </p:cNvPr>
          <p:cNvCxnSpPr>
            <a:cxnSpLocks/>
          </p:cNvCxnSpPr>
          <p:nvPr/>
        </p:nvCxnSpPr>
        <p:spPr>
          <a:xfrm flipH="1">
            <a:off x="6871443" y="3348883"/>
            <a:ext cx="167531" cy="466725"/>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AEA9999A-A775-E1A4-56D1-30D7A5949F77}"/>
              </a:ext>
            </a:extLst>
          </p:cNvPr>
          <p:cNvSpPr txBox="1"/>
          <p:nvPr/>
        </p:nvSpPr>
        <p:spPr>
          <a:xfrm>
            <a:off x="6466510" y="3887436"/>
            <a:ext cx="659155" cy="369332"/>
          </a:xfrm>
          <a:prstGeom prst="rect">
            <a:avLst/>
          </a:prstGeom>
          <a:noFill/>
        </p:spPr>
        <p:txBody>
          <a:bodyPr wrap="none" rtlCol="0">
            <a:spAutoFit/>
          </a:bodyPr>
          <a:lstStyle/>
          <a:p>
            <a:r>
              <a:rPr lang="en-US" dirty="0">
                <a:solidFill>
                  <a:srgbClr val="7030A0"/>
                </a:solidFill>
                <a:latin typeface="Arial" panose="020B0604020202020204" pitchFamily="34" charset="0"/>
                <a:cs typeface="Arial" panose="020B0604020202020204" pitchFamily="34" charset="0"/>
              </a:rPr>
              <a:t>RSA</a:t>
            </a:r>
          </a:p>
        </p:txBody>
      </p:sp>
      <p:sp>
        <p:nvSpPr>
          <p:cNvPr id="5" name="Rectangle 4">
            <a:extLst>
              <a:ext uri="{FF2B5EF4-FFF2-40B4-BE49-F238E27FC236}">
                <a16:creationId xmlns:a16="http://schemas.microsoft.com/office/drawing/2014/main" id="{8411F386-1033-1144-D525-811A6CE5A6DD}"/>
              </a:ext>
            </a:extLst>
          </p:cNvPr>
          <p:cNvSpPr/>
          <p:nvPr/>
        </p:nvSpPr>
        <p:spPr>
          <a:xfrm>
            <a:off x="9410698" y="4377418"/>
            <a:ext cx="742951" cy="52387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p>
        </p:txBody>
      </p:sp>
      <p:cxnSp>
        <p:nvCxnSpPr>
          <p:cNvPr id="8" name="Straight Arrow Connector 7">
            <a:extLst>
              <a:ext uri="{FF2B5EF4-FFF2-40B4-BE49-F238E27FC236}">
                <a16:creationId xmlns:a16="http://schemas.microsoft.com/office/drawing/2014/main" id="{582DA349-7837-F0E6-4117-2F8303926847}"/>
              </a:ext>
            </a:extLst>
          </p:cNvPr>
          <p:cNvCxnSpPr>
            <a:cxnSpLocks/>
            <a:stCxn id="5" idx="0"/>
          </p:cNvCxnSpPr>
          <p:nvPr/>
        </p:nvCxnSpPr>
        <p:spPr>
          <a:xfrm flipV="1">
            <a:off x="9782174" y="3429000"/>
            <a:ext cx="371475" cy="948418"/>
          </a:xfrm>
          <a:prstGeom prst="straightConnector1">
            <a:avLst/>
          </a:prstGeom>
          <a:ln w="5715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9AF2583F-9142-2FC6-6B58-1BF27CA1E694}"/>
              </a:ext>
            </a:extLst>
          </p:cNvPr>
          <p:cNvCxnSpPr>
            <a:cxnSpLocks/>
          </p:cNvCxnSpPr>
          <p:nvPr/>
        </p:nvCxnSpPr>
        <p:spPr>
          <a:xfrm flipH="1" flipV="1">
            <a:off x="7772400" y="3362325"/>
            <a:ext cx="1662112" cy="1015093"/>
          </a:xfrm>
          <a:prstGeom prst="straightConnector1">
            <a:avLst/>
          </a:prstGeom>
          <a:ln w="5715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A5C937FB-8BC6-E703-3B15-6E59E95BD144}"/>
              </a:ext>
            </a:extLst>
          </p:cNvPr>
          <p:cNvCxnSpPr>
            <a:cxnSpLocks/>
          </p:cNvCxnSpPr>
          <p:nvPr/>
        </p:nvCxnSpPr>
        <p:spPr>
          <a:xfrm flipH="1">
            <a:off x="9257456" y="4891899"/>
            <a:ext cx="167531" cy="466725"/>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5AEFB495-9599-0DEF-911C-868DCBA4BC4A}"/>
              </a:ext>
            </a:extLst>
          </p:cNvPr>
          <p:cNvSpPr txBox="1"/>
          <p:nvPr/>
        </p:nvSpPr>
        <p:spPr>
          <a:xfrm>
            <a:off x="8852523" y="5430452"/>
            <a:ext cx="659155" cy="369332"/>
          </a:xfrm>
          <a:prstGeom prst="rect">
            <a:avLst/>
          </a:prstGeom>
          <a:noFill/>
        </p:spPr>
        <p:txBody>
          <a:bodyPr wrap="none" rtlCol="0">
            <a:spAutoFit/>
          </a:bodyPr>
          <a:lstStyle/>
          <a:p>
            <a:r>
              <a:rPr lang="en-US" dirty="0">
                <a:solidFill>
                  <a:srgbClr val="7030A0"/>
                </a:solidFill>
                <a:latin typeface="Arial" panose="020B0604020202020204" pitchFamily="34" charset="0"/>
                <a:cs typeface="Arial" panose="020B0604020202020204" pitchFamily="34" charset="0"/>
              </a:rPr>
              <a:t>RSA</a:t>
            </a:r>
          </a:p>
        </p:txBody>
      </p:sp>
      <p:cxnSp>
        <p:nvCxnSpPr>
          <p:cNvPr id="46" name="Straight Arrow Connector 45">
            <a:extLst>
              <a:ext uri="{FF2B5EF4-FFF2-40B4-BE49-F238E27FC236}">
                <a16:creationId xmlns:a16="http://schemas.microsoft.com/office/drawing/2014/main" id="{CFE9C906-380C-D54F-2903-CE143B95D79A}"/>
              </a:ext>
            </a:extLst>
          </p:cNvPr>
          <p:cNvCxnSpPr>
            <a:cxnSpLocks/>
          </p:cNvCxnSpPr>
          <p:nvPr/>
        </p:nvCxnSpPr>
        <p:spPr>
          <a:xfrm flipV="1">
            <a:off x="10525125" y="2474732"/>
            <a:ext cx="279029" cy="373243"/>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1A531662-41EB-A43B-7B45-ACB9F7557517}"/>
              </a:ext>
            </a:extLst>
          </p:cNvPr>
          <p:cNvSpPr txBox="1"/>
          <p:nvPr/>
        </p:nvSpPr>
        <p:spPr>
          <a:xfrm>
            <a:off x="10738909" y="2115231"/>
            <a:ext cx="659155" cy="369332"/>
          </a:xfrm>
          <a:prstGeom prst="rect">
            <a:avLst/>
          </a:prstGeom>
          <a:noFill/>
        </p:spPr>
        <p:txBody>
          <a:bodyPr wrap="square" rtlCol="0">
            <a:spAutoFit/>
          </a:bodyPr>
          <a:lstStyle/>
          <a:p>
            <a:r>
              <a:rPr lang="en-US" dirty="0">
                <a:solidFill>
                  <a:srgbClr val="7030A0"/>
                </a:solidFill>
                <a:latin typeface="Arial" panose="020B0604020202020204" pitchFamily="34" charset="0"/>
                <a:cs typeface="Arial" panose="020B0604020202020204" pitchFamily="34" charset="0"/>
              </a:rPr>
              <a:t>RSA</a:t>
            </a:r>
          </a:p>
        </p:txBody>
      </p:sp>
    </p:spTree>
    <p:extLst>
      <p:ext uri="{BB962C8B-B14F-4D97-AF65-F5344CB8AC3E}">
        <p14:creationId xmlns:p14="http://schemas.microsoft.com/office/powerpoint/2010/main" val="40060818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FC9E93-1B82-1321-E1A0-5684BC07FA46}"/>
              </a:ext>
            </a:extLst>
          </p:cNvPr>
          <p:cNvSpPr>
            <a:spLocks noGrp="1"/>
          </p:cNvSpPr>
          <p:nvPr>
            <p:ph type="title"/>
          </p:nvPr>
        </p:nvSpPr>
        <p:spPr>
          <a:xfrm>
            <a:off x="533400" y="339725"/>
            <a:ext cx="4165600" cy="1325563"/>
          </a:xfrm>
        </p:spPr>
        <p:txBody>
          <a:bodyPr/>
          <a:lstStyle/>
          <a:p>
            <a:r>
              <a:rPr lang="en-US" dirty="0"/>
              <a:t>Splitting ROIs</a:t>
            </a:r>
          </a:p>
        </p:txBody>
      </p:sp>
      <p:sp>
        <p:nvSpPr>
          <p:cNvPr id="3" name="Content Placeholder 2">
            <a:extLst>
              <a:ext uri="{FF2B5EF4-FFF2-40B4-BE49-F238E27FC236}">
                <a16:creationId xmlns:a16="http://schemas.microsoft.com/office/drawing/2014/main" id="{C4E2856A-4660-6260-FD2D-05357240FE1C}"/>
              </a:ext>
            </a:extLst>
          </p:cNvPr>
          <p:cNvSpPr>
            <a:spLocks noGrp="1"/>
          </p:cNvSpPr>
          <p:nvPr>
            <p:ph idx="1"/>
          </p:nvPr>
        </p:nvSpPr>
        <p:spPr>
          <a:xfrm>
            <a:off x="533400" y="1825625"/>
            <a:ext cx="4318000" cy="4351338"/>
          </a:xfrm>
        </p:spPr>
        <p:txBody>
          <a:bodyPr/>
          <a:lstStyle/>
          <a:p>
            <a:r>
              <a:rPr lang="en-US" dirty="0" err="1"/>
              <a:t>Brainnetome</a:t>
            </a:r>
            <a:r>
              <a:rPr lang="en-US" dirty="0"/>
              <a:t> atlas has 246 ROIs</a:t>
            </a:r>
          </a:p>
          <a:p>
            <a:pPr lvl="1"/>
            <a:r>
              <a:rPr lang="en-US" dirty="0"/>
              <a:t>This number is typically plenty, yet is limited for investigating connectivity within a region</a:t>
            </a:r>
          </a:p>
          <a:p>
            <a:pPr lvl="1"/>
            <a:r>
              <a:rPr lang="en-US" dirty="0"/>
              <a:t>E.g., only 8 LOC ROIs</a:t>
            </a:r>
          </a:p>
          <a:p>
            <a:r>
              <a:rPr lang="en-US" dirty="0"/>
              <a:t>I explored splitting the ROIs into 8ths</a:t>
            </a:r>
          </a:p>
          <a:p>
            <a:pPr lvl="1"/>
            <a:r>
              <a:rPr lang="en-US" dirty="0"/>
              <a:t>Octants</a:t>
            </a:r>
          </a:p>
        </p:txBody>
      </p:sp>
      <p:pic>
        <p:nvPicPr>
          <p:cNvPr id="5" name="Picture 4">
            <a:extLst>
              <a:ext uri="{FF2B5EF4-FFF2-40B4-BE49-F238E27FC236}">
                <a16:creationId xmlns:a16="http://schemas.microsoft.com/office/drawing/2014/main" id="{0ABCB5DD-9A38-AF0E-8E30-83A63EF2731E}"/>
              </a:ext>
            </a:extLst>
          </p:cNvPr>
          <p:cNvPicPr>
            <a:picLocks noChangeAspect="1"/>
          </p:cNvPicPr>
          <p:nvPr/>
        </p:nvPicPr>
        <p:blipFill>
          <a:blip r:embed="rId2"/>
          <a:stretch>
            <a:fillRect/>
          </a:stretch>
        </p:blipFill>
        <p:spPr>
          <a:xfrm>
            <a:off x="5005233" y="3523545"/>
            <a:ext cx="7078133" cy="2788355"/>
          </a:xfrm>
          <a:prstGeom prst="rect">
            <a:avLst/>
          </a:prstGeom>
        </p:spPr>
      </p:pic>
      <p:pic>
        <p:nvPicPr>
          <p:cNvPr id="7" name="Picture 6">
            <a:extLst>
              <a:ext uri="{FF2B5EF4-FFF2-40B4-BE49-F238E27FC236}">
                <a16:creationId xmlns:a16="http://schemas.microsoft.com/office/drawing/2014/main" id="{D43CDD9C-B0F1-385A-99C1-8348B89EE65E}"/>
              </a:ext>
            </a:extLst>
          </p:cNvPr>
          <p:cNvPicPr>
            <a:picLocks noChangeAspect="1"/>
          </p:cNvPicPr>
          <p:nvPr/>
        </p:nvPicPr>
        <p:blipFill>
          <a:blip r:embed="rId3"/>
          <a:stretch>
            <a:fillRect/>
          </a:stretch>
        </p:blipFill>
        <p:spPr>
          <a:xfrm>
            <a:off x="5003800" y="640080"/>
            <a:ext cx="7079566" cy="2788920"/>
          </a:xfrm>
          <a:prstGeom prst="rect">
            <a:avLst/>
          </a:prstGeom>
        </p:spPr>
      </p:pic>
    </p:spTree>
    <p:extLst>
      <p:ext uri="{BB962C8B-B14F-4D97-AF65-F5344CB8AC3E}">
        <p14:creationId xmlns:p14="http://schemas.microsoft.com/office/powerpoint/2010/main" val="31102037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E14342-1326-DDEA-EAF0-C6A42986684C}"/>
              </a:ext>
            </a:extLst>
          </p:cNvPr>
          <p:cNvSpPr>
            <a:spLocks noGrp="1"/>
          </p:cNvSpPr>
          <p:nvPr>
            <p:ph type="title"/>
          </p:nvPr>
        </p:nvSpPr>
        <p:spPr>
          <a:xfrm>
            <a:off x="241300" y="-388408"/>
            <a:ext cx="10515600" cy="1325563"/>
          </a:xfrm>
        </p:spPr>
        <p:txBody>
          <a:bodyPr>
            <a:normAutofit fontScale="90000"/>
          </a:bodyPr>
          <a:lstStyle/>
          <a:p>
            <a:r>
              <a:rPr lang="en-US" dirty="0"/>
              <a:t>Between-session similarity</a:t>
            </a:r>
            <a:br>
              <a:rPr lang="en-US" dirty="0"/>
            </a:br>
            <a:r>
              <a:rPr lang="en-US" dirty="0"/>
              <a:t>(THESE ARE FROM CONNECTIVYT AS PRODUCT)</a:t>
            </a:r>
          </a:p>
        </p:txBody>
      </p:sp>
      <p:sp>
        <p:nvSpPr>
          <p:cNvPr id="3" name="Content Placeholder 2">
            <a:extLst>
              <a:ext uri="{FF2B5EF4-FFF2-40B4-BE49-F238E27FC236}">
                <a16:creationId xmlns:a16="http://schemas.microsoft.com/office/drawing/2014/main" id="{3CFD97F4-B159-49F9-6C96-968FBB3FF6E3}"/>
              </a:ext>
            </a:extLst>
          </p:cNvPr>
          <p:cNvSpPr>
            <a:spLocks noGrp="1"/>
          </p:cNvSpPr>
          <p:nvPr>
            <p:ph idx="1"/>
          </p:nvPr>
        </p:nvSpPr>
        <p:spPr>
          <a:xfrm>
            <a:off x="647700" y="1690688"/>
            <a:ext cx="5257800" cy="5167312"/>
          </a:xfrm>
        </p:spPr>
        <p:txBody>
          <a:bodyPr>
            <a:normAutofit lnSpcReduction="10000"/>
          </a:bodyPr>
          <a:lstStyle/>
          <a:p>
            <a:r>
              <a:rPr lang="en-US" dirty="0"/>
              <a:t>Model-free analysis of representations</a:t>
            </a:r>
          </a:p>
          <a:p>
            <a:r>
              <a:rPr lang="en-US" dirty="0"/>
              <a:t>Does the same object elicit similar connectivity patterns each time it’s shown?</a:t>
            </a:r>
          </a:p>
          <a:p>
            <a:pPr lvl="1"/>
            <a:r>
              <a:rPr lang="en-US" dirty="0"/>
              <a:t>Yes, it does</a:t>
            </a:r>
          </a:p>
          <a:p>
            <a:r>
              <a:rPr lang="en-US" dirty="0"/>
              <a:t>Connectome-wide: t = 1.74</a:t>
            </a:r>
          </a:p>
          <a:p>
            <a:r>
              <a:rPr lang="en-US" dirty="0"/>
              <a:t>Connectivity among occipital ROIs: t = 3.84</a:t>
            </a:r>
          </a:p>
          <a:p>
            <a:pPr lvl="1"/>
            <a:r>
              <a:rPr lang="en-US" dirty="0"/>
              <a:t>LOC, EVC, Superior occipital</a:t>
            </a:r>
          </a:p>
          <a:p>
            <a:r>
              <a:rPr lang="en-US" dirty="0"/>
              <a:t>Connectivity among ventral stream ROIs: t = 1.69</a:t>
            </a:r>
          </a:p>
          <a:p>
            <a:pPr lvl="1"/>
            <a:r>
              <a:rPr lang="en-US" dirty="0"/>
              <a:t>Stronger than dorsal stream</a:t>
            </a:r>
          </a:p>
        </p:txBody>
      </p:sp>
      <p:pic>
        <p:nvPicPr>
          <p:cNvPr id="5" name="Picture 4">
            <a:extLst>
              <a:ext uri="{FF2B5EF4-FFF2-40B4-BE49-F238E27FC236}">
                <a16:creationId xmlns:a16="http://schemas.microsoft.com/office/drawing/2014/main" id="{552DDB91-C495-9601-3E99-CCE79BEAC6E9}"/>
              </a:ext>
            </a:extLst>
          </p:cNvPr>
          <p:cNvPicPr>
            <a:picLocks noChangeAspect="1"/>
          </p:cNvPicPr>
          <p:nvPr/>
        </p:nvPicPr>
        <p:blipFill rotWithShape="1">
          <a:blip r:embed="rId2"/>
          <a:srcRect t="15370" b="11898"/>
          <a:stretch/>
        </p:blipFill>
        <p:spPr>
          <a:xfrm>
            <a:off x="5499100" y="1372394"/>
            <a:ext cx="6858000" cy="4987926"/>
          </a:xfrm>
          <a:prstGeom prst="rect">
            <a:avLst/>
          </a:prstGeom>
        </p:spPr>
      </p:pic>
    </p:spTree>
    <p:extLst>
      <p:ext uri="{BB962C8B-B14F-4D97-AF65-F5344CB8AC3E}">
        <p14:creationId xmlns:p14="http://schemas.microsoft.com/office/powerpoint/2010/main" val="20460366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7BE7A-A9F6-A276-3F5C-3F8CA16E026B}"/>
              </a:ext>
            </a:extLst>
          </p:cNvPr>
          <p:cNvSpPr>
            <a:spLocks noGrp="1"/>
          </p:cNvSpPr>
          <p:nvPr>
            <p:ph type="title"/>
          </p:nvPr>
        </p:nvSpPr>
        <p:spPr/>
        <p:txBody>
          <a:bodyPr/>
          <a:lstStyle/>
          <a:p>
            <a:r>
              <a:rPr lang="en-US"/>
              <a:t>RSA (THESE ARE FROM CONNECTIVYT AS PRODUCT)</a:t>
            </a:r>
            <a:endParaRPr lang="en-US" dirty="0"/>
          </a:p>
        </p:txBody>
      </p:sp>
      <p:sp>
        <p:nvSpPr>
          <p:cNvPr id="3" name="Content Placeholder 2">
            <a:extLst>
              <a:ext uri="{FF2B5EF4-FFF2-40B4-BE49-F238E27FC236}">
                <a16:creationId xmlns:a16="http://schemas.microsoft.com/office/drawing/2014/main" id="{107D7BAC-A6F3-A9AF-B790-5354C9BC7F97}"/>
              </a:ext>
            </a:extLst>
          </p:cNvPr>
          <p:cNvSpPr>
            <a:spLocks noGrp="1"/>
          </p:cNvSpPr>
          <p:nvPr>
            <p:ph idx="1"/>
          </p:nvPr>
        </p:nvSpPr>
        <p:spPr>
          <a:xfrm>
            <a:off x="838200" y="1825624"/>
            <a:ext cx="5346700" cy="4448175"/>
          </a:xfrm>
        </p:spPr>
        <p:txBody>
          <a:bodyPr>
            <a:normAutofit lnSpcReduction="10000"/>
          </a:bodyPr>
          <a:lstStyle/>
          <a:p>
            <a:r>
              <a:rPr lang="en-US" dirty="0"/>
              <a:t>Connectome RSA</a:t>
            </a:r>
          </a:p>
          <a:p>
            <a:pPr lvl="1"/>
            <a:r>
              <a:rPr lang="en-US" dirty="0"/>
              <a:t>Perceptual RSA: t = 2.7, p = .01</a:t>
            </a:r>
          </a:p>
          <a:p>
            <a:pPr lvl="2"/>
            <a:r>
              <a:rPr lang="en-US" dirty="0"/>
              <a:t>Significant regardless of whether ROIs are grouped by region (e.g., average all four L LOC ROIs) or analyzed independently</a:t>
            </a:r>
          </a:p>
          <a:p>
            <a:pPr lvl="2"/>
            <a:r>
              <a:rPr lang="en-US" dirty="0"/>
              <a:t>Semantic RSA never significant</a:t>
            </a:r>
          </a:p>
          <a:p>
            <a:r>
              <a:rPr lang="en-US" dirty="0"/>
              <a:t>Effects primarily linked occipital-occipital</a:t>
            </a:r>
          </a:p>
          <a:p>
            <a:pPr lvl="1"/>
            <a:r>
              <a:rPr lang="en-US" dirty="0"/>
              <a:t>Within-occipital</a:t>
            </a:r>
          </a:p>
          <a:p>
            <a:pPr lvl="1"/>
            <a:r>
              <a:rPr lang="en-US" dirty="0"/>
              <a:t>PFC-occipital</a:t>
            </a:r>
          </a:p>
          <a:p>
            <a:pPr lvl="1"/>
            <a:r>
              <a:rPr lang="en-US" dirty="0"/>
              <a:t>Subcortical-occipital?</a:t>
            </a:r>
          </a:p>
          <a:p>
            <a:pPr lvl="2"/>
            <a:r>
              <a:rPr lang="en-US" dirty="0"/>
              <a:t>Basal ganglia &amp; thalamus</a:t>
            </a:r>
          </a:p>
          <a:p>
            <a:pPr lvl="1"/>
            <a:endParaRPr lang="en-US" dirty="0"/>
          </a:p>
        </p:txBody>
      </p:sp>
      <p:pic>
        <p:nvPicPr>
          <p:cNvPr id="5" name="Picture 4">
            <a:extLst>
              <a:ext uri="{FF2B5EF4-FFF2-40B4-BE49-F238E27FC236}">
                <a16:creationId xmlns:a16="http://schemas.microsoft.com/office/drawing/2014/main" id="{A748AC50-C876-393D-50A7-FEE1D6595E68}"/>
              </a:ext>
            </a:extLst>
          </p:cNvPr>
          <p:cNvPicPr>
            <a:picLocks noChangeAspect="1"/>
          </p:cNvPicPr>
          <p:nvPr/>
        </p:nvPicPr>
        <p:blipFill rotWithShape="1">
          <a:blip r:embed="rId2"/>
          <a:srcRect l="5741" t="17037" r="10742" b="12593"/>
          <a:stretch/>
        </p:blipFill>
        <p:spPr>
          <a:xfrm>
            <a:off x="6350000" y="1630363"/>
            <a:ext cx="5727700" cy="4826000"/>
          </a:xfrm>
          <a:prstGeom prst="rect">
            <a:avLst/>
          </a:prstGeom>
        </p:spPr>
      </p:pic>
      <p:sp>
        <p:nvSpPr>
          <p:cNvPr id="6" name="Oval 5">
            <a:extLst>
              <a:ext uri="{FF2B5EF4-FFF2-40B4-BE49-F238E27FC236}">
                <a16:creationId xmlns:a16="http://schemas.microsoft.com/office/drawing/2014/main" id="{BE2967A1-E1EF-9027-5399-16596D1C5DC7}"/>
              </a:ext>
            </a:extLst>
          </p:cNvPr>
          <p:cNvSpPr/>
          <p:nvPr/>
        </p:nvSpPr>
        <p:spPr>
          <a:xfrm>
            <a:off x="9639300" y="2633664"/>
            <a:ext cx="644524" cy="644524"/>
          </a:xfrm>
          <a:prstGeom prst="ellipse">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E2DA7ACA-D7C6-180E-173E-70B8373D22EE}"/>
              </a:ext>
            </a:extLst>
          </p:cNvPr>
          <p:cNvSpPr/>
          <p:nvPr/>
        </p:nvSpPr>
        <p:spPr>
          <a:xfrm>
            <a:off x="6797676" y="2665416"/>
            <a:ext cx="528636" cy="528636"/>
          </a:xfrm>
          <a:prstGeom prst="ellipse">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856C35C8-87EA-7E55-ED2B-9B8BB3ACE78E}"/>
              </a:ext>
            </a:extLst>
          </p:cNvPr>
          <p:cNvSpPr/>
          <p:nvPr/>
        </p:nvSpPr>
        <p:spPr>
          <a:xfrm>
            <a:off x="9729788" y="1736727"/>
            <a:ext cx="528636" cy="528636"/>
          </a:xfrm>
          <a:prstGeom prst="ellipse">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727022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044AF7-A27B-8877-5BD1-6375A4C29D3A}"/>
              </a:ext>
            </a:extLst>
          </p:cNvPr>
          <p:cNvSpPr>
            <a:spLocks noGrp="1"/>
          </p:cNvSpPr>
          <p:nvPr>
            <p:ph type="title"/>
          </p:nvPr>
        </p:nvSpPr>
        <p:spPr>
          <a:xfrm>
            <a:off x="838200" y="246855"/>
            <a:ext cx="10515600" cy="1325563"/>
          </a:xfrm>
        </p:spPr>
        <p:txBody>
          <a:bodyPr/>
          <a:lstStyle/>
          <a:p>
            <a:r>
              <a:rPr lang="en-US" dirty="0"/>
              <a:t>Conclusion</a:t>
            </a:r>
          </a:p>
        </p:txBody>
      </p:sp>
      <p:sp>
        <p:nvSpPr>
          <p:cNvPr id="3" name="Content Placeholder 2">
            <a:extLst>
              <a:ext uri="{FF2B5EF4-FFF2-40B4-BE49-F238E27FC236}">
                <a16:creationId xmlns:a16="http://schemas.microsoft.com/office/drawing/2014/main" id="{7CB0111B-93AA-D234-E5FF-A5DB8E39DA63}"/>
              </a:ext>
            </a:extLst>
          </p:cNvPr>
          <p:cNvSpPr>
            <a:spLocks noGrp="1"/>
          </p:cNvSpPr>
          <p:nvPr>
            <p:ph idx="1"/>
          </p:nvPr>
        </p:nvSpPr>
        <p:spPr>
          <a:xfrm>
            <a:off x="838200" y="1597025"/>
            <a:ext cx="10515600" cy="4351338"/>
          </a:xfrm>
        </p:spPr>
        <p:txBody>
          <a:bodyPr/>
          <a:lstStyle/>
          <a:p>
            <a:r>
              <a:rPr lang="en-US" dirty="0"/>
              <a:t>Representations do not just exist at the level of neural populations</a:t>
            </a:r>
          </a:p>
          <a:p>
            <a:r>
              <a:rPr lang="en-US" dirty="0"/>
              <a:t>Occipital results</a:t>
            </a:r>
          </a:p>
          <a:p>
            <a:pPr lvl="1"/>
            <a:r>
              <a:rPr lang="en-US" dirty="0"/>
              <a:t>Connectivity between subregions</a:t>
            </a:r>
          </a:p>
          <a:p>
            <a:pPr lvl="1"/>
            <a:r>
              <a:rPr lang="en-US" dirty="0"/>
              <a:t>Shows that representations cover wider a volume than typically believed</a:t>
            </a:r>
          </a:p>
          <a:p>
            <a:pPr lvl="1"/>
            <a:r>
              <a:rPr lang="en-US" dirty="0"/>
              <a:t>I previously identified similar patterns in analyses using the Human Connectome Project dataset</a:t>
            </a:r>
          </a:p>
          <a:p>
            <a:r>
              <a:rPr lang="en-US" dirty="0"/>
              <a:t>PFC-occipital results</a:t>
            </a:r>
          </a:p>
          <a:p>
            <a:pPr lvl="1"/>
            <a:r>
              <a:rPr lang="en-US" dirty="0"/>
              <a:t>Interesting?</a:t>
            </a:r>
          </a:p>
          <a:p>
            <a:endParaRPr lang="en-US" dirty="0"/>
          </a:p>
        </p:txBody>
      </p:sp>
    </p:spTree>
    <p:extLst>
      <p:ext uri="{BB962C8B-B14F-4D97-AF65-F5344CB8AC3E}">
        <p14:creationId xmlns:p14="http://schemas.microsoft.com/office/powerpoint/2010/main" val="31229959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CBF45-C298-FFA6-D98C-5660C50E7FF0}"/>
              </a:ext>
            </a:extLst>
          </p:cNvPr>
          <p:cNvSpPr>
            <a:spLocks noGrp="1"/>
          </p:cNvSpPr>
          <p:nvPr>
            <p:ph type="title"/>
          </p:nvPr>
        </p:nvSpPr>
        <p:spPr/>
        <p:txBody>
          <a:bodyPr/>
          <a:lstStyle/>
          <a:p>
            <a:r>
              <a:rPr lang="en-US" dirty="0"/>
              <a:t>Next steps</a:t>
            </a:r>
          </a:p>
        </p:txBody>
      </p:sp>
      <p:sp>
        <p:nvSpPr>
          <p:cNvPr id="3" name="Content Placeholder 2">
            <a:extLst>
              <a:ext uri="{FF2B5EF4-FFF2-40B4-BE49-F238E27FC236}">
                <a16:creationId xmlns:a16="http://schemas.microsoft.com/office/drawing/2014/main" id="{C021CDE5-9471-656C-B91A-838F811355EB}"/>
              </a:ext>
            </a:extLst>
          </p:cNvPr>
          <p:cNvSpPr>
            <a:spLocks noGrp="1"/>
          </p:cNvSpPr>
          <p:nvPr>
            <p:ph idx="1"/>
          </p:nvPr>
        </p:nvSpPr>
        <p:spPr/>
        <p:txBody>
          <a:bodyPr/>
          <a:lstStyle/>
          <a:p>
            <a:r>
              <a:rPr lang="en-US" dirty="0"/>
              <a:t>Obviously, compare YA vs. OA</a:t>
            </a:r>
          </a:p>
        </p:txBody>
      </p:sp>
    </p:spTree>
    <p:extLst>
      <p:ext uri="{BB962C8B-B14F-4D97-AF65-F5344CB8AC3E}">
        <p14:creationId xmlns:p14="http://schemas.microsoft.com/office/powerpoint/2010/main" val="6065078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32D5D-70FB-457F-F70D-466EFEB7713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767DF8C-B54B-7BAF-A713-7D32D4052C1C}"/>
              </a:ext>
            </a:extLst>
          </p:cNvPr>
          <p:cNvSpPr>
            <a:spLocks noGrp="1"/>
          </p:cNvSpPr>
          <p:nvPr>
            <p:ph idx="1"/>
          </p:nvPr>
        </p:nvSpPr>
        <p:spPr/>
        <p:txBody>
          <a:bodyPr/>
          <a:lstStyle/>
          <a:p>
            <a:endParaRPr lang="en-US" dirty="0"/>
          </a:p>
        </p:txBody>
      </p:sp>
      <p:pic>
        <p:nvPicPr>
          <p:cNvPr id="5" name="Picture 4">
            <a:extLst>
              <a:ext uri="{FF2B5EF4-FFF2-40B4-BE49-F238E27FC236}">
                <a16:creationId xmlns:a16="http://schemas.microsoft.com/office/drawing/2014/main" id="{253F1D8F-E07C-9298-F4B4-0AF52BF7BDF6}"/>
              </a:ext>
            </a:extLst>
          </p:cNvPr>
          <p:cNvPicPr>
            <a:picLocks noChangeAspect="1"/>
          </p:cNvPicPr>
          <p:nvPr/>
        </p:nvPicPr>
        <p:blipFill>
          <a:blip r:embed="rId2"/>
          <a:stretch>
            <a:fillRect/>
          </a:stretch>
        </p:blipFill>
        <p:spPr>
          <a:xfrm>
            <a:off x="2667000" y="0"/>
            <a:ext cx="6858000" cy="6858000"/>
          </a:xfrm>
          <a:prstGeom prst="rect">
            <a:avLst/>
          </a:prstGeom>
        </p:spPr>
      </p:pic>
      <p:pic>
        <p:nvPicPr>
          <p:cNvPr id="11" name="Picture 10">
            <a:extLst>
              <a:ext uri="{FF2B5EF4-FFF2-40B4-BE49-F238E27FC236}">
                <a16:creationId xmlns:a16="http://schemas.microsoft.com/office/drawing/2014/main" id="{0E6E57B8-33E3-0FB1-C165-B95F1FBBFE3E}"/>
              </a:ext>
            </a:extLst>
          </p:cNvPr>
          <p:cNvPicPr>
            <a:picLocks noChangeAspect="1"/>
          </p:cNvPicPr>
          <p:nvPr/>
        </p:nvPicPr>
        <p:blipFill>
          <a:blip r:embed="rId3"/>
          <a:stretch>
            <a:fillRect/>
          </a:stretch>
        </p:blipFill>
        <p:spPr>
          <a:xfrm>
            <a:off x="-5257800" y="4838700"/>
            <a:ext cx="6858000" cy="6858000"/>
          </a:xfrm>
          <a:prstGeom prst="rect">
            <a:avLst/>
          </a:prstGeom>
        </p:spPr>
      </p:pic>
    </p:spTree>
    <p:extLst>
      <p:ext uri="{BB962C8B-B14F-4D97-AF65-F5344CB8AC3E}">
        <p14:creationId xmlns:p14="http://schemas.microsoft.com/office/powerpoint/2010/main" val="18697276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79F212-9CA4-7A19-655D-0E2B38260C6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874E415-0A25-C0A1-E139-BF374D55ED9F}"/>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2EDA7084-062A-1ED1-9F84-E11E9BE9FFA1}"/>
              </a:ext>
            </a:extLst>
          </p:cNvPr>
          <p:cNvPicPr>
            <a:picLocks noChangeAspect="1"/>
          </p:cNvPicPr>
          <p:nvPr/>
        </p:nvPicPr>
        <p:blipFill>
          <a:blip r:embed="rId2"/>
          <a:stretch>
            <a:fillRect/>
          </a:stretch>
        </p:blipFill>
        <p:spPr>
          <a:xfrm>
            <a:off x="2667000" y="0"/>
            <a:ext cx="6858000" cy="6858000"/>
          </a:xfrm>
          <a:prstGeom prst="rect">
            <a:avLst/>
          </a:prstGeom>
        </p:spPr>
      </p:pic>
    </p:spTree>
    <p:extLst>
      <p:ext uri="{BB962C8B-B14F-4D97-AF65-F5344CB8AC3E}">
        <p14:creationId xmlns:p14="http://schemas.microsoft.com/office/powerpoint/2010/main" val="14632461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5F1BC-960D-7755-E3EC-B44D9C7614FE}"/>
              </a:ext>
            </a:extLst>
          </p:cNvPr>
          <p:cNvSpPr>
            <a:spLocks noGrp="1"/>
          </p:cNvSpPr>
          <p:nvPr>
            <p:ph type="title"/>
          </p:nvPr>
        </p:nvSpPr>
        <p:spPr/>
        <p:txBody>
          <a:bodyPr/>
          <a:lstStyle/>
          <a:p>
            <a:r>
              <a:rPr lang="en-US" dirty="0"/>
              <a:t>Power</a:t>
            </a:r>
          </a:p>
        </p:txBody>
      </p:sp>
      <p:sp>
        <p:nvSpPr>
          <p:cNvPr id="3" name="Content Placeholder 2">
            <a:extLst>
              <a:ext uri="{FF2B5EF4-FFF2-40B4-BE49-F238E27FC236}">
                <a16:creationId xmlns:a16="http://schemas.microsoft.com/office/drawing/2014/main" id="{8BAD20CC-1D88-5269-E902-10C4F83092E3}"/>
              </a:ext>
            </a:extLst>
          </p:cNvPr>
          <p:cNvSpPr>
            <a:spLocks noGrp="1"/>
          </p:cNvSpPr>
          <p:nvPr>
            <p:ph idx="1"/>
          </p:nvPr>
        </p:nvSpPr>
        <p:spPr/>
        <p:txBody>
          <a:bodyPr/>
          <a:lstStyle/>
          <a:p>
            <a:r>
              <a:rPr lang="en-US" dirty="0"/>
              <a:t>To increase power, average across multiple analyses with the same stimuli</a:t>
            </a:r>
          </a:p>
        </p:txBody>
      </p:sp>
    </p:spTree>
    <p:extLst>
      <p:ext uri="{BB962C8B-B14F-4D97-AF65-F5344CB8AC3E}">
        <p14:creationId xmlns:p14="http://schemas.microsoft.com/office/powerpoint/2010/main" val="36129902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36406-BE6A-43D1-8823-925981A4EA2E}"/>
              </a:ext>
            </a:extLst>
          </p:cNvPr>
          <p:cNvSpPr>
            <a:spLocks noGrp="1"/>
          </p:cNvSpPr>
          <p:nvPr>
            <p:ph type="ctrTitle"/>
          </p:nvPr>
        </p:nvSpPr>
        <p:spPr/>
        <p:txBody>
          <a:bodyPr/>
          <a:lstStyle/>
          <a:p>
            <a:r>
              <a:rPr lang="en-US" dirty="0"/>
              <a:t>Paul Update</a:t>
            </a:r>
          </a:p>
        </p:txBody>
      </p:sp>
      <p:sp>
        <p:nvSpPr>
          <p:cNvPr id="3" name="Subtitle 2">
            <a:extLst>
              <a:ext uri="{FF2B5EF4-FFF2-40B4-BE49-F238E27FC236}">
                <a16:creationId xmlns:a16="http://schemas.microsoft.com/office/drawing/2014/main" id="{18E9E69C-B0CF-4A44-A6F4-E20B91704211}"/>
              </a:ext>
            </a:extLst>
          </p:cNvPr>
          <p:cNvSpPr>
            <a:spLocks noGrp="1"/>
          </p:cNvSpPr>
          <p:nvPr>
            <p:ph type="subTitle" idx="1"/>
          </p:nvPr>
        </p:nvSpPr>
        <p:spPr/>
        <p:txBody>
          <a:bodyPr/>
          <a:lstStyle/>
          <a:p>
            <a:r>
              <a:rPr lang="en-US" dirty="0"/>
              <a:t>10/3/2023</a:t>
            </a:r>
          </a:p>
        </p:txBody>
      </p:sp>
    </p:spTree>
    <p:extLst>
      <p:ext uri="{BB962C8B-B14F-4D97-AF65-F5344CB8AC3E}">
        <p14:creationId xmlns:p14="http://schemas.microsoft.com/office/powerpoint/2010/main" val="14042340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628035-1AA9-D649-5FA6-920B4DE6C77A}"/>
              </a:ext>
            </a:extLst>
          </p:cNvPr>
          <p:cNvSpPr>
            <a:spLocks noGrp="1"/>
          </p:cNvSpPr>
          <p:nvPr>
            <p:ph type="title"/>
          </p:nvPr>
        </p:nvSpPr>
        <p:spPr>
          <a:xfrm>
            <a:off x="838200" y="233247"/>
            <a:ext cx="10515600" cy="1325563"/>
          </a:xfrm>
        </p:spPr>
        <p:txBody>
          <a:bodyPr/>
          <a:lstStyle/>
          <a:p>
            <a:r>
              <a:rPr lang="en-US" dirty="0"/>
              <a:t>Edge-based connectivity RSA</a:t>
            </a:r>
          </a:p>
        </p:txBody>
      </p:sp>
      <p:sp>
        <p:nvSpPr>
          <p:cNvPr id="3" name="Content Placeholder 2">
            <a:extLst>
              <a:ext uri="{FF2B5EF4-FFF2-40B4-BE49-F238E27FC236}">
                <a16:creationId xmlns:a16="http://schemas.microsoft.com/office/drawing/2014/main" id="{1100F770-7523-D6C5-ACEA-CBEC65E12F5D}"/>
              </a:ext>
            </a:extLst>
          </p:cNvPr>
          <p:cNvSpPr>
            <a:spLocks noGrp="1"/>
          </p:cNvSpPr>
          <p:nvPr>
            <p:ph idx="1"/>
          </p:nvPr>
        </p:nvSpPr>
        <p:spPr>
          <a:xfrm>
            <a:off x="838200" y="1610632"/>
            <a:ext cx="10515600" cy="4891767"/>
          </a:xfrm>
        </p:spPr>
        <p:txBody>
          <a:bodyPr>
            <a:normAutofit fontScale="85000" lnSpcReduction="20000"/>
          </a:bodyPr>
          <a:lstStyle/>
          <a:p>
            <a:r>
              <a:rPr lang="en-US" dirty="0"/>
              <a:t>Goal: Measure whether the connectivity patterns linking a pair of regions is linked to a model RDM in some way</a:t>
            </a:r>
          </a:p>
          <a:p>
            <a:r>
              <a:rPr lang="en-US" dirty="0"/>
              <a:t>IRAF x IRAF connectivity</a:t>
            </a:r>
          </a:p>
          <a:p>
            <a:r>
              <a:rPr lang="en-US" dirty="0"/>
              <a:t>Triple-connectivity RSA</a:t>
            </a:r>
          </a:p>
          <a:p>
            <a:pPr lvl="1"/>
            <a:r>
              <a:rPr lang="en-US" dirty="0"/>
              <a:t>This “triple correlation” measures whether the product of X &amp; Y is linked to high Z</a:t>
            </a:r>
          </a:p>
          <a:p>
            <a:pPr lvl="2"/>
            <a:r>
              <a:rPr lang="en-US" dirty="0"/>
              <a:t>Calculate: E[XYZ] – E[X]E[Y]E[Z]</a:t>
            </a:r>
          </a:p>
          <a:p>
            <a:pPr lvl="1"/>
            <a:r>
              <a:rPr lang="en-US" dirty="0"/>
              <a:t>i.e., measure whether model similarity (between trials 1 and 2) is linked to regions A and B </a:t>
            </a:r>
            <a:r>
              <a:rPr lang="en-US" i="1" dirty="0"/>
              <a:t>both </a:t>
            </a:r>
            <a:r>
              <a:rPr lang="en-US" dirty="0"/>
              <a:t>also showing similarity or </a:t>
            </a:r>
            <a:r>
              <a:rPr lang="en-US" i="1" dirty="0"/>
              <a:t>neither </a:t>
            </a:r>
            <a:r>
              <a:rPr lang="en-US" dirty="0"/>
              <a:t>showing similarity</a:t>
            </a:r>
          </a:p>
          <a:p>
            <a:r>
              <a:rPr lang="en-US" dirty="0"/>
              <a:t>Region-product RSA</a:t>
            </a:r>
          </a:p>
          <a:p>
            <a:pPr lvl="1"/>
            <a:r>
              <a:rPr lang="en-US" dirty="0"/>
              <a:t>Typically neural RDMs are calculated based on vectors representing BOLD activity for a given trial in one ROI</a:t>
            </a:r>
          </a:p>
          <a:p>
            <a:pPr lvl="1"/>
            <a:r>
              <a:rPr lang="en-US" dirty="0"/>
              <a:t>Here, I selected pairs of ROIs and calculated the elementwise products of their vectors </a:t>
            </a:r>
          </a:p>
          <a:p>
            <a:pPr lvl="2"/>
            <a:r>
              <a:rPr lang="en-US" dirty="0"/>
              <a:t>e.g., if vector A has 100 elements and vector B has 50 elements, then the product vector has 5000 elements, and it can be used to calculate the neural RDM</a:t>
            </a:r>
          </a:p>
          <a:p>
            <a:pPr lvl="1"/>
            <a:r>
              <a:rPr lang="en-US" dirty="0"/>
              <a:t>Also tried the elementwise absolute differences</a:t>
            </a:r>
          </a:p>
          <a:p>
            <a:endParaRPr lang="en-US" dirty="0"/>
          </a:p>
        </p:txBody>
      </p:sp>
    </p:spTree>
    <p:extLst>
      <p:ext uri="{BB962C8B-B14F-4D97-AF65-F5344CB8AC3E}">
        <p14:creationId xmlns:p14="http://schemas.microsoft.com/office/powerpoint/2010/main" val="22849668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E588D5-14F5-AD59-76B2-E6630626C97C}"/>
              </a:ext>
            </a:extLst>
          </p:cNvPr>
          <p:cNvSpPr>
            <a:spLocks noGrp="1"/>
          </p:cNvSpPr>
          <p:nvPr>
            <p:ph type="title"/>
          </p:nvPr>
        </p:nvSpPr>
        <p:spPr>
          <a:xfrm>
            <a:off x="838200" y="247761"/>
            <a:ext cx="10515600" cy="1325563"/>
          </a:xfrm>
        </p:spPr>
        <p:txBody>
          <a:bodyPr/>
          <a:lstStyle/>
          <a:p>
            <a:r>
              <a:rPr lang="en-US" dirty="0"/>
              <a:t>Network-based connectivity RSA</a:t>
            </a:r>
          </a:p>
        </p:txBody>
      </p:sp>
      <p:sp>
        <p:nvSpPr>
          <p:cNvPr id="3" name="Content Placeholder 2">
            <a:extLst>
              <a:ext uri="{FF2B5EF4-FFF2-40B4-BE49-F238E27FC236}">
                <a16:creationId xmlns:a16="http://schemas.microsoft.com/office/drawing/2014/main" id="{32B831F2-92A6-C3C1-A767-887C7E4A8D53}"/>
              </a:ext>
            </a:extLst>
          </p:cNvPr>
          <p:cNvSpPr>
            <a:spLocks noGrp="1"/>
          </p:cNvSpPr>
          <p:nvPr>
            <p:ph idx="1"/>
          </p:nvPr>
        </p:nvSpPr>
        <p:spPr>
          <a:xfrm>
            <a:off x="838200" y="1521048"/>
            <a:ext cx="10515600" cy="5089191"/>
          </a:xfrm>
        </p:spPr>
        <p:txBody>
          <a:bodyPr>
            <a:normAutofit fontScale="85000" lnSpcReduction="20000"/>
          </a:bodyPr>
          <a:lstStyle/>
          <a:p>
            <a:r>
              <a:rPr lang="en-US" dirty="0"/>
              <a:t>Goal: Measure whether the connectivity pattern among a set of regions is linked to a model RDM in some way</a:t>
            </a:r>
          </a:p>
          <a:p>
            <a:pPr lvl="1"/>
            <a:r>
              <a:rPr lang="en-US" dirty="0"/>
              <a:t>e.g., are perceptual features represented in the connectivity between 20 different occipital sub-regions?</a:t>
            </a:r>
          </a:p>
          <a:p>
            <a:pPr lvl="1"/>
            <a:r>
              <a:rPr lang="en-US" dirty="0"/>
              <a:t>If it is possible to measure connectivity on a single-trial basis, then you could create a neural vector based on just the 190 connections among the 20 regions, then use that to create the RDM</a:t>
            </a:r>
          </a:p>
          <a:p>
            <a:pPr lvl="2"/>
            <a:r>
              <a:rPr lang="en-US" dirty="0"/>
              <a:t>However, it is unclear how one could measure connectivity for a single trial, given that connectivity is a relationship over time, but a single trial is generally seen as a single time point</a:t>
            </a:r>
          </a:p>
          <a:p>
            <a:r>
              <a:rPr lang="en-US" dirty="0"/>
              <a:t>To calculate single-trial connectivity, I tried:</a:t>
            </a:r>
          </a:p>
          <a:p>
            <a:pPr lvl="1"/>
            <a:r>
              <a:rPr lang="en-US" dirty="0"/>
              <a:t>For the encoding session: Measuring the correlations between single-trial beta for scene presentation x object presentation</a:t>
            </a:r>
          </a:p>
          <a:p>
            <a:pPr lvl="2"/>
            <a:r>
              <a:rPr lang="en-US" dirty="0"/>
              <a:t>Correlation between two time points. This will always yield -1 or 1</a:t>
            </a:r>
          </a:p>
          <a:p>
            <a:pPr lvl="1"/>
            <a:r>
              <a:rPr lang="en-US" dirty="0"/>
              <a:t>For the baseline session: Taking the four TRs following object presentation, and measuring connectivity among those</a:t>
            </a:r>
          </a:p>
          <a:p>
            <a:pPr lvl="1"/>
            <a:r>
              <a:rPr lang="en-US" dirty="0"/>
              <a:t>Region product procedure</a:t>
            </a:r>
          </a:p>
          <a:p>
            <a:pPr lvl="1"/>
            <a:r>
              <a:rPr lang="en-US" dirty="0"/>
              <a:t>Along with attempting RSA, I tried using this single-trial approach to measure item-wise similarity between baseline and encoding responses (analogous to encoding-retrieval similarity)</a:t>
            </a:r>
          </a:p>
          <a:p>
            <a:pPr lvl="1"/>
            <a:endParaRPr lang="en-US" dirty="0"/>
          </a:p>
        </p:txBody>
      </p:sp>
    </p:spTree>
    <p:extLst>
      <p:ext uri="{BB962C8B-B14F-4D97-AF65-F5344CB8AC3E}">
        <p14:creationId xmlns:p14="http://schemas.microsoft.com/office/powerpoint/2010/main" val="9943700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5A647B-1A50-75FC-23AB-AA4E2C92944E}"/>
              </a:ext>
            </a:extLst>
          </p:cNvPr>
          <p:cNvSpPr>
            <a:spLocks noGrp="1"/>
          </p:cNvSpPr>
          <p:nvPr>
            <p:ph type="title"/>
          </p:nvPr>
        </p:nvSpPr>
        <p:spPr/>
        <p:txBody>
          <a:bodyPr/>
          <a:lstStyle/>
          <a:p>
            <a:r>
              <a:rPr lang="en-US" dirty="0"/>
              <a:t>Single trial connectivity</a:t>
            </a:r>
          </a:p>
        </p:txBody>
      </p:sp>
      <p:sp>
        <p:nvSpPr>
          <p:cNvPr id="3" name="Content Placeholder 2">
            <a:extLst>
              <a:ext uri="{FF2B5EF4-FFF2-40B4-BE49-F238E27FC236}">
                <a16:creationId xmlns:a16="http://schemas.microsoft.com/office/drawing/2014/main" id="{907E8725-AB96-F1FC-2177-E0DDC8FC5138}"/>
              </a:ext>
            </a:extLst>
          </p:cNvPr>
          <p:cNvSpPr>
            <a:spLocks noGrp="1"/>
          </p:cNvSpPr>
          <p:nvPr>
            <p:ph idx="1"/>
          </p:nvPr>
        </p:nvSpPr>
        <p:spPr>
          <a:xfrm>
            <a:off x="838200" y="1825625"/>
            <a:ext cx="5179772" cy="4351338"/>
          </a:xfrm>
        </p:spPr>
        <p:txBody>
          <a:bodyPr/>
          <a:lstStyle/>
          <a:p>
            <a:r>
              <a:rPr lang="en-US" dirty="0"/>
              <a:t>The method I used (4 TRs in each trial) yields reasonable networks</a:t>
            </a:r>
          </a:p>
          <a:p>
            <a:pPr lvl="1"/>
            <a:r>
              <a:rPr lang="en-US" dirty="0"/>
              <a:t>Averaged across all trials</a:t>
            </a:r>
          </a:p>
        </p:txBody>
      </p:sp>
      <p:pic>
        <p:nvPicPr>
          <p:cNvPr id="7" name="Picture 6">
            <a:extLst>
              <a:ext uri="{FF2B5EF4-FFF2-40B4-BE49-F238E27FC236}">
                <a16:creationId xmlns:a16="http://schemas.microsoft.com/office/drawing/2014/main" id="{48445FD9-FB4B-004A-C398-20A8F3A16AB0}"/>
              </a:ext>
            </a:extLst>
          </p:cNvPr>
          <p:cNvPicPr>
            <a:picLocks noChangeAspect="1"/>
          </p:cNvPicPr>
          <p:nvPr/>
        </p:nvPicPr>
        <p:blipFill>
          <a:blip r:embed="rId2"/>
          <a:stretch>
            <a:fillRect/>
          </a:stretch>
        </p:blipFill>
        <p:spPr>
          <a:xfrm>
            <a:off x="6766693" y="1411407"/>
            <a:ext cx="5179773" cy="5179773"/>
          </a:xfrm>
          <a:prstGeom prst="rect">
            <a:avLst/>
          </a:prstGeom>
        </p:spPr>
      </p:pic>
    </p:spTree>
    <p:extLst>
      <p:ext uri="{BB962C8B-B14F-4D97-AF65-F5344CB8AC3E}">
        <p14:creationId xmlns:p14="http://schemas.microsoft.com/office/powerpoint/2010/main" val="41052267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02F1CF-5ECC-EB51-0169-09620A806DF2}"/>
              </a:ext>
            </a:extLst>
          </p:cNvPr>
          <p:cNvSpPr>
            <a:spLocks noGrp="1"/>
          </p:cNvSpPr>
          <p:nvPr>
            <p:ph type="title"/>
          </p:nvPr>
        </p:nvSpPr>
        <p:spPr>
          <a:xfrm>
            <a:off x="838200" y="365125"/>
            <a:ext cx="3924300" cy="1325563"/>
          </a:xfrm>
        </p:spPr>
        <p:txBody>
          <a:bodyPr/>
          <a:lstStyle/>
          <a:p>
            <a:endParaRPr lang="en-US" dirty="0"/>
          </a:p>
        </p:txBody>
      </p:sp>
      <p:sp>
        <p:nvSpPr>
          <p:cNvPr id="3" name="Content Placeholder 2">
            <a:extLst>
              <a:ext uri="{FF2B5EF4-FFF2-40B4-BE49-F238E27FC236}">
                <a16:creationId xmlns:a16="http://schemas.microsoft.com/office/drawing/2014/main" id="{7EDB2C85-D313-3050-77DB-EAF92B2E85E6}"/>
              </a:ext>
            </a:extLst>
          </p:cNvPr>
          <p:cNvSpPr>
            <a:spLocks noGrp="1"/>
          </p:cNvSpPr>
          <p:nvPr>
            <p:ph idx="1"/>
          </p:nvPr>
        </p:nvSpPr>
        <p:spPr>
          <a:xfrm>
            <a:off x="838200" y="1825625"/>
            <a:ext cx="4483100" cy="4351338"/>
          </a:xfrm>
        </p:spPr>
        <p:txBody>
          <a:bodyPr/>
          <a:lstStyle/>
          <a:p>
            <a:r>
              <a:rPr lang="en-US" dirty="0"/>
              <a:t>RSA based on connectivity strength of a single edge</a:t>
            </a:r>
          </a:p>
          <a:p>
            <a:r>
              <a:rPr lang="en-US" dirty="0"/>
              <a:t>Semantic shown here</a:t>
            </a:r>
          </a:p>
          <a:p>
            <a:pPr marL="0" indent="0">
              <a:buNone/>
            </a:pPr>
            <a:r>
              <a:rPr lang="en-US" dirty="0"/>
              <a:t>	&gt;:|</a:t>
            </a:r>
          </a:p>
        </p:txBody>
      </p:sp>
      <p:pic>
        <p:nvPicPr>
          <p:cNvPr id="5" name="Picture 4">
            <a:extLst>
              <a:ext uri="{FF2B5EF4-FFF2-40B4-BE49-F238E27FC236}">
                <a16:creationId xmlns:a16="http://schemas.microsoft.com/office/drawing/2014/main" id="{FCD6D2C0-24B6-D23D-4C01-4AA2B97CBD47}"/>
              </a:ext>
            </a:extLst>
          </p:cNvPr>
          <p:cNvPicPr>
            <a:picLocks noChangeAspect="1"/>
          </p:cNvPicPr>
          <p:nvPr/>
        </p:nvPicPr>
        <p:blipFill rotWithShape="1">
          <a:blip r:embed="rId2"/>
          <a:srcRect t="19260"/>
          <a:stretch/>
        </p:blipFill>
        <p:spPr>
          <a:xfrm>
            <a:off x="5207000" y="1320800"/>
            <a:ext cx="6858000" cy="5537200"/>
          </a:xfrm>
          <a:prstGeom prst="rect">
            <a:avLst/>
          </a:prstGeom>
        </p:spPr>
      </p:pic>
    </p:spTree>
    <p:extLst>
      <p:ext uri="{BB962C8B-B14F-4D97-AF65-F5344CB8AC3E}">
        <p14:creationId xmlns:p14="http://schemas.microsoft.com/office/powerpoint/2010/main" val="28246043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EECED8-2C29-2CF6-D8A0-C4C9B22C9018}"/>
              </a:ext>
            </a:extLst>
          </p:cNvPr>
          <p:cNvSpPr>
            <a:spLocks noGrp="1"/>
          </p:cNvSpPr>
          <p:nvPr>
            <p:ph type="title"/>
          </p:nvPr>
        </p:nvSpPr>
        <p:spPr/>
        <p:txBody>
          <a:bodyPr/>
          <a:lstStyle/>
          <a:p>
            <a:r>
              <a:rPr lang="en-US" dirty="0"/>
              <a:t>Justifying the use of the </a:t>
            </a:r>
            <a:r>
              <a:rPr lang="en-US" dirty="0" err="1"/>
              <a:t>SchemeRep</a:t>
            </a:r>
            <a:r>
              <a:rPr lang="en-US" dirty="0"/>
              <a:t> data specifically</a:t>
            </a:r>
          </a:p>
        </p:txBody>
      </p:sp>
      <p:sp>
        <p:nvSpPr>
          <p:cNvPr id="3" name="Content Placeholder 2">
            <a:extLst>
              <a:ext uri="{FF2B5EF4-FFF2-40B4-BE49-F238E27FC236}">
                <a16:creationId xmlns:a16="http://schemas.microsoft.com/office/drawing/2014/main" id="{E008C34F-2BB8-3435-6F27-935A14603C68}"/>
              </a:ext>
            </a:extLst>
          </p:cNvPr>
          <p:cNvSpPr>
            <a:spLocks noGrp="1"/>
          </p:cNvSpPr>
          <p:nvPr>
            <p:ph idx="1"/>
          </p:nvPr>
        </p:nvSpPr>
        <p:spPr/>
        <p:txBody>
          <a:bodyPr/>
          <a:lstStyle/>
          <a:p>
            <a:r>
              <a:rPr lang="en-US" dirty="0"/>
              <a:t>The </a:t>
            </a:r>
            <a:r>
              <a:rPr lang="en-US" dirty="0" err="1"/>
              <a:t>SchemeRep</a:t>
            </a:r>
            <a:r>
              <a:rPr lang="en-US" dirty="0"/>
              <a:t> dataset shows the same stimulus multiple times</a:t>
            </a:r>
          </a:p>
        </p:txBody>
      </p:sp>
    </p:spTree>
    <p:extLst>
      <p:ext uri="{BB962C8B-B14F-4D97-AF65-F5344CB8AC3E}">
        <p14:creationId xmlns:p14="http://schemas.microsoft.com/office/powerpoint/2010/main" val="33126532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36406-BE6A-43D1-8823-925981A4EA2E}"/>
              </a:ext>
            </a:extLst>
          </p:cNvPr>
          <p:cNvSpPr>
            <a:spLocks noGrp="1"/>
          </p:cNvSpPr>
          <p:nvPr>
            <p:ph type="ctrTitle"/>
          </p:nvPr>
        </p:nvSpPr>
        <p:spPr/>
        <p:txBody>
          <a:bodyPr/>
          <a:lstStyle/>
          <a:p>
            <a:r>
              <a:rPr lang="en-US" dirty="0"/>
              <a:t>Some analyses</a:t>
            </a:r>
          </a:p>
        </p:txBody>
      </p:sp>
      <p:sp>
        <p:nvSpPr>
          <p:cNvPr id="3" name="Subtitle 2">
            <a:extLst>
              <a:ext uri="{FF2B5EF4-FFF2-40B4-BE49-F238E27FC236}">
                <a16:creationId xmlns:a16="http://schemas.microsoft.com/office/drawing/2014/main" id="{18E9E69C-B0CF-4A44-A6F4-E20B91704211}"/>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33365999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4356F6-E6CA-E70B-1743-FFFE221C455C}"/>
              </a:ext>
            </a:extLst>
          </p:cNvPr>
          <p:cNvSpPr>
            <a:spLocks noGrp="1"/>
          </p:cNvSpPr>
          <p:nvPr>
            <p:ph type="title"/>
          </p:nvPr>
        </p:nvSpPr>
        <p:spPr>
          <a:xfrm>
            <a:off x="838200" y="0"/>
            <a:ext cx="10515600" cy="1325563"/>
          </a:xfrm>
        </p:spPr>
        <p:txBody>
          <a:bodyPr>
            <a:normAutofit/>
          </a:bodyPr>
          <a:lstStyle/>
          <a:p>
            <a:r>
              <a:rPr lang="en-US" sz="4000" dirty="0"/>
              <a:t>Significance testing and permutation testing</a:t>
            </a:r>
          </a:p>
        </p:txBody>
      </p:sp>
      <p:sp>
        <p:nvSpPr>
          <p:cNvPr id="3" name="Content Placeholder 2">
            <a:extLst>
              <a:ext uri="{FF2B5EF4-FFF2-40B4-BE49-F238E27FC236}">
                <a16:creationId xmlns:a16="http://schemas.microsoft.com/office/drawing/2014/main" id="{9E68F6A3-4B31-926E-60B3-368BE35B1E42}"/>
              </a:ext>
            </a:extLst>
          </p:cNvPr>
          <p:cNvSpPr>
            <a:spLocks noGrp="1"/>
          </p:cNvSpPr>
          <p:nvPr>
            <p:ph idx="1"/>
          </p:nvPr>
        </p:nvSpPr>
        <p:spPr>
          <a:xfrm>
            <a:off x="838200" y="1154719"/>
            <a:ext cx="10515600" cy="4351338"/>
          </a:xfrm>
        </p:spPr>
        <p:txBody>
          <a:bodyPr/>
          <a:lstStyle/>
          <a:p>
            <a:r>
              <a:rPr lang="en-US" dirty="0"/>
              <a:t>Investigated whether current multiple hypothesis correction strategies are too strict, via doing permutation-testing</a:t>
            </a:r>
          </a:p>
        </p:txBody>
      </p:sp>
      <p:pic>
        <p:nvPicPr>
          <p:cNvPr id="11" name="Picture 10">
            <a:extLst>
              <a:ext uri="{FF2B5EF4-FFF2-40B4-BE49-F238E27FC236}">
                <a16:creationId xmlns:a16="http://schemas.microsoft.com/office/drawing/2014/main" id="{554D1F4C-0CDB-6FFE-345C-70F650D67ED5}"/>
              </a:ext>
            </a:extLst>
          </p:cNvPr>
          <p:cNvPicPr>
            <a:picLocks noChangeAspect="1"/>
          </p:cNvPicPr>
          <p:nvPr/>
        </p:nvPicPr>
        <p:blipFill>
          <a:blip r:embed="rId3"/>
          <a:stretch>
            <a:fillRect/>
          </a:stretch>
        </p:blipFill>
        <p:spPr>
          <a:xfrm>
            <a:off x="6096000" y="2118706"/>
            <a:ext cx="6096000" cy="4572000"/>
          </a:xfrm>
          <a:prstGeom prst="rect">
            <a:avLst/>
          </a:prstGeom>
        </p:spPr>
      </p:pic>
      <p:pic>
        <p:nvPicPr>
          <p:cNvPr id="13" name="Picture 12">
            <a:extLst>
              <a:ext uri="{FF2B5EF4-FFF2-40B4-BE49-F238E27FC236}">
                <a16:creationId xmlns:a16="http://schemas.microsoft.com/office/drawing/2014/main" id="{50879747-886A-C472-F9AF-FCD33BF8602C}"/>
              </a:ext>
            </a:extLst>
          </p:cNvPr>
          <p:cNvPicPr>
            <a:picLocks noChangeAspect="1"/>
          </p:cNvPicPr>
          <p:nvPr/>
        </p:nvPicPr>
        <p:blipFill>
          <a:blip r:embed="rId4"/>
          <a:stretch>
            <a:fillRect/>
          </a:stretch>
        </p:blipFill>
        <p:spPr>
          <a:xfrm>
            <a:off x="119864" y="2144882"/>
            <a:ext cx="6096000" cy="4572000"/>
          </a:xfrm>
          <a:prstGeom prst="rect">
            <a:avLst/>
          </a:prstGeom>
        </p:spPr>
      </p:pic>
    </p:spTree>
    <p:extLst>
      <p:ext uri="{BB962C8B-B14F-4D97-AF65-F5344CB8AC3E}">
        <p14:creationId xmlns:p14="http://schemas.microsoft.com/office/powerpoint/2010/main" val="4424365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9EE673-BC06-C844-FC5D-509C3B80C07B}"/>
              </a:ext>
            </a:extLst>
          </p:cNvPr>
          <p:cNvSpPr>
            <a:spLocks noGrp="1"/>
          </p:cNvSpPr>
          <p:nvPr>
            <p:ph type="title"/>
          </p:nvPr>
        </p:nvSpPr>
        <p:spPr/>
        <p:txBody>
          <a:bodyPr/>
          <a:lstStyle/>
          <a:p>
            <a:r>
              <a:rPr lang="en-US" dirty="0"/>
              <a:t>RSA with functional connectivity</a:t>
            </a:r>
          </a:p>
        </p:txBody>
      </p:sp>
      <p:sp>
        <p:nvSpPr>
          <p:cNvPr id="3" name="Content Placeholder 2">
            <a:extLst>
              <a:ext uri="{FF2B5EF4-FFF2-40B4-BE49-F238E27FC236}">
                <a16:creationId xmlns:a16="http://schemas.microsoft.com/office/drawing/2014/main" id="{BC34BB5B-5926-5269-9C68-D70AD7F358B2}"/>
              </a:ext>
            </a:extLst>
          </p:cNvPr>
          <p:cNvSpPr>
            <a:spLocks noGrp="1"/>
          </p:cNvSpPr>
          <p:nvPr>
            <p:ph idx="1"/>
          </p:nvPr>
        </p:nvSpPr>
        <p:spPr>
          <a:xfrm>
            <a:off x="838200" y="1825625"/>
            <a:ext cx="10515600" cy="4667250"/>
          </a:xfrm>
        </p:spPr>
        <p:txBody>
          <a:bodyPr>
            <a:normAutofit fontScale="92500" lnSpcReduction="10000"/>
          </a:bodyPr>
          <a:lstStyle/>
          <a:p>
            <a:r>
              <a:rPr lang="en-US" dirty="0"/>
              <a:t>RSA depends on trial-level measurements</a:t>
            </a:r>
          </a:p>
          <a:p>
            <a:pPr lvl="1"/>
            <a:r>
              <a:rPr lang="en-US" dirty="0"/>
              <a:t>E.g., single-trial betas</a:t>
            </a:r>
          </a:p>
          <a:p>
            <a:pPr lvl="1"/>
            <a:r>
              <a:rPr lang="en-US" dirty="0"/>
              <a:t>Needed for measuring similarity between trials</a:t>
            </a:r>
          </a:p>
          <a:p>
            <a:r>
              <a:rPr lang="en-US" dirty="0"/>
              <a:t>How can connectivity be calculated for a single trial?</a:t>
            </a:r>
          </a:p>
          <a:p>
            <a:pPr lvl="1"/>
            <a:r>
              <a:rPr lang="en-US" dirty="0"/>
              <a:t>Baseline session trials involve the presentation of an image and are 8 seconds long</a:t>
            </a:r>
          </a:p>
          <a:p>
            <a:pPr lvl="1"/>
            <a:r>
              <a:rPr lang="en-US" dirty="0"/>
              <a:t>I tried taking the 3-4 TRs following an image and measuring connectivity based on that</a:t>
            </a:r>
          </a:p>
          <a:p>
            <a:pPr lvl="2"/>
            <a:r>
              <a:rPr lang="en-US" dirty="0"/>
              <a:t>Attempted to perform RSA based on occipital connectivity</a:t>
            </a:r>
          </a:p>
          <a:p>
            <a:r>
              <a:rPr lang="en-US" dirty="0"/>
              <a:t>It did not work</a:t>
            </a:r>
          </a:p>
          <a:p>
            <a:pPr lvl="1"/>
            <a:r>
              <a:rPr lang="en-US" dirty="0"/>
              <a:t>Potentially, the analysis was just too crude, as I simply took BOLD activation and did not fit any GLM</a:t>
            </a:r>
          </a:p>
          <a:p>
            <a:pPr lvl="1"/>
            <a:r>
              <a:rPr lang="en-US" dirty="0"/>
              <a:t>In either case, in testing this, I took a close look at the file structure and Shenyang’s single-trial beta code. I couldn’t find any bugs</a:t>
            </a:r>
          </a:p>
        </p:txBody>
      </p:sp>
    </p:spTree>
    <p:extLst>
      <p:ext uri="{BB962C8B-B14F-4D97-AF65-F5344CB8AC3E}">
        <p14:creationId xmlns:p14="http://schemas.microsoft.com/office/powerpoint/2010/main" val="18300814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6F8A30-9097-C6DF-4F19-3F47E35CCC35}"/>
              </a:ext>
            </a:extLst>
          </p:cNvPr>
          <p:cNvSpPr>
            <a:spLocks noGrp="1"/>
          </p:cNvSpPr>
          <p:nvPr>
            <p:ph type="title"/>
          </p:nvPr>
        </p:nvSpPr>
        <p:spPr/>
        <p:txBody>
          <a:bodyPr/>
          <a:lstStyle/>
          <a:p>
            <a:r>
              <a:rPr lang="en-US" dirty="0"/>
              <a:t>Modularity</a:t>
            </a:r>
          </a:p>
        </p:txBody>
      </p:sp>
      <p:pic>
        <p:nvPicPr>
          <p:cNvPr id="7" name="Content Placeholder 6" descr="A diagram of a brain&#10;&#10;Description automatically generated">
            <a:extLst>
              <a:ext uri="{FF2B5EF4-FFF2-40B4-BE49-F238E27FC236}">
                <a16:creationId xmlns:a16="http://schemas.microsoft.com/office/drawing/2014/main" id="{F876F9C2-1A68-4477-18E0-142F7A385BAD}"/>
              </a:ext>
            </a:extLst>
          </p:cNvPr>
          <p:cNvPicPr>
            <a:picLocks noGrp="1" noChangeAspect="1"/>
          </p:cNvPicPr>
          <p:nvPr>
            <p:ph idx="1"/>
          </p:nvPr>
        </p:nvPicPr>
        <p:blipFill rotWithShape="1">
          <a:blip r:embed="rId3">
            <a:extLst>
              <a:ext uri="{28A0092B-C50C-407E-A947-70E740481C1C}">
                <a14:useLocalDpi xmlns:a14="http://schemas.microsoft.com/office/drawing/2010/main" val="0"/>
              </a:ext>
            </a:extLst>
          </a:blip>
          <a:srcRect l="35200" t="10834"/>
          <a:stretch/>
        </p:blipFill>
        <p:spPr>
          <a:xfrm>
            <a:off x="6455028" y="1658919"/>
            <a:ext cx="5323645" cy="2907207"/>
          </a:xfrm>
        </p:spPr>
      </p:pic>
      <p:pic>
        <p:nvPicPr>
          <p:cNvPr id="5" name="Picture 4">
            <a:extLst>
              <a:ext uri="{FF2B5EF4-FFF2-40B4-BE49-F238E27FC236}">
                <a16:creationId xmlns:a16="http://schemas.microsoft.com/office/drawing/2014/main" id="{3A1B3735-50A5-ED6C-FCA7-924BC8814968}"/>
              </a:ext>
            </a:extLst>
          </p:cNvPr>
          <p:cNvPicPr>
            <a:picLocks noChangeAspect="1"/>
          </p:cNvPicPr>
          <p:nvPr/>
        </p:nvPicPr>
        <p:blipFill>
          <a:blip r:embed="rId4"/>
          <a:stretch>
            <a:fillRect/>
          </a:stretch>
        </p:blipFill>
        <p:spPr>
          <a:xfrm>
            <a:off x="615338" y="1658920"/>
            <a:ext cx="5323645" cy="2907206"/>
          </a:xfrm>
          <a:prstGeom prst="rect">
            <a:avLst/>
          </a:prstGeom>
        </p:spPr>
      </p:pic>
      <p:sp>
        <p:nvSpPr>
          <p:cNvPr id="8" name="Content Placeholder 2">
            <a:extLst>
              <a:ext uri="{FF2B5EF4-FFF2-40B4-BE49-F238E27FC236}">
                <a16:creationId xmlns:a16="http://schemas.microsoft.com/office/drawing/2014/main" id="{069D59E4-3E30-5031-69BE-D146CFE67648}"/>
              </a:ext>
            </a:extLst>
          </p:cNvPr>
          <p:cNvSpPr txBox="1">
            <a:spLocks/>
          </p:cNvSpPr>
          <p:nvPr/>
        </p:nvSpPr>
        <p:spPr>
          <a:xfrm>
            <a:off x="838200" y="5199080"/>
            <a:ext cx="10515600" cy="98150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dirty="0"/>
              <a:t>Replicate modules identified by </a:t>
            </a:r>
            <a:r>
              <a:rPr lang="en-US" dirty="0" err="1"/>
              <a:t>Lifu</a:t>
            </a:r>
            <a:endParaRPr lang="en-US" dirty="0"/>
          </a:p>
        </p:txBody>
      </p:sp>
    </p:spTree>
    <p:extLst>
      <p:ext uri="{BB962C8B-B14F-4D97-AF65-F5344CB8AC3E}">
        <p14:creationId xmlns:p14="http://schemas.microsoft.com/office/powerpoint/2010/main" val="22545744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36406-BE6A-43D1-8823-925981A4EA2E}"/>
              </a:ext>
            </a:extLst>
          </p:cNvPr>
          <p:cNvSpPr>
            <a:spLocks noGrp="1"/>
          </p:cNvSpPr>
          <p:nvPr>
            <p:ph type="ctrTitle"/>
          </p:nvPr>
        </p:nvSpPr>
        <p:spPr/>
        <p:txBody>
          <a:bodyPr/>
          <a:lstStyle/>
          <a:p>
            <a:r>
              <a:rPr lang="en-US" dirty="0"/>
              <a:t>Task idea </a:t>
            </a:r>
          </a:p>
        </p:txBody>
      </p:sp>
      <p:sp>
        <p:nvSpPr>
          <p:cNvPr id="3" name="Subtitle 2">
            <a:extLst>
              <a:ext uri="{FF2B5EF4-FFF2-40B4-BE49-F238E27FC236}">
                <a16:creationId xmlns:a16="http://schemas.microsoft.com/office/drawing/2014/main" id="{18E9E69C-B0CF-4A44-A6F4-E20B91704211}"/>
              </a:ext>
            </a:extLst>
          </p:cNvPr>
          <p:cNvSpPr>
            <a:spLocks noGrp="1"/>
          </p:cNvSpPr>
          <p:nvPr>
            <p:ph type="subTitle" idx="1"/>
          </p:nvPr>
        </p:nvSpPr>
        <p:spPr/>
        <p:txBody>
          <a:bodyPr/>
          <a:lstStyle/>
          <a:p>
            <a:r>
              <a:rPr lang="en-US" dirty="0"/>
              <a:t>10/30/2023</a:t>
            </a:r>
          </a:p>
        </p:txBody>
      </p:sp>
    </p:spTree>
    <p:extLst>
      <p:ext uri="{BB962C8B-B14F-4D97-AF65-F5344CB8AC3E}">
        <p14:creationId xmlns:p14="http://schemas.microsoft.com/office/powerpoint/2010/main" val="38046045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137C23-03B7-053C-2693-C9875AF59208}"/>
              </a:ext>
            </a:extLst>
          </p:cNvPr>
          <p:cNvSpPr>
            <a:spLocks noGrp="1"/>
          </p:cNvSpPr>
          <p:nvPr>
            <p:ph type="title"/>
          </p:nvPr>
        </p:nvSpPr>
        <p:spPr>
          <a:xfrm>
            <a:off x="937416" y="11438"/>
            <a:ext cx="10515600" cy="1325563"/>
          </a:xfrm>
        </p:spPr>
        <p:txBody>
          <a:bodyPr/>
          <a:lstStyle/>
          <a:p>
            <a:r>
              <a:rPr lang="en-US" dirty="0"/>
              <a:t>What are we doing?</a:t>
            </a:r>
          </a:p>
        </p:txBody>
      </p:sp>
      <p:sp>
        <p:nvSpPr>
          <p:cNvPr id="3" name="Content Placeholder 2">
            <a:extLst>
              <a:ext uri="{FF2B5EF4-FFF2-40B4-BE49-F238E27FC236}">
                <a16:creationId xmlns:a16="http://schemas.microsoft.com/office/drawing/2014/main" id="{EBA5DF13-D6AC-47BF-42D5-C40899F26B61}"/>
              </a:ext>
            </a:extLst>
          </p:cNvPr>
          <p:cNvSpPr>
            <a:spLocks noGrp="1"/>
          </p:cNvSpPr>
          <p:nvPr>
            <p:ph idx="1"/>
          </p:nvPr>
        </p:nvSpPr>
        <p:spPr>
          <a:xfrm>
            <a:off x="173063" y="1343880"/>
            <a:ext cx="8949218" cy="5502681"/>
          </a:xfrm>
        </p:spPr>
        <p:txBody>
          <a:bodyPr>
            <a:normAutofit fontScale="85000" lnSpcReduction="20000"/>
          </a:bodyPr>
          <a:lstStyle/>
          <a:p>
            <a:r>
              <a:rPr lang="en-US" dirty="0"/>
              <a:t>What memory processes are tested?</a:t>
            </a:r>
          </a:p>
          <a:p>
            <a:pPr lvl="1"/>
            <a:r>
              <a:rPr lang="en-US" dirty="0">
                <a:solidFill>
                  <a:srgbClr val="FF0000"/>
                </a:solidFill>
              </a:rPr>
              <a:t>Participants are not encoding “steaks are made from cows” or “steaks and cows are related”. They already know this</a:t>
            </a:r>
          </a:p>
          <a:p>
            <a:pPr lvl="2"/>
            <a:r>
              <a:rPr lang="en-US" dirty="0"/>
              <a:t>Formally, participants have already formed a relation between their </a:t>
            </a:r>
            <a:r>
              <a:rPr lang="en-US" i="1" dirty="0"/>
              <a:t>cow schema </a:t>
            </a:r>
            <a:r>
              <a:rPr lang="en-US" dirty="0"/>
              <a:t>and </a:t>
            </a:r>
            <a:r>
              <a:rPr lang="en-US" i="1" dirty="0"/>
              <a:t>steak schema </a:t>
            </a:r>
            <a:r>
              <a:rPr lang="en-US" dirty="0"/>
              <a:t>(</a:t>
            </a:r>
            <a:r>
              <a:rPr lang="en-US" dirty="0" err="1"/>
              <a:t>mPFC</a:t>
            </a:r>
            <a:r>
              <a:rPr lang="en-US" dirty="0"/>
              <a:t> process)</a:t>
            </a:r>
          </a:p>
          <a:p>
            <a:pPr lvl="1"/>
            <a:r>
              <a:rPr lang="en-US" dirty="0"/>
              <a:t>Possible mechanism relevant to the retrieval question “What picture was shown near this cow</a:t>
            </a:r>
            <a:r>
              <a:rPr lang="en-US" i="1" dirty="0"/>
              <a:t> in the encoding session</a:t>
            </a:r>
            <a:r>
              <a:rPr lang="en-US" dirty="0"/>
              <a:t>?”</a:t>
            </a:r>
            <a:endParaRPr lang="en-US" i="1" dirty="0"/>
          </a:p>
          <a:p>
            <a:pPr lvl="2"/>
            <a:r>
              <a:rPr lang="en-US" dirty="0"/>
              <a:t>Requires link between </a:t>
            </a:r>
            <a:r>
              <a:rPr lang="en-US" i="1" dirty="0"/>
              <a:t>this instance of a cow </a:t>
            </a:r>
            <a:r>
              <a:rPr lang="en-US" dirty="0"/>
              <a:t>and </a:t>
            </a:r>
            <a:r>
              <a:rPr lang="en-US" i="1" dirty="0"/>
              <a:t>this instance of a steak</a:t>
            </a:r>
            <a:endParaRPr lang="en-US" dirty="0"/>
          </a:p>
          <a:p>
            <a:pPr lvl="3"/>
            <a:r>
              <a:rPr lang="en-US" dirty="0"/>
              <a:t>Represent </a:t>
            </a:r>
            <a:r>
              <a:rPr lang="en-US" i="1" dirty="0"/>
              <a:t>this instance of a cow</a:t>
            </a:r>
            <a:r>
              <a:rPr lang="en-US" dirty="0"/>
              <a:t> in the perirhinal cortex (</a:t>
            </a:r>
            <a:r>
              <a:rPr lang="en-US" dirty="0" err="1"/>
              <a:t>PRc</a:t>
            </a:r>
            <a:r>
              <a:rPr lang="en-US" dirty="0"/>
              <a:t>)</a:t>
            </a:r>
          </a:p>
          <a:p>
            <a:pPr lvl="3"/>
            <a:r>
              <a:rPr lang="en-US" dirty="0"/>
              <a:t>Represent </a:t>
            </a:r>
            <a:r>
              <a:rPr lang="en-US" i="1" dirty="0"/>
              <a:t>this instance of a steak </a:t>
            </a:r>
            <a:r>
              <a:rPr lang="en-US" dirty="0"/>
              <a:t>in the perirhinal cortex (</a:t>
            </a:r>
            <a:r>
              <a:rPr lang="en-US" dirty="0" err="1"/>
              <a:t>PRc</a:t>
            </a:r>
            <a:r>
              <a:rPr lang="en-US" dirty="0"/>
              <a:t>)</a:t>
            </a:r>
          </a:p>
          <a:p>
            <a:pPr lvl="3"/>
            <a:r>
              <a:rPr lang="en-US" dirty="0"/>
              <a:t>Bind the two via the hippocampus</a:t>
            </a:r>
          </a:p>
          <a:p>
            <a:pPr lvl="2"/>
            <a:r>
              <a:rPr lang="en-US" dirty="0"/>
              <a:t>Alternatively, requires participants to update their </a:t>
            </a:r>
            <a:r>
              <a:rPr lang="en-US" i="1" dirty="0"/>
              <a:t>cow schema </a:t>
            </a:r>
            <a:r>
              <a:rPr lang="en-US" dirty="0"/>
              <a:t>and </a:t>
            </a:r>
            <a:r>
              <a:rPr lang="en-US" i="1" dirty="0"/>
              <a:t>steak schema </a:t>
            </a:r>
            <a:r>
              <a:rPr lang="en-US" dirty="0"/>
              <a:t>to include an additional relation: </a:t>
            </a:r>
            <a:r>
              <a:rPr lang="en-US" i="1" dirty="0"/>
              <a:t>“were presented together in the encoding session”</a:t>
            </a:r>
          </a:p>
          <a:p>
            <a:r>
              <a:rPr lang="en-US" dirty="0"/>
              <a:t>What does RSA do?</a:t>
            </a:r>
          </a:p>
          <a:p>
            <a:pPr lvl="1"/>
            <a:r>
              <a:rPr lang="en-US" dirty="0"/>
              <a:t>We are </a:t>
            </a:r>
            <a:r>
              <a:rPr lang="en-US" u="sng" dirty="0"/>
              <a:t>not</a:t>
            </a:r>
            <a:r>
              <a:rPr lang="en-US" dirty="0"/>
              <a:t> measuring the neural correlates of encoding the relation “steaks are made from cows” </a:t>
            </a:r>
          </a:p>
          <a:p>
            <a:pPr lvl="1"/>
            <a:r>
              <a:rPr lang="en-US" dirty="0"/>
              <a:t>Rather, RSA measures the neural correlates of when the relation is:</a:t>
            </a:r>
          </a:p>
          <a:p>
            <a:pPr lvl="2"/>
            <a:r>
              <a:rPr lang="en-US" dirty="0"/>
              <a:t>activated, </a:t>
            </a:r>
          </a:p>
          <a:p>
            <a:pPr lvl="2"/>
            <a:r>
              <a:rPr lang="en-US" dirty="0"/>
              <a:t>used for encoding, </a:t>
            </a:r>
          </a:p>
          <a:p>
            <a:pPr lvl="2"/>
            <a:r>
              <a:rPr lang="en-US" dirty="0"/>
              <a:t>retrieved</a:t>
            </a:r>
          </a:p>
        </p:txBody>
      </p:sp>
      <p:sp>
        <p:nvSpPr>
          <p:cNvPr id="5" name="Rectangle 4">
            <a:extLst>
              <a:ext uri="{FF2B5EF4-FFF2-40B4-BE49-F238E27FC236}">
                <a16:creationId xmlns:a16="http://schemas.microsoft.com/office/drawing/2014/main" id="{7353905C-3AC8-D633-4D1F-DE3BE1C38E13}"/>
              </a:ext>
            </a:extLst>
          </p:cNvPr>
          <p:cNvSpPr/>
          <p:nvPr/>
        </p:nvSpPr>
        <p:spPr>
          <a:xfrm>
            <a:off x="9215270" y="2004758"/>
            <a:ext cx="2896656" cy="1510812"/>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6AC1E270-7289-126D-AC55-BECE5A69CEDE}"/>
              </a:ext>
            </a:extLst>
          </p:cNvPr>
          <p:cNvPicPr>
            <a:picLocks noChangeAspect="1"/>
          </p:cNvPicPr>
          <p:nvPr/>
        </p:nvPicPr>
        <p:blipFill>
          <a:blip r:embed="rId3"/>
          <a:stretch>
            <a:fillRect/>
          </a:stretch>
        </p:blipFill>
        <p:spPr>
          <a:xfrm>
            <a:off x="9913417" y="2216165"/>
            <a:ext cx="1218569" cy="1087998"/>
          </a:xfrm>
          <a:prstGeom prst="rect">
            <a:avLst/>
          </a:prstGeom>
        </p:spPr>
      </p:pic>
      <p:pic>
        <p:nvPicPr>
          <p:cNvPr id="7" name="Picture 4" descr="Premium Photo | Roasted beef steaks isolated on white background">
            <a:extLst>
              <a:ext uri="{FF2B5EF4-FFF2-40B4-BE49-F238E27FC236}">
                <a16:creationId xmlns:a16="http://schemas.microsoft.com/office/drawing/2014/main" id="{14112A32-E7E3-12E9-B0B8-E356EEE5C18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2453" t="3792" r="18923" b="6739"/>
          <a:stretch/>
        </p:blipFill>
        <p:spPr bwMode="auto">
          <a:xfrm>
            <a:off x="11131986" y="2324460"/>
            <a:ext cx="828038" cy="841793"/>
          </a:xfrm>
          <a:prstGeom prst="rect">
            <a:avLst/>
          </a:prstGeom>
          <a:noFill/>
          <a:extLst>
            <a:ext uri="{909E8E84-426E-40DD-AFC4-6F175D3DCCD1}">
              <a14:hiddenFill xmlns:a14="http://schemas.microsoft.com/office/drawing/2010/main">
                <a:solidFill>
                  <a:srgbClr val="FFFFFF"/>
                </a:solidFill>
              </a14:hiddenFill>
            </a:ext>
          </a:extLst>
        </p:spPr>
      </p:pic>
      <p:sp>
        <p:nvSpPr>
          <p:cNvPr id="8" name="Content Placeholder 2">
            <a:extLst>
              <a:ext uri="{FF2B5EF4-FFF2-40B4-BE49-F238E27FC236}">
                <a16:creationId xmlns:a16="http://schemas.microsoft.com/office/drawing/2014/main" id="{81598C0A-D4E0-7414-F774-175CB8F9CCD2}"/>
              </a:ext>
            </a:extLst>
          </p:cNvPr>
          <p:cNvSpPr txBox="1">
            <a:spLocks/>
          </p:cNvSpPr>
          <p:nvPr/>
        </p:nvSpPr>
        <p:spPr>
          <a:xfrm>
            <a:off x="9215270" y="1358007"/>
            <a:ext cx="2896656" cy="64675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3200" dirty="0"/>
              <a:t>Encoding</a:t>
            </a:r>
            <a:endParaRPr lang="en-US" dirty="0"/>
          </a:p>
        </p:txBody>
      </p:sp>
      <p:sp>
        <p:nvSpPr>
          <p:cNvPr id="9" name="Rectangle 8">
            <a:extLst>
              <a:ext uri="{FF2B5EF4-FFF2-40B4-BE49-F238E27FC236}">
                <a16:creationId xmlns:a16="http://schemas.microsoft.com/office/drawing/2014/main" id="{1E6FB867-610D-C172-D874-CCCC12CE5954}"/>
              </a:ext>
            </a:extLst>
          </p:cNvPr>
          <p:cNvSpPr/>
          <p:nvPr/>
        </p:nvSpPr>
        <p:spPr>
          <a:xfrm>
            <a:off x="9215270" y="4560896"/>
            <a:ext cx="2896656" cy="1510812"/>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96E52A7F-36BA-B95D-7035-77EB7AC16912}"/>
              </a:ext>
            </a:extLst>
          </p:cNvPr>
          <p:cNvPicPr>
            <a:picLocks noChangeAspect="1"/>
          </p:cNvPicPr>
          <p:nvPr/>
        </p:nvPicPr>
        <p:blipFill>
          <a:blip r:embed="rId3"/>
          <a:stretch>
            <a:fillRect/>
          </a:stretch>
        </p:blipFill>
        <p:spPr>
          <a:xfrm>
            <a:off x="9986569" y="4772303"/>
            <a:ext cx="1218569" cy="1087998"/>
          </a:xfrm>
          <a:prstGeom prst="rect">
            <a:avLst/>
          </a:prstGeom>
        </p:spPr>
      </p:pic>
      <p:sp>
        <p:nvSpPr>
          <p:cNvPr id="11" name="Content Placeholder 2">
            <a:extLst>
              <a:ext uri="{FF2B5EF4-FFF2-40B4-BE49-F238E27FC236}">
                <a16:creationId xmlns:a16="http://schemas.microsoft.com/office/drawing/2014/main" id="{FA32F089-C49C-919C-9292-2AD3310188BF}"/>
              </a:ext>
            </a:extLst>
          </p:cNvPr>
          <p:cNvSpPr txBox="1">
            <a:spLocks/>
          </p:cNvSpPr>
          <p:nvPr/>
        </p:nvSpPr>
        <p:spPr>
          <a:xfrm>
            <a:off x="11422043" y="4941783"/>
            <a:ext cx="555731" cy="79659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4400" dirty="0"/>
              <a:t>?</a:t>
            </a:r>
            <a:endParaRPr lang="en-US" dirty="0"/>
          </a:p>
        </p:txBody>
      </p:sp>
      <p:sp>
        <p:nvSpPr>
          <p:cNvPr id="12" name="Content Placeholder 2">
            <a:extLst>
              <a:ext uri="{FF2B5EF4-FFF2-40B4-BE49-F238E27FC236}">
                <a16:creationId xmlns:a16="http://schemas.microsoft.com/office/drawing/2014/main" id="{38C82417-6FEB-5E39-4267-0F9ACA91F1CD}"/>
              </a:ext>
            </a:extLst>
          </p:cNvPr>
          <p:cNvSpPr txBox="1">
            <a:spLocks/>
          </p:cNvSpPr>
          <p:nvPr/>
        </p:nvSpPr>
        <p:spPr>
          <a:xfrm>
            <a:off x="9215270" y="3904193"/>
            <a:ext cx="2896656" cy="64675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3200" dirty="0"/>
              <a:t>Retrieval</a:t>
            </a:r>
            <a:endParaRPr lang="en-US" dirty="0"/>
          </a:p>
        </p:txBody>
      </p:sp>
    </p:spTree>
    <p:extLst>
      <p:ext uri="{BB962C8B-B14F-4D97-AF65-F5344CB8AC3E}">
        <p14:creationId xmlns:p14="http://schemas.microsoft.com/office/powerpoint/2010/main" val="3881199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0" end="1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1" end="1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2" end="12"/>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3" end="13"/>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Oval 32">
            <a:extLst>
              <a:ext uri="{FF2B5EF4-FFF2-40B4-BE49-F238E27FC236}">
                <a16:creationId xmlns:a16="http://schemas.microsoft.com/office/drawing/2014/main" id="{F620C727-409B-335A-ED26-1A70B6D959D6}"/>
              </a:ext>
            </a:extLst>
          </p:cNvPr>
          <p:cNvSpPr/>
          <p:nvPr/>
        </p:nvSpPr>
        <p:spPr>
          <a:xfrm rot="19892085">
            <a:off x="6481036" y="2201823"/>
            <a:ext cx="4400550" cy="735622"/>
          </a:xfrm>
          <a:prstGeom prst="ellipse">
            <a:avLst/>
          </a:prstGeom>
          <a:solidFill>
            <a:schemeClr val="bg1"/>
          </a:solidFill>
          <a:ln w="381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DEB01AF9-D952-2200-FBDD-FAC191283F9D}"/>
              </a:ext>
            </a:extLst>
          </p:cNvPr>
          <p:cNvSpPr/>
          <p:nvPr/>
        </p:nvSpPr>
        <p:spPr>
          <a:xfrm>
            <a:off x="2549121" y="4148679"/>
            <a:ext cx="4022606" cy="2075992"/>
          </a:xfrm>
          <a:prstGeom prst="rect">
            <a:avLst/>
          </a:prstGeom>
          <a:solidFill>
            <a:schemeClr val="bg1"/>
          </a:solid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5497A7A3-5424-E429-14EA-783EC10FFAA8}"/>
              </a:ext>
            </a:extLst>
          </p:cNvPr>
          <p:cNvSpPr/>
          <p:nvPr/>
        </p:nvSpPr>
        <p:spPr>
          <a:xfrm>
            <a:off x="792984" y="1426062"/>
            <a:ext cx="4176713" cy="2271713"/>
          </a:xfrm>
          <a:prstGeom prst="rect">
            <a:avLst/>
          </a:prstGeom>
          <a:solidFill>
            <a:schemeClr val="bg1"/>
          </a:solid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CAEE230F-5366-7902-9A5C-5B265232BE5F}"/>
              </a:ext>
            </a:extLst>
          </p:cNvPr>
          <p:cNvSpPr/>
          <p:nvPr/>
        </p:nvSpPr>
        <p:spPr>
          <a:xfrm>
            <a:off x="2690125" y="4274086"/>
            <a:ext cx="1691934" cy="1799855"/>
          </a:xfrm>
          <a:prstGeom prst="ellipse">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18D1630F-D43A-5283-662E-4787CA0004A2}"/>
              </a:ext>
            </a:extLst>
          </p:cNvPr>
          <p:cNvSpPr/>
          <p:nvPr/>
        </p:nvSpPr>
        <p:spPr>
          <a:xfrm>
            <a:off x="3054456" y="1762242"/>
            <a:ext cx="1652630" cy="1676073"/>
          </a:xfrm>
          <a:prstGeom prst="ellipse">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0FAA2E0-F09F-C671-1CC0-1721B407377A}"/>
              </a:ext>
            </a:extLst>
          </p:cNvPr>
          <p:cNvSpPr>
            <a:spLocks noGrp="1"/>
          </p:cNvSpPr>
          <p:nvPr>
            <p:ph type="title"/>
          </p:nvPr>
        </p:nvSpPr>
        <p:spPr>
          <a:xfrm>
            <a:off x="680110" y="224859"/>
            <a:ext cx="10515600" cy="640323"/>
          </a:xfrm>
        </p:spPr>
        <p:txBody>
          <a:bodyPr>
            <a:normAutofit fontScale="90000"/>
          </a:bodyPr>
          <a:lstStyle/>
          <a:p>
            <a:r>
              <a:rPr lang="en-US" dirty="0"/>
              <a:t>Possible Mechanism 1 &amp; RSA</a:t>
            </a:r>
          </a:p>
        </p:txBody>
      </p:sp>
      <p:sp>
        <p:nvSpPr>
          <p:cNvPr id="4" name="Oval 3">
            <a:extLst>
              <a:ext uri="{FF2B5EF4-FFF2-40B4-BE49-F238E27FC236}">
                <a16:creationId xmlns:a16="http://schemas.microsoft.com/office/drawing/2014/main" id="{11B8FDB8-04A6-2B29-4522-79862EC62B93}"/>
              </a:ext>
            </a:extLst>
          </p:cNvPr>
          <p:cNvSpPr/>
          <p:nvPr/>
        </p:nvSpPr>
        <p:spPr>
          <a:xfrm>
            <a:off x="997661" y="1765957"/>
            <a:ext cx="1648968" cy="1672358"/>
          </a:xfrm>
          <a:prstGeom prst="ellipse">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C0103C31-043D-8DBD-510A-AB82D4FBFEA2}"/>
              </a:ext>
            </a:extLst>
          </p:cNvPr>
          <p:cNvSpPr/>
          <p:nvPr/>
        </p:nvSpPr>
        <p:spPr>
          <a:xfrm>
            <a:off x="7342825" y="3000636"/>
            <a:ext cx="389256" cy="414085"/>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SVG CLIPART Cute Simple Cow Outline Cute Kids Clipart Farm - Etsy">
            <a:extLst>
              <a:ext uri="{FF2B5EF4-FFF2-40B4-BE49-F238E27FC236}">
                <a16:creationId xmlns:a16="http://schemas.microsoft.com/office/drawing/2014/main" id="{92E28DE4-1722-8D45-B131-DFB22A4A251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4828" t="29276" r="22793" b="27471"/>
          <a:stretch/>
        </p:blipFill>
        <p:spPr bwMode="auto">
          <a:xfrm>
            <a:off x="3293050" y="2094637"/>
            <a:ext cx="1230324" cy="101128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Raw meat doodle icon, vector illustration of steak chop, fresh beef slice  in butcher shop, grocery product, isolated outline clipart on white  background Stock Vector | Adobe Stock">
            <a:extLst>
              <a:ext uri="{FF2B5EF4-FFF2-40B4-BE49-F238E27FC236}">
                <a16:creationId xmlns:a16="http://schemas.microsoft.com/office/drawing/2014/main" id="{7AE4AE2B-5D09-FEEF-9416-B649D21A23E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7334" t="15289" r="7334" b="13423"/>
          <a:stretch/>
        </p:blipFill>
        <p:spPr bwMode="auto">
          <a:xfrm>
            <a:off x="1268034" y="2139222"/>
            <a:ext cx="1108221" cy="925827"/>
          </a:xfrm>
          <a:prstGeom prst="rect">
            <a:avLst/>
          </a:prstGeom>
          <a:noFill/>
          <a:extLst>
            <a:ext uri="{909E8E84-426E-40DD-AFC4-6F175D3DCCD1}">
              <a14:hiddenFill xmlns:a14="http://schemas.microsoft.com/office/drawing/2010/main">
                <a:solidFill>
                  <a:srgbClr val="FFFFFF"/>
                </a:solidFill>
              </a14:hiddenFill>
            </a:ext>
          </a:extLst>
        </p:spPr>
      </p:pic>
      <p:cxnSp>
        <p:nvCxnSpPr>
          <p:cNvPr id="10" name="Straight Connector 9">
            <a:extLst>
              <a:ext uri="{FF2B5EF4-FFF2-40B4-BE49-F238E27FC236}">
                <a16:creationId xmlns:a16="http://schemas.microsoft.com/office/drawing/2014/main" id="{572BEF9D-4873-B5BE-C33E-0F804A121B19}"/>
              </a:ext>
            </a:extLst>
          </p:cNvPr>
          <p:cNvCxnSpPr>
            <a:cxnSpLocks/>
            <a:stCxn id="4" idx="6"/>
            <a:endCxn id="8" idx="2"/>
          </p:cNvCxnSpPr>
          <p:nvPr/>
        </p:nvCxnSpPr>
        <p:spPr>
          <a:xfrm flipV="1">
            <a:off x="2646629" y="2600279"/>
            <a:ext cx="407827" cy="1857"/>
          </a:xfrm>
          <a:prstGeom prst="line">
            <a:avLst/>
          </a:prstGeom>
          <a:ln w="76200">
            <a:solidFill>
              <a:schemeClr val="tx1">
                <a:alpha val="99000"/>
              </a:schemeClr>
            </a:solidFill>
          </a:ln>
        </p:spPr>
        <p:style>
          <a:lnRef idx="1">
            <a:schemeClr val="accent1"/>
          </a:lnRef>
          <a:fillRef idx="0">
            <a:schemeClr val="accent1"/>
          </a:fillRef>
          <a:effectRef idx="0">
            <a:schemeClr val="accent1"/>
          </a:effectRef>
          <a:fontRef idx="minor">
            <a:schemeClr val="tx1"/>
          </a:fontRef>
        </p:style>
      </p:cxnSp>
      <p:sp>
        <p:nvSpPr>
          <p:cNvPr id="11" name="Oval 10">
            <a:extLst>
              <a:ext uri="{FF2B5EF4-FFF2-40B4-BE49-F238E27FC236}">
                <a16:creationId xmlns:a16="http://schemas.microsoft.com/office/drawing/2014/main" id="{21DDEABD-7646-3A4F-44EE-891F379729C0}"/>
              </a:ext>
            </a:extLst>
          </p:cNvPr>
          <p:cNvSpPr/>
          <p:nvPr/>
        </p:nvSpPr>
        <p:spPr>
          <a:xfrm>
            <a:off x="4765146" y="4274086"/>
            <a:ext cx="1691934" cy="1799855"/>
          </a:xfrm>
          <a:prstGeom prst="ellipse">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828F7B0B-A37B-5337-79A7-A0BE493F45D2}"/>
              </a:ext>
            </a:extLst>
          </p:cNvPr>
          <p:cNvPicPr>
            <a:picLocks noChangeAspect="1"/>
          </p:cNvPicPr>
          <p:nvPr/>
        </p:nvPicPr>
        <p:blipFill>
          <a:blip r:embed="rId5"/>
          <a:stretch>
            <a:fillRect/>
          </a:stretch>
        </p:blipFill>
        <p:spPr>
          <a:xfrm>
            <a:off x="5043278" y="4675397"/>
            <a:ext cx="1218569" cy="1087998"/>
          </a:xfrm>
          <a:prstGeom prst="rect">
            <a:avLst/>
          </a:prstGeom>
        </p:spPr>
      </p:pic>
      <p:pic>
        <p:nvPicPr>
          <p:cNvPr id="17" name="Picture 4" descr="Premium Photo | Roasted beef steaks isolated on white background">
            <a:extLst>
              <a:ext uri="{FF2B5EF4-FFF2-40B4-BE49-F238E27FC236}">
                <a16:creationId xmlns:a16="http://schemas.microsoft.com/office/drawing/2014/main" id="{995EF831-0216-42A1-3682-20854661BC68}"/>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22453" t="3792" r="18923" b="6739"/>
          <a:stretch/>
        </p:blipFill>
        <p:spPr bwMode="auto">
          <a:xfrm>
            <a:off x="2987485" y="4552512"/>
            <a:ext cx="1097213" cy="1115439"/>
          </a:xfrm>
          <a:prstGeom prst="rect">
            <a:avLst/>
          </a:prstGeom>
          <a:noFill/>
          <a:extLst>
            <a:ext uri="{909E8E84-426E-40DD-AFC4-6F175D3DCCD1}">
              <a14:hiddenFill xmlns:a14="http://schemas.microsoft.com/office/drawing/2010/main">
                <a:solidFill>
                  <a:srgbClr val="FFFFFF"/>
                </a:solidFill>
              </a14:hiddenFill>
            </a:ext>
          </a:extLst>
        </p:spPr>
      </p:pic>
      <p:cxnSp>
        <p:nvCxnSpPr>
          <p:cNvPr id="25" name="Straight Connector 24">
            <a:extLst>
              <a:ext uri="{FF2B5EF4-FFF2-40B4-BE49-F238E27FC236}">
                <a16:creationId xmlns:a16="http://schemas.microsoft.com/office/drawing/2014/main" id="{92D662A7-3AD8-5C8E-1A28-B8032BF46D0E}"/>
              </a:ext>
            </a:extLst>
          </p:cNvPr>
          <p:cNvCxnSpPr>
            <a:cxnSpLocks/>
            <a:stCxn id="19" idx="0"/>
            <a:endCxn id="5" idx="2"/>
          </p:cNvCxnSpPr>
          <p:nvPr/>
        </p:nvCxnSpPr>
        <p:spPr>
          <a:xfrm flipV="1">
            <a:off x="3536092" y="3207679"/>
            <a:ext cx="3806733" cy="106640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B53789D1-25E0-082B-3794-3610A8B0F03A}"/>
              </a:ext>
            </a:extLst>
          </p:cNvPr>
          <p:cNvSpPr txBox="1"/>
          <p:nvPr/>
        </p:nvSpPr>
        <p:spPr>
          <a:xfrm>
            <a:off x="2104184" y="795483"/>
            <a:ext cx="1492716" cy="646331"/>
          </a:xfrm>
          <a:prstGeom prst="rect">
            <a:avLst/>
          </a:prstGeom>
          <a:noFill/>
        </p:spPr>
        <p:txBody>
          <a:bodyPr wrap="none" rtlCol="0">
            <a:spAutoFit/>
          </a:bodyPr>
          <a:lstStyle/>
          <a:p>
            <a:r>
              <a:rPr lang="en-US" sz="3600" dirty="0" err="1">
                <a:solidFill>
                  <a:srgbClr val="FF0000"/>
                </a:solidFill>
                <a:latin typeface="Arial" panose="020B0604020202020204" pitchFamily="34" charset="0"/>
                <a:cs typeface="Arial" panose="020B0604020202020204" pitchFamily="34" charset="0"/>
              </a:rPr>
              <a:t>mPFC</a:t>
            </a:r>
            <a:endParaRPr lang="en-US" sz="3600" dirty="0">
              <a:solidFill>
                <a:srgbClr val="FF0000"/>
              </a:solidFill>
              <a:latin typeface="Arial" panose="020B0604020202020204" pitchFamily="34" charset="0"/>
              <a:cs typeface="Arial" panose="020B0604020202020204" pitchFamily="34" charset="0"/>
            </a:endParaRPr>
          </a:p>
        </p:txBody>
      </p:sp>
      <p:sp>
        <p:nvSpPr>
          <p:cNvPr id="31" name="TextBox 30">
            <a:extLst>
              <a:ext uri="{FF2B5EF4-FFF2-40B4-BE49-F238E27FC236}">
                <a16:creationId xmlns:a16="http://schemas.microsoft.com/office/drawing/2014/main" id="{2F1D017A-BA09-2007-0722-14B56F5658AC}"/>
              </a:ext>
            </a:extLst>
          </p:cNvPr>
          <p:cNvSpPr txBox="1"/>
          <p:nvPr/>
        </p:nvSpPr>
        <p:spPr>
          <a:xfrm>
            <a:off x="2549121" y="6211669"/>
            <a:ext cx="4022606" cy="646331"/>
          </a:xfrm>
          <a:prstGeom prst="rect">
            <a:avLst/>
          </a:prstGeom>
          <a:noFill/>
        </p:spPr>
        <p:txBody>
          <a:bodyPr wrap="square" rtlCol="0">
            <a:spAutoFit/>
          </a:bodyPr>
          <a:lstStyle/>
          <a:p>
            <a:pPr algn="ctr"/>
            <a:r>
              <a:rPr lang="en-US" sz="3600" dirty="0">
                <a:solidFill>
                  <a:srgbClr val="0070C0"/>
                </a:solidFill>
                <a:latin typeface="Arial" panose="020B0604020202020204" pitchFamily="34" charset="0"/>
                <a:cs typeface="Arial" panose="020B0604020202020204" pitchFamily="34" charset="0"/>
              </a:rPr>
              <a:t>Perirhinal cortex</a:t>
            </a:r>
          </a:p>
        </p:txBody>
      </p:sp>
      <p:sp>
        <p:nvSpPr>
          <p:cNvPr id="34" name="TextBox 33">
            <a:extLst>
              <a:ext uri="{FF2B5EF4-FFF2-40B4-BE49-F238E27FC236}">
                <a16:creationId xmlns:a16="http://schemas.microsoft.com/office/drawing/2014/main" id="{B916BB85-F1D3-4D29-C995-67784A22F55E}"/>
              </a:ext>
            </a:extLst>
          </p:cNvPr>
          <p:cNvSpPr txBox="1"/>
          <p:nvPr/>
        </p:nvSpPr>
        <p:spPr>
          <a:xfrm>
            <a:off x="8301625" y="3183967"/>
            <a:ext cx="2690160" cy="584775"/>
          </a:xfrm>
          <a:prstGeom prst="rect">
            <a:avLst/>
          </a:prstGeom>
          <a:noFill/>
        </p:spPr>
        <p:txBody>
          <a:bodyPr wrap="square" rtlCol="0">
            <a:spAutoFit/>
          </a:bodyPr>
          <a:lstStyle/>
          <a:p>
            <a:r>
              <a:rPr lang="en-US" sz="3200" dirty="0">
                <a:solidFill>
                  <a:srgbClr val="00B050"/>
                </a:solidFill>
                <a:latin typeface="Arial" panose="020B0604020202020204" pitchFamily="34" charset="0"/>
                <a:cs typeface="Arial" panose="020B0604020202020204" pitchFamily="34" charset="0"/>
              </a:rPr>
              <a:t>Hippocampus</a:t>
            </a:r>
          </a:p>
        </p:txBody>
      </p:sp>
      <p:cxnSp>
        <p:nvCxnSpPr>
          <p:cNvPr id="42" name="Straight Connector 41">
            <a:extLst>
              <a:ext uri="{FF2B5EF4-FFF2-40B4-BE49-F238E27FC236}">
                <a16:creationId xmlns:a16="http://schemas.microsoft.com/office/drawing/2014/main" id="{20472716-4877-311F-DF17-E4D78E05DAD3}"/>
              </a:ext>
            </a:extLst>
          </p:cNvPr>
          <p:cNvCxnSpPr>
            <a:cxnSpLocks/>
            <a:stCxn id="11" idx="7"/>
            <a:endCxn id="5" idx="3"/>
          </p:cNvCxnSpPr>
          <p:nvPr/>
        </p:nvCxnSpPr>
        <p:spPr>
          <a:xfrm flipV="1">
            <a:off x="6209302" y="3354080"/>
            <a:ext cx="1190528" cy="118358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555A25E-18BC-C472-EFFE-2E6103764E39}"/>
              </a:ext>
            </a:extLst>
          </p:cNvPr>
          <p:cNvCxnSpPr>
            <a:cxnSpLocks/>
            <a:stCxn id="29" idx="3"/>
          </p:cNvCxnSpPr>
          <p:nvPr/>
        </p:nvCxnSpPr>
        <p:spPr>
          <a:xfrm>
            <a:off x="4969697" y="2561919"/>
            <a:ext cx="2080805" cy="437641"/>
          </a:xfrm>
          <a:prstGeom prst="line">
            <a:avLst/>
          </a:prstGeom>
          <a:ln w="38100">
            <a:solidFill>
              <a:srgbClr val="FF0000"/>
            </a:solidFill>
            <a:tailEnd type="oval" w="lg" len="sm"/>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0D34A351-BA3E-13C1-E292-409148D9D871}"/>
              </a:ext>
            </a:extLst>
          </p:cNvPr>
          <p:cNvSpPr txBox="1"/>
          <p:nvPr/>
        </p:nvSpPr>
        <p:spPr>
          <a:xfrm>
            <a:off x="5114913" y="971191"/>
            <a:ext cx="4029087" cy="1477328"/>
          </a:xfrm>
          <a:prstGeom prst="rect">
            <a:avLst/>
          </a:prstGeom>
          <a:noFill/>
        </p:spPr>
        <p:txBody>
          <a:bodyPr wrap="square" rtlCol="0">
            <a:spAutoFit/>
          </a:bodyPr>
          <a:lstStyle/>
          <a:p>
            <a:r>
              <a:rPr lang="en-US" dirty="0">
                <a:solidFill>
                  <a:srgbClr val="FF0000"/>
                </a:solidFill>
                <a:latin typeface="Arial" panose="020B0604020202020204" pitchFamily="34" charset="0"/>
                <a:cs typeface="Arial" panose="020B0604020202020204" pitchFamily="34" charset="0"/>
              </a:rPr>
              <a:t>Relations encoded within the </a:t>
            </a:r>
            <a:r>
              <a:rPr lang="en-US" dirty="0" err="1">
                <a:solidFill>
                  <a:srgbClr val="FF0000"/>
                </a:solidFill>
                <a:latin typeface="Arial" panose="020B0604020202020204" pitchFamily="34" charset="0"/>
                <a:cs typeface="Arial" panose="020B0604020202020204" pitchFamily="34" charset="0"/>
              </a:rPr>
              <a:t>mPFC</a:t>
            </a:r>
            <a:r>
              <a:rPr lang="en-US" dirty="0">
                <a:solidFill>
                  <a:srgbClr val="FF0000"/>
                </a:solidFill>
                <a:latin typeface="Arial" panose="020B0604020202020204" pitchFamily="34" charset="0"/>
                <a:cs typeface="Arial" panose="020B0604020202020204" pitchFamily="34" charset="0"/>
              </a:rPr>
              <a:t> likely have a meaningful structure. </a:t>
            </a:r>
          </a:p>
          <a:p>
            <a:r>
              <a:rPr lang="en-US" dirty="0">
                <a:solidFill>
                  <a:srgbClr val="FF0000"/>
                </a:solidFill>
                <a:latin typeface="Arial" panose="020B0604020202020204" pitchFamily="34" charset="0"/>
                <a:cs typeface="Arial" panose="020B0604020202020204" pitchFamily="34" charset="0"/>
              </a:rPr>
              <a:t>If our task reactivates these relations, then they can likely be investigated with RSA</a:t>
            </a:r>
          </a:p>
        </p:txBody>
      </p:sp>
      <p:sp>
        <p:nvSpPr>
          <p:cNvPr id="49" name="TextBox 48">
            <a:extLst>
              <a:ext uri="{FF2B5EF4-FFF2-40B4-BE49-F238E27FC236}">
                <a16:creationId xmlns:a16="http://schemas.microsoft.com/office/drawing/2014/main" id="{D9E37001-751F-F66C-5607-B2F10587A822}"/>
              </a:ext>
            </a:extLst>
          </p:cNvPr>
          <p:cNvSpPr txBox="1"/>
          <p:nvPr/>
        </p:nvSpPr>
        <p:spPr>
          <a:xfrm>
            <a:off x="6894988" y="4321293"/>
            <a:ext cx="4022606" cy="1938992"/>
          </a:xfrm>
          <a:prstGeom prst="rect">
            <a:avLst/>
          </a:prstGeom>
          <a:noFill/>
        </p:spPr>
        <p:txBody>
          <a:bodyPr wrap="square" rtlCol="0">
            <a:spAutoFit/>
          </a:bodyPr>
          <a:lstStyle/>
          <a:p>
            <a:r>
              <a:rPr lang="en-US" sz="2400" dirty="0">
                <a:solidFill>
                  <a:srgbClr val="0070C0"/>
                </a:solidFill>
                <a:latin typeface="Arial" panose="020B0604020202020204" pitchFamily="34" charset="0"/>
                <a:cs typeface="Arial" panose="020B0604020202020204" pitchFamily="34" charset="0"/>
              </a:rPr>
              <a:t>However, it’s less clear whether the meaningful structure also arises in these new hippocampal relations</a:t>
            </a:r>
          </a:p>
        </p:txBody>
      </p:sp>
      <p:sp>
        <p:nvSpPr>
          <p:cNvPr id="50" name="TextBox 49">
            <a:extLst>
              <a:ext uri="{FF2B5EF4-FFF2-40B4-BE49-F238E27FC236}">
                <a16:creationId xmlns:a16="http://schemas.microsoft.com/office/drawing/2014/main" id="{9F4D68F1-F49F-56BC-716F-7B7FF2FA7155}"/>
              </a:ext>
            </a:extLst>
          </p:cNvPr>
          <p:cNvSpPr txBox="1"/>
          <p:nvPr/>
        </p:nvSpPr>
        <p:spPr>
          <a:xfrm>
            <a:off x="2211068" y="1490953"/>
            <a:ext cx="1261884" cy="369332"/>
          </a:xfrm>
          <a:prstGeom prst="rect">
            <a:avLst/>
          </a:prstGeom>
          <a:noFill/>
        </p:spPr>
        <p:txBody>
          <a:bodyPr wrap="none" rtlCol="0">
            <a:spAutoFit/>
          </a:bodyPr>
          <a:lstStyle/>
          <a:p>
            <a:r>
              <a:rPr lang="en-US" dirty="0">
                <a:solidFill>
                  <a:srgbClr val="FF0000"/>
                </a:solidFill>
                <a:latin typeface="Arial" panose="020B0604020202020204" pitchFamily="34" charset="0"/>
                <a:cs typeface="Arial" panose="020B0604020202020204" pitchFamily="34" charset="0"/>
              </a:rPr>
              <a:t>(schemas)</a:t>
            </a:r>
          </a:p>
        </p:txBody>
      </p:sp>
      <p:cxnSp>
        <p:nvCxnSpPr>
          <p:cNvPr id="52" name="Straight Arrow Connector 51">
            <a:extLst>
              <a:ext uri="{FF2B5EF4-FFF2-40B4-BE49-F238E27FC236}">
                <a16:creationId xmlns:a16="http://schemas.microsoft.com/office/drawing/2014/main" id="{52E27923-CC05-240B-57CC-2A5F6097716D}"/>
              </a:ext>
            </a:extLst>
          </p:cNvPr>
          <p:cNvCxnSpPr/>
          <p:nvPr/>
        </p:nvCxnSpPr>
        <p:spPr>
          <a:xfrm>
            <a:off x="997661" y="3941687"/>
            <a:ext cx="974014" cy="1273251"/>
          </a:xfrm>
          <a:prstGeom prst="straightConnector1">
            <a:avLst/>
          </a:prstGeom>
          <a:ln w="76200">
            <a:solidFill>
              <a:srgbClr val="FDA631"/>
            </a:solidFill>
            <a:tailEnd type="triangle"/>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FBAB6B83-1AFE-D999-601E-D35FE1D5E112}"/>
              </a:ext>
            </a:extLst>
          </p:cNvPr>
          <p:cNvSpPr txBox="1"/>
          <p:nvPr/>
        </p:nvSpPr>
        <p:spPr>
          <a:xfrm>
            <a:off x="182714" y="5264114"/>
            <a:ext cx="2251760" cy="1200329"/>
          </a:xfrm>
          <a:prstGeom prst="rect">
            <a:avLst/>
          </a:prstGeom>
          <a:noFill/>
        </p:spPr>
        <p:txBody>
          <a:bodyPr wrap="square" rtlCol="0">
            <a:spAutoFit/>
          </a:bodyPr>
          <a:lstStyle/>
          <a:p>
            <a:r>
              <a:rPr lang="en-US" dirty="0">
                <a:solidFill>
                  <a:srgbClr val="FDA631"/>
                </a:solidFill>
              </a:rPr>
              <a:t>Assumption that the </a:t>
            </a:r>
            <a:r>
              <a:rPr lang="en-US" dirty="0" err="1">
                <a:solidFill>
                  <a:srgbClr val="FDA631"/>
                </a:solidFill>
              </a:rPr>
              <a:t>mPFC</a:t>
            </a:r>
            <a:r>
              <a:rPr lang="en-US" dirty="0">
                <a:solidFill>
                  <a:srgbClr val="FDA631"/>
                </a:solidFill>
              </a:rPr>
              <a:t> structure bears relevance to the perirhinal structure</a:t>
            </a:r>
          </a:p>
        </p:txBody>
      </p:sp>
    </p:spTree>
    <p:extLst>
      <p:ext uri="{BB962C8B-B14F-4D97-AF65-F5344CB8AC3E}">
        <p14:creationId xmlns:p14="http://schemas.microsoft.com/office/powerpoint/2010/main" val="2880051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P spid="53"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7AFF94-F7FC-1CA7-C4BB-83EA56782F85}"/>
              </a:ext>
            </a:extLst>
          </p:cNvPr>
          <p:cNvSpPr>
            <a:spLocks noGrp="1"/>
          </p:cNvSpPr>
          <p:nvPr>
            <p:ph type="title"/>
          </p:nvPr>
        </p:nvSpPr>
        <p:spPr/>
        <p:txBody>
          <a:bodyPr/>
          <a:lstStyle/>
          <a:p>
            <a:r>
              <a:rPr lang="en-US" dirty="0"/>
              <a:t>Three types of relational memory tasks</a:t>
            </a:r>
          </a:p>
        </p:txBody>
      </p:sp>
      <p:sp>
        <p:nvSpPr>
          <p:cNvPr id="3" name="Content Placeholder 2">
            <a:extLst>
              <a:ext uri="{FF2B5EF4-FFF2-40B4-BE49-F238E27FC236}">
                <a16:creationId xmlns:a16="http://schemas.microsoft.com/office/drawing/2014/main" id="{01762B4F-B45C-72E1-C186-C4A151464FB3}"/>
              </a:ext>
            </a:extLst>
          </p:cNvPr>
          <p:cNvSpPr>
            <a:spLocks noGrp="1"/>
          </p:cNvSpPr>
          <p:nvPr>
            <p:ph idx="1"/>
          </p:nvPr>
        </p:nvSpPr>
        <p:spPr>
          <a:xfrm>
            <a:off x="838200" y="1690688"/>
            <a:ext cx="10515600" cy="5032375"/>
          </a:xfrm>
        </p:spPr>
        <p:txBody>
          <a:bodyPr>
            <a:normAutofit/>
          </a:bodyPr>
          <a:lstStyle/>
          <a:p>
            <a:r>
              <a:rPr lang="en-US" dirty="0"/>
              <a:t>Novel items </a:t>
            </a:r>
          </a:p>
          <a:p>
            <a:pPr lvl="1"/>
            <a:r>
              <a:rPr lang="en-US" dirty="0"/>
              <a:t>Pair fractal 1 &amp; fractal 2</a:t>
            </a:r>
          </a:p>
          <a:p>
            <a:pPr lvl="1"/>
            <a:r>
              <a:rPr lang="en-US" dirty="0"/>
              <a:t>Relations must also be novel</a:t>
            </a:r>
          </a:p>
          <a:p>
            <a:r>
              <a:rPr lang="en-US" dirty="0"/>
              <a:t>Known items + novel relations</a:t>
            </a:r>
          </a:p>
          <a:p>
            <a:pPr lvl="1"/>
            <a:r>
              <a:rPr lang="en-US" dirty="0"/>
              <a:t>Pair cow &amp; hat</a:t>
            </a:r>
          </a:p>
          <a:p>
            <a:pPr lvl="1"/>
            <a:r>
              <a:rPr lang="en-US" dirty="0"/>
              <a:t>Memory accuracy can be based on relations formed between item schemas </a:t>
            </a:r>
            <a:r>
              <a:rPr lang="en-US" i="1" dirty="0"/>
              <a:t>or </a:t>
            </a:r>
            <a:r>
              <a:rPr lang="en-US" dirty="0"/>
              <a:t>item instances</a:t>
            </a:r>
          </a:p>
          <a:p>
            <a:r>
              <a:rPr lang="en-US" dirty="0"/>
              <a:t>Known items + known relations</a:t>
            </a:r>
          </a:p>
          <a:p>
            <a:pPr lvl="1"/>
            <a:r>
              <a:rPr lang="en-US" dirty="0"/>
              <a:t>Pair cow &amp; steak</a:t>
            </a:r>
          </a:p>
          <a:p>
            <a:pPr lvl="1"/>
            <a:r>
              <a:rPr lang="en-US" dirty="0"/>
              <a:t>Memory accuracy must be based on relations formed between item instances</a:t>
            </a:r>
          </a:p>
          <a:p>
            <a:pPr lvl="1"/>
            <a:endParaRPr lang="en-US" dirty="0"/>
          </a:p>
          <a:p>
            <a:pPr lvl="1"/>
            <a:endParaRPr lang="en-US" dirty="0"/>
          </a:p>
          <a:p>
            <a:endParaRPr lang="en-US" dirty="0"/>
          </a:p>
        </p:txBody>
      </p:sp>
    </p:spTree>
    <p:extLst>
      <p:ext uri="{BB962C8B-B14F-4D97-AF65-F5344CB8AC3E}">
        <p14:creationId xmlns:p14="http://schemas.microsoft.com/office/powerpoint/2010/main" val="19489084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BC7FAE-B40D-7729-878E-A5B6B4E10AFF}"/>
              </a:ext>
            </a:extLst>
          </p:cNvPr>
          <p:cNvSpPr>
            <a:spLocks noGrp="1"/>
          </p:cNvSpPr>
          <p:nvPr>
            <p:ph type="title"/>
          </p:nvPr>
        </p:nvSpPr>
        <p:spPr>
          <a:xfrm>
            <a:off x="3357562" y="70567"/>
            <a:ext cx="8281987" cy="1325563"/>
          </a:xfrm>
        </p:spPr>
        <p:txBody>
          <a:bodyPr/>
          <a:lstStyle/>
          <a:p>
            <a:r>
              <a:rPr lang="en-US" dirty="0"/>
              <a:t>Encoding task</a:t>
            </a:r>
          </a:p>
        </p:txBody>
      </p:sp>
      <p:sp>
        <p:nvSpPr>
          <p:cNvPr id="12" name="Rectangle 11">
            <a:extLst>
              <a:ext uri="{FF2B5EF4-FFF2-40B4-BE49-F238E27FC236}">
                <a16:creationId xmlns:a16="http://schemas.microsoft.com/office/drawing/2014/main" id="{67EF658F-E736-E9D1-141D-6ABB82CAEE4C}"/>
              </a:ext>
            </a:extLst>
          </p:cNvPr>
          <p:cNvSpPr/>
          <p:nvPr/>
        </p:nvSpPr>
        <p:spPr>
          <a:xfrm>
            <a:off x="1643395" y="1146657"/>
            <a:ext cx="2620497" cy="2617255"/>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68DFAF88-E656-82EF-A799-16593E7D3A1C}"/>
              </a:ext>
            </a:extLst>
          </p:cNvPr>
          <p:cNvPicPr>
            <a:picLocks noChangeAspect="1"/>
          </p:cNvPicPr>
          <p:nvPr/>
        </p:nvPicPr>
        <p:blipFill>
          <a:blip r:embed="rId3"/>
          <a:stretch>
            <a:fillRect/>
          </a:stretch>
        </p:blipFill>
        <p:spPr>
          <a:xfrm>
            <a:off x="2472946" y="2007144"/>
            <a:ext cx="1041779" cy="930151"/>
          </a:xfrm>
          <a:prstGeom prst="rect">
            <a:avLst/>
          </a:prstGeom>
        </p:spPr>
      </p:pic>
      <p:sp>
        <p:nvSpPr>
          <p:cNvPr id="13" name="Rectangle 12">
            <a:extLst>
              <a:ext uri="{FF2B5EF4-FFF2-40B4-BE49-F238E27FC236}">
                <a16:creationId xmlns:a16="http://schemas.microsoft.com/office/drawing/2014/main" id="{963866F1-8BBE-56A6-BD07-BB840911B0C3}"/>
              </a:ext>
            </a:extLst>
          </p:cNvPr>
          <p:cNvSpPr/>
          <p:nvPr/>
        </p:nvSpPr>
        <p:spPr>
          <a:xfrm>
            <a:off x="3638217" y="2120372"/>
            <a:ext cx="2620497" cy="2617255"/>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0CD278E-A689-9EFA-17E2-F7F2E2D7B211}"/>
              </a:ext>
            </a:extLst>
          </p:cNvPr>
          <p:cNvSpPr>
            <a:spLocks noGrp="1"/>
          </p:cNvSpPr>
          <p:nvPr>
            <p:ph idx="1"/>
          </p:nvPr>
        </p:nvSpPr>
        <p:spPr>
          <a:xfrm>
            <a:off x="4671658" y="3095678"/>
            <a:ext cx="553614" cy="622093"/>
          </a:xfrm>
        </p:spPr>
        <p:txBody>
          <a:bodyPr>
            <a:normAutofit lnSpcReduction="10000"/>
          </a:bodyPr>
          <a:lstStyle/>
          <a:p>
            <a:pPr marL="0" indent="0">
              <a:buNone/>
            </a:pPr>
            <a:r>
              <a:rPr lang="en-US" sz="4000" dirty="0"/>
              <a:t>+</a:t>
            </a:r>
            <a:endParaRPr lang="en-US" dirty="0"/>
          </a:p>
        </p:txBody>
      </p:sp>
      <p:sp>
        <p:nvSpPr>
          <p:cNvPr id="14" name="Rectangle 13">
            <a:extLst>
              <a:ext uri="{FF2B5EF4-FFF2-40B4-BE49-F238E27FC236}">
                <a16:creationId xmlns:a16="http://schemas.microsoft.com/office/drawing/2014/main" id="{EF334CC4-1382-4623-262E-A56C1FA676CD}"/>
              </a:ext>
            </a:extLst>
          </p:cNvPr>
          <p:cNvSpPr/>
          <p:nvPr/>
        </p:nvSpPr>
        <p:spPr>
          <a:xfrm>
            <a:off x="5509547" y="2937295"/>
            <a:ext cx="2620497" cy="2617255"/>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Picture 4" descr="Premium Photo | Roasted beef steaks isolated on white background">
            <a:extLst>
              <a:ext uri="{FF2B5EF4-FFF2-40B4-BE49-F238E27FC236}">
                <a16:creationId xmlns:a16="http://schemas.microsoft.com/office/drawing/2014/main" id="{EBB29267-CEF1-0867-B1B7-1F966292E04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2453" t="3792" r="18923" b="6739"/>
          <a:stretch/>
        </p:blipFill>
        <p:spPr bwMode="auto">
          <a:xfrm>
            <a:off x="5569906" y="3763912"/>
            <a:ext cx="828038" cy="841793"/>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a:extLst>
              <a:ext uri="{FF2B5EF4-FFF2-40B4-BE49-F238E27FC236}">
                <a16:creationId xmlns:a16="http://schemas.microsoft.com/office/drawing/2014/main" id="{084F3FFF-2003-5CB1-B3AA-033BAB9FC717}"/>
              </a:ext>
            </a:extLst>
          </p:cNvPr>
          <p:cNvSpPr/>
          <p:nvPr/>
        </p:nvSpPr>
        <p:spPr>
          <a:xfrm>
            <a:off x="7651432" y="3992535"/>
            <a:ext cx="2620497" cy="2617255"/>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Content Placeholder 2">
            <a:extLst>
              <a:ext uri="{FF2B5EF4-FFF2-40B4-BE49-F238E27FC236}">
                <a16:creationId xmlns:a16="http://schemas.microsoft.com/office/drawing/2014/main" id="{53E8C5C0-6DBC-A182-2D6B-76C1DB6852A2}"/>
              </a:ext>
            </a:extLst>
          </p:cNvPr>
          <p:cNvSpPr txBox="1">
            <a:spLocks/>
          </p:cNvSpPr>
          <p:nvPr/>
        </p:nvSpPr>
        <p:spPr>
          <a:xfrm>
            <a:off x="8115756" y="5018691"/>
            <a:ext cx="1878642" cy="62209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Response</a:t>
            </a:r>
          </a:p>
        </p:txBody>
      </p:sp>
      <p:sp>
        <p:nvSpPr>
          <p:cNvPr id="7" name="Content Placeholder 2">
            <a:extLst>
              <a:ext uri="{FF2B5EF4-FFF2-40B4-BE49-F238E27FC236}">
                <a16:creationId xmlns:a16="http://schemas.microsoft.com/office/drawing/2014/main" id="{ED8C7DA4-0BCB-E93B-B2CE-C4815DD2F45A}"/>
              </a:ext>
            </a:extLst>
          </p:cNvPr>
          <p:cNvSpPr txBox="1">
            <a:spLocks/>
          </p:cNvSpPr>
          <p:nvPr/>
        </p:nvSpPr>
        <p:spPr>
          <a:xfrm>
            <a:off x="4466190" y="1396130"/>
            <a:ext cx="7299131" cy="54184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Some pairs are related, some are unrelated</a:t>
            </a:r>
          </a:p>
        </p:txBody>
      </p:sp>
      <p:sp>
        <p:nvSpPr>
          <p:cNvPr id="8" name="Oval 7">
            <a:extLst>
              <a:ext uri="{FF2B5EF4-FFF2-40B4-BE49-F238E27FC236}">
                <a16:creationId xmlns:a16="http://schemas.microsoft.com/office/drawing/2014/main" id="{2D4C88E0-0318-9C18-3A05-87D83277E5D5}"/>
              </a:ext>
            </a:extLst>
          </p:cNvPr>
          <p:cNvSpPr/>
          <p:nvPr/>
        </p:nvSpPr>
        <p:spPr>
          <a:xfrm>
            <a:off x="5455032" y="3691647"/>
            <a:ext cx="1038529" cy="1038529"/>
          </a:xfrm>
          <a:prstGeom prst="ellipse">
            <a:avLst/>
          </a:prstGeom>
          <a:noFill/>
          <a:ln w="76200">
            <a:solidFill>
              <a:srgbClr val="FF7C8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518ABD16-CD6B-9F8F-6D6E-809DCF787A21}"/>
              </a:ext>
            </a:extLst>
          </p:cNvPr>
          <p:cNvSpPr/>
          <p:nvPr/>
        </p:nvSpPr>
        <p:spPr>
          <a:xfrm>
            <a:off x="2402229" y="1842948"/>
            <a:ext cx="1112496" cy="1112496"/>
          </a:xfrm>
          <a:prstGeom prst="ellipse">
            <a:avLst/>
          </a:prstGeom>
          <a:noFill/>
          <a:ln w="7620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Content Placeholder 2">
            <a:extLst>
              <a:ext uri="{FF2B5EF4-FFF2-40B4-BE49-F238E27FC236}">
                <a16:creationId xmlns:a16="http://schemas.microsoft.com/office/drawing/2014/main" id="{E06259B9-CC29-D522-2DA3-D9645E8DF329}"/>
              </a:ext>
            </a:extLst>
          </p:cNvPr>
          <p:cNvSpPr txBox="1">
            <a:spLocks/>
          </p:cNvSpPr>
          <p:nvPr/>
        </p:nvSpPr>
        <p:spPr>
          <a:xfrm>
            <a:off x="2017801" y="1220855"/>
            <a:ext cx="1112497" cy="62209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solidFill>
                  <a:srgbClr val="7030A0"/>
                </a:solidFill>
              </a:rPr>
              <a:t>“Cue”</a:t>
            </a:r>
          </a:p>
        </p:txBody>
      </p:sp>
      <p:sp>
        <p:nvSpPr>
          <p:cNvPr id="17" name="Content Placeholder 2">
            <a:extLst>
              <a:ext uri="{FF2B5EF4-FFF2-40B4-BE49-F238E27FC236}">
                <a16:creationId xmlns:a16="http://schemas.microsoft.com/office/drawing/2014/main" id="{AE11192F-8D5A-AC1F-3799-E8CC8A89AD4E}"/>
              </a:ext>
            </a:extLst>
          </p:cNvPr>
          <p:cNvSpPr txBox="1">
            <a:spLocks/>
          </p:cNvSpPr>
          <p:nvPr/>
        </p:nvSpPr>
        <p:spPr>
          <a:xfrm>
            <a:off x="6188397" y="3359630"/>
            <a:ext cx="1430837" cy="62209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solidFill>
                  <a:srgbClr val="FF7C80"/>
                </a:solidFill>
              </a:rPr>
              <a:t>“Target”</a:t>
            </a:r>
          </a:p>
        </p:txBody>
      </p:sp>
      <p:sp>
        <p:nvSpPr>
          <p:cNvPr id="18" name="Content Placeholder 2">
            <a:extLst>
              <a:ext uri="{FF2B5EF4-FFF2-40B4-BE49-F238E27FC236}">
                <a16:creationId xmlns:a16="http://schemas.microsoft.com/office/drawing/2014/main" id="{3D07BFE2-DE7F-6FD8-6974-6F53BB7DF597}"/>
              </a:ext>
            </a:extLst>
          </p:cNvPr>
          <p:cNvSpPr txBox="1">
            <a:spLocks/>
          </p:cNvSpPr>
          <p:nvPr/>
        </p:nvSpPr>
        <p:spPr>
          <a:xfrm>
            <a:off x="8277606" y="2191468"/>
            <a:ext cx="3635277" cy="1347993"/>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Each</a:t>
            </a:r>
            <a:r>
              <a:rPr lang="en-US" dirty="0">
                <a:solidFill>
                  <a:srgbClr val="7030A0"/>
                </a:solidFill>
              </a:rPr>
              <a:t> cue </a:t>
            </a:r>
            <a:r>
              <a:rPr lang="en-US" dirty="0"/>
              <a:t>appears once</a:t>
            </a:r>
          </a:p>
          <a:p>
            <a:pPr marL="0" indent="0">
              <a:buFont typeface="Arial" panose="020B0604020202020204" pitchFamily="34" charset="0"/>
              <a:buNone/>
            </a:pPr>
            <a:r>
              <a:rPr lang="en-US" dirty="0"/>
              <a:t>Each </a:t>
            </a:r>
            <a:r>
              <a:rPr lang="en-US" dirty="0">
                <a:solidFill>
                  <a:srgbClr val="FF7C80"/>
                </a:solidFill>
              </a:rPr>
              <a:t>target</a:t>
            </a:r>
            <a:r>
              <a:rPr lang="en-US" dirty="0"/>
              <a:t> is paired with three cues</a:t>
            </a:r>
          </a:p>
        </p:txBody>
      </p:sp>
      <p:sp>
        <p:nvSpPr>
          <p:cNvPr id="20" name="TextBox 19">
            <a:extLst>
              <a:ext uri="{FF2B5EF4-FFF2-40B4-BE49-F238E27FC236}">
                <a16:creationId xmlns:a16="http://schemas.microsoft.com/office/drawing/2014/main" id="{D0812B59-8AAA-992A-662C-435FAB5DC449}"/>
              </a:ext>
            </a:extLst>
          </p:cNvPr>
          <p:cNvSpPr txBox="1"/>
          <p:nvPr/>
        </p:nvSpPr>
        <p:spPr>
          <a:xfrm>
            <a:off x="435044" y="4811828"/>
            <a:ext cx="4656151" cy="2031325"/>
          </a:xfrm>
          <a:prstGeom prst="rect">
            <a:avLst/>
          </a:prstGeom>
          <a:noFill/>
        </p:spPr>
        <p:txBody>
          <a:bodyPr wrap="square" rtlCol="0">
            <a:spAutoFit/>
          </a:bodyPr>
          <a:lstStyle/>
          <a:p>
            <a:r>
              <a:rPr lang="en-US" dirty="0"/>
              <a:t>Target position may vary (e.g., left/right). This creates another dimension (spatial relation) that can be tested. </a:t>
            </a:r>
          </a:p>
          <a:p>
            <a:r>
              <a:rPr lang="en-US" dirty="0"/>
              <a:t>Because targets appear multiple times, then the target’s position relative to the cue image must be a relation and “position” can’t just be encoded as a feature of the item</a:t>
            </a:r>
          </a:p>
        </p:txBody>
      </p:sp>
      <p:sp>
        <p:nvSpPr>
          <p:cNvPr id="4" name="TextBox 3">
            <a:extLst>
              <a:ext uri="{FF2B5EF4-FFF2-40B4-BE49-F238E27FC236}">
                <a16:creationId xmlns:a16="http://schemas.microsoft.com/office/drawing/2014/main" id="{4A541466-D8CF-ECC6-FEE5-6D191FB3BD08}"/>
              </a:ext>
            </a:extLst>
          </p:cNvPr>
          <p:cNvSpPr txBox="1"/>
          <p:nvPr/>
        </p:nvSpPr>
        <p:spPr>
          <a:xfrm>
            <a:off x="10273515" y="4400596"/>
            <a:ext cx="1918485" cy="1754326"/>
          </a:xfrm>
          <a:prstGeom prst="rect">
            <a:avLst/>
          </a:prstGeom>
          <a:noFill/>
        </p:spPr>
        <p:txBody>
          <a:bodyPr wrap="square" rtlCol="0">
            <a:spAutoFit/>
          </a:bodyPr>
          <a:lstStyle/>
          <a:p>
            <a:r>
              <a:rPr lang="en-US" dirty="0"/>
              <a:t>Presenting on different screens deters unitization, but does this make the task too hard for OAs?</a:t>
            </a:r>
          </a:p>
        </p:txBody>
      </p:sp>
    </p:spTree>
    <p:extLst>
      <p:ext uri="{BB962C8B-B14F-4D97-AF65-F5344CB8AC3E}">
        <p14:creationId xmlns:p14="http://schemas.microsoft.com/office/powerpoint/2010/main" val="21441637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BC7FAE-B40D-7729-878E-A5B6B4E10AFF}"/>
              </a:ext>
            </a:extLst>
          </p:cNvPr>
          <p:cNvSpPr>
            <a:spLocks noGrp="1"/>
          </p:cNvSpPr>
          <p:nvPr>
            <p:ph type="title"/>
          </p:nvPr>
        </p:nvSpPr>
        <p:spPr>
          <a:xfrm>
            <a:off x="5745690" y="-192669"/>
            <a:ext cx="6759931" cy="1325563"/>
          </a:xfrm>
        </p:spPr>
        <p:txBody>
          <a:bodyPr/>
          <a:lstStyle/>
          <a:p>
            <a:r>
              <a:rPr lang="en-US" dirty="0"/>
              <a:t>Retrieval task</a:t>
            </a:r>
          </a:p>
        </p:txBody>
      </p:sp>
      <p:sp>
        <p:nvSpPr>
          <p:cNvPr id="12" name="Rectangle 11">
            <a:extLst>
              <a:ext uri="{FF2B5EF4-FFF2-40B4-BE49-F238E27FC236}">
                <a16:creationId xmlns:a16="http://schemas.microsoft.com/office/drawing/2014/main" id="{67EF658F-E736-E9D1-141D-6ABB82CAEE4C}"/>
              </a:ext>
            </a:extLst>
          </p:cNvPr>
          <p:cNvSpPr/>
          <p:nvPr/>
        </p:nvSpPr>
        <p:spPr>
          <a:xfrm>
            <a:off x="2005347" y="588668"/>
            <a:ext cx="2620497" cy="2617255"/>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68DFAF88-E656-82EF-A799-16593E7D3A1C}"/>
              </a:ext>
            </a:extLst>
          </p:cNvPr>
          <p:cNvPicPr>
            <a:picLocks noChangeAspect="1"/>
          </p:cNvPicPr>
          <p:nvPr/>
        </p:nvPicPr>
        <p:blipFill>
          <a:blip r:embed="rId3"/>
          <a:stretch>
            <a:fillRect/>
          </a:stretch>
        </p:blipFill>
        <p:spPr>
          <a:xfrm>
            <a:off x="2711328" y="1449155"/>
            <a:ext cx="1041779" cy="930151"/>
          </a:xfrm>
          <a:prstGeom prst="rect">
            <a:avLst/>
          </a:prstGeom>
        </p:spPr>
      </p:pic>
      <p:sp>
        <p:nvSpPr>
          <p:cNvPr id="19" name="Content Placeholder 2">
            <a:extLst>
              <a:ext uri="{FF2B5EF4-FFF2-40B4-BE49-F238E27FC236}">
                <a16:creationId xmlns:a16="http://schemas.microsoft.com/office/drawing/2014/main" id="{142ABEF4-72E3-2178-448B-BEFF47558F62}"/>
              </a:ext>
            </a:extLst>
          </p:cNvPr>
          <p:cNvSpPr txBox="1">
            <a:spLocks/>
          </p:cNvSpPr>
          <p:nvPr/>
        </p:nvSpPr>
        <p:spPr>
          <a:xfrm>
            <a:off x="281790" y="3820240"/>
            <a:ext cx="6101716" cy="3392115"/>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Must avoid participants simply using logic to answer the pair without memory </a:t>
            </a:r>
          </a:p>
          <a:p>
            <a:pPr lvl="1"/>
            <a:r>
              <a:rPr lang="en-US" dirty="0"/>
              <a:t>If participants were previously cued with a </a:t>
            </a:r>
            <a:r>
              <a:rPr lang="en-US" i="1" dirty="0"/>
              <a:t>chicken</a:t>
            </a:r>
            <a:r>
              <a:rPr lang="en-US" dirty="0"/>
              <a:t> and retrieved </a:t>
            </a:r>
            <a:r>
              <a:rPr lang="en-US" i="1" dirty="0"/>
              <a:t>drumstick</a:t>
            </a:r>
            <a:r>
              <a:rPr lang="en-US" dirty="0"/>
              <a:t>, when they are cued with a </a:t>
            </a:r>
            <a:r>
              <a:rPr lang="en-US" i="1" dirty="0"/>
              <a:t>cow</a:t>
            </a:r>
            <a:r>
              <a:rPr lang="en-US" dirty="0"/>
              <a:t>, we want to avoid them reasoning that the pair must be </a:t>
            </a:r>
            <a:r>
              <a:rPr lang="en-US" i="1" dirty="0"/>
              <a:t>steak </a:t>
            </a:r>
            <a:r>
              <a:rPr lang="en-US" dirty="0"/>
              <a:t>(especially if participants know steak was shown at one point during encoding but don’t have memory for its pair)</a:t>
            </a:r>
          </a:p>
          <a:p>
            <a:r>
              <a:rPr lang="en-US" dirty="0"/>
              <a:t>To do this, the encoding task is designed such that the full set of target images includes three options that are related to each cue</a:t>
            </a:r>
          </a:p>
          <a:p>
            <a:pPr lvl="1"/>
            <a:r>
              <a:rPr lang="en-US" dirty="0"/>
              <a:t>E.g., the targets included a barn and a milk container, which can serve as foils in the retrieval test</a:t>
            </a:r>
          </a:p>
        </p:txBody>
      </p:sp>
      <p:sp>
        <p:nvSpPr>
          <p:cNvPr id="20" name="Oval 19">
            <a:extLst>
              <a:ext uri="{FF2B5EF4-FFF2-40B4-BE49-F238E27FC236}">
                <a16:creationId xmlns:a16="http://schemas.microsoft.com/office/drawing/2014/main" id="{BF508DD8-93B6-5DD8-A9E3-F4B09A65C66D}"/>
              </a:ext>
            </a:extLst>
          </p:cNvPr>
          <p:cNvSpPr/>
          <p:nvPr/>
        </p:nvSpPr>
        <p:spPr>
          <a:xfrm>
            <a:off x="2425986" y="1151120"/>
            <a:ext cx="1450613" cy="1450613"/>
          </a:xfrm>
          <a:prstGeom prst="ellipse">
            <a:avLst/>
          </a:prstGeom>
          <a:noFill/>
          <a:ln w="7620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BDDD6C80-1D0C-88C2-7BD9-270EF726A0D7}"/>
              </a:ext>
            </a:extLst>
          </p:cNvPr>
          <p:cNvSpPr txBox="1"/>
          <p:nvPr/>
        </p:nvSpPr>
        <p:spPr>
          <a:xfrm>
            <a:off x="2126958" y="618690"/>
            <a:ext cx="845103" cy="523220"/>
          </a:xfrm>
          <a:prstGeom prst="rect">
            <a:avLst/>
          </a:prstGeom>
          <a:noFill/>
        </p:spPr>
        <p:txBody>
          <a:bodyPr wrap="none" rtlCol="0">
            <a:spAutoFit/>
          </a:bodyPr>
          <a:lstStyle/>
          <a:p>
            <a:r>
              <a:rPr lang="en-US" sz="2800" dirty="0">
                <a:solidFill>
                  <a:srgbClr val="7030A0"/>
                </a:solidFill>
                <a:latin typeface="Arial" panose="020B0604020202020204" pitchFamily="34" charset="0"/>
                <a:cs typeface="Arial" panose="020B0604020202020204" pitchFamily="34" charset="0"/>
              </a:rPr>
              <a:t>Cue</a:t>
            </a:r>
          </a:p>
        </p:txBody>
      </p:sp>
      <p:sp>
        <p:nvSpPr>
          <p:cNvPr id="14" name="Rectangle 13">
            <a:extLst>
              <a:ext uri="{FF2B5EF4-FFF2-40B4-BE49-F238E27FC236}">
                <a16:creationId xmlns:a16="http://schemas.microsoft.com/office/drawing/2014/main" id="{EF334CC4-1382-4623-262E-A56C1FA676CD}"/>
              </a:ext>
            </a:extLst>
          </p:cNvPr>
          <p:cNvSpPr/>
          <p:nvPr/>
        </p:nvSpPr>
        <p:spPr>
          <a:xfrm>
            <a:off x="3579588" y="872968"/>
            <a:ext cx="2620497" cy="2617255"/>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Content Placeholder 2">
            <a:extLst>
              <a:ext uri="{FF2B5EF4-FFF2-40B4-BE49-F238E27FC236}">
                <a16:creationId xmlns:a16="http://schemas.microsoft.com/office/drawing/2014/main" id="{53E8C5C0-6DBC-A182-2D6B-76C1DB6852A2}"/>
              </a:ext>
            </a:extLst>
          </p:cNvPr>
          <p:cNvSpPr txBox="1">
            <a:spLocks/>
          </p:cNvSpPr>
          <p:nvPr/>
        </p:nvSpPr>
        <p:spPr>
          <a:xfrm>
            <a:off x="3766775" y="1362925"/>
            <a:ext cx="2246122" cy="44429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dirty="0"/>
              <a:t>Is pair related?</a:t>
            </a:r>
          </a:p>
        </p:txBody>
      </p:sp>
      <p:sp>
        <p:nvSpPr>
          <p:cNvPr id="24" name="Content Placeholder 2">
            <a:extLst>
              <a:ext uri="{FF2B5EF4-FFF2-40B4-BE49-F238E27FC236}">
                <a16:creationId xmlns:a16="http://schemas.microsoft.com/office/drawing/2014/main" id="{9CABDC0A-AA5E-DD8A-1DAF-6EC84D2FF11F}"/>
              </a:ext>
            </a:extLst>
          </p:cNvPr>
          <p:cNvSpPr txBox="1">
            <a:spLocks/>
          </p:cNvSpPr>
          <p:nvPr/>
        </p:nvSpPr>
        <p:spPr>
          <a:xfrm>
            <a:off x="4201983" y="2024694"/>
            <a:ext cx="1433181" cy="62209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dirty="0"/>
              <a:t>Yes / No</a:t>
            </a:r>
          </a:p>
        </p:txBody>
      </p:sp>
      <p:sp>
        <p:nvSpPr>
          <p:cNvPr id="13" name="Rectangle 12">
            <a:extLst>
              <a:ext uri="{FF2B5EF4-FFF2-40B4-BE49-F238E27FC236}">
                <a16:creationId xmlns:a16="http://schemas.microsoft.com/office/drawing/2014/main" id="{963866F1-8BBE-56A6-BD07-BB840911B0C3}"/>
              </a:ext>
            </a:extLst>
          </p:cNvPr>
          <p:cNvSpPr/>
          <p:nvPr/>
        </p:nvSpPr>
        <p:spPr>
          <a:xfrm>
            <a:off x="5667923" y="1279454"/>
            <a:ext cx="2620497" cy="2617255"/>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60CD278E-A689-9EFA-17E2-F7F2E2D7B211}"/>
              </a:ext>
            </a:extLst>
          </p:cNvPr>
          <p:cNvSpPr>
            <a:spLocks noGrp="1"/>
          </p:cNvSpPr>
          <p:nvPr>
            <p:ph idx="1"/>
          </p:nvPr>
        </p:nvSpPr>
        <p:spPr>
          <a:xfrm>
            <a:off x="5978121" y="1450530"/>
            <a:ext cx="2240112" cy="622093"/>
          </a:xfrm>
        </p:spPr>
        <p:txBody>
          <a:bodyPr>
            <a:normAutofit/>
          </a:bodyPr>
          <a:lstStyle/>
          <a:p>
            <a:pPr marL="0" indent="0">
              <a:buNone/>
            </a:pPr>
            <a:r>
              <a:rPr lang="en-US" dirty="0"/>
              <a:t>Select pair</a:t>
            </a:r>
          </a:p>
        </p:txBody>
      </p:sp>
      <p:pic>
        <p:nvPicPr>
          <p:cNvPr id="9" name="Picture 4" descr="Premium Photo | Roasted beef steaks isolated on white background">
            <a:extLst>
              <a:ext uri="{FF2B5EF4-FFF2-40B4-BE49-F238E27FC236}">
                <a16:creationId xmlns:a16="http://schemas.microsoft.com/office/drawing/2014/main" id="{EBB29267-CEF1-0867-B1B7-1F966292E04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2453" t="3792" r="18923" b="6739"/>
          <a:stretch/>
        </p:blipFill>
        <p:spPr bwMode="auto">
          <a:xfrm>
            <a:off x="7318321" y="2268881"/>
            <a:ext cx="828038" cy="841793"/>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3D rendering of a red wooden barn isolated on a white background. AI  Generated 23378910 Stock Photo at Vecteezy">
            <a:extLst>
              <a:ext uri="{FF2B5EF4-FFF2-40B4-BE49-F238E27FC236}">
                <a16:creationId xmlns:a16="http://schemas.microsoft.com/office/drawing/2014/main" id="{CBAE67AB-A3A9-958A-B63E-81A252AE2C5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58442" y="2296888"/>
            <a:ext cx="1067466" cy="711644"/>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2,053 White Milk Carton Stock Photos - Free &amp; Royalty-Free Stock Photos  from Dreamstime">
            <a:extLst>
              <a:ext uri="{FF2B5EF4-FFF2-40B4-BE49-F238E27FC236}">
                <a16:creationId xmlns:a16="http://schemas.microsoft.com/office/drawing/2014/main" id="{2990E7BB-0535-4068-5D6E-85141A6C2469}"/>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1" r="4998" b="11693"/>
          <a:stretch/>
        </p:blipFill>
        <p:spPr bwMode="auto">
          <a:xfrm>
            <a:off x="6701296" y="2177199"/>
            <a:ext cx="553750" cy="942629"/>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a:extLst>
              <a:ext uri="{FF2B5EF4-FFF2-40B4-BE49-F238E27FC236}">
                <a16:creationId xmlns:a16="http://schemas.microsoft.com/office/drawing/2014/main" id="{084F3FFF-2003-5CB1-B3AA-033BAB9FC717}"/>
              </a:ext>
            </a:extLst>
          </p:cNvPr>
          <p:cNvSpPr/>
          <p:nvPr/>
        </p:nvSpPr>
        <p:spPr>
          <a:xfrm>
            <a:off x="8011544" y="1517839"/>
            <a:ext cx="2620497" cy="2617255"/>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Content Placeholder 2">
            <a:extLst>
              <a:ext uri="{FF2B5EF4-FFF2-40B4-BE49-F238E27FC236}">
                <a16:creationId xmlns:a16="http://schemas.microsoft.com/office/drawing/2014/main" id="{1D8A5972-B8D6-F13E-9DD4-B05C5108135B}"/>
              </a:ext>
            </a:extLst>
          </p:cNvPr>
          <p:cNvSpPr txBox="1">
            <a:spLocks/>
          </p:cNvSpPr>
          <p:nvPr/>
        </p:nvSpPr>
        <p:spPr>
          <a:xfrm>
            <a:off x="8305403" y="1983446"/>
            <a:ext cx="2240112" cy="622093"/>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Pair position?</a:t>
            </a:r>
          </a:p>
        </p:txBody>
      </p:sp>
      <p:sp>
        <p:nvSpPr>
          <p:cNvPr id="26" name="Content Placeholder 2">
            <a:extLst>
              <a:ext uri="{FF2B5EF4-FFF2-40B4-BE49-F238E27FC236}">
                <a16:creationId xmlns:a16="http://schemas.microsoft.com/office/drawing/2014/main" id="{1CAA66EC-3572-FDEB-AEB6-29F48C8A0B4E}"/>
              </a:ext>
            </a:extLst>
          </p:cNvPr>
          <p:cNvSpPr txBox="1">
            <a:spLocks/>
          </p:cNvSpPr>
          <p:nvPr/>
        </p:nvSpPr>
        <p:spPr>
          <a:xfrm>
            <a:off x="8305403" y="2748223"/>
            <a:ext cx="2240112" cy="622093"/>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dirty="0"/>
              <a:t>Left / right /</a:t>
            </a:r>
            <a:br>
              <a:rPr lang="en-US" dirty="0"/>
            </a:br>
            <a:r>
              <a:rPr lang="en-US" dirty="0"/>
              <a:t>above / below</a:t>
            </a:r>
          </a:p>
        </p:txBody>
      </p:sp>
      <p:sp>
        <p:nvSpPr>
          <p:cNvPr id="28" name="TextBox 27">
            <a:extLst>
              <a:ext uri="{FF2B5EF4-FFF2-40B4-BE49-F238E27FC236}">
                <a16:creationId xmlns:a16="http://schemas.microsoft.com/office/drawing/2014/main" id="{92B4FFC7-AC36-FB1B-35BB-B5DB8612657E}"/>
              </a:ext>
            </a:extLst>
          </p:cNvPr>
          <p:cNvSpPr txBox="1"/>
          <p:nvPr/>
        </p:nvSpPr>
        <p:spPr>
          <a:xfrm>
            <a:off x="5745690" y="3286576"/>
            <a:ext cx="2178802" cy="338554"/>
          </a:xfrm>
          <a:prstGeom prst="rect">
            <a:avLst/>
          </a:prstGeom>
          <a:noFill/>
        </p:spPr>
        <p:txBody>
          <a:bodyPr wrap="none" rtlCol="0">
            <a:spAutoFit/>
          </a:bodyPr>
          <a:lstStyle/>
          <a:p>
            <a:r>
              <a:rPr lang="en-US" sz="1600" dirty="0">
                <a:solidFill>
                  <a:srgbClr val="FF0000"/>
                </a:solidFill>
                <a:latin typeface="Arial" panose="020B0604020202020204" pitchFamily="34" charset="0"/>
                <a:cs typeface="Arial" panose="020B0604020202020204" pitchFamily="34" charset="0"/>
              </a:rPr>
              <a:t>Foils are related &amp; old</a:t>
            </a:r>
          </a:p>
        </p:txBody>
      </p:sp>
      <p:sp>
        <p:nvSpPr>
          <p:cNvPr id="29" name="TextBox 28">
            <a:extLst>
              <a:ext uri="{FF2B5EF4-FFF2-40B4-BE49-F238E27FC236}">
                <a16:creationId xmlns:a16="http://schemas.microsoft.com/office/drawing/2014/main" id="{2D35A2EE-671A-DE5A-B20F-1530B0EABD37}"/>
              </a:ext>
            </a:extLst>
          </p:cNvPr>
          <p:cNvSpPr txBox="1"/>
          <p:nvPr/>
        </p:nvSpPr>
        <p:spPr>
          <a:xfrm>
            <a:off x="6846071" y="4251376"/>
            <a:ext cx="4919908" cy="2554545"/>
          </a:xfrm>
          <a:prstGeom prst="rect">
            <a:avLst/>
          </a:prstGeom>
          <a:noFill/>
        </p:spPr>
        <p:txBody>
          <a:bodyPr wrap="square" rtlCol="0">
            <a:spAutoFit/>
          </a:bodyPr>
          <a:lstStyle/>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Could also ask about temporal order between cue and target</a:t>
            </a: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However, it is possible that participants encoded this information as a cue feature (i.e., encode “cow appeared first” rather than “cow appeared before steak”). </a:t>
            </a: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This isn’t a problem for the spatial test because the cue is always centered, and the target position varied depending on which cue it was paired with</a:t>
            </a:r>
          </a:p>
        </p:txBody>
      </p:sp>
      <p:sp>
        <p:nvSpPr>
          <p:cNvPr id="8" name="Content Placeholder 2">
            <a:extLst>
              <a:ext uri="{FF2B5EF4-FFF2-40B4-BE49-F238E27FC236}">
                <a16:creationId xmlns:a16="http://schemas.microsoft.com/office/drawing/2014/main" id="{71AC6A2B-DA00-27A2-514C-EEA1ECE391ED}"/>
              </a:ext>
            </a:extLst>
          </p:cNvPr>
          <p:cNvSpPr txBox="1">
            <a:spLocks/>
          </p:cNvSpPr>
          <p:nvPr/>
        </p:nvSpPr>
        <p:spPr>
          <a:xfrm>
            <a:off x="2191634" y="2747660"/>
            <a:ext cx="1123961" cy="481302"/>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dirty="0"/>
              <a:t>R/K/N or Old/New</a:t>
            </a:r>
          </a:p>
        </p:txBody>
      </p:sp>
    </p:spTree>
    <p:extLst>
      <p:ext uri="{BB962C8B-B14F-4D97-AF65-F5344CB8AC3E}">
        <p14:creationId xmlns:p14="http://schemas.microsoft.com/office/powerpoint/2010/main" val="38650447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80BEE-33FB-A5F4-29CF-4F559B33DD6E}"/>
              </a:ext>
            </a:extLst>
          </p:cNvPr>
          <p:cNvSpPr>
            <a:spLocks noGrp="1"/>
          </p:cNvSpPr>
          <p:nvPr>
            <p:ph type="title"/>
          </p:nvPr>
        </p:nvSpPr>
        <p:spPr/>
        <p:txBody>
          <a:bodyPr/>
          <a:lstStyle/>
          <a:p>
            <a:r>
              <a:rPr lang="en-US" dirty="0"/>
              <a:t>Extra test before the main retrieval task</a:t>
            </a:r>
          </a:p>
        </p:txBody>
      </p:sp>
      <p:sp>
        <p:nvSpPr>
          <p:cNvPr id="3" name="Content Placeholder 2">
            <a:extLst>
              <a:ext uri="{FF2B5EF4-FFF2-40B4-BE49-F238E27FC236}">
                <a16:creationId xmlns:a16="http://schemas.microsoft.com/office/drawing/2014/main" id="{F833893A-4A3F-4F96-D69B-7F4E43A86D59}"/>
              </a:ext>
            </a:extLst>
          </p:cNvPr>
          <p:cNvSpPr>
            <a:spLocks noGrp="1"/>
          </p:cNvSpPr>
          <p:nvPr>
            <p:ph idx="1"/>
          </p:nvPr>
        </p:nvSpPr>
        <p:spPr/>
        <p:txBody>
          <a:bodyPr/>
          <a:lstStyle/>
          <a:p>
            <a:r>
              <a:rPr lang="en-US" dirty="0"/>
              <a:t>Before the retrieval scanning, participants complete an Old/New test for the target images</a:t>
            </a:r>
          </a:p>
          <a:p>
            <a:pPr lvl="1"/>
            <a:r>
              <a:rPr lang="en-US" dirty="0"/>
              <a:t>Priming participants with these may improve performance on the relational memory test</a:t>
            </a:r>
          </a:p>
          <a:p>
            <a:pPr lvl="1"/>
            <a:r>
              <a:rPr lang="en-US" dirty="0"/>
              <a:t>Also, given that the targets will be shown three times during the retrieval test, there could be differences between the 1</a:t>
            </a:r>
            <a:r>
              <a:rPr lang="en-US" baseline="30000" dirty="0"/>
              <a:t>st </a:t>
            </a:r>
            <a:r>
              <a:rPr lang="en-US" dirty="0"/>
              <a:t>time they appear vs. 2</a:t>
            </a:r>
            <a:r>
              <a:rPr lang="en-US" baseline="30000" dirty="0"/>
              <a:t>nd</a:t>
            </a:r>
            <a:r>
              <a:rPr lang="en-US" dirty="0"/>
              <a:t>/3</a:t>
            </a:r>
            <a:r>
              <a:rPr lang="en-US" baseline="30000" dirty="0"/>
              <a:t>rd</a:t>
            </a:r>
            <a:r>
              <a:rPr lang="en-US" dirty="0"/>
              <a:t> times</a:t>
            </a:r>
          </a:p>
          <a:p>
            <a:pPr lvl="2"/>
            <a:r>
              <a:rPr lang="en-US" dirty="0"/>
              <a:t>Presenting the images in an Old/New test beforehand mitigates this issue</a:t>
            </a:r>
          </a:p>
        </p:txBody>
      </p:sp>
    </p:spTree>
    <p:extLst>
      <p:ext uri="{BB962C8B-B14F-4D97-AF65-F5344CB8AC3E}">
        <p14:creationId xmlns:p14="http://schemas.microsoft.com/office/powerpoint/2010/main" val="88962707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AE450-34EF-2588-5246-1D8930F3D891}"/>
              </a:ext>
            </a:extLst>
          </p:cNvPr>
          <p:cNvSpPr>
            <a:spLocks noGrp="1"/>
          </p:cNvSpPr>
          <p:nvPr>
            <p:ph type="title"/>
          </p:nvPr>
        </p:nvSpPr>
        <p:spPr>
          <a:xfrm>
            <a:off x="838200" y="104775"/>
            <a:ext cx="10515600" cy="1325563"/>
          </a:xfrm>
        </p:spPr>
        <p:txBody>
          <a:bodyPr/>
          <a:lstStyle/>
          <a:p>
            <a:r>
              <a:rPr lang="en-US" dirty="0"/>
              <a:t>Multiple RDMs</a:t>
            </a:r>
          </a:p>
        </p:txBody>
      </p:sp>
      <p:sp>
        <p:nvSpPr>
          <p:cNvPr id="3" name="Content Placeholder 2">
            <a:extLst>
              <a:ext uri="{FF2B5EF4-FFF2-40B4-BE49-F238E27FC236}">
                <a16:creationId xmlns:a16="http://schemas.microsoft.com/office/drawing/2014/main" id="{3E873500-CBAE-3B91-4A3E-594122AA8853}"/>
              </a:ext>
            </a:extLst>
          </p:cNvPr>
          <p:cNvSpPr>
            <a:spLocks noGrp="1"/>
          </p:cNvSpPr>
          <p:nvPr>
            <p:ph idx="1"/>
          </p:nvPr>
        </p:nvSpPr>
        <p:spPr>
          <a:xfrm>
            <a:off x="787400" y="1501774"/>
            <a:ext cx="10667314" cy="4865108"/>
          </a:xfrm>
        </p:spPr>
        <p:txBody>
          <a:bodyPr>
            <a:normAutofit/>
          </a:bodyPr>
          <a:lstStyle/>
          <a:p>
            <a:r>
              <a:rPr lang="en-US" dirty="0"/>
              <a:t>Type of analogy hierarchy:</a:t>
            </a:r>
          </a:p>
          <a:p>
            <a:pPr lvl="1"/>
            <a:r>
              <a:rPr lang="en-US" dirty="0"/>
              <a:t>Functional</a:t>
            </a:r>
          </a:p>
          <a:p>
            <a:pPr lvl="1"/>
            <a:r>
              <a:rPr lang="en-US" dirty="0"/>
              <a:t>Characteristic</a:t>
            </a:r>
          </a:p>
          <a:p>
            <a:r>
              <a:rPr lang="en-US" dirty="0"/>
              <a:t>Position:</a:t>
            </a:r>
          </a:p>
          <a:p>
            <a:pPr lvl="1"/>
            <a:r>
              <a:rPr lang="en-US" dirty="0"/>
              <a:t>Whether the target appeared below/above/left/right?</a:t>
            </a:r>
          </a:p>
          <a:p>
            <a:r>
              <a:rPr lang="en-US" dirty="0"/>
              <a:t>Target identity</a:t>
            </a:r>
          </a:p>
          <a:p>
            <a:pPr lvl="1"/>
            <a:r>
              <a:rPr lang="en-US" dirty="0"/>
              <a:t>Target similarity (based on the fact each target is presented three times)</a:t>
            </a:r>
          </a:p>
          <a:p>
            <a:pPr lvl="1"/>
            <a:r>
              <a:rPr lang="en-US" dirty="0"/>
              <a:t>Target stimulus vector (perceptual/semantic)</a:t>
            </a:r>
          </a:p>
          <a:p>
            <a:r>
              <a:rPr lang="en-US" dirty="0"/>
              <a:t>Combination vectors </a:t>
            </a:r>
          </a:p>
          <a:p>
            <a:pPr lvl="1"/>
            <a:r>
              <a:rPr lang="en-US" dirty="0"/>
              <a:t>E.g., absolute difference between stimulus vectors</a:t>
            </a:r>
          </a:p>
          <a:p>
            <a:endParaRPr lang="en-US" dirty="0"/>
          </a:p>
        </p:txBody>
      </p:sp>
    </p:spTree>
    <p:extLst>
      <p:ext uri="{BB962C8B-B14F-4D97-AF65-F5344CB8AC3E}">
        <p14:creationId xmlns:p14="http://schemas.microsoft.com/office/powerpoint/2010/main" val="29016538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BDD5B-DB25-21B3-97A8-8EDB16C7FE06}"/>
              </a:ext>
            </a:extLst>
          </p:cNvPr>
          <p:cNvSpPr>
            <a:spLocks noGrp="1"/>
          </p:cNvSpPr>
          <p:nvPr>
            <p:ph type="title"/>
          </p:nvPr>
        </p:nvSpPr>
        <p:spPr/>
        <p:txBody>
          <a:bodyPr/>
          <a:lstStyle/>
          <a:p>
            <a:r>
              <a:rPr lang="en-US" dirty="0"/>
              <a:t>Real-world relevance</a:t>
            </a:r>
          </a:p>
        </p:txBody>
      </p:sp>
      <p:sp>
        <p:nvSpPr>
          <p:cNvPr id="3" name="Content Placeholder 2">
            <a:extLst>
              <a:ext uri="{FF2B5EF4-FFF2-40B4-BE49-F238E27FC236}">
                <a16:creationId xmlns:a16="http://schemas.microsoft.com/office/drawing/2014/main" id="{3A034872-A0D7-461A-38E6-C6ADEDBFBE9E}"/>
              </a:ext>
            </a:extLst>
          </p:cNvPr>
          <p:cNvSpPr>
            <a:spLocks noGrp="1"/>
          </p:cNvSpPr>
          <p:nvPr>
            <p:ph idx="1"/>
          </p:nvPr>
        </p:nvSpPr>
        <p:spPr/>
        <p:txBody>
          <a:bodyPr/>
          <a:lstStyle/>
          <a:p>
            <a:r>
              <a:rPr lang="en-US" dirty="0"/>
              <a:t>Outside the laboratory, memory encoding has a practical purpose</a:t>
            </a:r>
          </a:p>
          <a:p>
            <a:pPr lvl="1"/>
            <a:r>
              <a:rPr lang="en-US" dirty="0"/>
              <a:t>We learn the relations between stimuli so that we can reason about them in the future</a:t>
            </a:r>
          </a:p>
          <a:p>
            <a:pPr lvl="1"/>
            <a:r>
              <a:rPr lang="en-US" dirty="0"/>
              <a:t>The present research gets at that</a:t>
            </a:r>
          </a:p>
        </p:txBody>
      </p:sp>
    </p:spTree>
    <p:extLst>
      <p:ext uri="{BB962C8B-B14F-4D97-AF65-F5344CB8AC3E}">
        <p14:creationId xmlns:p14="http://schemas.microsoft.com/office/powerpoint/2010/main" val="40590305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36406-BE6A-43D1-8823-925981A4EA2E}"/>
              </a:ext>
            </a:extLst>
          </p:cNvPr>
          <p:cNvSpPr>
            <a:spLocks noGrp="1"/>
          </p:cNvSpPr>
          <p:nvPr>
            <p:ph type="ctrTitle"/>
          </p:nvPr>
        </p:nvSpPr>
        <p:spPr/>
        <p:txBody>
          <a:bodyPr/>
          <a:lstStyle/>
          <a:p>
            <a:r>
              <a:rPr lang="en-US" dirty="0"/>
              <a:t>Task idea 2</a:t>
            </a:r>
          </a:p>
        </p:txBody>
      </p:sp>
      <p:sp>
        <p:nvSpPr>
          <p:cNvPr id="3" name="Subtitle 2">
            <a:extLst>
              <a:ext uri="{FF2B5EF4-FFF2-40B4-BE49-F238E27FC236}">
                <a16:creationId xmlns:a16="http://schemas.microsoft.com/office/drawing/2014/main" id="{18E9E69C-B0CF-4A44-A6F4-E20B91704211}"/>
              </a:ext>
            </a:extLst>
          </p:cNvPr>
          <p:cNvSpPr>
            <a:spLocks noGrp="1"/>
          </p:cNvSpPr>
          <p:nvPr>
            <p:ph type="subTitle" idx="1"/>
          </p:nvPr>
        </p:nvSpPr>
        <p:spPr/>
        <p:txBody>
          <a:bodyPr/>
          <a:lstStyle/>
          <a:p>
            <a:r>
              <a:rPr lang="en-US" dirty="0"/>
              <a:t>10/30/2023</a:t>
            </a:r>
          </a:p>
        </p:txBody>
      </p:sp>
    </p:spTree>
    <p:extLst>
      <p:ext uri="{BB962C8B-B14F-4D97-AF65-F5344CB8AC3E}">
        <p14:creationId xmlns:p14="http://schemas.microsoft.com/office/powerpoint/2010/main" val="17679052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97D259-8F40-1A31-E2DC-275CBD6C9B78}"/>
              </a:ext>
            </a:extLst>
          </p:cNvPr>
          <p:cNvSpPr>
            <a:spLocks noGrp="1"/>
          </p:cNvSpPr>
          <p:nvPr>
            <p:ph type="title"/>
          </p:nvPr>
        </p:nvSpPr>
        <p:spPr>
          <a:xfrm>
            <a:off x="838200" y="39580"/>
            <a:ext cx="10515600" cy="1325563"/>
          </a:xfrm>
        </p:spPr>
        <p:txBody>
          <a:bodyPr/>
          <a:lstStyle/>
          <a:p>
            <a:r>
              <a:rPr lang="en-US" dirty="0"/>
              <a:t>Reinforcement learning and states</a:t>
            </a:r>
          </a:p>
        </p:txBody>
      </p:sp>
      <p:sp>
        <p:nvSpPr>
          <p:cNvPr id="3" name="Content Placeholder 2">
            <a:extLst>
              <a:ext uri="{FF2B5EF4-FFF2-40B4-BE49-F238E27FC236}">
                <a16:creationId xmlns:a16="http://schemas.microsoft.com/office/drawing/2014/main" id="{C4C4AC54-FEE1-3BFE-E500-1E5AFF2978FD}"/>
              </a:ext>
            </a:extLst>
          </p:cNvPr>
          <p:cNvSpPr>
            <a:spLocks noGrp="1"/>
          </p:cNvSpPr>
          <p:nvPr>
            <p:ph idx="1"/>
          </p:nvPr>
        </p:nvSpPr>
        <p:spPr>
          <a:xfrm>
            <a:off x="838200" y="1180510"/>
            <a:ext cx="10515600" cy="2657356"/>
          </a:xfrm>
        </p:spPr>
        <p:txBody>
          <a:bodyPr>
            <a:normAutofit fontScale="92500" lnSpcReduction="10000"/>
          </a:bodyPr>
          <a:lstStyle/>
          <a:p>
            <a:r>
              <a:rPr lang="en-US" dirty="0"/>
              <a:t>Decision-making can be conceptualized as purposeful transitions through different states</a:t>
            </a:r>
          </a:p>
          <a:p>
            <a:pPr lvl="1"/>
            <a:r>
              <a:rPr lang="en-US" dirty="0"/>
              <a:t>Many cognitive processes are abstracted away, such as perception, and memory</a:t>
            </a:r>
          </a:p>
          <a:p>
            <a:r>
              <a:rPr lang="en-US" dirty="0"/>
              <a:t>Maps onto neural patterns</a:t>
            </a:r>
          </a:p>
          <a:p>
            <a:pPr lvl="1"/>
            <a:r>
              <a:rPr lang="en-US" dirty="0"/>
              <a:t>OFC represents state spaces (Schuck et al., 2016, </a:t>
            </a:r>
            <a:r>
              <a:rPr lang="en-US" i="1" dirty="0"/>
              <a:t>Neuron</a:t>
            </a:r>
            <a:r>
              <a:rPr lang="en-US" dirty="0"/>
              <a:t>)</a:t>
            </a:r>
          </a:p>
          <a:p>
            <a:pPr lvl="1"/>
            <a:r>
              <a:rPr lang="en-US" dirty="0"/>
              <a:t>Unclear how memory systems come into play to support this</a:t>
            </a:r>
          </a:p>
          <a:p>
            <a:pPr lvl="1"/>
            <a:endParaRPr lang="en-US" dirty="0"/>
          </a:p>
          <a:p>
            <a:pPr marL="457200" lvl="1" indent="0">
              <a:buNone/>
            </a:pPr>
            <a:endParaRPr lang="en-US" dirty="0"/>
          </a:p>
        </p:txBody>
      </p:sp>
      <p:sp>
        <p:nvSpPr>
          <p:cNvPr id="4" name="Oval 3">
            <a:extLst>
              <a:ext uri="{FF2B5EF4-FFF2-40B4-BE49-F238E27FC236}">
                <a16:creationId xmlns:a16="http://schemas.microsoft.com/office/drawing/2014/main" id="{7F763BBA-C92D-0FCE-2D78-EA3FE0CE393C}"/>
              </a:ext>
            </a:extLst>
          </p:cNvPr>
          <p:cNvSpPr/>
          <p:nvPr/>
        </p:nvSpPr>
        <p:spPr>
          <a:xfrm>
            <a:off x="7724562" y="4972211"/>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Reinforcement Learning 101. Learn the essentials of Reinforcement… | by  Shweta Bhatt | Towards Data Science">
            <a:extLst>
              <a:ext uri="{FF2B5EF4-FFF2-40B4-BE49-F238E27FC236}">
                <a16:creationId xmlns:a16="http://schemas.microsoft.com/office/drawing/2014/main" id="{2D6A728C-AB7F-71BF-4049-E20B68C0E6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9343" y="4030312"/>
            <a:ext cx="6275369" cy="2418919"/>
          </a:xfrm>
          <a:prstGeom prst="rect">
            <a:avLst/>
          </a:prstGeom>
          <a:noFill/>
          <a:extLst>
            <a:ext uri="{909E8E84-426E-40DD-AFC4-6F175D3DCCD1}">
              <a14:hiddenFill xmlns:a14="http://schemas.microsoft.com/office/drawing/2010/main">
                <a:solidFill>
                  <a:srgbClr val="FFFFFF"/>
                </a:solidFill>
              </a14:hiddenFill>
            </a:ext>
          </a:extLst>
        </p:spPr>
      </p:pic>
      <p:sp>
        <p:nvSpPr>
          <p:cNvPr id="5" name="Oval 4">
            <a:extLst>
              <a:ext uri="{FF2B5EF4-FFF2-40B4-BE49-F238E27FC236}">
                <a16:creationId xmlns:a16="http://schemas.microsoft.com/office/drawing/2014/main" id="{02DE857F-46E8-C868-AFD9-224126C4C3AA}"/>
              </a:ext>
            </a:extLst>
          </p:cNvPr>
          <p:cNvSpPr/>
          <p:nvPr/>
        </p:nvSpPr>
        <p:spPr>
          <a:xfrm>
            <a:off x="8616464" y="5790406"/>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8AE361E3-D024-4B47-F6EA-B403D32605AB}"/>
              </a:ext>
            </a:extLst>
          </p:cNvPr>
          <p:cNvSpPr/>
          <p:nvPr/>
        </p:nvSpPr>
        <p:spPr>
          <a:xfrm>
            <a:off x="10078680" y="5790406"/>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Arrow Connector 7">
            <a:extLst>
              <a:ext uri="{FF2B5EF4-FFF2-40B4-BE49-F238E27FC236}">
                <a16:creationId xmlns:a16="http://schemas.microsoft.com/office/drawing/2014/main" id="{23ED408B-83EF-2036-128B-52D9F75DCB11}"/>
              </a:ext>
            </a:extLst>
          </p:cNvPr>
          <p:cNvCxnSpPr>
            <a:stCxn id="5" idx="6"/>
            <a:endCxn id="6" idx="2"/>
          </p:cNvCxnSpPr>
          <p:nvPr/>
        </p:nvCxnSpPr>
        <p:spPr>
          <a:xfrm>
            <a:off x="9286904" y="6125626"/>
            <a:ext cx="79177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4F4AB3DA-DE1E-B32B-097F-B1A34D2CC488}"/>
              </a:ext>
            </a:extLst>
          </p:cNvPr>
          <p:cNvCxnSpPr>
            <a:cxnSpLocks/>
            <a:stCxn id="4" idx="5"/>
            <a:endCxn id="5" idx="1"/>
          </p:cNvCxnSpPr>
          <p:nvPr/>
        </p:nvCxnSpPr>
        <p:spPr>
          <a:xfrm>
            <a:off x="8296818" y="5544467"/>
            <a:ext cx="417830" cy="34412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8376974A-BA46-9608-D45B-281CBA7C6338}"/>
              </a:ext>
            </a:extLst>
          </p:cNvPr>
          <p:cNvSpPr/>
          <p:nvPr/>
        </p:nvSpPr>
        <p:spPr>
          <a:xfrm>
            <a:off x="8638665" y="4448616"/>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1649C05E-5A95-1261-E685-10322C04AC39}"/>
              </a:ext>
            </a:extLst>
          </p:cNvPr>
          <p:cNvSpPr/>
          <p:nvPr/>
        </p:nvSpPr>
        <p:spPr>
          <a:xfrm>
            <a:off x="10080291" y="4885268"/>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Arrow Connector 14">
            <a:extLst>
              <a:ext uri="{FF2B5EF4-FFF2-40B4-BE49-F238E27FC236}">
                <a16:creationId xmlns:a16="http://schemas.microsoft.com/office/drawing/2014/main" id="{F83B86A1-0957-5120-EBDE-9BD553BA0BF6}"/>
              </a:ext>
            </a:extLst>
          </p:cNvPr>
          <p:cNvCxnSpPr>
            <a:stCxn id="13" idx="6"/>
            <a:endCxn id="14" idx="2"/>
          </p:cNvCxnSpPr>
          <p:nvPr/>
        </p:nvCxnSpPr>
        <p:spPr>
          <a:xfrm>
            <a:off x="9309105" y="4783836"/>
            <a:ext cx="771186" cy="43665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DBD70EC7-2184-2DBF-89EA-813F6DF38ABC}"/>
              </a:ext>
            </a:extLst>
          </p:cNvPr>
          <p:cNvCxnSpPr>
            <a:cxnSpLocks/>
            <a:stCxn id="4" idx="7"/>
            <a:endCxn id="13" idx="2"/>
          </p:cNvCxnSpPr>
          <p:nvPr/>
        </p:nvCxnSpPr>
        <p:spPr>
          <a:xfrm flipV="1">
            <a:off x="8296818" y="4783836"/>
            <a:ext cx="341847" cy="28655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Oval 26">
            <a:extLst>
              <a:ext uri="{FF2B5EF4-FFF2-40B4-BE49-F238E27FC236}">
                <a16:creationId xmlns:a16="http://schemas.microsoft.com/office/drawing/2014/main" id="{4C589C7F-6609-46C8-A184-972045447E0D}"/>
              </a:ext>
            </a:extLst>
          </p:cNvPr>
          <p:cNvSpPr/>
          <p:nvPr/>
        </p:nvSpPr>
        <p:spPr>
          <a:xfrm>
            <a:off x="10078680" y="3924704"/>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8" name="Straight Arrow Connector 27">
            <a:extLst>
              <a:ext uri="{FF2B5EF4-FFF2-40B4-BE49-F238E27FC236}">
                <a16:creationId xmlns:a16="http://schemas.microsoft.com/office/drawing/2014/main" id="{14C01A6E-24B5-4AD5-0559-E94DE45C841E}"/>
              </a:ext>
            </a:extLst>
          </p:cNvPr>
          <p:cNvCxnSpPr>
            <a:cxnSpLocks/>
            <a:stCxn id="13" idx="6"/>
            <a:endCxn id="27" idx="2"/>
          </p:cNvCxnSpPr>
          <p:nvPr/>
        </p:nvCxnSpPr>
        <p:spPr>
          <a:xfrm flipV="1">
            <a:off x="9309105" y="4259924"/>
            <a:ext cx="769575" cy="52391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A854A251-D07C-B22D-6B8F-D6E59FAD6D8F}"/>
              </a:ext>
            </a:extLst>
          </p:cNvPr>
          <p:cNvSpPr txBox="1"/>
          <p:nvPr/>
        </p:nvSpPr>
        <p:spPr>
          <a:xfrm>
            <a:off x="7704551" y="5767189"/>
            <a:ext cx="902811" cy="830997"/>
          </a:xfrm>
          <a:prstGeom prst="rect">
            <a:avLst/>
          </a:prstGeom>
          <a:noFill/>
        </p:spPr>
        <p:txBody>
          <a:bodyPr wrap="none" rtlCol="0">
            <a:spAutoFit/>
          </a:bodyPr>
          <a:lstStyle/>
          <a:p>
            <a:pPr algn="ctr"/>
            <a:r>
              <a:rPr lang="en-US" sz="1600" dirty="0">
                <a:latin typeface="Arial" panose="020B0604020202020204" pitchFamily="34" charset="0"/>
                <a:cs typeface="Arial" panose="020B0604020202020204" pitchFamily="34" charset="0"/>
              </a:rPr>
              <a:t>Watch</a:t>
            </a:r>
          </a:p>
          <a:p>
            <a:pPr algn="ctr"/>
            <a:r>
              <a:rPr lang="en-US" sz="1600" dirty="0">
                <a:latin typeface="Arial" panose="020B0604020202020204" pitchFamily="34" charset="0"/>
                <a:cs typeface="Arial" panose="020B0604020202020204" pitchFamily="34" charset="0"/>
              </a:rPr>
              <a:t>TV then</a:t>
            </a:r>
          </a:p>
          <a:p>
            <a:pPr algn="ctr"/>
            <a:r>
              <a:rPr lang="en-US" sz="1600" dirty="0">
                <a:latin typeface="Arial" panose="020B0604020202020204" pitchFamily="34" charset="0"/>
                <a:cs typeface="Arial" panose="020B0604020202020204" pitchFamily="34" charset="0"/>
              </a:rPr>
              <a:t>sleep</a:t>
            </a:r>
            <a:endParaRPr lang="en-US" sz="1400" dirty="0">
              <a:latin typeface="Arial" panose="020B0604020202020204" pitchFamily="34" charset="0"/>
              <a:cs typeface="Arial" panose="020B0604020202020204" pitchFamily="34" charset="0"/>
            </a:endParaRPr>
          </a:p>
        </p:txBody>
      </p:sp>
      <p:sp>
        <p:nvSpPr>
          <p:cNvPr id="37" name="TextBox 36">
            <a:extLst>
              <a:ext uri="{FF2B5EF4-FFF2-40B4-BE49-F238E27FC236}">
                <a16:creationId xmlns:a16="http://schemas.microsoft.com/office/drawing/2014/main" id="{815E65AF-F874-5C0B-0982-653C4EF18BE6}"/>
              </a:ext>
            </a:extLst>
          </p:cNvPr>
          <p:cNvSpPr txBox="1"/>
          <p:nvPr/>
        </p:nvSpPr>
        <p:spPr>
          <a:xfrm>
            <a:off x="7707671" y="5154617"/>
            <a:ext cx="737701" cy="276999"/>
          </a:xfrm>
          <a:prstGeom prst="rect">
            <a:avLst/>
          </a:prstGeom>
          <a:noFill/>
        </p:spPr>
        <p:txBody>
          <a:bodyPr wrap="none" rtlCol="0">
            <a:spAutoFit/>
          </a:bodyPr>
          <a:lstStyle/>
          <a:p>
            <a:pPr algn="ctr"/>
            <a:r>
              <a:rPr lang="en-US" sz="1200" dirty="0">
                <a:latin typeface="Arial" panose="020B0604020202020204" pitchFamily="34" charset="0"/>
                <a:cs typeface="Arial" panose="020B0604020202020204" pitchFamily="34" charset="0"/>
              </a:rPr>
              <a:t>Morning</a:t>
            </a:r>
          </a:p>
        </p:txBody>
      </p:sp>
      <p:sp>
        <p:nvSpPr>
          <p:cNvPr id="40" name="TextBox 39">
            <a:extLst>
              <a:ext uri="{FF2B5EF4-FFF2-40B4-BE49-F238E27FC236}">
                <a16:creationId xmlns:a16="http://schemas.microsoft.com/office/drawing/2014/main" id="{1B3C479C-7488-C57F-1058-1F72A41862CB}"/>
              </a:ext>
            </a:extLst>
          </p:cNvPr>
          <p:cNvSpPr txBox="1"/>
          <p:nvPr/>
        </p:nvSpPr>
        <p:spPr>
          <a:xfrm>
            <a:off x="7687718" y="4415410"/>
            <a:ext cx="936475" cy="338554"/>
          </a:xfrm>
          <a:prstGeom prst="rect">
            <a:avLst/>
          </a:prstGeom>
          <a:noFill/>
        </p:spPr>
        <p:txBody>
          <a:bodyPr wrap="none" rtlCol="0">
            <a:spAutoFit/>
          </a:bodyPr>
          <a:lstStyle/>
          <a:p>
            <a:pPr algn="ctr"/>
            <a:r>
              <a:rPr lang="en-US" sz="1600" dirty="0">
                <a:latin typeface="Arial" panose="020B0604020202020204" pitchFamily="34" charset="0"/>
                <a:cs typeface="Arial" panose="020B0604020202020204" pitchFamily="34" charset="0"/>
              </a:rPr>
              <a:t>Do work</a:t>
            </a:r>
            <a:endParaRPr lang="en-US" sz="1400" dirty="0">
              <a:latin typeface="Arial" panose="020B0604020202020204" pitchFamily="34" charset="0"/>
              <a:cs typeface="Arial" panose="020B0604020202020204" pitchFamily="34" charset="0"/>
            </a:endParaRPr>
          </a:p>
        </p:txBody>
      </p:sp>
      <p:sp>
        <p:nvSpPr>
          <p:cNvPr id="41" name="TextBox 40">
            <a:extLst>
              <a:ext uri="{FF2B5EF4-FFF2-40B4-BE49-F238E27FC236}">
                <a16:creationId xmlns:a16="http://schemas.microsoft.com/office/drawing/2014/main" id="{89B6B50B-A7F9-EC14-0C84-8E8826484D3F}"/>
              </a:ext>
            </a:extLst>
          </p:cNvPr>
          <p:cNvSpPr txBox="1"/>
          <p:nvPr/>
        </p:nvSpPr>
        <p:spPr>
          <a:xfrm>
            <a:off x="8515843" y="4547462"/>
            <a:ext cx="929687" cy="461665"/>
          </a:xfrm>
          <a:prstGeom prst="rect">
            <a:avLst/>
          </a:prstGeom>
          <a:noFill/>
        </p:spPr>
        <p:txBody>
          <a:bodyPr wrap="square" rtlCol="0">
            <a:spAutoFit/>
          </a:bodyPr>
          <a:lstStyle/>
          <a:p>
            <a:pPr algn="ctr"/>
            <a:r>
              <a:rPr lang="en-US" sz="1200" dirty="0">
                <a:latin typeface="Arial" panose="020B0604020202020204" pitchFamily="34" charset="0"/>
                <a:cs typeface="Arial" panose="020B0604020202020204" pitchFamily="34" charset="0"/>
              </a:rPr>
              <a:t>Have</a:t>
            </a:r>
          </a:p>
          <a:p>
            <a:pPr algn="ctr"/>
            <a:r>
              <a:rPr lang="en-US" sz="1200" dirty="0">
                <a:latin typeface="Arial" panose="020B0604020202020204" pitchFamily="34" charset="0"/>
                <a:cs typeface="Arial" panose="020B0604020202020204" pitchFamily="34" charset="0"/>
              </a:rPr>
              <a:t>results</a:t>
            </a:r>
            <a:endParaRPr lang="en-US" sz="1100" dirty="0">
              <a:latin typeface="Arial" panose="020B0604020202020204" pitchFamily="34" charset="0"/>
              <a:cs typeface="Arial" panose="020B0604020202020204" pitchFamily="34" charset="0"/>
            </a:endParaRPr>
          </a:p>
        </p:txBody>
      </p:sp>
      <p:sp>
        <p:nvSpPr>
          <p:cNvPr id="42" name="TextBox 41">
            <a:extLst>
              <a:ext uri="{FF2B5EF4-FFF2-40B4-BE49-F238E27FC236}">
                <a16:creationId xmlns:a16="http://schemas.microsoft.com/office/drawing/2014/main" id="{2809F08F-C9F1-66D1-A9D4-96CCEAF52820}"/>
              </a:ext>
            </a:extLst>
          </p:cNvPr>
          <p:cNvSpPr txBox="1"/>
          <p:nvPr/>
        </p:nvSpPr>
        <p:spPr>
          <a:xfrm>
            <a:off x="8915564" y="3810728"/>
            <a:ext cx="1161505" cy="600164"/>
          </a:xfrm>
          <a:prstGeom prst="rect">
            <a:avLst/>
          </a:prstGeom>
          <a:noFill/>
        </p:spPr>
        <p:txBody>
          <a:bodyPr wrap="square" rtlCol="0">
            <a:spAutoFit/>
          </a:bodyPr>
          <a:lstStyle/>
          <a:p>
            <a:pPr algn="ctr"/>
            <a:r>
              <a:rPr lang="en-US" sz="1100" dirty="0">
                <a:latin typeface="Arial" panose="020B0604020202020204" pitchFamily="34" charset="0"/>
                <a:cs typeface="Arial" panose="020B0604020202020204" pitchFamily="34" charset="0"/>
              </a:rPr>
              <a:t>Prep for individual meeting</a:t>
            </a:r>
          </a:p>
        </p:txBody>
      </p:sp>
      <p:sp>
        <p:nvSpPr>
          <p:cNvPr id="44" name="TextBox 43">
            <a:extLst>
              <a:ext uri="{FF2B5EF4-FFF2-40B4-BE49-F238E27FC236}">
                <a16:creationId xmlns:a16="http://schemas.microsoft.com/office/drawing/2014/main" id="{7C336859-7FDD-EF58-C3B1-CCD98F94A1B8}"/>
              </a:ext>
            </a:extLst>
          </p:cNvPr>
          <p:cNvSpPr txBox="1"/>
          <p:nvPr/>
        </p:nvSpPr>
        <p:spPr>
          <a:xfrm>
            <a:off x="8515843" y="5796193"/>
            <a:ext cx="929687" cy="646331"/>
          </a:xfrm>
          <a:prstGeom prst="rect">
            <a:avLst/>
          </a:prstGeom>
          <a:noFill/>
        </p:spPr>
        <p:txBody>
          <a:bodyPr wrap="square" rtlCol="0">
            <a:spAutoFit/>
          </a:bodyPr>
          <a:lstStyle/>
          <a:p>
            <a:pPr algn="ctr"/>
            <a:r>
              <a:rPr lang="en-US" sz="1200" dirty="0">
                <a:latin typeface="Arial" panose="020B0604020202020204" pitchFamily="34" charset="0"/>
                <a:cs typeface="Arial" panose="020B0604020202020204" pitchFamily="34" charset="0"/>
              </a:rPr>
              <a:t>Have</a:t>
            </a:r>
          </a:p>
          <a:p>
            <a:pPr algn="ctr"/>
            <a:r>
              <a:rPr lang="en-US" sz="1200" dirty="0">
                <a:latin typeface="Arial" panose="020B0604020202020204" pitchFamily="34" charset="0"/>
                <a:cs typeface="Arial" panose="020B0604020202020204" pitchFamily="34" charset="0"/>
              </a:rPr>
              <a:t>no</a:t>
            </a:r>
          </a:p>
          <a:p>
            <a:pPr algn="ctr"/>
            <a:r>
              <a:rPr lang="en-US" sz="1200" dirty="0">
                <a:latin typeface="Arial" panose="020B0604020202020204" pitchFamily="34" charset="0"/>
                <a:cs typeface="Arial" panose="020B0604020202020204" pitchFamily="34" charset="0"/>
              </a:rPr>
              <a:t>results</a:t>
            </a:r>
            <a:endParaRPr lang="en-US" sz="1100" dirty="0">
              <a:latin typeface="Arial" panose="020B0604020202020204" pitchFamily="34" charset="0"/>
              <a:cs typeface="Arial" panose="020B0604020202020204" pitchFamily="34" charset="0"/>
            </a:endParaRPr>
          </a:p>
        </p:txBody>
      </p:sp>
      <p:sp>
        <p:nvSpPr>
          <p:cNvPr id="45" name="TextBox 44">
            <a:extLst>
              <a:ext uri="{FF2B5EF4-FFF2-40B4-BE49-F238E27FC236}">
                <a16:creationId xmlns:a16="http://schemas.microsoft.com/office/drawing/2014/main" id="{9A9A32BE-17F8-9BD0-D3DF-1051A32D704E}"/>
              </a:ext>
            </a:extLst>
          </p:cNvPr>
          <p:cNvSpPr txBox="1"/>
          <p:nvPr/>
        </p:nvSpPr>
        <p:spPr>
          <a:xfrm>
            <a:off x="8964727" y="5088029"/>
            <a:ext cx="1161505" cy="430887"/>
          </a:xfrm>
          <a:prstGeom prst="rect">
            <a:avLst/>
          </a:prstGeom>
          <a:noFill/>
        </p:spPr>
        <p:txBody>
          <a:bodyPr wrap="square" rtlCol="0">
            <a:spAutoFit/>
          </a:bodyPr>
          <a:lstStyle/>
          <a:p>
            <a:pPr algn="ctr"/>
            <a:r>
              <a:rPr lang="en-US" sz="1100" dirty="0">
                <a:latin typeface="Arial" panose="020B0604020202020204" pitchFamily="34" charset="0"/>
                <a:cs typeface="Arial" panose="020B0604020202020204" pitchFamily="34" charset="0"/>
              </a:rPr>
              <a:t>Read </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book</a:t>
            </a:r>
          </a:p>
        </p:txBody>
      </p:sp>
      <p:sp>
        <p:nvSpPr>
          <p:cNvPr id="46" name="TextBox 45">
            <a:extLst>
              <a:ext uri="{FF2B5EF4-FFF2-40B4-BE49-F238E27FC236}">
                <a16:creationId xmlns:a16="http://schemas.microsoft.com/office/drawing/2014/main" id="{4A3AB0D0-13A4-CCC2-ECE8-1BAAE63AAC1B}"/>
              </a:ext>
            </a:extLst>
          </p:cNvPr>
          <p:cNvSpPr txBox="1"/>
          <p:nvPr/>
        </p:nvSpPr>
        <p:spPr>
          <a:xfrm>
            <a:off x="9831537" y="3926380"/>
            <a:ext cx="1161505" cy="600164"/>
          </a:xfrm>
          <a:prstGeom prst="rect">
            <a:avLst/>
          </a:prstGeom>
          <a:noFill/>
        </p:spPr>
        <p:txBody>
          <a:bodyPr wrap="square" rtlCol="0">
            <a:spAutoFit/>
          </a:bodyPr>
          <a:lstStyle/>
          <a:p>
            <a:pPr algn="ctr"/>
            <a:r>
              <a:rPr lang="en-US" sz="1100" dirty="0">
                <a:latin typeface="Arial" panose="020B0604020202020204" pitchFamily="34" charset="0"/>
                <a:cs typeface="Arial" panose="020B0604020202020204" pitchFamily="34" charset="0"/>
              </a:rPr>
              <a:t>Have</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great</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meeting</a:t>
            </a:r>
          </a:p>
        </p:txBody>
      </p:sp>
      <p:sp>
        <p:nvSpPr>
          <p:cNvPr id="47" name="TextBox 46">
            <a:extLst>
              <a:ext uri="{FF2B5EF4-FFF2-40B4-BE49-F238E27FC236}">
                <a16:creationId xmlns:a16="http://schemas.microsoft.com/office/drawing/2014/main" id="{646E1723-EDB5-4A74-A9F0-435211381C35}"/>
              </a:ext>
            </a:extLst>
          </p:cNvPr>
          <p:cNvSpPr txBox="1"/>
          <p:nvPr/>
        </p:nvSpPr>
        <p:spPr>
          <a:xfrm>
            <a:off x="9839677" y="4892693"/>
            <a:ext cx="1161505" cy="600164"/>
          </a:xfrm>
          <a:prstGeom prst="rect">
            <a:avLst/>
          </a:prstGeom>
          <a:noFill/>
        </p:spPr>
        <p:txBody>
          <a:bodyPr wrap="square" rtlCol="0">
            <a:spAutoFit/>
          </a:bodyPr>
          <a:lstStyle/>
          <a:p>
            <a:pPr algn="ctr"/>
            <a:r>
              <a:rPr lang="en-US" sz="1100" dirty="0">
                <a:latin typeface="Arial" panose="020B0604020202020204" pitchFamily="34" charset="0"/>
                <a:cs typeface="Arial" panose="020B0604020202020204" pitchFamily="34" charset="0"/>
              </a:rPr>
              <a:t>Have</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ok</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meeting</a:t>
            </a:r>
          </a:p>
        </p:txBody>
      </p:sp>
      <p:sp>
        <p:nvSpPr>
          <p:cNvPr id="48" name="TextBox 47">
            <a:extLst>
              <a:ext uri="{FF2B5EF4-FFF2-40B4-BE49-F238E27FC236}">
                <a16:creationId xmlns:a16="http://schemas.microsoft.com/office/drawing/2014/main" id="{933FA630-7582-4BC5-7DC2-9ABE56314D6D}"/>
              </a:ext>
            </a:extLst>
          </p:cNvPr>
          <p:cNvSpPr txBox="1"/>
          <p:nvPr/>
        </p:nvSpPr>
        <p:spPr>
          <a:xfrm>
            <a:off x="9825572" y="5793396"/>
            <a:ext cx="1161505" cy="600164"/>
          </a:xfrm>
          <a:prstGeom prst="rect">
            <a:avLst/>
          </a:prstGeom>
          <a:noFill/>
        </p:spPr>
        <p:txBody>
          <a:bodyPr wrap="square" rtlCol="0">
            <a:spAutoFit/>
          </a:bodyPr>
          <a:lstStyle/>
          <a:p>
            <a:pPr algn="ctr"/>
            <a:r>
              <a:rPr lang="en-US" sz="1100" dirty="0">
                <a:latin typeface="Arial" panose="020B0604020202020204" pitchFamily="34" charset="0"/>
                <a:cs typeface="Arial" panose="020B0604020202020204" pitchFamily="34" charset="0"/>
              </a:rPr>
              <a:t>Have</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bad</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meeting</a:t>
            </a:r>
          </a:p>
        </p:txBody>
      </p:sp>
      <p:sp>
        <p:nvSpPr>
          <p:cNvPr id="10" name="TextBox 9">
            <a:extLst>
              <a:ext uri="{FF2B5EF4-FFF2-40B4-BE49-F238E27FC236}">
                <a16:creationId xmlns:a16="http://schemas.microsoft.com/office/drawing/2014/main" id="{A3A879FF-1D1E-FC78-4687-D9D35C506EDA}"/>
              </a:ext>
            </a:extLst>
          </p:cNvPr>
          <p:cNvSpPr txBox="1"/>
          <p:nvPr/>
        </p:nvSpPr>
        <p:spPr>
          <a:xfrm>
            <a:off x="9147382" y="6217490"/>
            <a:ext cx="929687" cy="276999"/>
          </a:xfrm>
          <a:prstGeom prst="rect">
            <a:avLst/>
          </a:prstGeom>
          <a:noFill/>
        </p:spPr>
        <p:txBody>
          <a:bodyPr wrap="square" rtlCol="0">
            <a:spAutoFit/>
          </a:bodyPr>
          <a:lstStyle/>
          <a:p>
            <a:pPr algn="ctr"/>
            <a:r>
              <a:rPr lang="en-US" sz="1200" dirty="0">
                <a:latin typeface="Arial" panose="020B0604020202020204" pitchFamily="34" charset="0"/>
                <a:cs typeface="Arial" panose="020B0604020202020204" pitchFamily="34" charset="0"/>
              </a:rPr>
              <a:t>Cry</a:t>
            </a:r>
            <a:endParaRPr lang="en-US" sz="11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6894636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269ADA-B458-7AC4-A1F7-566C7D6C4265}"/>
              </a:ext>
            </a:extLst>
          </p:cNvPr>
          <p:cNvSpPr>
            <a:spLocks noGrp="1"/>
          </p:cNvSpPr>
          <p:nvPr>
            <p:ph type="title"/>
          </p:nvPr>
        </p:nvSpPr>
        <p:spPr/>
        <p:txBody>
          <a:bodyPr/>
          <a:lstStyle/>
          <a:p>
            <a:r>
              <a:rPr lang="en-US" dirty="0"/>
              <a:t>Multi-part states</a:t>
            </a:r>
          </a:p>
        </p:txBody>
      </p:sp>
      <p:sp>
        <p:nvSpPr>
          <p:cNvPr id="3" name="Content Placeholder 2">
            <a:extLst>
              <a:ext uri="{FF2B5EF4-FFF2-40B4-BE49-F238E27FC236}">
                <a16:creationId xmlns:a16="http://schemas.microsoft.com/office/drawing/2014/main" id="{9EFCA276-9AA8-453B-7F52-2DA444E34B71}"/>
              </a:ext>
            </a:extLst>
          </p:cNvPr>
          <p:cNvSpPr>
            <a:spLocks noGrp="1"/>
          </p:cNvSpPr>
          <p:nvPr>
            <p:ph idx="1"/>
          </p:nvPr>
        </p:nvSpPr>
        <p:spPr/>
        <p:txBody>
          <a:bodyPr/>
          <a:lstStyle/>
          <a:p>
            <a:r>
              <a:rPr lang="en-US" dirty="0"/>
              <a:t>In the real world and the brain, states have multiple parts</a:t>
            </a:r>
          </a:p>
          <a:p>
            <a:pPr lvl="1"/>
            <a:r>
              <a:rPr lang="en-US" dirty="0"/>
              <a:t>Psychological/neural research</a:t>
            </a:r>
            <a:br>
              <a:rPr lang="en-US" dirty="0"/>
            </a:br>
            <a:r>
              <a:rPr lang="en-US" dirty="0"/>
              <a:t>hasn’t investigated this</a:t>
            </a:r>
          </a:p>
          <a:p>
            <a:r>
              <a:rPr lang="en-US" dirty="0"/>
              <a:t>Morning</a:t>
            </a:r>
          </a:p>
          <a:p>
            <a:pPr lvl="1"/>
            <a:r>
              <a:rPr lang="en-US" dirty="0"/>
              <a:t>Own TV</a:t>
            </a:r>
          </a:p>
          <a:p>
            <a:pPr lvl="1"/>
            <a:r>
              <a:rPr lang="en-US" dirty="0"/>
              <a:t>Have preprocessed data</a:t>
            </a:r>
          </a:p>
          <a:p>
            <a:pPr lvl="1"/>
            <a:r>
              <a:rPr lang="en-US" dirty="0"/>
              <a:t>Etc.</a:t>
            </a:r>
          </a:p>
          <a:p>
            <a:r>
              <a:rPr lang="en-US" dirty="0"/>
              <a:t>Where does memory fit in?</a:t>
            </a:r>
          </a:p>
          <a:p>
            <a:pPr lvl="1"/>
            <a:r>
              <a:rPr lang="en-US" sz="2200" dirty="0"/>
              <a:t>Literally, in this diagram, where does memory</a:t>
            </a:r>
            <a:br>
              <a:rPr lang="en-US" sz="2200" dirty="0"/>
            </a:br>
            <a:r>
              <a:rPr lang="en-US" sz="2200" dirty="0"/>
              <a:t>operate for learning and decision-making?</a:t>
            </a:r>
          </a:p>
        </p:txBody>
      </p:sp>
      <p:sp>
        <p:nvSpPr>
          <p:cNvPr id="4" name="Oval 3">
            <a:extLst>
              <a:ext uri="{FF2B5EF4-FFF2-40B4-BE49-F238E27FC236}">
                <a16:creationId xmlns:a16="http://schemas.microsoft.com/office/drawing/2014/main" id="{FB5E694C-5068-255A-80AA-02B5B1672AD3}"/>
              </a:ext>
            </a:extLst>
          </p:cNvPr>
          <p:cNvSpPr/>
          <p:nvPr/>
        </p:nvSpPr>
        <p:spPr>
          <a:xfrm>
            <a:off x="7724562" y="4972211"/>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5428C21B-1725-5174-5D2C-BF717600FA35}"/>
              </a:ext>
            </a:extLst>
          </p:cNvPr>
          <p:cNvSpPr/>
          <p:nvPr/>
        </p:nvSpPr>
        <p:spPr>
          <a:xfrm>
            <a:off x="8616464" y="5790406"/>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CE9BFC90-FF53-7743-871C-83CD4912B1BE}"/>
              </a:ext>
            </a:extLst>
          </p:cNvPr>
          <p:cNvSpPr/>
          <p:nvPr/>
        </p:nvSpPr>
        <p:spPr>
          <a:xfrm>
            <a:off x="10078680" y="5790406"/>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4C6F4198-5198-EC3F-2E20-33E3BDDB1D1F}"/>
              </a:ext>
            </a:extLst>
          </p:cNvPr>
          <p:cNvCxnSpPr>
            <a:stCxn id="5" idx="6"/>
            <a:endCxn id="6" idx="2"/>
          </p:cNvCxnSpPr>
          <p:nvPr/>
        </p:nvCxnSpPr>
        <p:spPr>
          <a:xfrm>
            <a:off x="9286904" y="6125626"/>
            <a:ext cx="79177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88B2E407-7E89-56D9-8C06-25B74FFC163C}"/>
              </a:ext>
            </a:extLst>
          </p:cNvPr>
          <p:cNvCxnSpPr>
            <a:cxnSpLocks/>
            <a:stCxn id="4" idx="5"/>
            <a:endCxn id="5" idx="1"/>
          </p:cNvCxnSpPr>
          <p:nvPr/>
        </p:nvCxnSpPr>
        <p:spPr>
          <a:xfrm>
            <a:off x="8296818" y="5544467"/>
            <a:ext cx="417830" cy="34412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5ABF9AD2-0CB1-1F03-E2EF-BDDC4ABAAE46}"/>
              </a:ext>
            </a:extLst>
          </p:cNvPr>
          <p:cNvSpPr/>
          <p:nvPr/>
        </p:nvSpPr>
        <p:spPr>
          <a:xfrm>
            <a:off x="8638665" y="4448616"/>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71A157A9-090D-2215-A634-E42DB5296454}"/>
              </a:ext>
            </a:extLst>
          </p:cNvPr>
          <p:cNvSpPr/>
          <p:nvPr/>
        </p:nvSpPr>
        <p:spPr>
          <a:xfrm>
            <a:off x="10080291" y="4885268"/>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a:extLst>
              <a:ext uri="{FF2B5EF4-FFF2-40B4-BE49-F238E27FC236}">
                <a16:creationId xmlns:a16="http://schemas.microsoft.com/office/drawing/2014/main" id="{0C421230-3C98-EE1C-E179-4A47330A05AD}"/>
              </a:ext>
            </a:extLst>
          </p:cNvPr>
          <p:cNvCxnSpPr>
            <a:stCxn id="9" idx="6"/>
            <a:endCxn id="10" idx="2"/>
          </p:cNvCxnSpPr>
          <p:nvPr/>
        </p:nvCxnSpPr>
        <p:spPr>
          <a:xfrm>
            <a:off x="9309105" y="4783836"/>
            <a:ext cx="771186" cy="43665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A113A111-5AF6-FA98-0199-7150A03012BF}"/>
              </a:ext>
            </a:extLst>
          </p:cNvPr>
          <p:cNvCxnSpPr>
            <a:cxnSpLocks/>
            <a:stCxn id="4" idx="7"/>
            <a:endCxn id="9" idx="2"/>
          </p:cNvCxnSpPr>
          <p:nvPr/>
        </p:nvCxnSpPr>
        <p:spPr>
          <a:xfrm flipV="1">
            <a:off x="8296818" y="4783836"/>
            <a:ext cx="341847" cy="28655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CB889F4A-5FE8-B87F-D0E6-DE2D2AA27718}"/>
              </a:ext>
            </a:extLst>
          </p:cNvPr>
          <p:cNvSpPr/>
          <p:nvPr/>
        </p:nvSpPr>
        <p:spPr>
          <a:xfrm>
            <a:off x="10078680" y="3924704"/>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a:extLst>
              <a:ext uri="{FF2B5EF4-FFF2-40B4-BE49-F238E27FC236}">
                <a16:creationId xmlns:a16="http://schemas.microsoft.com/office/drawing/2014/main" id="{FD218C6B-4A06-150D-91E6-D2126FC3C8DB}"/>
              </a:ext>
            </a:extLst>
          </p:cNvPr>
          <p:cNvCxnSpPr>
            <a:cxnSpLocks/>
            <a:stCxn id="9" idx="6"/>
            <a:endCxn id="13" idx="2"/>
          </p:cNvCxnSpPr>
          <p:nvPr/>
        </p:nvCxnSpPr>
        <p:spPr>
          <a:xfrm flipV="1">
            <a:off x="9309105" y="4259924"/>
            <a:ext cx="769575" cy="52391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21BCC562-9501-833B-7764-00DC225291AC}"/>
              </a:ext>
            </a:extLst>
          </p:cNvPr>
          <p:cNvSpPr txBox="1"/>
          <p:nvPr/>
        </p:nvSpPr>
        <p:spPr>
          <a:xfrm>
            <a:off x="7704551" y="5767189"/>
            <a:ext cx="902811" cy="830997"/>
          </a:xfrm>
          <a:prstGeom prst="rect">
            <a:avLst/>
          </a:prstGeom>
          <a:noFill/>
        </p:spPr>
        <p:txBody>
          <a:bodyPr wrap="none" rtlCol="0">
            <a:spAutoFit/>
          </a:bodyPr>
          <a:lstStyle/>
          <a:p>
            <a:pPr algn="ctr"/>
            <a:r>
              <a:rPr lang="en-US" sz="1600" dirty="0">
                <a:latin typeface="Arial" panose="020B0604020202020204" pitchFamily="34" charset="0"/>
                <a:cs typeface="Arial" panose="020B0604020202020204" pitchFamily="34" charset="0"/>
              </a:rPr>
              <a:t>Watch</a:t>
            </a:r>
          </a:p>
          <a:p>
            <a:pPr algn="ctr"/>
            <a:r>
              <a:rPr lang="en-US" sz="1600" dirty="0">
                <a:latin typeface="Arial" panose="020B0604020202020204" pitchFamily="34" charset="0"/>
                <a:cs typeface="Arial" panose="020B0604020202020204" pitchFamily="34" charset="0"/>
              </a:rPr>
              <a:t>TV then</a:t>
            </a:r>
          </a:p>
          <a:p>
            <a:pPr algn="ctr"/>
            <a:r>
              <a:rPr lang="en-US" sz="1600" dirty="0">
                <a:latin typeface="Arial" panose="020B0604020202020204" pitchFamily="34" charset="0"/>
                <a:cs typeface="Arial" panose="020B0604020202020204" pitchFamily="34" charset="0"/>
              </a:rPr>
              <a:t>sleep</a:t>
            </a:r>
            <a:endParaRPr lang="en-US" sz="1400" dirty="0">
              <a:latin typeface="Arial" panose="020B0604020202020204" pitchFamily="34" charset="0"/>
              <a:cs typeface="Arial" panose="020B0604020202020204" pitchFamily="34" charset="0"/>
            </a:endParaRPr>
          </a:p>
        </p:txBody>
      </p:sp>
      <p:sp>
        <p:nvSpPr>
          <p:cNvPr id="16" name="TextBox 15">
            <a:extLst>
              <a:ext uri="{FF2B5EF4-FFF2-40B4-BE49-F238E27FC236}">
                <a16:creationId xmlns:a16="http://schemas.microsoft.com/office/drawing/2014/main" id="{83D79B39-0722-4DE9-D5BE-B199967A01A6}"/>
              </a:ext>
            </a:extLst>
          </p:cNvPr>
          <p:cNvSpPr txBox="1"/>
          <p:nvPr/>
        </p:nvSpPr>
        <p:spPr>
          <a:xfrm>
            <a:off x="7707671" y="5154617"/>
            <a:ext cx="737701" cy="276999"/>
          </a:xfrm>
          <a:prstGeom prst="rect">
            <a:avLst/>
          </a:prstGeom>
          <a:noFill/>
        </p:spPr>
        <p:txBody>
          <a:bodyPr wrap="none" rtlCol="0">
            <a:spAutoFit/>
          </a:bodyPr>
          <a:lstStyle/>
          <a:p>
            <a:pPr algn="ctr"/>
            <a:r>
              <a:rPr lang="en-US" sz="1200" dirty="0">
                <a:latin typeface="Arial" panose="020B0604020202020204" pitchFamily="34" charset="0"/>
                <a:cs typeface="Arial" panose="020B0604020202020204" pitchFamily="34" charset="0"/>
              </a:rPr>
              <a:t>Morning</a:t>
            </a:r>
          </a:p>
        </p:txBody>
      </p:sp>
      <p:sp>
        <p:nvSpPr>
          <p:cNvPr id="17" name="TextBox 16">
            <a:extLst>
              <a:ext uri="{FF2B5EF4-FFF2-40B4-BE49-F238E27FC236}">
                <a16:creationId xmlns:a16="http://schemas.microsoft.com/office/drawing/2014/main" id="{E79852F9-151A-B3F4-A41D-39B3CD63A050}"/>
              </a:ext>
            </a:extLst>
          </p:cNvPr>
          <p:cNvSpPr txBox="1"/>
          <p:nvPr/>
        </p:nvSpPr>
        <p:spPr>
          <a:xfrm>
            <a:off x="7771938" y="4472491"/>
            <a:ext cx="936475" cy="338554"/>
          </a:xfrm>
          <a:prstGeom prst="rect">
            <a:avLst/>
          </a:prstGeom>
          <a:noFill/>
        </p:spPr>
        <p:txBody>
          <a:bodyPr wrap="none" rtlCol="0">
            <a:spAutoFit/>
          </a:bodyPr>
          <a:lstStyle/>
          <a:p>
            <a:pPr algn="ctr"/>
            <a:r>
              <a:rPr lang="en-US" sz="1600" dirty="0">
                <a:latin typeface="Arial" panose="020B0604020202020204" pitchFamily="34" charset="0"/>
                <a:cs typeface="Arial" panose="020B0604020202020204" pitchFamily="34" charset="0"/>
              </a:rPr>
              <a:t>Do work</a:t>
            </a:r>
            <a:endParaRPr lang="en-US" sz="1400" dirty="0">
              <a:latin typeface="Arial" panose="020B0604020202020204" pitchFamily="34" charset="0"/>
              <a:cs typeface="Arial" panose="020B0604020202020204" pitchFamily="34" charset="0"/>
            </a:endParaRPr>
          </a:p>
        </p:txBody>
      </p:sp>
      <p:sp>
        <p:nvSpPr>
          <p:cNvPr id="18" name="TextBox 17">
            <a:extLst>
              <a:ext uri="{FF2B5EF4-FFF2-40B4-BE49-F238E27FC236}">
                <a16:creationId xmlns:a16="http://schemas.microsoft.com/office/drawing/2014/main" id="{4CFBE3BD-0D0D-59E1-0245-1297B313362F}"/>
              </a:ext>
            </a:extLst>
          </p:cNvPr>
          <p:cNvSpPr txBox="1"/>
          <p:nvPr/>
        </p:nvSpPr>
        <p:spPr>
          <a:xfrm>
            <a:off x="8515843" y="4547462"/>
            <a:ext cx="929687" cy="461665"/>
          </a:xfrm>
          <a:prstGeom prst="rect">
            <a:avLst/>
          </a:prstGeom>
          <a:noFill/>
        </p:spPr>
        <p:txBody>
          <a:bodyPr wrap="square" rtlCol="0">
            <a:spAutoFit/>
          </a:bodyPr>
          <a:lstStyle/>
          <a:p>
            <a:pPr algn="ctr"/>
            <a:r>
              <a:rPr lang="en-US" sz="1200" dirty="0">
                <a:latin typeface="Arial" panose="020B0604020202020204" pitchFamily="34" charset="0"/>
                <a:cs typeface="Arial" panose="020B0604020202020204" pitchFamily="34" charset="0"/>
              </a:rPr>
              <a:t>Have</a:t>
            </a:r>
          </a:p>
          <a:p>
            <a:pPr algn="ctr"/>
            <a:r>
              <a:rPr lang="en-US" sz="1200" dirty="0">
                <a:latin typeface="Arial" panose="020B0604020202020204" pitchFamily="34" charset="0"/>
                <a:cs typeface="Arial" panose="020B0604020202020204" pitchFamily="34" charset="0"/>
              </a:rPr>
              <a:t>results</a:t>
            </a:r>
            <a:endParaRPr lang="en-US" sz="1100" dirty="0">
              <a:latin typeface="Arial" panose="020B0604020202020204" pitchFamily="34" charset="0"/>
              <a:cs typeface="Arial" panose="020B0604020202020204" pitchFamily="34" charset="0"/>
            </a:endParaRPr>
          </a:p>
        </p:txBody>
      </p:sp>
      <p:sp>
        <p:nvSpPr>
          <p:cNvPr id="19" name="TextBox 18">
            <a:extLst>
              <a:ext uri="{FF2B5EF4-FFF2-40B4-BE49-F238E27FC236}">
                <a16:creationId xmlns:a16="http://schemas.microsoft.com/office/drawing/2014/main" id="{41CE8973-1273-FAD8-EF33-D6AB16557258}"/>
              </a:ext>
            </a:extLst>
          </p:cNvPr>
          <p:cNvSpPr txBox="1"/>
          <p:nvPr/>
        </p:nvSpPr>
        <p:spPr>
          <a:xfrm>
            <a:off x="8915564" y="3810728"/>
            <a:ext cx="1161505" cy="600164"/>
          </a:xfrm>
          <a:prstGeom prst="rect">
            <a:avLst/>
          </a:prstGeom>
          <a:noFill/>
        </p:spPr>
        <p:txBody>
          <a:bodyPr wrap="square" rtlCol="0">
            <a:spAutoFit/>
          </a:bodyPr>
          <a:lstStyle/>
          <a:p>
            <a:pPr algn="ctr"/>
            <a:r>
              <a:rPr lang="en-US" sz="1100" dirty="0">
                <a:latin typeface="Arial" panose="020B0604020202020204" pitchFamily="34" charset="0"/>
                <a:cs typeface="Arial" panose="020B0604020202020204" pitchFamily="34" charset="0"/>
              </a:rPr>
              <a:t>Prep for individual meeting</a:t>
            </a:r>
          </a:p>
        </p:txBody>
      </p:sp>
      <p:sp>
        <p:nvSpPr>
          <p:cNvPr id="20" name="TextBox 19">
            <a:extLst>
              <a:ext uri="{FF2B5EF4-FFF2-40B4-BE49-F238E27FC236}">
                <a16:creationId xmlns:a16="http://schemas.microsoft.com/office/drawing/2014/main" id="{60A83CF3-EDCB-D4E5-EE6C-A0A5DB534D78}"/>
              </a:ext>
            </a:extLst>
          </p:cNvPr>
          <p:cNvSpPr txBox="1"/>
          <p:nvPr/>
        </p:nvSpPr>
        <p:spPr>
          <a:xfrm>
            <a:off x="8515843" y="5796193"/>
            <a:ext cx="929687" cy="646331"/>
          </a:xfrm>
          <a:prstGeom prst="rect">
            <a:avLst/>
          </a:prstGeom>
          <a:noFill/>
        </p:spPr>
        <p:txBody>
          <a:bodyPr wrap="square" rtlCol="0">
            <a:spAutoFit/>
          </a:bodyPr>
          <a:lstStyle/>
          <a:p>
            <a:pPr algn="ctr"/>
            <a:r>
              <a:rPr lang="en-US" sz="1200" dirty="0">
                <a:latin typeface="Arial" panose="020B0604020202020204" pitchFamily="34" charset="0"/>
                <a:cs typeface="Arial" panose="020B0604020202020204" pitchFamily="34" charset="0"/>
              </a:rPr>
              <a:t>Have</a:t>
            </a:r>
          </a:p>
          <a:p>
            <a:pPr algn="ctr"/>
            <a:r>
              <a:rPr lang="en-US" sz="1200" dirty="0">
                <a:latin typeface="Arial" panose="020B0604020202020204" pitchFamily="34" charset="0"/>
                <a:cs typeface="Arial" panose="020B0604020202020204" pitchFamily="34" charset="0"/>
              </a:rPr>
              <a:t>no</a:t>
            </a:r>
          </a:p>
          <a:p>
            <a:pPr algn="ctr"/>
            <a:r>
              <a:rPr lang="en-US" sz="1200" dirty="0">
                <a:latin typeface="Arial" panose="020B0604020202020204" pitchFamily="34" charset="0"/>
                <a:cs typeface="Arial" panose="020B0604020202020204" pitchFamily="34" charset="0"/>
              </a:rPr>
              <a:t>results</a:t>
            </a:r>
            <a:endParaRPr lang="en-US" sz="1100" dirty="0">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5389D55C-331A-7D0F-AEC0-C5599E852C1F}"/>
              </a:ext>
            </a:extLst>
          </p:cNvPr>
          <p:cNvSpPr txBox="1"/>
          <p:nvPr/>
        </p:nvSpPr>
        <p:spPr>
          <a:xfrm>
            <a:off x="8964727" y="5088029"/>
            <a:ext cx="1161505" cy="261610"/>
          </a:xfrm>
          <a:prstGeom prst="rect">
            <a:avLst/>
          </a:prstGeom>
          <a:noFill/>
        </p:spPr>
        <p:txBody>
          <a:bodyPr wrap="square" rtlCol="0">
            <a:spAutoFit/>
          </a:bodyPr>
          <a:lstStyle/>
          <a:p>
            <a:pPr algn="ctr"/>
            <a:r>
              <a:rPr lang="en-US" sz="1100" dirty="0">
                <a:latin typeface="Arial" panose="020B0604020202020204" pitchFamily="34" charset="0"/>
                <a:cs typeface="Arial" panose="020B0604020202020204" pitchFamily="34" charset="0"/>
              </a:rPr>
              <a:t>Read</a:t>
            </a:r>
          </a:p>
        </p:txBody>
      </p:sp>
      <p:sp>
        <p:nvSpPr>
          <p:cNvPr id="22" name="TextBox 21">
            <a:extLst>
              <a:ext uri="{FF2B5EF4-FFF2-40B4-BE49-F238E27FC236}">
                <a16:creationId xmlns:a16="http://schemas.microsoft.com/office/drawing/2014/main" id="{F61E1506-4C15-9D0D-01E3-45043ECB75AD}"/>
              </a:ext>
            </a:extLst>
          </p:cNvPr>
          <p:cNvSpPr txBox="1"/>
          <p:nvPr/>
        </p:nvSpPr>
        <p:spPr>
          <a:xfrm>
            <a:off x="9831537" y="3926380"/>
            <a:ext cx="1161505" cy="600164"/>
          </a:xfrm>
          <a:prstGeom prst="rect">
            <a:avLst/>
          </a:prstGeom>
          <a:noFill/>
        </p:spPr>
        <p:txBody>
          <a:bodyPr wrap="square" rtlCol="0">
            <a:spAutoFit/>
          </a:bodyPr>
          <a:lstStyle/>
          <a:p>
            <a:pPr algn="ctr"/>
            <a:r>
              <a:rPr lang="en-US" sz="1100" dirty="0">
                <a:latin typeface="Arial" panose="020B0604020202020204" pitchFamily="34" charset="0"/>
                <a:cs typeface="Arial" panose="020B0604020202020204" pitchFamily="34" charset="0"/>
              </a:rPr>
              <a:t>Have</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great</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meeting</a:t>
            </a:r>
          </a:p>
        </p:txBody>
      </p:sp>
      <p:sp>
        <p:nvSpPr>
          <p:cNvPr id="23" name="TextBox 22">
            <a:extLst>
              <a:ext uri="{FF2B5EF4-FFF2-40B4-BE49-F238E27FC236}">
                <a16:creationId xmlns:a16="http://schemas.microsoft.com/office/drawing/2014/main" id="{770C3B45-144D-5D93-74C0-CF963C24794D}"/>
              </a:ext>
            </a:extLst>
          </p:cNvPr>
          <p:cNvSpPr txBox="1"/>
          <p:nvPr/>
        </p:nvSpPr>
        <p:spPr>
          <a:xfrm>
            <a:off x="9839677" y="4892693"/>
            <a:ext cx="1161505" cy="600164"/>
          </a:xfrm>
          <a:prstGeom prst="rect">
            <a:avLst/>
          </a:prstGeom>
          <a:noFill/>
        </p:spPr>
        <p:txBody>
          <a:bodyPr wrap="square" rtlCol="0">
            <a:spAutoFit/>
          </a:bodyPr>
          <a:lstStyle/>
          <a:p>
            <a:pPr algn="ctr"/>
            <a:r>
              <a:rPr lang="en-US" sz="1100" dirty="0">
                <a:latin typeface="Arial" panose="020B0604020202020204" pitchFamily="34" charset="0"/>
                <a:cs typeface="Arial" panose="020B0604020202020204" pitchFamily="34" charset="0"/>
              </a:rPr>
              <a:t>Have</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ok</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meeting</a:t>
            </a:r>
          </a:p>
        </p:txBody>
      </p:sp>
      <p:sp>
        <p:nvSpPr>
          <p:cNvPr id="24" name="TextBox 23">
            <a:extLst>
              <a:ext uri="{FF2B5EF4-FFF2-40B4-BE49-F238E27FC236}">
                <a16:creationId xmlns:a16="http://schemas.microsoft.com/office/drawing/2014/main" id="{382F12B4-63D2-1623-08A2-D9BDBCE0950F}"/>
              </a:ext>
            </a:extLst>
          </p:cNvPr>
          <p:cNvSpPr txBox="1"/>
          <p:nvPr/>
        </p:nvSpPr>
        <p:spPr>
          <a:xfrm>
            <a:off x="9825572" y="5793396"/>
            <a:ext cx="1161505" cy="600164"/>
          </a:xfrm>
          <a:prstGeom prst="rect">
            <a:avLst/>
          </a:prstGeom>
          <a:noFill/>
        </p:spPr>
        <p:txBody>
          <a:bodyPr wrap="square" rtlCol="0">
            <a:spAutoFit/>
          </a:bodyPr>
          <a:lstStyle/>
          <a:p>
            <a:pPr algn="ctr"/>
            <a:r>
              <a:rPr lang="en-US" sz="1100" dirty="0">
                <a:latin typeface="Arial" panose="020B0604020202020204" pitchFamily="34" charset="0"/>
                <a:cs typeface="Arial" panose="020B0604020202020204" pitchFamily="34" charset="0"/>
              </a:rPr>
              <a:t>Have</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bad</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meeting</a:t>
            </a:r>
          </a:p>
        </p:txBody>
      </p:sp>
      <p:sp>
        <p:nvSpPr>
          <p:cNvPr id="25" name="Oval 24">
            <a:extLst>
              <a:ext uri="{FF2B5EF4-FFF2-40B4-BE49-F238E27FC236}">
                <a16:creationId xmlns:a16="http://schemas.microsoft.com/office/drawing/2014/main" id="{117E3E0F-3C3C-EAD9-C3F2-75A66E456E62}"/>
              </a:ext>
            </a:extLst>
          </p:cNvPr>
          <p:cNvSpPr/>
          <p:nvPr/>
        </p:nvSpPr>
        <p:spPr>
          <a:xfrm>
            <a:off x="5732757" y="2420682"/>
            <a:ext cx="2065825" cy="2065825"/>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65132C73-1B0F-A6FF-2992-1E6E1B6D6C8F}"/>
              </a:ext>
            </a:extLst>
          </p:cNvPr>
          <p:cNvSpPr/>
          <p:nvPr/>
        </p:nvSpPr>
        <p:spPr>
          <a:xfrm>
            <a:off x="5963687" y="2819261"/>
            <a:ext cx="715552" cy="715552"/>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AA23DCFF-1A39-F190-1794-3569D1661DA5}"/>
              </a:ext>
            </a:extLst>
          </p:cNvPr>
          <p:cNvSpPr/>
          <p:nvPr/>
        </p:nvSpPr>
        <p:spPr>
          <a:xfrm>
            <a:off x="6889395" y="2845130"/>
            <a:ext cx="715552" cy="715552"/>
          </a:xfrm>
          <a:prstGeom prst="ellipse">
            <a:avLst/>
          </a:prstGeom>
          <a:solidFill>
            <a:srgbClr val="0070C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AB5FD0D2-06EA-E5FA-8D1E-6C84B93C88AD}"/>
              </a:ext>
            </a:extLst>
          </p:cNvPr>
          <p:cNvSpPr/>
          <p:nvPr/>
        </p:nvSpPr>
        <p:spPr>
          <a:xfrm>
            <a:off x="6406863" y="3597658"/>
            <a:ext cx="715552" cy="715552"/>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 name="Straight Connector 29">
            <a:extLst>
              <a:ext uri="{FF2B5EF4-FFF2-40B4-BE49-F238E27FC236}">
                <a16:creationId xmlns:a16="http://schemas.microsoft.com/office/drawing/2014/main" id="{64C16D8D-30AA-0F02-785F-287FAEE601A3}"/>
              </a:ext>
            </a:extLst>
          </p:cNvPr>
          <p:cNvCxnSpPr>
            <a:cxnSpLocks/>
            <a:stCxn id="25" idx="4"/>
            <a:endCxn id="4" idx="1"/>
          </p:cNvCxnSpPr>
          <p:nvPr/>
        </p:nvCxnSpPr>
        <p:spPr>
          <a:xfrm>
            <a:off x="6765670" y="4486507"/>
            <a:ext cx="1057076" cy="5838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4C2CD14A-AA90-98FE-9954-3FC7040037AF}"/>
              </a:ext>
            </a:extLst>
          </p:cNvPr>
          <p:cNvCxnSpPr>
            <a:cxnSpLocks/>
            <a:stCxn id="25" idx="6"/>
            <a:endCxn id="4" idx="1"/>
          </p:cNvCxnSpPr>
          <p:nvPr/>
        </p:nvCxnSpPr>
        <p:spPr>
          <a:xfrm>
            <a:off x="7798582" y="3453595"/>
            <a:ext cx="24164" cy="16168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6EAB7784-850E-87A7-3619-A702E1838407}"/>
              </a:ext>
            </a:extLst>
          </p:cNvPr>
          <p:cNvSpPr txBox="1"/>
          <p:nvPr/>
        </p:nvSpPr>
        <p:spPr>
          <a:xfrm>
            <a:off x="6964591" y="2936713"/>
            <a:ext cx="603049" cy="523220"/>
          </a:xfrm>
          <a:prstGeom prst="rect">
            <a:avLst/>
          </a:prstGeom>
          <a:noFill/>
        </p:spPr>
        <p:txBody>
          <a:bodyPr wrap="none" rtlCol="0">
            <a:spAutoFit/>
          </a:bodyPr>
          <a:lstStyle/>
          <a:p>
            <a:pPr algn="ctr"/>
            <a:r>
              <a:rPr lang="en-US" sz="1400" dirty="0">
                <a:solidFill>
                  <a:schemeClr val="bg1"/>
                </a:solidFill>
                <a:latin typeface="Arial" panose="020B0604020202020204" pitchFamily="34" charset="0"/>
                <a:cs typeface="Arial" panose="020B0604020202020204" pitchFamily="34" charset="0"/>
              </a:rPr>
              <a:t>Have</a:t>
            </a:r>
            <a:br>
              <a:rPr lang="en-US" sz="1400" dirty="0">
                <a:solidFill>
                  <a:schemeClr val="bg1"/>
                </a:solidFill>
                <a:latin typeface="Arial" panose="020B0604020202020204" pitchFamily="34" charset="0"/>
                <a:cs typeface="Arial" panose="020B0604020202020204" pitchFamily="34" charset="0"/>
              </a:rPr>
            </a:br>
            <a:r>
              <a:rPr lang="en-US" sz="1400" dirty="0">
                <a:solidFill>
                  <a:schemeClr val="bg1"/>
                </a:solidFill>
                <a:latin typeface="Arial" panose="020B0604020202020204" pitchFamily="34" charset="0"/>
                <a:cs typeface="Arial" panose="020B0604020202020204" pitchFamily="34" charset="0"/>
              </a:rPr>
              <a:t>data</a:t>
            </a:r>
          </a:p>
        </p:txBody>
      </p:sp>
      <p:sp>
        <p:nvSpPr>
          <p:cNvPr id="38" name="TextBox 37">
            <a:extLst>
              <a:ext uri="{FF2B5EF4-FFF2-40B4-BE49-F238E27FC236}">
                <a16:creationId xmlns:a16="http://schemas.microsoft.com/office/drawing/2014/main" id="{5943CB29-6B48-E5AD-C33A-D76094464866}"/>
              </a:ext>
            </a:extLst>
          </p:cNvPr>
          <p:cNvSpPr txBox="1"/>
          <p:nvPr/>
        </p:nvSpPr>
        <p:spPr>
          <a:xfrm>
            <a:off x="6418230" y="3779503"/>
            <a:ext cx="692818" cy="307777"/>
          </a:xfrm>
          <a:prstGeom prst="rect">
            <a:avLst/>
          </a:prstGeom>
          <a:noFill/>
        </p:spPr>
        <p:txBody>
          <a:bodyPr wrap="none" rtlCol="0">
            <a:spAutoFit/>
          </a:bodyPr>
          <a:lstStyle/>
          <a:p>
            <a:pPr algn="ctr"/>
            <a:r>
              <a:rPr lang="en-US" sz="1400" dirty="0">
                <a:latin typeface="Arial" panose="020B0604020202020204" pitchFamily="34" charset="0"/>
                <a:cs typeface="Arial" panose="020B0604020202020204" pitchFamily="34" charset="0"/>
              </a:rPr>
              <a:t>Sunny</a:t>
            </a:r>
          </a:p>
        </p:txBody>
      </p:sp>
      <p:sp>
        <p:nvSpPr>
          <p:cNvPr id="39" name="TextBox 38">
            <a:extLst>
              <a:ext uri="{FF2B5EF4-FFF2-40B4-BE49-F238E27FC236}">
                <a16:creationId xmlns:a16="http://schemas.microsoft.com/office/drawing/2014/main" id="{2CC34A18-DCE1-BDC2-4F82-0ECBF04DCE34}"/>
              </a:ext>
            </a:extLst>
          </p:cNvPr>
          <p:cNvSpPr txBox="1"/>
          <p:nvPr/>
        </p:nvSpPr>
        <p:spPr>
          <a:xfrm>
            <a:off x="6044784" y="2930596"/>
            <a:ext cx="553357" cy="523220"/>
          </a:xfrm>
          <a:prstGeom prst="rect">
            <a:avLst/>
          </a:prstGeom>
          <a:noFill/>
        </p:spPr>
        <p:txBody>
          <a:bodyPr wrap="none" rtlCol="0">
            <a:spAutoFit/>
          </a:bodyPr>
          <a:lstStyle/>
          <a:p>
            <a:pPr algn="ctr"/>
            <a:r>
              <a:rPr lang="en-US" sz="1400" dirty="0">
                <a:solidFill>
                  <a:schemeClr val="bg1"/>
                </a:solidFill>
                <a:latin typeface="Arial" panose="020B0604020202020204" pitchFamily="34" charset="0"/>
                <a:cs typeface="Arial" panose="020B0604020202020204" pitchFamily="34" charset="0"/>
              </a:rPr>
              <a:t>Own</a:t>
            </a:r>
          </a:p>
          <a:p>
            <a:pPr algn="ctr"/>
            <a:r>
              <a:rPr lang="en-US" sz="1400" dirty="0">
                <a:solidFill>
                  <a:schemeClr val="bg1"/>
                </a:solidFill>
                <a:latin typeface="Arial" panose="020B0604020202020204" pitchFamily="34" charset="0"/>
                <a:cs typeface="Arial" panose="020B0604020202020204" pitchFamily="34" charset="0"/>
              </a:rPr>
              <a:t>TV</a:t>
            </a:r>
          </a:p>
        </p:txBody>
      </p:sp>
      <p:sp>
        <p:nvSpPr>
          <p:cNvPr id="42" name="TextBox 41">
            <a:extLst>
              <a:ext uri="{FF2B5EF4-FFF2-40B4-BE49-F238E27FC236}">
                <a16:creationId xmlns:a16="http://schemas.microsoft.com/office/drawing/2014/main" id="{40E34CCB-FE05-B298-6E90-1805269F738A}"/>
              </a:ext>
            </a:extLst>
          </p:cNvPr>
          <p:cNvSpPr txBox="1"/>
          <p:nvPr/>
        </p:nvSpPr>
        <p:spPr>
          <a:xfrm>
            <a:off x="9147382" y="6217490"/>
            <a:ext cx="929687" cy="276999"/>
          </a:xfrm>
          <a:prstGeom prst="rect">
            <a:avLst/>
          </a:prstGeom>
          <a:noFill/>
        </p:spPr>
        <p:txBody>
          <a:bodyPr wrap="square" rtlCol="0">
            <a:spAutoFit/>
          </a:bodyPr>
          <a:lstStyle/>
          <a:p>
            <a:pPr algn="ctr"/>
            <a:r>
              <a:rPr lang="en-US" sz="1200" dirty="0">
                <a:latin typeface="Arial" panose="020B0604020202020204" pitchFamily="34" charset="0"/>
                <a:cs typeface="Arial" panose="020B0604020202020204" pitchFamily="34" charset="0"/>
              </a:rPr>
              <a:t>Cry</a:t>
            </a:r>
            <a:endParaRPr lang="en-US" sz="11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3450353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269ADA-B458-7AC4-A1F7-566C7D6C4265}"/>
              </a:ext>
            </a:extLst>
          </p:cNvPr>
          <p:cNvSpPr>
            <a:spLocks noGrp="1"/>
          </p:cNvSpPr>
          <p:nvPr>
            <p:ph type="title"/>
          </p:nvPr>
        </p:nvSpPr>
        <p:spPr>
          <a:xfrm>
            <a:off x="838200" y="365125"/>
            <a:ext cx="7653479" cy="1325563"/>
          </a:xfrm>
        </p:spPr>
        <p:txBody>
          <a:bodyPr/>
          <a:lstStyle/>
          <a:p>
            <a:r>
              <a:rPr lang="en-US" dirty="0"/>
              <a:t>Affordances</a:t>
            </a:r>
          </a:p>
        </p:txBody>
      </p:sp>
      <p:sp>
        <p:nvSpPr>
          <p:cNvPr id="3" name="Content Placeholder 2">
            <a:extLst>
              <a:ext uri="{FF2B5EF4-FFF2-40B4-BE49-F238E27FC236}">
                <a16:creationId xmlns:a16="http://schemas.microsoft.com/office/drawing/2014/main" id="{9EFCA276-9AA8-453B-7F52-2DA444E34B71}"/>
              </a:ext>
            </a:extLst>
          </p:cNvPr>
          <p:cNvSpPr>
            <a:spLocks noGrp="1"/>
          </p:cNvSpPr>
          <p:nvPr>
            <p:ph idx="1"/>
          </p:nvPr>
        </p:nvSpPr>
        <p:spPr>
          <a:xfrm>
            <a:off x="468923" y="1825624"/>
            <a:ext cx="5053429" cy="4772561"/>
          </a:xfrm>
        </p:spPr>
        <p:txBody>
          <a:bodyPr>
            <a:normAutofit fontScale="92500" lnSpcReduction="10000"/>
          </a:bodyPr>
          <a:lstStyle/>
          <a:p>
            <a:r>
              <a:rPr lang="en-US" dirty="0"/>
              <a:t>Affordances:</a:t>
            </a:r>
          </a:p>
          <a:p>
            <a:pPr lvl="1"/>
            <a:r>
              <a:rPr lang="en-US" dirty="0"/>
              <a:t>Idea that objects in the world are perceived in terms of what actions they make permissible</a:t>
            </a:r>
          </a:p>
          <a:p>
            <a:pPr lvl="1"/>
            <a:r>
              <a:rPr lang="en-US" dirty="0"/>
              <a:t>This door design is bad because it is meant to be pushed yet the handles allow pulling</a:t>
            </a:r>
          </a:p>
          <a:p>
            <a:r>
              <a:rPr lang="en-US" dirty="0"/>
              <a:t>State framing:</a:t>
            </a:r>
          </a:p>
          <a:p>
            <a:pPr lvl="1"/>
            <a:r>
              <a:rPr lang="en-US" dirty="0"/>
              <a:t>Affordances are features of a state that define which actions (transitions) are available to go toward another state</a:t>
            </a:r>
          </a:p>
          <a:p>
            <a:pPr lvl="1"/>
            <a:r>
              <a:rPr lang="en-US" dirty="0"/>
              <a:t>I need to own a TV in order to watch TV</a:t>
            </a:r>
          </a:p>
        </p:txBody>
      </p:sp>
      <p:sp>
        <p:nvSpPr>
          <p:cNvPr id="4" name="Oval 3">
            <a:extLst>
              <a:ext uri="{FF2B5EF4-FFF2-40B4-BE49-F238E27FC236}">
                <a16:creationId xmlns:a16="http://schemas.microsoft.com/office/drawing/2014/main" id="{FB5E694C-5068-255A-80AA-02B5B1672AD3}"/>
              </a:ext>
            </a:extLst>
          </p:cNvPr>
          <p:cNvSpPr/>
          <p:nvPr/>
        </p:nvSpPr>
        <p:spPr>
          <a:xfrm>
            <a:off x="7724562" y="4972211"/>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5428C21B-1725-5174-5D2C-BF717600FA35}"/>
              </a:ext>
            </a:extLst>
          </p:cNvPr>
          <p:cNvSpPr/>
          <p:nvPr/>
        </p:nvSpPr>
        <p:spPr>
          <a:xfrm>
            <a:off x="8616464" y="5790406"/>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CE9BFC90-FF53-7743-871C-83CD4912B1BE}"/>
              </a:ext>
            </a:extLst>
          </p:cNvPr>
          <p:cNvSpPr/>
          <p:nvPr/>
        </p:nvSpPr>
        <p:spPr>
          <a:xfrm>
            <a:off x="10078680" y="5790406"/>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4C6F4198-5198-EC3F-2E20-33E3BDDB1D1F}"/>
              </a:ext>
            </a:extLst>
          </p:cNvPr>
          <p:cNvCxnSpPr>
            <a:stCxn id="5" idx="6"/>
            <a:endCxn id="6" idx="2"/>
          </p:cNvCxnSpPr>
          <p:nvPr/>
        </p:nvCxnSpPr>
        <p:spPr>
          <a:xfrm>
            <a:off x="9286904" y="6125626"/>
            <a:ext cx="79177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88B2E407-7E89-56D9-8C06-25B74FFC163C}"/>
              </a:ext>
            </a:extLst>
          </p:cNvPr>
          <p:cNvCxnSpPr>
            <a:cxnSpLocks/>
            <a:stCxn id="4" idx="5"/>
            <a:endCxn id="5" idx="1"/>
          </p:cNvCxnSpPr>
          <p:nvPr/>
        </p:nvCxnSpPr>
        <p:spPr>
          <a:xfrm>
            <a:off x="8296818" y="5544467"/>
            <a:ext cx="417830" cy="34412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5ABF9AD2-0CB1-1F03-E2EF-BDDC4ABAAE46}"/>
              </a:ext>
            </a:extLst>
          </p:cNvPr>
          <p:cNvSpPr/>
          <p:nvPr/>
        </p:nvSpPr>
        <p:spPr>
          <a:xfrm>
            <a:off x="8638665" y="4448616"/>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71A157A9-090D-2215-A634-E42DB5296454}"/>
              </a:ext>
            </a:extLst>
          </p:cNvPr>
          <p:cNvSpPr/>
          <p:nvPr/>
        </p:nvSpPr>
        <p:spPr>
          <a:xfrm>
            <a:off x="10080291" y="4885268"/>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a:extLst>
              <a:ext uri="{FF2B5EF4-FFF2-40B4-BE49-F238E27FC236}">
                <a16:creationId xmlns:a16="http://schemas.microsoft.com/office/drawing/2014/main" id="{0C421230-3C98-EE1C-E179-4A47330A05AD}"/>
              </a:ext>
            </a:extLst>
          </p:cNvPr>
          <p:cNvCxnSpPr>
            <a:stCxn id="9" idx="6"/>
            <a:endCxn id="10" idx="2"/>
          </p:cNvCxnSpPr>
          <p:nvPr/>
        </p:nvCxnSpPr>
        <p:spPr>
          <a:xfrm>
            <a:off x="9309105" y="4783836"/>
            <a:ext cx="771186" cy="43665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A113A111-5AF6-FA98-0199-7150A03012BF}"/>
              </a:ext>
            </a:extLst>
          </p:cNvPr>
          <p:cNvCxnSpPr>
            <a:cxnSpLocks/>
            <a:stCxn id="4" idx="7"/>
            <a:endCxn id="9" idx="2"/>
          </p:cNvCxnSpPr>
          <p:nvPr/>
        </p:nvCxnSpPr>
        <p:spPr>
          <a:xfrm flipV="1">
            <a:off x="8296818" y="4783836"/>
            <a:ext cx="341847" cy="28655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CB889F4A-5FE8-B87F-D0E6-DE2D2AA27718}"/>
              </a:ext>
            </a:extLst>
          </p:cNvPr>
          <p:cNvSpPr/>
          <p:nvPr/>
        </p:nvSpPr>
        <p:spPr>
          <a:xfrm>
            <a:off x="10078680" y="3924704"/>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a:extLst>
              <a:ext uri="{FF2B5EF4-FFF2-40B4-BE49-F238E27FC236}">
                <a16:creationId xmlns:a16="http://schemas.microsoft.com/office/drawing/2014/main" id="{FD218C6B-4A06-150D-91E6-D2126FC3C8DB}"/>
              </a:ext>
            </a:extLst>
          </p:cNvPr>
          <p:cNvCxnSpPr>
            <a:cxnSpLocks/>
            <a:stCxn id="9" idx="6"/>
            <a:endCxn id="13" idx="2"/>
          </p:cNvCxnSpPr>
          <p:nvPr/>
        </p:nvCxnSpPr>
        <p:spPr>
          <a:xfrm flipV="1">
            <a:off x="9309105" y="4259924"/>
            <a:ext cx="769575" cy="52391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21BCC562-9501-833B-7764-00DC225291AC}"/>
              </a:ext>
            </a:extLst>
          </p:cNvPr>
          <p:cNvSpPr txBox="1"/>
          <p:nvPr/>
        </p:nvSpPr>
        <p:spPr>
          <a:xfrm>
            <a:off x="7704551" y="5767189"/>
            <a:ext cx="902811" cy="830997"/>
          </a:xfrm>
          <a:prstGeom prst="rect">
            <a:avLst/>
          </a:prstGeom>
          <a:noFill/>
        </p:spPr>
        <p:txBody>
          <a:bodyPr wrap="none" rtlCol="0">
            <a:spAutoFit/>
          </a:bodyPr>
          <a:lstStyle/>
          <a:p>
            <a:pPr algn="ctr"/>
            <a:r>
              <a:rPr lang="en-US" sz="1600" dirty="0">
                <a:latin typeface="Arial" panose="020B0604020202020204" pitchFamily="34" charset="0"/>
                <a:cs typeface="Arial" panose="020B0604020202020204" pitchFamily="34" charset="0"/>
              </a:rPr>
              <a:t>Watch</a:t>
            </a:r>
          </a:p>
          <a:p>
            <a:pPr algn="ctr"/>
            <a:r>
              <a:rPr lang="en-US" sz="1600" dirty="0">
                <a:latin typeface="Arial" panose="020B0604020202020204" pitchFamily="34" charset="0"/>
                <a:cs typeface="Arial" panose="020B0604020202020204" pitchFamily="34" charset="0"/>
              </a:rPr>
              <a:t>TV then</a:t>
            </a:r>
          </a:p>
          <a:p>
            <a:pPr algn="ctr"/>
            <a:r>
              <a:rPr lang="en-US" sz="1600" dirty="0">
                <a:latin typeface="Arial" panose="020B0604020202020204" pitchFamily="34" charset="0"/>
                <a:cs typeface="Arial" panose="020B0604020202020204" pitchFamily="34" charset="0"/>
              </a:rPr>
              <a:t>sleep</a:t>
            </a:r>
            <a:endParaRPr lang="en-US" sz="1400" dirty="0">
              <a:latin typeface="Arial" panose="020B0604020202020204" pitchFamily="34" charset="0"/>
              <a:cs typeface="Arial" panose="020B0604020202020204" pitchFamily="34" charset="0"/>
            </a:endParaRPr>
          </a:p>
        </p:txBody>
      </p:sp>
      <p:sp>
        <p:nvSpPr>
          <p:cNvPr id="16" name="TextBox 15">
            <a:extLst>
              <a:ext uri="{FF2B5EF4-FFF2-40B4-BE49-F238E27FC236}">
                <a16:creationId xmlns:a16="http://schemas.microsoft.com/office/drawing/2014/main" id="{83D79B39-0722-4DE9-D5BE-B199967A01A6}"/>
              </a:ext>
            </a:extLst>
          </p:cNvPr>
          <p:cNvSpPr txBox="1"/>
          <p:nvPr/>
        </p:nvSpPr>
        <p:spPr>
          <a:xfrm>
            <a:off x="7707671" y="5154617"/>
            <a:ext cx="737701" cy="276999"/>
          </a:xfrm>
          <a:prstGeom prst="rect">
            <a:avLst/>
          </a:prstGeom>
          <a:noFill/>
        </p:spPr>
        <p:txBody>
          <a:bodyPr wrap="none" rtlCol="0">
            <a:spAutoFit/>
          </a:bodyPr>
          <a:lstStyle/>
          <a:p>
            <a:pPr algn="ctr"/>
            <a:r>
              <a:rPr lang="en-US" sz="1200" dirty="0">
                <a:latin typeface="Arial" panose="020B0604020202020204" pitchFamily="34" charset="0"/>
                <a:cs typeface="Arial" panose="020B0604020202020204" pitchFamily="34" charset="0"/>
              </a:rPr>
              <a:t>Morning</a:t>
            </a:r>
          </a:p>
        </p:txBody>
      </p:sp>
      <p:sp>
        <p:nvSpPr>
          <p:cNvPr id="17" name="TextBox 16">
            <a:extLst>
              <a:ext uri="{FF2B5EF4-FFF2-40B4-BE49-F238E27FC236}">
                <a16:creationId xmlns:a16="http://schemas.microsoft.com/office/drawing/2014/main" id="{E79852F9-151A-B3F4-A41D-39B3CD63A050}"/>
              </a:ext>
            </a:extLst>
          </p:cNvPr>
          <p:cNvSpPr txBox="1"/>
          <p:nvPr/>
        </p:nvSpPr>
        <p:spPr>
          <a:xfrm>
            <a:off x="7758527" y="4515611"/>
            <a:ext cx="936475" cy="338554"/>
          </a:xfrm>
          <a:prstGeom prst="rect">
            <a:avLst/>
          </a:prstGeom>
          <a:noFill/>
        </p:spPr>
        <p:txBody>
          <a:bodyPr wrap="none" rtlCol="0">
            <a:spAutoFit/>
          </a:bodyPr>
          <a:lstStyle/>
          <a:p>
            <a:pPr algn="ctr"/>
            <a:r>
              <a:rPr lang="en-US" sz="1600" dirty="0">
                <a:latin typeface="Arial" panose="020B0604020202020204" pitchFamily="34" charset="0"/>
                <a:cs typeface="Arial" panose="020B0604020202020204" pitchFamily="34" charset="0"/>
              </a:rPr>
              <a:t>Do work</a:t>
            </a:r>
            <a:endParaRPr lang="en-US" sz="1400" dirty="0">
              <a:latin typeface="Arial" panose="020B0604020202020204" pitchFamily="34" charset="0"/>
              <a:cs typeface="Arial" panose="020B0604020202020204" pitchFamily="34" charset="0"/>
            </a:endParaRPr>
          </a:p>
        </p:txBody>
      </p:sp>
      <p:sp>
        <p:nvSpPr>
          <p:cNvPr id="18" name="TextBox 17">
            <a:extLst>
              <a:ext uri="{FF2B5EF4-FFF2-40B4-BE49-F238E27FC236}">
                <a16:creationId xmlns:a16="http://schemas.microsoft.com/office/drawing/2014/main" id="{4CFBE3BD-0D0D-59E1-0245-1297B313362F}"/>
              </a:ext>
            </a:extLst>
          </p:cNvPr>
          <p:cNvSpPr txBox="1"/>
          <p:nvPr/>
        </p:nvSpPr>
        <p:spPr>
          <a:xfrm>
            <a:off x="8515843" y="4547462"/>
            <a:ext cx="929687" cy="461665"/>
          </a:xfrm>
          <a:prstGeom prst="rect">
            <a:avLst/>
          </a:prstGeom>
          <a:noFill/>
        </p:spPr>
        <p:txBody>
          <a:bodyPr wrap="square" rtlCol="0">
            <a:spAutoFit/>
          </a:bodyPr>
          <a:lstStyle/>
          <a:p>
            <a:pPr algn="ctr"/>
            <a:r>
              <a:rPr lang="en-US" sz="1200" dirty="0">
                <a:latin typeface="Arial" panose="020B0604020202020204" pitchFamily="34" charset="0"/>
                <a:cs typeface="Arial" panose="020B0604020202020204" pitchFamily="34" charset="0"/>
              </a:rPr>
              <a:t>Have</a:t>
            </a:r>
          </a:p>
          <a:p>
            <a:pPr algn="ctr"/>
            <a:r>
              <a:rPr lang="en-US" sz="1200" dirty="0">
                <a:latin typeface="Arial" panose="020B0604020202020204" pitchFamily="34" charset="0"/>
                <a:cs typeface="Arial" panose="020B0604020202020204" pitchFamily="34" charset="0"/>
              </a:rPr>
              <a:t>results</a:t>
            </a:r>
            <a:endParaRPr lang="en-US" sz="1100" dirty="0">
              <a:latin typeface="Arial" panose="020B0604020202020204" pitchFamily="34" charset="0"/>
              <a:cs typeface="Arial" panose="020B0604020202020204" pitchFamily="34" charset="0"/>
            </a:endParaRPr>
          </a:p>
        </p:txBody>
      </p:sp>
      <p:sp>
        <p:nvSpPr>
          <p:cNvPr id="19" name="TextBox 18">
            <a:extLst>
              <a:ext uri="{FF2B5EF4-FFF2-40B4-BE49-F238E27FC236}">
                <a16:creationId xmlns:a16="http://schemas.microsoft.com/office/drawing/2014/main" id="{41CE8973-1273-FAD8-EF33-D6AB16557258}"/>
              </a:ext>
            </a:extLst>
          </p:cNvPr>
          <p:cNvSpPr txBox="1"/>
          <p:nvPr/>
        </p:nvSpPr>
        <p:spPr>
          <a:xfrm>
            <a:off x="8915564" y="3810728"/>
            <a:ext cx="1161505" cy="600164"/>
          </a:xfrm>
          <a:prstGeom prst="rect">
            <a:avLst/>
          </a:prstGeom>
          <a:noFill/>
        </p:spPr>
        <p:txBody>
          <a:bodyPr wrap="square" rtlCol="0">
            <a:spAutoFit/>
          </a:bodyPr>
          <a:lstStyle/>
          <a:p>
            <a:pPr algn="ctr"/>
            <a:r>
              <a:rPr lang="en-US" sz="1100" dirty="0">
                <a:latin typeface="Arial" panose="020B0604020202020204" pitchFamily="34" charset="0"/>
                <a:cs typeface="Arial" panose="020B0604020202020204" pitchFamily="34" charset="0"/>
              </a:rPr>
              <a:t>Prep for individual meeting</a:t>
            </a:r>
          </a:p>
        </p:txBody>
      </p:sp>
      <p:sp>
        <p:nvSpPr>
          <p:cNvPr id="20" name="TextBox 19">
            <a:extLst>
              <a:ext uri="{FF2B5EF4-FFF2-40B4-BE49-F238E27FC236}">
                <a16:creationId xmlns:a16="http://schemas.microsoft.com/office/drawing/2014/main" id="{60A83CF3-EDCB-D4E5-EE6C-A0A5DB534D78}"/>
              </a:ext>
            </a:extLst>
          </p:cNvPr>
          <p:cNvSpPr txBox="1"/>
          <p:nvPr/>
        </p:nvSpPr>
        <p:spPr>
          <a:xfrm>
            <a:off x="8493265" y="5796193"/>
            <a:ext cx="929687" cy="646331"/>
          </a:xfrm>
          <a:prstGeom prst="rect">
            <a:avLst/>
          </a:prstGeom>
          <a:noFill/>
        </p:spPr>
        <p:txBody>
          <a:bodyPr wrap="square" rtlCol="0">
            <a:spAutoFit/>
          </a:bodyPr>
          <a:lstStyle/>
          <a:p>
            <a:pPr algn="ctr"/>
            <a:r>
              <a:rPr lang="en-US" sz="1200" dirty="0">
                <a:latin typeface="Arial" panose="020B0604020202020204" pitchFamily="34" charset="0"/>
                <a:cs typeface="Arial" panose="020B0604020202020204" pitchFamily="34" charset="0"/>
              </a:rPr>
              <a:t>Have</a:t>
            </a:r>
          </a:p>
          <a:p>
            <a:pPr algn="ctr"/>
            <a:r>
              <a:rPr lang="en-US" sz="1200" dirty="0">
                <a:latin typeface="Arial" panose="020B0604020202020204" pitchFamily="34" charset="0"/>
                <a:cs typeface="Arial" panose="020B0604020202020204" pitchFamily="34" charset="0"/>
              </a:rPr>
              <a:t>no</a:t>
            </a:r>
          </a:p>
          <a:p>
            <a:pPr algn="ctr"/>
            <a:r>
              <a:rPr lang="en-US" sz="1200" dirty="0">
                <a:latin typeface="Arial" panose="020B0604020202020204" pitchFamily="34" charset="0"/>
                <a:cs typeface="Arial" panose="020B0604020202020204" pitchFamily="34" charset="0"/>
              </a:rPr>
              <a:t>results</a:t>
            </a:r>
            <a:endParaRPr lang="en-US" sz="1100" dirty="0">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5389D55C-331A-7D0F-AEC0-C5599E852C1F}"/>
              </a:ext>
            </a:extLst>
          </p:cNvPr>
          <p:cNvSpPr txBox="1"/>
          <p:nvPr/>
        </p:nvSpPr>
        <p:spPr>
          <a:xfrm>
            <a:off x="8873831" y="4986590"/>
            <a:ext cx="1161505" cy="430887"/>
          </a:xfrm>
          <a:prstGeom prst="rect">
            <a:avLst/>
          </a:prstGeom>
          <a:noFill/>
        </p:spPr>
        <p:txBody>
          <a:bodyPr wrap="square" rtlCol="0">
            <a:spAutoFit/>
          </a:bodyPr>
          <a:lstStyle/>
          <a:p>
            <a:pPr algn="ctr"/>
            <a:r>
              <a:rPr lang="en-US" sz="1100" dirty="0">
                <a:latin typeface="Arial" panose="020B0604020202020204" pitchFamily="34" charset="0"/>
                <a:cs typeface="Arial" panose="020B0604020202020204" pitchFamily="34" charset="0"/>
              </a:rPr>
              <a:t>Read</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book</a:t>
            </a:r>
          </a:p>
        </p:txBody>
      </p:sp>
      <p:sp>
        <p:nvSpPr>
          <p:cNvPr id="22" name="TextBox 21">
            <a:extLst>
              <a:ext uri="{FF2B5EF4-FFF2-40B4-BE49-F238E27FC236}">
                <a16:creationId xmlns:a16="http://schemas.microsoft.com/office/drawing/2014/main" id="{F61E1506-4C15-9D0D-01E3-45043ECB75AD}"/>
              </a:ext>
            </a:extLst>
          </p:cNvPr>
          <p:cNvSpPr txBox="1"/>
          <p:nvPr/>
        </p:nvSpPr>
        <p:spPr>
          <a:xfrm>
            <a:off x="9831537" y="3926380"/>
            <a:ext cx="1161505" cy="600164"/>
          </a:xfrm>
          <a:prstGeom prst="rect">
            <a:avLst/>
          </a:prstGeom>
          <a:noFill/>
        </p:spPr>
        <p:txBody>
          <a:bodyPr wrap="square" rtlCol="0">
            <a:spAutoFit/>
          </a:bodyPr>
          <a:lstStyle/>
          <a:p>
            <a:pPr algn="ctr"/>
            <a:r>
              <a:rPr lang="en-US" sz="1100" dirty="0">
                <a:latin typeface="Arial" panose="020B0604020202020204" pitchFamily="34" charset="0"/>
                <a:cs typeface="Arial" panose="020B0604020202020204" pitchFamily="34" charset="0"/>
              </a:rPr>
              <a:t>Have</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great</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meeting</a:t>
            </a:r>
          </a:p>
        </p:txBody>
      </p:sp>
      <p:sp>
        <p:nvSpPr>
          <p:cNvPr id="23" name="TextBox 22">
            <a:extLst>
              <a:ext uri="{FF2B5EF4-FFF2-40B4-BE49-F238E27FC236}">
                <a16:creationId xmlns:a16="http://schemas.microsoft.com/office/drawing/2014/main" id="{770C3B45-144D-5D93-74C0-CF963C24794D}"/>
              </a:ext>
            </a:extLst>
          </p:cNvPr>
          <p:cNvSpPr txBox="1"/>
          <p:nvPr/>
        </p:nvSpPr>
        <p:spPr>
          <a:xfrm>
            <a:off x="9839677" y="4892693"/>
            <a:ext cx="1161505" cy="600164"/>
          </a:xfrm>
          <a:prstGeom prst="rect">
            <a:avLst/>
          </a:prstGeom>
          <a:noFill/>
        </p:spPr>
        <p:txBody>
          <a:bodyPr wrap="square" rtlCol="0">
            <a:spAutoFit/>
          </a:bodyPr>
          <a:lstStyle/>
          <a:p>
            <a:pPr algn="ctr"/>
            <a:r>
              <a:rPr lang="en-US" sz="1100" dirty="0">
                <a:latin typeface="Arial" panose="020B0604020202020204" pitchFamily="34" charset="0"/>
                <a:cs typeface="Arial" panose="020B0604020202020204" pitchFamily="34" charset="0"/>
              </a:rPr>
              <a:t>Have</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ok</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meeting</a:t>
            </a:r>
          </a:p>
        </p:txBody>
      </p:sp>
      <p:sp>
        <p:nvSpPr>
          <p:cNvPr id="24" name="TextBox 23">
            <a:extLst>
              <a:ext uri="{FF2B5EF4-FFF2-40B4-BE49-F238E27FC236}">
                <a16:creationId xmlns:a16="http://schemas.microsoft.com/office/drawing/2014/main" id="{382F12B4-63D2-1623-08A2-D9BDBCE0950F}"/>
              </a:ext>
            </a:extLst>
          </p:cNvPr>
          <p:cNvSpPr txBox="1"/>
          <p:nvPr/>
        </p:nvSpPr>
        <p:spPr>
          <a:xfrm>
            <a:off x="9825572" y="5793396"/>
            <a:ext cx="1161505" cy="600164"/>
          </a:xfrm>
          <a:prstGeom prst="rect">
            <a:avLst/>
          </a:prstGeom>
          <a:noFill/>
        </p:spPr>
        <p:txBody>
          <a:bodyPr wrap="square" rtlCol="0">
            <a:spAutoFit/>
          </a:bodyPr>
          <a:lstStyle/>
          <a:p>
            <a:pPr algn="ctr"/>
            <a:r>
              <a:rPr lang="en-US" sz="1100" dirty="0">
                <a:latin typeface="Arial" panose="020B0604020202020204" pitchFamily="34" charset="0"/>
                <a:cs typeface="Arial" panose="020B0604020202020204" pitchFamily="34" charset="0"/>
              </a:rPr>
              <a:t>Have</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bad</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meeting</a:t>
            </a:r>
          </a:p>
        </p:txBody>
      </p:sp>
      <p:sp>
        <p:nvSpPr>
          <p:cNvPr id="25" name="Oval 24">
            <a:extLst>
              <a:ext uri="{FF2B5EF4-FFF2-40B4-BE49-F238E27FC236}">
                <a16:creationId xmlns:a16="http://schemas.microsoft.com/office/drawing/2014/main" id="{117E3E0F-3C3C-EAD9-C3F2-75A66E456E62}"/>
              </a:ext>
            </a:extLst>
          </p:cNvPr>
          <p:cNvSpPr/>
          <p:nvPr/>
        </p:nvSpPr>
        <p:spPr>
          <a:xfrm>
            <a:off x="5732757" y="2420682"/>
            <a:ext cx="2065825" cy="2065825"/>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65132C73-1B0F-A6FF-2992-1E6E1B6D6C8F}"/>
              </a:ext>
            </a:extLst>
          </p:cNvPr>
          <p:cNvSpPr/>
          <p:nvPr/>
        </p:nvSpPr>
        <p:spPr>
          <a:xfrm>
            <a:off x="6348475" y="3612003"/>
            <a:ext cx="715552" cy="715552"/>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AA23DCFF-1A39-F190-1794-3569D1661DA5}"/>
              </a:ext>
            </a:extLst>
          </p:cNvPr>
          <p:cNvSpPr/>
          <p:nvPr/>
        </p:nvSpPr>
        <p:spPr>
          <a:xfrm>
            <a:off x="6889395" y="2845130"/>
            <a:ext cx="715552" cy="715552"/>
          </a:xfrm>
          <a:prstGeom prst="ellipse">
            <a:avLst/>
          </a:prstGeom>
          <a:solidFill>
            <a:srgbClr val="0070C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AB5FD0D2-06EA-E5FA-8D1E-6C84B93C88AD}"/>
              </a:ext>
            </a:extLst>
          </p:cNvPr>
          <p:cNvSpPr/>
          <p:nvPr/>
        </p:nvSpPr>
        <p:spPr>
          <a:xfrm>
            <a:off x="5944061" y="2888221"/>
            <a:ext cx="715552" cy="715552"/>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 name="Straight Connector 29">
            <a:extLst>
              <a:ext uri="{FF2B5EF4-FFF2-40B4-BE49-F238E27FC236}">
                <a16:creationId xmlns:a16="http://schemas.microsoft.com/office/drawing/2014/main" id="{64C16D8D-30AA-0F02-785F-287FAEE601A3}"/>
              </a:ext>
            </a:extLst>
          </p:cNvPr>
          <p:cNvCxnSpPr>
            <a:cxnSpLocks/>
            <a:stCxn id="25" idx="4"/>
            <a:endCxn id="4" idx="1"/>
          </p:cNvCxnSpPr>
          <p:nvPr/>
        </p:nvCxnSpPr>
        <p:spPr>
          <a:xfrm>
            <a:off x="6765670" y="4486507"/>
            <a:ext cx="1057076" cy="5838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4C2CD14A-AA90-98FE-9954-3FC7040037AF}"/>
              </a:ext>
            </a:extLst>
          </p:cNvPr>
          <p:cNvCxnSpPr>
            <a:cxnSpLocks/>
            <a:stCxn id="25" idx="6"/>
            <a:endCxn id="4" idx="1"/>
          </p:cNvCxnSpPr>
          <p:nvPr/>
        </p:nvCxnSpPr>
        <p:spPr>
          <a:xfrm>
            <a:off x="7798582" y="3453595"/>
            <a:ext cx="24164" cy="16168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6EAB7784-850E-87A7-3619-A702E1838407}"/>
              </a:ext>
            </a:extLst>
          </p:cNvPr>
          <p:cNvSpPr txBox="1"/>
          <p:nvPr/>
        </p:nvSpPr>
        <p:spPr>
          <a:xfrm>
            <a:off x="6964591" y="2936713"/>
            <a:ext cx="603049" cy="523220"/>
          </a:xfrm>
          <a:prstGeom prst="rect">
            <a:avLst/>
          </a:prstGeom>
          <a:noFill/>
        </p:spPr>
        <p:txBody>
          <a:bodyPr wrap="none" rtlCol="0">
            <a:spAutoFit/>
          </a:bodyPr>
          <a:lstStyle/>
          <a:p>
            <a:pPr algn="ctr"/>
            <a:r>
              <a:rPr lang="en-US" sz="1400" dirty="0">
                <a:solidFill>
                  <a:schemeClr val="bg1"/>
                </a:solidFill>
                <a:latin typeface="Arial" panose="020B0604020202020204" pitchFamily="34" charset="0"/>
                <a:cs typeface="Arial" panose="020B0604020202020204" pitchFamily="34" charset="0"/>
              </a:rPr>
              <a:t>Have</a:t>
            </a:r>
            <a:br>
              <a:rPr lang="en-US" sz="1400" dirty="0">
                <a:solidFill>
                  <a:schemeClr val="bg1"/>
                </a:solidFill>
                <a:latin typeface="Arial" panose="020B0604020202020204" pitchFamily="34" charset="0"/>
                <a:cs typeface="Arial" panose="020B0604020202020204" pitchFamily="34" charset="0"/>
              </a:rPr>
            </a:br>
            <a:r>
              <a:rPr lang="en-US" sz="1400" dirty="0">
                <a:solidFill>
                  <a:schemeClr val="bg1"/>
                </a:solidFill>
                <a:latin typeface="Arial" panose="020B0604020202020204" pitchFamily="34" charset="0"/>
                <a:cs typeface="Arial" panose="020B0604020202020204" pitchFamily="34" charset="0"/>
              </a:rPr>
              <a:t>data</a:t>
            </a:r>
          </a:p>
        </p:txBody>
      </p:sp>
      <p:sp>
        <p:nvSpPr>
          <p:cNvPr id="38" name="TextBox 37">
            <a:extLst>
              <a:ext uri="{FF2B5EF4-FFF2-40B4-BE49-F238E27FC236}">
                <a16:creationId xmlns:a16="http://schemas.microsoft.com/office/drawing/2014/main" id="{5943CB29-6B48-E5AD-C33A-D76094464866}"/>
              </a:ext>
            </a:extLst>
          </p:cNvPr>
          <p:cNvSpPr txBox="1"/>
          <p:nvPr/>
        </p:nvSpPr>
        <p:spPr>
          <a:xfrm>
            <a:off x="5955428" y="3070066"/>
            <a:ext cx="692818" cy="307777"/>
          </a:xfrm>
          <a:prstGeom prst="rect">
            <a:avLst/>
          </a:prstGeom>
          <a:noFill/>
        </p:spPr>
        <p:txBody>
          <a:bodyPr wrap="none" rtlCol="0">
            <a:spAutoFit/>
          </a:bodyPr>
          <a:lstStyle/>
          <a:p>
            <a:pPr algn="ctr"/>
            <a:r>
              <a:rPr lang="en-US" sz="1400" dirty="0">
                <a:latin typeface="Arial" panose="020B0604020202020204" pitchFamily="34" charset="0"/>
                <a:cs typeface="Arial" panose="020B0604020202020204" pitchFamily="34" charset="0"/>
              </a:rPr>
              <a:t>Sunny</a:t>
            </a:r>
          </a:p>
        </p:txBody>
      </p:sp>
      <p:sp>
        <p:nvSpPr>
          <p:cNvPr id="39" name="TextBox 38">
            <a:extLst>
              <a:ext uri="{FF2B5EF4-FFF2-40B4-BE49-F238E27FC236}">
                <a16:creationId xmlns:a16="http://schemas.microsoft.com/office/drawing/2014/main" id="{2CC34A18-DCE1-BDC2-4F82-0ECBF04DCE34}"/>
              </a:ext>
            </a:extLst>
          </p:cNvPr>
          <p:cNvSpPr txBox="1"/>
          <p:nvPr/>
        </p:nvSpPr>
        <p:spPr>
          <a:xfrm>
            <a:off x="6429572" y="3723338"/>
            <a:ext cx="553357" cy="523220"/>
          </a:xfrm>
          <a:prstGeom prst="rect">
            <a:avLst/>
          </a:prstGeom>
          <a:noFill/>
        </p:spPr>
        <p:txBody>
          <a:bodyPr wrap="none" rtlCol="0">
            <a:spAutoFit/>
          </a:bodyPr>
          <a:lstStyle/>
          <a:p>
            <a:pPr algn="ctr"/>
            <a:r>
              <a:rPr lang="en-US" sz="1400" dirty="0">
                <a:solidFill>
                  <a:schemeClr val="bg1"/>
                </a:solidFill>
                <a:latin typeface="Arial" panose="020B0604020202020204" pitchFamily="34" charset="0"/>
                <a:cs typeface="Arial" panose="020B0604020202020204" pitchFamily="34" charset="0"/>
              </a:rPr>
              <a:t>Own</a:t>
            </a:r>
          </a:p>
          <a:p>
            <a:pPr algn="ctr"/>
            <a:r>
              <a:rPr lang="en-US" sz="1400" dirty="0">
                <a:solidFill>
                  <a:schemeClr val="bg1"/>
                </a:solidFill>
                <a:latin typeface="Arial" panose="020B0604020202020204" pitchFamily="34" charset="0"/>
                <a:cs typeface="Arial" panose="020B0604020202020204" pitchFamily="34" charset="0"/>
              </a:rPr>
              <a:t>TV</a:t>
            </a:r>
          </a:p>
        </p:txBody>
      </p:sp>
      <p:pic>
        <p:nvPicPr>
          <p:cNvPr id="29" name="Picture 28">
            <a:extLst>
              <a:ext uri="{FF2B5EF4-FFF2-40B4-BE49-F238E27FC236}">
                <a16:creationId xmlns:a16="http://schemas.microsoft.com/office/drawing/2014/main" id="{C800284C-DDB5-72E6-D289-FE14B791C71B}"/>
              </a:ext>
            </a:extLst>
          </p:cNvPr>
          <p:cNvPicPr>
            <a:picLocks noChangeAspect="1"/>
          </p:cNvPicPr>
          <p:nvPr/>
        </p:nvPicPr>
        <p:blipFill>
          <a:blip r:embed="rId3"/>
          <a:stretch>
            <a:fillRect/>
          </a:stretch>
        </p:blipFill>
        <p:spPr>
          <a:xfrm>
            <a:off x="8515843" y="274557"/>
            <a:ext cx="2393820" cy="3219274"/>
          </a:xfrm>
          <a:prstGeom prst="rect">
            <a:avLst/>
          </a:prstGeom>
        </p:spPr>
      </p:pic>
      <p:cxnSp>
        <p:nvCxnSpPr>
          <p:cNvPr id="33" name="Straight Connector 32">
            <a:extLst>
              <a:ext uri="{FF2B5EF4-FFF2-40B4-BE49-F238E27FC236}">
                <a16:creationId xmlns:a16="http://schemas.microsoft.com/office/drawing/2014/main" id="{1C0EB3F2-B1C5-8468-FD9C-DE4093FC865F}"/>
              </a:ext>
            </a:extLst>
          </p:cNvPr>
          <p:cNvCxnSpPr>
            <a:cxnSpLocks/>
            <a:endCxn id="17" idx="0"/>
          </p:cNvCxnSpPr>
          <p:nvPr/>
        </p:nvCxnSpPr>
        <p:spPr>
          <a:xfrm>
            <a:off x="7414947" y="3404405"/>
            <a:ext cx="811818" cy="1111206"/>
          </a:xfrm>
          <a:prstGeom prst="line">
            <a:avLst/>
          </a:prstGeom>
          <a:ln w="28575">
            <a:solidFill>
              <a:srgbClr val="0070C0"/>
            </a:solidFill>
            <a:tailEnd type="ova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F589293-D1F6-D6B3-35FF-9801880D340B}"/>
              </a:ext>
            </a:extLst>
          </p:cNvPr>
          <p:cNvCxnSpPr>
            <a:cxnSpLocks/>
          </p:cNvCxnSpPr>
          <p:nvPr/>
        </p:nvCxnSpPr>
        <p:spPr>
          <a:xfrm>
            <a:off x="6853758" y="4246558"/>
            <a:ext cx="887403" cy="1642032"/>
          </a:xfrm>
          <a:prstGeom prst="line">
            <a:avLst/>
          </a:prstGeom>
          <a:ln w="28575">
            <a:solidFill>
              <a:srgbClr val="FF0000"/>
            </a:solidFill>
            <a:tailEnd type="oval"/>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937CABBE-0C21-83B9-7133-CBEDA3A96A6E}"/>
              </a:ext>
            </a:extLst>
          </p:cNvPr>
          <p:cNvSpPr txBox="1"/>
          <p:nvPr/>
        </p:nvSpPr>
        <p:spPr>
          <a:xfrm>
            <a:off x="9147382" y="6217490"/>
            <a:ext cx="929687" cy="276999"/>
          </a:xfrm>
          <a:prstGeom prst="rect">
            <a:avLst/>
          </a:prstGeom>
          <a:noFill/>
        </p:spPr>
        <p:txBody>
          <a:bodyPr wrap="square" rtlCol="0">
            <a:spAutoFit/>
          </a:bodyPr>
          <a:lstStyle/>
          <a:p>
            <a:pPr algn="ctr"/>
            <a:r>
              <a:rPr lang="en-US" sz="1200" dirty="0">
                <a:latin typeface="Arial" panose="020B0604020202020204" pitchFamily="34" charset="0"/>
                <a:cs typeface="Arial" panose="020B0604020202020204" pitchFamily="34" charset="0"/>
              </a:rPr>
              <a:t>Cry</a:t>
            </a:r>
            <a:endParaRPr lang="en-US" sz="11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45102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269ADA-B458-7AC4-A1F7-566C7D6C4265}"/>
              </a:ext>
            </a:extLst>
          </p:cNvPr>
          <p:cNvSpPr>
            <a:spLocks noGrp="1"/>
          </p:cNvSpPr>
          <p:nvPr>
            <p:ph type="title"/>
          </p:nvPr>
        </p:nvSpPr>
        <p:spPr>
          <a:xfrm>
            <a:off x="838200" y="365125"/>
            <a:ext cx="8828625" cy="1325563"/>
          </a:xfrm>
        </p:spPr>
        <p:txBody>
          <a:bodyPr/>
          <a:lstStyle/>
          <a:p>
            <a:r>
              <a:rPr lang="en-US" dirty="0"/>
              <a:t>Goals</a:t>
            </a:r>
          </a:p>
        </p:txBody>
      </p:sp>
      <p:sp>
        <p:nvSpPr>
          <p:cNvPr id="3" name="Content Placeholder 2">
            <a:extLst>
              <a:ext uri="{FF2B5EF4-FFF2-40B4-BE49-F238E27FC236}">
                <a16:creationId xmlns:a16="http://schemas.microsoft.com/office/drawing/2014/main" id="{9EFCA276-9AA8-453B-7F52-2DA444E34B71}"/>
              </a:ext>
            </a:extLst>
          </p:cNvPr>
          <p:cNvSpPr>
            <a:spLocks noGrp="1"/>
          </p:cNvSpPr>
          <p:nvPr>
            <p:ph idx="1"/>
          </p:nvPr>
        </p:nvSpPr>
        <p:spPr>
          <a:xfrm>
            <a:off x="468923" y="1825624"/>
            <a:ext cx="5053429" cy="4772561"/>
          </a:xfrm>
        </p:spPr>
        <p:txBody>
          <a:bodyPr>
            <a:normAutofit/>
          </a:bodyPr>
          <a:lstStyle/>
          <a:p>
            <a:r>
              <a:rPr lang="en-US" dirty="0"/>
              <a:t>Goal:</a:t>
            </a:r>
          </a:p>
          <a:p>
            <a:pPr lvl="1"/>
            <a:r>
              <a:rPr lang="en-US" dirty="0"/>
              <a:t>Something you value</a:t>
            </a:r>
          </a:p>
          <a:p>
            <a:pPr lvl="1"/>
            <a:r>
              <a:rPr lang="en-US" dirty="0"/>
              <a:t>People perform actions to achieve goals</a:t>
            </a:r>
          </a:p>
        </p:txBody>
      </p:sp>
      <p:sp>
        <p:nvSpPr>
          <p:cNvPr id="4" name="Oval 3">
            <a:extLst>
              <a:ext uri="{FF2B5EF4-FFF2-40B4-BE49-F238E27FC236}">
                <a16:creationId xmlns:a16="http://schemas.microsoft.com/office/drawing/2014/main" id="{FB5E694C-5068-255A-80AA-02B5B1672AD3}"/>
              </a:ext>
            </a:extLst>
          </p:cNvPr>
          <p:cNvSpPr/>
          <p:nvPr/>
        </p:nvSpPr>
        <p:spPr>
          <a:xfrm>
            <a:off x="7724562" y="4972211"/>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5428C21B-1725-5174-5D2C-BF717600FA35}"/>
              </a:ext>
            </a:extLst>
          </p:cNvPr>
          <p:cNvSpPr/>
          <p:nvPr/>
        </p:nvSpPr>
        <p:spPr>
          <a:xfrm>
            <a:off x="8616464" y="5790406"/>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CE9BFC90-FF53-7743-871C-83CD4912B1BE}"/>
              </a:ext>
            </a:extLst>
          </p:cNvPr>
          <p:cNvSpPr/>
          <p:nvPr/>
        </p:nvSpPr>
        <p:spPr>
          <a:xfrm>
            <a:off x="10078680" y="5790406"/>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4C6F4198-5198-EC3F-2E20-33E3BDDB1D1F}"/>
              </a:ext>
            </a:extLst>
          </p:cNvPr>
          <p:cNvCxnSpPr>
            <a:stCxn id="5" idx="6"/>
            <a:endCxn id="6" idx="2"/>
          </p:cNvCxnSpPr>
          <p:nvPr/>
        </p:nvCxnSpPr>
        <p:spPr>
          <a:xfrm>
            <a:off x="9286904" y="6125626"/>
            <a:ext cx="79177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88B2E407-7E89-56D9-8C06-25B74FFC163C}"/>
              </a:ext>
            </a:extLst>
          </p:cNvPr>
          <p:cNvCxnSpPr>
            <a:cxnSpLocks/>
            <a:stCxn id="4" idx="5"/>
            <a:endCxn id="5" idx="1"/>
          </p:cNvCxnSpPr>
          <p:nvPr/>
        </p:nvCxnSpPr>
        <p:spPr>
          <a:xfrm>
            <a:off x="8296818" y="5544467"/>
            <a:ext cx="417830" cy="34412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5ABF9AD2-0CB1-1F03-E2EF-BDDC4ABAAE46}"/>
              </a:ext>
            </a:extLst>
          </p:cNvPr>
          <p:cNvSpPr/>
          <p:nvPr/>
        </p:nvSpPr>
        <p:spPr>
          <a:xfrm>
            <a:off x="8638665" y="4448616"/>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71A157A9-090D-2215-A634-E42DB5296454}"/>
              </a:ext>
            </a:extLst>
          </p:cNvPr>
          <p:cNvSpPr/>
          <p:nvPr/>
        </p:nvSpPr>
        <p:spPr>
          <a:xfrm>
            <a:off x="10080291" y="4885268"/>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a:extLst>
              <a:ext uri="{FF2B5EF4-FFF2-40B4-BE49-F238E27FC236}">
                <a16:creationId xmlns:a16="http://schemas.microsoft.com/office/drawing/2014/main" id="{0C421230-3C98-EE1C-E179-4A47330A05AD}"/>
              </a:ext>
            </a:extLst>
          </p:cNvPr>
          <p:cNvCxnSpPr>
            <a:stCxn id="9" idx="6"/>
            <a:endCxn id="10" idx="2"/>
          </p:cNvCxnSpPr>
          <p:nvPr/>
        </p:nvCxnSpPr>
        <p:spPr>
          <a:xfrm>
            <a:off x="9309105" y="4783836"/>
            <a:ext cx="771186" cy="43665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A113A111-5AF6-FA98-0199-7150A03012BF}"/>
              </a:ext>
            </a:extLst>
          </p:cNvPr>
          <p:cNvCxnSpPr>
            <a:cxnSpLocks/>
            <a:stCxn id="4" idx="7"/>
            <a:endCxn id="9" idx="2"/>
          </p:cNvCxnSpPr>
          <p:nvPr/>
        </p:nvCxnSpPr>
        <p:spPr>
          <a:xfrm flipV="1">
            <a:off x="8296818" y="4783836"/>
            <a:ext cx="341847" cy="28655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CB889F4A-5FE8-B87F-D0E6-DE2D2AA27718}"/>
              </a:ext>
            </a:extLst>
          </p:cNvPr>
          <p:cNvSpPr/>
          <p:nvPr/>
        </p:nvSpPr>
        <p:spPr>
          <a:xfrm>
            <a:off x="10078680" y="3924704"/>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a:extLst>
              <a:ext uri="{FF2B5EF4-FFF2-40B4-BE49-F238E27FC236}">
                <a16:creationId xmlns:a16="http://schemas.microsoft.com/office/drawing/2014/main" id="{FD218C6B-4A06-150D-91E6-D2126FC3C8DB}"/>
              </a:ext>
            </a:extLst>
          </p:cNvPr>
          <p:cNvCxnSpPr>
            <a:cxnSpLocks/>
            <a:stCxn id="9" idx="6"/>
            <a:endCxn id="13" idx="2"/>
          </p:cNvCxnSpPr>
          <p:nvPr/>
        </p:nvCxnSpPr>
        <p:spPr>
          <a:xfrm flipV="1">
            <a:off x="9309105" y="4259924"/>
            <a:ext cx="769575" cy="52391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21BCC562-9501-833B-7764-00DC225291AC}"/>
              </a:ext>
            </a:extLst>
          </p:cNvPr>
          <p:cNvSpPr txBox="1"/>
          <p:nvPr/>
        </p:nvSpPr>
        <p:spPr>
          <a:xfrm>
            <a:off x="7704551" y="5767189"/>
            <a:ext cx="902811" cy="830997"/>
          </a:xfrm>
          <a:prstGeom prst="rect">
            <a:avLst/>
          </a:prstGeom>
          <a:noFill/>
        </p:spPr>
        <p:txBody>
          <a:bodyPr wrap="none" rtlCol="0">
            <a:spAutoFit/>
          </a:bodyPr>
          <a:lstStyle/>
          <a:p>
            <a:pPr algn="ctr"/>
            <a:r>
              <a:rPr lang="en-US" sz="1600" dirty="0">
                <a:latin typeface="Arial" panose="020B0604020202020204" pitchFamily="34" charset="0"/>
                <a:cs typeface="Arial" panose="020B0604020202020204" pitchFamily="34" charset="0"/>
              </a:rPr>
              <a:t>Watch</a:t>
            </a:r>
          </a:p>
          <a:p>
            <a:pPr algn="ctr"/>
            <a:r>
              <a:rPr lang="en-US" sz="1600" dirty="0">
                <a:latin typeface="Arial" panose="020B0604020202020204" pitchFamily="34" charset="0"/>
                <a:cs typeface="Arial" panose="020B0604020202020204" pitchFamily="34" charset="0"/>
              </a:rPr>
              <a:t>TV then</a:t>
            </a:r>
          </a:p>
          <a:p>
            <a:pPr algn="ctr"/>
            <a:r>
              <a:rPr lang="en-US" sz="1600" dirty="0">
                <a:latin typeface="Arial" panose="020B0604020202020204" pitchFamily="34" charset="0"/>
                <a:cs typeface="Arial" panose="020B0604020202020204" pitchFamily="34" charset="0"/>
              </a:rPr>
              <a:t>sleep</a:t>
            </a:r>
            <a:endParaRPr lang="en-US" sz="1400" dirty="0">
              <a:latin typeface="Arial" panose="020B0604020202020204" pitchFamily="34" charset="0"/>
              <a:cs typeface="Arial" panose="020B0604020202020204" pitchFamily="34" charset="0"/>
            </a:endParaRPr>
          </a:p>
        </p:txBody>
      </p:sp>
      <p:sp>
        <p:nvSpPr>
          <p:cNvPr id="16" name="TextBox 15">
            <a:extLst>
              <a:ext uri="{FF2B5EF4-FFF2-40B4-BE49-F238E27FC236}">
                <a16:creationId xmlns:a16="http://schemas.microsoft.com/office/drawing/2014/main" id="{83D79B39-0722-4DE9-D5BE-B199967A01A6}"/>
              </a:ext>
            </a:extLst>
          </p:cNvPr>
          <p:cNvSpPr txBox="1"/>
          <p:nvPr/>
        </p:nvSpPr>
        <p:spPr>
          <a:xfrm>
            <a:off x="7707671" y="5154617"/>
            <a:ext cx="737701" cy="276999"/>
          </a:xfrm>
          <a:prstGeom prst="rect">
            <a:avLst/>
          </a:prstGeom>
          <a:noFill/>
        </p:spPr>
        <p:txBody>
          <a:bodyPr wrap="none" rtlCol="0">
            <a:spAutoFit/>
          </a:bodyPr>
          <a:lstStyle/>
          <a:p>
            <a:pPr algn="ctr"/>
            <a:r>
              <a:rPr lang="en-US" sz="1200" dirty="0">
                <a:latin typeface="Arial" panose="020B0604020202020204" pitchFamily="34" charset="0"/>
                <a:cs typeface="Arial" panose="020B0604020202020204" pitchFamily="34" charset="0"/>
              </a:rPr>
              <a:t>Morning</a:t>
            </a:r>
          </a:p>
        </p:txBody>
      </p:sp>
      <p:sp>
        <p:nvSpPr>
          <p:cNvPr id="18" name="TextBox 17">
            <a:extLst>
              <a:ext uri="{FF2B5EF4-FFF2-40B4-BE49-F238E27FC236}">
                <a16:creationId xmlns:a16="http://schemas.microsoft.com/office/drawing/2014/main" id="{4CFBE3BD-0D0D-59E1-0245-1297B313362F}"/>
              </a:ext>
            </a:extLst>
          </p:cNvPr>
          <p:cNvSpPr txBox="1"/>
          <p:nvPr/>
        </p:nvSpPr>
        <p:spPr>
          <a:xfrm>
            <a:off x="8515843" y="4547462"/>
            <a:ext cx="929687" cy="461665"/>
          </a:xfrm>
          <a:prstGeom prst="rect">
            <a:avLst/>
          </a:prstGeom>
          <a:noFill/>
        </p:spPr>
        <p:txBody>
          <a:bodyPr wrap="square" rtlCol="0">
            <a:spAutoFit/>
          </a:bodyPr>
          <a:lstStyle/>
          <a:p>
            <a:pPr algn="ctr"/>
            <a:r>
              <a:rPr lang="en-US" sz="1200" dirty="0">
                <a:latin typeface="Arial" panose="020B0604020202020204" pitchFamily="34" charset="0"/>
                <a:cs typeface="Arial" panose="020B0604020202020204" pitchFamily="34" charset="0"/>
              </a:rPr>
              <a:t>Have</a:t>
            </a:r>
          </a:p>
          <a:p>
            <a:pPr algn="ctr"/>
            <a:r>
              <a:rPr lang="en-US" sz="1200" dirty="0">
                <a:latin typeface="Arial" panose="020B0604020202020204" pitchFamily="34" charset="0"/>
                <a:cs typeface="Arial" panose="020B0604020202020204" pitchFamily="34" charset="0"/>
              </a:rPr>
              <a:t>results</a:t>
            </a:r>
            <a:endParaRPr lang="en-US" sz="1100" dirty="0">
              <a:latin typeface="Arial" panose="020B0604020202020204" pitchFamily="34" charset="0"/>
              <a:cs typeface="Arial" panose="020B0604020202020204" pitchFamily="34" charset="0"/>
            </a:endParaRPr>
          </a:p>
        </p:txBody>
      </p:sp>
      <p:sp>
        <p:nvSpPr>
          <p:cNvPr id="19" name="TextBox 18">
            <a:extLst>
              <a:ext uri="{FF2B5EF4-FFF2-40B4-BE49-F238E27FC236}">
                <a16:creationId xmlns:a16="http://schemas.microsoft.com/office/drawing/2014/main" id="{41CE8973-1273-FAD8-EF33-D6AB16557258}"/>
              </a:ext>
            </a:extLst>
          </p:cNvPr>
          <p:cNvSpPr txBox="1"/>
          <p:nvPr/>
        </p:nvSpPr>
        <p:spPr>
          <a:xfrm>
            <a:off x="8915564" y="3810728"/>
            <a:ext cx="1161505" cy="600164"/>
          </a:xfrm>
          <a:prstGeom prst="rect">
            <a:avLst/>
          </a:prstGeom>
          <a:noFill/>
        </p:spPr>
        <p:txBody>
          <a:bodyPr wrap="square" rtlCol="0">
            <a:spAutoFit/>
          </a:bodyPr>
          <a:lstStyle/>
          <a:p>
            <a:pPr algn="ctr"/>
            <a:r>
              <a:rPr lang="en-US" sz="1100" dirty="0">
                <a:latin typeface="Arial" panose="020B0604020202020204" pitchFamily="34" charset="0"/>
                <a:cs typeface="Arial" panose="020B0604020202020204" pitchFamily="34" charset="0"/>
              </a:rPr>
              <a:t>Prep for individual meeting</a:t>
            </a:r>
          </a:p>
        </p:txBody>
      </p:sp>
      <p:sp>
        <p:nvSpPr>
          <p:cNvPr id="20" name="TextBox 19">
            <a:extLst>
              <a:ext uri="{FF2B5EF4-FFF2-40B4-BE49-F238E27FC236}">
                <a16:creationId xmlns:a16="http://schemas.microsoft.com/office/drawing/2014/main" id="{60A83CF3-EDCB-D4E5-EE6C-A0A5DB534D78}"/>
              </a:ext>
            </a:extLst>
          </p:cNvPr>
          <p:cNvSpPr txBox="1"/>
          <p:nvPr/>
        </p:nvSpPr>
        <p:spPr>
          <a:xfrm>
            <a:off x="8493265" y="5796193"/>
            <a:ext cx="929687" cy="646331"/>
          </a:xfrm>
          <a:prstGeom prst="rect">
            <a:avLst/>
          </a:prstGeom>
          <a:noFill/>
        </p:spPr>
        <p:txBody>
          <a:bodyPr wrap="square" rtlCol="0">
            <a:spAutoFit/>
          </a:bodyPr>
          <a:lstStyle/>
          <a:p>
            <a:pPr algn="ctr"/>
            <a:r>
              <a:rPr lang="en-US" sz="1200" dirty="0">
                <a:latin typeface="Arial" panose="020B0604020202020204" pitchFamily="34" charset="0"/>
                <a:cs typeface="Arial" panose="020B0604020202020204" pitchFamily="34" charset="0"/>
              </a:rPr>
              <a:t>Have</a:t>
            </a:r>
          </a:p>
          <a:p>
            <a:pPr algn="ctr"/>
            <a:r>
              <a:rPr lang="en-US" sz="1200" dirty="0">
                <a:latin typeface="Arial" panose="020B0604020202020204" pitchFamily="34" charset="0"/>
                <a:cs typeface="Arial" panose="020B0604020202020204" pitchFamily="34" charset="0"/>
              </a:rPr>
              <a:t>no</a:t>
            </a:r>
          </a:p>
          <a:p>
            <a:pPr algn="ctr"/>
            <a:r>
              <a:rPr lang="en-US" sz="1200" dirty="0">
                <a:latin typeface="Arial" panose="020B0604020202020204" pitchFamily="34" charset="0"/>
                <a:cs typeface="Arial" panose="020B0604020202020204" pitchFamily="34" charset="0"/>
              </a:rPr>
              <a:t>results</a:t>
            </a:r>
            <a:endParaRPr lang="en-US" sz="1100" dirty="0">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5389D55C-331A-7D0F-AEC0-C5599E852C1F}"/>
              </a:ext>
            </a:extLst>
          </p:cNvPr>
          <p:cNvSpPr txBox="1"/>
          <p:nvPr/>
        </p:nvSpPr>
        <p:spPr>
          <a:xfrm>
            <a:off x="8873831" y="4986590"/>
            <a:ext cx="1161505" cy="430887"/>
          </a:xfrm>
          <a:prstGeom prst="rect">
            <a:avLst/>
          </a:prstGeom>
          <a:noFill/>
        </p:spPr>
        <p:txBody>
          <a:bodyPr wrap="square" rtlCol="0">
            <a:spAutoFit/>
          </a:bodyPr>
          <a:lstStyle/>
          <a:p>
            <a:pPr algn="ctr"/>
            <a:r>
              <a:rPr lang="en-US" sz="1100" dirty="0">
                <a:latin typeface="Arial" panose="020B0604020202020204" pitchFamily="34" charset="0"/>
                <a:cs typeface="Arial" panose="020B0604020202020204" pitchFamily="34" charset="0"/>
              </a:rPr>
              <a:t>Read</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book</a:t>
            </a:r>
          </a:p>
        </p:txBody>
      </p:sp>
      <p:sp>
        <p:nvSpPr>
          <p:cNvPr id="22" name="TextBox 21">
            <a:extLst>
              <a:ext uri="{FF2B5EF4-FFF2-40B4-BE49-F238E27FC236}">
                <a16:creationId xmlns:a16="http://schemas.microsoft.com/office/drawing/2014/main" id="{F61E1506-4C15-9D0D-01E3-45043ECB75AD}"/>
              </a:ext>
            </a:extLst>
          </p:cNvPr>
          <p:cNvSpPr txBox="1"/>
          <p:nvPr/>
        </p:nvSpPr>
        <p:spPr>
          <a:xfrm>
            <a:off x="9831537" y="3926380"/>
            <a:ext cx="1161505" cy="600164"/>
          </a:xfrm>
          <a:prstGeom prst="rect">
            <a:avLst/>
          </a:prstGeom>
          <a:noFill/>
        </p:spPr>
        <p:txBody>
          <a:bodyPr wrap="square" rtlCol="0">
            <a:spAutoFit/>
          </a:bodyPr>
          <a:lstStyle/>
          <a:p>
            <a:pPr algn="ctr"/>
            <a:r>
              <a:rPr lang="en-US" sz="1100" dirty="0">
                <a:latin typeface="Arial" panose="020B0604020202020204" pitchFamily="34" charset="0"/>
                <a:cs typeface="Arial" panose="020B0604020202020204" pitchFamily="34" charset="0"/>
              </a:rPr>
              <a:t>Have</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great</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meeting</a:t>
            </a:r>
          </a:p>
        </p:txBody>
      </p:sp>
      <p:sp>
        <p:nvSpPr>
          <p:cNvPr id="23" name="TextBox 22">
            <a:extLst>
              <a:ext uri="{FF2B5EF4-FFF2-40B4-BE49-F238E27FC236}">
                <a16:creationId xmlns:a16="http://schemas.microsoft.com/office/drawing/2014/main" id="{770C3B45-144D-5D93-74C0-CF963C24794D}"/>
              </a:ext>
            </a:extLst>
          </p:cNvPr>
          <p:cNvSpPr txBox="1"/>
          <p:nvPr/>
        </p:nvSpPr>
        <p:spPr>
          <a:xfrm>
            <a:off x="9839677" y="4892693"/>
            <a:ext cx="1161505" cy="600164"/>
          </a:xfrm>
          <a:prstGeom prst="rect">
            <a:avLst/>
          </a:prstGeom>
          <a:noFill/>
        </p:spPr>
        <p:txBody>
          <a:bodyPr wrap="square" rtlCol="0">
            <a:spAutoFit/>
          </a:bodyPr>
          <a:lstStyle/>
          <a:p>
            <a:pPr algn="ctr"/>
            <a:r>
              <a:rPr lang="en-US" sz="1100" dirty="0">
                <a:latin typeface="Arial" panose="020B0604020202020204" pitchFamily="34" charset="0"/>
                <a:cs typeface="Arial" panose="020B0604020202020204" pitchFamily="34" charset="0"/>
              </a:rPr>
              <a:t>Have</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ok</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meeting</a:t>
            </a:r>
          </a:p>
        </p:txBody>
      </p:sp>
      <p:sp>
        <p:nvSpPr>
          <p:cNvPr id="24" name="TextBox 23">
            <a:extLst>
              <a:ext uri="{FF2B5EF4-FFF2-40B4-BE49-F238E27FC236}">
                <a16:creationId xmlns:a16="http://schemas.microsoft.com/office/drawing/2014/main" id="{382F12B4-63D2-1623-08A2-D9BDBCE0950F}"/>
              </a:ext>
            </a:extLst>
          </p:cNvPr>
          <p:cNvSpPr txBox="1"/>
          <p:nvPr/>
        </p:nvSpPr>
        <p:spPr>
          <a:xfrm>
            <a:off x="9825572" y="5793396"/>
            <a:ext cx="1161505" cy="600164"/>
          </a:xfrm>
          <a:prstGeom prst="rect">
            <a:avLst/>
          </a:prstGeom>
          <a:noFill/>
        </p:spPr>
        <p:txBody>
          <a:bodyPr wrap="square" rtlCol="0">
            <a:spAutoFit/>
          </a:bodyPr>
          <a:lstStyle/>
          <a:p>
            <a:pPr algn="ctr"/>
            <a:r>
              <a:rPr lang="en-US" sz="1100" dirty="0">
                <a:latin typeface="Arial" panose="020B0604020202020204" pitchFamily="34" charset="0"/>
                <a:cs typeface="Arial" panose="020B0604020202020204" pitchFamily="34" charset="0"/>
              </a:rPr>
              <a:t>Have</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bad</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meeting</a:t>
            </a:r>
          </a:p>
        </p:txBody>
      </p:sp>
      <p:sp>
        <p:nvSpPr>
          <p:cNvPr id="47" name="TextBox 46">
            <a:extLst>
              <a:ext uri="{FF2B5EF4-FFF2-40B4-BE49-F238E27FC236}">
                <a16:creationId xmlns:a16="http://schemas.microsoft.com/office/drawing/2014/main" id="{937CABBE-0C21-83B9-7133-CBEDA3A96A6E}"/>
              </a:ext>
            </a:extLst>
          </p:cNvPr>
          <p:cNvSpPr txBox="1"/>
          <p:nvPr/>
        </p:nvSpPr>
        <p:spPr>
          <a:xfrm>
            <a:off x="9147382" y="6217490"/>
            <a:ext cx="929687" cy="276999"/>
          </a:xfrm>
          <a:prstGeom prst="rect">
            <a:avLst/>
          </a:prstGeom>
          <a:noFill/>
        </p:spPr>
        <p:txBody>
          <a:bodyPr wrap="square" rtlCol="0">
            <a:spAutoFit/>
          </a:bodyPr>
          <a:lstStyle/>
          <a:p>
            <a:pPr algn="ctr"/>
            <a:r>
              <a:rPr lang="en-US" sz="1200" dirty="0">
                <a:latin typeface="Arial" panose="020B0604020202020204" pitchFamily="34" charset="0"/>
                <a:cs typeface="Arial" panose="020B0604020202020204" pitchFamily="34" charset="0"/>
              </a:rPr>
              <a:t>Cry</a:t>
            </a:r>
            <a:endParaRPr lang="en-US" sz="1100" dirty="0">
              <a:latin typeface="Arial" panose="020B0604020202020204" pitchFamily="34" charset="0"/>
              <a:cs typeface="Arial" panose="020B0604020202020204" pitchFamily="34" charset="0"/>
            </a:endParaRPr>
          </a:p>
        </p:txBody>
      </p:sp>
      <p:sp>
        <p:nvSpPr>
          <p:cNvPr id="31" name="Oval 30">
            <a:extLst>
              <a:ext uri="{FF2B5EF4-FFF2-40B4-BE49-F238E27FC236}">
                <a16:creationId xmlns:a16="http://schemas.microsoft.com/office/drawing/2014/main" id="{015C7F35-EDC8-90D1-ACCF-ADD5CA25B4BC}"/>
              </a:ext>
            </a:extLst>
          </p:cNvPr>
          <p:cNvSpPr/>
          <p:nvPr/>
        </p:nvSpPr>
        <p:spPr>
          <a:xfrm>
            <a:off x="9490061" y="1334115"/>
            <a:ext cx="2065825" cy="2065825"/>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4" name="Straight Connector 33">
            <a:extLst>
              <a:ext uri="{FF2B5EF4-FFF2-40B4-BE49-F238E27FC236}">
                <a16:creationId xmlns:a16="http://schemas.microsoft.com/office/drawing/2014/main" id="{12AA9530-7DB0-1ACD-A436-EF72720EDBE3}"/>
              </a:ext>
            </a:extLst>
          </p:cNvPr>
          <p:cNvCxnSpPr>
            <a:cxnSpLocks/>
            <a:stCxn id="31" idx="3"/>
            <a:endCxn id="22" idx="0"/>
          </p:cNvCxnSpPr>
          <p:nvPr/>
        </p:nvCxnSpPr>
        <p:spPr>
          <a:xfrm>
            <a:off x="9792594" y="3097407"/>
            <a:ext cx="619696" cy="82897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1909F43A-86A0-F605-0BB6-0DB68762802F}"/>
              </a:ext>
            </a:extLst>
          </p:cNvPr>
          <p:cNvCxnSpPr>
            <a:cxnSpLocks/>
            <a:stCxn id="31" idx="5"/>
            <a:endCxn id="22" idx="0"/>
          </p:cNvCxnSpPr>
          <p:nvPr/>
        </p:nvCxnSpPr>
        <p:spPr>
          <a:xfrm flipH="1">
            <a:off x="10412290" y="3097407"/>
            <a:ext cx="841063" cy="82897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6" name="Oval 45">
            <a:extLst>
              <a:ext uri="{FF2B5EF4-FFF2-40B4-BE49-F238E27FC236}">
                <a16:creationId xmlns:a16="http://schemas.microsoft.com/office/drawing/2014/main" id="{E48C27EB-DD50-637F-292D-08F815AB7F89}"/>
              </a:ext>
            </a:extLst>
          </p:cNvPr>
          <p:cNvSpPr/>
          <p:nvPr/>
        </p:nvSpPr>
        <p:spPr>
          <a:xfrm>
            <a:off x="9717433" y="1670005"/>
            <a:ext cx="715552" cy="715552"/>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TextBox 47">
            <a:extLst>
              <a:ext uri="{FF2B5EF4-FFF2-40B4-BE49-F238E27FC236}">
                <a16:creationId xmlns:a16="http://schemas.microsoft.com/office/drawing/2014/main" id="{EBC77C1B-F3A5-4C71-DD16-E4B89E7E55F0}"/>
              </a:ext>
            </a:extLst>
          </p:cNvPr>
          <p:cNvSpPr txBox="1"/>
          <p:nvPr/>
        </p:nvSpPr>
        <p:spPr>
          <a:xfrm>
            <a:off x="9672152" y="1729373"/>
            <a:ext cx="811441" cy="523220"/>
          </a:xfrm>
          <a:prstGeom prst="rect">
            <a:avLst/>
          </a:prstGeom>
          <a:noFill/>
        </p:spPr>
        <p:txBody>
          <a:bodyPr wrap="none" rtlCol="0">
            <a:spAutoFit/>
          </a:bodyPr>
          <a:lstStyle/>
          <a:p>
            <a:pPr algn="ctr"/>
            <a:r>
              <a:rPr lang="en-US" sz="1400" dirty="0">
                <a:solidFill>
                  <a:schemeClr val="bg1"/>
                </a:solidFill>
                <a:latin typeface="Arial" panose="020B0604020202020204" pitchFamily="34" charset="0"/>
                <a:cs typeface="Arial" panose="020B0604020202020204" pitchFamily="34" charset="0"/>
              </a:rPr>
              <a:t>R&amp;S</a:t>
            </a:r>
            <a:br>
              <a:rPr lang="en-US" sz="1400" dirty="0">
                <a:solidFill>
                  <a:schemeClr val="bg1"/>
                </a:solidFill>
                <a:latin typeface="Arial" panose="020B0604020202020204" pitchFamily="34" charset="0"/>
                <a:cs typeface="Arial" panose="020B0604020202020204" pitchFamily="34" charset="0"/>
              </a:rPr>
            </a:br>
            <a:r>
              <a:rPr lang="en-US" sz="1400" dirty="0">
                <a:solidFill>
                  <a:schemeClr val="bg1"/>
                </a:solidFill>
                <a:latin typeface="Arial" panose="020B0604020202020204" pitchFamily="34" charset="0"/>
                <a:cs typeface="Arial" panose="020B0604020202020204" pitchFamily="34" charset="0"/>
              </a:rPr>
              <a:t>pleased</a:t>
            </a:r>
          </a:p>
        </p:txBody>
      </p:sp>
      <p:sp>
        <p:nvSpPr>
          <p:cNvPr id="49" name="Oval 48">
            <a:extLst>
              <a:ext uri="{FF2B5EF4-FFF2-40B4-BE49-F238E27FC236}">
                <a16:creationId xmlns:a16="http://schemas.microsoft.com/office/drawing/2014/main" id="{ECD7E5EF-8450-7199-CACC-7E65C17B9B95}"/>
              </a:ext>
            </a:extLst>
          </p:cNvPr>
          <p:cNvSpPr/>
          <p:nvPr/>
        </p:nvSpPr>
        <p:spPr>
          <a:xfrm>
            <a:off x="10636659" y="1806019"/>
            <a:ext cx="715552" cy="715552"/>
          </a:xfrm>
          <a:prstGeom prst="ellipse">
            <a:avLst/>
          </a:prstGeom>
          <a:solidFill>
            <a:srgbClr val="0070C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TextBox 49">
            <a:extLst>
              <a:ext uri="{FF2B5EF4-FFF2-40B4-BE49-F238E27FC236}">
                <a16:creationId xmlns:a16="http://schemas.microsoft.com/office/drawing/2014/main" id="{E385E0E5-5BF1-C62C-D5B9-0BD554F9E7F3}"/>
              </a:ext>
            </a:extLst>
          </p:cNvPr>
          <p:cNvSpPr txBox="1"/>
          <p:nvPr/>
        </p:nvSpPr>
        <p:spPr>
          <a:xfrm>
            <a:off x="10682933" y="1875024"/>
            <a:ext cx="638316" cy="600164"/>
          </a:xfrm>
          <a:prstGeom prst="rect">
            <a:avLst/>
          </a:prstGeom>
          <a:noFill/>
        </p:spPr>
        <p:txBody>
          <a:bodyPr wrap="none" rtlCol="0">
            <a:spAutoFit/>
          </a:bodyPr>
          <a:lstStyle/>
          <a:p>
            <a:pPr algn="ctr"/>
            <a:r>
              <a:rPr lang="en-US" sz="1100" dirty="0">
                <a:solidFill>
                  <a:schemeClr val="bg1"/>
                </a:solidFill>
                <a:latin typeface="Arial" panose="020B0604020202020204" pitchFamily="34" charset="0"/>
                <a:cs typeface="Arial" panose="020B0604020202020204" pitchFamily="34" charset="0"/>
              </a:rPr>
              <a:t>Ready</a:t>
            </a:r>
            <a:br>
              <a:rPr lang="en-US" sz="1100" dirty="0">
                <a:solidFill>
                  <a:schemeClr val="bg1"/>
                </a:solidFill>
                <a:latin typeface="Arial" panose="020B0604020202020204" pitchFamily="34" charset="0"/>
                <a:cs typeface="Arial" panose="020B0604020202020204" pitchFamily="34" charset="0"/>
              </a:rPr>
            </a:br>
            <a:r>
              <a:rPr lang="en-US" sz="1100" dirty="0">
                <a:solidFill>
                  <a:schemeClr val="bg1"/>
                </a:solidFill>
                <a:latin typeface="Arial" panose="020B0604020202020204" pitchFamily="34" charset="0"/>
                <a:cs typeface="Arial" panose="020B0604020202020204" pitchFamily="34" charset="0"/>
              </a:rPr>
              <a:t>to write</a:t>
            </a:r>
          </a:p>
          <a:p>
            <a:pPr algn="ctr"/>
            <a:r>
              <a:rPr lang="en-US" sz="1100" dirty="0">
                <a:solidFill>
                  <a:schemeClr val="bg1"/>
                </a:solidFill>
                <a:latin typeface="Arial" panose="020B0604020202020204" pitchFamily="34" charset="0"/>
                <a:cs typeface="Arial" panose="020B0604020202020204" pitchFamily="34" charset="0"/>
              </a:rPr>
              <a:t>paper</a:t>
            </a:r>
          </a:p>
        </p:txBody>
      </p:sp>
      <p:sp>
        <p:nvSpPr>
          <p:cNvPr id="51" name="Oval 50">
            <a:extLst>
              <a:ext uri="{FF2B5EF4-FFF2-40B4-BE49-F238E27FC236}">
                <a16:creationId xmlns:a16="http://schemas.microsoft.com/office/drawing/2014/main" id="{35D2AB27-AB20-D986-7F18-C64F6F0808EA}"/>
              </a:ext>
            </a:extLst>
          </p:cNvPr>
          <p:cNvSpPr/>
          <p:nvPr/>
        </p:nvSpPr>
        <p:spPr>
          <a:xfrm>
            <a:off x="10035357" y="2486989"/>
            <a:ext cx="715552" cy="715552"/>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extBox 51">
            <a:extLst>
              <a:ext uri="{FF2B5EF4-FFF2-40B4-BE49-F238E27FC236}">
                <a16:creationId xmlns:a16="http://schemas.microsoft.com/office/drawing/2014/main" id="{0D75F717-FCAD-6BB0-6E65-FAD8B1FD5A39}"/>
              </a:ext>
            </a:extLst>
          </p:cNvPr>
          <p:cNvSpPr txBox="1"/>
          <p:nvPr/>
        </p:nvSpPr>
        <p:spPr>
          <a:xfrm>
            <a:off x="10100554" y="2668834"/>
            <a:ext cx="585160" cy="307777"/>
          </a:xfrm>
          <a:prstGeom prst="rect">
            <a:avLst/>
          </a:prstGeom>
          <a:noFill/>
        </p:spPr>
        <p:txBody>
          <a:bodyPr wrap="none" rtlCol="0">
            <a:spAutoFit/>
          </a:bodyPr>
          <a:lstStyle/>
          <a:p>
            <a:pPr algn="ctr"/>
            <a:r>
              <a:rPr lang="en-US" sz="1400" dirty="0">
                <a:latin typeface="Arial" panose="020B0604020202020204" pitchFamily="34" charset="0"/>
                <a:cs typeface="Arial" panose="020B0604020202020204" pitchFamily="34" charset="0"/>
              </a:rPr>
              <a:t>Tired</a:t>
            </a:r>
          </a:p>
        </p:txBody>
      </p:sp>
      <p:cxnSp>
        <p:nvCxnSpPr>
          <p:cNvPr id="55" name="Straight Connector 54">
            <a:extLst>
              <a:ext uri="{FF2B5EF4-FFF2-40B4-BE49-F238E27FC236}">
                <a16:creationId xmlns:a16="http://schemas.microsoft.com/office/drawing/2014/main" id="{47A02967-45E6-13DD-E59C-801EFB31ADD4}"/>
              </a:ext>
            </a:extLst>
          </p:cNvPr>
          <p:cNvCxnSpPr>
            <a:cxnSpLocks/>
          </p:cNvCxnSpPr>
          <p:nvPr/>
        </p:nvCxnSpPr>
        <p:spPr>
          <a:xfrm flipH="1">
            <a:off x="7930682" y="2817585"/>
            <a:ext cx="1660353" cy="2148657"/>
          </a:xfrm>
          <a:prstGeom prst="line">
            <a:avLst/>
          </a:prstGeom>
          <a:ln w="28575">
            <a:solidFill>
              <a:srgbClr val="0070C0"/>
            </a:solidFill>
            <a:tailEnd type="ova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AA9BCB88-A7F3-9644-F5B1-8E4A23F67B9C}"/>
              </a:ext>
            </a:extLst>
          </p:cNvPr>
          <p:cNvCxnSpPr>
            <a:cxnSpLocks/>
          </p:cNvCxnSpPr>
          <p:nvPr/>
        </p:nvCxnSpPr>
        <p:spPr>
          <a:xfrm flipH="1">
            <a:off x="8203391" y="2964097"/>
            <a:ext cx="1521290" cy="1988850"/>
          </a:xfrm>
          <a:prstGeom prst="line">
            <a:avLst/>
          </a:prstGeom>
          <a:ln w="28575">
            <a:solidFill>
              <a:srgbClr val="FF0000"/>
            </a:solidFill>
            <a:tailEnd type="ova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AC4557ED-B1BC-D2DE-863E-FCC80B65DCFA}"/>
              </a:ext>
            </a:extLst>
          </p:cNvPr>
          <p:cNvCxnSpPr>
            <a:cxnSpLocks/>
            <a:endCxn id="4" idx="0"/>
          </p:cNvCxnSpPr>
          <p:nvPr/>
        </p:nvCxnSpPr>
        <p:spPr>
          <a:xfrm flipH="1">
            <a:off x="8059782" y="2909448"/>
            <a:ext cx="1572457" cy="2062763"/>
          </a:xfrm>
          <a:prstGeom prst="line">
            <a:avLst/>
          </a:prstGeom>
          <a:ln w="28575">
            <a:solidFill>
              <a:schemeClr val="accent4"/>
            </a:solidFill>
            <a:tail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0699516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5B2818-0ACC-EA91-9931-5DFE299421AB}"/>
              </a:ext>
            </a:extLst>
          </p:cNvPr>
          <p:cNvSpPr>
            <a:spLocks noGrp="1"/>
          </p:cNvSpPr>
          <p:nvPr>
            <p:ph type="title"/>
          </p:nvPr>
        </p:nvSpPr>
        <p:spPr/>
        <p:txBody>
          <a:bodyPr/>
          <a:lstStyle/>
          <a:p>
            <a:r>
              <a:rPr lang="en-US" dirty="0"/>
              <a:t>Affordances</a:t>
            </a:r>
          </a:p>
        </p:txBody>
      </p:sp>
      <p:sp>
        <p:nvSpPr>
          <p:cNvPr id="3" name="Content Placeholder 2">
            <a:extLst>
              <a:ext uri="{FF2B5EF4-FFF2-40B4-BE49-F238E27FC236}">
                <a16:creationId xmlns:a16="http://schemas.microsoft.com/office/drawing/2014/main" id="{2365027E-669A-D5B0-303F-A3BBEB86066C}"/>
              </a:ext>
            </a:extLst>
          </p:cNvPr>
          <p:cNvSpPr>
            <a:spLocks noGrp="1"/>
          </p:cNvSpPr>
          <p:nvPr>
            <p:ph idx="1"/>
          </p:nvPr>
        </p:nvSpPr>
        <p:spPr>
          <a:xfrm>
            <a:off x="838200" y="1825625"/>
            <a:ext cx="8449235" cy="4351338"/>
          </a:xfrm>
        </p:spPr>
        <p:txBody>
          <a:bodyPr>
            <a:normAutofit/>
          </a:bodyPr>
          <a:lstStyle/>
          <a:p>
            <a:r>
              <a:rPr lang="en-US" dirty="0"/>
              <a:t>Affordances:</a:t>
            </a:r>
          </a:p>
          <a:p>
            <a:pPr lvl="1"/>
            <a:r>
              <a:rPr lang="en-US" dirty="0"/>
              <a:t>Idea that objects in the world are perceived in terms of what actions they make permissible</a:t>
            </a:r>
          </a:p>
          <a:p>
            <a:pPr lvl="1"/>
            <a:r>
              <a:rPr lang="en-US" dirty="0"/>
              <a:t>For example, this door design is bad because it is meant to be pushed yet the handles allow pulling</a:t>
            </a:r>
          </a:p>
          <a:p>
            <a:r>
              <a:rPr lang="en-US" dirty="0"/>
              <a:t>State framing:</a:t>
            </a:r>
          </a:p>
          <a:p>
            <a:pPr lvl="1"/>
            <a:r>
              <a:rPr lang="en-US" dirty="0"/>
              <a:t>Affordances are features of a state that define which actions (transitions) are available to go toward another state</a:t>
            </a:r>
          </a:p>
          <a:p>
            <a:pPr lvl="1"/>
            <a:r>
              <a:rPr lang="en-US" dirty="0"/>
              <a:t>I need to own a TV in order to watch TV</a:t>
            </a:r>
          </a:p>
        </p:txBody>
      </p:sp>
      <p:pic>
        <p:nvPicPr>
          <p:cNvPr id="4" name="Picture 3">
            <a:extLst>
              <a:ext uri="{FF2B5EF4-FFF2-40B4-BE49-F238E27FC236}">
                <a16:creationId xmlns:a16="http://schemas.microsoft.com/office/drawing/2014/main" id="{B5C0F37D-2EC5-DA44-2EEE-C3874A5F998D}"/>
              </a:ext>
            </a:extLst>
          </p:cNvPr>
          <p:cNvPicPr>
            <a:picLocks noChangeAspect="1"/>
          </p:cNvPicPr>
          <p:nvPr/>
        </p:nvPicPr>
        <p:blipFill>
          <a:blip r:embed="rId2"/>
          <a:stretch>
            <a:fillRect/>
          </a:stretch>
        </p:blipFill>
        <p:spPr>
          <a:xfrm>
            <a:off x="9287435" y="2465135"/>
            <a:ext cx="2550458" cy="3429926"/>
          </a:xfrm>
          <a:prstGeom prst="rect">
            <a:avLst/>
          </a:prstGeom>
        </p:spPr>
      </p:pic>
    </p:spTree>
    <p:extLst>
      <p:ext uri="{BB962C8B-B14F-4D97-AF65-F5344CB8AC3E}">
        <p14:creationId xmlns:p14="http://schemas.microsoft.com/office/powerpoint/2010/main" val="158708799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421409-172B-16D6-8013-BFAA001CD9C1}"/>
              </a:ext>
            </a:extLst>
          </p:cNvPr>
          <p:cNvSpPr>
            <a:spLocks noGrp="1"/>
          </p:cNvSpPr>
          <p:nvPr>
            <p:ph type="title"/>
          </p:nvPr>
        </p:nvSpPr>
        <p:spPr>
          <a:xfrm>
            <a:off x="838200" y="120920"/>
            <a:ext cx="10515600" cy="1325563"/>
          </a:xfrm>
        </p:spPr>
        <p:txBody>
          <a:bodyPr/>
          <a:lstStyle/>
          <a:p>
            <a:r>
              <a:rPr lang="en-US" dirty="0"/>
              <a:t>Episodic memories</a:t>
            </a:r>
          </a:p>
        </p:txBody>
      </p:sp>
      <p:sp>
        <p:nvSpPr>
          <p:cNvPr id="3" name="Content Placeholder 2">
            <a:extLst>
              <a:ext uri="{FF2B5EF4-FFF2-40B4-BE49-F238E27FC236}">
                <a16:creationId xmlns:a16="http://schemas.microsoft.com/office/drawing/2014/main" id="{543456C0-58B0-0CCC-9CBE-3CB25731FDA2}"/>
              </a:ext>
            </a:extLst>
          </p:cNvPr>
          <p:cNvSpPr>
            <a:spLocks noGrp="1"/>
          </p:cNvSpPr>
          <p:nvPr>
            <p:ph idx="1"/>
          </p:nvPr>
        </p:nvSpPr>
        <p:spPr>
          <a:xfrm>
            <a:off x="313766" y="1446483"/>
            <a:ext cx="6911123" cy="4981212"/>
          </a:xfrm>
        </p:spPr>
        <p:txBody>
          <a:bodyPr>
            <a:normAutofit/>
          </a:bodyPr>
          <a:lstStyle/>
          <a:p>
            <a:r>
              <a:rPr lang="en-US" dirty="0"/>
              <a:t>Episodic memories, to me, often feel “active”</a:t>
            </a:r>
          </a:p>
          <a:p>
            <a:pPr lvl="1"/>
            <a:r>
              <a:rPr lang="en-US" dirty="0"/>
              <a:t>When I recollect an experience, I don’t just see a collection of stimuli in my mind’s eye</a:t>
            </a:r>
          </a:p>
          <a:p>
            <a:pPr lvl="1"/>
            <a:r>
              <a:rPr lang="en-US" dirty="0"/>
              <a:t>I also recollect what I was doing and/or what led to the experience</a:t>
            </a:r>
          </a:p>
          <a:p>
            <a:pPr lvl="1"/>
            <a:r>
              <a:rPr lang="en-US" dirty="0"/>
              <a:t>This would suggest that typical research on episodic memory is missing a fundamental element</a:t>
            </a:r>
          </a:p>
          <a:p>
            <a:r>
              <a:rPr lang="en-US" dirty="0"/>
              <a:t>In some way, this feels related to episodic simulation (reasoning/planning)</a:t>
            </a:r>
          </a:p>
          <a:p>
            <a:pPr lvl="1"/>
            <a:r>
              <a:rPr lang="en-US" dirty="0"/>
              <a:t>Inference about how one experience leads to another</a:t>
            </a:r>
          </a:p>
        </p:txBody>
      </p:sp>
      <p:sp>
        <p:nvSpPr>
          <p:cNvPr id="4" name="Oval 3">
            <a:extLst>
              <a:ext uri="{FF2B5EF4-FFF2-40B4-BE49-F238E27FC236}">
                <a16:creationId xmlns:a16="http://schemas.microsoft.com/office/drawing/2014/main" id="{0C350394-5600-E6EB-2A79-3FE021AFE423}"/>
              </a:ext>
            </a:extLst>
          </p:cNvPr>
          <p:cNvSpPr/>
          <p:nvPr/>
        </p:nvSpPr>
        <p:spPr>
          <a:xfrm>
            <a:off x="8004775" y="3780066"/>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F32A8084-E958-57A2-F32A-9AC094845235}"/>
              </a:ext>
            </a:extLst>
          </p:cNvPr>
          <p:cNvSpPr/>
          <p:nvPr/>
        </p:nvSpPr>
        <p:spPr>
          <a:xfrm>
            <a:off x="8896677" y="4598261"/>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1B4C4967-0531-5713-99A2-1448851C5BAB}"/>
              </a:ext>
            </a:extLst>
          </p:cNvPr>
          <p:cNvSpPr/>
          <p:nvPr/>
        </p:nvSpPr>
        <p:spPr>
          <a:xfrm>
            <a:off x="10358893" y="4598261"/>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7E9AC6FC-0662-ADBB-6BB8-FF1D1B515602}"/>
              </a:ext>
            </a:extLst>
          </p:cNvPr>
          <p:cNvCxnSpPr>
            <a:stCxn id="5" idx="6"/>
            <a:endCxn id="6" idx="2"/>
          </p:cNvCxnSpPr>
          <p:nvPr/>
        </p:nvCxnSpPr>
        <p:spPr>
          <a:xfrm>
            <a:off x="9567117" y="4933481"/>
            <a:ext cx="791776"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7633228C-B881-5A54-7FD5-B6E9413439AE}"/>
              </a:ext>
            </a:extLst>
          </p:cNvPr>
          <p:cNvCxnSpPr>
            <a:cxnSpLocks/>
            <a:stCxn id="4" idx="5"/>
            <a:endCxn id="5" idx="1"/>
          </p:cNvCxnSpPr>
          <p:nvPr/>
        </p:nvCxnSpPr>
        <p:spPr>
          <a:xfrm>
            <a:off x="8577031" y="4352322"/>
            <a:ext cx="417830" cy="344123"/>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84042AB7-6918-E162-E620-9E2BFF3F5DAC}"/>
              </a:ext>
            </a:extLst>
          </p:cNvPr>
          <p:cNvSpPr/>
          <p:nvPr/>
        </p:nvSpPr>
        <p:spPr>
          <a:xfrm>
            <a:off x="8918878" y="3256471"/>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85C3C0EF-5C6D-4D83-6D37-754C459F658A}"/>
              </a:ext>
            </a:extLst>
          </p:cNvPr>
          <p:cNvSpPr/>
          <p:nvPr/>
        </p:nvSpPr>
        <p:spPr>
          <a:xfrm>
            <a:off x="10360504" y="3693123"/>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a:extLst>
              <a:ext uri="{FF2B5EF4-FFF2-40B4-BE49-F238E27FC236}">
                <a16:creationId xmlns:a16="http://schemas.microsoft.com/office/drawing/2014/main" id="{8B8F4FA4-4010-E0AE-20CD-EC7D5C8F0EE0}"/>
              </a:ext>
            </a:extLst>
          </p:cNvPr>
          <p:cNvCxnSpPr>
            <a:stCxn id="9" idx="6"/>
            <a:endCxn id="10" idx="2"/>
          </p:cNvCxnSpPr>
          <p:nvPr/>
        </p:nvCxnSpPr>
        <p:spPr>
          <a:xfrm>
            <a:off x="9589318" y="3591691"/>
            <a:ext cx="771186" cy="436652"/>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D4F01A42-D8E3-F448-F43A-DBB1EDD6C6A0}"/>
              </a:ext>
            </a:extLst>
          </p:cNvPr>
          <p:cNvCxnSpPr>
            <a:cxnSpLocks/>
            <a:stCxn id="4" idx="7"/>
            <a:endCxn id="9" idx="2"/>
          </p:cNvCxnSpPr>
          <p:nvPr/>
        </p:nvCxnSpPr>
        <p:spPr>
          <a:xfrm flipV="1">
            <a:off x="8577031" y="3591691"/>
            <a:ext cx="341847" cy="286559"/>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7DF76BD0-FC65-11DC-13ED-8BCD6DF2A29F}"/>
              </a:ext>
            </a:extLst>
          </p:cNvPr>
          <p:cNvSpPr/>
          <p:nvPr/>
        </p:nvSpPr>
        <p:spPr>
          <a:xfrm>
            <a:off x="10358893" y="2732559"/>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a:extLst>
              <a:ext uri="{FF2B5EF4-FFF2-40B4-BE49-F238E27FC236}">
                <a16:creationId xmlns:a16="http://schemas.microsoft.com/office/drawing/2014/main" id="{CBE279F7-07C8-7C35-7FCC-8F9CC26AD627}"/>
              </a:ext>
            </a:extLst>
          </p:cNvPr>
          <p:cNvCxnSpPr>
            <a:cxnSpLocks/>
            <a:stCxn id="9" idx="6"/>
            <a:endCxn id="13" idx="2"/>
          </p:cNvCxnSpPr>
          <p:nvPr/>
        </p:nvCxnSpPr>
        <p:spPr>
          <a:xfrm flipV="1">
            <a:off x="9589318" y="3067779"/>
            <a:ext cx="769575" cy="523912"/>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13BFB9DA-920E-EF33-7387-F046727B669F}"/>
              </a:ext>
            </a:extLst>
          </p:cNvPr>
          <p:cNvSpPr txBox="1"/>
          <p:nvPr/>
        </p:nvSpPr>
        <p:spPr>
          <a:xfrm>
            <a:off x="7984764" y="4575044"/>
            <a:ext cx="902811" cy="830997"/>
          </a:xfrm>
          <a:prstGeom prst="rect">
            <a:avLst/>
          </a:prstGeom>
          <a:noFill/>
        </p:spPr>
        <p:txBody>
          <a:bodyPr wrap="none" rtlCol="0">
            <a:spAutoFit/>
          </a:bodyPr>
          <a:lstStyle/>
          <a:p>
            <a:pPr algn="ctr"/>
            <a:r>
              <a:rPr lang="en-US" sz="1600" dirty="0">
                <a:latin typeface="Arial" panose="020B0604020202020204" pitchFamily="34" charset="0"/>
                <a:cs typeface="Arial" panose="020B0604020202020204" pitchFamily="34" charset="0"/>
              </a:rPr>
              <a:t>Watch</a:t>
            </a:r>
          </a:p>
          <a:p>
            <a:pPr algn="ctr"/>
            <a:r>
              <a:rPr lang="en-US" sz="1600" dirty="0">
                <a:latin typeface="Arial" panose="020B0604020202020204" pitchFamily="34" charset="0"/>
                <a:cs typeface="Arial" panose="020B0604020202020204" pitchFamily="34" charset="0"/>
              </a:rPr>
              <a:t>TV then</a:t>
            </a:r>
          </a:p>
          <a:p>
            <a:pPr algn="ctr"/>
            <a:r>
              <a:rPr lang="en-US" sz="1600" dirty="0">
                <a:latin typeface="Arial" panose="020B0604020202020204" pitchFamily="34" charset="0"/>
                <a:cs typeface="Arial" panose="020B0604020202020204" pitchFamily="34" charset="0"/>
              </a:rPr>
              <a:t>sleep</a:t>
            </a:r>
            <a:endParaRPr lang="en-US" sz="1400" dirty="0">
              <a:latin typeface="Arial" panose="020B0604020202020204" pitchFamily="34" charset="0"/>
              <a:cs typeface="Arial" panose="020B0604020202020204" pitchFamily="34" charset="0"/>
            </a:endParaRPr>
          </a:p>
        </p:txBody>
      </p:sp>
      <p:sp>
        <p:nvSpPr>
          <p:cNvPr id="16" name="TextBox 15">
            <a:extLst>
              <a:ext uri="{FF2B5EF4-FFF2-40B4-BE49-F238E27FC236}">
                <a16:creationId xmlns:a16="http://schemas.microsoft.com/office/drawing/2014/main" id="{5049A6F3-5D9B-CECF-79DF-5F4D0B85B46A}"/>
              </a:ext>
            </a:extLst>
          </p:cNvPr>
          <p:cNvSpPr txBox="1"/>
          <p:nvPr/>
        </p:nvSpPr>
        <p:spPr>
          <a:xfrm>
            <a:off x="7987884" y="3962472"/>
            <a:ext cx="737701" cy="276999"/>
          </a:xfrm>
          <a:prstGeom prst="rect">
            <a:avLst/>
          </a:prstGeom>
          <a:noFill/>
        </p:spPr>
        <p:txBody>
          <a:bodyPr wrap="none" rtlCol="0">
            <a:spAutoFit/>
          </a:bodyPr>
          <a:lstStyle/>
          <a:p>
            <a:pPr algn="ctr"/>
            <a:r>
              <a:rPr lang="en-US" sz="1200" dirty="0">
                <a:latin typeface="Arial" panose="020B0604020202020204" pitchFamily="34" charset="0"/>
                <a:cs typeface="Arial" panose="020B0604020202020204" pitchFamily="34" charset="0"/>
              </a:rPr>
              <a:t>Morning</a:t>
            </a:r>
          </a:p>
        </p:txBody>
      </p:sp>
      <p:sp>
        <p:nvSpPr>
          <p:cNvPr id="17" name="TextBox 16">
            <a:extLst>
              <a:ext uri="{FF2B5EF4-FFF2-40B4-BE49-F238E27FC236}">
                <a16:creationId xmlns:a16="http://schemas.microsoft.com/office/drawing/2014/main" id="{4E2E2E12-F0EC-27E3-FE8F-19018795F1A2}"/>
              </a:ext>
            </a:extLst>
          </p:cNvPr>
          <p:cNvSpPr txBox="1"/>
          <p:nvPr/>
        </p:nvSpPr>
        <p:spPr>
          <a:xfrm>
            <a:off x="8796056" y="3355317"/>
            <a:ext cx="929687" cy="461665"/>
          </a:xfrm>
          <a:prstGeom prst="rect">
            <a:avLst/>
          </a:prstGeom>
          <a:noFill/>
        </p:spPr>
        <p:txBody>
          <a:bodyPr wrap="square" rtlCol="0">
            <a:spAutoFit/>
          </a:bodyPr>
          <a:lstStyle/>
          <a:p>
            <a:pPr algn="ctr"/>
            <a:r>
              <a:rPr lang="en-US" sz="1200" dirty="0">
                <a:latin typeface="Arial" panose="020B0604020202020204" pitchFamily="34" charset="0"/>
                <a:cs typeface="Arial" panose="020B0604020202020204" pitchFamily="34" charset="0"/>
              </a:rPr>
              <a:t>Have</a:t>
            </a:r>
          </a:p>
          <a:p>
            <a:pPr algn="ctr"/>
            <a:r>
              <a:rPr lang="en-US" sz="1200" dirty="0">
                <a:latin typeface="Arial" panose="020B0604020202020204" pitchFamily="34" charset="0"/>
                <a:cs typeface="Arial" panose="020B0604020202020204" pitchFamily="34" charset="0"/>
              </a:rPr>
              <a:t>results</a:t>
            </a:r>
            <a:endParaRPr lang="en-US" sz="1100" dirty="0">
              <a:latin typeface="Arial" panose="020B0604020202020204" pitchFamily="34" charset="0"/>
              <a:cs typeface="Arial" panose="020B0604020202020204" pitchFamily="34" charset="0"/>
            </a:endParaRPr>
          </a:p>
        </p:txBody>
      </p:sp>
      <p:sp>
        <p:nvSpPr>
          <p:cNvPr id="18" name="TextBox 17">
            <a:extLst>
              <a:ext uri="{FF2B5EF4-FFF2-40B4-BE49-F238E27FC236}">
                <a16:creationId xmlns:a16="http://schemas.microsoft.com/office/drawing/2014/main" id="{BC4BCC12-D311-EB1B-5348-C170D70C56C7}"/>
              </a:ext>
            </a:extLst>
          </p:cNvPr>
          <p:cNvSpPr txBox="1"/>
          <p:nvPr/>
        </p:nvSpPr>
        <p:spPr>
          <a:xfrm>
            <a:off x="9195777" y="2618583"/>
            <a:ext cx="1161505" cy="600164"/>
          </a:xfrm>
          <a:prstGeom prst="rect">
            <a:avLst/>
          </a:prstGeom>
          <a:noFill/>
        </p:spPr>
        <p:txBody>
          <a:bodyPr wrap="square" rtlCol="0">
            <a:spAutoFit/>
          </a:bodyPr>
          <a:lstStyle/>
          <a:p>
            <a:pPr algn="ctr"/>
            <a:r>
              <a:rPr lang="en-US" sz="1100" dirty="0">
                <a:latin typeface="Arial" panose="020B0604020202020204" pitchFamily="34" charset="0"/>
                <a:cs typeface="Arial" panose="020B0604020202020204" pitchFamily="34" charset="0"/>
              </a:rPr>
              <a:t>Prep for individual meeting</a:t>
            </a:r>
          </a:p>
        </p:txBody>
      </p:sp>
      <p:sp>
        <p:nvSpPr>
          <p:cNvPr id="19" name="TextBox 18">
            <a:extLst>
              <a:ext uri="{FF2B5EF4-FFF2-40B4-BE49-F238E27FC236}">
                <a16:creationId xmlns:a16="http://schemas.microsoft.com/office/drawing/2014/main" id="{5C325548-57D4-AFC7-A887-27B5135CF3D8}"/>
              </a:ext>
            </a:extLst>
          </p:cNvPr>
          <p:cNvSpPr txBox="1"/>
          <p:nvPr/>
        </p:nvSpPr>
        <p:spPr>
          <a:xfrm>
            <a:off x="8773478" y="4604048"/>
            <a:ext cx="929687" cy="646331"/>
          </a:xfrm>
          <a:prstGeom prst="rect">
            <a:avLst/>
          </a:prstGeom>
          <a:noFill/>
        </p:spPr>
        <p:txBody>
          <a:bodyPr wrap="square" rtlCol="0">
            <a:spAutoFit/>
          </a:bodyPr>
          <a:lstStyle/>
          <a:p>
            <a:pPr algn="ctr"/>
            <a:r>
              <a:rPr lang="en-US" sz="1200" dirty="0">
                <a:latin typeface="Arial" panose="020B0604020202020204" pitchFamily="34" charset="0"/>
                <a:cs typeface="Arial" panose="020B0604020202020204" pitchFamily="34" charset="0"/>
              </a:rPr>
              <a:t>Have</a:t>
            </a:r>
          </a:p>
          <a:p>
            <a:pPr algn="ctr"/>
            <a:r>
              <a:rPr lang="en-US" sz="1200" dirty="0">
                <a:latin typeface="Arial" panose="020B0604020202020204" pitchFamily="34" charset="0"/>
                <a:cs typeface="Arial" panose="020B0604020202020204" pitchFamily="34" charset="0"/>
              </a:rPr>
              <a:t>no</a:t>
            </a:r>
          </a:p>
          <a:p>
            <a:pPr algn="ctr"/>
            <a:r>
              <a:rPr lang="en-US" sz="1200" dirty="0">
                <a:latin typeface="Arial" panose="020B0604020202020204" pitchFamily="34" charset="0"/>
                <a:cs typeface="Arial" panose="020B0604020202020204" pitchFamily="34" charset="0"/>
              </a:rPr>
              <a:t>results</a:t>
            </a:r>
            <a:endParaRPr lang="en-US" sz="1100" dirty="0">
              <a:latin typeface="Arial" panose="020B0604020202020204" pitchFamily="34" charset="0"/>
              <a:cs typeface="Arial" panose="020B0604020202020204" pitchFamily="34" charset="0"/>
            </a:endParaRPr>
          </a:p>
        </p:txBody>
      </p:sp>
      <p:sp>
        <p:nvSpPr>
          <p:cNvPr id="20" name="TextBox 19">
            <a:extLst>
              <a:ext uri="{FF2B5EF4-FFF2-40B4-BE49-F238E27FC236}">
                <a16:creationId xmlns:a16="http://schemas.microsoft.com/office/drawing/2014/main" id="{94E2CDDD-394F-D28E-DE64-25BE52212259}"/>
              </a:ext>
            </a:extLst>
          </p:cNvPr>
          <p:cNvSpPr txBox="1"/>
          <p:nvPr/>
        </p:nvSpPr>
        <p:spPr>
          <a:xfrm>
            <a:off x="9154044" y="3794445"/>
            <a:ext cx="1161505" cy="430887"/>
          </a:xfrm>
          <a:prstGeom prst="rect">
            <a:avLst/>
          </a:prstGeom>
          <a:noFill/>
        </p:spPr>
        <p:txBody>
          <a:bodyPr wrap="square" rtlCol="0">
            <a:spAutoFit/>
          </a:bodyPr>
          <a:lstStyle/>
          <a:p>
            <a:pPr algn="ctr"/>
            <a:r>
              <a:rPr lang="en-US" sz="1100" dirty="0">
                <a:latin typeface="Arial" panose="020B0604020202020204" pitchFamily="34" charset="0"/>
                <a:cs typeface="Arial" panose="020B0604020202020204" pitchFamily="34" charset="0"/>
              </a:rPr>
              <a:t>Read</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book</a:t>
            </a:r>
          </a:p>
        </p:txBody>
      </p:sp>
      <p:sp>
        <p:nvSpPr>
          <p:cNvPr id="21" name="TextBox 20">
            <a:extLst>
              <a:ext uri="{FF2B5EF4-FFF2-40B4-BE49-F238E27FC236}">
                <a16:creationId xmlns:a16="http://schemas.microsoft.com/office/drawing/2014/main" id="{4FE89FCE-DCCA-8177-5438-0E39030B27EF}"/>
              </a:ext>
            </a:extLst>
          </p:cNvPr>
          <p:cNvSpPr txBox="1"/>
          <p:nvPr/>
        </p:nvSpPr>
        <p:spPr>
          <a:xfrm>
            <a:off x="10111750" y="2734235"/>
            <a:ext cx="1161505" cy="600164"/>
          </a:xfrm>
          <a:prstGeom prst="rect">
            <a:avLst/>
          </a:prstGeom>
          <a:noFill/>
        </p:spPr>
        <p:txBody>
          <a:bodyPr wrap="square" rtlCol="0">
            <a:spAutoFit/>
          </a:bodyPr>
          <a:lstStyle/>
          <a:p>
            <a:pPr algn="ctr"/>
            <a:r>
              <a:rPr lang="en-US" sz="1100" dirty="0">
                <a:latin typeface="Arial" panose="020B0604020202020204" pitchFamily="34" charset="0"/>
                <a:cs typeface="Arial" panose="020B0604020202020204" pitchFamily="34" charset="0"/>
              </a:rPr>
              <a:t>Have</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great</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meeting</a:t>
            </a:r>
          </a:p>
        </p:txBody>
      </p:sp>
      <p:sp>
        <p:nvSpPr>
          <p:cNvPr id="22" name="TextBox 21">
            <a:extLst>
              <a:ext uri="{FF2B5EF4-FFF2-40B4-BE49-F238E27FC236}">
                <a16:creationId xmlns:a16="http://schemas.microsoft.com/office/drawing/2014/main" id="{A464408C-C4F0-7706-5E7F-1692D6CB1F59}"/>
              </a:ext>
            </a:extLst>
          </p:cNvPr>
          <p:cNvSpPr txBox="1"/>
          <p:nvPr/>
        </p:nvSpPr>
        <p:spPr>
          <a:xfrm>
            <a:off x="10119890" y="3700548"/>
            <a:ext cx="1161505" cy="600164"/>
          </a:xfrm>
          <a:prstGeom prst="rect">
            <a:avLst/>
          </a:prstGeom>
          <a:noFill/>
        </p:spPr>
        <p:txBody>
          <a:bodyPr wrap="square" rtlCol="0">
            <a:spAutoFit/>
          </a:bodyPr>
          <a:lstStyle/>
          <a:p>
            <a:pPr algn="ctr"/>
            <a:r>
              <a:rPr lang="en-US" sz="1100" dirty="0">
                <a:latin typeface="Arial" panose="020B0604020202020204" pitchFamily="34" charset="0"/>
                <a:cs typeface="Arial" panose="020B0604020202020204" pitchFamily="34" charset="0"/>
              </a:rPr>
              <a:t>Have</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ok</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meeting</a:t>
            </a:r>
          </a:p>
        </p:txBody>
      </p:sp>
      <p:sp>
        <p:nvSpPr>
          <p:cNvPr id="23" name="TextBox 22">
            <a:extLst>
              <a:ext uri="{FF2B5EF4-FFF2-40B4-BE49-F238E27FC236}">
                <a16:creationId xmlns:a16="http://schemas.microsoft.com/office/drawing/2014/main" id="{008D92C9-AE7F-9383-E2CE-963DDE1BF83C}"/>
              </a:ext>
            </a:extLst>
          </p:cNvPr>
          <p:cNvSpPr txBox="1"/>
          <p:nvPr/>
        </p:nvSpPr>
        <p:spPr>
          <a:xfrm>
            <a:off x="10105785" y="4601251"/>
            <a:ext cx="1161505" cy="600164"/>
          </a:xfrm>
          <a:prstGeom prst="rect">
            <a:avLst/>
          </a:prstGeom>
          <a:noFill/>
        </p:spPr>
        <p:txBody>
          <a:bodyPr wrap="square" rtlCol="0">
            <a:spAutoFit/>
          </a:bodyPr>
          <a:lstStyle/>
          <a:p>
            <a:pPr algn="ctr"/>
            <a:r>
              <a:rPr lang="en-US" sz="1100" dirty="0">
                <a:latin typeface="Arial" panose="020B0604020202020204" pitchFamily="34" charset="0"/>
                <a:cs typeface="Arial" panose="020B0604020202020204" pitchFamily="34" charset="0"/>
              </a:rPr>
              <a:t>Have</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bad</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meeting</a:t>
            </a:r>
          </a:p>
        </p:txBody>
      </p:sp>
      <p:sp>
        <p:nvSpPr>
          <p:cNvPr id="24" name="TextBox 23">
            <a:extLst>
              <a:ext uri="{FF2B5EF4-FFF2-40B4-BE49-F238E27FC236}">
                <a16:creationId xmlns:a16="http://schemas.microsoft.com/office/drawing/2014/main" id="{5C244099-A905-AB35-F729-B6341B25EA4B}"/>
              </a:ext>
            </a:extLst>
          </p:cNvPr>
          <p:cNvSpPr txBox="1"/>
          <p:nvPr/>
        </p:nvSpPr>
        <p:spPr>
          <a:xfrm>
            <a:off x="9427595" y="5025345"/>
            <a:ext cx="929687" cy="276999"/>
          </a:xfrm>
          <a:prstGeom prst="rect">
            <a:avLst/>
          </a:prstGeom>
          <a:noFill/>
        </p:spPr>
        <p:txBody>
          <a:bodyPr wrap="square" rtlCol="0">
            <a:spAutoFit/>
          </a:bodyPr>
          <a:lstStyle/>
          <a:p>
            <a:pPr algn="ctr"/>
            <a:r>
              <a:rPr lang="en-US" sz="1200" dirty="0">
                <a:latin typeface="Arial" panose="020B0604020202020204" pitchFamily="34" charset="0"/>
                <a:cs typeface="Arial" panose="020B0604020202020204" pitchFamily="34" charset="0"/>
              </a:rPr>
              <a:t>Cry</a:t>
            </a:r>
            <a:endParaRPr lang="en-US" sz="1100" dirty="0">
              <a:latin typeface="Arial" panose="020B0604020202020204" pitchFamily="34" charset="0"/>
              <a:cs typeface="Arial" panose="020B0604020202020204" pitchFamily="34" charset="0"/>
            </a:endParaRPr>
          </a:p>
        </p:txBody>
      </p:sp>
      <p:sp>
        <p:nvSpPr>
          <p:cNvPr id="25" name="Rectangle 24">
            <a:extLst>
              <a:ext uri="{FF2B5EF4-FFF2-40B4-BE49-F238E27FC236}">
                <a16:creationId xmlns:a16="http://schemas.microsoft.com/office/drawing/2014/main" id="{0188C180-E652-9983-8B79-A5F1C674DE16}"/>
              </a:ext>
            </a:extLst>
          </p:cNvPr>
          <p:cNvSpPr/>
          <p:nvPr/>
        </p:nvSpPr>
        <p:spPr>
          <a:xfrm>
            <a:off x="8525337" y="3212975"/>
            <a:ext cx="1108936" cy="757432"/>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32657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155D5E-CF7E-14B5-0302-9705B21572D4}"/>
              </a:ext>
            </a:extLst>
          </p:cNvPr>
          <p:cNvSpPr>
            <a:spLocks noGrp="1"/>
          </p:cNvSpPr>
          <p:nvPr>
            <p:ph type="title"/>
          </p:nvPr>
        </p:nvSpPr>
        <p:spPr>
          <a:xfrm>
            <a:off x="838200" y="0"/>
            <a:ext cx="10515600" cy="1325563"/>
          </a:xfrm>
        </p:spPr>
        <p:txBody>
          <a:bodyPr/>
          <a:lstStyle/>
          <a:p>
            <a:r>
              <a:rPr lang="en-US" dirty="0"/>
              <a:t>Question: Scenes</a:t>
            </a:r>
          </a:p>
        </p:txBody>
      </p:sp>
      <p:sp>
        <p:nvSpPr>
          <p:cNvPr id="3" name="Content Placeholder 2">
            <a:extLst>
              <a:ext uri="{FF2B5EF4-FFF2-40B4-BE49-F238E27FC236}">
                <a16:creationId xmlns:a16="http://schemas.microsoft.com/office/drawing/2014/main" id="{91474375-B6ED-9F2E-6540-E7EB50189909}"/>
              </a:ext>
            </a:extLst>
          </p:cNvPr>
          <p:cNvSpPr>
            <a:spLocks noGrp="1"/>
          </p:cNvSpPr>
          <p:nvPr>
            <p:ph idx="1"/>
          </p:nvPr>
        </p:nvSpPr>
        <p:spPr>
          <a:xfrm>
            <a:off x="838200" y="1352792"/>
            <a:ext cx="10515600" cy="3058278"/>
          </a:xfrm>
        </p:spPr>
        <p:txBody>
          <a:bodyPr/>
          <a:lstStyle/>
          <a:p>
            <a:r>
              <a:rPr lang="en-US" dirty="0"/>
              <a:t>How are items bundled together into scenes?</a:t>
            </a:r>
          </a:p>
          <a:p>
            <a:pPr lvl="1"/>
            <a:r>
              <a:rPr lang="en-US" dirty="0"/>
              <a:t>I’m using “scenes” to refer to a group of items presented together</a:t>
            </a:r>
          </a:p>
        </p:txBody>
      </p:sp>
      <p:sp>
        <p:nvSpPr>
          <p:cNvPr id="4" name="Oval 3">
            <a:extLst>
              <a:ext uri="{FF2B5EF4-FFF2-40B4-BE49-F238E27FC236}">
                <a16:creationId xmlns:a16="http://schemas.microsoft.com/office/drawing/2014/main" id="{D70B2241-57A3-6ACD-1DF5-C6C43278DA2E}"/>
              </a:ext>
            </a:extLst>
          </p:cNvPr>
          <p:cNvSpPr/>
          <p:nvPr/>
        </p:nvSpPr>
        <p:spPr>
          <a:xfrm>
            <a:off x="7590818" y="4803257"/>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0596AD98-02AD-9C40-0A25-78DECAB150E6}"/>
              </a:ext>
            </a:extLst>
          </p:cNvPr>
          <p:cNvSpPr/>
          <p:nvPr/>
        </p:nvSpPr>
        <p:spPr>
          <a:xfrm>
            <a:off x="8482720" y="5621452"/>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17488B90-A479-1FC8-3491-D60C0C68163F}"/>
              </a:ext>
            </a:extLst>
          </p:cNvPr>
          <p:cNvSpPr/>
          <p:nvPr/>
        </p:nvSpPr>
        <p:spPr>
          <a:xfrm>
            <a:off x="9944936" y="5621452"/>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552B6352-81B3-771B-4003-FC2D8E84BAF1}"/>
              </a:ext>
            </a:extLst>
          </p:cNvPr>
          <p:cNvCxnSpPr>
            <a:stCxn id="5" idx="6"/>
            <a:endCxn id="6" idx="2"/>
          </p:cNvCxnSpPr>
          <p:nvPr/>
        </p:nvCxnSpPr>
        <p:spPr>
          <a:xfrm>
            <a:off x="9153160" y="5956672"/>
            <a:ext cx="791776"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0EBFDA45-1EE4-24E8-BD28-C0775C8109AA}"/>
              </a:ext>
            </a:extLst>
          </p:cNvPr>
          <p:cNvCxnSpPr>
            <a:cxnSpLocks/>
            <a:stCxn id="4" idx="5"/>
            <a:endCxn id="5" idx="1"/>
          </p:cNvCxnSpPr>
          <p:nvPr/>
        </p:nvCxnSpPr>
        <p:spPr>
          <a:xfrm>
            <a:off x="8163074" y="5375513"/>
            <a:ext cx="417830" cy="34412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1D8895D7-8319-3E80-C874-D34AB5C50E89}"/>
              </a:ext>
            </a:extLst>
          </p:cNvPr>
          <p:cNvSpPr/>
          <p:nvPr/>
        </p:nvSpPr>
        <p:spPr>
          <a:xfrm>
            <a:off x="8504921" y="4279662"/>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F66AD85D-F53F-05DB-6F59-54DFC2DA34EB}"/>
              </a:ext>
            </a:extLst>
          </p:cNvPr>
          <p:cNvSpPr/>
          <p:nvPr/>
        </p:nvSpPr>
        <p:spPr>
          <a:xfrm>
            <a:off x="9946547" y="4716314"/>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a:extLst>
              <a:ext uri="{FF2B5EF4-FFF2-40B4-BE49-F238E27FC236}">
                <a16:creationId xmlns:a16="http://schemas.microsoft.com/office/drawing/2014/main" id="{DEDBE322-EED2-38C0-3BC4-0324237728A4}"/>
              </a:ext>
            </a:extLst>
          </p:cNvPr>
          <p:cNvCxnSpPr>
            <a:stCxn id="9" idx="6"/>
            <a:endCxn id="10" idx="2"/>
          </p:cNvCxnSpPr>
          <p:nvPr/>
        </p:nvCxnSpPr>
        <p:spPr>
          <a:xfrm>
            <a:off x="9175361" y="4614882"/>
            <a:ext cx="771186" cy="43665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49FD50DD-3131-998A-2499-61857D28FCB3}"/>
              </a:ext>
            </a:extLst>
          </p:cNvPr>
          <p:cNvCxnSpPr>
            <a:cxnSpLocks/>
            <a:stCxn id="4" idx="7"/>
            <a:endCxn id="9" idx="2"/>
          </p:cNvCxnSpPr>
          <p:nvPr/>
        </p:nvCxnSpPr>
        <p:spPr>
          <a:xfrm flipV="1">
            <a:off x="8163074" y="4614882"/>
            <a:ext cx="341847" cy="28655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7044739D-B218-085F-4CC8-5EBA436CD34F}"/>
              </a:ext>
            </a:extLst>
          </p:cNvPr>
          <p:cNvSpPr/>
          <p:nvPr/>
        </p:nvSpPr>
        <p:spPr>
          <a:xfrm>
            <a:off x="9944936" y="3755750"/>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a:extLst>
              <a:ext uri="{FF2B5EF4-FFF2-40B4-BE49-F238E27FC236}">
                <a16:creationId xmlns:a16="http://schemas.microsoft.com/office/drawing/2014/main" id="{B67D721F-E161-242E-CFEB-A751C71EDDB1}"/>
              </a:ext>
            </a:extLst>
          </p:cNvPr>
          <p:cNvCxnSpPr>
            <a:cxnSpLocks/>
            <a:stCxn id="9" idx="6"/>
            <a:endCxn id="13" idx="2"/>
          </p:cNvCxnSpPr>
          <p:nvPr/>
        </p:nvCxnSpPr>
        <p:spPr>
          <a:xfrm flipV="1">
            <a:off x="9175361" y="4090970"/>
            <a:ext cx="769575" cy="52391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FF65C176-7FAB-657E-46FE-45544A7FBF70}"/>
              </a:ext>
            </a:extLst>
          </p:cNvPr>
          <p:cNvSpPr/>
          <p:nvPr/>
        </p:nvSpPr>
        <p:spPr>
          <a:xfrm>
            <a:off x="8235334" y="4710768"/>
            <a:ext cx="147755" cy="147755"/>
          </a:xfrm>
          <a:prstGeom prst="rect">
            <a:avLst/>
          </a:prstGeom>
          <a:solidFill>
            <a:srgbClr val="00FFCC"/>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CA8B1121-D66C-E955-11B7-E3F59801A7B9}"/>
              </a:ext>
            </a:extLst>
          </p:cNvPr>
          <p:cNvSpPr/>
          <p:nvPr/>
        </p:nvSpPr>
        <p:spPr>
          <a:xfrm>
            <a:off x="8273325" y="5458456"/>
            <a:ext cx="147755" cy="147755"/>
          </a:xfrm>
          <a:prstGeom prst="rect">
            <a:avLst/>
          </a:prstGeom>
          <a:solidFill>
            <a:srgbClr val="FE962B"/>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D9F1DF8D-79C2-C1B4-04BC-B50375DD05B6}"/>
              </a:ext>
            </a:extLst>
          </p:cNvPr>
          <p:cNvSpPr/>
          <p:nvPr/>
        </p:nvSpPr>
        <p:spPr>
          <a:xfrm>
            <a:off x="9461961" y="5882794"/>
            <a:ext cx="147755" cy="147755"/>
          </a:xfrm>
          <a:prstGeom prst="rect">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40AF8657-F4D5-F566-13DF-FD084EE9A81E}"/>
              </a:ext>
            </a:extLst>
          </p:cNvPr>
          <p:cNvSpPr/>
          <p:nvPr/>
        </p:nvSpPr>
        <p:spPr>
          <a:xfrm>
            <a:off x="9461961" y="4764785"/>
            <a:ext cx="147755" cy="147755"/>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D23BBCAB-D3ED-AB56-A2F4-8D43387CA48C}"/>
              </a:ext>
            </a:extLst>
          </p:cNvPr>
          <p:cNvSpPr/>
          <p:nvPr/>
        </p:nvSpPr>
        <p:spPr>
          <a:xfrm>
            <a:off x="9461961" y="4286204"/>
            <a:ext cx="147755" cy="147755"/>
          </a:xfrm>
          <a:prstGeom prst="rect">
            <a:avLst/>
          </a:prstGeom>
          <a:solidFill>
            <a:srgbClr val="FFCCCC"/>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664CC1F7-534A-DC39-5A22-09A1F0AD33BD}"/>
              </a:ext>
            </a:extLst>
          </p:cNvPr>
          <p:cNvSpPr/>
          <p:nvPr/>
        </p:nvSpPr>
        <p:spPr>
          <a:xfrm>
            <a:off x="7654775" y="4912540"/>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5FD54496-9315-FBAA-FBDB-C46824E710D1}"/>
              </a:ext>
            </a:extLst>
          </p:cNvPr>
          <p:cNvSpPr/>
          <p:nvPr/>
        </p:nvSpPr>
        <p:spPr>
          <a:xfrm>
            <a:off x="7785120" y="5174156"/>
            <a:ext cx="245451" cy="245451"/>
          </a:xfrm>
          <a:prstGeom prst="ellipse">
            <a:avLst/>
          </a:prstGeom>
          <a:solidFill>
            <a:srgbClr val="FF0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C1583101-8F88-F0D5-C8B1-D608888D2C90}"/>
              </a:ext>
            </a:extLst>
          </p:cNvPr>
          <p:cNvSpPr/>
          <p:nvPr/>
        </p:nvSpPr>
        <p:spPr>
          <a:xfrm>
            <a:off x="7947317" y="4938112"/>
            <a:ext cx="245451" cy="245451"/>
          </a:xfrm>
          <a:prstGeom prst="ellipse">
            <a:avLst/>
          </a:prstGeom>
          <a:solidFill>
            <a:srgbClr val="0070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FC6D25DA-8991-A4A3-2ECD-9915835E6B9F}"/>
              </a:ext>
            </a:extLst>
          </p:cNvPr>
          <p:cNvSpPr/>
          <p:nvPr/>
        </p:nvSpPr>
        <p:spPr>
          <a:xfrm>
            <a:off x="8581657" y="4401663"/>
            <a:ext cx="245451" cy="245451"/>
          </a:xfrm>
          <a:prstGeom prst="ellipse">
            <a:avLst/>
          </a:prstGeom>
          <a:solidFill>
            <a:srgbClr val="FFC000"/>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7A9A6C4B-15D8-1568-4706-472DC31FA751}"/>
              </a:ext>
            </a:extLst>
          </p:cNvPr>
          <p:cNvSpPr/>
          <p:nvPr/>
        </p:nvSpPr>
        <p:spPr>
          <a:xfrm>
            <a:off x="8699302" y="4663279"/>
            <a:ext cx="245451" cy="245451"/>
          </a:xfrm>
          <a:prstGeom prst="ellipse">
            <a:avLst/>
          </a:prstGeom>
          <a:solidFill>
            <a:srgbClr val="00B0F0"/>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900C38A8-4AE3-E95F-EB83-BB166461085F}"/>
              </a:ext>
            </a:extLst>
          </p:cNvPr>
          <p:cNvSpPr/>
          <p:nvPr/>
        </p:nvSpPr>
        <p:spPr>
          <a:xfrm>
            <a:off x="8874199" y="4427235"/>
            <a:ext cx="245451" cy="245451"/>
          </a:xfrm>
          <a:prstGeom prst="ellipse">
            <a:avLst/>
          </a:prstGeom>
          <a:solidFill>
            <a:srgbClr val="00B050"/>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05288B57-7E44-B031-6714-3F3DC6197AF9}"/>
              </a:ext>
            </a:extLst>
          </p:cNvPr>
          <p:cNvSpPr/>
          <p:nvPr/>
        </p:nvSpPr>
        <p:spPr>
          <a:xfrm>
            <a:off x="8562989" y="5734496"/>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2E0B3E38-87C4-E6CC-8CCF-2944AB1F2DF4}"/>
              </a:ext>
            </a:extLst>
          </p:cNvPr>
          <p:cNvSpPr/>
          <p:nvPr/>
        </p:nvSpPr>
        <p:spPr>
          <a:xfrm>
            <a:off x="8693334" y="5996112"/>
            <a:ext cx="245451" cy="245451"/>
          </a:xfrm>
          <a:prstGeom prst="ellipse">
            <a:avLst/>
          </a:prstGeom>
          <a:solidFill>
            <a:srgbClr val="00B05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62CFF8F0-408B-F095-B312-96473131A416}"/>
              </a:ext>
            </a:extLst>
          </p:cNvPr>
          <p:cNvSpPr/>
          <p:nvPr/>
        </p:nvSpPr>
        <p:spPr>
          <a:xfrm>
            <a:off x="8855531" y="5760068"/>
            <a:ext cx="245451" cy="245451"/>
          </a:xfrm>
          <a:prstGeom prst="ellipse">
            <a:avLst/>
          </a:prstGeom>
          <a:solidFill>
            <a:srgbClr val="7030A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6F06D374-04E7-7B89-877F-08EC790BD678}"/>
              </a:ext>
            </a:extLst>
          </p:cNvPr>
          <p:cNvSpPr/>
          <p:nvPr/>
        </p:nvSpPr>
        <p:spPr>
          <a:xfrm>
            <a:off x="10008484" y="5734496"/>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2E72715B-A6C2-A5FB-9800-6D78172AFAC1}"/>
              </a:ext>
            </a:extLst>
          </p:cNvPr>
          <p:cNvSpPr/>
          <p:nvPr/>
        </p:nvSpPr>
        <p:spPr>
          <a:xfrm>
            <a:off x="10138829" y="5996112"/>
            <a:ext cx="245451" cy="245451"/>
          </a:xfrm>
          <a:prstGeom prst="ellipse">
            <a:avLst/>
          </a:prstGeom>
          <a:solidFill>
            <a:srgbClr val="FF0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05850D18-3057-0F25-3081-93A62F353454}"/>
              </a:ext>
            </a:extLst>
          </p:cNvPr>
          <p:cNvSpPr/>
          <p:nvPr/>
        </p:nvSpPr>
        <p:spPr>
          <a:xfrm>
            <a:off x="10301026" y="5760068"/>
            <a:ext cx="245451" cy="245451"/>
          </a:xfrm>
          <a:prstGeom prst="ellipse">
            <a:avLst/>
          </a:prstGeom>
          <a:solidFill>
            <a:srgbClr val="00FFCC"/>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DB0A985B-6F69-E5CB-B7DF-0D8CA742B346}"/>
              </a:ext>
            </a:extLst>
          </p:cNvPr>
          <p:cNvSpPr/>
          <p:nvPr/>
        </p:nvSpPr>
        <p:spPr>
          <a:xfrm>
            <a:off x="10015314" y="4832951"/>
            <a:ext cx="245451" cy="245451"/>
          </a:xfrm>
          <a:prstGeom prst="ellipse">
            <a:avLst/>
          </a:prstGeom>
          <a:solidFill>
            <a:srgbClr val="00B05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215B7EA6-C780-F4AE-0E2E-B5B6D7A5E817}"/>
              </a:ext>
            </a:extLst>
          </p:cNvPr>
          <p:cNvSpPr/>
          <p:nvPr/>
        </p:nvSpPr>
        <p:spPr>
          <a:xfrm>
            <a:off x="10145659" y="5094567"/>
            <a:ext cx="245451" cy="245451"/>
          </a:xfrm>
          <a:prstGeom prst="ellipse">
            <a:avLst/>
          </a:prstGeom>
          <a:solidFill>
            <a:srgbClr val="7030A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D3521308-ECF4-5075-ED3E-4546F3CB2D1B}"/>
              </a:ext>
            </a:extLst>
          </p:cNvPr>
          <p:cNvSpPr/>
          <p:nvPr/>
        </p:nvSpPr>
        <p:spPr>
          <a:xfrm>
            <a:off x="10307856" y="4858523"/>
            <a:ext cx="245451" cy="245451"/>
          </a:xfrm>
          <a:prstGeom prst="ellipse">
            <a:avLst/>
          </a:prstGeom>
          <a:solidFill>
            <a:srgbClr val="0070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339942BF-5CA5-B03A-9756-413450E210C7}"/>
              </a:ext>
            </a:extLst>
          </p:cNvPr>
          <p:cNvSpPr/>
          <p:nvPr/>
        </p:nvSpPr>
        <p:spPr>
          <a:xfrm>
            <a:off x="10015314" y="3872061"/>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10DF03D7-B1AE-E538-7CC4-41882AB19FAB}"/>
              </a:ext>
            </a:extLst>
          </p:cNvPr>
          <p:cNvSpPr/>
          <p:nvPr/>
        </p:nvSpPr>
        <p:spPr>
          <a:xfrm>
            <a:off x="10145659" y="4133677"/>
            <a:ext cx="245451" cy="245451"/>
          </a:xfrm>
          <a:prstGeom prst="ellipse">
            <a:avLst/>
          </a:prstGeom>
          <a:solidFill>
            <a:srgbClr val="00B05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8AA08571-EA76-4DF0-5C00-797644A4C8B8}"/>
              </a:ext>
            </a:extLst>
          </p:cNvPr>
          <p:cNvSpPr/>
          <p:nvPr/>
        </p:nvSpPr>
        <p:spPr>
          <a:xfrm>
            <a:off x="10307856" y="3897633"/>
            <a:ext cx="245451" cy="245451"/>
          </a:xfrm>
          <a:prstGeom prst="ellipse">
            <a:avLst/>
          </a:prstGeom>
          <a:solidFill>
            <a:srgbClr val="7030A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Arrow: Right 51">
            <a:extLst>
              <a:ext uri="{FF2B5EF4-FFF2-40B4-BE49-F238E27FC236}">
                <a16:creationId xmlns:a16="http://schemas.microsoft.com/office/drawing/2014/main" id="{7F35FDD6-914A-3F2B-70A1-E4950BF79CEC}"/>
              </a:ext>
            </a:extLst>
          </p:cNvPr>
          <p:cNvSpPr/>
          <p:nvPr/>
        </p:nvSpPr>
        <p:spPr>
          <a:xfrm rot="4309810">
            <a:off x="8453798" y="3898060"/>
            <a:ext cx="341847" cy="186714"/>
          </a:xfrm>
          <a:prstGeom prst="rightArrow">
            <a:avLst/>
          </a:prstGeom>
          <a:solidFill>
            <a:schemeClr val="bg1"/>
          </a:solid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95F7A3B6-D826-F9CE-EBC0-5DA207C491A2}"/>
              </a:ext>
            </a:extLst>
          </p:cNvPr>
          <p:cNvSpPr/>
          <p:nvPr/>
        </p:nvSpPr>
        <p:spPr>
          <a:xfrm>
            <a:off x="8417155" y="4201840"/>
            <a:ext cx="841937" cy="841937"/>
          </a:xfrm>
          <a:prstGeom prst="ellipse">
            <a:avLst/>
          </a:prstGeom>
          <a:noFill/>
          <a:ln w="28575">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28955942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155D5E-CF7E-14B5-0302-9705B21572D4}"/>
              </a:ext>
            </a:extLst>
          </p:cNvPr>
          <p:cNvSpPr>
            <a:spLocks noGrp="1"/>
          </p:cNvSpPr>
          <p:nvPr>
            <p:ph type="title"/>
          </p:nvPr>
        </p:nvSpPr>
        <p:spPr>
          <a:xfrm>
            <a:off x="838200" y="0"/>
            <a:ext cx="10515600" cy="1325563"/>
          </a:xfrm>
        </p:spPr>
        <p:txBody>
          <a:bodyPr/>
          <a:lstStyle/>
          <a:p>
            <a:r>
              <a:rPr lang="en-US" dirty="0"/>
              <a:t>Question: Individual relations</a:t>
            </a:r>
          </a:p>
        </p:txBody>
      </p:sp>
      <p:sp>
        <p:nvSpPr>
          <p:cNvPr id="3" name="Content Placeholder 2">
            <a:extLst>
              <a:ext uri="{FF2B5EF4-FFF2-40B4-BE49-F238E27FC236}">
                <a16:creationId xmlns:a16="http://schemas.microsoft.com/office/drawing/2014/main" id="{91474375-B6ED-9F2E-6540-E7EB50189909}"/>
              </a:ext>
            </a:extLst>
          </p:cNvPr>
          <p:cNvSpPr>
            <a:spLocks noGrp="1"/>
          </p:cNvSpPr>
          <p:nvPr>
            <p:ph idx="1"/>
          </p:nvPr>
        </p:nvSpPr>
        <p:spPr>
          <a:xfrm>
            <a:off x="838200" y="1352792"/>
            <a:ext cx="10515600" cy="3058278"/>
          </a:xfrm>
        </p:spPr>
        <p:txBody>
          <a:bodyPr/>
          <a:lstStyle/>
          <a:p>
            <a:r>
              <a:rPr lang="en-US" dirty="0"/>
              <a:t>How are relations encoded?</a:t>
            </a:r>
          </a:p>
          <a:p>
            <a:r>
              <a:rPr lang="en-US" dirty="0"/>
              <a:t>How is spatial information on the connection encoded?</a:t>
            </a:r>
          </a:p>
        </p:txBody>
      </p:sp>
      <p:sp>
        <p:nvSpPr>
          <p:cNvPr id="4" name="Oval 3">
            <a:extLst>
              <a:ext uri="{FF2B5EF4-FFF2-40B4-BE49-F238E27FC236}">
                <a16:creationId xmlns:a16="http://schemas.microsoft.com/office/drawing/2014/main" id="{D70B2241-57A3-6ACD-1DF5-C6C43278DA2E}"/>
              </a:ext>
            </a:extLst>
          </p:cNvPr>
          <p:cNvSpPr/>
          <p:nvPr/>
        </p:nvSpPr>
        <p:spPr>
          <a:xfrm>
            <a:off x="7590818" y="4803257"/>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0596AD98-02AD-9C40-0A25-78DECAB150E6}"/>
              </a:ext>
            </a:extLst>
          </p:cNvPr>
          <p:cNvSpPr/>
          <p:nvPr/>
        </p:nvSpPr>
        <p:spPr>
          <a:xfrm>
            <a:off x="8482720" y="5621452"/>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17488B90-A479-1FC8-3491-D60C0C68163F}"/>
              </a:ext>
            </a:extLst>
          </p:cNvPr>
          <p:cNvSpPr/>
          <p:nvPr/>
        </p:nvSpPr>
        <p:spPr>
          <a:xfrm>
            <a:off x="9944936" y="5621452"/>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552B6352-81B3-771B-4003-FC2D8E84BAF1}"/>
              </a:ext>
            </a:extLst>
          </p:cNvPr>
          <p:cNvCxnSpPr>
            <a:stCxn id="5" idx="6"/>
            <a:endCxn id="6" idx="2"/>
          </p:cNvCxnSpPr>
          <p:nvPr/>
        </p:nvCxnSpPr>
        <p:spPr>
          <a:xfrm>
            <a:off x="9153160" y="5956672"/>
            <a:ext cx="791776"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0EBFDA45-1EE4-24E8-BD28-C0775C8109AA}"/>
              </a:ext>
            </a:extLst>
          </p:cNvPr>
          <p:cNvCxnSpPr>
            <a:cxnSpLocks/>
            <a:stCxn id="4" idx="5"/>
            <a:endCxn id="5" idx="1"/>
          </p:cNvCxnSpPr>
          <p:nvPr/>
        </p:nvCxnSpPr>
        <p:spPr>
          <a:xfrm>
            <a:off x="8163074" y="5375513"/>
            <a:ext cx="417830" cy="34412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1D8895D7-8319-3E80-C874-D34AB5C50E89}"/>
              </a:ext>
            </a:extLst>
          </p:cNvPr>
          <p:cNvSpPr/>
          <p:nvPr/>
        </p:nvSpPr>
        <p:spPr>
          <a:xfrm>
            <a:off x="8504921" y="4279662"/>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F66AD85D-F53F-05DB-6F59-54DFC2DA34EB}"/>
              </a:ext>
            </a:extLst>
          </p:cNvPr>
          <p:cNvSpPr/>
          <p:nvPr/>
        </p:nvSpPr>
        <p:spPr>
          <a:xfrm>
            <a:off x="9946547" y="4716314"/>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a:extLst>
              <a:ext uri="{FF2B5EF4-FFF2-40B4-BE49-F238E27FC236}">
                <a16:creationId xmlns:a16="http://schemas.microsoft.com/office/drawing/2014/main" id="{DEDBE322-EED2-38C0-3BC4-0324237728A4}"/>
              </a:ext>
            </a:extLst>
          </p:cNvPr>
          <p:cNvCxnSpPr>
            <a:stCxn id="9" idx="6"/>
            <a:endCxn id="10" idx="2"/>
          </p:cNvCxnSpPr>
          <p:nvPr/>
        </p:nvCxnSpPr>
        <p:spPr>
          <a:xfrm>
            <a:off x="9175361" y="4614882"/>
            <a:ext cx="771186" cy="43665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49FD50DD-3131-998A-2499-61857D28FCB3}"/>
              </a:ext>
            </a:extLst>
          </p:cNvPr>
          <p:cNvCxnSpPr>
            <a:cxnSpLocks/>
            <a:stCxn id="4" idx="7"/>
            <a:endCxn id="9" idx="2"/>
          </p:cNvCxnSpPr>
          <p:nvPr/>
        </p:nvCxnSpPr>
        <p:spPr>
          <a:xfrm flipV="1">
            <a:off x="8163074" y="4614882"/>
            <a:ext cx="341847" cy="28655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7044739D-B218-085F-4CC8-5EBA436CD34F}"/>
              </a:ext>
            </a:extLst>
          </p:cNvPr>
          <p:cNvSpPr/>
          <p:nvPr/>
        </p:nvSpPr>
        <p:spPr>
          <a:xfrm>
            <a:off x="9944936" y="3755750"/>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a:extLst>
              <a:ext uri="{FF2B5EF4-FFF2-40B4-BE49-F238E27FC236}">
                <a16:creationId xmlns:a16="http://schemas.microsoft.com/office/drawing/2014/main" id="{B67D721F-E161-242E-CFEB-A751C71EDDB1}"/>
              </a:ext>
            </a:extLst>
          </p:cNvPr>
          <p:cNvCxnSpPr>
            <a:cxnSpLocks/>
            <a:stCxn id="9" idx="6"/>
            <a:endCxn id="13" idx="2"/>
          </p:cNvCxnSpPr>
          <p:nvPr/>
        </p:nvCxnSpPr>
        <p:spPr>
          <a:xfrm flipV="1">
            <a:off x="9175361" y="4090970"/>
            <a:ext cx="769575" cy="52391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FF65C176-7FAB-657E-46FE-45544A7FBF70}"/>
              </a:ext>
            </a:extLst>
          </p:cNvPr>
          <p:cNvSpPr/>
          <p:nvPr/>
        </p:nvSpPr>
        <p:spPr>
          <a:xfrm>
            <a:off x="8235334" y="4710768"/>
            <a:ext cx="147755" cy="147755"/>
          </a:xfrm>
          <a:prstGeom prst="rect">
            <a:avLst/>
          </a:prstGeom>
          <a:solidFill>
            <a:srgbClr val="00FFCC"/>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CA8B1121-D66C-E955-11B7-E3F59801A7B9}"/>
              </a:ext>
            </a:extLst>
          </p:cNvPr>
          <p:cNvSpPr/>
          <p:nvPr/>
        </p:nvSpPr>
        <p:spPr>
          <a:xfrm>
            <a:off x="8273325" y="5458456"/>
            <a:ext cx="147755" cy="147755"/>
          </a:xfrm>
          <a:prstGeom prst="rect">
            <a:avLst/>
          </a:prstGeom>
          <a:solidFill>
            <a:srgbClr val="FE962B"/>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D9F1DF8D-79C2-C1B4-04BC-B50375DD05B6}"/>
              </a:ext>
            </a:extLst>
          </p:cNvPr>
          <p:cNvSpPr/>
          <p:nvPr/>
        </p:nvSpPr>
        <p:spPr>
          <a:xfrm>
            <a:off x="9461961" y="5882794"/>
            <a:ext cx="147755" cy="147755"/>
          </a:xfrm>
          <a:prstGeom prst="rect">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40AF8657-F4D5-F566-13DF-FD084EE9A81E}"/>
              </a:ext>
            </a:extLst>
          </p:cNvPr>
          <p:cNvSpPr/>
          <p:nvPr/>
        </p:nvSpPr>
        <p:spPr>
          <a:xfrm>
            <a:off x="9461961" y="4764785"/>
            <a:ext cx="147755" cy="147755"/>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D23BBCAB-D3ED-AB56-A2F4-8D43387CA48C}"/>
              </a:ext>
            </a:extLst>
          </p:cNvPr>
          <p:cNvSpPr/>
          <p:nvPr/>
        </p:nvSpPr>
        <p:spPr>
          <a:xfrm>
            <a:off x="9461961" y="4286204"/>
            <a:ext cx="147755" cy="147755"/>
          </a:xfrm>
          <a:prstGeom prst="rect">
            <a:avLst/>
          </a:prstGeom>
          <a:solidFill>
            <a:srgbClr val="FFCCCC"/>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664CC1F7-534A-DC39-5A22-09A1F0AD33BD}"/>
              </a:ext>
            </a:extLst>
          </p:cNvPr>
          <p:cNvSpPr/>
          <p:nvPr/>
        </p:nvSpPr>
        <p:spPr>
          <a:xfrm>
            <a:off x="7654775" y="4912540"/>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5FD54496-9315-FBAA-FBDB-C46824E710D1}"/>
              </a:ext>
            </a:extLst>
          </p:cNvPr>
          <p:cNvSpPr/>
          <p:nvPr/>
        </p:nvSpPr>
        <p:spPr>
          <a:xfrm>
            <a:off x="7785120" y="5174156"/>
            <a:ext cx="245451" cy="245451"/>
          </a:xfrm>
          <a:prstGeom prst="ellipse">
            <a:avLst/>
          </a:prstGeom>
          <a:solidFill>
            <a:srgbClr val="FF0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C1583101-8F88-F0D5-C8B1-D608888D2C90}"/>
              </a:ext>
            </a:extLst>
          </p:cNvPr>
          <p:cNvSpPr/>
          <p:nvPr/>
        </p:nvSpPr>
        <p:spPr>
          <a:xfrm>
            <a:off x="7947317" y="4938112"/>
            <a:ext cx="245451" cy="245451"/>
          </a:xfrm>
          <a:prstGeom prst="ellipse">
            <a:avLst/>
          </a:prstGeom>
          <a:solidFill>
            <a:srgbClr val="0070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FC6D25DA-8991-A4A3-2ECD-9915835E6B9F}"/>
              </a:ext>
            </a:extLst>
          </p:cNvPr>
          <p:cNvSpPr/>
          <p:nvPr/>
        </p:nvSpPr>
        <p:spPr>
          <a:xfrm>
            <a:off x="8581657" y="4401663"/>
            <a:ext cx="245451" cy="245451"/>
          </a:xfrm>
          <a:prstGeom prst="ellipse">
            <a:avLst/>
          </a:prstGeom>
          <a:solidFill>
            <a:srgbClr val="FFC000"/>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7A9A6C4B-15D8-1568-4706-472DC31FA751}"/>
              </a:ext>
            </a:extLst>
          </p:cNvPr>
          <p:cNvSpPr/>
          <p:nvPr/>
        </p:nvSpPr>
        <p:spPr>
          <a:xfrm>
            <a:off x="8699302" y="4663279"/>
            <a:ext cx="245451" cy="245451"/>
          </a:xfrm>
          <a:prstGeom prst="ellipse">
            <a:avLst/>
          </a:prstGeom>
          <a:solidFill>
            <a:srgbClr val="00B0F0"/>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900C38A8-4AE3-E95F-EB83-BB166461085F}"/>
              </a:ext>
            </a:extLst>
          </p:cNvPr>
          <p:cNvSpPr/>
          <p:nvPr/>
        </p:nvSpPr>
        <p:spPr>
          <a:xfrm>
            <a:off x="8874199" y="4427235"/>
            <a:ext cx="245451" cy="245451"/>
          </a:xfrm>
          <a:prstGeom prst="ellipse">
            <a:avLst/>
          </a:prstGeom>
          <a:solidFill>
            <a:srgbClr val="00B050"/>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05288B57-7E44-B031-6714-3F3DC6197AF9}"/>
              </a:ext>
            </a:extLst>
          </p:cNvPr>
          <p:cNvSpPr/>
          <p:nvPr/>
        </p:nvSpPr>
        <p:spPr>
          <a:xfrm>
            <a:off x="8562989" y="5734496"/>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2E0B3E38-87C4-E6CC-8CCF-2944AB1F2DF4}"/>
              </a:ext>
            </a:extLst>
          </p:cNvPr>
          <p:cNvSpPr/>
          <p:nvPr/>
        </p:nvSpPr>
        <p:spPr>
          <a:xfrm>
            <a:off x="8693334" y="5996112"/>
            <a:ext cx="245451" cy="245451"/>
          </a:xfrm>
          <a:prstGeom prst="ellipse">
            <a:avLst/>
          </a:prstGeom>
          <a:solidFill>
            <a:srgbClr val="00B05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62CFF8F0-408B-F095-B312-96473131A416}"/>
              </a:ext>
            </a:extLst>
          </p:cNvPr>
          <p:cNvSpPr/>
          <p:nvPr/>
        </p:nvSpPr>
        <p:spPr>
          <a:xfrm>
            <a:off x="8855531" y="5760068"/>
            <a:ext cx="245451" cy="245451"/>
          </a:xfrm>
          <a:prstGeom prst="ellipse">
            <a:avLst/>
          </a:prstGeom>
          <a:solidFill>
            <a:srgbClr val="7030A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6F06D374-04E7-7B89-877F-08EC790BD678}"/>
              </a:ext>
            </a:extLst>
          </p:cNvPr>
          <p:cNvSpPr/>
          <p:nvPr/>
        </p:nvSpPr>
        <p:spPr>
          <a:xfrm>
            <a:off x="10008484" y="5734496"/>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2E72715B-A6C2-A5FB-9800-6D78172AFAC1}"/>
              </a:ext>
            </a:extLst>
          </p:cNvPr>
          <p:cNvSpPr/>
          <p:nvPr/>
        </p:nvSpPr>
        <p:spPr>
          <a:xfrm>
            <a:off x="10138829" y="5996112"/>
            <a:ext cx="245451" cy="245451"/>
          </a:xfrm>
          <a:prstGeom prst="ellipse">
            <a:avLst/>
          </a:prstGeom>
          <a:solidFill>
            <a:srgbClr val="FF0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05850D18-3057-0F25-3081-93A62F353454}"/>
              </a:ext>
            </a:extLst>
          </p:cNvPr>
          <p:cNvSpPr/>
          <p:nvPr/>
        </p:nvSpPr>
        <p:spPr>
          <a:xfrm>
            <a:off x="10301026" y="5760068"/>
            <a:ext cx="245451" cy="245451"/>
          </a:xfrm>
          <a:prstGeom prst="ellipse">
            <a:avLst/>
          </a:prstGeom>
          <a:solidFill>
            <a:srgbClr val="00FFCC"/>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DB0A985B-6F69-E5CB-B7DF-0D8CA742B346}"/>
              </a:ext>
            </a:extLst>
          </p:cNvPr>
          <p:cNvSpPr/>
          <p:nvPr/>
        </p:nvSpPr>
        <p:spPr>
          <a:xfrm>
            <a:off x="10015314" y="4832951"/>
            <a:ext cx="245451" cy="245451"/>
          </a:xfrm>
          <a:prstGeom prst="ellipse">
            <a:avLst/>
          </a:prstGeom>
          <a:solidFill>
            <a:srgbClr val="00B05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215B7EA6-C780-F4AE-0E2E-B5B6D7A5E817}"/>
              </a:ext>
            </a:extLst>
          </p:cNvPr>
          <p:cNvSpPr/>
          <p:nvPr/>
        </p:nvSpPr>
        <p:spPr>
          <a:xfrm>
            <a:off x="10145659" y="5094567"/>
            <a:ext cx="245451" cy="245451"/>
          </a:xfrm>
          <a:prstGeom prst="ellipse">
            <a:avLst/>
          </a:prstGeom>
          <a:solidFill>
            <a:srgbClr val="7030A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D3521308-ECF4-5075-ED3E-4546F3CB2D1B}"/>
              </a:ext>
            </a:extLst>
          </p:cNvPr>
          <p:cNvSpPr/>
          <p:nvPr/>
        </p:nvSpPr>
        <p:spPr>
          <a:xfrm>
            <a:off x="10307856" y="4858523"/>
            <a:ext cx="245451" cy="245451"/>
          </a:xfrm>
          <a:prstGeom prst="ellipse">
            <a:avLst/>
          </a:prstGeom>
          <a:solidFill>
            <a:srgbClr val="0070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339942BF-5CA5-B03A-9756-413450E210C7}"/>
              </a:ext>
            </a:extLst>
          </p:cNvPr>
          <p:cNvSpPr/>
          <p:nvPr/>
        </p:nvSpPr>
        <p:spPr>
          <a:xfrm>
            <a:off x="10015314" y="3872061"/>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10DF03D7-B1AE-E538-7CC4-41882AB19FAB}"/>
              </a:ext>
            </a:extLst>
          </p:cNvPr>
          <p:cNvSpPr/>
          <p:nvPr/>
        </p:nvSpPr>
        <p:spPr>
          <a:xfrm>
            <a:off x="10145659" y="4133677"/>
            <a:ext cx="245451" cy="245451"/>
          </a:xfrm>
          <a:prstGeom prst="ellipse">
            <a:avLst/>
          </a:prstGeom>
          <a:solidFill>
            <a:srgbClr val="00B05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8AA08571-EA76-4DF0-5C00-797644A4C8B8}"/>
              </a:ext>
            </a:extLst>
          </p:cNvPr>
          <p:cNvSpPr/>
          <p:nvPr/>
        </p:nvSpPr>
        <p:spPr>
          <a:xfrm>
            <a:off x="10307856" y="3897633"/>
            <a:ext cx="245451" cy="245451"/>
          </a:xfrm>
          <a:prstGeom prst="ellipse">
            <a:avLst/>
          </a:prstGeom>
          <a:solidFill>
            <a:srgbClr val="7030A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Arrow: Right 51">
            <a:extLst>
              <a:ext uri="{FF2B5EF4-FFF2-40B4-BE49-F238E27FC236}">
                <a16:creationId xmlns:a16="http://schemas.microsoft.com/office/drawing/2014/main" id="{7F35FDD6-914A-3F2B-70A1-E4950BF79CEC}"/>
              </a:ext>
            </a:extLst>
          </p:cNvPr>
          <p:cNvSpPr/>
          <p:nvPr/>
        </p:nvSpPr>
        <p:spPr>
          <a:xfrm rot="5772190">
            <a:off x="8737996" y="4064241"/>
            <a:ext cx="341847" cy="186714"/>
          </a:xfrm>
          <a:prstGeom prst="rightArrow">
            <a:avLst/>
          </a:prstGeom>
          <a:solidFill>
            <a:schemeClr val="bg1"/>
          </a:solid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3D7B07CD-2C79-4106-0D1B-A773A89A8126}"/>
              </a:ext>
            </a:extLst>
          </p:cNvPr>
          <p:cNvSpPr/>
          <p:nvPr/>
        </p:nvSpPr>
        <p:spPr>
          <a:xfrm rot="20264571">
            <a:off x="8607398" y="4348832"/>
            <a:ext cx="307774" cy="635149"/>
          </a:xfrm>
          <a:prstGeom prst="ellipse">
            <a:avLst/>
          </a:prstGeom>
          <a:noFill/>
          <a:ln w="1270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Oval 18">
            <a:extLst>
              <a:ext uri="{FF2B5EF4-FFF2-40B4-BE49-F238E27FC236}">
                <a16:creationId xmlns:a16="http://schemas.microsoft.com/office/drawing/2014/main" id="{66074CEC-8CA4-2E83-F3AA-A546560E1910}"/>
              </a:ext>
            </a:extLst>
          </p:cNvPr>
          <p:cNvSpPr/>
          <p:nvPr/>
        </p:nvSpPr>
        <p:spPr>
          <a:xfrm rot="16701416">
            <a:off x="8696304" y="4215024"/>
            <a:ext cx="307774" cy="635149"/>
          </a:xfrm>
          <a:prstGeom prst="ellipse">
            <a:avLst/>
          </a:prstGeom>
          <a:noFill/>
          <a:ln w="1270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a:extLst>
              <a:ext uri="{FF2B5EF4-FFF2-40B4-BE49-F238E27FC236}">
                <a16:creationId xmlns:a16="http://schemas.microsoft.com/office/drawing/2014/main" id="{DA6C4A61-B45E-9A98-B0F4-98799A640EEA}"/>
              </a:ext>
            </a:extLst>
          </p:cNvPr>
          <p:cNvSpPr/>
          <p:nvPr/>
        </p:nvSpPr>
        <p:spPr>
          <a:xfrm rot="2187266">
            <a:off x="8742857" y="4370326"/>
            <a:ext cx="307774" cy="635149"/>
          </a:xfrm>
          <a:prstGeom prst="ellipse">
            <a:avLst/>
          </a:prstGeom>
          <a:noFill/>
          <a:ln w="1270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Arrow: Right 15">
            <a:extLst>
              <a:ext uri="{FF2B5EF4-FFF2-40B4-BE49-F238E27FC236}">
                <a16:creationId xmlns:a16="http://schemas.microsoft.com/office/drawing/2014/main" id="{463B0C17-9BDE-D236-450A-3E2868818CD2}"/>
              </a:ext>
            </a:extLst>
          </p:cNvPr>
          <p:cNvSpPr/>
          <p:nvPr/>
        </p:nvSpPr>
        <p:spPr>
          <a:xfrm rot="13015829">
            <a:off x="9027982" y="4811925"/>
            <a:ext cx="341847" cy="186714"/>
          </a:xfrm>
          <a:prstGeom prst="rightArrow">
            <a:avLst/>
          </a:prstGeom>
          <a:solidFill>
            <a:schemeClr val="bg1"/>
          </a:solid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Arrow: Right 16">
            <a:extLst>
              <a:ext uri="{FF2B5EF4-FFF2-40B4-BE49-F238E27FC236}">
                <a16:creationId xmlns:a16="http://schemas.microsoft.com/office/drawing/2014/main" id="{FC1EB2B5-0FCA-3DF3-AFA4-89E0A3D8A3A3}"/>
              </a:ext>
            </a:extLst>
          </p:cNvPr>
          <p:cNvSpPr/>
          <p:nvPr/>
        </p:nvSpPr>
        <p:spPr>
          <a:xfrm rot="19236143">
            <a:off x="8274560" y="4775171"/>
            <a:ext cx="341847" cy="186714"/>
          </a:xfrm>
          <a:prstGeom prst="rightArrow">
            <a:avLst/>
          </a:prstGeom>
          <a:solidFill>
            <a:schemeClr val="bg1"/>
          </a:solid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0925036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155D5E-CF7E-14B5-0302-9705B21572D4}"/>
              </a:ext>
            </a:extLst>
          </p:cNvPr>
          <p:cNvSpPr>
            <a:spLocks noGrp="1"/>
          </p:cNvSpPr>
          <p:nvPr>
            <p:ph type="title"/>
          </p:nvPr>
        </p:nvSpPr>
        <p:spPr>
          <a:xfrm>
            <a:off x="838200" y="0"/>
            <a:ext cx="10515600" cy="1325563"/>
          </a:xfrm>
        </p:spPr>
        <p:txBody>
          <a:bodyPr>
            <a:normAutofit/>
          </a:bodyPr>
          <a:lstStyle/>
          <a:p>
            <a:r>
              <a:rPr lang="en-US" sz="4000" dirty="0"/>
              <a:t>Question: Recollection and episodic memory</a:t>
            </a:r>
          </a:p>
        </p:txBody>
      </p:sp>
      <p:sp>
        <p:nvSpPr>
          <p:cNvPr id="3" name="Content Placeholder 2">
            <a:extLst>
              <a:ext uri="{FF2B5EF4-FFF2-40B4-BE49-F238E27FC236}">
                <a16:creationId xmlns:a16="http://schemas.microsoft.com/office/drawing/2014/main" id="{91474375-B6ED-9F2E-6540-E7EB50189909}"/>
              </a:ext>
            </a:extLst>
          </p:cNvPr>
          <p:cNvSpPr>
            <a:spLocks noGrp="1"/>
          </p:cNvSpPr>
          <p:nvPr>
            <p:ph idx="1"/>
          </p:nvPr>
        </p:nvSpPr>
        <p:spPr>
          <a:xfrm>
            <a:off x="838200" y="1352792"/>
            <a:ext cx="10515600" cy="3058278"/>
          </a:xfrm>
        </p:spPr>
        <p:txBody>
          <a:bodyPr/>
          <a:lstStyle/>
          <a:p>
            <a:r>
              <a:rPr lang="en-US" dirty="0"/>
              <a:t>When participants recollect, what exactly are they retrieving?</a:t>
            </a:r>
          </a:p>
          <a:p>
            <a:pPr lvl="1"/>
            <a:r>
              <a:rPr lang="en-US" dirty="0"/>
              <a:t>What is an “episodic memory”</a:t>
            </a:r>
          </a:p>
          <a:p>
            <a:pPr lvl="1"/>
            <a:r>
              <a:rPr lang="en-US" dirty="0"/>
              <a:t>Is information about the action leading up to it included?</a:t>
            </a:r>
          </a:p>
        </p:txBody>
      </p:sp>
      <p:sp>
        <p:nvSpPr>
          <p:cNvPr id="4" name="Oval 3">
            <a:extLst>
              <a:ext uri="{FF2B5EF4-FFF2-40B4-BE49-F238E27FC236}">
                <a16:creationId xmlns:a16="http://schemas.microsoft.com/office/drawing/2014/main" id="{D70B2241-57A3-6ACD-1DF5-C6C43278DA2E}"/>
              </a:ext>
            </a:extLst>
          </p:cNvPr>
          <p:cNvSpPr/>
          <p:nvPr/>
        </p:nvSpPr>
        <p:spPr>
          <a:xfrm>
            <a:off x="8244502" y="4718377"/>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0596AD98-02AD-9C40-0A25-78DECAB150E6}"/>
              </a:ext>
            </a:extLst>
          </p:cNvPr>
          <p:cNvSpPr/>
          <p:nvPr/>
        </p:nvSpPr>
        <p:spPr>
          <a:xfrm>
            <a:off x="9136404" y="5536572"/>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17488B90-A479-1FC8-3491-D60C0C68163F}"/>
              </a:ext>
            </a:extLst>
          </p:cNvPr>
          <p:cNvSpPr/>
          <p:nvPr/>
        </p:nvSpPr>
        <p:spPr>
          <a:xfrm>
            <a:off x="10598620" y="5536572"/>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552B6352-81B3-771B-4003-FC2D8E84BAF1}"/>
              </a:ext>
            </a:extLst>
          </p:cNvPr>
          <p:cNvCxnSpPr>
            <a:stCxn id="5" idx="6"/>
            <a:endCxn id="6" idx="2"/>
          </p:cNvCxnSpPr>
          <p:nvPr/>
        </p:nvCxnSpPr>
        <p:spPr>
          <a:xfrm>
            <a:off x="9806844" y="5871792"/>
            <a:ext cx="791776"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0EBFDA45-1EE4-24E8-BD28-C0775C8109AA}"/>
              </a:ext>
            </a:extLst>
          </p:cNvPr>
          <p:cNvCxnSpPr>
            <a:cxnSpLocks/>
            <a:stCxn id="4" idx="5"/>
            <a:endCxn id="5" idx="1"/>
          </p:cNvCxnSpPr>
          <p:nvPr/>
        </p:nvCxnSpPr>
        <p:spPr>
          <a:xfrm>
            <a:off x="8816758" y="5290633"/>
            <a:ext cx="417830" cy="34412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1D8895D7-8319-3E80-C874-D34AB5C50E89}"/>
              </a:ext>
            </a:extLst>
          </p:cNvPr>
          <p:cNvSpPr/>
          <p:nvPr/>
        </p:nvSpPr>
        <p:spPr>
          <a:xfrm>
            <a:off x="9158605" y="4194782"/>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F66AD85D-F53F-05DB-6F59-54DFC2DA34EB}"/>
              </a:ext>
            </a:extLst>
          </p:cNvPr>
          <p:cNvSpPr/>
          <p:nvPr/>
        </p:nvSpPr>
        <p:spPr>
          <a:xfrm>
            <a:off x="10600231" y="4631434"/>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a:extLst>
              <a:ext uri="{FF2B5EF4-FFF2-40B4-BE49-F238E27FC236}">
                <a16:creationId xmlns:a16="http://schemas.microsoft.com/office/drawing/2014/main" id="{DEDBE322-EED2-38C0-3BC4-0324237728A4}"/>
              </a:ext>
            </a:extLst>
          </p:cNvPr>
          <p:cNvCxnSpPr>
            <a:stCxn id="9" idx="6"/>
            <a:endCxn id="10" idx="2"/>
          </p:cNvCxnSpPr>
          <p:nvPr/>
        </p:nvCxnSpPr>
        <p:spPr>
          <a:xfrm>
            <a:off x="9829045" y="4530002"/>
            <a:ext cx="771186" cy="43665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49FD50DD-3131-998A-2499-61857D28FCB3}"/>
              </a:ext>
            </a:extLst>
          </p:cNvPr>
          <p:cNvCxnSpPr>
            <a:cxnSpLocks/>
            <a:stCxn id="4" idx="7"/>
            <a:endCxn id="9" idx="2"/>
          </p:cNvCxnSpPr>
          <p:nvPr/>
        </p:nvCxnSpPr>
        <p:spPr>
          <a:xfrm flipV="1">
            <a:off x="8816758" y="4530002"/>
            <a:ext cx="341847" cy="28655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7044739D-B218-085F-4CC8-5EBA436CD34F}"/>
              </a:ext>
            </a:extLst>
          </p:cNvPr>
          <p:cNvSpPr/>
          <p:nvPr/>
        </p:nvSpPr>
        <p:spPr>
          <a:xfrm>
            <a:off x="10598620" y="3670870"/>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a:extLst>
              <a:ext uri="{FF2B5EF4-FFF2-40B4-BE49-F238E27FC236}">
                <a16:creationId xmlns:a16="http://schemas.microsoft.com/office/drawing/2014/main" id="{B67D721F-E161-242E-CFEB-A751C71EDDB1}"/>
              </a:ext>
            </a:extLst>
          </p:cNvPr>
          <p:cNvCxnSpPr>
            <a:cxnSpLocks/>
            <a:stCxn id="9" idx="6"/>
            <a:endCxn id="13" idx="2"/>
          </p:cNvCxnSpPr>
          <p:nvPr/>
        </p:nvCxnSpPr>
        <p:spPr>
          <a:xfrm flipV="1">
            <a:off x="9829045" y="4006090"/>
            <a:ext cx="769575" cy="52391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FF65C176-7FAB-657E-46FE-45544A7FBF70}"/>
              </a:ext>
            </a:extLst>
          </p:cNvPr>
          <p:cNvSpPr/>
          <p:nvPr/>
        </p:nvSpPr>
        <p:spPr>
          <a:xfrm>
            <a:off x="8889018" y="4625888"/>
            <a:ext cx="147755" cy="147755"/>
          </a:xfrm>
          <a:prstGeom prst="rect">
            <a:avLst/>
          </a:prstGeom>
          <a:solidFill>
            <a:srgbClr val="00FFCC"/>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CA8B1121-D66C-E955-11B7-E3F59801A7B9}"/>
              </a:ext>
            </a:extLst>
          </p:cNvPr>
          <p:cNvSpPr/>
          <p:nvPr/>
        </p:nvSpPr>
        <p:spPr>
          <a:xfrm>
            <a:off x="8927009" y="5373576"/>
            <a:ext cx="147755" cy="147755"/>
          </a:xfrm>
          <a:prstGeom prst="rect">
            <a:avLst/>
          </a:prstGeom>
          <a:solidFill>
            <a:srgbClr val="FE962B"/>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D9F1DF8D-79C2-C1B4-04BC-B50375DD05B6}"/>
              </a:ext>
            </a:extLst>
          </p:cNvPr>
          <p:cNvSpPr/>
          <p:nvPr/>
        </p:nvSpPr>
        <p:spPr>
          <a:xfrm>
            <a:off x="10115645" y="5797914"/>
            <a:ext cx="147755" cy="147755"/>
          </a:xfrm>
          <a:prstGeom prst="rect">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40AF8657-F4D5-F566-13DF-FD084EE9A81E}"/>
              </a:ext>
            </a:extLst>
          </p:cNvPr>
          <p:cNvSpPr/>
          <p:nvPr/>
        </p:nvSpPr>
        <p:spPr>
          <a:xfrm>
            <a:off x="10115645" y="4679905"/>
            <a:ext cx="147755" cy="147755"/>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D23BBCAB-D3ED-AB56-A2F4-8D43387CA48C}"/>
              </a:ext>
            </a:extLst>
          </p:cNvPr>
          <p:cNvSpPr/>
          <p:nvPr/>
        </p:nvSpPr>
        <p:spPr>
          <a:xfrm>
            <a:off x="10115645" y="4201324"/>
            <a:ext cx="147755" cy="147755"/>
          </a:xfrm>
          <a:prstGeom prst="rect">
            <a:avLst/>
          </a:prstGeom>
          <a:solidFill>
            <a:srgbClr val="FFCCCC"/>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664CC1F7-534A-DC39-5A22-09A1F0AD33BD}"/>
              </a:ext>
            </a:extLst>
          </p:cNvPr>
          <p:cNvSpPr/>
          <p:nvPr/>
        </p:nvSpPr>
        <p:spPr>
          <a:xfrm>
            <a:off x="8308459" y="4827660"/>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5FD54496-9315-FBAA-FBDB-C46824E710D1}"/>
              </a:ext>
            </a:extLst>
          </p:cNvPr>
          <p:cNvSpPr/>
          <p:nvPr/>
        </p:nvSpPr>
        <p:spPr>
          <a:xfrm>
            <a:off x="8438804" y="5089276"/>
            <a:ext cx="245451" cy="245451"/>
          </a:xfrm>
          <a:prstGeom prst="ellipse">
            <a:avLst/>
          </a:prstGeom>
          <a:solidFill>
            <a:srgbClr val="FF0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C1583101-8F88-F0D5-C8B1-D608888D2C90}"/>
              </a:ext>
            </a:extLst>
          </p:cNvPr>
          <p:cNvSpPr/>
          <p:nvPr/>
        </p:nvSpPr>
        <p:spPr>
          <a:xfrm>
            <a:off x="8601001" y="4853232"/>
            <a:ext cx="245451" cy="245451"/>
          </a:xfrm>
          <a:prstGeom prst="ellipse">
            <a:avLst/>
          </a:prstGeom>
          <a:solidFill>
            <a:srgbClr val="0070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FC6D25DA-8991-A4A3-2ECD-9915835E6B9F}"/>
              </a:ext>
            </a:extLst>
          </p:cNvPr>
          <p:cNvSpPr/>
          <p:nvPr/>
        </p:nvSpPr>
        <p:spPr>
          <a:xfrm>
            <a:off x="9235341" y="4316783"/>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7A9A6C4B-15D8-1568-4706-472DC31FA751}"/>
              </a:ext>
            </a:extLst>
          </p:cNvPr>
          <p:cNvSpPr/>
          <p:nvPr/>
        </p:nvSpPr>
        <p:spPr>
          <a:xfrm>
            <a:off x="9365686" y="4578399"/>
            <a:ext cx="245451" cy="245451"/>
          </a:xfrm>
          <a:prstGeom prst="ellipse">
            <a:avLst/>
          </a:prstGeom>
          <a:solidFill>
            <a:srgbClr val="FF0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900C38A8-4AE3-E95F-EB83-BB166461085F}"/>
              </a:ext>
            </a:extLst>
          </p:cNvPr>
          <p:cNvSpPr/>
          <p:nvPr/>
        </p:nvSpPr>
        <p:spPr>
          <a:xfrm>
            <a:off x="9527883" y="4342355"/>
            <a:ext cx="245451" cy="245451"/>
          </a:xfrm>
          <a:prstGeom prst="ellipse">
            <a:avLst/>
          </a:prstGeom>
          <a:solidFill>
            <a:srgbClr val="00B05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05288B57-7E44-B031-6714-3F3DC6197AF9}"/>
              </a:ext>
            </a:extLst>
          </p:cNvPr>
          <p:cNvSpPr/>
          <p:nvPr/>
        </p:nvSpPr>
        <p:spPr>
          <a:xfrm>
            <a:off x="9216673" y="5649616"/>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2E0B3E38-87C4-E6CC-8CCF-2944AB1F2DF4}"/>
              </a:ext>
            </a:extLst>
          </p:cNvPr>
          <p:cNvSpPr/>
          <p:nvPr/>
        </p:nvSpPr>
        <p:spPr>
          <a:xfrm>
            <a:off x="9347018" y="5911232"/>
            <a:ext cx="245451" cy="245451"/>
          </a:xfrm>
          <a:prstGeom prst="ellipse">
            <a:avLst/>
          </a:prstGeom>
          <a:solidFill>
            <a:srgbClr val="00B05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62CFF8F0-408B-F095-B312-96473131A416}"/>
              </a:ext>
            </a:extLst>
          </p:cNvPr>
          <p:cNvSpPr/>
          <p:nvPr/>
        </p:nvSpPr>
        <p:spPr>
          <a:xfrm>
            <a:off x="9509215" y="5675188"/>
            <a:ext cx="245451" cy="245451"/>
          </a:xfrm>
          <a:prstGeom prst="ellipse">
            <a:avLst/>
          </a:prstGeom>
          <a:solidFill>
            <a:srgbClr val="7030A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6F06D374-04E7-7B89-877F-08EC790BD678}"/>
              </a:ext>
            </a:extLst>
          </p:cNvPr>
          <p:cNvSpPr/>
          <p:nvPr/>
        </p:nvSpPr>
        <p:spPr>
          <a:xfrm>
            <a:off x="10662168" y="5649616"/>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2E72715B-A6C2-A5FB-9800-6D78172AFAC1}"/>
              </a:ext>
            </a:extLst>
          </p:cNvPr>
          <p:cNvSpPr/>
          <p:nvPr/>
        </p:nvSpPr>
        <p:spPr>
          <a:xfrm>
            <a:off x="10792513" y="5911232"/>
            <a:ext cx="245451" cy="245451"/>
          </a:xfrm>
          <a:prstGeom prst="ellipse">
            <a:avLst/>
          </a:prstGeom>
          <a:solidFill>
            <a:srgbClr val="FF0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05850D18-3057-0F25-3081-93A62F353454}"/>
              </a:ext>
            </a:extLst>
          </p:cNvPr>
          <p:cNvSpPr/>
          <p:nvPr/>
        </p:nvSpPr>
        <p:spPr>
          <a:xfrm>
            <a:off x="10954710" y="5675188"/>
            <a:ext cx="245451" cy="245451"/>
          </a:xfrm>
          <a:prstGeom prst="ellipse">
            <a:avLst/>
          </a:prstGeom>
          <a:solidFill>
            <a:srgbClr val="00FFCC"/>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DB0A985B-6F69-E5CB-B7DF-0D8CA742B346}"/>
              </a:ext>
            </a:extLst>
          </p:cNvPr>
          <p:cNvSpPr/>
          <p:nvPr/>
        </p:nvSpPr>
        <p:spPr>
          <a:xfrm>
            <a:off x="10668998" y="4748071"/>
            <a:ext cx="245451" cy="245451"/>
          </a:xfrm>
          <a:prstGeom prst="ellipse">
            <a:avLst/>
          </a:prstGeom>
          <a:solidFill>
            <a:srgbClr val="00B05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215B7EA6-C780-F4AE-0E2E-B5B6D7A5E817}"/>
              </a:ext>
            </a:extLst>
          </p:cNvPr>
          <p:cNvSpPr/>
          <p:nvPr/>
        </p:nvSpPr>
        <p:spPr>
          <a:xfrm>
            <a:off x="10799343" y="5009687"/>
            <a:ext cx="245451" cy="245451"/>
          </a:xfrm>
          <a:prstGeom prst="ellipse">
            <a:avLst/>
          </a:prstGeom>
          <a:solidFill>
            <a:srgbClr val="7030A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D3521308-ECF4-5075-ED3E-4546F3CB2D1B}"/>
              </a:ext>
            </a:extLst>
          </p:cNvPr>
          <p:cNvSpPr/>
          <p:nvPr/>
        </p:nvSpPr>
        <p:spPr>
          <a:xfrm>
            <a:off x="10961540" y="4773643"/>
            <a:ext cx="245451" cy="245451"/>
          </a:xfrm>
          <a:prstGeom prst="ellipse">
            <a:avLst/>
          </a:prstGeom>
          <a:solidFill>
            <a:srgbClr val="0070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339942BF-5CA5-B03A-9756-413450E210C7}"/>
              </a:ext>
            </a:extLst>
          </p:cNvPr>
          <p:cNvSpPr/>
          <p:nvPr/>
        </p:nvSpPr>
        <p:spPr>
          <a:xfrm>
            <a:off x="10668998" y="3787181"/>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10DF03D7-B1AE-E538-7CC4-41882AB19FAB}"/>
              </a:ext>
            </a:extLst>
          </p:cNvPr>
          <p:cNvSpPr/>
          <p:nvPr/>
        </p:nvSpPr>
        <p:spPr>
          <a:xfrm>
            <a:off x="10799343" y="4048797"/>
            <a:ext cx="245451" cy="245451"/>
          </a:xfrm>
          <a:prstGeom prst="ellipse">
            <a:avLst/>
          </a:prstGeom>
          <a:solidFill>
            <a:srgbClr val="00B05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8AA08571-EA76-4DF0-5C00-797644A4C8B8}"/>
              </a:ext>
            </a:extLst>
          </p:cNvPr>
          <p:cNvSpPr/>
          <p:nvPr/>
        </p:nvSpPr>
        <p:spPr>
          <a:xfrm>
            <a:off x="10961540" y="3812753"/>
            <a:ext cx="245451" cy="245451"/>
          </a:xfrm>
          <a:prstGeom prst="ellipse">
            <a:avLst/>
          </a:prstGeom>
          <a:solidFill>
            <a:srgbClr val="7030A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95F7A3B6-D826-F9CE-EBC0-5DA207C491A2}"/>
              </a:ext>
            </a:extLst>
          </p:cNvPr>
          <p:cNvSpPr/>
          <p:nvPr/>
        </p:nvSpPr>
        <p:spPr>
          <a:xfrm>
            <a:off x="8817651" y="4040760"/>
            <a:ext cx="1072266" cy="1072266"/>
          </a:xfrm>
          <a:prstGeom prst="ellipse">
            <a:avLst/>
          </a:prstGeom>
          <a:noFill/>
          <a:ln w="28575">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TextBox 15">
            <a:extLst>
              <a:ext uri="{FF2B5EF4-FFF2-40B4-BE49-F238E27FC236}">
                <a16:creationId xmlns:a16="http://schemas.microsoft.com/office/drawing/2014/main" id="{0B0D4E49-19CF-5A25-67C7-F6B4C7DF2FC1}"/>
              </a:ext>
            </a:extLst>
          </p:cNvPr>
          <p:cNvSpPr txBox="1"/>
          <p:nvPr/>
        </p:nvSpPr>
        <p:spPr>
          <a:xfrm>
            <a:off x="9194402" y="3612586"/>
            <a:ext cx="356188" cy="461665"/>
          </a:xfrm>
          <a:prstGeom prst="rect">
            <a:avLst/>
          </a:prstGeom>
          <a:noFill/>
        </p:spPr>
        <p:txBody>
          <a:bodyPr wrap="none" rtlCol="0">
            <a:spAutoFit/>
          </a:bodyPr>
          <a:lstStyle/>
          <a:p>
            <a:r>
              <a:rPr lang="en-US" sz="2400" dirty="0">
                <a:solidFill>
                  <a:srgbClr val="FF0000"/>
                </a:solidFill>
                <a:latin typeface="Arial" panose="020B0604020202020204" pitchFamily="34" charset="0"/>
                <a:cs typeface="Arial" panose="020B0604020202020204" pitchFamily="34" charset="0"/>
              </a:rPr>
              <a:t>?</a:t>
            </a:r>
          </a:p>
        </p:txBody>
      </p:sp>
      <p:sp>
        <p:nvSpPr>
          <p:cNvPr id="17" name="Oval 16">
            <a:extLst>
              <a:ext uri="{FF2B5EF4-FFF2-40B4-BE49-F238E27FC236}">
                <a16:creationId xmlns:a16="http://schemas.microsoft.com/office/drawing/2014/main" id="{DF393AA4-4E62-4F2A-5505-E2D366C57C57}"/>
              </a:ext>
            </a:extLst>
          </p:cNvPr>
          <p:cNvSpPr/>
          <p:nvPr/>
        </p:nvSpPr>
        <p:spPr>
          <a:xfrm>
            <a:off x="4838446" y="4721633"/>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D63D76FD-927D-9DEB-16BF-DDE93C682BD7}"/>
              </a:ext>
            </a:extLst>
          </p:cNvPr>
          <p:cNvSpPr/>
          <p:nvPr/>
        </p:nvSpPr>
        <p:spPr>
          <a:xfrm>
            <a:off x="5730348" y="5539828"/>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B51AC71A-A988-DA12-A418-9439813F95D9}"/>
              </a:ext>
            </a:extLst>
          </p:cNvPr>
          <p:cNvSpPr/>
          <p:nvPr/>
        </p:nvSpPr>
        <p:spPr>
          <a:xfrm>
            <a:off x="6934871" y="5539828"/>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Arrow Connector 19">
            <a:extLst>
              <a:ext uri="{FF2B5EF4-FFF2-40B4-BE49-F238E27FC236}">
                <a16:creationId xmlns:a16="http://schemas.microsoft.com/office/drawing/2014/main" id="{9A235CB0-2B41-B948-F424-FF72D7E8FA95}"/>
              </a:ext>
            </a:extLst>
          </p:cNvPr>
          <p:cNvCxnSpPr>
            <a:stCxn id="18" idx="6"/>
            <a:endCxn id="19" idx="2"/>
          </p:cNvCxnSpPr>
          <p:nvPr/>
        </p:nvCxnSpPr>
        <p:spPr>
          <a:xfrm>
            <a:off x="6400788" y="5875048"/>
            <a:ext cx="534083"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FC00FF7A-772C-B3D7-C6C2-48651E57C9D7}"/>
              </a:ext>
            </a:extLst>
          </p:cNvPr>
          <p:cNvCxnSpPr>
            <a:cxnSpLocks/>
            <a:stCxn id="17" idx="5"/>
            <a:endCxn id="18" idx="1"/>
          </p:cNvCxnSpPr>
          <p:nvPr/>
        </p:nvCxnSpPr>
        <p:spPr>
          <a:xfrm>
            <a:off x="5410702" y="5293889"/>
            <a:ext cx="417830" cy="34412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AC96BCAF-AD80-94BD-3908-4217165043AB}"/>
              </a:ext>
            </a:extLst>
          </p:cNvPr>
          <p:cNvSpPr/>
          <p:nvPr/>
        </p:nvSpPr>
        <p:spPr>
          <a:xfrm>
            <a:off x="5752549" y="4198038"/>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Oval 22">
            <a:extLst>
              <a:ext uri="{FF2B5EF4-FFF2-40B4-BE49-F238E27FC236}">
                <a16:creationId xmlns:a16="http://schemas.microsoft.com/office/drawing/2014/main" id="{C6B67099-7D36-8F0D-DC10-96301AA700ED}"/>
              </a:ext>
            </a:extLst>
          </p:cNvPr>
          <p:cNvSpPr/>
          <p:nvPr/>
        </p:nvSpPr>
        <p:spPr>
          <a:xfrm>
            <a:off x="6936482" y="4634690"/>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4" name="Straight Arrow Connector 23">
            <a:extLst>
              <a:ext uri="{FF2B5EF4-FFF2-40B4-BE49-F238E27FC236}">
                <a16:creationId xmlns:a16="http://schemas.microsoft.com/office/drawing/2014/main" id="{4868445F-797F-02E5-6922-C69A2AE58601}"/>
              </a:ext>
            </a:extLst>
          </p:cNvPr>
          <p:cNvCxnSpPr>
            <a:stCxn id="22" idx="6"/>
            <a:endCxn id="23" idx="2"/>
          </p:cNvCxnSpPr>
          <p:nvPr/>
        </p:nvCxnSpPr>
        <p:spPr>
          <a:xfrm>
            <a:off x="6422989" y="4533258"/>
            <a:ext cx="513493" cy="43665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98F7EEBB-A04E-07D4-335E-60F22705F250}"/>
              </a:ext>
            </a:extLst>
          </p:cNvPr>
          <p:cNvCxnSpPr>
            <a:cxnSpLocks/>
            <a:stCxn id="17" idx="7"/>
            <a:endCxn id="22" idx="2"/>
          </p:cNvCxnSpPr>
          <p:nvPr/>
        </p:nvCxnSpPr>
        <p:spPr>
          <a:xfrm flipV="1">
            <a:off x="5410702" y="4533258"/>
            <a:ext cx="341847" cy="28655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Oval 25">
            <a:extLst>
              <a:ext uri="{FF2B5EF4-FFF2-40B4-BE49-F238E27FC236}">
                <a16:creationId xmlns:a16="http://schemas.microsoft.com/office/drawing/2014/main" id="{FEDA24BE-5D80-D555-7393-3441FFC9516C}"/>
              </a:ext>
            </a:extLst>
          </p:cNvPr>
          <p:cNvSpPr/>
          <p:nvPr/>
        </p:nvSpPr>
        <p:spPr>
          <a:xfrm>
            <a:off x="6934871" y="3674126"/>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0" name="Straight Arrow Connector 49">
            <a:extLst>
              <a:ext uri="{FF2B5EF4-FFF2-40B4-BE49-F238E27FC236}">
                <a16:creationId xmlns:a16="http://schemas.microsoft.com/office/drawing/2014/main" id="{ADE78473-BCE2-677C-8601-0EE180051CA5}"/>
              </a:ext>
            </a:extLst>
          </p:cNvPr>
          <p:cNvCxnSpPr>
            <a:cxnSpLocks/>
            <a:stCxn id="22" idx="6"/>
            <a:endCxn id="26" idx="2"/>
          </p:cNvCxnSpPr>
          <p:nvPr/>
        </p:nvCxnSpPr>
        <p:spPr>
          <a:xfrm flipV="1">
            <a:off x="6422989" y="4009346"/>
            <a:ext cx="511882" cy="52391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1" name="Rectangle 50">
            <a:extLst>
              <a:ext uri="{FF2B5EF4-FFF2-40B4-BE49-F238E27FC236}">
                <a16:creationId xmlns:a16="http://schemas.microsoft.com/office/drawing/2014/main" id="{B12F7415-33E3-BCD8-DA6B-0ECE889E94D9}"/>
              </a:ext>
            </a:extLst>
          </p:cNvPr>
          <p:cNvSpPr/>
          <p:nvPr/>
        </p:nvSpPr>
        <p:spPr>
          <a:xfrm>
            <a:off x="5482962" y="4629144"/>
            <a:ext cx="147755" cy="147755"/>
          </a:xfrm>
          <a:prstGeom prst="rect">
            <a:avLst/>
          </a:prstGeom>
          <a:solidFill>
            <a:srgbClr val="00FFCC"/>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3782FD8F-125C-0E4D-58AA-443BC518FE39}"/>
              </a:ext>
            </a:extLst>
          </p:cNvPr>
          <p:cNvSpPr/>
          <p:nvPr/>
        </p:nvSpPr>
        <p:spPr>
          <a:xfrm>
            <a:off x="5520953" y="5376832"/>
            <a:ext cx="147755" cy="147755"/>
          </a:xfrm>
          <a:prstGeom prst="rect">
            <a:avLst/>
          </a:prstGeom>
          <a:solidFill>
            <a:srgbClr val="FE962B"/>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3FBB0721-5566-6956-19BE-C5E417B97C89}"/>
              </a:ext>
            </a:extLst>
          </p:cNvPr>
          <p:cNvSpPr/>
          <p:nvPr/>
        </p:nvSpPr>
        <p:spPr>
          <a:xfrm>
            <a:off x="6535480" y="5824445"/>
            <a:ext cx="147755" cy="147755"/>
          </a:xfrm>
          <a:prstGeom prst="rect">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36CD0AD5-7AD5-B356-8A16-757EC22166F5}"/>
              </a:ext>
            </a:extLst>
          </p:cNvPr>
          <p:cNvSpPr/>
          <p:nvPr/>
        </p:nvSpPr>
        <p:spPr>
          <a:xfrm>
            <a:off x="6534278" y="4616548"/>
            <a:ext cx="147755" cy="147755"/>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D336C8ED-16A4-DAF5-40DC-CE03A38C30CA}"/>
              </a:ext>
            </a:extLst>
          </p:cNvPr>
          <p:cNvSpPr/>
          <p:nvPr/>
        </p:nvSpPr>
        <p:spPr>
          <a:xfrm>
            <a:off x="6666652" y="4144016"/>
            <a:ext cx="147755" cy="147755"/>
          </a:xfrm>
          <a:prstGeom prst="rect">
            <a:avLst/>
          </a:prstGeom>
          <a:solidFill>
            <a:srgbClr val="FFCCCC"/>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74FBC82A-117E-9CD6-FC56-A7202A712DC6}"/>
              </a:ext>
            </a:extLst>
          </p:cNvPr>
          <p:cNvSpPr/>
          <p:nvPr/>
        </p:nvSpPr>
        <p:spPr>
          <a:xfrm>
            <a:off x="4902403" y="4830916"/>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 57">
            <a:extLst>
              <a:ext uri="{FF2B5EF4-FFF2-40B4-BE49-F238E27FC236}">
                <a16:creationId xmlns:a16="http://schemas.microsoft.com/office/drawing/2014/main" id="{B2B659C9-3942-C1C4-3A89-CC726B76B624}"/>
              </a:ext>
            </a:extLst>
          </p:cNvPr>
          <p:cNvSpPr/>
          <p:nvPr/>
        </p:nvSpPr>
        <p:spPr>
          <a:xfrm>
            <a:off x="5032748" y="5092532"/>
            <a:ext cx="245451" cy="245451"/>
          </a:xfrm>
          <a:prstGeom prst="ellipse">
            <a:avLst/>
          </a:prstGeom>
          <a:solidFill>
            <a:srgbClr val="FF0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a:extLst>
              <a:ext uri="{FF2B5EF4-FFF2-40B4-BE49-F238E27FC236}">
                <a16:creationId xmlns:a16="http://schemas.microsoft.com/office/drawing/2014/main" id="{D5651B48-40C7-BBD2-BD0D-D398217FD946}"/>
              </a:ext>
            </a:extLst>
          </p:cNvPr>
          <p:cNvSpPr/>
          <p:nvPr/>
        </p:nvSpPr>
        <p:spPr>
          <a:xfrm>
            <a:off x="5194945" y="4856488"/>
            <a:ext cx="245451" cy="245451"/>
          </a:xfrm>
          <a:prstGeom prst="ellipse">
            <a:avLst/>
          </a:prstGeom>
          <a:solidFill>
            <a:srgbClr val="0070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88652103-1496-209E-C38F-0CDF0FBDCC61}"/>
              </a:ext>
            </a:extLst>
          </p:cNvPr>
          <p:cNvSpPr/>
          <p:nvPr/>
        </p:nvSpPr>
        <p:spPr>
          <a:xfrm>
            <a:off x="5829285" y="4320039"/>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a:extLst>
              <a:ext uri="{FF2B5EF4-FFF2-40B4-BE49-F238E27FC236}">
                <a16:creationId xmlns:a16="http://schemas.microsoft.com/office/drawing/2014/main" id="{A58C4911-FA20-8763-00EB-BFC48F7846EE}"/>
              </a:ext>
            </a:extLst>
          </p:cNvPr>
          <p:cNvSpPr/>
          <p:nvPr/>
        </p:nvSpPr>
        <p:spPr>
          <a:xfrm>
            <a:off x="5959630" y="4581655"/>
            <a:ext cx="245451" cy="245451"/>
          </a:xfrm>
          <a:prstGeom prst="ellipse">
            <a:avLst/>
          </a:prstGeom>
          <a:solidFill>
            <a:srgbClr val="FF0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a:extLst>
              <a:ext uri="{FF2B5EF4-FFF2-40B4-BE49-F238E27FC236}">
                <a16:creationId xmlns:a16="http://schemas.microsoft.com/office/drawing/2014/main" id="{A935B942-7FD6-6385-38AF-8A9F43751A5F}"/>
              </a:ext>
            </a:extLst>
          </p:cNvPr>
          <p:cNvSpPr/>
          <p:nvPr/>
        </p:nvSpPr>
        <p:spPr>
          <a:xfrm>
            <a:off x="6121827" y="4345611"/>
            <a:ext cx="245451" cy="245451"/>
          </a:xfrm>
          <a:prstGeom prst="ellipse">
            <a:avLst/>
          </a:prstGeom>
          <a:solidFill>
            <a:srgbClr val="00B05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a:extLst>
              <a:ext uri="{FF2B5EF4-FFF2-40B4-BE49-F238E27FC236}">
                <a16:creationId xmlns:a16="http://schemas.microsoft.com/office/drawing/2014/main" id="{8C3DB5B3-7320-50E2-D16C-B2C4E49B9535}"/>
              </a:ext>
            </a:extLst>
          </p:cNvPr>
          <p:cNvSpPr/>
          <p:nvPr/>
        </p:nvSpPr>
        <p:spPr>
          <a:xfrm>
            <a:off x="5810617" y="5652872"/>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 63">
            <a:extLst>
              <a:ext uri="{FF2B5EF4-FFF2-40B4-BE49-F238E27FC236}">
                <a16:creationId xmlns:a16="http://schemas.microsoft.com/office/drawing/2014/main" id="{38AEA54C-95ED-DB20-B4CA-5FE969EA5D85}"/>
              </a:ext>
            </a:extLst>
          </p:cNvPr>
          <p:cNvSpPr/>
          <p:nvPr/>
        </p:nvSpPr>
        <p:spPr>
          <a:xfrm>
            <a:off x="5940962" y="5914488"/>
            <a:ext cx="245451" cy="245451"/>
          </a:xfrm>
          <a:prstGeom prst="ellipse">
            <a:avLst/>
          </a:prstGeom>
          <a:solidFill>
            <a:srgbClr val="00B05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Oval 64">
            <a:extLst>
              <a:ext uri="{FF2B5EF4-FFF2-40B4-BE49-F238E27FC236}">
                <a16:creationId xmlns:a16="http://schemas.microsoft.com/office/drawing/2014/main" id="{BD2816E8-2373-23F9-4118-E6CC4400FA89}"/>
              </a:ext>
            </a:extLst>
          </p:cNvPr>
          <p:cNvSpPr/>
          <p:nvPr/>
        </p:nvSpPr>
        <p:spPr>
          <a:xfrm>
            <a:off x="6103159" y="5678444"/>
            <a:ext cx="245451" cy="245451"/>
          </a:xfrm>
          <a:prstGeom prst="ellipse">
            <a:avLst/>
          </a:prstGeom>
          <a:solidFill>
            <a:srgbClr val="7030A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a:extLst>
              <a:ext uri="{FF2B5EF4-FFF2-40B4-BE49-F238E27FC236}">
                <a16:creationId xmlns:a16="http://schemas.microsoft.com/office/drawing/2014/main" id="{5974CC5C-B6A2-B96B-FBB6-4A966C4B40CD}"/>
              </a:ext>
            </a:extLst>
          </p:cNvPr>
          <p:cNvSpPr/>
          <p:nvPr/>
        </p:nvSpPr>
        <p:spPr>
          <a:xfrm>
            <a:off x="6998419" y="5652872"/>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Oval 66">
            <a:extLst>
              <a:ext uri="{FF2B5EF4-FFF2-40B4-BE49-F238E27FC236}">
                <a16:creationId xmlns:a16="http://schemas.microsoft.com/office/drawing/2014/main" id="{3586571A-687A-1AEB-F892-BBCF6CA233D1}"/>
              </a:ext>
            </a:extLst>
          </p:cNvPr>
          <p:cNvSpPr/>
          <p:nvPr/>
        </p:nvSpPr>
        <p:spPr>
          <a:xfrm>
            <a:off x="7128764" y="5914488"/>
            <a:ext cx="245451" cy="245451"/>
          </a:xfrm>
          <a:prstGeom prst="ellipse">
            <a:avLst/>
          </a:prstGeom>
          <a:solidFill>
            <a:srgbClr val="FF0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a:extLst>
              <a:ext uri="{FF2B5EF4-FFF2-40B4-BE49-F238E27FC236}">
                <a16:creationId xmlns:a16="http://schemas.microsoft.com/office/drawing/2014/main" id="{CDF97C4A-85F9-144C-E3B7-39E4AA474A1B}"/>
              </a:ext>
            </a:extLst>
          </p:cNvPr>
          <p:cNvSpPr/>
          <p:nvPr/>
        </p:nvSpPr>
        <p:spPr>
          <a:xfrm>
            <a:off x="7290961" y="5678444"/>
            <a:ext cx="245451" cy="245451"/>
          </a:xfrm>
          <a:prstGeom prst="ellipse">
            <a:avLst/>
          </a:prstGeom>
          <a:solidFill>
            <a:srgbClr val="00FFCC"/>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a:extLst>
              <a:ext uri="{FF2B5EF4-FFF2-40B4-BE49-F238E27FC236}">
                <a16:creationId xmlns:a16="http://schemas.microsoft.com/office/drawing/2014/main" id="{C2AED052-B424-BC2A-A6A7-AC895584E591}"/>
              </a:ext>
            </a:extLst>
          </p:cNvPr>
          <p:cNvSpPr/>
          <p:nvPr/>
        </p:nvSpPr>
        <p:spPr>
          <a:xfrm>
            <a:off x="7005249" y="4751327"/>
            <a:ext cx="245451" cy="245451"/>
          </a:xfrm>
          <a:prstGeom prst="ellipse">
            <a:avLst/>
          </a:prstGeom>
          <a:solidFill>
            <a:srgbClr val="00B05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a:extLst>
              <a:ext uri="{FF2B5EF4-FFF2-40B4-BE49-F238E27FC236}">
                <a16:creationId xmlns:a16="http://schemas.microsoft.com/office/drawing/2014/main" id="{C1D03E41-1A61-6975-7C75-7594D6ADC23F}"/>
              </a:ext>
            </a:extLst>
          </p:cNvPr>
          <p:cNvSpPr/>
          <p:nvPr/>
        </p:nvSpPr>
        <p:spPr>
          <a:xfrm>
            <a:off x="7135594" y="5012943"/>
            <a:ext cx="245451" cy="245451"/>
          </a:xfrm>
          <a:prstGeom prst="ellipse">
            <a:avLst/>
          </a:prstGeom>
          <a:solidFill>
            <a:srgbClr val="7030A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Oval 70">
            <a:extLst>
              <a:ext uri="{FF2B5EF4-FFF2-40B4-BE49-F238E27FC236}">
                <a16:creationId xmlns:a16="http://schemas.microsoft.com/office/drawing/2014/main" id="{91B80BD8-02AA-26FF-863B-0E4FA43CC37F}"/>
              </a:ext>
            </a:extLst>
          </p:cNvPr>
          <p:cNvSpPr/>
          <p:nvPr/>
        </p:nvSpPr>
        <p:spPr>
          <a:xfrm>
            <a:off x="7297791" y="4776899"/>
            <a:ext cx="245451" cy="245451"/>
          </a:xfrm>
          <a:prstGeom prst="ellipse">
            <a:avLst/>
          </a:prstGeom>
          <a:solidFill>
            <a:srgbClr val="0070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a:extLst>
              <a:ext uri="{FF2B5EF4-FFF2-40B4-BE49-F238E27FC236}">
                <a16:creationId xmlns:a16="http://schemas.microsoft.com/office/drawing/2014/main" id="{7978E7D7-397E-03FB-A7D6-B7964FB286CB}"/>
              </a:ext>
            </a:extLst>
          </p:cNvPr>
          <p:cNvSpPr/>
          <p:nvPr/>
        </p:nvSpPr>
        <p:spPr>
          <a:xfrm>
            <a:off x="7005249" y="3790437"/>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Oval 72">
            <a:extLst>
              <a:ext uri="{FF2B5EF4-FFF2-40B4-BE49-F238E27FC236}">
                <a16:creationId xmlns:a16="http://schemas.microsoft.com/office/drawing/2014/main" id="{EA173A4C-BBEF-5C9C-51D9-5C8EE2EC3535}"/>
              </a:ext>
            </a:extLst>
          </p:cNvPr>
          <p:cNvSpPr/>
          <p:nvPr/>
        </p:nvSpPr>
        <p:spPr>
          <a:xfrm>
            <a:off x="7135594" y="4052053"/>
            <a:ext cx="245451" cy="245451"/>
          </a:xfrm>
          <a:prstGeom prst="ellipse">
            <a:avLst/>
          </a:prstGeom>
          <a:solidFill>
            <a:srgbClr val="00B05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a:extLst>
              <a:ext uri="{FF2B5EF4-FFF2-40B4-BE49-F238E27FC236}">
                <a16:creationId xmlns:a16="http://schemas.microsoft.com/office/drawing/2014/main" id="{3EC2EEA8-CCE1-E13F-D9D7-F3F89C99AF05}"/>
              </a:ext>
            </a:extLst>
          </p:cNvPr>
          <p:cNvSpPr/>
          <p:nvPr/>
        </p:nvSpPr>
        <p:spPr>
          <a:xfrm>
            <a:off x="7297791" y="3816009"/>
            <a:ext cx="245451" cy="245451"/>
          </a:xfrm>
          <a:prstGeom prst="ellipse">
            <a:avLst/>
          </a:prstGeom>
          <a:solidFill>
            <a:srgbClr val="7030A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Oval 75">
            <a:extLst>
              <a:ext uri="{FF2B5EF4-FFF2-40B4-BE49-F238E27FC236}">
                <a16:creationId xmlns:a16="http://schemas.microsoft.com/office/drawing/2014/main" id="{8DD420E8-4136-10D5-DDE3-2F687A0ECF56}"/>
              </a:ext>
            </a:extLst>
          </p:cNvPr>
          <p:cNvSpPr/>
          <p:nvPr/>
        </p:nvSpPr>
        <p:spPr>
          <a:xfrm>
            <a:off x="5385762" y="4141800"/>
            <a:ext cx="1393041" cy="898513"/>
          </a:xfrm>
          <a:prstGeom prst="ellipse">
            <a:avLst/>
          </a:prstGeom>
          <a:noFill/>
          <a:ln w="28575">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7" name="TextBox 76">
            <a:extLst>
              <a:ext uri="{FF2B5EF4-FFF2-40B4-BE49-F238E27FC236}">
                <a16:creationId xmlns:a16="http://schemas.microsoft.com/office/drawing/2014/main" id="{A9C62838-0E6F-C3D7-FBD0-F234B3E2035B}"/>
              </a:ext>
            </a:extLst>
          </p:cNvPr>
          <p:cNvSpPr txBox="1"/>
          <p:nvPr/>
        </p:nvSpPr>
        <p:spPr>
          <a:xfrm>
            <a:off x="5963017" y="3706335"/>
            <a:ext cx="356188" cy="461665"/>
          </a:xfrm>
          <a:prstGeom prst="rect">
            <a:avLst/>
          </a:prstGeom>
          <a:noFill/>
        </p:spPr>
        <p:txBody>
          <a:bodyPr wrap="none" rtlCol="0">
            <a:spAutoFit/>
          </a:bodyPr>
          <a:lstStyle/>
          <a:p>
            <a:r>
              <a:rPr lang="en-US" sz="2400" dirty="0">
                <a:solidFill>
                  <a:srgbClr val="FF0000"/>
                </a:solidFill>
                <a:latin typeface="Arial" panose="020B0604020202020204" pitchFamily="34" charset="0"/>
                <a:cs typeface="Arial" panose="020B0604020202020204" pitchFamily="34" charset="0"/>
              </a:rPr>
              <a:t>?</a:t>
            </a:r>
          </a:p>
        </p:txBody>
      </p:sp>
      <p:sp>
        <p:nvSpPr>
          <p:cNvPr id="78" name="Oval 77">
            <a:extLst>
              <a:ext uri="{FF2B5EF4-FFF2-40B4-BE49-F238E27FC236}">
                <a16:creationId xmlns:a16="http://schemas.microsoft.com/office/drawing/2014/main" id="{3BCE5F75-3DB8-FB02-C0B0-460C46A5A425}"/>
              </a:ext>
            </a:extLst>
          </p:cNvPr>
          <p:cNvSpPr/>
          <p:nvPr/>
        </p:nvSpPr>
        <p:spPr>
          <a:xfrm>
            <a:off x="1308746" y="4724737"/>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Oval 78">
            <a:extLst>
              <a:ext uri="{FF2B5EF4-FFF2-40B4-BE49-F238E27FC236}">
                <a16:creationId xmlns:a16="http://schemas.microsoft.com/office/drawing/2014/main" id="{212659E4-E5BE-C9ED-98D8-9FEC3058BD28}"/>
              </a:ext>
            </a:extLst>
          </p:cNvPr>
          <p:cNvSpPr/>
          <p:nvPr/>
        </p:nvSpPr>
        <p:spPr>
          <a:xfrm>
            <a:off x="2200648" y="5542932"/>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Oval 79">
            <a:extLst>
              <a:ext uri="{FF2B5EF4-FFF2-40B4-BE49-F238E27FC236}">
                <a16:creationId xmlns:a16="http://schemas.microsoft.com/office/drawing/2014/main" id="{3B0056A9-F3A3-7CD9-EED7-2341637FE09E}"/>
              </a:ext>
            </a:extLst>
          </p:cNvPr>
          <p:cNvSpPr/>
          <p:nvPr/>
        </p:nvSpPr>
        <p:spPr>
          <a:xfrm>
            <a:off x="3405171" y="5542932"/>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1" name="Straight Arrow Connector 80">
            <a:extLst>
              <a:ext uri="{FF2B5EF4-FFF2-40B4-BE49-F238E27FC236}">
                <a16:creationId xmlns:a16="http://schemas.microsoft.com/office/drawing/2014/main" id="{558F7F29-AAF6-8BA3-6F8B-EE5A70AECCCD}"/>
              </a:ext>
            </a:extLst>
          </p:cNvPr>
          <p:cNvCxnSpPr>
            <a:stCxn id="79" idx="6"/>
            <a:endCxn id="80" idx="2"/>
          </p:cNvCxnSpPr>
          <p:nvPr/>
        </p:nvCxnSpPr>
        <p:spPr>
          <a:xfrm>
            <a:off x="2871088" y="5878152"/>
            <a:ext cx="534083"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0245B8D0-2E70-CE97-3437-E1ABF84ED598}"/>
              </a:ext>
            </a:extLst>
          </p:cNvPr>
          <p:cNvCxnSpPr>
            <a:cxnSpLocks/>
            <a:stCxn id="78" idx="5"/>
            <a:endCxn id="79" idx="1"/>
          </p:cNvCxnSpPr>
          <p:nvPr/>
        </p:nvCxnSpPr>
        <p:spPr>
          <a:xfrm>
            <a:off x="1881002" y="5296993"/>
            <a:ext cx="417830" cy="34412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3" name="Oval 82">
            <a:extLst>
              <a:ext uri="{FF2B5EF4-FFF2-40B4-BE49-F238E27FC236}">
                <a16:creationId xmlns:a16="http://schemas.microsoft.com/office/drawing/2014/main" id="{48C55BE1-8E8F-A3A8-3AC2-5BC31E5282AA}"/>
              </a:ext>
            </a:extLst>
          </p:cNvPr>
          <p:cNvSpPr/>
          <p:nvPr/>
        </p:nvSpPr>
        <p:spPr>
          <a:xfrm>
            <a:off x="2222849" y="4201142"/>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4" name="Oval 83">
            <a:extLst>
              <a:ext uri="{FF2B5EF4-FFF2-40B4-BE49-F238E27FC236}">
                <a16:creationId xmlns:a16="http://schemas.microsoft.com/office/drawing/2014/main" id="{81447415-8889-7D13-A64B-732FE01325A0}"/>
              </a:ext>
            </a:extLst>
          </p:cNvPr>
          <p:cNvSpPr/>
          <p:nvPr/>
        </p:nvSpPr>
        <p:spPr>
          <a:xfrm>
            <a:off x="3406782" y="4637794"/>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5" name="Straight Arrow Connector 84">
            <a:extLst>
              <a:ext uri="{FF2B5EF4-FFF2-40B4-BE49-F238E27FC236}">
                <a16:creationId xmlns:a16="http://schemas.microsoft.com/office/drawing/2014/main" id="{84F2D2E8-4916-6065-058E-BDC3D92619A3}"/>
              </a:ext>
            </a:extLst>
          </p:cNvPr>
          <p:cNvCxnSpPr>
            <a:stCxn id="83" idx="6"/>
            <a:endCxn id="84" idx="2"/>
          </p:cNvCxnSpPr>
          <p:nvPr/>
        </p:nvCxnSpPr>
        <p:spPr>
          <a:xfrm>
            <a:off x="2893289" y="4536362"/>
            <a:ext cx="513493" cy="43665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6" name="Straight Arrow Connector 85">
            <a:extLst>
              <a:ext uri="{FF2B5EF4-FFF2-40B4-BE49-F238E27FC236}">
                <a16:creationId xmlns:a16="http://schemas.microsoft.com/office/drawing/2014/main" id="{E0620EB8-C575-7BD0-7475-7771FE4DF60C}"/>
              </a:ext>
            </a:extLst>
          </p:cNvPr>
          <p:cNvCxnSpPr>
            <a:cxnSpLocks/>
            <a:stCxn id="78" idx="7"/>
            <a:endCxn id="83" idx="2"/>
          </p:cNvCxnSpPr>
          <p:nvPr/>
        </p:nvCxnSpPr>
        <p:spPr>
          <a:xfrm flipV="1">
            <a:off x="1881002" y="4536362"/>
            <a:ext cx="341847" cy="28655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7" name="Oval 86">
            <a:extLst>
              <a:ext uri="{FF2B5EF4-FFF2-40B4-BE49-F238E27FC236}">
                <a16:creationId xmlns:a16="http://schemas.microsoft.com/office/drawing/2014/main" id="{CD7CC5E4-00DE-984A-B40F-4A68387C4B25}"/>
              </a:ext>
            </a:extLst>
          </p:cNvPr>
          <p:cNvSpPr/>
          <p:nvPr/>
        </p:nvSpPr>
        <p:spPr>
          <a:xfrm>
            <a:off x="3405171" y="3677230"/>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8" name="Straight Arrow Connector 87">
            <a:extLst>
              <a:ext uri="{FF2B5EF4-FFF2-40B4-BE49-F238E27FC236}">
                <a16:creationId xmlns:a16="http://schemas.microsoft.com/office/drawing/2014/main" id="{26848972-7E5C-BFDC-2DD2-49912549BD85}"/>
              </a:ext>
            </a:extLst>
          </p:cNvPr>
          <p:cNvCxnSpPr>
            <a:cxnSpLocks/>
            <a:stCxn id="83" idx="6"/>
            <a:endCxn id="87" idx="2"/>
          </p:cNvCxnSpPr>
          <p:nvPr/>
        </p:nvCxnSpPr>
        <p:spPr>
          <a:xfrm flipV="1">
            <a:off x="2893289" y="4012450"/>
            <a:ext cx="511882" cy="52391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9" name="Rectangle 88">
            <a:extLst>
              <a:ext uri="{FF2B5EF4-FFF2-40B4-BE49-F238E27FC236}">
                <a16:creationId xmlns:a16="http://schemas.microsoft.com/office/drawing/2014/main" id="{C9468104-A562-CD8F-DFEC-C4A2F35A73D3}"/>
              </a:ext>
            </a:extLst>
          </p:cNvPr>
          <p:cNvSpPr/>
          <p:nvPr/>
        </p:nvSpPr>
        <p:spPr>
          <a:xfrm>
            <a:off x="1953262" y="4632248"/>
            <a:ext cx="147755" cy="147755"/>
          </a:xfrm>
          <a:prstGeom prst="rect">
            <a:avLst/>
          </a:prstGeom>
          <a:solidFill>
            <a:srgbClr val="00FFCC"/>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Rectangle 89">
            <a:extLst>
              <a:ext uri="{FF2B5EF4-FFF2-40B4-BE49-F238E27FC236}">
                <a16:creationId xmlns:a16="http://schemas.microsoft.com/office/drawing/2014/main" id="{2BE43A0C-DCAE-E62B-1D6F-B33F428DE184}"/>
              </a:ext>
            </a:extLst>
          </p:cNvPr>
          <p:cNvSpPr/>
          <p:nvPr/>
        </p:nvSpPr>
        <p:spPr>
          <a:xfrm>
            <a:off x="1991253" y="5379936"/>
            <a:ext cx="147755" cy="147755"/>
          </a:xfrm>
          <a:prstGeom prst="rect">
            <a:avLst/>
          </a:prstGeom>
          <a:solidFill>
            <a:srgbClr val="FE962B"/>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Rectangle 90">
            <a:extLst>
              <a:ext uri="{FF2B5EF4-FFF2-40B4-BE49-F238E27FC236}">
                <a16:creationId xmlns:a16="http://schemas.microsoft.com/office/drawing/2014/main" id="{1964F278-1C3A-159D-4F1A-E048CD4D971C}"/>
              </a:ext>
            </a:extLst>
          </p:cNvPr>
          <p:cNvSpPr/>
          <p:nvPr/>
        </p:nvSpPr>
        <p:spPr>
          <a:xfrm>
            <a:off x="3005780" y="5827549"/>
            <a:ext cx="147755" cy="147755"/>
          </a:xfrm>
          <a:prstGeom prst="rect">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Rectangle 91">
            <a:extLst>
              <a:ext uri="{FF2B5EF4-FFF2-40B4-BE49-F238E27FC236}">
                <a16:creationId xmlns:a16="http://schemas.microsoft.com/office/drawing/2014/main" id="{BCAF177C-897D-54B7-C631-7E068BB87FD6}"/>
              </a:ext>
            </a:extLst>
          </p:cNvPr>
          <p:cNvSpPr/>
          <p:nvPr/>
        </p:nvSpPr>
        <p:spPr>
          <a:xfrm>
            <a:off x="3004578" y="4619652"/>
            <a:ext cx="147755" cy="147755"/>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Rectangle 92">
            <a:extLst>
              <a:ext uri="{FF2B5EF4-FFF2-40B4-BE49-F238E27FC236}">
                <a16:creationId xmlns:a16="http://schemas.microsoft.com/office/drawing/2014/main" id="{F4C10884-A68F-66FA-E8FF-654CC785AFD4}"/>
              </a:ext>
            </a:extLst>
          </p:cNvPr>
          <p:cNvSpPr/>
          <p:nvPr/>
        </p:nvSpPr>
        <p:spPr>
          <a:xfrm>
            <a:off x="3136952" y="4147120"/>
            <a:ext cx="147755" cy="147755"/>
          </a:xfrm>
          <a:prstGeom prst="rect">
            <a:avLst/>
          </a:prstGeom>
          <a:solidFill>
            <a:srgbClr val="FFCCCC"/>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Oval 93">
            <a:extLst>
              <a:ext uri="{FF2B5EF4-FFF2-40B4-BE49-F238E27FC236}">
                <a16:creationId xmlns:a16="http://schemas.microsoft.com/office/drawing/2014/main" id="{9DDFF73F-0E7C-7BBB-22F3-D9B204AAF7B1}"/>
              </a:ext>
            </a:extLst>
          </p:cNvPr>
          <p:cNvSpPr/>
          <p:nvPr/>
        </p:nvSpPr>
        <p:spPr>
          <a:xfrm>
            <a:off x="1372703" y="4834020"/>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Oval 94">
            <a:extLst>
              <a:ext uri="{FF2B5EF4-FFF2-40B4-BE49-F238E27FC236}">
                <a16:creationId xmlns:a16="http://schemas.microsoft.com/office/drawing/2014/main" id="{0FE50EF0-2FA9-089B-659A-9C0C18DBDA50}"/>
              </a:ext>
            </a:extLst>
          </p:cNvPr>
          <p:cNvSpPr/>
          <p:nvPr/>
        </p:nvSpPr>
        <p:spPr>
          <a:xfrm>
            <a:off x="1503048" y="5095636"/>
            <a:ext cx="245451" cy="245451"/>
          </a:xfrm>
          <a:prstGeom prst="ellipse">
            <a:avLst/>
          </a:prstGeom>
          <a:solidFill>
            <a:srgbClr val="FF0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Oval 95">
            <a:extLst>
              <a:ext uri="{FF2B5EF4-FFF2-40B4-BE49-F238E27FC236}">
                <a16:creationId xmlns:a16="http://schemas.microsoft.com/office/drawing/2014/main" id="{DCB6B940-62E8-5DEA-2CD7-735F5C4C24E4}"/>
              </a:ext>
            </a:extLst>
          </p:cNvPr>
          <p:cNvSpPr/>
          <p:nvPr/>
        </p:nvSpPr>
        <p:spPr>
          <a:xfrm>
            <a:off x="1665245" y="4859592"/>
            <a:ext cx="245451" cy="245451"/>
          </a:xfrm>
          <a:prstGeom prst="ellipse">
            <a:avLst/>
          </a:prstGeom>
          <a:solidFill>
            <a:srgbClr val="0070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Oval 96">
            <a:extLst>
              <a:ext uri="{FF2B5EF4-FFF2-40B4-BE49-F238E27FC236}">
                <a16:creationId xmlns:a16="http://schemas.microsoft.com/office/drawing/2014/main" id="{8B6B0CCD-4E9E-A279-FBBF-1D1DE248882B}"/>
              </a:ext>
            </a:extLst>
          </p:cNvPr>
          <p:cNvSpPr/>
          <p:nvPr/>
        </p:nvSpPr>
        <p:spPr>
          <a:xfrm>
            <a:off x="2299585" y="4323143"/>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Oval 97">
            <a:extLst>
              <a:ext uri="{FF2B5EF4-FFF2-40B4-BE49-F238E27FC236}">
                <a16:creationId xmlns:a16="http://schemas.microsoft.com/office/drawing/2014/main" id="{E9C8F1AD-0543-35B5-1CB2-6F534D3EB127}"/>
              </a:ext>
            </a:extLst>
          </p:cNvPr>
          <p:cNvSpPr/>
          <p:nvPr/>
        </p:nvSpPr>
        <p:spPr>
          <a:xfrm>
            <a:off x="2429930" y="4584759"/>
            <a:ext cx="245451" cy="245451"/>
          </a:xfrm>
          <a:prstGeom prst="ellipse">
            <a:avLst/>
          </a:prstGeom>
          <a:solidFill>
            <a:srgbClr val="FF0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Oval 98">
            <a:extLst>
              <a:ext uri="{FF2B5EF4-FFF2-40B4-BE49-F238E27FC236}">
                <a16:creationId xmlns:a16="http://schemas.microsoft.com/office/drawing/2014/main" id="{EA745F53-7193-528E-CB4C-CFEDACF68ACD}"/>
              </a:ext>
            </a:extLst>
          </p:cNvPr>
          <p:cNvSpPr/>
          <p:nvPr/>
        </p:nvSpPr>
        <p:spPr>
          <a:xfrm>
            <a:off x="2592127" y="4348715"/>
            <a:ext cx="245451" cy="245451"/>
          </a:xfrm>
          <a:prstGeom prst="ellipse">
            <a:avLst/>
          </a:prstGeom>
          <a:solidFill>
            <a:srgbClr val="00B05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Oval 99">
            <a:extLst>
              <a:ext uri="{FF2B5EF4-FFF2-40B4-BE49-F238E27FC236}">
                <a16:creationId xmlns:a16="http://schemas.microsoft.com/office/drawing/2014/main" id="{2CDFD687-AA14-E5D7-C657-5ACB686A2997}"/>
              </a:ext>
            </a:extLst>
          </p:cNvPr>
          <p:cNvSpPr/>
          <p:nvPr/>
        </p:nvSpPr>
        <p:spPr>
          <a:xfrm>
            <a:off x="2280917" y="5655976"/>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Oval 100">
            <a:extLst>
              <a:ext uri="{FF2B5EF4-FFF2-40B4-BE49-F238E27FC236}">
                <a16:creationId xmlns:a16="http://schemas.microsoft.com/office/drawing/2014/main" id="{C6AD5BB9-08A5-D631-4407-7B47BC025B61}"/>
              </a:ext>
            </a:extLst>
          </p:cNvPr>
          <p:cNvSpPr/>
          <p:nvPr/>
        </p:nvSpPr>
        <p:spPr>
          <a:xfrm>
            <a:off x="2411262" y="5917592"/>
            <a:ext cx="245451" cy="245451"/>
          </a:xfrm>
          <a:prstGeom prst="ellipse">
            <a:avLst/>
          </a:prstGeom>
          <a:solidFill>
            <a:srgbClr val="00B05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Oval 101">
            <a:extLst>
              <a:ext uri="{FF2B5EF4-FFF2-40B4-BE49-F238E27FC236}">
                <a16:creationId xmlns:a16="http://schemas.microsoft.com/office/drawing/2014/main" id="{79374062-7689-BADC-D34E-16EB81E18558}"/>
              </a:ext>
            </a:extLst>
          </p:cNvPr>
          <p:cNvSpPr/>
          <p:nvPr/>
        </p:nvSpPr>
        <p:spPr>
          <a:xfrm>
            <a:off x="2573459" y="5681548"/>
            <a:ext cx="245451" cy="245451"/>
          </a:xfrm>
          <a:prstGeom prst="ellipse">
            <a:avLst/>
          </a:prstGeom>
          <a:solidFill>
            <a:srgbClr val="7030A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Oval 102">
            <a:extLst>
              <a:ext uri="{FF2B5EF4-FFF2-40B4-BE49-F238E27FC236}">
                <a16:creationId xmlns:a16="http://schemas.microsoft.com/office/drawing/2014/main" id="{9760F22C-25A8-2336-2B29-7B0D98F87B76}"/>
              </a:ext>
            </a:extLst>
          </p:cNvPr>
          <p:cNvSpPr/>
          <p:nvPr/>
        </p:nvSpPr>
        <p:spPr>
          <a:xfrm>
            <a:off x="3468719" y="5655976"/>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Oval 103">
            <a:extLst>
              <a:ext uri="{FF2B5EF4-FFF2-40B4-BE49-F238E27FC236}">
                <a16:creationId xmlns:a16="http://schemas.microsoft.com/office/drawing/2014/main" id="{9BB0DDC2-4D46-920C-EC6B-D3DF80504B55}"/>
              </a:ext>
            </a:extLst>
          </p:cNvPr>
          <p:cNvSpPr/>
          <p:nvPr/>
        </p:nvSpPr>
        <p:spPr>
          <a:xfrm>
            <a:off x="3599064" y="5917592"/>
            <a:ext cx="245451" cy="245451"/>
          </a:xfrm>
          <a:prstGeom prst="ellipse">
            <a:avLst/>
          </a:prstGeom>
          <a:solidFill>
            <a:srgbClr val="FF0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Oval 104">
            <a:extLst>
              <a:ext uri="{FF2B5EF4-FFF2-40B4-BE49-F238E27FC236}">
                <a16:creationId xmlns:a16="http://schemas.microsoft.com/office/drawing/2014/main" id="{33415445-AB64-2533-09CC-2A5DB1308B70}"/>
              </a:ext>
            </a:extLst>
          </p:cNvPr>
          <p:cNvSpPr/>
          <p:nvPr/>
        </p:nvSpPr>
        <p:spPr>
          <a:xfrm>
            <a:off x="3761261" y="5681548"/>
            <a:ext cx="245451" cy="245451"/>
          </a:xfrm>
          <a:prstGeom prst="ellipse">
            <a:avLst/>
          </a:prstGeom>
          <a:solidFill>
            <a:srgbClr val="00FFCC"/>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Oval 105">
            <a:extLst>
              <a:ext uri="{FF2B5EF4-FFF2-40B4-BE49-F238E27FC236}">
                <a16:creationId xmlns:a16="http://schemas.microsoft.com/office/drawing/2014/main" id="{10752FEE-0DD9-60E0-8723-DE691152C304}"/>
              </a:ext>
            </a:extLst>
          </p:cNvPr>
          <p:cNvSpPr/>
          <p:nvPr/>
        </p:nvSpPr>
        <p:spPr>
          <a:xfrm>
            <a:off x="3475549" y="4754431"/>
            <a:ext cx="245451" cy="245451"/>
          </a:xfrm>
          <a:prstGeom prst="ellipse">
            <a:avLst/>
          </a:prstGeom>
          <a:solidFill>
            <a:srgbClr val="00B05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Oval 106">
            <a:extLst>
              <a:ext uri="{FF2B5EF4-FFF2-40B4-BE49-F238E27FC236}">
                <a16:creationId xmlns:a16="http://schemas.microsoft.com/office/drawing/2014/main" id="{ABF70A60-7CE6-7B79-55B6-0CC40DC14DF4}"/>
              </a:ext>
            </a:extLst>
          </p:cNvPr>
          <p:cNvSpPr/>
          <p:nvPr/>
        </p:nvSpPr>
        <p:spPr>
          <a:xfrm>
            <a:off x="3605894" y="5016047"/>
            <a:ext cx="245451" cy="245451"/>
          </a:xfrm>
          <a:prstGeom prst="ellipse">
            <a:avLst/>
          </a:prstGeom>
          <a:solidFill>
            <a:srgbClr val="7030A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Oval 107">
            <a:extLst>
              <a:ext uri="{FF2B5EF4-FFF2-40B4-BE49-F238E27FC236}">
                <a16:creationId xmlns:a16="http://schemas.microsoft.com/office/drawing/2014/main" id="{D9BAA66D-11EF-6DF1-3640-77195D603312}"/>
              </a:ext>
            </a:extLst>
          </p:cNvPr>
          <p:cNvSpPr/>
          <p:nvPr/>
        </p:nvSpPr>
        <p:spPr>
          <a:xfrm>
            <a:off x="3768091" y="4780003"/>
            <a:ext cx="245451" cy="245451"/>
          </a:xfrm>
          <a:prstGeom prst="ellipse">
            <a:avLst/>
          </a:prstGeom>
          <a:solidFill>
            <a:srgbClr val="0070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Oval 108">
            <a:extLst>
              <a:ext uri="{FF2B5EF4-FFF2-40B4-BE49-F238E27FC236}">
                <a16:creationId xmlns:a16="http://schemas.microsoft.com/office/drawing/2014/main" id="{60A0F782-DDF5-0156-64EC-85F3BF85E3CB}"/>
              </a:ext>
            </a:extLst>
          </p:cNvPr>
          <p:cNvSpPr/>
          <p:nvPr/>
        </p:nvSpPr>
        <p:spPr>
          <a:xfrm>
            <a:off x="3475549" y="3793541"/>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Oval 109">
            <a:extLst>
              <a:ext uri="{FF2B5EF4-FFF2-40B4-BE49-F238E27FC236}">
                <a16:creationId xmlns:a16="http://schemas.microsoft.com/office/drawing/2014/main" id="{1EA77B1B-B132-D26C-AD7D-5F654049EAFA}"/>
              </a:ext>
            </a:extLst>
          </p:cNvPr>
          <p:cNvSpPr/>
          <p:nvPr/>
        </p:nvSpPr>
        <p:spPr>
          <a:xfrm>
            <a:off x="3605894" y="4055157"/>
            <a:ext cx="245451" cy="245451"/>
          </a:xfrm>
          <a:prstGeom prst="ellipse">
            <a:avLst/>
          </a:prstGeom>
          <a:solidFill>
            <a:srgbClr val="00B05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Oval 110">
            <a:extLst>
              <a:ext uri="{FF2B5EF4-FFF2-40B4-BE49-F238E27FC236}">
                <a16:creationId xmlns:a16="http://schemas.microsoft.com/office/drawing/2014/main" id="{D16745EA-4406-8F22-DEF0-757ED03C2A0E}"/>
              </a:ext>
            </a:extLst>
          </p:cNvPr>
          <p:cNvSpPr/>
          <p:nvPr/>
        </p:nvSpPr>
        <p:spPr>
          <a:xfrm>
            <a:off x="3768091" y="3819113"/>
            <a:ext cx="245451" cy="245451"/>
          </a:xfrm>
          <a:prstGeom prst="ellipse">
            <a:avLst/>
          </a:prstGeom>
          <a:solidFill>
            <a:srgbClr val="7030A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Oval 111">
            <a:extLst>
              <a:ext uri="{FF2B5EF4-FFF2-40B4-BE49-F238E27FC236}">
                <a16:creationId xmlns:a16="http://schemas.microsoft.com/office/drawing/2014/main" id="{FF4DD140-EC75-DB95-688D-B0CEAF136793}"/>
              </a:ext>
            </a:extLst>
          </p:cNvPr>
          <p:cNvSpPr/>
          <p:nvPr/>
        </p:nvSpPr>
        <p:spPr>
          <a:xfrm rot="19784506">
            <a:off x="1079860" y="4314537"/>
            <a:ext cx="2051049" cy="944921"/>
          </a:xfrm>
          <a:prstGeom prst="ellipse">
            <a:avLst/>
          </a:prstGeom>
          <a:noFill/>
          <a:ln w="28575">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3" name="TextBox 112">
            <a:extLst>
              <a:ext uri="{FF2B5EF4-FFF2-40B4-BE49-F238E27FC236}">
                <a16:creationId xmlns:a16="http://schemas.microsoft.com/office/drawing/2014/main" id="{F3413C11-7D9F-29EA-32B1-3482D3943588}"/>
              </a:ext>
            </a:extLst>
          </p:cNvPr>
          <p:cNvSpPr txBox="1"/>
          <p:nvPr/>
        </p:nvSpPr>
        <p:spPr>
          <a:xfrm>
            <a:off x="1694422" y="3860028"/>
            <a:ext cx="356188" cy="461665"/>
          </a:xfrm>
          <a:prstGeom prst="rect">
            <a:avLst/>
          </a:prstGeom>
          <a:noFill/>
        </p:spPr>
        <p:txBody>
          <a:bodyPr wrap="none" rtlCol="0">
            <a:spAutoFit/>
          </a:bodyPr>
          <a:lstStyle/>
          <a:p>
            <a:r>
              <a:rPr lang="en-US" sz="2400" dirty="0">
                <a:solidFill>
                  <a:srgbClr val="FF0000"/>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49912249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A16C78-BE8E-B9EE-FCE5-554A15522FCA}"/>
              </a:ext>
            </a:extLst>
          </p:cNvPr>
          <p:cNvSpPr>
            <a:spLocks noGrp="1"/>
          </p:cNvSpPr>
          <p:nvPr>
            <p:ph type="title"/>
          </p:nvPr>
        </p:nvSpPr>
        <p:spPr/>
        <p:txBody>
          <a:bodyPr/>
          <a:lstStyle/>
          <a:p>
            <a:r>
              <a:rPr lang="en-US" dirty="0"/>
              <a:t>Question: Semantic memory</a:t>
            </a:r>
          </a:p>
        </p:txBody>
      </p:sp>
      <p:sp>
        <p:nvSpPr>
          <p:cNvPr id="3" name="Content Placeholder 2">
            <a:extLst>
              <a:ext uri="{FF2B5EF4-FFF2-40B4-BE49-F238E27FC236}">
                <a16:creationId xmlns:a16="http://schemas.microsoft.com/office/drawing/2014/main" id="{51496C73-457D-5337-FA7B-4CED1AC3C4D5}"/>
              </a:ext>
            </a:extLst>
          </p:cNvPr>
          <p:cNvSpPr>
            <a:spLocks noGrp="1"/>
          </p:cNvSpPr>
          <p:nvPr>
            <p:ph idx="1"/>
          </p:nvPr>
        </p:nvSpPr>
        <p:spPr>
          <a:xfrm>
            <a:off x="838200" y="1825625"/>
            <a:ext cx="10515600" cy="1220499"/>
          </a:xfrm>
        </p:spPr>
        <p:txBody>
          <a:bodyPr/>
          <a:lstStyle/>
          <a:p>
            <a:endParaRPr lang="en-US" dirty="0"/>
          </a:p>
        </p:txBody>
      </p:sp>
    </p:spTree>
    <p:extLst>
      <p:ext uri="{BB962C8B-B14F-4D97-AF65-F5344CB8AC3E}">
        <p14:creationId xmlns:p14="http://schemas.microsoft.com/office/powerpoint/2010/main" val="241739168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155D5E-CF7E-14B5-0302-9705B21572D4}"/>
              </a:ext>
            </a:extLst>
          </p:cNvPr>
          <p:cNvSpPr>
            <a:spLocks noGrp="1"/>
          </p:cNvSpPr>
          <p:nvPr>
            <p:ph type="title"/>
          </p:nvPr>
        </p:nvSpPr>
        <p:spPr>
          <a:xfrm>
            <a:off x="838200" y="0"/>
            <a:ext cx="10515600" cy="1325563"/>
          </a:xfrm>
        </p:spPr>
        <p:txBody>
          <a:bodyPr/>
          <a:lstStyle/>
          <a:p>
            <a:r>
              <a:rPr lang="en-US" dirty="0"/>
              <a:t>Question: Actions</a:t>
            </a:r>
          </a:p>
        </p:txBody>
      </p:sp>
      <p:sp>
        <p:nvSpPr>
          <p:cNvPr id="3" name="Content Placeholder 2">
            <a:extLst>
              <a:ext uri="{FF2B5EF4-FFF2-40B4-BE49-F238E27FC236}">
                <a16:creationId xmlns:a16="http://schemas.microsoft.com/office/drawing/2014/main" id="{91474375-B6ED-9F2E-6540-E7EB50189909}"/>
              </a:ext>
            </a:extLst>
          </p:cNvPr>
          <p:cNvSpPr>
            <a:spLocks noGrp="1"/>
          </p:cNvSpPr>
          <p:nvPr>
            <p:ph idx="1"/>
          </p:nvPr>
        </p:nvSpPr>
        <p:spPr>
          <a:xfrm>
            <a:off x="838200" y="1352791"/>
            <a:ext cx="10515600" cy="3721603"/>
          </a:xfrm>
        </p:spPr>
        <p:txBody>
          <a:bodyPr/>
          <a:lstStyle/>
          <a:p>
            <a:r>
              <a:rPr lang="en-US" dirty="0"/>
              <a:t>How are actions represented?</a:t>
            </a:r>
          </a:p>
          <a:p>
            <a:pPr lvl="1"/>
            <a:r>
              <a:rPr lang="en-US" dirty="0"/>
              <a:t>Semantic memory encoding: Actions are encoded based on the states they change</a:t>
            </a:r>
          </a:p>
          <a:p>
            <a:pPr lvl="1"/>
            <a:r>
              <a:rPr lang="en-US" dirty="0"/>
              <a:t>Episodic memory encoding: Actions encoded as a transition from one scene to another</a:t>
            </a:r>
          </a:p>
          <a:p>
            <a:pPr lvl="1"/>
            <a:r>
              <a:rPr lang="en-US" dirty="0"/>
              <a:t>How do the neural representations of actions interface with the representation of states or scenes</a:t>
            </a:r>
          </a:p>
        </p:txBody>
      </p:sp>
      <p:sp>
        <p:nvSpPr>
          <p:cNvPr id="4" name="Oval 3">
            <a:extLst>
              <a:ext uri="{FF2B5EF4-FFF2-40B4-BE49-F238E27FC236}">
                <a16:creationId xmlns:a16="http://schemas.microsoft.com/office/drawing/2014/main" id="{D70B2241-57A3-6ACD-1DF5-C6C43278DA2E}"/>
              </a:ext>
            </a:extLst>
          </p:cNvPr>
          <p:cNvSpPr/>
          <p:nvPr/>
        </p:nvSpPr>
        <p:spPr>
          <a:xfrm>
            <a:off x="7590818" y="4803257"/>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0596AD98-02AD-9C40-0A25-78DECAB150E6}"/>
              </a:ext>
            </a:extLst>
          </p:cNvPr>
          <p:cNvSpPr/>
          <p:nvPr/>
        </p:nvSpPr>
        <p:spPr>
          <a:xfrm>
            <a:off x="8482720" y="5621452"/>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17488B90-A479-1FC8-3491-D60C0C68163F}"/>
              </a:ext>
            </a:extLst>
          </p:cNvPr>
          <p:cNvSpPr/>
          <p:nvPr/>
        </p:nvSpPr>
        <p:spPr>
          <a:xfrm>
            <a:off x="9944936" y="5621452"/>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552B6352-81B3-771B-4003-FC2D8E84BAF1}"/>
              </a:ext>
            </a:extLst>
          </p:cNvPr>
          <p:cNvCxnSpPr>
            <a:stCxn id="5" idx="6"/>
            <a:endCxn id="6" idx="2"/>
          </p:cNvCxnSpPr>
          <p:nvPr/>
        </p:nvCxnSpPr>
        <p:spPr>
          <a:xfrm>
            <a:off x="9153160" y="5956672"/>
            <a:ext cx="791776"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0EBFDA45-1EE4-24E8-BD28-C0775C8109AA}"/>
              </a:ext>
            </a:extLst>
          </p:cNvPr>
          <p:cNvCxnSpPr>
            <a:cxnSpLocks/>
            <a:stCxn id="4" idx="5"/>
            <a:endCxn id="5" idx="1"/>
          </p:cNvCxnSpPr>
          <p:nvPr/>
        </p:nvCxnSpPr>
        <p:spPr>
          <a:xfrm>
            <a:off x="8163074" y="5375513"/>
            <a:ext cx="417830" cy="34412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1D8895D7-8319-3E80-C874-D34AB5C50E89}"/>
              </a:ext>
            </a:extLst>
          </p:cNvPr>
          <p:cNvSpPr/>
          <p:nvPr/>
        </p:nvSpPr>
        <p:spPr>
          <a:xfrm>
            <a:off x="8504921" y="4279662"/>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F66AD85D-F53F-05DB-6F59-54DFC2DA34EB}"/>
              </a:ext>
            </a:extLst>
          </p:cNvPr>
          <p:cNvSpPr/>
          <p:nvPr/>
        </p:nvSpPr>
        <p:spPr>
          <a:xfrm>
            <a:off x="9946547" y="4716314"/>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a:extLst>
              <a:ext uri="{FF2B5EF4-FFF2-40B4-BE49-F238E27FC236}">
                <a16:creationId xmlns:a16="http://schemas.microsoft.com/office/drawing/2014/main" id="{DEDBE322-EED2-38C0-3BC4-0324237728A4}"/>
              </a:ext>
            </a:extLst>
          </p:cNvPr>
          <p:cNvCxnSpPr>
            <a:stCxn id="9" idx="6"/>
            <a:endCxn id="10" idx="2"/>
          </p:cNvCxnSpPr>
          <p:nvPr/>
        </p:nvCxnSpPr>
        <p:spPr>
          <a:xfrm>
            <a:off x="9175361" y="4614882"/>
            <a:ext cx="771186" cy="43665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49FD50DD-3131-998A-2499-61857D28FCB3}"/>
              </a:ext>
            </a:extLst>
          </p:cNvPr>
          <p:cNvCxnSpPr>
            <a:cxnSpLocks/>
            <a:stCxn id="4" idx="7"/>
            <a:endCxn id="9" idx="2"/>
          </p:cNvCxnSpPr>
          <p:nvPr/>
        </p:nvCxnSpPr>
        <p:spPr>
          <a:xfrm flipV="1">
            <a:off x="8163074" y="4614882"/>
            <a:ext cx="341847" cy="28655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7044739D-B218-085F-4CC8-5EBA436CD34F}"/>
              </a:ext>
            </a:extLst>
          </p:cNvPr>
          <p:cNvSpPr/>
          <p:nvPr/>
        </p:nvSpPr>
        <p:spPr>
          <a:xfrm>
            <a:off x="9944936" y="3755750"/>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a:extLst>
              <a:ext uri="{FF2B5EF4-FFF2-40B4-BE49-F238E27FC236}">
                <a16:creationId xmlns:a16="http://schemas.microsoft.com/office/drawing/2014/main" id="{B67D721F-E161-242E-CFEB-A751C71EDDB1}"/>
              </a:ext>
            </a:extLst>
          </p:cNvPr>
          <p:cNvCxnSpPr>
            <a:cxnSpLocks/>
            <a:stCxn id="9" idx="6"/>
            <a:endCxn id="13" idx="2"/>
          </p:cNvCxnSpPr>
          <p:nvPr/>
        </p:nvCxnSpPr>
        <p:spPr>
          <a:xfrm flipV="1">
            <a:off x="9175361" y="4090970"/>
            <a:ext cx="769575" cy="52391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FF65C176-7FAB-657E-46FE-45544A7FBF70}"/>
              </a:ext>
            </a:extLst>
          </p:cNvPr>
          <p:cNvSpPr/>
          <p:nvPr/>
        </p:nvSpPr>
        <p:spPr>
          <a:xfrm>
            <a:off x="8235334" y="4710768"/>
            <a:ext cx="147755" cy="147755"/>
          </a:xfrm>
          <a:prstGeom prst="rect">
            <a:avLst/>
          </a:prstGeom>
          <a:solidFill>
            <a:srgbClr val="00FFCC"/>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CA8B1121-D66C-E955-11B7-E3F59801A7B9}"/>
              </a:ext>
            </a:extLst>
          </p:cNvPr>
          <p:cNvSpPr/>
          <p:nvPr/>
        </p:nvSpPr>
        <p:spPr>
          <a:xfrm>
            <a:off x="8273325" y="5458456"/>
            <a:ext cx="147755" cy="147755"/>
          </a:xfrm>
          <a:prstGeom prst="rect">
            <a:avLst/>
          </a:prstGeom>
          <a:solidFill>
            <a:srgbClr val="FE962B"/>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D9F1DF8D-79C2-C1B4-04BC-B50375DD05B6}"/>
              </a:ext>
            </a:extLst>
          </p:cNvPr>
          <p:cNvSpPr/>
          <p:nvPr/>
        </p:nvSpPr>
        <p:spPr>
          <a:xfrm>
            <a:off x="9461961" y="5882794"/>
            <a:ext cx="147755" cy="147755"/>
          </a:xfrm>
          <a:prstGeom prst="rect">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40AF8657-F4D5-F566-13DF-FD084EE9A81E}"/>
              </a:ext>
            </a:extLst>
          </p:cNvPr>
          <p:cNvSpPr/>
          <p:nvPr/>
        </p:nvSpPr>
        <p:spPr>
          <a:xfrm>
            <a:off x="9461961" y="4764785"/>
            <a:ext cx="147755" cy="147755"/>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D23BBCAB-D3ED-AB56-A2F4-8D43387CA48C}"/>
              </a:ext>
            </a:extLst>
          </p:cNvPr>
          <p:cNvSpPr/>
          <p:nvPr/>
        </p:nvSpPr>
        <p:spPr>
          <a:xfrm>
            <a:off x="9461961" y="4286204"/>
            <a:ext cx="147755" cy="147755"/>
          </a:xfrm>
          <a:prstGeom prst="rect">
            <a:avLst/>
          </a:prstGeom>
          <a:solidFill>
            <a:srgbClr val="FFCCCC"/>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664CC1F7-534A-DC39-5A22-09A1F0AD33BD}"/>
              </a:ext>
            </a:extLst>
          </p:cNvPr>
          <p:cNvSpPr/>
          <p:nvPr/>
        </p:nvSpPr>
        <p:spPr>
          <a:xfrm>
            <a:off x="7654775" y="4912540"/>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5FD54496-9315-FBAA-FBDB-C46824E710D1}"/>
              </a:ext>
            </a:extLst>
          </p:cNvPr>
          <p:cNvSpPr/>
          <p:nvPr/>
        </p:nvSpPr>
        <p:spPr>
          <a:xfrm>
            <a:off x="7785120" y="5174156"/>
            <a:ext cx="245451" cy="245451"/>
          </a:xfrm>
          <a:prstGeom prst="ellipse">
            <a:avLst/>
          </a:prstGeom>
          <a:solidFill>
            <a:srgbClr val="FF0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C1583101-8F88-F0D5-C8B1-D608888D2C90}"/>
              </a:ext>
            </a:extLst>
          </p:cNvPr>
          <p:cNvSpPr/>
          <p:nvPr/>
        </p:nvSpPr>
        <p:spPr>
          <a:xfrm>
            <a:off x="7947317" y="4938112"/>
            <a:ext cx="245451" cy="245451"/>
          </a:xfrm>
          <a:prstGeom prst="ellipse">
            <a:avLst/>
          </a:prstGeom>
          <a:solidFill>
            <a:srgbClr val="0070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FC6D25DA-8991-A4A3-2ECD-9915835E6B9F}"/>
              </a:ext>
            </a:extLst>
          </p:cNvPr>
          <p:cNvSpPr/>
          <p:nvPr/>
        </p:nvSpPr>
        <p:spPr>
          <a:xfrm>
            <a:off x="8581657" y="4401663"/>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7A9A6C4B-15D8-1568-4706-472DC31FA751}"/>
              </a:ext>
            </a:extLst>
          </p:cNvPr>
          <p:cNvSpPr/>
          <p:nvPr/>
        </p:nvSpPr>
        <p:spPr>
          <a:xfrm>
            <a:off x="8712002" y="4663279"/>
            <a:ext cx="245451" cy="245451"/>
          </a:xfrm>
          <a:prstGeom prst="ellipse">
            <a:avLst/>
          </a:prstGeom>
          <a:solidFill>
            <a:srgbClr val="FF0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900C38A8-4AE3-E95F-EB83-BB166461085F}"/>
              </a:ext>
            </a:extLst>
          </p:cNvPr>
          <p:cNvSpPr/>
          <p:nvPr/>
        </p:nvSpPr>
        <p:spPr>
          <a:xfrm>
            <a:off x="8874199" y="4427235"/>
            <a:ext cx="245451" cy="245451"/>
          </a:xfrm>
          <a:prstGeom prst="ellipse">
            <a:avLst/>
          </a:prstGeom>
          <a:solidFill>
            <a:srgbClr val="00B05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05288B57-7E44-B031-6714-3F3DC6197AF9}"/>
              </a:ext>
            </a:extLst>
          </p:cNvPr>
          <p:cNvSpPr/>
          <p:nvPr/>
        </p:nvSpPr>
        <p:spPr>
          <a:xfrm>
            <a:off x="8562989" y="5734496"/>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2E0B3E38-87C4-E6CC-8CCF-2944AB1F2DF4}"/>
              </a:ext>
            </a:extLst>
          </p:cNvPr>
          <p:cNvSpPr/>
          <p:nvPr/>
        </p:nvSpPr>
        <p:spPr>
          <a:xfrm>
            <a:off x="8693334" y="5996112"/>
            <a:ext cx="245451" cy="245451"/>
          </a:xfrm>
          <a:prstGeom prst="ellipse">
            <a:avLst/>
          </a:prstGeom>
          <a:solidFill>
            <a:srgbClr val="00B05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62CFF8F0-408B-F095-B312-96473131A416}"/>
              </a:ext>
            </a:extLst>
          </p:cNvPr>
          <p:cNvSpPr/>
          <p:nvPr/>
        </p:nvSpPr>
        <p:spPr>
          <a:xfrm>
            <a:off x="8855531" y="5760068"/>
            <a:ext cx="245451" cy="245451"/>
          </a:xfrm>
          <a:prstGeom prst="ellipse">
            <a:avLst/>
          </a:prstGeom>
          <a:solidFill>
            <a:srgbClr val="7030A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6F06D374-04E7-7B89-877F-08EC790BD678}"/>
              </a:ext>
            </a:extLst>
          </p:cNvPr>
          <p:cNvSpPr/>
          <p:nvPr/>
        </p:nvSpPr>
        <p:spPr>
          <a:xfrm>
            <a:off x="10008484" y="5734496"/>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2E72715B-A6C2-A5FB-9800-6D78172AFAC1}"/>
              </a:ext>
            </a:extLst>
          </p:cNvPr>
          <p:cNvSpPr/>
          <p:nvPr/>
        </p:nvSpPr>
        <p:spPr>
          <a:xfrm>
            <a:off x="10138829" y="5996112"/>
            <a:ext cx="245451" cy="245451"/>
          </a:xfrm>
          <a:prstGeom prst="ellipse">
            <a:avLst/>
          </a:prstGeom>
          <a:solidFill>
            <a:srgbClr val="FF0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05850D18-3057-0F25-3081-93A62F353454}"/>
              </a:ext>
            </a:extLst>
          </p:cNvPr>
          <p:cNvSpPr/>
          <p:nvPr/>
        </p:nvSpPr>
        <p:spPr>
          <a:xfrm>
            <a:off x="10301026" y="5760068"/>
            <a:ext cx="245451" cy="245451"/>
          </a:xfrm>
          <a:prstGeom prst="ellipse">
            <a:avLst/>
          </a:prstGeom>
          <a:solidFill>
            <a:srgbClr val="00FFCC"/>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DB0A985B-6F69-E5CB-B7DF-0D8CA742B346}"/>
              </a:ext>
            </a:extLst>
          </p:cNvPr>
          <p:cNvSpPr/>
          <p:nvPr/>
        </p:nvSpPr>
        <p:spPr>
          <a:xfrm>
            <a:off x="10015314" y="4832951"/>
            <a:ext cx="245451" cy="245451"/>
          </a:xfrm>
          <a:prstGeom prst="ellipse">
            <a:avLst/>
          </a:prstGeom>
          <a:solidFill>
            <a:srgbClr val="00B05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215B7EA6-C780-F4AE-0E2E-B5B6D7A5E817}"/>
              </a:ext>
            </a:extLst>
          </p:cNvPr>
          <p:cNvSpPr/>
          <p:nvPr/>
        </p:nvSpPr>
        <p:spPr>
          <a:xfrm>
            <a:off x="10145659" y="5094567"/>
            <a:ext cx="245451" cy="245451"/>
          </a:xfrm>
          <a:prstGeom prst="ellipse">
            <a:avLst/>
          </a:prstGeom>
          <a:solidFill>
            <a:srgbClr val="7030A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D3521308-ECF4-5075-ED3E-4546F3CB2D1B}"/>
              </a:ext>
            </a:extLst>
          </p:cNvPr>
          <p:cNvSpPr/>
          <p:nvPr/>
        </p:nvSpPr>
        <p:spPr>
          <a:xfrm>
            <a:off x="10307856" y="4858523"/>
            <a:ext cx="245451" cy="245451"/>
          </a:xfrm>
          <a:prstGeom prst="ellipse">
            <a:avLst/>
          </a:prstGeom>
          <a:solidFill>
            <a:srgbClr val="0070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339942BF-5CA5-B03A-9756-413450E210C7}"/>
              </a:ext>
            </a:extLst>
          </p:cNvPr>
          <p:cNvSpPr/>
          <p:nvPr/>
        </p:nvSpPr>
        <p:spPr>
          <a:xfrm>
            <a:off x="10015314" y="3872061"/>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10DF03D7-B1AE-E538-7CC4-41882AB19FAB}"/>
              </a:ext>
            </a:extLst>
          </p:cNvPr>
          <p:cNvSpPr/>
          <p:nvPr/>
        </p:nvSpPr>
        <p:spPr>
          <a:xfrm>
            <a:off x="10145659" y="4133677"/>
            <a:ext cx="245451" cy="245451"/>
          </a:xfrm>
          <a:prstGeom prst="ellipse">
            <a:avLst/>
          </a:prstGeom>
          <a:solidFill>
            <a:srgbClr val="00B05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8AA08571-EA76-4DF0-5C00-797644A4C8B8}"/>
              </a:ext>
            </a:extLst>
          </p:cNvPr>
          <p:cNvSpPr/>
          <p:nvPr/>
        </p:nvSpPr>
        <p:spPr>
          <a:xfrm>
            <a:off x="10307856" y="3897633"/>
            <a:ext cx="245451" cy="245451"/>
          </a:xfrm>
          <a:prstGeom prst="ellipse">
            <a:avLst/>
          </a:prstGeom>
          <a:solidFill>
            <a:srgbClr val="7030A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1DC03CB7-544A-1D42-D29F-100FE5B10D4D}"/>
              </a:ext>
            </a:extLst>
          </p:cNvPr>
          <p:cNvSpPr/>
          <p:nvPr/>
        </p:nvSpPr>
        <p:spPr>
          <a:xfrm>
            <a:off x="8169866" y="4634234"/>
            <a:ext cx="281017" cy="281017"/>
          </a:xfrm>
          <a:prstGeom prst="ellipse">
            <a:avLst/>
          </a:prstGeom>
          <a:noFill/>
          <a:ln w="2540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Arrow: Right 51">
            <a:extLst>
              <a:ext uri="{FF2B5EF4-FFF2-40B4-BE49-F238E27FC236}">
                <a16:creationId xmlns:a16="http://schemas.microsoft.com/office/drawing/2014/main" id="{7F35FDD6-914A-3F2B-70A1-E4950BF79CEC}"/>
              </a:ext>
            </a:extLst>
          </p:cNvPr>
          <p:cNvSpPr/>
          <p:nvPr/>
        </p:nvSpPr>
        <p:spPr>
          <a:xfrm rot="3178524">
            <a:off x="8122738" y="4512287"/>
            <a:ext cx="117430" cy="105044"/>
          </a:xfrm>
          <a:prstGeom prst="rightArrow">
            <a:avLst/>
          </a:prstGeom>
          <a:solidFill>
            <a:schemeClr val="bg1"/>
          </a:solid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C09D4AC4-9886-8CD6-6158-E97663976E95}"/>
              </a:ext>
            </a:extLst>
          </p:cNvPr>
          <p:cNvSpPr/>
          <p:nvPr/>
        </p:nvSpPr>
        <p:spPr>
          <a:xfrm rot="3664409">
            <a:off x="7877903" y="3918528"/>
            <a:ext cx="1010370" cy="1925438"/>
          </a:xfrm>
          <a:prstGeom prst="ellipse">
            <a:avLst/>
          </a:prstGeom>
          <a:noFill/>
          <a:ln w="2540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Arrow: Right 53">
            <a:extLst>
              <a:ext uri="{FF2B5EF4-FFF2-40B4-BE49-F238E27FC236}">
                <a16:creationId xmlns:a16="http://schemas.microsoft.com/office/drawing/2014/main" id="{8D148E81-6096-1C50-9CE0-252CD89FF2CA}"/>
              </a:ext>
            </a:extLst>
          </p:cNvPr>
          <p:cNvSpPr/>
          <p:nvPr/>
        </p:nvSpPr>
        <p:spPr>
          <a:xfrm rot="3178524">
            <a:off x="7864271" y="4211457"/>
            <a:ext cx="275398" cy="186714"/>
          </a:xfrm>
          <a:prstGeom prst="rightArrow">
            <a:avLst/>
          </a:prstGeom>
          <a:solidFill>
            <a:schemeClr val="bg1"/>
          </a:solid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7937387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155D5E-CF7E-14B5-0302-9705B21572D4}"/>
              </a:ext>
            </a:extLst>
          </p:cNvPr>
          <p:cNvSpPr>
            <a:spLocks noGrp="1"/>
          </p:cNvSpPr>
          <p:nvPr>
            <p:ph type="title"/>
          </p:nvPr>
        </p:nvSpPr>
        <p:spPr>
          <a:xfrm>
            <a:off x="838200" y="0"/>
            <a:ext cx="10515600" cy="1325563"/>
          </a:xfrm>
        </p:spPr>
        <p:txBody>
          <a:bodyPr/>
          <a:lstStyle/>
          <a:p>
            <a:r>
              <a:rPr lang="en-US" dirty="0"/>
              <a:t>Question: Affordances</a:t>
            </a:r>
          </a:p>
        </p:txBody>
      </p:sp>
      <p:sp>
        <p:nvSpPr>
          <p:cNvPr id="3" name="Content Placeholder 2">
            <a:extLst>
              <a:ext uri="{FF2B5EF4-FFF2-40B4-BE49-F238E27FC236}">
                <a16:creationId xmlns:a16="http://schemas.microsoft.com/office/drawing/2014/main" id="{91474375-B6ED-9F2E-6540-E7EB50189909}"/>
              </a:ext>
            </a:extLst>
          </p:cNvPr>
          <p:cNvSpPr>
            <a:spLocks noGrp="1"/>
          </p:cNvSpPr>
          <p:nvPr>
            <p:ph idx="1"/>
          </p:nvPr>
        </p:nvSpPr>
        <p:spPr>
          <a:xfrm>
            <a:off x="838200" y="1352792"/>
            <a:ext cx="10515600" cy="3058278"/>
          </a:xfrm>
        </p:spPr>
        <p:txBody>
          <a:bodyPr/>
          <a:lstStyle/>
          <a:p>
            <a:r>
              <a:rPr lang="en-US" dirty="0"/>
              <a:t>How do affordances operate?</a:t>
            </a:r>
          </a:p>
          <a:p>
            <a:pPr lvl="1"/>
            <a:r>
              <a:rPr lang="en-US" dirty="0"/>
              <a:t>Test whether activation of a given item representation leads to activation of its associated action representations</a:t>
            </a:r>
          </a:p>
        </p:txBody>
      </p:sp>
      <p:sp>
        <p:nvSpPr>
          <p:cNvPr id="4" name="Oval 3">
            <a:extLst>
              <a:ext uri="{FF2B5EF4-FFF2-40B4-BE49-F238E27FC236}">
                <a16:creationId xmlns:a16="http://schemas.microsoft.com/office/drawing/2014/main" id="{D70B2241-57A3-6ACD-1DF5-C6C43278DA2E}"/>
              </a:ext>
            </a:extLst>
          </p:cNvPr>
          <p:cNvSpPr/>
          <p:nvPr/>
        </p:nvSpPr>
        <p:spPr>
          <a:xfrm>
            <a:off x="7590818" y="4803257"/>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0596AD98-02AD-9C40-0A25-78DECAB150E6}"/>
              </a:ext>
            </a:extLst>
          </p:cNvPr>
          <p:cNvSpPr/>
          <p:nvPr/>
        </p:nvSpPr>
        <p:spPr>
          <a:xfrm>
            <a:off x="8482720" y="5621452"/>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17488B90-A479-1FC8-3491-D60C0C68163F}"/>
              </a:ext>
            </a:extLst>
          </p:cNvPr>
          <p:cNvSpPr/>
          <p:nvPr/>
        </p:nvSpPr>
        <p:spPr>
          <a:xfrm>
            <a:off x="9944936" y="5621452"/>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552B6352-81B3-771B-4003-FC2D8E84BAF1}"/>
              </a:ext>
            </a:extLst>
          </p:cNvPr>
          <p:cNvCxnSpPr>
            <a:stCxn id="5" idx="6"/>
            <a:endCxn id="6" idx="2"/>
          </p:cNvCxnSpPr>
          <p:nvPr/>
        </p:nvCxnSpPr>
        <p:spPr>
          <a:xfrm>
            <a:off x="9153160" y="5956672"/>
            <a:ext cx="791776"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0EBFDA45-1EE4-24E8-BD28-C0775C8109AA}"/>
              </a:ext>
            </a:extLst>
          </p:cNvPr>
          <p:cNvCxnSpPr>
            <a:cxnSpLocks/>
            <a:stCxn id="4" idx="5"/>
            <a:endCxn id="5" idx="1"/>
          </p:cNvCxnSpPr>
          <p:nvPr/>
        </p:nvCxnSpPr>
        <p:spPr>
          <a:xfrm>
            <a:off x="8163074" y="5375513"/>
            <a:ext cx="417830" cy="34412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1D8895D7-8319-3E80-C874-D34AB5C50E89}"/>
              </a:ext>
            </a:extLst>
          </p:cNvPr>
          <p:cNvSpPr/>
          <p:nvPr/>
        </p:nvSpPr>
        <p:spPr>
          <a:xfrm>
            <a:off x="8504921" y="4279662"/>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F66AD85D-F53F-05DB-6F59-54DFC2DA34EB}"/>
              </a:ext>
            </a:extLst>
          </p:cNvPr>
          <p:cNvSpPr/>
          <p:nvPr/>
        </p:nvSpPr>
        <p:spPr>
          <a:xfrm>
            <a:off x="9946547" y="4716314"/>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a:extLst>
              <a:ext uri="{FF2B5EF4-FFF2-40B4-BE49-F238E27FC236}">
                <a16:creationId xmlns:a16="http://schemas.microsoft.com/office/drawing/2014/main" id="{DEDBE322-EED2-38C0-3BC4-0324237728A4}"/>
              </a:ext>
            </a:extLst>
          </p:cNvPr>
          <p:cNvCxnSpPr>
            <a:stCxn id="9" idx="6"/>
            <a:endCxn id="10" idx="2"/>
          </p:cNvCxnSpPr>
          <p:nvPr/>
        </p:nvCxnSpPr>
        <p:spPr>
          <a:xfrm>
            <a:off x="9175361" y="4614882"/>
            <a:ext cx="771186" cy="43665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49FD50DD-3131-998A-2499-61857D28FCB3}"/>
              </a:ext>
            </a:extLst>
          </p:cNvPr>
          <p:cNvCxnSpPr>
            <a:cxnSpLocks/>
            <a:stCxn id="4" idx="7"/>
            <a:endCxn id="9" idx="2"/>
          </p:cNvCxnSpPr>
          <p:nvPr/>
        </p:nvCxnSpPr>
        <p:spPr>
          <a:xfrm flipV="1">
            <a:off x="8163074" y="4614882"/>
            <a:ext cx="341847" cy="28655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7044739D-B218-085F-4CC8-5EBA436CD34F}"/>
              </a:ext>
            </a:extLst>
          </p:cNvPr>
          <p:cNvSpPr/>
          <p:nvPr/>
        </p:nvSpPr>
        <p:spPr>
          <a:xfrm>
            <a:off x="9944936" y="3755750"/>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a:extLst>
              <a:ext uri="{FF2B5EF4-FFF2-40B4-BE49-F238E27FC236}">
                <a16:creationId xmlns:a16="http://schemas.microsoft.com/office/drawing/2014/main" id="{B67D721F-E161-242E-CFEB-A751C71EDDB1}"/>
              </a:ext>
            </a:extLst>
          </p:cNvPr>
          <p:cNvCxnSpPr>
            <a:cxnSpLocks/>
            <a:stCxn id="9" idx="6"/>
            <a:endCxn id="13" idx="2"/>
          </p:cNvCxnSpPr>
          <p:nvPr/>
        </p:nvCxnSpPr>
        <p:spPr>
          <a:xfrm flipV="1">
            <a:off x="9175361" y="4090970"/>
            <a:ext cx="769575" cy="52391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FF65C176-7FAB-657E-46FE-45544A7FBF70}"/>
              </a:ext>
            </a:extLst>
          </p:cNvPr>
          <p:cNvSpPr/>
          <p:nvPr/>
        </p:nvSpPr>
        <p:spPr>
          <a:xfrm>
            <a:off x="8235334" y="4710768"/>
            <a:ext cx="147755" cy="147755"/>
          </a:xfrm>
          <a:prstGeom prst="rect">
            <a:avLst/>
          </a:prstGeom>
          <a:solidFill>
            <a:srgbClr val="00FFCC"/>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CA8B1121-D66C-E955-11B7-E3F59801A7B9}"/>
              </a:ext>
            </a:extLst>
          </p:cNvPr>
          <p:cNvSpPr/>
          <p:nvPr/>
        </p:nvSpPr>
        <p:spPr>
          <a:xfrm>
            <a:off x="8273325" y="5458456"/>
            <a:ext cx="147755" cy="147755"/>
          </a:xfrm>
          <a:prstGeom prst="rect">
            <a:avLst/>
          </a:prstGeom>
          <a:solidFill>
            <a:srgbClr val="FE962B"/>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D9F1DF8D-79C2-C1B4-04BC-B50375DD05B6}"/>
              </a:ext>
            </a:extLst>
          </p:cNvPr>
          <p:cNvSpPr/>
          <p:nvPr/>
        </p:nvSpPr>
        <p:spPr>
          <a:xfrm>
            <a:off x="9461961" y="5882794"/>
            <a:ext cx="147755" cy="147755"/>
          </a:xfrm>
          <a:prstGeom prst="rect">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40AF8657-F4D5-F566-13DF-FD084EE9A81E}"/>
              </a:ext>
            </a:extLst>
          </p:cNvPr>
          <p:cNvSpPr/>
          <p:nvPr/>
        </p:nvSpPr>
        <p:spPr>
          <a:xfrm>
            <a:off x="9461961" y="4764785"/>
            <a:ext cx="147755" cy="147755"/>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D23BBCAB-D3ED-AB56-A2F4-8D43387CA48C}"/>
              </a:ext>
            </a:extLst>
          </p:cNvPr>
          <p:cNvSpPr/>
          <p:nvPr/>
        </p:nvSpPr>
        <p:spPr>
          <a:xfrm>
            <a:off x="9461961" y="4286204"/>
            <a:ext cx="147755" cy="147755"/>
          </a:xfrm>
          <a:prstGeom prst="rect">
            <a:avLst/>
          </a:prstGeom>
          <a:solidFill>
            <a:srgbClr val="FFCCCC"/>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664CC1F7-534A-DC39-5A22-09A1F0AD33BD}"/>
              </a:ext>
            </a:extLst>
          </p:cNvPr>
          <p:cNvSpPr/>
          <p:nvPr/>
        </p:nvSpPr>
        <p:spPr>
          <a:xfrm>
            <a:off x="7654775" y="4912540"/>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5FD54496-9315-FBAA-FBDB-C46824E710D1}"/>
              </a:ext>
            </a:extLst>
          </p:cNvPr>
          <p:cNvSpPr/>
          <p:nvPr/>
        </p:nvSpPr>
        <p:spPr>
          <a:xfrm>
            <a:off x="7785120" y="5174156"/>
            <a:ext cx="245451" cy="245451"/>
          </a:xfrm>
          <a:prstGeom prst="ellipse">
            <a:avLst/>
          </a:prstGeom>
          <a:solidFill>
            <a:srgbClr val="FF0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C1583101-8F88-F0D5-C8B1-D608888D2C90}"/>
              </a:ext>
            </a:extLst>
          </p:cNvPr>
          <p:cNvSpPr/>
          <p:nvPr/>
        </p:nvSpPr>
        <p:spPr>
          <a:xfrm>
            <a:off x="7947317" y="4938112"/>
            <a:ext cx="245451" cy="245451"/>
          </a:xfrm>
          <a:prstGeom prst="ellipse">
            <a:avLst/>
          </a:prstGeom>
          <a:solidFill>
            <a:srgbClr val="0070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FC6D25DA-8991-A4A3-2ECD-9915835E6B9F}"/>
              </a:ext>
            </a:extLst>
          </p:cNvPr>
          <p:cNvSpPr/>
          <p:nvPr/>
        </p:nvSpPr>
        <p:spPr>
          <a:xfrm>
            <a:off x="8581657" y="4401663"/>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7A9A6C4B-15D8-1568-4706-472DC31FA751}"/>
              </a:ext>
            </a:extLst>
          </p:cNvPr>
          <p:cNvSpPr/>
          <p:nvPr/>
        </p:nvSpPr>
        <p:spPr>
          <a:xfrm>
            <a:off x="8712002" y="4663279"/>
            <a:ext cx="245451" cy="245451"/>
          </a:xfrm>
          <a:prstGeom prst="ellipse">
            <a:avLst/>
          </a:prstGeom>
          <a:solidFill>
            <a:srgbClr val="FF0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900C38A8-4AE3-E95F-EB83-BB166461085F}"/>
              </a:ext>
            </a:extLst>
          </p:cNvPr>
          <p:cNvSpPr/>
          <p:nvPr/>
        </p:nvSpPr>
        <p:spPr>
          <a:xfrm>
            <a:off x="8874199" y="4427235"/>
            <a:ext cx="245451" cy="245451"/>
          </a:xfrm>
          <a:prstGeom prst="ellipse">
            <a:avLst/>
          </a:prstGeom>
          <a:solidFill>
            <a:srgbClr val="00B05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05288B57-7E44-B031-6714-3F3DC6197AF9}"/>
              </a:ext>
            </a:extLst>
          </p:cNvPr>
          <p:cNvSpPr/>
          <p:nvPr/>
        </p:nvSpPr>
        <p:spPr>
          <a:xfrm>
            <a:off x="8562989" y="5734496"/>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2E0B3E38-87C4-E6CC-8CCF-2944AB1F2DF4}"/>
              </a:ext>
            </a:extLst>
          </p:cNvPr>
          <p:cNvSpPr/>
          <p:nvPr/>
        </p:nvSpPr>
        <p:spPr>
          <a:xfrm>
            <a:off x="8693334" y="5996112"/>
            <a:ext cx="245451" cy="245451"/>
          </a:xfrm>
          <a:prstGeom prst="ellipse">
            <a:avLst/>
          </a:prstGeom>
          <a:solidFill>
            <a:srgbClr val="00B05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62CFF8F0-408B-F095-B312-96473131A416}"/>
              </a:ext>
            </a:extLst>
          </p:cNvPr>
          <p:cNvSpPr/>
          <p:nvPr/>
        </p:nvSpPr>
        <p:spPr>
          <a:xfrm>
            <a:off x="8855531" y="5760068"/>
            <a:ext cx="245451" cy="245451"/>
          </a:xfrm>
          <a:prstGeom prst="ellipse">
            <a:avLst/>
          </a:prstGeom>
          <a:solidFill>
            <a:srgbClr val="7030A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6F06D374-04E7-7B89-877F-08EC790BD678}"/>
              </a:ext>
            </a:extLst>
          </p:cNvPr>
          <p:cNvSpPr/>
          <p:nvPr/>
        </p:nvSpPr>
        <p:spPr>
          <a:xfrm>
            <a:off x="10008484" y="5734496"/>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2E72715B-A6C2-A5FB-9800-6D78172AFAC1}"/>
              </a:ext>
            </a:extLst>
          </p:cNvPr>
          <p:cNvSpPr/>
          <p:nvPr/>
        </p:nvSpPr>
        <p:spPr>
          <a:xfrm>
            <a:off x="10138829" y="5996112"/>
            <a:ext cx="245451" cy="245451"/>
          </a:xfrm>
          <a:prstGeom prst="ellipse">
            <a:avLst/>
          </a:prstGeom>
          <a:solidFill>
            <a:srgbClr val="FF0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05850D18-3057-0F25-3081-93A62F353454}"/>
              </a:ext>
            </a:extLst>
          </p:cNvPr>
          <p:cNvSpPr/>
          <p:nvPr/>
        </p:nvSpPr>
        <p:spPr>
          <a:xfrm>
            <a:off x="10301026" y="5760068"/>
            <a:ext cx="245451" cy="245451"/>
          </a:xfrm>
          <a:prstGeom prst="ellipse">
            <a:avLst/>
          </a:prstGeom>
          <a:solidFill>
            <a:srgbClr val="00FFCC"/>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DB0A985B-6F69-E5CB-B7DF-0D8CA742B346}"/>
              </a:ext>
            </a:extLst>
          </p:cNvPr>
          <p:cNvSpPr/>
          <p:nvPr/>
        </p:nvSpPr>
        <p:spPr>
          <a:xfrm>
            <a:off x="10015314" y="4832951"/>
            <a:ext cx="245451" cy="245451"/>
          </a:xfrm>
          <a:prstGeom prst="ellipse">
            <a:avLst/>
          </a:prstGeom>
          <a:solidFill>
            <a:srgbClr val="00B05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215B7EA6-C780-F4AE-0E2E-B5B6D7A5E817}"/>
              </a:ext>
            </a:extLst>
          </p:cNvPr>
          <p:cNvSpPr/>
          <p:nvPr/>
        </p:nvSpPr>
        <p:spPr>
          <a:xfrm>
            <a:off x="10145659" y="5094567"/>
            <a:ext cx="245451" cy="245451"/>
          </a:xfrm>
          <a:prstGeom prst="ellipse">
            <a:avLst/>
          </a:prstGeom>
          <a:solidFill>
            <a:srgbClr val="7030A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D3521308-ECF4-5075-ED3E-4546F3CB2D1B}"/>
              </a:ext>
            </a:extLst>
          </p:cNvPr>
          <p:cNvSpPr/>
          <p:nvPr/>
        </p:nvSpPr>
        <p:spPr>
          <a:xfrm>
            <a:off x="10307856" y="4858523"/>
            <a:ext cx="245451" cy="245451"/>
          </a:xfrm>
          <a:prstGeom prst="ellipse">
            <a:avLst/>
          </a:prstGeom>
          <a:solidFill>
            <a:srgbClr val="0070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339942BF-5CA5-B03A-9756-413450E210C7}"/>
              </a:ext>
            </a:extLst>
          </p:cNvPr>
          <p:cNvSpPr/>
          <p:nvPr/>
        </p:nvSpPr>
        <p:spPr>
          <a:xfrm>
            <a:off x="10015314" y="3872061"/>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10DF03D7-B1AE-E538-7CC4-41882AB19FAB}"/>
              </a:ext>
            </a:extLst>
          </p:cNvPr>
          <p:cNvSpPr/>
          <p:nvPr/>
        </p:nvSpPr>
        <p:spPr>
          <a:xfrm>
            <a:off x="10145659" y="4133677"/>
            <a:ext cx="245451" cy="245451"/>
          </a:xfrm>
          <a:prstGeom prst="ellipse">
            <a:avLst/>
          </a:prstGeom>
          <a:solidFill>
            <a:srgbClr val="00B05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8AA08571-EA76-4DF0-5C00-797644A4C8B8}"/>
              </a:ext>
            </a:extLst>
          </p:cNvPr>
          <p:cNvSpPr/>
          <p:nvPr/>
        </p:nvSpPr>
        <p:spPr>
          <a:xfrm>
            <a:off x="10307856" y="3897633"/>
            <a:ext cx="245451" cy="245451"/>
          </a:xfrm>
          <a:prstGeom prst="ellipse">
            <a:avLst/>
          </a:prstGeom>
          <a:solidFill>
            <a:srgbClr val="7030A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Arrow: Right 51">
            <a:extLst>
              <a:ext uri="{FF2B5EF4-FFF2-40B4-BE49-F238E27FC236}">
                <a16:creationId xmlns:a16="http://schemas.microsoft.com/office/drawing/2014/main" id="{7F35FDD6-914A-3F2B-70A1-E4950BF79CEC}"/>
              </a:ext>
            </a:extLst>
          </p:cNvPr>
          <p:cNvSpPr/>
          <p:nvPr/>
        </p:nvSpPr>
        <p:spPr>
          <a:xfrm rot="4309810">
            <a:off x="7834050" y="4288671"/>
            <a:ext cx="341847" cy="186714"/>
          </a:xfrm>
          <a:prstGeom prst="rightArrow">
            <a:avLst/>
          </a:prstGeom>
          <a:solidFill>
            <a:schemeClr val="bg1"/>
          </a:solid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Connector 15">
            <a:extLst>
              <a:ext uri="{FF2B5EF4-FFF2-40B4-BE49-F238E27FC236}">
                <a16:creationId xmlns:a16="http://schemas.microsoft.com/office/drawing/2014/main" id="{E88E6298-8CBF-B11C-3AAA-6500C05B4EF3}"/>
              </a:ext>
            </a:extLst>
          </p:cNvPr>
          <p:cNvCxnSpPr>
            <a:cxnSpLocks/>
            <a:endCxn id="27" idx="1"/>
          </p:cNvCxnSpPr>
          <p:nvPr/>
        </p:nvCxnSpPr>
        <p:spPr>
          <a:xfrm flipV="1">
            <a:off x="7774613" y="4784646"/>
            <a:ext cx="460721" cy="250619"/>
          </a:xfrm>
          <a:prstGeom prst="line">
            <a:avLst/>
          </a:prstGeom>
          <a:ln w="28575">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AB341E3B-E9BC-B4E0-CB7E-2B8462562F05}"/>
              </a:ext>
            </a:extLst>
          </p:cNvPr>
          <p:cNvCxnSpPr>
            <a:cxnSpLocks/>
          </p:cNvCxnSpPr>
          <p:nvPr/>
        </p:nvCxnSpPr>
        <p:spPr>
          <a:xfrm flipV="1">
            <a:off x="8070042" y="4857038"/>
            <a:ext cx="167286" cy="199296"/>
          </a:xfrm>
          <a:prstGeom prst="line">
            <a:avLst/>
          </a:prstGeom>
          <a:ln w="28575">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D8CE4B60-DE65-DB38-85FE-E581D4E06A69}"/>
              </a:ext>
            </a:extLst>
          </p:cNvPr>
          <p:cNvCxnSpPr>
            <a:cxnSpLocks/>
            <a:endCxn id="27" idx="2"/>
          </p:cNvCxnSpPr>
          <p:nvPr/>
        </p:nvCxnSpPr>
        <p:spPr>
          <a:xfrm flipV="1">
            <a:off x="7907845" y="4858523"/>
            <a:ext cx="401367" cy="446257"/>
          </a:xfrm>
          <a:prstGeom prst="line">
            <a:avLst/>
          </a:prstGeom>
          <a:ln w="28575">
            <a:solidFill>
              <a:srgbClr val="FF0000"/>
            </a:solidFill>
            <a:prstDash val="sysDash"/>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309AD222-C225-8641-1890-4FDFA2292EA4}"/>
              </a:ext>
            </a:extLst>
          </p:cNvPr>
          <p:cNvSpPr/>
          <p:nvPr/>
        </p:nvSpPr>
        <p:spPr>
          <a:xfrm rot="2816031">
            <a:off x="7625096" y="4513768"/>
            <a:ext cx="777118" cy="1096849"/>
          </a:xfrm>
          <a:prstGeom prst="ellipse">
            <a:avLst/>
          </a:prstGeom>
          <a:noFill/>
          <a:ln w="2540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0874305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155D5E-CF7E-14B5-0302-9705B21572D4}"/>
              </a:ext>
            </a:extLst>
          </p:cNvPr>
          <p:cNvSpPr>
            <a:spLocks noGrp="1"/>
          </p:cNvSpPr>
          <p:nvPr>
            <p:ph type="title"/>
          </p:nvPr>
        </p:nvSpPr>
        <p:spPr>
          <a:xfrm>
            <a:off x="838200" y="0"/>
            <a:ext cx="10515600" cy="1325563"/>
          </a:xfrm>
        </p:spPr>
        <p:txBody>
          <a:bodyPr/>
          <a:lstStyle/>
          <a:p>
            <a:r>
              <a:rPr lang="en-US" dirty="0"/>
              <a:t>Question: Goals</a:t>
            </a:r>
          </a:p>
        </p:txBody>
      </p:sp>
      <p:sp>
        <p:nvSpPr>
          <p:cNvPr id="3" name="Content Placeholder 2">
            <a:extLst>
              <a:ext uri="{FF2B5EF4-FFF2-40B4-BE49-F238E27FC236}">
                <a16:creationId xmlns:a16="http://schemas.microsoft.com/office/drawing/2014/main" id="{91474375-B6ED-9F2E-6540-E7EB50189909}"/>
              </a:ext>
            </a:extLst>
          </p:cNvPr>
          <p:cNvSpPr>
            <a:spLocks noGrp="1"/>
          </p:cNvSpPr>
          <p:nvPr>
            <p:ph idx="1"/>
          </p:nvPr>
        </p:nvSpPr>
        <p:spPr>
          <a:xfrm>
            <a:off x="838200" y="1352791"/>
            <a:ext cx="10515600" cy="3721603"/>
          </a:xfrm>
        </p:spPr>
        <p:txBody>
          <a:bodyPr/>
          <a:lstStyle/>
          <a:p>
            <a:r>
              <a:rPr lang="en-US" dirty="0"/>
              <a:t>How do representations of items interact with neural mechanisms for values/goals</a:t>
            </a:r>
          </a:p>
          <a:p>
            <a:pPr lvl="1"/>
            <a:r>
              <a:rPr lang="en-US" dirty="0"/>
              <a:t>Less novel question</a:t>
            </a:r>
          </a:p>
        </p:txBody>
      </p:sp>
      <p:sp>
        <p:nvSpPr>
          <p:cNvPr id="4" name="Oval 3">
            <a:extLst>
              <a:ext uri="{FF2B5EF4-FFF2-40B4-BE49-F238E27FC236}">
                <a16:creationId xmlns:a16="http://schemas.microsoft.com/office/drawing/2014/main" id="{D70B2241-57A3-6ACD-1DF5-C6C43278DA2E}"/>
              </a:ext>
            </a:extLst>
          </p:cNvPr>
          <p:cNvSpPr/>
          <p:nvPr/>
        </p:nvSpPr>
        <p:spPr>
          <a:xfrm>
            <a:off x="7590818" y="4803257"/>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0596AD98-02AD-9C40-0A25-78DECAB150E6}"/>
              </a:ext>
            </a:extLst>
          </p:cNvPr>
          <p:cNvSpPr/>
          <p:nvPr/>
        </p:nvSpPr>
        <p:spPr>
          <a:xfrm>
            <a:off x="8482720" y="5621452"/>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17488B90-A479-1FC8-3491-D60C0C68163F}"/>
              </a:ext>
            </a:extLst>
          </p:cNvPr>
          <p:cNvSpPr/>
          <p:nvPr/>
        </p:nvSpPr>
        <p:spPr>
          <a:xfrm>
            <a:off x="9944936" y="5621452"/>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552B6352-81B3-771B-4003-FC2D8E84BAF1}"/>
              </a:ext>
            </a:extLst>
          </p:cNvPr>
          <p:cNvCxnSpPr>
            <a:stCxn id="5" idx="6"/>
            <a:endCxn id="6" idx="2"/>
          </p:cNvCxnSpPr>
          <p:nvPr/>
        </p:nvCxnSpPr>
        <p:spPr>
          <a:xfrm>
            <a:off x="9153160" y="5956672"/>
            <a:ext cx="791776"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0EBFDA45-1EE4-24E8-BD28-C0775C8109AA}"/>
              </a:ext>
            </a:extLst>
          </p:cNvPr>
          <p:cNvCxnSpPr>
            <a:cxnSpLocks/>
            <a:stCxn id="4" idx="5"/>
            <a:endCxn id="5" idx="1"/>
          </p:cNvCxnSpPr>
          <p:nvPr/>
        </p:nvCxnSpPr>
        <p:spPr>
          <a:xfrm>
            <a:off x="8163074" y="5375513"/>
            <a:ext cx="417830" cy="34412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1D8895D7-8319-3E80-C874-D34AB5C50E89}"/>
              </a:ext>
            </a:extLst>
          </p:cNvPr>
          <p:cNvSpPr/>
          <p:nvPr/>
        </p:nvSpPr>
        <p:spPr>
          <a:xfrm>
            <a:off x="8504921" y="4279662"/>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F66AD85D-F53F-05DB-6F59-54DFC2DA34EB}"/>
              </a:ext>
            </a:extLst>
          </p:cNvPr>
          <p:cNvSpPr/>
          <p:nvPr/>
        </p:nvSpPr>
        <p:spPr>
          <a:xfrm>
            <a:off x="9946547" y="4716314"/>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a:extLst>
              <a:ext uri="{FF2B5EF4-FFF2-40B4-BE49-F238E27FC236}">
                <a16:creationId xmlns:a16="http://schemas.microsoft.com/office/drawing/2014/main" id="{DEDBE322-EED2-38C0-3BC4-0324237728A4}"/>
              </a:ext>
            </a:extLst>
          </p:cNvPr>
          <p:cNvCxnSpPr>
            <a:stCxn id="9" idx="6"/>
            <a:endCxn id="10" idx="2"/>
          </p:cNvCxnSpPr>
          <p:nvPr/>
        </p:nvCxnSpPr>
        <p:spPr>
          <a:xfrm>
            <a:off x="9175361" y="4614882"/>
            <a:ext cx="771186" cy="43665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49FD50DD-3131-998A-2499-61857D28FCB3}"/>
              </a:ext>
            </a:extLst>
          </p:cNvPr>
          <p:cNvCxnSpPr>
            <a:cxnSpLocks/>
            <a:stCxn id="4" idx="7"/>
            <a:endCxn id="9" idx="2"/>
          </p:cNvCxnSpPr>
          <p:nvPr/>
        </p:nvCxnSpPr>
        <p:spPr>
          <a:xfrm flipV="1">
            <a:off x="8163074" y="4614882"/>
            <a:ext cx="341847" cy="28655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7044739D-B218-085F-4CC8-5EBA436CD34F}"/>
              </a:ext>
            </a:extLst>
          </p:cNvPr>
          <p:cNvSpPr/>
          <p:nvPr/>
        </p:nvSpPr>
        <p:spPr>
          <a:xfrm>
            <a:off x="9944936" y="3755750"/>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a:extLst>
              <a:ext uri="{FF2B5EF4-FFF2-40B4-BE49-F238E27FC236}">
                <a16:creationId xmlns:a16="http://schemas.microsoft.com/office/drawing/2014/main" id="{B67D721F-E161-242E-CFEB-A751C71EDDB1}"/>
              </a:ext>
            </a:extLst>
          </p:cNvPr>
          <p:cNvCxnSpPr>
            <a:cxnSpLocks/>
            <a:stCxn id="9" idx="6"/>
            <a:endCxn id="13" idx="2"/>
          </p:cNvCxnSpPr>
          <p:nvPr/>
        </p:nvCxnSpPr>
        <p:spPr>
          <a:xfrm flipV="1">
            <a:off x="9175361" y="4090970"/>
            <a:ext cx="769575" cy="52391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FF65C176-7FAB-657E-46FE-45544A7FBF70}"/>
              </a:ext>
            </a:extLst>
          </p:cNvPr>
          <p:cNvSpPr/>
          <p:nvPr/>
        </p:nvSpPr>
        <p:spPr>
          <a:xfrm>
            <a:off x="8235334" y="4710768"/>
            <a:ext cx="147755" cy="147755"/>
          </a:xfrm>
          <a:prstGeom prst="rect">
            <a:avLst/>
          </a:prstGeom>
          <a:solidFill>
            <a:srgbClr val="00FFCC"/>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CA8B1121-D66C-E955-11B7-E3F59801A7B9}"/>
              </a:ext>
            </a:extLst>
          </p:cNvPr>
          <p:cNvSpPr/>
          <p:nvPr/>
        </p:nvSpPr>
        <p:spPr>
          <a:xfrm>
            <a:off x="8273325" y="5458456"/>
            <a:ext cx="147755" cy="147755"/>
          </a:xfrm>
          <a:prstGeom prst="rect">
            <a:avLst/>
          </a:prstGeom>
          <a:solidFill>
            <a:srgbClr val="FE962B"/>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D9F1DF8D-79C2-C1B4-04BC-B50375DD05B6}"/>
              </a:ext>
            </a:extLst>
          </p:cNvPr>
          <p:cNvSpPr/>
          <p:nvPr/>
        </p:nvSpPr>
        <p:spPr>
          <a:xfrm>
            <a:off x="9461961" y="5882794"/>
            <a:ext cx="147755" cy="147755"/>
          </a:xfrm>
          <a:prstGeom prst="rect">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40AF8657-F4D5-F566-13DF-FD084EE9A81E}"/>
              </a:ext>
            </a:extLst>
          </p:cNvPr>
          <p:cNvSpPr/>
          <p:nvPr/>
        </p:nvSpPr>
        <p:spPr>
          <a:xfrm>
            <a:off x="9461961" y="4764785"/>
            <a:ext cx="147755" cy="147755"/>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D23BBCAB-D3ED-AB56-A2F4-8D43387CA48C}"/>
              </a:ext>
            </a:extLst>
          </p:cNvPr>
          <p:cNvSpPr/>
          <p:nvPr/>
        </p:nvSpPr>
        <p:spPr>
          <a:xfrm>
            <a:off x="9461961" y="4286204"/>
            <a:ext cx="147755" cy="147755"/>
          </a:xfrm>
          <a:prstGeom prst="rect">
            <a:avLst/>
          </a:prstGeom>
          <a:solidFill>
            <a:srgbClr val="FFCCCC"/>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664CC1F7-534A-DC39-5A22-09A1F0AD33BD}"/>
              </a:ext>
            </a:extLst>
          </p:cNvPr>
          <p:cNvSpPr/>
          <p:nvPr/>
        </p:nvSpPr>
        <p:spPr>
          <a:xfrm>
            <a:off x="7654775" y="4912540"/>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5FD54496-9315-FBAA-FBDB-C46824E710D1}"/>
              </a:ext>
            </a:extLst>
          </p:cNvPr>
          <p:cNvSpPr/>
          <p:nvPr/>
        </p:nvSpPr>
        <p:spPr>
          <a:xfrm>
            <a:off x="7785120" y="5174156"/>
            <a:ext cx="245451" cy="245451"/>
          </a:xfrm>
          <a:prstGeom prst="ellipse">
            <a:avLst/>
          </a:prstGeom>
          <a:solidFill>
            <a:srgbClr val="FF0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C1583101-8F88-F0D5-C8B1-D608888D2C90}"/>
              </a:ext>
            </a:extLst>
          </p:cNvPr>
          <p:cNvSpPr/>
          <p:nvPr/>
        </p:nvSpPr>
        <p:spPr>
          <a:xfrm>
            <a:off x="7947317" y="4938112"/>
            <a:ext cx="245451" cy="245451"/>
          </a:xfrm>
          <a:prstGeom prst="ellipse">
            <a:avLst/>
          </a:prstGeom>
          <a:solidFill>
            <a:srgbClr val="0070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FC6D25DA-8991-A4A3-2ECD-9915835E6B9F}"/>
              </a:ext>
            </a:extLst>
          </p:cNvPr>
          <p:cNvSpPr/>
          <p:nvPr/>
        </p:nvSpPr>
        <p:spPr>
          <a:xfrm>
            <a:off x="8581657" y="4401663"/>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7A9A6C4B-15D8-1568-4706-472DC31FA751}"/>
              </a:ext>
            </a:extLst>
          </p:cNvPr>
          <p:cNvSpPr/>
          <p:nvPr/>
        </p:nvSpPr>
        <p:spPr>
          <a:xfrm>
            <a:off x="8712002" y="4663279"/>
            <a:ext cx="245451" cy="245451"/>
          </a:xfrm>
          <a:prstGeom prst="ellipse">
            <a:avLst/>
          </a:prstGeom>
          <a:solidFill>
            <a:srgbClr val="FF0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900C38A8-4AE3-E95F-EB83-BB166461085F}"/>
              </a:ext>
            </a:extLst>
          </p:cNvPr>
          <p:cNvSpPr/>
          <p:nvPr/>
        </p:nvSpPr>
        <p:spPr>
          <a:xfrm>
            <a:off x="8874199" y="4427235"/>
            <a:ext cx="245451" cy="245451"/>
          </a:xfrm>
          <a:prstGeom prst="ellipse">
            <a:avLst/>
          </a:prstGeom>
          <a:solidFill>
            <a:srgbClr val="00B05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05288B57-7E44-B031-6714-3F3DC6197AF9}"/>
              </a:ext>
            </a:extLst>
          </p:cNvPr>
          <p:cNvSpPr/>
          <p:nvPr/>
        </p:nvSpPr>
        <p:spPr>
          <a:xfrm>
            <a:off x="8562989" y="5734496"/>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2E0B3E38-87C4-E6CC-8CCF-2944AB1F2DF4}"/>
              </a:ext>
            </a:extLst>
          </p:cNvPr>
          <p:cNvSpPr/>
          <p:nvPr/>
        </p:nvSpPr>
        <p:spPr>
          <a:xfrm>
            <a:off x="8693334" y="5996112"/>
            <a:ext cx="245451" cy="245451"/>
          </a:xfrm>
          <a:prstGeom prst="ellipse">
            <a:avLst/>
          </a:prstGeom>
          <a:solidFill>
            <a:srgbClr val="00B05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62CFF8F0-408B-F095-B312-96473131A416}"/>
              </a:ext>
            </a:extLst>
          </p:cNvPr>
          <p:cNvSpPr/>
          <p:nvPr/>
        </p:nvSpPr>
        <p:spPr>
          <a:xfrm>
            <a:off x="8855531" y="5760068"/>
            <a:ext cx="245451" cy="245451"/>
          </a:xfrm>
          <a:prstGeom prst="ellipse">
            <a:avLst/>
          </a:prstGeom>
          <a:solidFill>
            <a:srgbClr val="7030A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6F06D374-04E7-7B89-877F-08EC790BD678}"/>
              </a:ext>
            </a:extLst>
          </p:cNvPr>
          <p:cNvSpPr/>
          <p:nvPr/>
        </p:nvSpPr>
        <p:spPr>
          <a:xfrm>
            <a:off x="10008484" y="5734496"/>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2E72715B-A6C2-A5FB-9800-6D78172AFAC1}"/>
              </a:ext>
            </a:extLst>
          </p:cNvPr>
          <p:cNvSpPr/>
          <p:nvPr/>
        </p:nvSpPr>
        <p:spPr>
          <a:xfrm>
            <a:off x="10138829" y="5996112"/>
            <a:ext cx="245451" cy="245451"/>
          </a:xfrm>
          <a:prstGeom prst="ellipse">
            <a:avLst/>
          </a:prstGeom>
          <a:solidFill>
            <a:srgbClr val="FF0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05850D18-3057-0F25-3081-93A62F353454}"/>
              </a:ext>
            </a:extLst>
          </p:cNvPr>
          <p:cNvSpPr/>
          <p:nvPr/>
        </p:nvSpPr>
        <p:spPr>
          <a:xfrm>
            <a:off x="10301026" y="5760068"/>
            <a:ext cx="245451" cy="245451"/>
          </a:xfrm>
          <a:prstGeom prst="ellipse">
            <a:avLst/>
          </a:prstGeom>
          <a:solidFill>
            <a:srgbClr val="00FFCC"/>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DB0A985B-6F69-E5CB-B7DF-0D8CA742B346}"/>
              </a:ext>
            </a:extLst>
          </p:cNvPr>
          <p:cNvSpPr/>
          <p:nvPr/>
        </p:nvSpPr>
        <p:spPr>
          <a:xfrm>
            <a:off x="10015314" y="4832951"/>
            <a:ext cx="245451" cy="245451"/>
          </a:xfrm>
          <a:prstGeom prst="ellipse">
            <a:avLst/>
          </a:prstGeom>
          <a:solidFill>
            <a:srgbClr val="00B05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215B7EA6-C780-F4AE-0E2E-B5B6D7A5E817}"/>
              </a:ext>
            </a:extLst>
          </p:cNvPr>
          <p:cNvSpPr/>
          <p:nvPr/>
        </p:nvSpPr>
        <p:spPr>
          <a:xfrm>
            <a:off x="10145659" y="5094567"/>
            <a:ext cx="245451" cy="245451"/>
          </a:xfrm>
          <a:prstGeom prst="ellipse">
            <a:avLst/>
          </a:prstGeom>
          <a:solidFill>
            <a:srgbClr val="7030A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D3521308-ECF4-5075-ED3E-4546F3CB2D1B}"/>
              </a:ext>
            </a:extLst>
          </p:cNvPr>
          <p:cNvSpPr/>
          <p:nvPr/>
        </p:nvSpPr>
        <p:spPr>
          <a:xfrm>
            <a:off x="10307856" y="4858523"/>
            <a:ext cx="245451" cy="245451"/>
          </a:xfrm>
          <a:prstGeom prst="ellipse">
            <a:avLst/>
          </a:prstGeom>
          <a:solidFill>
            <a:srgbClr val="0070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339942BF-5CA5-B03A-9756-413450E210C7}"/>
              </a:ext>
            </a:extLst>
          </p:cNvPr>
          <p:cNvSpPr/>
          <p:nvPr/>
        </p:nvSpPr>
        <p:spPr>
          <a:xfrm>
            <a:off x="10015314" y="3872061"/>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10DF03D7-B1AE-E538-7CC4-41882AB19FAB}"/>
              </a:ext>
            </a:extLst>
          </p:cNvPr>
          <p:cNvSpPr/>
          <p:nvPr/>
        </p:nvSpPr>
        <p:spPr>
          <a:xfrm>
            <a:off x="10145659" y="4133677"/>
            <a:ext cx="245451" cy="245451"/>
          </a:xfrm>
          <a:prstGeom prst="ellipse">
            <a:avLst/>
          </a:prstGeom>
          <a:solidFill>
            <a:srgbClr val="00B05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8AA08571-EA76-4DF0-5C00-797644A4C8B8}"/>
              </a:ext>
            </a:extLst>
          </p:cNvPr>
          <p:cNvSpPr/>
          <p:nvPr/>
        </p:nvSpPr>
        <p:spPr>
          <a:xfrm>
            <a:off x="10307856" y="3897633"/>
            <a:ext cx="245451" cy="245451"/>
          </a:xfrm>
          <a:prstGeom prst="ellipse">
            <a:avLst/>
          </a:prstGeom>
          <a:solidFill>
            <a:srgbClr val="7030A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C09D4AC4-9886-8CD6-6158-E97663976E95}"/>
              </a:ext>
            </a:extLst>
          </p:cNvPr>
          <p:cNvSpPr/>
          <p:nvPr/>
        </p:nvSpPr>
        <p:spPr>
          <a:xfrm rot="3664409">
            <a:off x="9984101" y="3821562"/>
            <a:ext cx="308132" cy="348141"/>
          </a:xfrm>
          <a:prstGeom prst="ellipse">
            <a:avLst/>
          </a:prstGeom>
          <a:noFill/>
          <a:ln w="2540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Arrow: Right 53">
            <a:extLst>
              <a:ext uri="{FF2B5EF4-FFF2-40B4-BE49-F238E27FC236}">
                <a16:creationId xmlns:a16="http://schemas.microsoft.com/office/drawing/2014/main" id="{8D148E81-6096-1C50-9CE0-252CD89FF2CA}"/>
              </a:ext>
            </a:extLst>
          </p:cNvPr>
          <p:cNvSpPr/>
          <p:nvPr/>
        </p:nvSpPr>
        <p:spPr>
          <a:xfrm>
            <a:off x="9634349" y="3867317"/>
            <a:ext cx="275398" cy="186714"/>
          </a:xfrm>
          <a:prstGeom prst="rightArrow">
            <a:avLst/>
          </a:prstGeom>
          <a:solidFill>
            <a:schemeClr val="bg1"/>
          </a:solid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9483510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B1CD71-D9D5-3A80-0B98-0043F50A952E}"/>
              </a:ext>
            </a:extLst>
          </p:cNvPr>
          <p:cNvSpPr>
            <a:spLocks noGrp="1"/>
          </p:cNvSpPr>
          <p:nvPr>
            <p:ph type="title"/>
          </p:nvPr>
        </p:nvSpPr>
        <p:spPr>
          <a:xfrm>
            <a:off x="838200" y="47906"/>
            <a:ext cx="10515600" cy="1325563"/>
          </a:xfrm>
        </p:spPr>
        <p:txBody>
          <a:bodyPr/>
          <a:lstStyle/>
          <a:p>
            <a:r>
              <a:rPr lang="en-US" dirty="0"/>
              <a:t>General task idea</a:t>
            </a:r>
          </a:p>
        </p:txBody>
      </p:sp>
      <p:sp>
        <p:nvSpPr>
          <p:cNvPr id="3" name="Content Placeholder 2">
            <a:extLst>
              <a:ext uri="{FF2B5EF4-FFF2-40B4-BE49-F238E27FC236}">
                <a16:creationId xmlns:a16="http://schemas.microsoft.com/office/drawing/2014/main" id="{C9C21F2F-9F08-5DAD-2FE4-C3CF81D4C44B}"/>
              </a:ext>
            </a:extLst>
          </p:cNvPr>
          <p:cNvSpPr>
            <a:spLocks noGrp="1"/>
          </p:cNvSpPr>
          <p:nvPr>
            <p:ph idx="1"/>
          </p:nvPr>
        </p:nvSpPr>
        <p:spPr>
          <a:xfrm>
            <a:off x="906201" y="1147901"/>
            <a:ext cx="6183144" cy="5710099"/>
          </a:xfrm>
        </p:spPr>
        <p:txBody>
          <a:bodyPr>
            <a:normAutofit fontScale="77500" lnSpcReduction="20000"/>
          </a:bodyPr>
          <a:lstStyle/>
          <a:p>
            <a:r>
              <a:rPr lang="en-US" dirty="0"/>
              <a:t>Basic scheme:</a:t>
            </a:r>
          </a:p>
          <a:p>
            <a:pPr lvl="1"/>
            <a:r>
              <a:rPr lang="en-US" dirty="0"/>
              <a:t>Learn phase:</a:t>
            </a:r>
          </a:p>
          <a:p>
            <a:pPr lvl="2"/>
            <a:r>
              <a:rPr lang="en-US" dirty="0"/>
              <a:t>Explore and pursue goals </a:t>
            </a:r>
          </a:p>
          <a:p>
            <a:pPr lvl="2"/>
            <a:r>
              <a:rPr lang="en-US" dirty="0"/>
              <a:t>e.g., goal = “Find the robin”</a:t>
            </a:r>
          </a:p>
          <a:p>
            <a:pPr lvl="2"/>
            <a:r>
              <a:rPr lang="en-US" dirty="0"/>
              <a:t>Randomly move at first but learn steadily</a:t>
            </a:r>
          </a:p>
          <a:p>
            <a:pPr lvl="1"/>
            <a:r>
              <a:rPr lang="en-US" dirty="0"/>
              <a:t>Memory test phase</a:t>
            </a:r>
          </a:p>
          <a:p>
            <a:r>
              <a:rPr lang="en-US" dirty="0"/>
              <a:t>Avoid excessive difficulty</a:t>
            </a:r>
          </a:p>
          <a:p>
            <a:pPr lvl="1"/>
            <a:r>
              <a:rPr lang="en-US" dirty="0"/>
              <a:t>Learn + memory are done as pairs of runs</a:t>
            </a:r>
          </a:p>
          <a:p>
            <a:pPr lvl="1"/>
            <a:r>
              <a:rPr lang="en-US" dirty="0"/>
              <a:t>If a session has six runs, then that’s three independent learn + memory runs</a:t>
            </a:r>
          </a:p>
          <a:p>
            <a:r>
              <a:rPr lang="en-US" dirty="0"/>
              <a:t>Environment</a:t>
            </a:r>
          </a:p>
          <a:p>
            <a:pPr lvl="1"/>
            <a:r>
              <a:rPr lang="en-US" dirty="0"/>
              <a:t>Environment doesn’t have a start or end. </a:t>
            </a:r>
          </a:p>
          <a:p>
            <a:pPr lvl="2"/>
            <a:r>
              <a:rPr lang="en-US" dirty="0"/>
              <a:t>Just a bunch of interconnected connected scenes</a:t>
            </a:r>
          </a:p>
          <a:p>
            <a:pPr lvl="1"/>
            <a:r>
              <a:rPr lang="en-US" dirty="0"/>
              <a:t>10 scenes made up of 15 items</a:t>
            </a:r>
          </a:p>
          <a:p>
            <a:pPr lvl="1"/>
            <a:r>
              <a:rPr lang="en-US" dirty="0"/>
              <a:t>5 or 10 actions, depending on button box options</a:t>
            </a:r>
          </a:p>
          <a:p>
            <a:r>
              <a:rPr lang="en-US" dirty="0"/>
              <a:t>Memory test</a:t>
            </a:r>
          </a:p>
          <a:p>
            <a:pPr lvl="1"/>
            <a:r>
              <a:rPr lang="en-US" dirty="0"/>
              <a:t>Challenge: Participants will encounter the same pictures and scenes multiple times</a:t>
            </a:r>
          </a:p>
          <a:p>
            <a:pPr lvl="1"/>
            <a:r>
              <a:rPr lang="en-US" dirty="0"/>
              <a:t>This may make retrieval too easy</a:t>
            </a:r>
          </a:p>
          <a:p>
            <a:pPr lvl="1"/>
            <a:r>
              <a:rPr lang="en-US" dirty="0"/>
              <a:t>This also raises concerns about testing R/K</a:t>
            </a:r>
          </a:p>
          <a:p>
            <a:pPr lvl="1"/>
            <a:endParaRPr lang="en-US" dirty="0"/>
          </a:p>
        </p:txBody>
      </p:sp>
      <p:sp>
        <p:nvSpPr>
          <p:cNvPr id="5" name="Rectangle 4">
            <a:extLst>
              <a:ext uri="{FF2B5EF4-FFF2-40B4-BE49-F238E27FC236}">
                <a16:creationId xmlns:a16="http://schemas.microsoft.com/office/drawing/2014/main" id="{3458000D-8481-A4F5-212E-150C334C5E03}"/>
              </a:ext>
            </a:extLst>
          </p:cNvPr>
          <p:cNvSpPr/>
          <p:nvPr/>
        </p:nvSpPr>
        <p:spPr>
          <a:xfrm>
            <a:off x="7435813" y="2161228"/>
            <a:ext cx="2248514" cy="155313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93D16DF5-0F92-7608-C9B7-56A886FBCC80}"/>
              </a:ext>
            </a:extLst>
          </p:cNvPr>
          <p:cNvPicPr>
            <a:picLocks noChangeAspect="1"/>
          </p:cNvPicPr>
          <p:nvPr/>
        </p:nvPicPr>
        <p:blipFill>
          <a:blip r:embed="rId3"/>
          <a:stretch>
            <a:fillRect/>
          </a:stretch>
        </p:blipFill>
        <p:spPr>
          <a:xfrm>
            <a:off x="7850762" y="2734145"/>
            <a:ext cx="625713" cy="437142"/>
          </a:xfrm>
          <a:prstGeom prst="rect">
            <a:avLst/>
          </a:prstGeom>
        </p:spPr>
      </p:pic>
      <p:pic>
        <p:nvPicPr>
          <p:cNvPr id="7" name="Picture 6">
            <a:extLst>
              <a:ext uri="{FF2B5EF4-FFF2-40B4-BE49-F238E27FC236}">
                <a16:creationId xmlns:a16="http://schemas.microsoft.com/office/drawing/2014/main" id="{91F1A0C5-0C8F-7431-204F-5C35EF45D13C}"/>
              </a:ext>
            </a:extLst>
          </p:cNvPr>
          <p:cNvPicPr>
            <a:picLocks noChangeAspect="1"/>
          </p:cNvPicPr>
          <p:nvPr/>
        </p:nvPicPr>
        <p:blipFill rotWithShape="1">
          <a:blip r:embed="rId4"/>
          <a:srcRect l="18090" t="-3138"/>
          <a:stretch/>
        </p:blipFill>
        <p:spPr>
          <a:xfrm>
            <a:off x="8790754" y="2636646"/>
            <a:ext cx="424596" cy="534641"/>
          </a:xfrm>
          <a:prstGeom prst="rect">
            <a:avLst/>
          </a:prstGeom>
        </p:spPr>
      </p:pic>
      <p:pic>
        <p:nvPicPr>
          <p:cNvPr id="8" name="Picture 7">
            <a:extLst>
              <a:ext uri="{FF2B5EF4-FFF2-40B4-BE49-F238E27FC236}">
                <a16:creationId xmlns:a16="http://schemas.microsoft.com/office/drawing/2014/main" id="{74958CF1-7FD7-E993-A0E1-DD16729D617B}"/>
              </a:ext>
            </a:extLst>
          </p:cNvPr>
          <p:cNvPicPr>
            <a:picLocks noChangeAspect="1"/>
          </p:cNvPicPr>
          <p:nvPr/>
        </p:nvPicPr>
        <p:blipFill>
          <a:blip r:embed="rId5"/>
          <a:stretch>
            <a:fillRect/>
          </a:stretch>
        </p:blipFill>
        <p:spPr>
          <a:xfrm>
            <a:off x="8228697" y="2192226"/>
            <a:ext cx="645184" cy="485983"/>
          </a:xfrm>
          <a:prstGeom prst="rect">
            <a:avLst/>
          </a:prstGeom>
        </p:spPr>
      </p:pic>
      <p:sp>
        <p:nvSpPr>
          <p:cNvPr id="9" name="TextBox 8">
            <a:extLst>
              <a:ext uri="{FF2B5EF4-FFF2-40B4-BE49-F238E27FC236}">
                <a16:creationId xmlns:a16="http://schemas.microsoft.com/office/drawing/2014/main" id="{D93B1AA7-C880-8E04-3C0C-EC95F4A580DA}"/>
              </a:ext>
            </a:extLst>
          </p:cNvPr>
          <p:cNvSpPr txBox="1"/>
          <p:nvPr/>
        </p:nvSpPr>
        <p:spPr>
          <a:xfrm>
            <a:off x="7647805" y="3245691"/>
            <a:ext cx="845296" cy="369332"/>
          </a:xfrm>
          <a:prstGeom prst="rect">
            <a:avLst/>
          </a:prstGeom>
          <a:solidFill>
            <a:schemeClr val="bg1">
              <a:lumMod val="95000"/>
            </a:schemeClr>
          </a:solidFill>
          <a:ln>
            <a:solidFill>
              <a:schemeClr val="tx1">
                <a:lumMod val="75000"/>
                <a:lumOff val="25000"/>
              </a:schemeClr>
            </a:solidFill>
          </a:ln>
        </p:spPr>
        <p:txBody>
          <a:bodyPr wrap="none" rtlCol="0">
            <a:spAutoFit/>
          </a:bodyPr>
          <a:lstStyle/>
          <a:p>
            <a:r>
              <a:rPr lang="en-US" dirty="0"/>
              <a:t>Press 2</a:t>
            </a:r>
          </a:p>
        </p:txBody>
      </p:sp>
      <p:sp>
        <p:nvSpPr>
          <p:cNvPr id="10" name="TextBox 9">
            <a:extLst>
              <a:ext uri="{FF2B5EF4-FFF2-40B4-BE49-F238E27FC236}">
                <a16:creationId xmlns:a16="http://schemas.microsoft.com/office/drawing/2014/main" id="{8134946F-F132-3892-5C68-C4393C7D20E6}"/>
              </a:ext>
            </a:extLst>
          </p:cNvPr>
          <p:cNvSpPr txBox="1"/>
          <p:nvPr/>
        </p:nvSpPr>
        <p:spPr>
          <a:xfrm>
            <a:off x="8576696" y="3249704"/>
            <a:ext cx="845296" cy="369332"/>
          </a:xfrm>
          <a:prstGeom prst="rect">
            <a:avLst/>
          </a:prstGeom>
          <a:solidFill>
            <a:schemeClr val="bg1">
              <a:lumMod val="95000"/>
            </a:schemeClr>
          </a:solidFill>
          <a:ln>
            <a:solidFill>
              <a:schemeClr val="tx1">
                <a:lumMod val="75000"/>
                <a:lumOff val="25000"/>
              </a:schemeClr>
            </a:solidFill>
          </a:ln>
        </p:spPr>
        <p:txBody>
          <a:bodyPr wrap="none" rtlCol="0">
            <a:spAutoFit/>
          </a:bodyPr>
          <a:lstStyle/>
          <a:p>
            <a:r>
              <a:rPr lang="en-US" dirty="0"/>
              <a:t>Press 5</a:t>
            </a:r>
          </a:p>
        </p:txBody>
      </p:sp>
      <p:cxnSp>
        <p:nvCxnSpPr>
          <p:cNvPr id="11" name="Straight Arrow Connector 10">
            <a:extLst>
              <a:ext uri="{FF2B5EF4-FFF2-40B4-BE49-F238E27FC236}">
                <a16:creationId xmlns:a16="http://schemas.microsoft.com/office/drawing/2014/main" id="{2E0E76D4-C1EC-1397-21E6-4A41DC219396}"/>
              </a:ext>
            </a:extLst>
          </p:cNvPr>
          <p:cNvCxnSpPr>
            <a:cxnSpLocks/>
          </p:cNvCxnSpPr>
          <p:nvPr/>
        </p:nvCxnSpPr>
        <p:spPr>
          <a:xfrm>
            <a:off x="9044309" y="3615023"/>
            <a:ext cx="327947" cy="66682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850DD5B6-10D5-5B42-0095-F3F7AD79E74A}"/>
              </a:ext>
            </a:extLst>
          </p:cNvPr>
          <p:cNvCxnSpPr>
            <a:cxnSpLocks/>
          </p:cNvCxnSpPr>
          <p:nvPr/>
        </p:nvCxnSpPr>
        <p:spPr>
          <a:xfrm flipH="1">
            <a:off x="7850762" y="3615023"/>
            <a:ext cx="230796" cy="66682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26" name="Group 25">
            <a:extLst>
              <a:ext uri="{FF2B5EF4-FFF2-40B4-BE49-F238E27FC236}">
                <a16:creationId xmlns:a16="http://schemas.microsoft.com/office/drawing/2014/main" id="{5F7D49B8-EF03-CCB5-C7DC-014FFAA007F5}"/>
              </a:ext>
            </a:extLst>
          </p:cNvPr>
          <p:cNvGrpSpPr/>
          <p:nvPr/>
        </p:nvGrpSpPr>
        <p:grpSpPr>
          <a:xfrm rot="10800000">
            <a:off x="10313245" y="2196382"/>
            <a:ext cx="1559891" cy="1862384"/>
            <a:chOff x="7559999" y="4596834"/>
            <a:chExt cx="731271" cy="876863"/>
          </a:xfrm>
        </p:grpSpPr>
        <p:sp>
          <p:nvSpPr>
            <p:cNvPr id="18" name="Oval 17">
              <a:extLst>
                <a:ext uri="{FF2B5EF4-FFF2-40B4-BE49-F238E27FC236}">
                  <a16:creationId xmlns:a16="http://schemas.microsoft.com/office/drawing/2014/main" id="{1CB44B51-4DFD-6549-1BB5-5B7EDF8D2E6C}"/>
                </a:ext>
              </a:extLst>
            </p:cNvPr>
            <p:cNvSpPr/>
            <p:nvPr/>
          </p:nvSpPr>
          <p:spPr>
            <a:xfrm>
              <a:off x="7590818" y="4803257"/>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Arrow Connector 18">
              <a:extLst>
                <a:ext uri="{FF2B5EF4-FFF2-40B4-BE49-F238E27FC236}">
                  <a16:creationId xmlns:a16="http://schemas.microsoft.com/office/drawing/2014/main" id="{1F828325-58E2-DB94-BC66-7A5C39E3A41A}"/>
                </a:ext>
              </a:extLst>
            </p:cNvPr>
            <p:cNvCxnSpPr>
              <a:cxnSpLocks/>
              <a:stCxn id="18" idx="1"/>
            </p:cNvCxnSpPr>
            <p:nvPr/>
          </p:nvCxnSpPr>
          <p:spPr>
            <a:xfrm rot="10800000">
              <a:off x="7578750" y="4596834"/>
              <a:ext cx="110252" cy="30460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6B8CA9A8-74EA-894E-C59A-BBA6003EB0F1}"/>
                </a:ext>
              </a:extLst>
            </p:cNvPr>
            <p:cNvCxnSpPr>
              <a:cxnSpLocks/>
              <a:stCxn id="18" idx="7"/>
            </p:cNvCxnSpPr>
            <p:nvPr/>
          </p:nvCxnSpPr>
          <p:spPr>
            <a:xfrm rot="10800000" flipH="1">
              <a:off x="8163074" y="4596834"/>
              <a:ext cx="117049" cy="30460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3832066E-FA30-D352-942D-52F879EA19B4}"/>
                </a:ext>
              </a:extLst>
            </p:cNvPr>
            <p:cNvSpPr/>
            <p:nvPr/>
          </p:nvSpPr>
          <p:spPr>
            <a:xfrm>
              <a:off x="8143515" y="4689212"/>
              <a:ext cx="147755" cy="147755"/>
            </a:xfrm>
            <a:prstGeom prst="rect">
              <a:avLst/>
            </a:prstGeom>
            <a:solidFill>
              <a:srgbClr val="00FFCC"/>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E2B1B513-7E6E-54AD-70B2-A305FA7605BD}"/>
                </a:ext>
              </a:extLst>
            </p:cNvPr>
            <p:cNvSpPr/>
            <p:nvPr/>
          </p:nvSpPr>
          <p:spPr>
            <a:xfrm>
              <a:off x="7559999" y="4674738"/>
              <a:ext cx="147755" cy="147755"/>
            </a:xfrm>
            <a:prstGeom prst="rect">
              <a:avLst/>
            </a:prstGeom>
            <a:solidFill>
              <a:srgbClr val="FE962B"/>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F0800D7C-A736-0D38-44F9-36E96F66F014}"/>
                </a:ext>
              </a:extLst>
            </p:cNvPr>
            <p:cNvSpPr/>
            <p:nvPr/>
          </p:nvSpPr>
          <p:spPr>
            <a:xfrm>
              <a:off x="7654775" y="4912540"/>
              <a:ext cx="245451" cy="245451"/>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F75BFA3B-6210-26CF-E791-F4380F197F4A}"/>
                </a:ext>
              </a:extLst>
            </p:cNvPr>
            <p:cNvSpPr/>
            <p:nvPr/>
          </p:nvSpPr>
          <p:spPr>
            <a:xfrm>
              <a:off x="7785120" y="5174156"/>
              <a:ext cx="245451" cy="245451"/>
            </a:xfrm>
            <a:prstGeom prst="ellipse">
              <a:avLst/>
            </a:prstGeom>
            <a:solidFill>
              <a:srgbClr val="FF0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44E9C214-BE55-8B49-919B-85DE6AEF2A41}"/>
                </a:ext>
              </a:extLst>
            </p:cNvPr>
            <p:cNvSpPr/>
            <p:nvPr/>
          </p:nvSpPr>
          <p:spPr>
            <a:xfrm>
              <a:off x="7947317" y="4938112"/>
              <a:ext cx="245451" cy="245451"/>
            </a:xfrm>
            <a:prstGeom prst="ellipse">
              <a:avLst/>
            </a:prstGeom>
            <a:solidFill>
              <a:srgbClr val="0070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952525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70CBB35B-936E-0995-4831-CD254C649BA6}"/>
              </a:ext>
            </a:extLst>
          </p:cNvPr>
          <p:cNvSpPr/>
          <p:nvPr/>
        </p:nvSpPr>
        <p:spPr>
          <a:xfrm>
            <a:off x="9521635" y="3604813"/>
            <a:ext cx="1553139" cy="155313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0D9B9C5C-9875-6775-8045-34E244FE7B37}"/>
              </a:ext>
            </a:extLst>
          </p:cNvPr>
          <p:cNvSpPr/>
          <p:nvPr/>
        </p:nvSpPr>
        <p:spPr>
          <a:xfrm>
            <a:off x="7627837" y="3604814"/>
            <a:ext cx="1553139" cy="155313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46AEED65-A850-B879-9755-B42BBAD54162}"/>
              </a:ext>
            </a:extLst>
          </p:cNvPr>
          <p:cNvSpPr/>
          <p:nvPr/>
        </p:nvSpPr>
        <p:spPr>
          <a:xfrm>
            <a:off x="8516469" y="1080574"/>
            <a:ext cx="1553139" cy="155313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D421409-172B-16D6-8013-BFAA001CD9C1}"/>
              </a:ext>
            </a:extLst>
          </p:cNvPr>
          <p:cNvSpPr>
            <a:spLocks noGrp="1"/>
          </p:cNvSpPr>
          <p:nvPr>
            <p:ph type="title"/>
          </p:nvPr>
        </p:nvSpPr>
        <p:spPr>
          <a:xfrm>
            <a:off x="838200" y="24422"/>
            <a:ext cx="10515600" cy="1325563"/>
          </a:xfrm>
        </p:spPr>
        <p:txBody>
          <a:bodyPr/>
          <a:lstStyle/>
          <a:p>
            <a:r>
              <a:rPr lang="en-US" dirty="0"/>
              <a:t>Other idea</a:t>
            </a:r>
          </a:p>
        </p:txBody>
      </p:sp>
      <p:sp>
        <p:nvSpPr>
          <p:cNvPr id="3" name="Content Placeholder 2">
            <a:extLst>
              <a:ext uri="{FF2B5EF4-FFF2-40B4-BE49-F238E27FC236}">
                <a16:creationId xmlns:a16="http://schemas.microsoft.com/office/drawing/2014/main" id="{543456C0-58B0-0CCC-9CBE-3CB25731FDA2}"/>
              </a:ext>
            </a:extLst>
          </p:cNvPr>
          <p:cNvSpPr>
            <a:spLocks noGrp="1"/>
          </p:cNvSpPr>
          <p:nvPr>
            <p:ph idx="1"/>
          </p:nvPr>
        </p:nvSpPr>
        <p:spPr>
          <a:xfrm>
            <a:off x="313766" y="1446483"/>
            <a:ext cx="6973412" cy="4981212"/>
          </a:xfrm>
        </p:spPr>
        <p:txBody>
          <a:bodyPr>
            <a:normAutofit/>
          </a:bodyPr>
          <a:lstStyle/>
          <a:p>
            <a:r>
              <a:rPr lang="en-US" dirty="0"/>
              <a:t>Can be investigated by incorporating a decision-making element that links scenes</a:t>
            </a:r>
          </a:p>
          <a:p>
            <a:r>
              <a:rPr lang="en-US" dirty="0"/>
              <a:t>Make a link between the current images and the actions afforded</a:t>
            </a:r>
          </a:p>
          <a:p>
            <a:pPr lvl="1"/>
            <a:r>
              <a:rPr lang="en-US" dirty="0"/>
              <a:t>E.g., blue circle being in a scene increases the likelihood of pink square action</a:t>
            </a:r>
          </a:p>
          <a:p>
            <a:r>
              <a:rPr lang="en-US" dirty="0"/>
              <a:t>Assign values to some shapes?</a:t>
            </a:r>
          </a:p>
        </p:txBody>
      </p:sp>
      <p:sp>
        <p:nvSpPr>
          <p:cNvPr id="4" name="Oval 3">
            <a:extLst>
              <a:ext uri="{FF2B5EF4-FFF2-40B4-BE49-F238E27FC236}">
                <a16:creationId xmlns:a16="http://schemas.microsoft.com/office/drawing/2014/main" id="{0B12F8B1-676D-C481-AAA2-C069DAA5FB46}"/>
              </a:ext>
            </a:extLst>
          </p:cNvPr>
          <p:cNvSpPr/>
          <p:nvPr/>
        </p:nvSpPr>
        <p:spPr>
          <a:xfrm>
            <a:off x="8713693" y="1919831"/>
            <a:ext cx="510989" cy="51098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054F6B6F-AEC0-6FC6-CE79-980AEB81F409}"/>
              </a:ext>
            </a:extLst>
          </p:cNvPr>
          <p:cNvSpPr/>
          <p:nvPr/>
        </p:nvSpPr>
        <p:spPr>
          <a:xfrm>
            <a:off x="9377082" y="1919830"/>
            <a:ext cx="510989" cy="510989"/>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6D9F4D62-60D4-C083-6F13-3F225CF7AB02}"/>
              </a:ext>
            </a:extLst>
          </p:cNvPr>
          <p:cNvSpPr/>
          <p:nvPr/>
        </p:nvSpPr>
        <p:spPr>
          <a:xfrm>
            <a:off x="9018492" y="1329467"/>
            <a:ext cx="510989" cy="510989"/>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5265E412-24BF-37D1-FB8D-9C3E7841D690}"/>
              </a:ext>
            </a:extLst>
          </p:cNvPr>
          <p:cNvSpPr/>
          <p:nvPr/>
        </p:nvSpPr>
        <p:spPr>
          <a:xfrm>
            <a:off x="7844114" y="4389094"/>
            <a:ext cx="510989" cy="51098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F4F8C359-3732-5322-9138-5771319B1C62}"/>
              </a:ext>
            </a:extLst>
          </p:cNvPr>
          <p:cNvSpPr/>
          <p:nvPr/>
        </p:nvSpPr>
        <p:spPr>
          <a:xfrm>
            <a:off x="8507503" y="4389093"/>
            <a:ext cx="510989" cy="510989"/>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A7554B55-ADB6-DE82-DCF6-6996887B5108}"/>
              </a:ext>
            </a:extLst>
          </p:cNvPr>
          <p:cNvSpPr/>
          <p:nvPr/>
        </p:nvSpPr>
        <p:spPr>
          <a:xfrm>
            <a:off x="8148913" y="3798730"/>
            <a:ext cx="510989" cy="510989"/>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EF650FDC-2B21-8630-B6D3-950812B9D3E8}"/>
              </a:ext>
            </a:extLst>
          </p:cNvPr>
          <p:cNvSpPr/>
          <p:nvPr/>
        </p:nvSpPr>
        <p:spPr>
          <a:xfrm>
            <a:off x="9702052" y="4394370"/>
            <a:ext cx="510989" cy="510989"/>
          </a:xfrm>
          <a:prstGeom prst="ellipse">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57C8A370-1328-7997-6B09-C9437D7047E1}"/>
              </a:ext>
            </a:extLst>
          </p:cNvPr>
          <p:cNvSpPr/>
          <p:nvPr/>
        </p:nvSpPr>
        <p:spPr>
          <a:xfrm>
            <a:off x="10365441" y="4394369"/>
            <a:ext cx="510989" cy="510989"/>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A97CC6F2-FA22-5776-D352-0E115CE3ABAA}"/>
              </a:ext>
            </a:extLst>
          </p:cNvPr>
          <p:cNvSpPr/>
          <p:nvPr/>
        </p:nvSpPr>
        <p:spPr>
          <a:xfrm>
            <a:off x="10006851" y="3804006"/>
            <a:ext cx="510989" cy="510989"/>
          </a:xfrm>
          <a:prstGeom prst="ellipse">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Straight Arrow Connector 20">
            <a:extLst>
              <a:ext uri="{FF2B5EF4-FFF2-40B4-BE49-F238E27FC236}">
                <a16:creationId xmlns:a16="http://schemas.microsoft.com/office/drawing/2014/main" id="{F5225A39-0596-BD4C-7794-ADD6A38119AF}"/>
              </a:ext>
            </a:extLst>
          </p:cNvPr>
          <p:cNvCxnSpPr/>
          <p:nvPr/>
        </p:nvCxnSpPr>
        <p:spPr>
          <a:xfrm flipH="1">
            <a:off x="8588188" y="2633713"/>
            <a:ext cx="268941" cy="97110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69F50DCF-C298-A85C-0BF6-6FA5D5AF54A4}"/>
              </a:ext>
            </a:extLst>
          </p:cNvPr>
          <p:cNvCxnSpPr>
            <a:cxnSpLocks/>
          </p:cNvCxnSpPr>
          <p:nvPr/>
        </p:nvCxnSpPr>
        <p:spPr>
          <a:xfrm>
            <a:off x="9744634" y="2633713"/>
            <a:ext cx="324974" cy="100266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F7575C34-927E-60B3-E34B-CC1634555A19}"/>
              </a:ext>
            </a:extLst>
          </p:cNvPr>
          <p:cNvSpPr/>
          <p:nvPr/>
        </p:nvSpPr>
        <p:spPr>
          <a:xfrm>
            <a:off x="9753598" y="2991248"/>
            <a:ext cx="268945" cy="268945"/>
          </a:xfrm>
          <a:prstGeom prst="rect">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44289EF-B08A-EF81-05C6-0ADAE9C11EF3}"/>
              </a:ext>
            </a:extLst>
          </p:cNvPr>
          <p:cNvSpPr/>
          <p:nvPr/>
        </p:nvSpPr>
        <p:spPr>
          <a:xfrm>
            <a:off x="8579220" y="2991248"/>
            <a:ext cx="268945" cy="268945"/>
          </a:xfrm>
          <a:prstGeom prst="rect">
            <a:avLst/>
          </a:prstGeom>
          <a:solidFill>
            <a:srgbClr val="FF7C8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 name="Straight Arrow Connector 24">
            <a:extLst>
              <a:ext uri="{FF2B5EF4-FFF2-40B4-BE49-F238E27FC236}">
                <a16:creationId xmlns:a16="http://schemas.microsoft.com/office/drawing/2014/main" id="{6DCCE981-FA6E-87F0-A026-A4A7D740E522}"/>
              </a:ext>
            </a:extLst>
          </p:cNvPr>
          <p:cNvCxnSpPr>
            <a:cxnSpLocks/>
          </p:cNvCxnSpPr>
          <p:nvPr/>
        </p:nvCxnSpPr>
        <p:spPr>
          <a:xfrm flipH="1">
            <a:off x="7663700" y="5174297"/>
            <a:ext cx="268941" cy="97110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E3DF6D22-586E-BDED-9995-90367F64F814}"/>
              </a:ext>
            </a:extLst>
          </p:cNvPr>
          <p:cNvCxnSpPr>
            <a:cxnSpLocks/>
          </p:cNvCxnSpPr>
          <p:nvPr/>
        </p:nvCxnSpPr>
        <p:spPr>
          <a:xfrm>
            <a:off x="8820146" y="5174297"/>
            <a:ext cx="324974" cy="100266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76AE114B-E6DB-B462-2E92-67CB4B7FBC1A}"/>
              </a:ext>
            </a:extLst>
          </p:cNvPr>
          <p:cNvSpPr/>
          <p:nvPr/>
        </p:nvSpPr>
        <p:spPr>
          <a:xfrm>
            <a:off x="8829110" y="5531832"/>
            <a:ext cx="268945" cy="268945"/>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6AD5AD25-6FC4-8DA5-7BBC-8882924D8C5C}"/>
              </a:ext>
            </a:extLst>
          </p:cNvPr>
          <p:cNvSpPr/>
          <p:nvPr/>
        </p:nvSpPr>
        <p:spPr>
          <a:xfrm>
            <a:off x="7654732" y="5531832"/>
            <a:ext cx="268945" cy="268945"/>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1" name="Straight Arrow Connector 30">
            <a:extLst>
              <a:ext uri="{FF2B5EF4-FFF2-40B4-BE49-F238E27FC236}">
                <a16:creationId xmlns:a16="http://schemas.microsoft.com/office/drawing/2014/main" id="{C85E8C48-6A7F-9D58-C339-4C2D2D2F4D07}"/>
              </a:ext>
            </a:extLst>
          </p:cNvPr>
          <p:cNvCxnSpPr/>
          <p:nvPr/>
        </p:nvCxnSpPr>
        <p:spPr>
          <a:xfrm flipH="1">
            <a:off x="9640419" y="5171341"/>
            <a:ext cx="268941" cy="97110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0B8DFBD5-E5B2-6EC9-5618-425F4811436E}"/>
              </a:ext>
            </a:extLst>
          </p:cNvPr>
          <p:cNvCxnSpPr>
            <a:cxnSpLocks/>
          </p:cNvCxnSpPr>
          <p:nvPr/>
        </p:nvCxnSpPr>
        <p:spPr>
          <a:xfrm>
            <a:off x="10796865" y="5171341"/>
            <a:ext cx="324974" cy="100266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1018D57F-8217-F35A-1F56-0647AD57BBE8}"/>
              </a:ext>
            </a:extLst>
          </p:cNvPr>
          <p:cNvSpPr/>
          <p:nvPr/>
        </p:nvSpPr>
        <p:spPr>
          <a:xfrm>
            <a:off x="10805829" y="5528876"/>
            <a:ext cx="268945" cy="268945"/>
          </a:xfrm>
          <a:prstGeom prst="rect">
            <a:avLst/>
          </a:prstGeom>
          <a:solidFill>
            <a:srgbClr val="D2E93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6751A112-B20F-4F9F-D0E0-9E68F19BFCA7}"/>
              </a:ext>
            </a:extLst>
          </p:cNvPr>
          <p:cNvSpPr/>
          <p:nvPr/>
        </p:nvSpPr>
        <p:spPr>
          <a:xfrm>
            <a:off x="9631451" y="5528876"/>
            <a:ext cx="268945" cy="268945"/>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3515450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36406-BE6A-43D1-8823-925981A4EA2E}"/>
              </a:ext>
            </a:extLst>
          </p:cNvPr>
          <p:cNvSpPr>
            <a:spLocks noGrp="1"/>
          </p:cNvSpPr>
          <p:nvPr>
            <p:ph type="ctrTitle"/>
          </p:nvPr>
        </p:nvSpPr>
        <p:spPr/>
        <p:txBody>
          <a:bodyPr/>
          <a:lstStyle/>
          <a:p>
            <a:r>
              <a:rPr lang="en-US" dirty="0"/>
              <a:t>Old</a:t>
            </a:r>
          </a:p>
        </p:txBody>
      </p:sp>
      <p:sp>
        <p:nvSpPr>
          <p:cNvPr id="3" name="Subtitle 2">
            <a:extLst>
              <a:ext uri="{FF2B5EF4-FFF2-40B4-BE49-F238E27FC236}">
                <a16:creationId xmlns:a16="http://schemas.microsoft.com/office/drawing/2014/main" id="{18E9E69C-B0CF-4A44-A6F4-E20B91704211}"/>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200741311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A6B539-2AF8-D501-748C-D190CE835AB5}"/>
              </a:ext>
            </a:extLst>
          </p:cNvPr>
          <p:cNvSpPr>
            <a:spLocks noGrp="1"/>
          </p:cNvSpPr>
          <p:nvPr>
            <p:ph type="title"/>
          </p:nvPr>
        </p:nvSpPr>
        <p:spPr>
          <a:xfrm>
            <a:off x="838200" y="221341"/>
            <a:ext cx="10515600" cy="1061360"/>
          </a:xfrm>
        </p:spPr>
        <p:txBody>
          <a:bodyPr>
            <a:noAutofit/>
          </a:bodyPr>
          <a:lstStyle/>
          <a:p>
            <a:r>
              <a:rPr lang="en-US" sz="3200" dirty="0">
                <a:solidFill>
                  <a:srgbClr val="002060"/>
                </a:solidFill>
              </a:rPr>
              <a:t>Episodic memory is intertwined with relational memory</a:t>
            </a:r>
          </a:p>
        </p:txBody>
      </p:sp>
      <p:sp>
        <p:nvSpPr>
          <p:cNvPr id="3" name="Content Placeholder 2">
            <a:extLst>
              <a:ext uri="{FF2B5EF4-FFF2-40B4-BE49-F238E27FC236}">
                <a16:creationId xmlns:a16="http://schemas.microsoft.com/office/drawing/2014/main" id="{DBA5EF3A-B579-1F20-5251-7ADEA05C180E}"/>
              </a:ext>
            </a:extLst>
          </p:cNvPr>
          <p:cNvSpPr>
            <a:spLocks noGrp="1"/>
          </p:cNvSpPr>
          <p:nvPr>
            <p:ph idx="1"/>
          </p:nvPr>
        </p:nvSpPr>
        <p:spPr>
          <a:xfrm>
            <a:off x="451649" y="1314801"/>
            <a:ext cx="11020684" cy="5170666"/>
          </a:xfrm>
        </p:spPr>
        <p:txBody>
          <a:bodyPr>
            <a:normAutofit/>
          </a:bodyPr>
          <a:lstStyle/>
          <a:p>
            <a:r>
              <a:rPr lang="en-US" dirty="0"/>
              <a:t>What does it mean to retrieve an episodic memory?</a:t>
            </a:r>
          </a:p>
          <a:p>
            <a:pPr lvl="1"/>
            <a:r>
              <a:rPr lang="en-US" dirty="0"/>
              <a:t>It entails retrieving a bundle of items, tied together by relational memories</a:t>
            </a:r>
          </a:p>
          <a:p>
            <a:r>
              <a:rPr lang="en-US" dirty="0"/>
              <a:t>In the R/K test:</a:t>
            </a:r>
          </a:p>
          <a:p>
            <a:pPr lvl="1"/>
            <a:r>
              <a:rPr lang="en-US" dirty="0"/>
              <a:t>Remember responses reflect episodic memory and can be conceptualized as familiarity + relational memory</a:t>
            </a:r>
          </a:p>
          <a:p>
            <a:r>
              <a:rPr lang="en-US" dirty="0"/>
              <a:t>The study ideas here focus on episodic memory and relational memory</a:t>
            </a:r>
          </a:p>
          <a:p>
            <a:pPr lvl="1"/>
            <a:r>
              <a:rPr lang="en-US" dirty="0"/>
              <a:t>To investigate how individuals represent episodic memories and how individuals encode relations between items</a:t>
            </a:r>
          </a:p>
          <a:p>
            <a:pPr lvl="1"/>
            <a:r>
              <a:rPr lang="en-US" dirty="0"/>
              <a:t>There has been little RSA research investigating this type of complex neural encoding, which goes beyond item representation</a:t>
            </a:r>
          </a:p>
          <a:p>
            <a:pPr lvl="1"/>
            <a:r>
              <a:rPr lang="en-US" dirty="0"/>
              <a:t>Relational memory is a central focus of aging research</a:t>
            </a:r>
          </a:p>
          <a:p>
            <a:endParaRPr lang="en-US" dirty="0"/>
          </a:p>
          <a:p>
            <a:pPr lvl="1"/>
            <a:endParaRPr lang="en-US" dirty="0"/>
          </a:p>
        </p:txBody>
      </p:sp>
    </p:spTree>
    <p:extLst>
      <p:ext uri="{BB962C8B-B14F-4D97-AF65-F5344CB8AC3E}">
        <p14:creationId xmlns:p14="http://schemas.microsoft.com/office/powerpoint/2010/main" val="3581976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D2025-22BD-5A4D-9AC9-9EDC864D4C8F}"/>
              </a:ext>
            </a:extLst>
          </p:cNvPr>
          <p:cNvSpPr>
            <a:spLocks noGrp="1"/>
          </p:cNvSpPr>
          <p:nvPr>
            <p:ph type="title"/>
          </p:nvPr>
        </p:nvSpPr>
        <p:spPr>
          <a:xfrm>
            <a:off x="838200" y="216005"/>
            <a:ext cx="10515600" cy="1084263"/>
          </a:xfrm>
        </p:spPr>
        <p:txBody>
          <a:bodyPr>
            <a:noAutofit/>
          </a:bodyPr>
          <a:lstStyle/>
          <a:p>
            <a:r>
              <a:rPr lang="en-US" sz="3600" dirty="0">
                <a:solidFill>
                  <a:srgbClr val="002060"/>
                </a:solidFill>
              </a:rPr>
              <a:t>Examining relational memory from multiple levels</a:t>
            </a:r>
          </a:p>
        </p:txBody>
      </p:sp>
      <p:sp>
        <p:nvSpPr>
          <p:cNvPr id="3" name="Content Placeholder 2">
            <a:extLst>
              <a:ext uri="{FF2B5EF4-FFF2-40B4-BE49-F238E27FC236}">
                <a16:creationId xmlns:a16="http://schemas.microsoft.com/office/drawing/2014/main" id="{489A9E8A-319A-AAA0-1F7F-9FEF583D1C15}"/>
              </a:ext>
            </a:extLst>
          </p:cNvPr>
          <p:cNvSpPr>
            <a:spLocks noGrp="1"/>
          </p:cNvSpPr>
          <p:nvPr>
            <p:ph idx="1"/>
          </p:nvPr>
        </p:nvSpPr>
        <p:spPr>
          <a:xfrm>
            <a:off x="838200" y="1374069"/>
            <a:ext cx="10761133" cy="2736085"/>
          </a:xfrm>
        </p:spPr>
        <p:txBody>
          <a:bodyPr>
            <a:normAutofit/>
          </a:bodyPr>
          <a:lstStyle/>
          <a:p>
            <a:r>
              <a:rPr lang="en-US" dirty="0"/>
              <a:t>Spatial and temporal relational memory</a:t>
            </a:r>
          </a:p>
          <a:p>
            <a:pPr lvl="1"/>
            <a:r>
              <a:rPr lang="en-US" dirty="0"/>
              <a:t>Spatial relations exist among items within a scene</a:t>
            </a:r>
          </a:p>
          <a:p>
            <a:pPr lvl="1"/>
            <a:r>
              <a:rPr lang="en-US" dirty="0"/>
              <a:t>Temporal relations exist between scenes</a:t>
            </a:r>
          </a:p>
          <a:p>
            <a:r>
              <a:rPr lang="en-US" dirty="0"/>
              <a:t>Episodic vs. semantic retrieval</a:t>
            </a:r>
          </a:p>
        </p:txBody>
      </p:sp>
      <p:cxnSp>
        <p:nvCxnSpPr>
          <p:cNvPr id="4" name="Straight Arrow Connector 3">
            <a:extLst>
              <a:ext uri="{FF2B5EF4-FFF2-40B4-BE49-F238E27FC236}">
                <a16:creationId xmlns:a16="http://schemas.microsoft.com/office/drawing/2014/main" id="{437580CF-807B-59C4-2BD1-E3793EC680B1}"/>
              </a:ext>
            </a:extLst>
          </p:cNvPr>
          <p:cNvCxnSpPr/>
          <p:nvPr/>
        </p:nvCxnSpPr>
        <p:spPr>
          <a:xfrm>
            <a:off x="4798725" y="5038994"/>
            <a:ext cx="1692000"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 name="Oval 4">
            <a:extLst>
              <a:ext uri="{FF2B5EF4-FFF2-40B4-BE49-F238E27FC236}">
                <a16:creationId xmlns:a16="http://schemas.microsoft.com/office/drawing/2014/main" id="{709E0A05-D346-7BC1-B318-65310399F820}"/>
              </a:ext>
            </a:extLst>
          </p:cNvPr>
          <p:cNvSpPr/>
          <p:nvPr/>
        </p:nvSpPr>
        <p:spPr>
          <a:xfrm>
            <a:off x="6588821" y="4021888"/>
            <a:ext cx="612000" cy="612000"/>
          </a:xfrm>
          <a:prstGeom prst="ellipse">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6BBCE22A-D190-6587-F8B8-F2FE16B82C28}"/>
              </a:ext>
            </a:extLst>
          </p:cNvPr>
          <p:cNvSpPr/>
          <p:nvPr/>
        </p:nvSpPr>
        <p:spPr>
          <a:xfrm>
            <a:off x="6588821" y="5477875"/>
            <a:ext cx="612000" cy="612000"/>
          </a:xfrm>
          <a:prstGeom prst="ellipse">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DEE4B647-6802-8349-E542-8B505C87CA87}"/>
              </a:ext>
            </a:extLst>
          </p:cNvPr>
          <p:cNvSpPr/>
          <p:nvPr/>
        </p:nvSpPr>
        <p:spPr>
          <a:xfrm>
            <a:off x="8058858" y="4021888"/>
            <a:ext cx="612000" cy="612000"/>
          </a:xfrm>
          <a:prstGeom prst="ellipse">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D89A6244-DAAA-BE99-2FA0-52966FC4F5AA}"/>
              </a:ext>
            </a:extLst>
          </p:cNvPr>
          <p:cNvSpPr/>
          <p:nvPr/>
        </p:nvSpPr>
        <p:spPr>
          <a:xfrm>
            <a:off x="8058858" y="5477875"/>
            <a:ext cx="612000" cy="612000"/>
          </a:xfrm>
          <a:prstGeom prst="ellipse">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3472B2FE-78B6-3244-0EFC-C5164B96472C}"/>
              </a:ext>
            </a:extLst>
          </p:cNvPr>
          <p:cNvCxnSpPr>
            <a:cxnSpLocks/>
            <a:stCxn id="5" idx="5"/>
            <a:endCxn id="8" idx="1"/>
          </p:cNvCxnSpPr>
          <p:nvPr/>
        </p:nvCxnSpPr>
        <p:spPr>
          <a:xfrm>
            <a:off x="7111196" y="4544263"/>
            <a:ext cx="1037287" cy="1023237"/>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CE9E80D-F97A-65F9-A3B1-29C7DDB54D30}"/>
              </a:ext>
            </a:extLst>
          </p:cNvPr>
          <p:cNvCxnSpPr>
            <a:cxnSpLocks/>
            <a:stCxn id="6" idx="6"/>
            <a:endCxn id="8" idx="2"/>
          </p:cNvCxnSpPr>
          <p:nvPr/>
        </p:nvCxnSpPr>
        <p:spPr>
          <a:xfrm>
            <a:off x="7200821" y="5783875"/>
            <a:ext cx="858037"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08B41E27-BD97-F45F-7031-A7DE9A7EA8CE}"/>
              </a:ext>
            </a:extLst>
          </p:cNvPr>
          <p:cNvCxnSpPr>
            <a:cxnSpLocks/>
            <a:stCxn id="8" idx="0"/>
            <a:endCxn id="7" idx="4"/>
          </p:cNvCxnSpPr>
          <p:nvPr/>
        </p:nvCxnSpPr>
        <p:spPr>
          <a:xfrm flipV="1">
            <a:off x="8364858" y="4633888"/>
            <a:ext cx="0" cy="843987"/>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319F8D9B-BF08-3FAB-BEE8-9D54BB06D534}"/>
              </a:ext>
            </a:extLst>
          </p:cNvPr>
          <p:cNvCxnSpPr>
            <a:cxnSpLocks/>
            <a:stCxn id="5" idx="6"/>
            <a:endCxn id="7" idx="2"/>
          </p:cNvCxnSpPr>
          <p:nvPr/>
        </p:nvCxnSpPr>
        <p:spPr>
          <a:xfrm>
            <a:off x="7200821" y="4327888"/>
            <a:ext cx="858037"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06D6A75-D8FA-D2D3-E1DB-06257A97267E}"/>
              </a:ext>
            </a:extLst>
          </p:cNvPr>
          <p:cNvCxnSpPr>
            <a:cxnSpLocks/>
            <a:stCxn id="6" idx="0"/>
            <a:endCxn id="5" idx="4"/>
          </p:cNvCxnSpPr>
          <p:nvPr/>
        </p:nvCxnSpPr>
        <p:spPr>
          <a:xfrm flipV="1">
            <a:off x="6894821" y="4633888"/>
            <a:ext cx="0" cy="843987"/>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6C7B98D-73ED-E1E2-61A8-4158E4473181}"/>
              </a:ext>
            </a:extLst>
          </p:cNvPr>
          <p:cNvCxnSpPr>
            <a:cxnSpLocks/>
            <a:stCxn id="6" idx="7"/>
            <a:endCxn id="7" idx="3"/>
          </p:cNvCxnSpPr>
          <p:nvPr/>
        </p:nvCxnSpPr>
        <p:spPr>
          <a:xfrm flipV="1">
            <a:off x="7111196" y="4544263"/>
            <a:ext cx="1037287" cy="1023237"/>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08B49F0F-697D-B487-1007-41403F0A1CA7}"/>
              </a:ext>
            </a:extLst>
          </p:cNvPr>
          <p:cNvSpPr/>
          <p:nvPr/>
        </p:nvSpPr>
        <p:spPr>
          <a:xfrm>
            <a:off x="2651021" y="4021888"/>
            <a:ext cx="612000" cy="612000"/>
          </a:xfrm>
          <a:prstGeom prst="ellipse">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74FC456B-5178-55C1-F801-6C9A49C7266A}"/>
              </a:ext>
            </a:extLst>
          </p:cNvPr>
          <p:cNvSpPr/>
          <p:nvPr/>
        </p:nvSpPr>
        <p:spPr>
          <a:xfrm>
            <a:off x="2651021" y="5477875"/>
            <a:ext cx="612000" cy="612000"/>
          </a:xfrm>
          <a:prstGeom prst="ellipse">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B37315BE-C5DF-1175-99BE-F4872FFFF4DA}"/>
              </a:ext>
            </a:extLst>
          </p:cNvPr>
          <p:cNvSpPr/>
          <p:nvPr/>
        </p:nvSpPr>
        <p:spPr>
          <a:xfrm>
            <a:off x="4121058" y="4021888"/>
            <a:ext cx="612000" cy="612000"/>
          </a:xfrm>
          <a:prstGeom prst="ellipse">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717EEAE2-51F1-D44E-A27D-57EC10A0F5F6}"/>
              </a:ext>
            </a:extLst>
          </p:cNvPr>
          <p:cNvSpPr/>
          <p:nvPr/>
        </p:nvSpPr>
        <p:spPr>
          <a:xfrm>
            <a:off x="4121058" y="5477875"/>
            <a:ext cx="612000" cy="612000"/>
          </a:xfrm>
          <a:prstGeom prst="ellipse">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a:extLst>
              <a:ext uri="{FF2B5EF4-FFF2-40B4-BE49-F238E27FC236}">
                <a16:creationId xmlns:a16="http://schemas.microsoft.com/office/drawing/2014/main" id="{FC064E44-95A9-0AAC-4DA4-A66C2FD08D59}"/>
              </a:ext>
            </a:extLst>
          </p:cNvPr>
          <p:cNvCxnSpPr>
            <a:cxnSpLocks/>
            <a:stCxn id="15" idx="5"/>
            <a:endCxn id="18" idx="1"/>
          </p:cNvCxnSpPr>
          <p:nvPr/>
        </p:nvCxnSpPr>
        <p:spPr>
          <a:xfrm>
            <a:off x="3173396" y="4544263"/>
            <a:ext cx="1037287" cy="1023237"/>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8D001CF7-EA77-D826-9DBB-D9D6AA12B8CE}"/>
              </a:ext>
            </a:extLst>
          </p:cNvPr>
          <p:cNvCxnSpPr>
            <a:cxnSpLocks/>
            <a:stCxn id="16" idx="6"/>
            <a:endCxn id="18" idx="2"/>
          </p:cNvCxnSpPr>
          <p:nvPr/>
        </p:nvCxnSpPr>
        <p:spPr>
          <a:xfrm>
            <a:off x="3263021" y="5783875"/>
            <a:ext cx="858037"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8243E4CD-8311-446D-E6AC-5231385DD847}"/>
              </a:ext>
            </a:extLst>
          </p:cNvPr>
          <p:cNvCxnSpPr>
            <a:cxnSpLocks/>
            <a:stCxn id="18" idx="0"/>
            <a:endCxn id="17" idx="4"/>
          </p:cNvCxnSpPr>
          <p:nvPr/>
        </p:nvCxnSpPr>
        <p:spPr>
          <a:xfrm flipV="1">
            <a:off x="4427058" y="4633888"/>
            <a:ext cx="0" cy="843987"/>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BF0CBC2E-EA65-8756-B5CC-B282984C8A10}"/>
              </a:ext>
            </a:extLst>
          </p:cNvPr>
          <p:cNvCxnSpPr>
            <a:cxnSpLocks/>
            <a:stCxn id="15" idx="6"/>
            <a:endCxn id="17" idx="2"/>
          </p:cNvCxnSpPr>
          <p:nvPr/>
        </p:nvCxnSpPr>
        <p:spPr>
          <a:xfrm>
            <a:off x="3263021" y="4327888"/>
            <a:ext cx="858037"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B0642AD6-55AC-EC4B-46B1-0D1CBDA83D2B}"/>
              </a:ext>
            </a:extLst>
          </p:cNvPr>
          <p:cNvCxnSpPr>
            <a:cxnSpLocks/>
            <a:stCxn id="16" idx="0"/>
            <a:endCxn id="15" idx="4"/>
          </p:cNvCxnSpPr>
          <p:nvPr/>
        </p:nvCxnSpPr>
        <p:spPr>
          <a:xfrm flipV="1">
            <a:off x="2957021" y="4633888"/>
            <a:ext cx="0" cy="843987"/>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E6D38852-D039-CB56-C8AE-670F1B0CC1E4}"/>
              </a:ext>
            </a:extLst>
          </p:cNvPr>
          <p:cNvCxnSpPr>
            <a:cxnSpLocks/>
            <a:stCxn id="16" idx="7"/>
            <a:endCxn id="17" idx="3"/>
          </p:cNvCxnSpPr>
          <p:nvPr/>
        </p:nvCxnSpPr>
        <p:spPr>
          <a:xfrm flipV="1">
            <a:off x="3173396" y="4544263"/>
            <a:ext cx="1037287" cy="1023237"/>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155677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85D89-0549-0C95-0C4E-44910D4AF16B}"/>
              </a:ext>
            </a:extLst>
          </p:cNvPr>
          <p:cNvSpPr>
            <a:spLocks noGrp="1"/>
          </p:cNvSpPr>
          <p:nvPr>
            <p:ph type="title"/>
          </p:nvPr>
        </p:nvSpPr>
        <p:spPr>
          <a:xfrm>
            <a:off x="838200" y="46038"/>
            <a:ext cx="10515600" cy="1229278"/>
          </a:xfrm>
        </p:spPr>
        <p:txBody>
          <a:bodyPr>
            <a:normAutofit/>
          </a:bodyPr>
          <a:lstStyle/>
          <a:p>
            <a:r>
              <a:rPr lang="en-US" sz="3600" dirty="0">
                <a:solidFill>
                  <a:srgbClr val="002060"/>
                </a:solidFill>
              </a:rPr>
              <a:t>Broad aim: Focus on edges and groups not nodes</a:t>
            </a:r>
          </a:p>
        </p:txBody>
      </p:sp>
      <p:sp>
        <p:nvSpPr>
          <p:cNvPr id="3" name="Content Placeholder 2">
            <a:extLst>
              <a:ext uri="{FF2B5EF4-FFF2-40B4-BE49-F238E27FC236}">
                <a16:creationId xmlns:a16="http://schemas.microsoft.com/office/drawing/2014/main" id="{0712C86D-86B7-4BB1-21B2-7E11FEDD18D8}"/>
              </a:ext>
            </a:extLst>
          </p:cNvPr>
          <p:cNvSpPr>
            <a:spLocks noGrp="1"/>
          </p:cNvSpPr>
          <p:nvPr>
            <p:ph idx="1"/>
          </p:nvPr>
        </p:nvSpPr>
        <p:spPr>
          <a:xfrm>
            <a:off x="838200" y="1212897"/>
            <a:ext cx="10515600" cy="5465763"/>
          </a:xfrm>
        </p:spPr>
        <p:txBody>
          <a:bodyPr>
            <a:normAutofit fontScale="92500" lnSpcReduction="10000"/>
          </a:bodyPr>
          <a:lstStyle/>
          <a:p>
            <a:r>
              <a:rPr lang="en-US" dirty="0"/>
              <a:t>We do </a:t>
            </a:r>
            <a:r>
              <a:rPr lang="en-US" u="sng" dirty="0"/>
              <a:t>not</a:t>
            </a:r>
            <a:r>
              <a:rPr lang="en-US" dirty="0"/>
              <a:t> want to only study how multiple items representations may be active at the same time</a:t>
            </a:r>
          </a:p>
          <a:p>
            <a:pPr lvl="1"/>
            <a:r>
              <a:rPr lang="en-US" dirty="0"/>
              <a:t>Nor just study how activating one item representation leads to the activation of another item representation</a:t>
            </a:r>
          </a:p>
          <a:p>
            <a:pPr lvl="1"/>
            <a:r>
              <a:rPr lang="en-US" dirty="0"/>
              <a:t>Not novel enough</a:t>
            </a:r>
          </a:p>
          <a:p>
            <a:r>
              <a:rPr lang="en-US" dirty="0"/>
              <a:t>Rather, we want to investigate the relations themselves</a:t>
            </a:r>
          </a:p>
          <a:p>
            <a:pPr lvl="1"/>
            <a:r>
              <a:rPr lang="en-US" dirty="0"/>
              <a:t>Empirically: </a:t>
            </a:r>
          </a:p>
          <a:p>
            <a:pPr lvl="2"/>
            <a:r>
              <a:rPr lang="en-US" dirty="0"/>
              <a:t>During encoding: Identify the neural correlates of connecting item representations</a:t>
            </a:r>
          </a:p>
          <a:p>
            <a:pPr lvl="2"/>
            <a:r>
              <a:rPr lang="en-US" dirty="0"/>
              <a:t>During retrieval: Identify the neural correlates of activating a relation, which in turn activates an item representation</a:t>
            </a:r>
          </a:p>
          <a:p>
            <a:pPr lvl="1"/>
            <a:r>
              <a:rPr lang="en-US" dirty="0"/>
              <a:t>e.g., if two items are represented in the perirhinal cortex, and their association is implemented as connections from each representation to the hippocampus. </a:t>
            </a:r>
          </a:p>
          <a:p>
            <a:pPr lvl="2"/>
            <a:r>
              <a:rPr lang="en-US" dirty="0"/>
              <a:t>Can we model the hippocampal signatures of the relation being encoded and, later, the relation being activated used during retrieval?</a:t>
            </a:r>
          </a:p>
          <a:p>
            <a:pPr lvl="2"/>
            <a:r>
              <a:rPr lang="en-US" dirty="0"/>
              <a:t>Can we model an episodic memory as the collection of relations and items</a:t>
            </a:r>
          </a:p>
          <a:p>
            <a:pPr lvl="2"/>
            <a:r>
              <a:rPr lang="en-US" dirty="0"/>
              <a:t>Can we model the semantic network of relations that form among multiple stimuli?</a:t>
            </a:r>
          </a:p>
          <a:p>
            <a:r>
              <a:rPr lang="en-US" dirty="0"/>
              <a:t>Central novel design element: presenting some stimuli multiple times</a:t>
            </a:r>
          </a:p>
        </p:txBody>
      </p:sp>
    </p:spTree>
    <p:extLst>
      <p:ext uri="{BB962C8B-B14F-4D97-AF65-F5344CB8AC3E}">
        <p14:creationId xmlns:p14="http://schemas.microsoft.com/office/powerpoint/2010/main" val="1269157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9" end="9"/>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855CA-770A-C7A0-4CD1-558C690976E9}"/>
              </a:ext>
            </a:extLst>
          </p:cNvPr>
          <p:cNvSpPr>
            <a:spLocks noGrp="1"/>
          </p:cNvSpPr>
          <p:nvPr>
            <p:ph type="title"/>
          </p:nvPr>
        </p:nvSpPr>
        <p:spPr>
          <a:xfrm>
            <a:off x="838200" y="161925"/>
            <a:ext cx="10515600" cy="828675"/>
          </a:xfrm>
        </p:spPr>
        <p:txBody>
          <a:bodyPr/>
          <a:lstStyle/>
          <a:p>
            <a:r>
              <a:rPr lang="en-US" dirty="0">
                <a:solidFill>
                  <a:srgbClr val="002060"/>
                </a:solidFill>
              </a:rPr>
              <a:t>fMRI analysis</a:t>
            </a:r>
          </a:p>
        </p:txBody>
      </p:sp>
      <p:sp>
        <p:nvSpPr>
          <p:cNvPr id="3" name="Content Placeholder 2">
            <a:extLst>
              <a:ext uri="{FF2B5EF4-FFF2-40B4-BE49-F238E27FC236}">
                <a16:creationId xmlns:a16="http://schemas.microsoft.com/office/drawing/2014/main" id="{30352D74-6257-CA13-52FD-618450492F4C}"/>
              </a:ext>
            </a:extLst>
          </p:cNvPr>
          <p:cNvSpPr>
            <a:spLocks noGrp="1"/>
          </p:cNvSpPr>
          <p:nvPr>
            <p:ph idx="1"/>
          </p:nvPr>
        </p:nvSpPr>
        <p:spPr>
          <a:xfrm>
            <a:off x="838200" y="1079500"/>
            <a:ext cx="10735734" cy="5616575"/>
          </a:xfrm>
        </p:spPr>
        <p:txBody>
          <a:bodyPr>
            <a:normAutofit/>
          </a:bodyPr>
          <a:lstStyle/>
          <a:p>
            <a:r>
              <a:rPr lang="en-US" sz="2400" dirty="0"/>
              <a:t>How do we investigate the neural correlates of relational memory encoding?</a:t>
            </a:r>
          </a:p>
          <a:p>
            <a:r>
              <a:rPr lang="en-US" sz="2400" dirty="0"/>
              <a:t>One possible way is with RSA using combination vectors</a:t>
            </a:r>
          </a:p>
          <a:p>
            <a:pPr lvl="1"/>
            <a:r>
              <a:rPr lang="en-US" sz="2000" dirty="0"/>
              <a:t>Combining stimulus features linked to each items</a:t>
            </a:r>
          </a:p>
          <a:p>
            <a:r>
              <a:rPr lang="en-US" sz="2400" dirty="0"/>
              <a:t>Alternatively, because some stimuli are presented multiple times, we can leverage this and measure similarity between trials involving associations to the same stimulus </a:t>
            </a:r>
          </a:p>
          <a:p>
            <a:pPr lvl="1"/>
            <a:r>
              <a:rPr lang="en-US" sz="2000" dirty="0"/>
              <a:t>Participants encode relations </a:t>
            </a:r>
            <a:r>
              <a:rPr lang="en-US" sz="2000" i="1" dirty="0"/>
              <a:t>Bird-Pizza</a:t>
            </a:r>
            <a:r>
              <a:rPr lang="en-US" sz="2000" dirty="0"/>
              <a:t> and </a:t>
            </a:r>
            <a:r>
              <a:rPr lang="en-US" sz="2000" i="1" dirty="0"/>
              <a:t>Cat-Pizza</a:t>
            </a:r>
          </a:p>
          <a:p>
            <a:pPr lvl="1"/>
            <a:r>
              <a:rPr lang="en-US" sz="2000" dirty="0"/>
              <a:t>Later, during retrieval, we may see similarity between retrieval of </a:t>
            </a:r>
            <a:r>
              <a:rPr lang="en-US" sz="2000" i="1" dirty="0"/>
              <a:t>Bird</a:t>
            </a:r>
            <a:r>
              <a:rPr lang="en-US" sz="2000" dirty="0"/>
              <a:t> and </a:t>
            </a:r>
            <a:r>
              <a:rPr lang="en-US" sz="2000" i="1" dirty="0"/>
              <a:t>Cat</a:t>
            </a:r>
          </a:p>
          <a:p>
            <a:pPr lvl="2"/>
            <a:r>
              <a:rPr lang="en-US" dirty="0"/>
              <a:t>Regions showing similarity indicate areas involved in encoding relations to specific other stimuli </a:t>
            </a:r>
          </a:p>
          <a:p>
            <a:pPr lvl="2"/>
            <a:r>
              <a:rPr lang="en-US" sz="1800" dirty="0"/>
              <a:t>Need to rule out the possibility that the similarity is due to simply retrieval of the A item representation</a:t>
            </a:r>
          </a:p>
          <a:p>
            <a:pPr lvl="1"/>
            <a:r>
              <a:rPr lang="en-US" sz="2200" dirty="0"/>
              <a:t>Through this and additional analyses, we can distinguish:</a:t>
            </a:r>
          </a:p>
          <a:p>
            <a:pPr lvl="2"/>
            <a:r>
              <a:rPr lang="en-US" sz="1800" dirty="0"/>
              <a:t>(1) Regions where specific relations are encoded</a:t>
            </a:r>
          </a:p>
          <a:p>
            <a:pPr lvl="2"/>
            <a:r>
              <a:rPr lang="en-US" sz="1800" dirty="0"/>
              <a:t>(2) Regions that support relational memory encoding yet do not contain the relations</a:t>
            </a:r>
          </a:p>
          <a:p>
            <a:pPr lvl="2"/>
            <a:r>
              <a:rPr lang="en-US" sz="1800" dirty="0"/>
              <a:t>(3) Regions where items are encoded</a:t>
            </a:r>
          </a:p>
        </p:txBody>
      </p:sp>
    </p:spTree>
    <p:extLst>
      <p:ext uri="{BB962C8B-B14F-4D97-AF65-F5344CB8AC3E}">
        <p14:creationId xmlns:p14="http://schemas.microsoft.com/office/powerpoint/2010/main" val="397417083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401E3-C38D-D2F6-896D-9241C4B1D4AB}"/>
              </a:ext>
            </a:extLst>
          </p:cNvPr>
          <p:cNvSpPr>
            <a:spLocks noGrp="1"/>
          </p:cNvSpPr>
          <p:nvPr>
            <p:ph type="title"/>
          </p:nvPr>
        </p:nvSpPr>
        <p:spPr>
          <a:xfrm>
            <a:off x="838200" y="118463"/>
            <a:ext cx="10515600" cy="998729"/>
          </a:xfrm>
        </p:spPr>
        <p:txBody>
          <a:bodyPr/>
          <a:lstStyle/>
          <a:p>
            <a:r>
              <a:rPr lang="en-US" dirty="0">
                <a:solidFill>
                  <a:srgbClr val="002060"/>
                </a:solidFill>
              </a:rPr>
              <a:t>Building on this analytic direction</a:t>
            </a:r>
          </a:p>
        </p:txBody>
      </p:sp>
      <p:sp>
        <p:nvSpPr>
          <p:cNvPr id="3" name="Content Placeholder 2">
            <a:extLst>
              <a:ext uri="{FF2B5EF4-FFF2-40B4-BE49-F238E27FC236}">
                <a16:creationId xmlns:a16="http://schemas.microsoft.com/office/drawing/2014/main" id="{14FB3116-0E3A-7552-55D1-E841923C3B94}"/>
              </a:ext>
            </a:extLst>
          </p:cNvPr>
          <p:cNvSpPr>
            <a:spLocks noGrp="1"/>
          </p:cNvSpPr>
          <p:nvPr>
            <p:ph idx="1"/>
          </p:nvPr>
        </p:nvSpPr>
        <p:spPr>
          <a:xfrm>
            <a:off x="796992" y="1352720"/>
            <a:ext cx="7147586" cy="5386817"/>
          </a:xfrm>
        </p:spPr>
        <p:txBody>
          <a:bodyPr>
            <a:normAutofit fontScale="92500"/>
          </a:bodyPr>
          <a:lstStyle/>
          <a:p>
            <a:r>
              <a:rPr lang="en-US" dirty="0"/>
              <a:t>Suppose participants encode eight relations:</a:t>
            </a:r>
          </a:p>
          <a:p>
            <a:pPr lvl="1"/>
            <a:r>
              <a:rPr lang="en-US" dirty="0"/>
              <a:t>X-A, X-B</a:t>
            </a:r>
          </a:p>
          <a:p>
            <a:pPr lvl="1"/>
            <a:r>
              <a:rPr lang="en-US" dirty="0"/>
              <a:t>Y-A, Y-B</a:t>
            </a:r>
          </a:p>
          <a:p>
            <a:pPr lvl="1"/>
            <a:r>
              <a:rPr lang="en-US" dirty="0"/>
              <a:t>Z-A, Z-C</a:t>
            </a:r>
          </a:p>
          <a:p>
            <a:pPr lvl="1"/>
            <a:r>
              <a:rPr lang="en-US" dirty="0"/>
              <a:t>W-C, W-D</a:t>
            </a:r>
          </a:p>
          <a:p>
            <a:r>
              <a:rPr lang="en-US" dirty="0"/>
              <a:t>In terms of the relations encoded:</a:t>
            </a:r>
          </a:p>
          <a:p>
            <a:pPr lvl="1"/>
            <a:r>
              <a:rPr lang="en-US" dirty="0"/>
              <a:t>X is very similar to Y (both connected to A &amp; B)</a:t>
            </a:r>
          </a:p>
          <a:p>
            <a:pPr lvl="1"/>
            <a:r>
              <a:rPr lang="en-US" dirty="0"/>
              <a:t>X is somewhat similar to Z (both connected to A)</a:t>
            </a:r>
          </a:p>
          <a:p>
            <a:pPr lvl="1"/>
            <a:r>
              <a:rPr lang="en-US" dirty="0"/>
              <a:t>X shows no similarity with W</a:t>
            </a:r>
          </a:p>
          <a:p>
            <a:r>
              <a:rPr lang="en-US" dirty="0"/>
              <a:t>Illustrated as an RSM</a:t>
            </a:r>
          </a:p>
          <a:p>
            <a:pPr lvl="1"/>
            <a:r>
              <a:rPr lang="en-US" dirty="0"/>
              <a:t>Performing RSA using this RSM expands the analysis on the previous slide to work with many stimuli and relations</a:t>
            </a:r>
          </a:p>
          <a:p>
            <a:pPr lvl="1"/>
            <a:endParaRPr lang="en-US" dirty="0"/>
          </a:p>
          <a:p>
            <a:pPr lvl="1"/>
            <a:endParaRPr lang="en-US" dirty="0"/>
          </a:p>
        </p:txBody>
      </p:sp>
      <p:sp>
        <p:nvSpPr>
          <p:cNvPr id="4" name="Rectangle 3">
            <a:extLst>
              <a:ext uri="{FF2B5EF4-FFF2-40B4-BE49-F238E27FC236}">
                <a16:creationId xmlns:a16="http://schemas.microsoft.com/office/drawing/2014/main" id="{FDBF3C6D-B660-C17C-2B5B-795C7A7B7582}"/>
              </a:ext>
            </a:extLst>
          </p:cNvPr>
          <p:cNvSpPr/>
          <p:nvPr/>
        </p:nvSpPr>
        <p:spPr>
          <a:xfrm>
            <a:off x="10553105" y="2257517"/>
            <a:ext cx="279400" cy="279400"/>
          </a:xfrm>
          <a:prstGeom prst="rect">
            <a:avLst/>
          </a:prstGeom>
          <a:solidFill>
            <a:schemeClr val="bg1"/>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88A88778-4B6F-9AC2-440C-F530F417C710}"/>
              </a:ext>
            </a:extLst>
          </p:cNvPr>
          <p:cNvSpPr/>
          <p:nvPr/>
        </p:nvSpPr>
        <p:spPr>
          <a:xfrm>
            <a:off x="10553105" y="2602363"/>
            <a:ext cx="279400" cy="279400"/>
          </a:xfrm>
          <a:prstGeom prst="rect">
            <a:avLst/>
          </a:prstGeom>
          <a:solidFill>
            <a:schemeClr val="bg1"/>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FA9E2092-67CF-8421-3AD9-80A89F553190}"/>
              </a:ext>
            </a:extLst>
          </p:cNvPr>
          <p:cNvSpPr/>
          <p:nvPr/>
        </p:nvSpPr>
        <p:spPr>
          <a:xfrm>
            <a:off x="10553105" y="2947209"/>
            <a:ext cx="279400" cy="279400"/>
          </a:xfrm>
          <a:prstGeom prst="rect">
            <a:avLst/>
          </a:prstGeom>
          <a:solidFill>
            <a:schemeClr val="bg1">
              <a:lumMod val="75000"/>
            </a:schemeClr>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22DD7A5-E55C-B1E1-C758-78048607D6C8}"/>
              </a:ext>
            </a:extLst>
          </p:cNvPr>
          <p:cNvSpPr/>
          <p:nvPr/>
        </p:nvSpPr>
        <p:spPr>
          <a:xfrm>
            <a:off x="9875491" y="2257517"/>
            <a:ext cx="279400" cy="279400"/>
          </a:xfrm>
          <a:prstGeom prst="rect">
            <a:avLst/>
          </a:prstGeom>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D12D4D7B-0256-D4EE-CAD6-26EEA20F3A70}"/>
              </a:ext>
            </a:extLst>
          </p:cNvPr>
          <p:cNvSpPr/>
          <p:nvPr/>
        </p:nvSpPr>
        <p:spPr>
          <a:xfrm>
            <a:off x="9875491" y="2947209"/>
            <a:ext cx="279400" cy="279400"/>
          </a:xfrm>
          <a:prstGeom prst="rect">
            <a:avLst/>
          </a:prstGeom>
          <a:solidFill>
            <a:schemeClr val="bg1">
              <a:lumMod val="75000"/>
            </a:schemeClr>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9BE8971E-8D20-D3DD-C43B-380ECB52CEC0}"/>
              </a:ext>
            </a:extLst>
          </p:cNvPr>
          <p:cNvSpPr/>
          <p:nvPr/>
        </p:nvSpPr>
        <p:spPr>
          <a:xfrm>
            <a:off x="9875491" y="3292055"/>
            <a:ext cx="279400" cy="279400"/>
          </a:xfrm>
          <a:prstGeom prst="rect">
            <a:avLst/>
          </a:prstGeom>
          <a:solidFill>
            <a:schemeClr val="bg1"/>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86664B0C-1AD4-A832-0A4A-1445F382F157}"/>
              </a:ext>
            </a:extLst>
          </p:cNvPr>
          <p:cNvSpPr/>
          <p:nvPr/>
        </p:nvSpPr>
        <p:spPr>
          <a:xfrm>
            <a:off x="10214298" y="2257517"/>
            <a:ext cx="279400" cy="279400"/>
          </a:xfrm>
          <a:prstGeom prst="rect">
            <a:avLst/>
          </a:prstGeom>
          <a:solidFill>
            <a:schemeClr val="bg1">
              <a:lumMod val="75000"/>
            </a:schemeClr>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264A2850-D63C-440B-75C6-849B097228DA}"/>
              </a:ext>
            </a:extLst>
          </p:cNvPr>
          <p:cNvSpPr/>
          <p:nvPr/>
        </p:nvSpPr>
        <p:spPr>
          <a:xfrm>
            <a:off x="10214298" y="2602363"/>
            <a:ext cx="279400" cy="279400"/>
          </a:xfrm>
          <a:prstGeom prst="rect">
            <a:avLst/>
          </a:prstGeom>
          <a:solidFill>
            <a:schemeClr val="bg1">
              <a:lumMod val="75000"/>
            </a:schemeClr>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FDF3E3BD-CD80-5FC0-D7CD-A00A709AAD46}"/>
              </a:ext>
            </a:extLst>
          </p:cNvPr>
          <p:cNvSpPr/>
          <p:nvPr/>
        </p:nvSpPr>
        <p:spPr>
          <a:xfrm>
            <a:off x="10214298" y="3292055"/>
            <a:ext cx="279400" cy="279400"/>
          </a:xfrm>
          <a:prstGeom prst="rect">
            <a:avLst/>
          </a:prstGeom>
          <a:solidFill>
            <a:schemeClr val="bg1">
              <a:lumMod val="75000"/>
            </a:schemeClr>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A324FBB5-844A-47D3-D0B5-10A22116543B}"/>
              </a:ext>
            </a:extLst>
          </p:cNvPr>
          <p:cNvSpPr/>
          <p:nvPr/>
        </p:nvSpPr>
        <p:spPr>
          <a:xfrm>
            <a:off x="9540777" y="2602363"/>
            <a:ext cx="279400" cy="279400"/>
          </a:xfrm>
          <a:prstGeom prst="rect">
            <a:avLst/>
          </a:prstGeom>
          <a:solidFill>
            <a:schemeClr val="tx1"/>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D68420B5-7618-A2B4-225B-C7CEFF57EBB5}"/>
              </a:ext>
            </a:extLst>
          </p:cNvPr>
          <p:cNvSpPr/>
          <p:nvPr/>
        </p:nvSpPr>
        <p:spPr>
          <a:xfrm>
            <a:off x="9540777" y="2947209"/>
            <a:ext cx="279400" cy="279400"/>
          </a:xfrm>
          <a:prstGeom prst="rect">
            <a:avLst/>
          </a:prstGeom>
          <a:solidFill>
            <a:schemeClr val="bg1">
              <a:lumMod val="75000"/>
            </a:schemeClr>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3101E58D-C935-4CA1-77F2-B7022FC8CA9D}"/>
              </a:ext>
            </a:extLst>
          </p:cNvPr>
          <p:cNvSpPr/>
          <p:nvPr/>
        </p:nvSpPr>
        <p:spPr>
          <a:xfrm>
            <a:off x="9540777" y="3292055"/>
            <a:ext cx="279400" cy="279400"/>
          </a:xfrm>
          <a:prstGeom prst="rect">
            <a:avLst/>
          </a:prstGeom>
          <a:solidFill>
            <a:schemeClr val="bg1"/>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78" name="TextBox 77">
            <a:extLst>
              <a:ext uri="{FF2B5EF4-FFF2-40B4-BE49-F238E27FC236}">
                <a16:creationId xmlns:a16="http://schemas.microsoft.com/office/drawing/2014/main" id="{003C2457-615B-AF87-DCB7-B3F5162D6AD3}"/>
              </a:ext>
            </a:extLst>
          </p:cNvPr>
          <p:cNvSpPr txBox="1"/>
          <p:nvPr/>
        </p:nvSpPr>
        <p:spPr>
          <a:xfrm>
            <a:off x="9157764" y="2215080"/>
            <a:ext cx="33855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X</a:t>
            </a:r>
          </a:p>
        </p:txBody>
      </p:sp>
      <p:sp>
        <p:nvSpPr>
          <p:cNvPr id="79" name="TextBox 78">
            <a:extLst>
              <a:ext uri="{FF2B5EF4-FFF2-40B4-BE49-F238E27FC236}">
                <a16:creationId xmlns:a16="http://schemas.microsoft.com/office/drawing/2014/main" id="{377EB0A3-04A5-DE44-A5D9-DE15F27F28D0}"/>
              </a:ext>
            </a:extLst>
          </p:cNvPr>
          <p:cNvSpPr txBox="1"/>
          <p:nvPr/>
        </p:nvSpPr>
        <p:spPr>
          <a:xfrm>
            <a:off x="9157764" y="2559148"/>
            <a:ext cx="33855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Y</a:t>
            </a:r>
          </a:p>
        </p:txBody>
      </p:sp>
      <p:sp>
        <p:nvSpPr>
          <p:cNvPr id="80" name="TextBox 79">
            <a:extLst>
              <a:ext uri="{FF2B5EF4-FFF2-40B4-BE49-F238E27FC236}">
                <a16:creationId xmlns:a16="http://schemas.microsoft.com/office/drawing/2014/main" id="{803769A3-A6EC-BC2C-D673-400D799E22FC}"/>
              </a:ext>
            </a:extLst>
          </p:cNvPr>
          <p:cNvSpPr txBox="1"/>
          <p:nvPr/>
        </p:nvSpPr>
        <p:spPr>
          <a:xfrm>
            <a:off x="9157764" y="2903216"/>
            <a:ext cx="33855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Z</a:t>
            </a:r>
          </a:p>
        </p:txBody>
      </p:sp>
      <p:sp>
        <p:nvSpPr>
          <p:cNvPr id="81" name="TextBox 80">
            <a:extLst>
              <a:ext uri="{FF2B5EF4-FFF2-40B4-BE49-F238E27FC236}">
                <a16:creationId xmlns:a16="http://schemas.microsoft.com/office/drawing/2014/main" id="{ADEA4B86-F02E-1403-A930-51B0E3F5C7F5}"/>
              </a:ext>
            </a:extLst>
          </p:cNvPr>
          <p:cNvSpPr txBox="1"/>
          <p:nvPr/>
        </p:nvSpPr>
        <p:spPr>
          <a:xfrm>
            <a:off x="9122323" y="3247285"/>
            <a:ext cx="40267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W</a:t>
            </a:r>
          </a:p>
        </p:txBody>
      </p:sp>
      <p:sp>
        <p:nvSpPr>
          <p:cNvPr id="82" name="TextBox 81">
            <a:extLst>
              <a:ext uri="{FF2B5EF4-FFF2-40B4-BE49-F238E27FC236}">
                <a16:creationId xmlns:a16="http://schemas.microsoft.com/office/drawing/2014/main" id="{F5B6834D-C8A0-C636-3059-193EFF59E29D}"/>
              </a:ext>
            </a:extLst>
          </p:cNvPr>
          <p:cNvSpPr txBox="1"/>
          <p:nvPr/>
        </p:nvSpPr>
        <p:spPr>
          <a:xfrm>
            <a:off x="9510494" y="1873061"/>
            <a:ext cx="33855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X</a:t>
            </a:r>
          </a:p>
        </p:txBody>
      </p:sp>
      <p:sp>
        <p:nvSpPr>
          <p:cNvPr id="83" name="TextBox 82">
            <a:extLst>
              <a:ext uri="{FF2B5EF4-FFF2-40B4-BE49-F238E27FC236}">
                <a16:creationId xmlns:a16="http://schemas.microsoft.com/office/drawing/2014/main" id="{332C7A99-C6A8-CA6E-ACC0-7B7B99944B15}"/>
              </a:ext>
            </a:extLst>
          </p:cNvPr>
          <p:cNvSpPr txBox="1"/>
          <p:nvPr/>
        </p:nvSpPr>
        <p:spPr>
          <a:xfrm>
            <a:off x="10488414" y="1873061"/>
            <a:ext cx="40267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W</a:t>
            </a:r>
          </a:p>
        </p:txBody>
      </p:sp>
      <p:sp>
        <p:nvSpPr>
          <p:cNvPr id="84" name="TextBox 83">
            <a:extLst>
              <a:ext uri="{FF2B5EF4-FFF2-40B4-BE49-F238E27FC236}">
                <a16:creationId xmlns:a16="http://schemas.microsoft.com/office/drawing/2014/main" id="{C061AB7A-92A7-7DDE-8026-4EF9237D1092}"/>
              </a:ext>
            </a:extLst>
          </p:cNvPr>
          <p:cNvSpPr txBox="1"/>
          <p:nvPr/>
        </p:nvSpPr>
        <p:spPr>
          <a:xfrm>
            <a:off x="10184032" y="1873061"/>
            <a:ext cx="33855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Z</a:t>
            </a:r>
          </a:p>
        </p:txBody>
      </p:sp>
      <p:sp>
        <p:nvSpPr>
          <p:cNvPr id="85" name="TextBox 84">
            <a:extLst>
              <a:ext uri="{FF2B5EF4-FFF2-40B4-BE49-F238E27FC236}">
                <a16:creationId xmlns:a16="http://schemas.microsoft.com/office/drawing/2014/main" id="{D0F36D53-F16E-9E07-865A-3EAD8453B0D0}"/>
              </a:ext>
            </a:extLst>
          </p:cNvPr>
          <p:cNvSpPr txBox="1"/>
          <p:nvPr/>
        </p:nvSpPr>
        <p:spPr>
          <a:xfrm>
            <a:off x="9847263" y="1873061"/>
            <a:ext cx="33855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Y</a:t>
            </a:r>
          </a:p>
        </p:txBody>
      </p:sp>
    </p:spTree>
    <p:extLst>
      <p:ext uri="{BB962C8B-B14F-4D97-AF65-F5344CB8AC3E}">
        <p14:creationId xmlns:p14="http://schemas.microsoft.com/office/powerpoint/2010/main" val="15052014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9" end="9"/>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0" end="10"/>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7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79"/>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8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81"/>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82"/>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83"/>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84"/>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21" grpId="0" animBg="1"/>
      <p:bldP spid="23" grpId="0" animBg="1"/>
      <p:bldP spid="24" grpId="0" animBg="1"/>
      <p:bldP spid="26" grpId="0" animBg="1"/>
      <p:bldP spid="27" grpId="0" animBg="1"/>
      <p:bldP spid="29" grpId="0" animBg="1"/>
      <p:bldP spid="32" grpId="0" animBg="1"/>
      <p:bldP spid="33" grpId="0" animBg="1"/>
      <p:bldP spid="34" grpId="0" animBg="1"/>
      <p:bldP spid="78" grpId="0"/>
      <p:bldP spid="79" grpId="0"/>
      <p:bldP spid="80" grpId="0"/>
      <p:bldP spid="81" grpId="0"/>
      <p:bldP spid="82" grpId="0"/>
      <p:bldP spid="83" grpId="0"/>
      <p:bldP spid="84" grpId="0"/>
      <p:bldP spid="85"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401E3-C38D-D2F6-896D-9241C4B1D4AB}"/>
              </a:ext>
            </a:extLst>
          </p:cNvPr>
          <p:cNvSpPr>
            <a:spLocks noGrp="1"/>
          </p:cNvSpPr>
          <p:nvPr>
            <p:ph type="title"/>
          </p:nvPr>
        </p:nvSpPr>
        <p:spPr>
          <a:xfrm>
            <a:off x="838200" y="118463"/>
            <a:ext cx="10515600" cy="998729"/>
          </a:xfrm>
        </p:spPr>
        <p:txBody>
          <a:bodyPr>
            <a:normAutofit fontScale="90000"/>
          </a:bodyPr>
          <a:lstStyle/>
          <a:p>
            <a:r>
              <a:rPr lang="en-US" dirty="0">
                <a:solidFill>
                  <a:srgbClr val="002060"/>
                </a:solidFill>
              </a:rPr>
              <a:t>Ways to extend and interpret these analyses</a:t>
            </a:r>
          </a:p>
        </p:txBody>
      </p:sp>
      <p:sp>
        <p:nvSpPr>
          <p:cNvPr id="3" name="Content Placeholder 2">
            <a:extLst>
              <a:ext uri="{FF2B5EF4-FFF2-40B4-BE49-F238E27FC236}">
                <a16:creationId xmlns:a16="http://schemas.microsoft.com/office/drawing/2014/main" id="{14FB3116-0E3A-7552-55D1-E841923C3B94}"/>
              </a:ext>
            </a:extLst>
          </p:cNvPr>
          <p:cNvSpPr>
            <a:spLocks noGrp="1"/>
          </p:cNvSpPr>
          <p:nvPr>
            <p:ph idx="1"/>
          </p:nvPr>
        </p:nvSpPr>
        <p:spPr>
          <a:xfrm>
            <a:off x="627525" y="1210328"/>
            <a:ext cx="7147586" cy="5386817"/>
          </a:xfrm>
        </p:spPr>
        <p:txBody>
          <a:bodyPr>
            <a:normAutofit fontScale="85000" lnSpcReduction="10000"/>
          </a:bodyPr>
          <a:lstStyle/>
          <a:p>
            <a:r>
              <a:rPr lang="en-US" dirty="0"/>
              <a:t>Participants encode a relational network</a:t>
            </a:r>
          </a:p>
          <a:p>
            <a:pPr lvl="1"/>
            <a:r>
              <a:rPr lang="en-US" dirty="0"/>
              <a:t>Opens the door for graph theory analysis</a:t>
            </a:r>
          </a:p>
          <a:p>
            <a:pPr lvl="1"/>
            <a:r>
              <a:rPr lang="en-US" dirty="0"/>
              <a:t>e.g., effects of retrieving stimuli with high centrality</a:t>
            </a:r>
          </a:p>
          <a:p>
            <a:pPr lvl="1"/>
            <a:r>
              <a:rPr lang="en-US" dirty="0"/>
              <a:t>Parallels that journal club study which involved video clips</a:t>
            </a:r>
          </a:p>
          <a:p>
            <a:r>
              <a:rPr lang="en-US" dirty="0"/>
              <a:t>Participants encode a map</a:t>
            </a:r>
          </a:p>
          <a:p>
            <a:pPr lvl="1"/>
            <a:r>
              <a:rPr lang="en-US" dirty="0"/>
              <a:t>Potential links to research on the PPA and spatial memory</a:t>
            </a:r>
          </a:p>
          <a:p>
            <a:pPr lvl="2"/>
            <a:r>
              <a:rPr lang="en-US" dirty="0"/>
              <a:t>Investigating PPA maps is typically done in rat research, although studying this in humans opens new directions</a:t>
            </a:r>
          </a:p>
          <a:p>
            <a:pPr lvl="1"/>
            <a:r>
              <a:rPr lang="en-US" dirty="0"/>
              <a:t>Can incorporate directionality (before/after) into the analysis</a:t>
            </a:r>
          </a:p>
          <a:p>
            <a:r>
              <a:rPr lang="en-US" dirty="0"/>
              <a:t>Episodic memories are a collection of relations</a:t>
            </a:r>
          </a:p>
          <a:p>
            <a:pPr lvl="1"/>
            <a:r>
              <a:rPr lang="en-US" dirty="0"/>
              <a:t>Hence, these analyses can be thought of as investigating how episodic memories are represented</a:t>
            </a:r>
          </a:p>
          <a:p>
            <a:pPr lvl="1"/>
            <a:r>
              <a:rPr lang="en-US" dirty="0"/>
              <a:t>Next study idea gets at this more directly</a:t>
            </a:r>
          </a:p>
        </p:txBody>
      </p:sp>
      <p:sp>
        <p:nvSpPr>
          <p:cNvPr id="4" name="Rectangle 3">
            <a:extLst>
              <a:ext uri="{FF2B5EF4-FFF2-40B4-BE49-F238E27FC236}">
                <a16:creationId xmlns:a16="http://schemas.microsoft.com/office/drawing/2014/main" id="{FDBF3C6D-B660-C17C-2B5B-795C7A7B7582}"/>
              </a:ext>
            </a:extLst>
          </p:cNvPr>
          <p:cNvSpPr/>
          <p:nvPr/>
        </p:nvSpPr>
        <p:spPr>
          <a:xfrm>
            <a:off x="10553105" y="2257517"/>
            <a:ext cx="279400" cy="279400"/>
          </a:xfrm>
          <a:prstGeom prst="rect">
            <a:avLst/>
          </a:prstGeom>
          <a:solidFill>
            <a:schemeClr val="bg1"/>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88A88778-4B6F-9AC2-440C-F530F417C710}"/>
              </a:ext>
            </a:extLst>
          </p:cNvPr>
          <p:cNvSpPr/>
          <p:nvPr/>
        </p:nvSpPr>
        <p:spPr>
          <a:xfrm>
            <a:off x="10553105" y="2602363"/>
            <a:ext cx="279400" cy="279400"/>
          </a:xfrm>
          <a:prstGeom prst="rect">
            <a:avLst/>
          </a:prstGeom>
          <a:solidFill>
            <a:schemeClr val="bg1"/>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FA9E2092-67CF-8421-3AD9-80A89F553190}"/>
              </a:ext>
            </a:extLst>
          </p:cNvPr>
          <p:cNvSpPr/>
          <p:nvPr/>
        </p:nvSpPr>
        <p:spPr>
          <a:xfrm>
            <a:off x="10553105" y="2947209"/>
            <a:ext cx="279400" cy="279400"/>
          </a:xfrm>
          <a:prstGeom prst="rect">
            <a:avLst/>
          </a:prstGeom>
          <a:solidFill>
            <a:schemeClr val="bg1">
              <a:lumMod val="75000"/>
            </a:schemeClr>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22DD7A5-E55C-B1E1-C758-78048607D6C8}"/>
              </a:ext>
            </a:extLst>
          </p:cNvPr>
          <p:cNvSpPr/>
          <p:nvPr/>
        </p:nvSpPr>
        <p:spPr>
          <a:xfrm>
            <a:off x="9875491" y="2257517"/>
            <a:ext cx="279400" cy="279400"/>
          </a:xfrm>
          <a:prstGeom prst="rect">
            <a:avLst/>
          </a:prstGeom>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D12D4D7B-0256-D4EE-CAD6-26EEA20F3A70}"/>
              </a:ext>
            </a:extLst>
          </p:cNvPr>
          <p:cNvSpPr/>
          <p:nvPr/>
        </p:nvSpPr>
        <p:spPr>
          <a:xfrm>
            <a:off x="9875491" y="2947209"/>
            <a:ext cx="279400" cy="279400"/>
          </a:xfrm>
          <a:prstGeom prst="rect">
            <a:avLst/>
          </a:prstGeom>
          <a:solidFill>
            <a:schemeClr val="bg1">
              <a:lumMod val="75000"/>
            </a:schemeClr>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9BE8971E-8D20-D3DD-C43B-380ECB52CEC0}"/>
              </a:ext>
            </a:extLst>
          </p:cNvPr>
          <p:cNvSpPr/>
          <p:nvPr/>
        </p:nvSpPr>
        <p:spPr>
          <a:xfrm>
            <a:off x="9875491" y="3292055"/>
            <a:ext cx="279400" cy="279400"/>
          </a:xfrm>
          <a:prstGeom prst="rect">
            <a:avLst/>
          </a:prstGeom>
          <a:solidFill>
            <a:schemeClr val="bg1"/>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86664B0C-1AD4-A832-0A4A-1445F382F157}"/>
              </a:ext>
            </a:extLst>
          </p:cNvPr>
          <p:cNvSpPr/>
          <p:nvPr/>
        </p:nvSpPr>
        <p:spPr>
          <a:xfrm>
            <a:off x="10214298" y="2257517"/>
            <a:ext cx="279400" cy="279400"/>
          </a:xfrm>
          <a:prstGeom prst="rect">
            <a:avLst/>
          </a:prstGeom>
          <a:solidFill>
            <a:schemeClr val="bg1">
              <a:lumMod val="75000"/>
            </a:schemeClr>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264A2850-D63C-440B-75C6-849B097228DA}"/>
              </a:ext>
            </a:extLst>
          </p:cNvPr>
          <p:cNvSpPr/>
          <p:nvPr/>
        </p:nvSpPr>
        <p:spPr>
          <a:xfrm>
            <a:off x="10214298" y="2602363"/>
            <a:ext cx="279400" cy="279400"/>
          </a:xfrm>
          <a:prstGeom prst="rect">
            <a:avLst/>
          </a:prstGeom>
          <a:solidFill>
            <a:schemeClr val="bg1">
              <a:lumMod val="75000"/>
            </a:schemeClr>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FDF3E3BD-CD80-5FC0-D7CD-A00A709AAD46}"/>
              </a:ext>
            </a:extLst>
          </p:cNvPr>
          <p:cNvSpPr/>
          <p:nvPr/>
        </p:nvSpPr>
        <p:spPr>
          <a:xfrm>
            <a:off x="10214298" y="3292055"/>
            <a:ext cx="279400" cy="279400"/>
          </a:xfrm>
          <a:prstGeom prst="rect">
            <a:avLst/>
          </a:prstGeom>
          <a:solidFill>
            <a:schemeClr val="bg1">
              <a:lumMod val="75000"/>
            </a:schemeClr>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A324FBB5-844A-47D3-D0B5-10A22116543B}"/>
              </a:ext>
            </a:extLst>
          </p:cNvPr>
          <p:cNvSpPr/>
          <p:nvPr/>
        </p:nvSpPr>
        <p:spPr>
          <a:xfrm>
            <a:off x="9540777" y="2602363"/>
            <a:ext cx="279400" cy="279400"/>
          </a:xfrm>
          <a:prstGeom prst="rect">
            <a:avLst/>
          </a:prstGeom>
          <a:solidFill>
            <a:schemeClr val="tx1"/>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D68420B5-7618-A2B4-225B-C7CEFF57EBB5}"/>
              </a:ext>
            </a:extLst>
          </p:cNvPr>
          <p:cNvSpPr/>
          <p:nvPr/>
        </p:nvSpPr>
        <p:spPr>
          <a:xfrm>
            <a:off x="9540777" y="2947209"/>
            <a:ext cx="279400" cy="279400"/>
          </a:xfrm>
          <a:prstGeom prst="rect">
            <a:avLst/>
          </a:prstGeom>
          <a:solidFill>
            <a:schemeClr val="bg1">
              <a:lumMod val="75000"/>
            </a:schemeClr>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3101E58D-C935-4CA1-77F2-B7022FC8CA9D}"/>
              </a:ext>
            </a:extLst>
          </p:cNvPr>
          <p:cNvSpPr/>
          <p:nvPr/>
        </p:nvSpPr>
        <p:spPr>
          <a:xfrm>
            <a:off x="9540777" y="3292055"/>
            <a:ext cx="279400" cy="279400"/>
          </a:xfrm>
          <a:prstGeom prst="rect">
            <a:avLst/>
          </a:prstGeom>
          <a:solidFill>
            <a:schemeClr val="bg1"/>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C8388321-71D9-0DBE-36CB-F05BA1506E6F}"/>
              </a:ext>
            </a:extLst>
          </p:cNvPr>
          <p:cNvSpPr/>
          <p:nvPr/>
        </p:nvSpPr>
        <p:spPr>
          <a:xfrm>
            <a:off x="8607031" y="5029358"/>
            <a:ext cx="536548" cy="536548"/>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705EEE63-8202-28E6-6E72-272FFFA9EB40}"/>
              </a:ext>
            </a:extLst>
          </p:cNvPr>
          <p:cNvSpPr txBox="1"/>
          <p:nvPr/>
        </p:nvSpPr>
        <p:spPr>
          <a:xfrm>
            <a:off x="8680380" y="5066799"/>
            <a:ext cx="389850" cy="461665"/>
          </a:xfrm>
          <a:prstGeom prst="rect">
            <a:avLst/>
          </a:prstGeom>
          <a:noFill/>
        </p:spPr>
        <p:txBody>
          <a:bodyPr wrap="none" rtlCol="0">
            <a:spAutoFit/>
          </a:bodyPr>
          <a:lstStyle/>
          <a:p>
            <a:r>
              <a:rPr lang="en-US" sz="2400" dirty="0">
                <a:latin typeface="Arial" panose="020B0604020202020204" pitchFamily="34" charset="0"/>
                <a:cs typeface="Arial" panose="020B0604020202020204" pitchFamily="34" charset="0"/>
              </a:rPr>
              <a:t>X</a:t>
            </a:r>
          </a:p>
        </p:txBody>
      </p:sp>
      <p:sp>
        <p:nvSpPr>
          <p:cNvPr id="38" name="Oval 37">
            <a:extLst>
              <a:ext uri="{FF2B5EF4-FFF2-40B4-BE49-F238E27FC236}">
                <a16:creationId xmlns:a16="http://schemas.microsoft.com/office/drawing/2014/main" id="{789B1782-EE66-AED0-E92B-BA52A3A6842E}"/>
              </a:ext>
            </a:extLst>
          </p:cNvPr>
          <p:cNvSpPr/>
          <p:nvPr/>
        </p:nvSpPr>
        <p:spPr>
          <a:xfrm>
            <a:off x="9448527" y="5029358"/>
            <a:ext cx="536548" cy="536548"/>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FD1CF775-97D0-072F-2A7A-F9E789B6C6F3}"/>
              </a:ext>
            </a:extLst>
          </p:cNvPr>
          <p:cNvSpPr txBox="1"/>
          <p:nvPr/>
        </p:nvSpPr>
        <p:spPr>
          <a:xfrm>
            <a:off x="9521876" y="5066799"/>
            <a:ext cx="389850" cy="461665"/>
          </a:xfrm>
          <a:prstGeom prst="rect">
            <a:avLst/>
          </a:prstGeom>
          <a:noFill/>
        </p:spPr>
        <p:txBody>
          <a:bodyPr wrap="none" rtlCol="0">
            <a:spAutoFit/>
          </a:bodyPr>
          <a:lstStyle/>
          <a:p>
            <a:r>
              <a:rPr lang="en-US" sz="2400" dirty="0">
                <a:latin typeface="Arial" panose="020B0604020202020204" pitchFamily="34" charset="0"/>
                <a:cs typeface="Arial" panose="020B0604020202020204" pitchFamily="34" charset="0"/>
              </a:rPr>
              <a:t>A</a:t>
            </a:r>
          </a:p>
        </p:txBody>
      </p:sp>
      <p:sp>
        <p:nvSpPr>
          <p:cNvPr id="40" name="Oval 39">
            <a:extLst>
              <a:ext uri="{FF2B5EF4-FFF2-40B4-BE49-F238E27FC236}">
                <a16:creationId xmlns:a16="http://schemas.microsoft.com/office/drawing/2014/main" id="{FC85FC39-DA9D-00FE-4FAA-70B2AA4BAA24}"/>
              </a:ext>
            </a:extLst>
          </p:cNvPr>
          <p:cNvSpPr/>
          <p:nvPr/>
        </p:nvSpPr>
        <p:spPr>
          <a:xfrm>
            <a:off x="9470145" y="5801434"/>
            <a:ext cx="536548" cy="536548"/>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5CC7CDDD-D8E5-F9EF-DF95-90A108F895DD}"/>
              </a:ext>
            </a:extLst>
          </p:cNvPr>
          <p:cNvSpPr txBox="1"/>
          <p:nvPr/>
        </p:nvSpPr>
        <p:spPr>
          <a:xfrm>
            <a:off x="9543494" y="5838875"/>
            <a:ext cx="389850" cy="461665"/>
          </a:xfrm>
          <a:prstGeom prst="rect">
            <a:avLst/>
          </a:prstGeom>
          <a:noFill/>
        </p:spPr>
        <p:txBody>
          <a:bodyPr wrap="none" rtlCol="0">
            <a:spAutoFit/>
          </a:bodyPr>
          <a:lstStyle/>
          <a:p>
            <a:r>
              <a:rPr lang="en-US" sz="2400" dirty="0">
                <a:latin typeface="Arial" panose="020B0604020202020204" pitchFamily="34" charset="0"/>
                <a:cs typeface="Arial" panose="020B0604020202020204" pitchFamily="34" charset="0"/>
              </a:rPr>
              <a:t>B</a:t>
            </a:r>
          </a:p>
        </p:txBody>
      </p:sp>
      <p:sp>
        <p:nvSpPr>
          <p:cNvPr id="42" name="Oval 41">
            <a:extLst>
              <a:ext uri="{FF2B5EF4-FFF2-40B4-BE49-F238E27FC236}">
                <a16:creationId xmlns:a16="http://schemas.microsoft.com/office/drawing/2014/main" id="{89B791A3-31B1-DB90-6526-B9E3C8704323}"/>
              </a:ext>
            </a:extLst>
          </p:cNvPr>
          <p:cNvSpPr/>
          <p:nvPr/>
        </p:nvSpPr>
        <p:spPr>
          <a:xfrm>
            <a:off x="8629702" y="5801434"/>
            <a:ext cx="536548" cy="536548"/>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a:extLst>
              <a:ext uri="{FF2B5EF4-FFF2-40B4-BE49-F238E27FC236}">
                <a16:creationId xmlns:a16="http://schemas.microsoft.com/office/drawing/2014/main" id="{825D2BD6-DE44-B163-74EF-5028EC303B9E}"/>
              </a:ext>
            </a:extLst>
          </p:cNvPr>
          <p:cNvSpPr txBox="1"/>
          <p:nvPr/>
        </p:nvSpPr>
        <p:spPr>
          <a:xfrm>
            <a:off x="8703051" y="5838875"/>
            <a:ext cx="389850" cy="461665"/>
          </a:xfrm>
          <a:prstGeom prst="rect">
            <a:avLst/>
          </a:prstGeom>
          <a:noFill/>
        </p:spPr>
        <p:txBody>
          <a:bodyPr wrap="none" rtlCol="0">
            <a:spAutoFit/>
          </a:bodyPr>
          <a:lstStyle/>
          <a:p>
            <a:r>
              <a:rPr lang="en-US" sz="2400" dirty="0">
                <a:latin typeface="Arial" panose="020B0604020202020204" pitchFamily="34" charset="0"/>
                <a:cs typeface="Arial" panose="020B0604020202020204" pitchFamily="34" charset="0"/>
              </a:rPr>
              <a:t>Y</a:t>
            </a:r>
          </a:p>
        </p:txBody>
      </p:sp>
      <p:sp>
        <p:nvSpPr>
          <p:cNvPr id="44" name="Oval 43">
            <a:extLst>
              <a:ext uri="{FF2B5EF4-FFF2-40B4-BE49-F238E27FC236}">
                <a16:creationId xmlns:a16="http://schemas.microsoft.com/office/drawing/2014/main" id="{96076ABD-1E63-ED73-8BEB-C53EF3B91F68}"/>
              </a:ext>
            </a:extLst>
          </p:cNvPr>
          <p:cNvSpPr/>
          <p:nvPr/>
        </p:nvSpPr>
        <p:spPr>
          <a:xfrm>
            <a:off x="9849048" y="4205299"/>
            <a:ext cx="536548" cy="536548"/>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Box 44">
            <a:extLst>
              <a:ext uri="{FF2B5EF4-FFF2-40B4-BE49-F238E27FC236}">
                <a16:creationId xmlns:a16="http://schemas.microsoft.com/office/drawing/2014/main" id="{7D86D83E-9906-058E-3F12-15C3CF860722}"/>
              </a:ext>
            </a:extLst>
          </p:cNvPr>
          <p:cNvSpPr txBox="1"/>
          <p:nvPr/>
        </p:nvSpPr>
        <p:spPr>
          <a:xfrm>
            <a:off x="9922397" y="4242740"/>
            <a:ext cx="372218" cy="461665"/>
          </a:xfrm>
          <a:prstGeom prst="rect">
            <a:avLst/>
          </a:prstGeom>
          <a:noFill/>
        </p:spPr>
        <p:txBody>
          <a:bodyPr wrap="none" rtlCol="0">
            <a:spAutoFit/>
          </a:bodyPr>
          <a:lstStyle/>
          <a:p>
            <a:r>
              <a:rPr lang="en-US" sz="2400" dirty="0">
                <a:latin typeface="Arial" panose="020B0604020202020204" pitchFamily="34" charset="0"/>
                <a:cs typeface="Arial" panose="020B0604020202020204" pitchFamily="34" charset="0"/>
              </a:rPr>
              <a:t>Z</a:t>
            </a:r>
          </a:p>
        </p:txBody>
      </p:sp>
      <p:sp>
        <p:nvSpPr>
          <p:cNvPr id="46" name="Oval 45">
            <a:extLst>
              <a:ext uri="{FF2B5EF4-FFF2-40B4-BE49-F238E27FC236}">
                <a16:creationId xmlns:a16="http://schemas.microsoft.com/office/drawing/2014/main" id="{600E4950-30D4-AC28-E0D7-DCBA2B5BE491}"/>
              </a:ext>
            </a:extLst>
          </p:cNvPr>
          <p:cNvSpPr/>
          <p:nvPr/>
        </p:nvSpPr>
        <p:spPr>
          <a:xfrm>
            <a:off x="10268877" y="5029358"/>
            <a:ext cx="536548" cy="536548"/>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Box 46">
            <a:extLst>
              <a:ext uri="{FF2B5EF4-FFF2-40B4-BE49-F238E27FC236}">
                <a16:creationId xmlns:a16="http://schemas.microsoft.com/office/drawing/2014/main" id="{D58B61A9-7739-7966-ED9C-89D1AF245104}"/>
              </a:ext>
            </a:extLst>
          </p:cNvPr>
          <p:cNvSpPr txBox="1"/>
          <p:nvPr/>
        </p:nvSpPr>
        <p:spPr>
          <a:xfrm>
            <a:off x="10342226" y="5066799"/>
            <a:ext cx="407484" cy="461665"/>
          </a:xfrm>
          <a:prstGeom prst="rect">
            <a:avLst/>
          </a:prstGeom>
          <a:noFill/>
        </p:spPr>
        <p:txBody>
          <a:bodyPr wrap="none" rtlCol="0">
            <a:spAutoFit/>
          </a:bodyPr>
          <a:lstStyle/>
          <a:p>
            <a:r>
              <a:rPr lang="en-US" sz="2400" dirty="0">
                <a:latin typeface="Arial" panose="020B0604020202020204" pitchFamily="34" charset="0"/>
                <a:cs typeface="Arial" panose="020B0604020202020204" pitchFamily="34" charset="0"/>
              </a:rPr>
              <a:t>C</a:t>
            </a:r>
          </a:p>
        </p:txBody>
      </p:sp>
      <p:sp>
        <p:nvSpPr>
          <p:cNvPr id="48" name="Oval 47">
            <a:extLst>
              <a:ext uri="{FF2B5EF4-FFF2-40B4-BE49-F238E27FC236}">
                <a16:creationId xmlns:a16="http://schemas.microsoft.com/office/drawing/2014/main" id="{333888F6-6619-0F88-1CAF-B70F7B2FE31E}"/>
              </a:ext>
            </a:extLst>
          </p:cNvPr>
          <p:cNvSpPr/>
          <p:nvPr/>
        </p:nvSpPr>
        <p:spPr>
          <a:xfrm>
            <a:off x="10274536" y="5801434"/>
            <a:ext cx="536548" cy="536548"/>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TextBox 48">
            <a:extLst>
              <a:ext uri="{FF2B5EF4-FFF2-40B4-BE49-F238E27FC236}">
                <a16:creationId xmlns:a16="http://schemas.microsoft.com/office/drawing/2014/main" id="{11B1BD2B-8C7F-9FC4-B4BD-97747EAAB477}"/>
              </a:ext>
            </a:extLst>
          </p:cNvPr>
          <p:cNvSpPr txBox="1"/>
          <p:nvPr/>
        </p:nvSpPr>
        <p:spPr>
          <a:xfrm>
            <a:off x="10347885" y="5838875"/>
            <a:ext cx="407484" cy="461665"/>
          </a:xfrm>
          <a:prstGeom prst="rect">
            <a:avLst/>
          </a:prstGeom>
          <a:noFill/>
        </p:spPr>
        <p:txBody>
          <a:bodyPr wrap="none" rtlCol="0">
            <a:spAutoFit/>
          </a:bodyPr>
          <a:lstStyle/>
          <a:p>
            <a:r>
              <a:rPr lang="en-US" sz="2400" dirty="0">
                <a:latin typeface="Arial" panose="020B0604020202020204" pitchFamily="34" charset="0"/>
                <a:cs typeface="Arial" panose="020B0604020202020204" pitchFamily="34" charset="0"/>
              </a:rPr>
              <a:t>D</a:t>
            </a:r>
          </a:p>
        </p:txBody>
      </p:sp>
      <p:sp>
        <p:nvSpPr>
          <p:cNvPr id="50" name="Oval 49">
            <a:extLst>
              <a:ext uri="{FF2B5EF4-FFF2-40B4-BE49-F238E27FC236}">
                <a16:creationId xmlns:a16="http://schemas.microsoft.com/office/drawing/2014/main" id="{103DDC47-CED6-F7DE-F25E-8E31A1929F13}"/>
              </a:ext>
            </a:extLst>
          </p:cNvPr>
          <p:cNvSpPr/>
          <p:nvPr/>
        </p:nvSpPr>
        <p:spPr>
          <a:xfrm>
            <a:off x="11027927" y="5395513"/>
            <a:ext cx="536548" cy="536548"/>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TextBox 50">
            <a:extLst>
              <a:ext uri="{FF2B5EF4-FFF2-40B4-BE49-F238E27FC236}">
                <a16:creationId xmlns:a16="http://schemas.microsoft.com/office/drawing/2014/main" id="{37A36E92-D9C3-11FA-5C24-7B4ABBA33867}"/>
              </a:ext>
            </a:extLst>
          </p:cNvPr>
          <p:cNvSpPr txBox="1"/>
          <p:nvPr/>
        </p:nvSpPr>
        <p:spPr>
          <a:xfrm>
            <a:off x="11056032" y="5432954"/>
            <a:ext cx="474810" cy="461665"/>
          </a:xfrm>
          <a:prstGeom prst="rect">
            <a:avLst/>
          </a:prstGeom>
          <a:noFill/>
        </p:spPr>
        <p:txBody>
          <a:bodyPr wrap="none" rtlCol="0">
            <a:spAutoFit/>
          </a:bodyPr>
          <a:lstStyle/>
          <a:p>
            <a:r>
              <a:rPr lang="en-US" sz="2400" dirty="0">
                <a:latin typeface="Arial" panose="020B0604020202020204" pitchFamily="34" charset="0"/>
                <a:cs typeface="Arial" panose="020B0604020202020204" pitchFamily="34" charset="0"/>
              </a:rPr>
              <a:t>W</a:t>
            </a:r>
          </a:p>
        </p:txBody>
      </p:sp>
      <p:cxnSp>
        <p:nvCxnSpPr>
          <p:cNvPr id="53" name="Straight Connector 52">
            <a:extLst>
              <a:ext uri="{FF2B5EF4-FFF2-40B4-BE49-F238E27FC236}">
                <a16:creationId xmlns:a16="http://schemas.microsoft.com/office/drawing/2014/main" id="{144747FC-D0C2-3B16-8166-D411F98FC19B}"/>
              </a:ext>
            </a:extLst>
          </p:cNvPr>
          <p:cNvCxnSpPr>
            <a:stCxn id="36" idx="6"/>
            <a:endCxn id="38" idx="2"/>
          </p:cNvCxnSpPr>
          <p:nvPr/>
        </p:nvCxnSpPr>
        <p:spPr>
          <a:xfrm>
            <a:off x="9143579" y="5297632"/>
            <a:ext cx="30494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B53A3E79-390D-4B5A-B692-95009541C95B}"/>
              </a:ext>
            </a:extLst>
          </p:cNvPr>
          <p:cNvCxnSpPr>
            <a:cxnSpLocks/>
            <a:stCxn id="42" idx="7"/>
            <a:endCxn id="38" idx="3"/>
          </p:cNvCxnSpPr>
          <p:nvPr/>
        </p:nvCxnSpPr>
        <p:spPr>
          <a:xfrm flipV="1">
            <a:off x="9087674" y="5487330"/>
            <a:ext cx="439429" cy="39268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45D56D2D-5E10-ED63-B334-3E85E8184159}"/>
              </a:ext>
            </a:extLst>
          </p:cNvPr>
          <p:cNvCxnSpPr>
            <a:cxnSpLocks/>
            <a:stCxn id="36" idx="5"/>
            <a:endCxn id="40" idx="1"/>
          </p:cNvCxnSpPr>
          <p:nvPr/>
        </p:nvCxnSpPr>
        <p:spPr>
          <a:xfrm>
            <a:off x="9065003" y="5487330"/>
            <a:ext cx="483718" cy="39268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6D9080E0-3EF4-49B3-96E2-02D3BD3962DE}"/>
              </a:ext>
            </a:extLst>
          </p:cNvPr>
          <p:cNvCxnSpPr>
            <a:cxnSpLocks/>
            <a:stCxn id="42" idx="6"/>
            <a:endCxn id="40" idx="2"/>
          </p:cNvCxnSpPr>
          <p:nvPr/>
        </p:nvCxnSpPr>
        <p:spPr>
          <a:xfrm>
            <a:off x="9166250" y="6069708"/>
            <a:ext cx="30389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71064F49-9203-DC6C-8279-E9DD938830F9}"/>
              </a:ext>
            </a:extLst>
          </p:cNvPr>
          <p:cNvCxnSpPr>
            <a:cxnSpLocks/>
            <a:stCxn id="38" idx="0"/>
            <a:endCxn id="44" idx="3"/>
          </p:cNvCxnSpPr>
          <p:nvPr/>
        </p:nvCxnSpPr>
        <p:spPr>
          <a:xfrm flipV="1">
            <a:off x="9716801" y="4663271"/>
            <a:ext cx="210823" cy="3660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80E7AEF6-3C0C-E5CA-8978-89FEA273ADA1}"/>
              </a:ext>
            </a:extLst>
          </p:cNvPr>
          <p:cNvCxnSpPr>
            <a:cxnSpLocks/>
            <a:stCxn id="46" idx="0"/>
            <a:endCxn id="44" idx="5"/>
          </p:cNvCxnSpPr>
          <p:nvPr/>
        </p:nvCxnSpPr>
        <p:spPr>
          <a:xfrm flipH="1" flipV="1">
            <a:off x="10307020" y="4663271"/>
            <a:ext cx="230131" cy="3660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B1F8FA34-5D35-27C0-0AE1-8324D1CEE3D4}"/>
              </a:ext>
            </a:extLst>
          </p:cNvPr>
          <p:cNvCxnSpPr>
            <a:cxnSpLocks/>
            <a:stCxn id="50" idx="1"/>
            <a:endCxn id="46" idx="6"/>
          </p:cNvCxnSpPr>
          <p:nvPr/>
        </p:nvCxnSpPr>
        <p:spPr>
          <a:xfrm flipH="1" flipV="1">
            <a:off x="10805425" y="5297632"/>
            <a:ext cx="301078" cy="17645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88A89B42-EB7C-E614-2774-538101CEAB3B}"/>
              </a:ext>
            </a:extLst>
          </p:cNvPr>
          <p:cNvCxnSpPr>
            <a:cxnSpLocks/>
            <a:stCxn id="50" idx="3"/>
            <a:endCxn id="48" idx="6"/>
          </p:cNvCxnSpPr>
          <p:nvPr/>
        </p:nvCxnSpPr>
        <p:spPr>
          <a:xfrm flipH="1">
            <a:off x="10811084" y="5853485"/>
            <a:ext cx="295419" cy="21622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8" name="TextBox 77">
            <a:extLst>
              <a:ext uri="{FF2B5EF4-FFF2-40B4-BE49-F238E27FC236}">
                <a16:creationId xmlns:a16="http://schemas.microsoft.com/office/drawing/2014/main" id="{003C2457-615B-AF87-DCB7-B3F5162D6AD3}"/>
              </a:ext>
            </a:extLst>
          </p:cNvPr>
          <p:cNvSpPr txBox="1"/>
          <p:nvPr/>
        </p:nvSpPr>
        <p:spPr>
          <a:xfrm>
            <a:off x="9157764" y="2215080"/>
            <a:ext cx="33855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X</a:t>
            </a:r>
          </a:p>
        </p:txBody>
      </p:sp>
      <p:sp>
        <p:nvSpPr>
          <p:cNvPr id="79" name="TextBox 78">
            <a:extLst>
              <a:ext uri="{FF2B5EF4-FFF2-40B4-BE49-F238E27FC236}">
                <a16:creationId xmlns:a16="http://schemas.microsoft.com/office/drawing/2014/main" id="{377EB0A3-04A5-DE44-A5D9-DE15F27F28D0}"/>
              </a:ext>
            </a:extLst>
          </p:cNvPr>
          <p:cNvSpPr txBox="1"/>
          <p:nvPr/>
        </p:nvSpPr>
        <p:spPr>
          <a:xfrm>
            <a:off x="9157764" y="2559148"/>
            <a:ext cx="33855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Y</a:t>
            </a:r>
          </a:p>
        </p:txBody>
      </p:sp>
      <p:sp>
        <p:nvSpPr>
          <p:cNvPr id="80" name="TextBox 79">
            <a:extLst>
              <a:ext uri="{FF2B5EF4-FFF2-40B4-BE49-F238E27FC236}">
                <a16:creationId xmlns:a16="http://schemas.microsoft.com/office/drawing/2014/main" id="{803769A3-A6EC-BC2C-D673-400D799E22FC}"/>
              </a:ext>
            </a:extLst>
          </p:cNvPr>
          <p:cNvSpPr txBox="1"/>
          <p:nvPr/>
        </p:nvSpPr>
        <p:spPr>
          <a:xfrm>
            <a:off x="9157764" y="2903216"/>
            <a:ext cx="33855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Z</a:t>
            </a:r>
          </a:p>
        </p:txBody>
      </p:sp>
      <p:sp>
        <p:nvSpPr>
          <p:cNvPr id="81" name="TextBox 80">
            <a:extLst>
              <a:ext uri="{FF2B5EF4-FFF2-40B4-BE49-F238E27FC236}">
                <a16:creationId xmlns:a16="http://schemas.microsoft.com/office/drawing/2014/main" id="{ADEA4B86-F02E-1403-A930-51B0E3F5C7F5}"/>
              </a:ext>
            </a:extLst>
          </p:cNvPr>
          <p:cNvSpPr txBox="1"/>
          <p:nvPr/>
        </p:nvSpPr>
        <p:spPr>
          <a:xfrm>
            <a:off x="9122323" y="3247285"/>
            <a:ext cx="40267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W</a:t>
            </a:r>
          </a:p>
        </p:txBody>
      </p:sp>
      <p:sp>
        <p:nvSpPr>
          <p:cNvPr id="82" name="TextBox 81">
            <a:extLst>
              <a:ext uri="{FF2B5EF4-FFF2-40B4-BE49-F238E27FC236}">
                <a16:creationId xmlns:a16="http://schemas.microsoft.com/office/drawing/2014/main" id="{F5B6834D-C8A0-C636-3059-193EFF59E29D}"/>
              </a:ext>
            </a:extLst>
          </p:cNvPr>
          <p:cNvSpPr txBox="1"/>
          <p:nvPr/>
        </p:nvSpPr>
        <p:spPr>
          <a:xfrm>
            <a:off x="9510494" y="1873061"/>
            <a:ext cx="33855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X</a:t>
            </a:r>
          </a:p>
        </p:txBody>
      </p:sp>
      <p:sp>
        <p:nvSpPr>
          <p:cNvPr id="83" name="TextBox 82">
            <a:extLst>
              <a:ext uri="{FF2B5EF4-FFF2-40B4-BE49-F238E27FC236}">
                <a16:creationId xmlns:a16="http://schemas.microsoft.com/office/drawing/2014/main" id="{332C7A99-C6A8-CA6E-ACC0-7B7B99944B15}"/>
              </a:ext>
            </a:extLst>
          </p:cNvPr>
          <p:cNvSpPr txBox="1"/>
          <p:nvPr/>
        </p:nvSpPr>
        <p:spPr>
          <a:xfrm>
            <a:off x="10488414" y="1873061"/>
            <a:ext cx="40267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W</a:t>
            </a:r>
          </a:p>
        </p:txBody>
      </p:sp>
      <p:sp>
        <p:nvSpPr>
          <p:cNvPr id="84" name="TextBox 83">
            <a:extLst>
              <a:ext uri="{FF2B5EF4-FFF2-40B4-BE49-F238E27FC236}">
                <a16:creationId xmlns:a16="http://schemas.microsoft.com/office/drawing/2014/main" id="{C061AB7A-92A7-7DDE-8026-4EF9237D1092}"/>
              </a:ext>
            </a:extLst>
          </p:cNvPr>
          <p:cNvSpPr txBox="1"/>
          <p:nvPr/>
        </p:nvSpPr>
        <p:spPr>
          <a:xfrm>
            <a:off x="10184032" y="1873061"/>
            <a:ext cx="33855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Z</a:t>
            </a:r>
          </a:p>
        </p:txBody>
      </p:sp>
      <p:sp>
        <p:nvSpPr>
          <p:cNvPr id="85" name="TextBox 84">
            <a:extLst>
              <a:ext uri="{FF2B5EF4-FFF2-40B4-BE49-F238E27FC236}">
                <a16:creationId xmlns:a16="http://schemas.microsoft.com/office/drawing/2014/main" id="{D0F36D53-F16E-9E07-865A-3EAD8453B0D0}"/>
              </a:ext>
            </a:extLst>
          </p:cNvPr>
          <p:cNvSpPr txBox="1"/>
          <p:nvPr/>
        </p:nvSpPr>
        <p:spPr>
          <a:xfrm>
            <a:off x="9847263" y="1873061"/>
            <a:ext cx="33855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Y</a:t>
            </a:r>
          </a:p>
        </p:txBody>
      </p:sp>
    </p:spTree>
    <p:extLst>
      <p:ext uri="{BB962C8B-B14F-4D97-AF65-F5344CB8AC3E}">
        <p14:creationId xmlns:p14="http://schemas.microsoft.com/office/powerpoint/2010/main" val="269818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722C3-F583-BF77-2450-11AFE2621D30}"/>
              </a:ext>
            </a:extLst>
          </p:cNvPr>
          <p:cNvSpPr>
            <a:spLocks noGrp="1"/>
          </p:cNvSpPr>
          <p:nvPr>
            <p:ph type="title"/>
          </p:nvPr>
        </p:nvSpPr>
        <p:spPr>
          <a:xfrm>
            <a:off x="514713" y="142977"/>
            <a:ext cx="11053173" cy="1325563"/>
          </a:xfrm>
        </p:spPr>
        <p:txBody>
          <a:bodyPr>
            <a:normAutofit/>
          </a:bodyPr>
          <a:lstStyle/>
          <a:p>
            <a:r>
              <a:rPr lang="en-US" sz="4000" dirty="0"/>
              <a:t>(Beyond the task) </a:t>
            </a:r>
            <a:br>
              <a:rPr lang="en-US" sz="4000" dirty="0"/>
            </a:br>
            <a:r>
              <a:rPr lang="en-US" sz="4000" dirty="0"/>
              <a:t>Older adults prototype rather than generalize</a:t>
            </a:r>
          </a:p>
        </p:txBody>
      </p:sp>
      <p:sp>
        <p:nvSpPr>
          <p:cNvPr id="3" name="Content Placeholder 2">
            <a:extLst>
              <a:ext uri="{FF2B5EF4-FFF2-40B4-BE49-F238E27FC236}">
                <a16:creationId xmlns:a16="http://schemas.microsoft.com/office/drawing/2014/main" id="{20DB8345-CF6A-C2AB-94BA-1A4AE2D2E46B}"/>
              </a:ext>
            </a:extLst>
          </p:cNvPr>
          <p:cNvSpPr>
            <a:spLocks noGrp="1"/>
          </p:cNvSpPr>
          <p:nvPr>
            <p:ph idx="1"/>
          </p:nvPr>
        </p:nvSpPr>
        <p:spPr>
          <a:xfrm>
            <a:off x="514713" y="1623321"/>
            <a:ext cx="4790678" cy="2065811"/>
          </a:xfrm>
        </p:spPr>
        <p:txBody>
          <a:bodyPr>
            <a:normAutofit/>
          </a:bodyPr>
          <a:lstStyle/>
          <a:p>
            <a:r>
              <a:rPr lang="en-US" i="1" dirty="0"/>
              <a:t>Prototyping</a:t>
            </a:r>
            <a:r>
              <a:rPr lang="en-US" dirty="0"/>
              <a:t> = link stimuli to a previous similar “prototypical” stimulus</a:t>
            </a:r>
          </a:p>
        </p:txBody>
      </p:sp>
      <p:sp>
        <p:nvSpPr>
          <p:cNvPr id="4" name="Oval 3">
            <a:extLst>
              <a:ext uri="{FF2B5EF4-FFF2-40B4-BE49-F238E27FC236}">
                <a16:creationId xmlns:a16="http://schemas.microsoft.com/office/drawing/2014/main" id="{560AA76F-12E0-9B5C-35A7-E6E8EA1094B7}"/>
              </a:ext>
            </a:extLst>
          </p:cNvPr>
          <p:cNvSpPr/>
          <p:nvPr/>
        </p:nvSpPr>
        <p:spPr>
          <a:xfrm>
            <a:off x="2928308" y="4876698"/>
            <a:ext cx="323850" cy="323850"/>
          </a:xfrm>
          <a:prstGeom prst="ellipse">
            <a:avLst/>
          </a:prstGeom>
          <a:solidFill>
            <a:srgbClr val="FF0000"/>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A5430B2B-2DD5-EEE6-6847-852506D6858E}"/>
              </a:ext>
            </a:extLst>
          </p:cNvPr>
          <p:cNvSpPr/>
          <p:nvPr/>
        </p:nvSpPr>
        <p:spPr>
          <a:xfrm>
            <a:off x="3785558" y="4876698"/>
            <a:ext cx="323850" cy="323850"/>
          </a:xfrm>
          <a:prstGeom prst="ellipse">
            <a:avLst/>
          </a:prstGeom>
          <a:solidFill>
            <a:schemeClr val="tx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C7AFF95E-6A3F-CB36-7A75-AEA58DC1B26D}"/>
              </a:ext>
            </a:extLst>
          </p:cNvPr>
          <p:cNvSpPr/>
          <p:nvPr/>
        </p:nvSpPr>
        <p:spPr>
          <a:xfrm>
            <a:off x="2928308" y="5720455"/>
            <a:ext cx="323850" cy="323850"/>
          </a:xfrm>
          <a:prstGeom prst="ellipse">
            <a:avLst/>
          </a:prstGeom>
          <a:solidFill>
            <a:schemeClr val="tx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77F8E08E-C0E1-81D7-939E-57AAB82954EA}"/>
              </a:ext>
            </a:extLst>
          </p:cNvPr>
          <p:cNvSpPr/>
          <p:nvPr/>
        </p:nvSpPr>
        <p:spPr>
          <a:xfrm>
            <a:off x="2071058" y="4876698"/>
            <a:ext cx="323850" cy="323850"/>
          </a:xfrm>
          <a:prstGeom prst="ellipse">
            <a:avLst/>
          </a:prstGeom>
          <a:solidFill>
            <a:schemeClr val="tx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98FDF158-64A6-9669-501B-3ADD66A32264}"/>
              </a:ext>
            </a:extLst>
          </p:cNvPr>
          <p:cNvSpPr/>
          <p:nvPr/>
        </p:nvSpPr>
        <p:spPr>
          <a:xfrm>
            <a:off x="2928308" y="4038498"/>
            <a:ext cx="323850" cy="323850"/>
          </a:xfrm>
          <a:prstGeom prst="ellipse">
            <a:avLst/>
          </a:prstGeom>
          <a:solidFill>
            <a:schemeClr val="tx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4A56725E-D96E-7F5F-73B4-EA3470F0F50A}"/>
              </a:ext>
            </a:extLst>
          </p:cNvPr>
          <p:cNvCxnSpPr>
            <a:stCxn id="8" idx="4"/>
            <a:endCxn id="4" idx="0"/>
          </p:cNvCxnSpPr>
          <p:nvPr/>
        </p:nvCxnSpPr>
        <p:spPr>
          <a:xfrm>
            <a:off x="3090233" y="4362348"/>
            <a:ext cx="0" cy="514350"/>
          </a:xfrm>
          <a:prstGeom prst="line">
            <a:avLst/>
          </a:prstGeom>
          <a:ln w="1270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E33AB7A-28B5-0F0F-F41B-0BBDA8BAA4A4}"/>
              </a:ext>
            </a:extLst>
          </p:cNvPr>
          <p:cNvCxnSpPr>
            <a:cxnSpLocks/>
            <a:stCxn id="5" idx="2"/>
            <a:endCxn id="4" idx="6"/>
          </p:cNvCxnSpPr>
          <p:nvPr/>
        </p:nvCxnSpPr>
        <p:spPr>
          <a:xfrm flipH="1">
            <a:off x="3252158" y="5038623"/>
            <a:ext cx="533400" cy="0"/>
          </a:xfrm>
          <a:prstGeom prst="line">
            <a:avLst/>
          </a:prstGeom>
          <a:ln w="1270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358D9173-BE1D-FE81-5C8A-2108C02B40B5}"/>
              </a:ext>
            </a:extLst>
          </p:cNvPr>
          <p:cNvCxnSpPr>
            <a:cxnSpLocks/>
            <a:stCxn id="4" idx="2"/>
            <a:endCxn id="7" idx="6"/>
          </p:cNvCxnSpPr>
          <p:nvPr/>
        </p:nvCxnSpPr>
        <p:spPr>
          <a:xfrm flipH="1">
            <a:off x="2394908" y="5038623"/>
            <a:ext cx="533400" cy="0"/>
          </a:xfrm>
          <a:prstGeom prst="line">
            <a:avLst/>
          </a:prstGeom>
          <a:ln w="1270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AE00385-7B99-C91B-3639-B3CC96545AC2}"/>
              </a:ext>
            </a:extLst>
          </p:cNvPr>
          <p:cNvCxnSpPr>
            <a:cxnSpLocks/>
            <a:stCxn id="4" idx="4"/>
            <a:endCxn id="6" idx="0"/>
          </p:cNvCxnSpPr>
          <p:nvPr/>
        </p:nvCxnSpPr>
        <p:spPr>
          <a:xfrm>
            <a:off x="3090233" y="5200548"/>
            <a:ext cx="0" cy="519907"/>
          </a:xfrm>
          <a:prstGeom prst="line">
            <a:avLst/>
          </a:prstGeom>
          <a:ln w="127000">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Oval 22">
            <a:extLst>
              <a:ext uri="{FF2B5EF4-FFF2-40B4-BE49-F238E27FC236}">
                <a16:creationId xmlns:a16="http://schemas.microsoft.com/office/drawing/2014/main" id="{B1BA51E1-2FE7-42F1-EF00-C4EB494EAA1C}"/>
              </a:ext>
            </a:extLst>
          </p:cNvPr>
          <p:cNvSpPr/>
          <p:nvPr/>
        </p:nvSpPr>
        <p:spPr>
          <a:xfrm>
            <a:off x="9966190" y="4808991"/>
            <a:ext cx="323850" cy="32385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DB05FDE2-2A45-CF35-46EA-8E17C03246A7}"/>
              </a:ext>
            </a:extLst>
          </p:cNvPr>
          <p:cNvSpPr/>
          <p:nvPr/>
        </p:nvSpPr>
        <p:spPr>
          <a:xfrm>
            <a:off x="8651739" y="5706485"/>
            <a:ext cx="323850" cy="32385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270C5FB1-826B-D5A3-8E75-CCBAE2A45E43}"/>
              </a:ext>
            </a:extLst>
          </p:cNvPr>
          <p:cNvSpPr/>
          <p:nvPr/>
        </p:nvSpPr>
        <p:spPr>
          <a:xfrm>
            <a:off x="8332652" y="4808991"/>
            <a:ext cx="323850" cy="32385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07A143C3-3E5D-442E-2618-C6B0214BC815}"/>
              </a:ext>
            </a:extLst>
          </p:cNvPr>
          <p:cNvSpPr/>
          <p:nvPr/>
        </p:nvSpPr>
        <p:spPr>
          <a:xfrm>
            <a:off x="9642340" y="5706485"/>
            <a:ext cx="323850" cy="32385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9A4740C0-CFFD-1208-DC36-283E29289561}"/>
              </a:ext>
            </a:extLst>
          </p:cNvPr>
          <p:cNvSpPr txBox="1"/>
          <p:nvPr/>
        </p:nvSpPr>
        <p:spPr>
          <a:xfrm>
            <a:off x="4501874" y="4735747"/>
            <a:ext cx="3343967" cy="369332"/>
          </a:xfrm>
          <a:prstGeom prst="rect">
            <a:avLst/>
          </a:prstGeom>
          <a:noFill/>
        </p:spPr>
        <p:txBody>
          <a:bodyPr wrap="square" rtlCol="0">
            <a:spAutoFit/>
          </a:bodyPr>
          <a:lstStyle/>
          <a:p>
            <a:pPr algn="ctr"/>
            <a:r>
              <a:rPr lang="en-US" dirty="0">
                <a:solidFill>
                  <a:srgbClr val="FF0000"/>
                </a:solidFill>
                <a:latin typeface="Arial" panose="020B0604020202020204" pitchFamily="34" charset="0"/>
                <a:cs typeface="Arial" panose="020B0604020202020204" pitchFamily="34" charset="0"/>
              </a:rPr>
              <a:t>Red = first stimulus presented</a:t>
            </a:r>
          </a:p>
        </p:txBody>
      </p:sp>
      <p:cxnSp>
        <p:nvCxnSpPr>
          <p:cNvPr id="43" name="Straight Connector 42">
            <a:extLst>
              <a:ext uri="{FF2B5EF4-FFF2-40B4-BE49-F238E27FC236}">
                <a16:creationId xmlns:a16="http://schemas.microsoft.com/office/drawing/2014/main" id="{4A3DCB2C-3AA2-C4FC-EA8E-7653A4D11D6A}"/>
              </a:ext>
            </a:extLst>
          </p:cNvPr>
          <p:cNvCxnSpPr>
            <a:cxnSpLocks/>
          </p:cNvCxnSpPr>
          <p:nvPr/>
        </p:nvCxnSpPr>
        <p:spPr>
          <a:xfrm flipH="1">
            <a:off x="8494577" y="4368460"/>
            <a:ext cx="766762" cy="602456"/>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7B19E9CA-9419-89B0-1622-B2F5A8270E93}"/>
              </a:ext>
            </a:extLst>
          </p:cNvPr>
          <p:cNvCxnSpPr>
            <a:cxnSpLocks/>
          </p:cNvCxnSpPr>
          <p:nvPr/>
        </p:nvCxnSpPr>
        <p:spPr>
          <a:xfrm>
            <a:off x="9296463" y="4330596"/>
            <a:ext cx="831652" cy="647464"/>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CBB28748-1BE6-0707-0748-500C91B5665A}"/>
              </a:ext>
            </a:extLst>
          </p:cNvPr>
          <p:cNvCxnSpPr>
            <a:cxnSpLocks/>
          </p:cNvCxnSpPr>
          <p:nvPr/>
        </p:nvCxnSpPr>
        <p:spPr>
          <a:xfrm>
            <a:off x="8485053" y="4970916"/>
            <a:ext cx="328611" cy="917576"/>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61268FC1-3684-C7AC-5900-B897E53D511C}"/>
              </a:ext>
            </a:extLst>
          </p:cNvPr>
          <p:cNvCxnSpPr>
            <a:cxnSpLocks/>
          </p:cNvCxnSpPr>
          <p:nvPr/>
        </p:nvCxnSpPr>
        <p:spPr>
          <a:xfrm flipH="1">
            <a:off x="9804265" y="4933372"/>
            <a:ext cx="321469" cy="935038"/>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DE943AF2-7D15-791B-3284-95898DF339F6}"/>
              </a:ext>
            </a:extLst>
          </p:cNvPr>
          <p:cNvCxnSpPr>
            <a:cxnSpLocks/>
            <a:stCxn id="24" idx="6"/>
            <a:endCxn id="26" idx="2"/>
          </p:cNvCxnSpPr>
          <p:nvPr/>
        </p:nvCxnSpPr>
        <p:spPr>
          <a:xfrm>
            <a:off x="8975589" y="5868410"/>
            <a:ext cx="666751" cy="0"/>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2D1044BD-5631-4726-D7E7-DB030A7802CD}"/>
              </a:ext>
            </a:extLst>
          </p:cNvPr>
          <p:cNvCxnSpPr>
            <a:cxnSpLocks/>
          </p:cNvCxnSpPr>
          <p:nvPr/>
        </p:nvCxnSpPr>
        <p:spPr>
          <a:xfrm>
            <a:off x="9285152" y="4217647"/>
            <a:ext cx="516732" cy="1670845"/>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78967B1C-1F8F-BB67-DF92-EB0F6C426BB8}"/>
              </a:ext>
            </a:extLst>
          </p:cNvPr>
          <p:cNvCxnSpPr>
            <a:cxnSpLocks/>
          </p:cNvCxnSpPr>
          <p:nvPr/>
        </p:nvCxnSpPr>
        <p:spPr>
          <a:xfrm flipH="1">
            <a:off x="8844025" y="4220028"/>
            <a:ext cx="431603" cy="1668464"/>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DF80DF87-AA54-0AFE-9745-1D1C092AF1B0}"/>
              </a:ext>
            </a:extLst>
          </p:cNvPr>
          <p:cNvCxnSpPr>
            <a:cxnSpLocks/>
            <a:endCxn id="23" idx="2"/>
          </p:cNvCxnSpPr>
          <p:nvPr/>
        </p:nvCxnSpPr>
        <p:spPr>
          <a:xfrm>
            <a:off x="8494577" y="4970916"/>
            <a:ext cx="1471613" cy="0"/>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4814046D-EFAF-197C-DBF8-94DB575D6DAD}"/>
              </a:ext>
            </a:extLst>
          </p:cNvPr>
          <p:cNvCxnSpPr>
            <a:cxnSpLocks/>
          </p:cNvCxnSpPr>
          <p:nvPr/>
        </p:nvCxnSpPr>
        <p:spPr>
          <a:xfrm>
            <a:off x="8494576" y="4978060"/>
            <a:ext cx="1316832" cy="883206"/>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9A92D04E-757F-6E6F-3DAE-44A9DC4916B0}"/>
              </a:ext>
            </a:extLst>
          </p:cNvPr>
          <p:cNvCxnSpPr>
            <a:cxnSpLocks/>
          </p:cNvCxnSpPr>
          <p:nvPr/>
        </p:nvCxnSpPr>
        <p:spPr>
          <a:xfrm flipV="1">
            <a:off x="8808903" y="4970916"/>
            <a:ext cx="1316831" cy="890350"/>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691D4A58-324F-8BEB-C0B3-373A37098E77}"/>
              </a:ext>
            </a:extLst>
          </p:cNvPr>
          <p:cNvSpPr/>
          <p:nvPr/>
        </p:nvSpPr>
        <p:spPr>
          <a:xfrm>
            <a:off x="9120846" y="4194071"/>
            <a:ext cx="323850" cy="323850"/>
          </a:xfrm>
          <a:prstGeom prst="ellipse">
            <a:avLst/>
          </a:prstGeom>
          <a:solidFill>
            <a:srgbClr val="FF0000"/>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Content Placeholder 2">
            <a:extLst>
              <a:ext uri="{FF2B5EF4-FFF2-40B4-BE49-F238E27FC236}">
                <a16:creationId xmlns:a16="http://schemas.microsoft.com/office/drawing/2014/main" id="{25B69ABD-169E-1AAD-8FE4-3582E5292F64}"/>
              </a:ext>
            </a:extLst>
          </p:cNvPr>
          <p:cNvSpPr txBox="1">
            <a:spLocks/>
          </p:cNvSpPr>
          <p:nvPr/>
        </p:nvSpPr>
        <p:spPr>
          <a:xfrm>
            <a:off x="7171808" y="1623321"/>
            <a:ext cx="4790678" cy="206581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i="1" dirty="0"/>
              <a:t>Generalization</a:t>
            </a:r>
            <a:r>
              <a:rPr lang="en-US" dirty="0"/>
              <a:t> = identifying patterns common across multiple stimuli</a:t>
            </a:r>
          </a:p>
        </p:txBody>
      </p:sp>
      <p:sp>
        <p:nvSpPr>
          <p:cNvPr id="86" name="Content Placeholder 2">
            <a:extLst>
              <a:ext uri="{FF2B5EF4-FFF2-40B4-BE49-F238E27FC236}">
                <a16:creationId xmlns:a16="http://schemas.microsoft.com/office/drawing/2014/main" id="{A87C50B1-363B-2E76-CA36-AB9E083D39E6}"/>
              </a:ext>
            </a:extLst>
          </p:cNvPr>
          <p:cNvSpPr txBox="1">
            <a:spLocks/>
          </p:cNvSpPr>
          <p:nvPr/>
        </p:nvSpPr>
        <p:spPr>
          <a:xfrm>
            <a:off x="496457" y="2958717"/>
            <a:ext cx="4808934" cy="90229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May reflect past knowledge influencing encoding</a:t>
            </a:r>
          </a:p>
        </p:txBody>
      </p:sp>
      <p:sp>
        <p:nvSpPr>
          <p:cNvPr id="104" name="Content Placeholder 2">
            <a:extLst>
              <a:ext uri="{FF2B5EF4-FFF2-40B4-BE49-F238E27FC236}">
                <a16:creationId xmlns:a16="http://schemas.microsoft.com/office/drawing/2014/main" id="{907E7BC7-E67C-516E-8D16-F0A2529C4C29}"/>
              </a:ext>
            </a:extLst>
          </p:cNvPr>
          <p:cNvSpPr txBox="1">
            <a:spLocks/>
          </p:cNvSpPr>
          <p:nvPr/>
        </p:nvSpPr>
        <p:spPr>
          <a:xfrm>
            <a:off x="3090233" y="6209938"/>
            <a:ext cx="6623759" cy="50508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Testable behaviorally and via fMRI</a:t>
            </a:r>
          </a:p>
        </p:txBody>
      </p:sp>
    </p:spTree>
    <p:extLst>
      <p:ext uri="{BB962C8B-B14F-4D97-AF65-F5344CB8AC3E}">
        <p14:creationId xmlns:p14="http://schemas.microsoft.com/office/powerpoint/2010/main" val="9009716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9F125C-B673-982D-DD9A-F86DB2C74097}"/>
              </a:ext>
            </a:extLst>
          </p:cNvPr>
          <p:cNvSpPr>
            <a:spLocks noGrp="1"/>
          </p:cNvSpPr>
          <p:nvPr>
            <p:ph type="title"/>
          </p:nvPr>
        </p:nvSpPr>
        <p:spPr>
          <a:xfrm>
            <a:off x="838200" y="111125"/>
            <a:ext cx="10515600" cy="1325563"/>
          </a:xfrm>
        </p:spPr>
        <p:txBody>
          <a:bodyPr/>
          <a:lstStyle/>
          <a:p>
            <a:r>
              <a:rPr lang="en-US" dirty="0"/>
              <a:t>Analyzing generalizing and prototyping</a:t>
            </a:r>
          </a:p>
        </p:txBody>
      </p:sp>
      <p:sp>
        <p:nvSpPr>
          <p:cNvPr id="3" name="Content Placeholder 2">
            <a:extLst>
              <a:ext uri="{FF2B5EF4-FFF2-40B4-BE49-F238E27FC236}">
                <a16:creationId xmlns:a16="http://schemas.microsoft.com/office/drawing/2014/main" id="{9E498769-61E6-A918-3D54-08726A4D2C1E}"/>
              </a:ext>
            </a:extLst>
          </p:cNvPr>
          <p:cNvSpPr>
            <a:spLocks noGrp="1"/>
          </p:cNvSpPr>
          <p:nvPr>
            <p:ph idx="1"/>
          </p:nvPr>
        </p:nvSpPr>
        <p:spPr>
          <a:xfrm>
            <a:off x="838200" y="1474788"/>
            <a:ext cx="10515600" cy="2259705"/>
          </a:xfrm>
        </p:spPr>
        <p:txBody>
          <a:bodyPr>
            <a:normAutofit/>
          </a:bodyPr>
          <a:lstStyle/>
          <a:p>
            <a:r>
              <a:rPr lang="en-US" dirty="0"/>
              <a:t>5-stimulus group (u, v, w, x, y)</a:t>
            </a:r>
          </a:p>
          <a:p>
            <a:r>
              <a:rPr lang="en-US" dirty="0"/>
              <a:t>During some experiment phase:</a:t>
            </a:r>
          </a:p>
          <a:p>
            <a:pPr lvl="1"/>
            <a:r>
              <a:rPr lang="en-US" dirty="0"/>
              <a:t>Measure pairwise correlations among </a:t>
            </a:r>
            <a:r>
              <a:rPr lang="en-US" b="1" dirty="0">
                <a:latin typeface="Times New Roman" panose="02020603050405020304" pitchFamily="18" charset="0"/>
                <a:cs typeface="Times New Roman" panose="02020603050405020304" pitchFamily="18" charset="0"/>
              </a:rPr>
              <a:t>u</a:t>
            </a:r>
            <a:r>
              <a:rPr lang="en-US" dirty="0"/>
              <a:t>,</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v</a:t>
            </a:r>
            <a:r>
              <a:rPr lang="en-US" dirty="0"/>
              <a:t>,</a:t>
            </a:r>
            <a:r>
              <a:rPr lang="en-US" b="1" dirty="0">
                <a:latin typeface="Times New Roman" panose="02020603050405020304" pitchFamily="18" charset="0"/>
                <a:cs typeface="Times New Roman" panose="02020603050405020304" pitchFamily="18" charset="0"/>
              </a:rPr>
              <a:t> w</a:t>
            </a:r>
            <a:r>
              <a:rPr lang="en-US" dirty="0"/>
              <a:t>,</a:t>
            </a:r>
            <a:r>
              <a:rPr lang="en-US" b="1" dirty="0">
                <a:latin typeface="Times New Roman" panose="02020603050405020304" pitchFamily="18" charset="0"/>
                <a:cs typeface="Times New Roman" panose="02020603050405020304" pitchFamily="18" charset="0"/>
              </a:rPr>
              <a:t> x</a:t>
            </a:r>
            <a:r>
              <a:rPr lang="en-US" dirty="0"/>
              <a:t>, and</a:t>
            </a:r>
            <a:r>
              <a:rPr lang="en-US" b="1" dirty="0">
                <a:latin typeface="Times New Roman" panose="02020603050405020304" pitchFamily="18" charset="0"/>
                <a:cs typeface="Times New Roman" panose="02020603050405020304" pitchFamily="18" charset="0"/>
              </a:rPr>
              <a:t> y</a:t>
            </a:r>
          </a:p>
          <a:p>
            <a:pPr lvl="1"/>
            <a:r>
              <a:rPr lang="en-US" dirty="0"/>
              <a:t>Examine whether the correlations are more consistent with the diagram on the left vs. right </a:t>
            </a:r>
          </a:p>
        </p:txBody>
      </p:sp>
      <p:sp>
        <p:nvSpPr>
          <p:cNvPr id="58" name="Oval 57">
            <a:extLst>
              <a:ext uri="{FF2B5EF4-FFF2-40B4-BE49-F238E27FC236}">
                <a16:creationId xmlns:a16="http://schemas.microsoft.com/office/drawing/2014/main" id="{EC65C6F7-DB57-D3EF-87C6-3487973EC713}"/>
              </a:ext>
            </a:extLst>
          </p:cNvPr>
          <p:cNvSpPr/>
          <p:nvPr/>
        </p:nvSpPr>
        <p:spPr>
          <a:xfrm>
            <a:off x="2966408" y="4863998"/>
            <a:ext cx="323850" cy="323850"/>
          </a:xfrm>
          <a:prstGeom prst="ellipse">
            <a:avLst/>
          </a:prstGeom>
          <a:solidFill>
            <a:schemeClr val="tx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a:extLst>
              <a:ext uri="{FF2B5EF4-FFF2-40B4-BE49-F238E27FC236}">
                <a16:creationId xmlns:a16="http://schemas.microsoft.com/office/drawing/2014/main" id="{BE75BD44-8CEB-99B8-7CCD-793D69A1935A}"/>
              </a:ext>
            </a:extLst>
          </p:cNvPr>
          <p:cNvSpPr/>
          <p:nvPr/>
        </p:nvSpPr>
        <p:spPr>
          <a:xfrm>
            <a:off x="3823658" y="4863998"/>
            <a:ext cx="323850" cy="323850"/>
          </a:xfrm>
          <a:prstGeom prst="ellipse">
            <a:avLst/>
          </a:prstGeom>
          <a:solidFill>
            <a:schemeClr val="tx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DC45F2BA-01B0-2931-0525-96EB1D7755AC}"/>
              </a:ext>
            </a:extLst>
          </p:cNvPr>
          <p:cNvSpPr/>
          <p:nvPr/>
        </p:nvSpPr>
        <p:spPr>
          <a:xfrm>
            <a:off x="2966408" y="5707755"/>
            <a:ext cx="323850" cy="323850"/>
          </a:xfrm>
          <a:prstGeom prst="ellipse">
            <a:avLst/>
          </a:prstGeom>
          <a:solidFill>
            <a:schemeClr val="tx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a:extLst>
              <a:ext uri="{FF2B5EF4-FFF2-40B4-BE49-F238E27FC236}">
                <a16:creationId xmlns:a16="http://schemas.microsoft.com/office/drawing/2014/main" id="{479E233D-BFE2-A289-47DF-11FC5ED85E55}"/>
              </a:ext>
            </a:extLst>
          </p:cNvPr>
          <p:cNvSpPr/>
          <p:nvPr/>
        </p:nvSpPr>
        <p:spPr>
          <a:xfrm>
            <a:off x="2109158" y="4863998"/>
            <a:ext cx="323850" cy="323850"/>
          </a:xfrm>
          <a:prstGeom prst="ellipse">
            <a:avLst/>
          </a:prstGeom>
          <a:solidFill>
            <a:schemeClr val="tx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a:extLst>
              <a:ext uri="{FF2B5EF4-FFF2-40B4-BE49-F238E27FC236}">
                <a16:creationId xmlns:a16="http://schemas.microsoft.com/office/drawing/2014/main" id="{05F6DFB9-A5BF-D5D2-1BB8-1D6FCB36A2B0}"/>
              </a:ext>
            </a:extLst>
          </p:cNvPr>
          <p:cNvSpPr/>
          <p:nvPr/>
        </p:nvSpPr>
        <p:spPr>
          <a:xfrm>
            <a:off x="2966408" y="4025798"/>
            <a:ext cx="323850" cy="323850"/>
          </a:xfrm>
          <a:prstGeom prst="ellipse">
            <a:avLst/>
          </a:prstGeom>
          <a:solidFill>
            <a:schemeClr val="tx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3" name="Straight Connector 62">
            <a:extLst>
              <a:ext uri="{FF2B5EF4-FFF2-40B4-BE49-F238E27FC236}">
                <a16:creationId xmlns:a16="http://schemas.microsoft.com/office/drawing/2014/main" id="{908CB9C4-F8B7-9C0F-C730-9663AFE76357}"/>
              </a:ext>
            </a:extLst>
          </p:cNvPr>
          <p:cNvCxnSpPr>
            <a:stCxn id="62" idx="4"/>
            <a:endCxn id="58" idx="0"/>
          </p:cNvCxnSpPr>
          <p:nvPr/>
        </p:nvCxnSpPr>
        <p:spPr>
          <a:xfrm>
            <a:off x="3128333" y="4349648"/>
            <a:ext cx="0" cy="514350"/>
          </a:xfrm>
          <a:prstGeom prst="line">
            <a:avLst/>
          </a:prstGeom>
          <a:ln w="1270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2A61A38C-3516-99C2-516F-5B9BFC6B7CA6}"/>
              </a:ext>
            </a:extLst>
          </p:cNvPr>
          <p:cNvCxnSpPr>
            <a:cxnSpLocks/>
            <a:stCxn id="59" idx="2"/>
            <a:endCxn id="58" idx="6"/>
          </p:cNvCxnSpPr>
          <p:nvPr/>
        </p:nvCxnSpPr>
        <p:spPr>
          <a:xfrm flipH="1">
            <a:off x="3290258" y="5025923"/>
            <a:ext cx="533400" cy="0"/>
          </a:xfrm>
          <a:prstGeom prst="line">
            <a:avLst/>
          </a:prstGeom>
          <a:ln w="1270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CD38F946-12D8-AFA3-CFCF-5CDC56B95945}"/>
              </a:ext>
            </a:extLst>
          </p:cNvPr>
          <p:cNvCxnSpPr>
            <a:cxnSpLocks/>
            <a:stCxn id="58" idx="2"/>
            <a:endCxn id="61" idx="6"/>
          </p:cNvCxnSpPr>
          <p:nvPr/>
        </p:nvCxnSpPr>
        <p:spPr>
          <a:xfrm flipH="1">
            <a:off x="2433008" y="5025923"/>
            <a:ext cx="533400" cy="0"/>
          </a:xfrm>
          <a:prstGeom prst="line">
            <a:avLst/>
          </a:prstGeom>
          <a:ln w="1270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4C4AF690-7385-9367-BE36-AD46D9FAB915}"/>
              </a:ext>
            </a:extLst>
          </p:cNvPr>
          <p:cNvCxnSpPr>
            <a:cxnSpLocks/>
            <a:stCxn id="58" idx="4"/>
            <a:endCxn id="60" idx="0"/>
          </p:cNvCxnSpPr>
          <p:nvPr/>
        </p:nvCxnSpPr>
        <p:spPr>
          <a:xfrm>
            <a:off x="3128333" y="5187848"/>
            <a:ext cx="0" cy="519907"/>
          </a:xfrm>
          <a:prstGeom prst="line">
            <a:avLst/>
          </a:prstGeom>
          <a:ln w="127000">
            <a:solidFill>
              <a:schemeClr val="tx1"/>
            </a:solidFill>
          </a:ln>
        </p:spPr>
        <p:style>
          <a:lnRef idx="1">
            <a:schemeClr val="accent1"/>
          </a:lnRef>
          <a:fillRef idx="0">
            <a:schemeClr val="accent1"/>
          </a:fillRef>
          <a:effectRef idx="0">
            <a:schemeClr val="accent1"/>
          </a:effectRef>
          <a:fontRef idx="minor">
            <a:schemeClr val="tx1"/>
          </a:fontRef>
        </p:style>
      </p:cxnSp>
      <p:sp>
        <p:nvSpPr>
          <p:cNvPr id="67" name="Oval 66">
            <a:extLst>
              <a:ext uri="{FF2B5EF4-FFF2-40B4-BE49-F238E27FC236}">
                <a16:creationId xmlns:a16="http://schemas.microsoft.com/office/drawing/2014/main" id="{53D65922-7944-FFFE-D1BB-3268FABF5404}"/>
              </a:ext>
            </a:extLst>
          </p:cNvPr>
          <p:cNvSpPr/>
          <p:nvPr/>
        </p:nvSpPr>
        <p:spPr>
          <a:xfrm>
            <a:off x="10004290" y="4796291"/>
            <a:ext cx="323850" cy="32385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a:extLst>
              <a:ext uri="{FF2B5EF4-FFF2-40B4-BE49-F238E27FC236}">
                <a16:creationId xmlns:a16="http://schemas.microsoft.com/office/drawing/2014/main" id="{69A02E6D-377E-00F6-3771-05612AB8F0A4}"/>
              </a:ext>
            </a:extLst>
          </p:cNvPr>
          <p:cNvSpPr/>
          <p:nvPr/>
        </p:nvSpPr>
        <p:spPr>
          <a:xfrm>
            <a:off x="8689839" y="5693785"/>
            <a:ext cx="323850" cy="32385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a:extLst>
              <a:ext uri="{FF2B5EF4-FFF2-40B4-BE49-F238E27FC236}">
                <a16:creationId xmlns:a16="http://schemas.microsoft.com/office/drawing/2014/main" id="{BDE8E9D6-5505-152D-9F41-8A5995058952}"/>
              </a:ext>
            </a:extLst>
          </p:cNvPr>
          <p:cNvSpPr/>
          <p:nvPr/>
        </p:nvSpPr>
        <p:spPr>
          <a:xfrm>
            <a:off x="8370752" y="4796291"/>
            <a:ext cx="323850" cy="32385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a:extLst>
              <a:ext uri="{FF2B5EF4-FFF2-40B4-BE49-F238E27FC236}">
                <a16:creationId xmlns:a16="http://schemas.microsoft.com/office/drawing/2014/main" id="{B1916BFD-E075-1AA1-E7F6-3A882F4750EB}"/>
              </a:ext>
            </a:extLst>
          </p:cNvPr>
          <p:cNvSpPr/>
          <p:nvPr/>
        </p:nvSpPr>
        <p:spPr>
          <a:xfrm>
            <a:off x="9680440" y="5693785"/>
            <a:ext cx="323850" cy="32385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2" name="Straight Connector 71">
            <a:extLst>
              <a:ext uri="{FF2B5EF4-FFF2-40B4-BE49-F238E27FC236}">
                <a16:creationId xmlns:a16="http://schemas.microsoft.com/office/drawing/2014/main" id="{231F800B-F904-FF1D-4120-26A4F48611D5}"/>
              </a:ext>
            </a:extLst>
          </p:cNvPr>
          <p:cNvCxnSpPr>
            <a:cxnSpLocks/>
          </p:cNvCxnSpPr>
          <p:nvPr/>
        </p:nvCxnSpPr>
        <p:spPr>
          <a:xfrm flipH="1">
            <a:off x="8532677" y="4355760"/>
            <a:ext cx="766762" cy="602456"/>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0124F5BC-BD3B-F8C7-EA34-EEB96C4D2D00}"/>
              </a:ext>
            </a:extLst>
          </p:cNvPr>
          <p:cNvCxnSpPr>
            <a:cxnSpLocks/>
          </p:cNvCxnSpPr>
          <p:nvPr/>
        </p:nvCxnSpPr>
        <p:spPr>
          <a:xfrm>
            <a:off x="9334563" y="4317896"/>
            <a:ext cx="831652" cy="647464"/>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78D289F2-362C-531F-46BB-200CA4181D03}"/>
              </a:ext>
            </a:extLst>
          </p:cNvPr>
          <p:cNvCxnSpPr>
            <a:cxnSpLocks/>
          </p:cNvCxnSpPr>
          <p:nvPr/>
        </p:nvCxnSpPr>
        <p:spPr>
          <a:xfrm>
            <a:off x="8523153" y="4958216"/>
            <a:ext cx="328611" cy="917576"/>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966D4DBD-51FD-F917-DCE6-FB1954C4956B}"/>
              </a:ext>
            </a:extLst>
          </p:cNvPr>
          <p:cNvCxnSpPr>
            <a:cxnSpLocks/>
          </p:cNvCxnSpPr>
          <p:nvPr/>
        </p:nvCxnSpPr>
        <p:spPr>
          <a:xfrm flipH="1">
            <a:off x="9842365" y="4920672"/>
            <a:ext cx="321469" cy="935038"/>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E8C46C5A-69F7-989C-BA4A-E0E121F5F598}"/>
              </a:ext>
            </a:extLst>
          </p:cNvPr>
          <p:cNvCxnSpPr>
            <a:cxnSpLocks/>
            <a:stCxn id="68" idx="6"/>
            <a:endCxn id="70" idx="2"/>
          </p:cNvCxnSpPr>
          <p:nvPr/>
        </p:nvCxnSpPr>
        <p:spPr>
          <a:xfrm>
            <a:off x="9013689" y="5855710"/>
            <a:ext cx="666751" cy="0"/>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30E43EC6-1A0D-AA62-2A55-1CC007CCE005}"/>
              </a:ext>
            </a:extLst>
          </p:cNvPr>
          <p:cNvCxnSpPr>
            <a:cxnSpLocks/>
          </p:cNvCxnSpPr>
          <p:nvPr/>
        </p:nvCxnSpPr>
        <p:spPr>
          <a:xfrm>
            <a:off x="9323252" y="4204947"/>
            <a:ext cx="516732" cy="1670845"/>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B112E795-6DFF-E9E3-6CDB-118038306399}"/>
              </a:ext>
            </a:extLst>
          </p:cNvPr>
          <p:cNvCxnSpPr>
            <a:cxnSpLocks/>
          </p:cNvCxnSpPr>
          <p:nvPr/>
        </p:nvCxnSpPr>
        <p:spPr>
          <a:xfrm flipH="1">
            <a:off x="8882125" y="4207328"/>
            <a:ext cx="431603" cy="1668464"/>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F995EFC0-D308-ACEB-9FB9-7D1A0E27504B}"/>
              </a:ext>
            </a:extLst>
          </p:cNvPr>
          <p:cNvCxnSpPr>
            <a:cxnSpLocks/>
            <a:endCxn id="67" idx="2"/>
          </p:cNvCxnSpPr>
          <p:nvPr/>
        </p:nvCxnSpPr>
        <p:spPr>
          <a:xfrm>
            <a:off x="8532677" y="4958216"/>
            <a:ext cx="1471613" cy="0"/>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59F3EEEE-6BDC-DA56-066A-2052620B25DF}"/>
              </a:ext>
            </a:extLst>
          </p:cNvPr>
          <p:cNvCxnSpPr>
            <a:cxnSpLocks/>
          </p:cNvCxnSpPr>
          <p:nvPr/>
        </p:nvCxnSpPr>
        <p:spPr>
          <a:xfrm>
            <a:off x="8532676" y="4965360"/>
            <a:ext cx="1316832" cy="883206"/>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21F68361-7B17-7221-458F-D6D9427FD079}"/>
              </a:ext>
            </a:extLst>
          </p:cNvPr>
          <p:cNvCxnSpPr>
            <a:cxnSpLocks/>
          </p:cNvCxnSpPr>
          <p:nvPr/>
        </p:nvCxnSpPr>
        <p:spPr>
          <a:xfrm flipV="1">
            <a:off x="8847003" y="4958216"/>
            <a:ext cx="1316831" cy="890350"/>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82" name="Oval 81">
            <a:extLst>
              <a:ext uri="{FF2B5EF4-FFF2-40B4-BE49-F238E27FC236}">
                <a16:creationId xmlns:a16="http://schemas.microsoft.com/office/drawing/2014/main" id="{F1CEFC69-AE25-4208-8BC1-433A56E6D797}"/>
              </a:ext>
            </a:extLst>
          </p:cNvPr>
          <p:cNvSpPr/>
          <p:nvPr/>
        </p:nvSpPr>
        <p:spPr>
          <a:xfrm>
            <a:off x="9158946" y="4181371"/>
            <a:ext cx="323850" cy="323850"/>
          </a:xfrm>
          <a:prstGeom prst="ellipse">
            <a:avLst/>
          </a:prstGeom>
          <a:solidFill>
            <a:schemeClr val="tx1"/>
          </a:solidFill>
          <a:ln w="571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9977080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D0D50-3C30-58D7-BF9E-80E04F4669E4}"/>
              </a:ext>
            </a:extLst>
          </p:cNvPr>
          <p:cNvSpPr>
            <a:spLocks noGrp="1"/>
          </p:cNvSpPr>
          <p:nvPr>
            <p:ph type="title"/>
          </p:nvPr>
        </p:nvSpPr>
        <p:spPr>
          <a:xfrm>
            <a:off x="838200" y="102467"/>
            <a:ext cx="10515600" cy="1325563"/>
          </a:xfrm>
        </p:spPr>
        <p:txBody>
          <a:bodyPr/>
          <a:lstStyle/>
          <a:p>
            <a:r>
              <a:rPr lang="en-US" dirty="0">
                <a:solidFill>
                  <a:srgbClr val="002060"/>
                </a:solidFill>
              </a:rPr>
              <a:t>Task: Analogies and relations </a:t>
            </a:r>
            <a:br>
              <a:rPr lang="en-US" dirty="0">
                <a:solidFill>
                  <a:srgbClr val="002060"/>
                </a:solidFill>
              </a:rPr>
            </a:br>
            <a:r>
              <a:rPr lang="en-US" dirty="0">
                <a:solidFill>
                  <a:srgbClr val="002060"/>
                </a:solidFill>
              </a:rPr>
              <a:t>with meaning</a:t>
            </a:r>
          </a:p>
        </p:txBody>
      </p:sp>
      <p:sp>
        <p:nvSpPr>
          <p:cNvPr id="3" name="Content Placeholder 2">
            <a:extLst>
              <a:ext uri="{FF2B5EF4-FFF2-40B4-BE49-F238E27FC236}">
                <a16:creationId xmlns:a16="http://schemas.microsoft.com/office/drawing/2014/main" id="{016A002C-C9B0-4DE6-13F9-22A384759F48}"/>
              </a:ext>
            </a:extLst>
          </p:cNvPr>
          <p:cNvSpPr>
            <a:spLocks noGrp="1"/>
          </p:cNvSpPr>
          <p:nvPr>
            <p:ph idx="1"/>
          </p:nvPr>
        </p:nvSpPr>
        <p:spPr>
          <a:xfrm>
            <a:off x="1009615" y="3376441"/>
            <a:ext cx="10515600" cy="3481559"/>
          </a:xfrm>
        </p:spPr>
        <p:txBody>
          <a:bodyPr>
            <a:normAutofit lnSpcReduction="10000"/>
          </a:bodyPr>
          <a:lstStyle/>
          <a:p>
            <a:r>
              <a:rPr lang="en-US" dirty="0"/>
              <a:t>Difficult to probe analogies while avoiding confounds:</a:t>
            </a:r>
          </a:p>
          <a:p>
            <a:pPr lvl="1"/>
            <a:r>
              <a:rPr lang="en-US" dirty="0"/>
              <a:t>Encoding: </a:t>
            </a:r>
          </a:p>
          <a:p>
            <a:pPr lvl="2"/>
            <a:r>
              <a:rPr lang="en-US" dirty="0"/>
              <a:t>Oven-Cake :: Grill-Steak</a:t>
            </a:r>
          </a:p>
          <a:p>
            <a:pPr lvl="1"/>
            <a:r>
              <a:rPr lang="en-US" dirty="0"/>
              <a:t>Retrieval (different tests, similar problem): </a:t>
            </a:r>
          </a:p>
          <a:p>
            <a:pPr lvl="2"/>
            <a:r>
              <a:rPr lang="en-US" dirty="0"/>
              <a:t>Oven-?A?, Grill-?B?</a:t>
            </a:r>
          </a:p>
          <a:p>
            <a:pPr lvl="1"/>
            <a:r>
              <a:rPr lang="en-US" dirty="0"/>
              <a:t>Retrieval of ?A? = Cake and ?B? = Steak may elicit similar neural correlates simply due to overlapping features in terms of Cake and Steak (e.g., both edible)</a:t>
            </a:r>
          </a:p>
          <a:p>
            <a:pPr lvl="2"/>
            <a:r>
              <a:rPr lang="en-US" dirty="0"/>
              <a:t>To pinpoint relationship effect, subtract similarity between Cake &amp; Steak retrieved by non-analogies (e.g., Egg-Cake &amp; Cow-Steak)</a:t>
            </a:r>
          </a:p>
        </p:txBody>
      </p:sp>
      <p:sp>
        <p:nvSpPr>
          <p:cNvPr id="6" name="TextBox 5">
            <a:extLst>
              <a:ext uri="{FF2B5EF4-FFF2-40B4-BE49-F238E27FC236}">
                <a16:creationId xmlns:a16="http://schemas.microsoft.com/office/drawing/2014/main" id="{E134B397-FC18-F2A0-2D76-513DC148FD72}"/>
              </a:ext>
            </a:extLst>
          </p:cNvPr>
          <p:cNvSpPr txBox="1"/>
          <p:nvPr/>
        </p:nvSpPr>
        <p:spPr>
          <a:xfrm>
            <a:off x="3223953" y="2846182"/>
            <a:ext cx="645690" cy="369332"/>
          </a:xfrm>
          <a:prstGeom prst="rect">
            <a:avLst/>
          </a:prstGeom>
          <a:noFill/>
        </p:spPr>
        <p:txBody>
          <a:bodyPr wrap="none" rtlCol="0">
            <a:spAutoFit/>
          </a:bodyPr>
          <a:lstStyle/>
          <a:p>
            <a:r>
              <a:rPr lang="en-US" dirty="0"/>
              <a:t>Pizza</a:t>
            </a:r>
          </a:p>
        </p:txBody>
      </p:sp>
      <p:sp>
        <p:nvSpPr>
          <p:cNvPr id="7" name="TextBox 6">
            <a:extLst>
              <a:ext uri="{FF2B5EF4-FFF2-40B4-BE49-F238E27FC236}">
                <a16:creationId xmlns:a16="http://schemas.microsoft.com/office/drawing/2014/main" id="{21DBFD71-0D8B-D036-A2A8-E13C30C54AF4}"/>
              </a:ext>
            </a:extLst>
          </p:cNvPr>
          <p:cNvSpPr txBox="1"/>
          <p:nvPr/>
        </p:nvSpPr>
        <p:spPr>
          <a:xfrm>
            <a:off x="4134396" y="2846182"/>
            <a:ext cx="865943" cy="369332"/>
          </a:xfrm>
          <a:prstGeom prst="rect">
            <a:avLst/>
          </a:prstGeom>
          <a:noFill/>
        </p:spPr>
        <p:txBody>
          <a:bodyPr wrap="none" rtlCol="0">
            <a:spAutoFit/>
          </a:bodyPr>
          <a:lstStyle/>
          <a:p>
            <a:r>
              <a:rPr lang="en-US" dirty="0"/>
              <a:t>Cheese</a:t>
            </a:r>
          </a:p>
        </p:txBody>
      </p:sp>
      <p:sp>
        <p:nvSpPr>
          <p:cNvPr id="8" name="TextBox 7">
            <a:extLst>
              <a:ext uri="{FF2B5EF4-FFF2-40B4-BE49-F238E27FC236}">
                <a16:creationId xmlns:a16="http://schemas.microsoft.com/office/drawing/2014/main" id="{FD4333E7-8AB4-33DC-647B-9B3D7FEDF9CA}"/>
              </a:ext>
            </a:extLst>
          </p:cNvPr>
          <p:cNvSpPr txBox="1"/>
          <p:nvPr/>
        </p:nvSpPr>
        <p:spPr>
          <a:xfrm>
            <a:off x="7062556" y="1629824"/>
            <a:ext cx="630878" cy="369332"/>
          </a:xfrm>
          <a:prstGeom prst="rect">
            <a:avLst/>
          </a:prstGeom>
          <a:noFill/>
        </p:spPr>
        <p:txBody>
          <a:bodyPr wrap="none" rtlCol="0">
            <a:spAutoFit/>
          </a:bodyPr>
          <a:lstStyle/>
          <a:p>
            <a:r>
              <a:rPr lang="en-US" dirty="0"/>
              <a:t>Cake</a:t>
            </a:r>
          </a:p>
        </p:txBody>
      </p:sp>
      <p:sp>
        <p:nvSpPr>
          <p:cNvPr id="9" name="TextBox 8">
            <a:extLst>
              <a:ext uri="{FF2B5EF4-FFF2-40B4-BE49-F238E27FC236}">
                <a16:creationId xmlns:a16="http://schemas.microsoft.com/office/drawing/2014/main" id="{40F6AC58-EC01-F9F5-A1A8-29978D758968}"/>
              </a:ext>
            </a:extLst>
          </p:cNvPr>
          <p:cNvSpPr txBox="1"/>
          <p:nvPr/>
        </p:nvSpPr>
        <p:spPr>
          <a:xfrm>
            <a:off x="8105482" y="1620319"/>
            <a:ext cx="936603" cy="369332"/>
          </a:xfrm>
          <a:prstGeom prst="rect">
            <a:avLst/>
          </a:prstGeom>
          <a:noFill/>
        </p:spPr>
        <p:txBody>
          <a:bodyPr wrap="none" rtlCol="0">
            <a:spAutoFit/>
          </a:bodyPr>
          <a:lstStyle/>
          <a:p>
            <a:r>
              <a:rPr lang="en-US" dirty="0"/>
              <a:t>Frosting</a:t>
            </a:r>
          </a:p>
        </p:txBody>
      </p:sp>
      <p:sp>
        <p:nvSpPr>
          <p:cNvPr id="10" name="TextBox 9">
            <a:extLst>
              <a:ext uri="{FF2B5EF4-FFF2-40B4-BE49-F238E27FC236}">
                <a16:creationId xmlns:a16="http://schemas.microsoft.com/office/drawing/2014/main" id="{56076371-FA05-0ACB-40B4-D693C75D8113}"/>
              </a:ext>
            </a:extLst>
          </p:cNvPr>
          <p:cNvSpPr txBox="1"/>
          <p:nvPr/>
        </p:nvSpPr>
        <p:spPr>
          <a:xfrm>
            <a:off x="5333602" y="2846182"/>
            <a:ext cx="591829" cy="369332"/>
          </a:xfrm>
          <a:prstGeom prst="rect">
            <a:avLst/>
          </a:prstGeom>
          <a:noFill/>
        </p:spPr>
        <p:txBody>
          <a:bodyPr wrap="none" rtlCol="0">
            <a:spAutoFit/>
          </a:bodyPr>
          <a:lstStyle/>
          <a:p>
            <a:r>
              <a:rPr lang="en-US" dirty="0"/>
              <a:t>Milk</a:t>
            </a:r>
          </a:p>
        </p:txBody>
      </p:sp>
      <p:sp>
        <p:nvSpPr>
          <p:cNvPr id="11" name="TextBox 10">
            <a:extLst>
              <a:ext uri="{FF2B5EF4-FFF2-40B4-BE49-F238E27FC236}">
                <a16:creationId xmlns:a16="http://schemas.microsoft.com/office/drawing/2014/main" id="{F93EC82C-DA99-9A6E-B641-08E80D382541}"/>
              </a:ext>
            </a:extLst>
          </p:cNvPr>
          <p:cNvSpPr txBox="1"/>
          <p:nvPr/>
        </p:nvSpPr>
        <p:spPr>
          <a:xfrm>
            <a:off x="9406483" y="1620319"/>
            <a:ext cx="707758" cy="369332"/>
          </a:xfrm>
          <a:prstGeom prst="rect">
            <a:avLst/>
          </a:prstGeom>
          <a:noFill/>
        </p:spPr>
        <p:txBody>
          <a:bodyPr wrap="none" rtlCol="0">
            <a:spAutoFit/>
          </a:bodyPr>
          <a:lstStyle/>
          <a:p>
            <a:r>
              <a:rPr lang="en-US" dirty="0"/>
              <a:t>Sugar</a:t>
            </a:r>
          </a:p>
        </p:txBody>
      </p:sp>
      <p:sp>
        <p:nvSpPr>
          <p:cNvPr id="13" name="TextBox 12">
            <a:extLst>
              <a:ext uri="{FF2B5EF4-FFF2-40B4-BE49-F238E27FC236}">
                <a16:creationId xmlns:a16="http://schemas.microsoft.com/office/drawing/2014/main" id="{D3A78E9C-446F-7460-A434-599944470FEA}"/>
              </a:ext>
            </a:extLst>
          </p:cNvPr>
          <p:cNvSpPr txBox="1"/>
          <p:nvPr/>
        </p:nvSpPr>
        <p:spPr>
          <a:xfrm>
            <a:off x="6282405" y="2846182"/>
            <a:ext cx="594137" cy="369332"/>
          </a:xfrm>
          <a:prstGeom prst="rect">
            <a:avLst/>
          </a:prstGeom>
          <a:noFill/>
        </p:spPr>
        <p:txBody>
          <a:bodyPr wrap="none" rtlCol="0">
            <a:spAutoFit/>
          </a:bodyPr>
          <a:lstStyle/>
          <a:p>
            <a:r>
              <a:rPr lang="en-US" dirty="0"/>
              <a:t>Cow</a:t>
            </a:r>
          </a:p>
        </p:txBody>
      </p:sp>
      <p:sp>
        <p:nvSpPr>
          <p:cNvPr id="14" name="TextBox 13">
            <a:extLst>
              <a:ext uri="{FF2B5EF4-FFF2-40B4-BE49-F238E27FC236}">
                <a16:creationId xmlns:a16="http://schemas.microsoft.com/office/drawing/2014/main" id="{01A1B981-5C5E-04BA-4A23-EE24D443C6C6}"/>
              </a:ext>
            </a:extLst>
          </p:cNvPr>
          <p:cNvSpPr txBox="1"/>
          <p:nvPr/>
        </p:nvSpPr>
        <p:spPr>
          <a:xfrm>
            <a:off x="6133507" y="1629824"/>
            <a:ext cx="517001" cy="369332"/>
          </a:xfrm>
          <a:prstGeom prst="rect">
            <a:avLst/>
          </a:prstGeom>
          <a:noFill/>
        </p:spPr>
        <p:txBody>
          <a:bodyPr wrap="none" rtlCol="0">
            <a:spAutoFit/>
          </a:bodyPr>
          <a:lstStyle/>
          <a:p>
            <a:r>
              <a:rPr lang="en-US" dirty="0"/>
              <a:t>Egg</a:t>
            </a:r>
          </a:p>
        </p:txBody>
      </p:sp>
      <p:sp>
        <p:nvSpPr>
          <p:cNvPr id="15" name="TextBox 14">
            <a:extLst>
              <a:ext uri="{FF2B5EF4-FFF2-40B4-BE49-F238E27FC236}">
                <a16:creationId xmlns:a16="http://schemas.microsoft.com/office/drawing/2014/main" id="{412BEAA5-6745-BC50-2762-C96551ECBB42}"/>
              </a:ext>
            </a:extLst>
          </p:cNvPr>
          <p:cNvSpPr txBox="1"/>
          <p:nvPr/>
        </p:nvSpPr>
        <p:spPr>
          <a:xfrm>
            <a:off x="4846946" y="1629824"/>
            <a:ext cx="914609" cy="369332"/>
          </a:xfrm>
          <a:prstGeom prst="rect">
            <a:avLst/>
          </a:prstGeom>
          <a:noFill/>
        </p:spPr>
        <p:txBody>
          <a:bodyPr wrap="none" rtlCol="0">
            <a:spAutoFit/>
          </a:bodyPr>
          <a:lstStyle/>
          <a:p>
            <a:r>
              <a:rPr lang="en-US" dirty="0"/>
              <a:t>Chicken</a:t>
            </a:r>
          </a:p>
        </p:txBody>
      </p:sp>
      <p:cxnSp>
        <p:nvCxnSpPr>
          <p:cNvPr id="17" name="Straight Connector 16">
            <a:extLst>
              <a:ext uri="{FF2B5EF4-FFF2-40B4-BE49-F238E27FC236}">
                <a16:creationId xmlns:a16="http://schemas.microsoft.com/office/drawing/2014/main" id="{4151EF59-133E-9D80-FB68-F4BB6B150E00}"/>
              </a:ext>
            </a:extLst>
          </p:cNvPr>
          <p:cNvCxnSpPr>
            <a:cxnSpLocks/>
            <a:stCxn id="6" idx="3"/>
            <a:endCxn id="7" idx="1"/>
          </p:cNvCxnSpPr>
          <p:nvPr/>
        </p:nvCxnSpPr>
        <p:spPr>
          <a:xfrm>
            <a:off x="3869643" y="3030848"/>
            <a:ext cx="26475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B2F7309-AF4A-28E8-9D92-52FA21FD2C2A}"/>
              </a:ext>
            </a:extLst>
          </p:cNvPr>
          <p:cNvCxnSpPr>
            <a:cxnSpLocks/>
            <a:stCxn id="10" idx="1"/>
            <a:endCxn id="7" idx="3"/>
          </p:cNvCxnSpPr>
          <p:nvPr/>
        </p:nvCxnSpPr>
        <p:spPr>
          <a:xfrm flipH="1">
            <a:off x="5000339" y="3030848"/>
            <a:ext cx="33326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C253D158-20EB-0F32-7BE0-91849CC32BC2}"/>
              </a:ext>
            </a:extLst>
          </p:cNvPr>
          <p:cNvCxnSpPr>
            <a:cxnSpLocks/>
            <a:stCxn id="13" idx="1"/>
            <a:endCxn id="10" idx="3"/>
          </p:cNvCxnSpPr>
          <p:nvPr/>
        </p:nvCxnSpPr>
        <p:spPr>
          <a:xfrm flipH="1">
            <a:off x="5925431" y="3030848"/>
            <a:ext cx="356974"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6BA36259-075B-CD94-3403-771A0EFF30CE}"/>
              </a:ext>
            </a:extLst>
          </p:cNvPr>
          <p:cNvCxnSpPr>
            <a:cxnSpLocks/>
            <a:stCxn id="8" idx="1"/>
            <a:endCxn id="14" idx="3"/>
          </p:cNvCxnSpPr>
          <p:nvPr/>
        </p:nvCxnSpPr>
        <p:spPr>
          <a:xfrm flipH="1">
            <a:off x="6650508" y="1814490"/>
            <a:ext cx="41204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6FCF913B-FB7B-248D-4DC1-9C4050B1716C}"/>
              </a:ext>
            </a:extLst>
          </p:cNvPr>
          <p:cNvCxnSpPr>
            <a:cxnSpLocks/>
            <a:stCxn id="9" idx="1"/>
            <a:endCxn id="8" idx="3"/>
          </p:cNvCxnSpPr>
          <p:nvPr/>
        </p:nvCxnSpPr>
        <p:spPr>
          <a:xfrm flipH="1">
            <a:off x="7693434" y="1804985"/>
            <a:ext cx="412048" cy="950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9A1DCB95-B004-9738-AC94-B97E9D7D60EB}"/>
              </a:ext>
            </a:extLst>
          </p:cNvPr>
          <p:cNvCxnSpPr>
            <a:cxnSpLocks/>
            <a:stCxn id="15" idx="3"/>
            <a:endCxn id="14" idx="1"/>
          </p:cNvCxnSpPr>
          <p:nvPr/>
        </p:nvCxnSpPr>
        <p:spPr>
          <a:xfrm>
            <a:off x="5761555" y="1814490"/>
            <a:ext cx="37195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44570F8A-CFC6-D0D5-D404-97BFBEE0CAE5}"/>
              </a:ext>
            </a:extLst>
          </p:cNvPr>
          <p:cNvCxnSpPr>
            <a:cxnSpLocks/>
            <a:stCxn id="9" idx="3"/>
            <a:endCxn id="11" idx="1"/>
          </p:cNvCxnSpPr>
          <p:nvPr/>
        </p:nvCxnSpPr>
        <p:spPr>
          <a:xfrm>
            <a:off x="9042085" y="1804985"/>
            <a:ext cx="36439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034F8460-D231-9241-2E72-7637BAF31AA1}"/>
              </a:ext>
            </a:extLst>
          </p:cNvPr>
          <p:cNvSpPr txBox="1"/>
          <p:nvPr/>
        </p:nvSpPr>
        <p:spPr>
          <a:xfrm>
            <a:off x="7061737" y="2846182"/>
            <a:ext cx="695127" cy="369332"/>
          </a:xfrm>
          <a:prstGeom prst="rect">
            <a:avLst/>
          </a:prstGeom>
          <a:noFill/>
        </p:spPr>
        <p:txBody>
          <a:bodyPr wrap="none" rtlCol="0">
            <a:spAutoFit/>
          </a:bodyPr>
          <a:lstStyle/>
          <a:p>
            <a:r>
              <a:rPr lang="en-US" dirty="0"/>
              <a:t>Steak</a:t>
            </a:r>
          </a:p>
        </p:txBody>
      </p:sp>
      <p:cxnSp>
        <p:nvCxnSpPr>
          <p:cNvPr id="80" name="Straight Connector 79">
            <a:extLst>
              <a:ext uri="{FF2B5EF4-FFF2-40B4-BE49-F238E27FC236}">
                <a16:creationId xmlns:a16="http://schemas.microsoft.com/office/drawing/2014/main" id="{232DBAFC-3769-3C6E-DDB1-BE13DFA69F1C}"/>
              </a:ext>
            </a:extLst>
          </p:cNvPr>
          <p:cNvCxnSpPr>
            <a:cxnSpLocks/>
            <a:stCxn id="42" idx="1"/>
            <a:endCxn id="13" idx="3"/>
          </p:cNvCxnSpPr>
          <p:nvPr/>
        </p:nvCxnSpPr>
        <p:spPr>
          <a:xfrm flipH="1">
            <a:off x="6876542" y="3030848"/>
            <a:ext cx="185195"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83" name="TextBox 82">
            <a:extLst>
              <a:ext uri="{FF2B5EF4-FFF2-40B4-BE49-F238E27FC236}">
                <a16:creationId xmlns:a16="http://schemas.microsoft.com/office/drawing/2014/main" id="{F065D4B2-500C-2991-B8C5-411E3381724A}"/>
              </a:ext>
            </a:extLst>
          </p:cNvPr>
          <p:cNvSpPr txBox="1"/>
          <p:nvPr/>
        </p:nvSpPr>
        <p:spPr>
          <a:xfrm>
            <a:off x="7922364" y="2846182"/>
            <a:ext cx="569387" cy="369332"/>
          </a:xfrm>
          <a:prstGeom prst="rect">
            <a:avLst/>
          </a:prstGeom>
          <a:noFill/>
        </p:spPr>
        <p:txBody>
          <a:bodyPr wrap="none" rtlCol="0">
            <a:spAutoFit/>
          </a:bodyPr>
          <a:lstStyle/>
          <a:p>
            <a:r>
              <a:rPr lang="en-US" dirty="0"/>
              <a:t>Grill</a:t>
            </a:r>
          </a:p>
        </p:txBody>
      </p:sp>
      <p:sp>
        <p:nvSpPr>
          <p:cNvPr id="84" name="TextBox 83">
            <a:extLst>
              <a:ext uri="{FF2B5EF4-FFF2-40B4-BE49-F238E27FC236}">
                <a16:creationId xmlns:a16="http://schemas.microsoft.com/office/drawing/2014/main" id="{0B6A93C6-115E-1C37-F687-7CFE19757EC3}"/>
              </a:ext>
            </a:extLst>
          </p:cNvPr>
          <p:cNvSpPr txBox="1"/>
          <p:nvPr/>
        </p:nvSpPr>
        <p:spPr>
          <a:xfrm>
            <a:off x="7039921" y="2183822"/>
            <a:ext cx="676147" cy="369332"/>
          </a:xfrm>
          <a:prstGeom prst="rect">
            <a:avLst/>
          </a:prstGeom>
          <a:noFill/>
        </p:spPr>
        <p:txBody>
          <a:bodyPr wrap="none" rtlCol="0">
            <a:spAutoFit/>
          </a:bodyPr>
          <a:lstStyle/>
          <a:p>
            <a:r>
              <a:rPr lang="en-US" dirty="0"/>
              <a:t>Oven</a:t>
            </a:r>
          </a:p>
        </p:txBody>
      </p:sp>
      <p:cxnSp>
        <p:nvCxnSpPr>
          <p:cNvPr id="86" name="Straight Connector 85">
            <a:extLst>
              <a:ext uri="{FF2B5EF4-FFF2-40B4-BE49-F238E27FC236}">
                <a16:creationId xmlns:a16="http://schemas.microsoft.com/office/drawing/2014/main" id="{1972C19A-DA4F-C869-BAB7-61B7023C9811}"/>
              </a:ext>
            </a:extLst>
          </p:cNvPr>
          <p:cNvCxnSpPr>
            <a:cxnSpLocks/>
            <a:stCxn id="8" idx="2"/>
            <a:endCxn id="84" idx="0"/>
          </p:cNvCxnSpPr>
          <p:nvPr/>
        </p:nvCxnSpPr>
        <p:spPr>
          <a:xfrm>
            <a:off x="7377995" y="1999156"/>
            <a:ext cx="0" cy="18466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41689FEB-9E59-E555-ED83-7141CEB3FAD2}"/>
              </a:ext>
            </a:extLst>
          </p:cNvPr>
          <p:cNvCxnSpPr>
            <a:cxnSpLocks/>
            <a:stCxn id="83" idx="1"/>
            <a:endCxn id="42" idx="3"/>
          </p:cNvCxnSpPr>
          <p:nvPr/>
        </p:nvCxnSpPr>
        <p:spPr>
          <a:xfrm flipH="1">
            <a:off x="7756864" y="3030848"/>
            <a:ext cx="1655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93" name="TextBox 92">
            <a:extLst>
              <a:ext uri="{FF2B5EF4-FFF2-40B4-BE49-F238E27FC236}">
                <a16:creationId xmlns:a16="http://schemas.microsoft.com/office/drawing/2014/main" id="{3D767FCF-670B-751C-EEA7-22CCCF750FF6}"/>
              </a:ext>
            </a:extLst>
          </p:cNvPr>
          <p:cNvSpPr txBox="1"/>
          <p:nvPr/>
        </p:nvSpPr>
        <p:spPr>
          <a:xfrm>
            <a:off x="3455525" y="1491325"/>
            <a:ext cx="1111843" cy="646331"/>
          </a:xfrm>
          <a:prstGeom prst="rect">
            <a:avLst/>
          </a:prstGeom>
          <a:noFill/>
        </p:spPr>
        <p:txBody>
          <a:bodyPr wrap="none" rtlCol="0">
            <a:spAutoFit/>
          </a:bodyPr>
          <a:lstStyle/>
          <a:p>
            <a:pPr algn="ctr"/>
            <a:r>
              <a:rPr lang="en-US" dirty="0"/>
              <a:t>Fried</a:t>
            </a:r>
          </a:p>
          <a:p>
            <a:pPr algn="ctr"/>
            <a:r>
              <a:rPr lang="en-US" dirty="0"/>
              <a:t>drumstick</a:t>
            </a:r>
          </a:p>
        </p:txBody>
      </p:sp>
      <p:cxnSp>
        <p:nvCxnSpPr>
          <p:cNvPr id="94" name="Straight Connector 93">
            <a:extLst>
              <a:ext uri="{FF2B5EF4-FFF2-40B4-BE49-F238E27FC236}">
                <a16:creationId xmlns:a16="http://schemas.microsoft.com/office/drawing/2014/main" id="{EA50E8ED-1B58-C25D-E2B9-0CBA4C5E03D1}"/>
              </a:ext>
            </a:extLst>
          </p:cNvPr>
          <p:cNvCxnSpPr>
            <a:cxnSpLocks/>
            <a:stCxn id="93" idx="3"/>
            <a:endCxn id="15" idx="1"/>
          </p:cNvCxnSpPr>
          <p:nvPr/>
        </p:nvCxnSpPr>
        <p:spPr>
          <a:xfrm flipV="1">
            <a:off x="4567368" y="1814490"/>
            <a:ext cx="279578" cy="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99" name="TextBox 98">
            <a:extLst>
              <a:ext uri="{FF2B5EF4-FFF2-40B4-BE49-F238E27FC236}">
                <a16:creationId xmlns:a16="http://schemas.microsoft.com/office/drawing/2014/main" id="{09C3C61B-B632-FF98-7C4D-9FF2DD516EB1}"/>
              </a:ext>
            </a:extLst>
          </p:cNvPr>
          <p:cNvSpPr txBox="1"/>
          <p:nvPr/>
        </p:nvSpPr>
        <p:spPr>
          <a:xfrm>
            <a:off x="2260520" y="2846182"/>
            <a:ext cx="584199" cy="369332"/>
          </a:xfrm>
          <a:prstGeom prst="rect">
            <a:avLst/>
          </a:prstGeom>
          <a:noFill/>
        </p:spPr>
        <p:txBody>
          <a:bodyPr wrap="none" rtlCol="0">
            <a:spAutoFit/>
          </a:bodyPr>
          <a:lstStyle/>
          <a:p>
            <a:r>
              <a:rPr lang="en-US" dirty="0"/>
              <a:t>Italy</a:t>
            </a:r>
          </a:p>
        </p:txBody>
      </p:sp>
      <p:sp>
        <p:nvSpPr>
          <p:cNvPr id="100" name="TextBox 99">
            <a:extLst>
              <a:ext uri="{FF2B5EF4-FFF2-40B4-BE49-F238E27FC236}">
                <a16:creationId xmlns:a16="http://schemas.microsoft.com/office/drawing/2014/main" id="{7731E2D2-1FA1-70F1-4B0C-45E876BB1A88}"/>
              </a:ext>
            </a:extLst>
          </p:cNvPr>
          <p:cNvSpPr txBox="1"/>
          <p:nvPr/>
        </p:nvSpPr>
        <p:spPr>
          <a:xfrm>
            <a:off x="1577319" y="1627483"/>
            <a:ext cx="1420902" cy="369332"/>
          </a:xfrm>
          <a:prstGeom prst="rect">
            <a:avLst/>
          </a:prstGeom>
          <a:noFill/>
        </p:spPr>
        <p:txBody>
          <a:bodyPr wrap="none" rtlCol="0">
            <a:spAutoFit/>
          </a:bodyPr>
          <a:lstStyle/>
          <a:p>
            <a:r>
              <a:rPr lang="en-US" dirty="0"/>
              <a:t>United states</a:t>
            </a:r>
          </a:p>
        </p:txBody>
      </p:sp>
      <p:cxnSp>
        <p:nvCxnSpPr>
          <p:cNvPr id="101" name="Straight Connector 100">
            <a:extLst>
              <a:ext uri="{FF2B5EF4-FFF2-40B4-BE49-F238E27FC236}">
                <a16:creationId xmlns:a16="http://schemas.microsoft.com/office/drawing/2014/main" id="{A853A953-7FAD-3158-2871-A9D778F40833}"/>
              </a:ext>
            </a:extLst>
          </p:cNvPr>
          <p:cNvCxnSpPr>
            <a:cxnSpLocks/>
            <a:stCxn id="93" idx="1"/>
            <a:endCxn id="100" idx="3"/>
          </p:cNvCxnSpPr>
          <p:nvPr/>
        </p:nvCxnSpPr>
        <p:spPr>
          <a:xfrm flipH="1" flipV="1">
            <a:off x="2998221" y="1812149"/>
            <a:ext cx="457304" cy="234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90DAF585-F9BD-F9F3-8A0D-08E7AC362B2C}"/>
              </a:ext>
            </a:extLst>
          </p:cNvPr>
          <p:cNvCxnSpPr>
            <a:cxnSpLocks/>
            <a:stCxn id="6" idx="1"/>
            <a:endCxn id="99" idx="3"/>
          </p:cNvCxnSpPr>
          <p:nvPr/>
        </p:nvCxnSpPr>
        <p:spPr>
          <a:xfrm flipH="1">
            <a:off x="2844719" y="3030848"/>
            <a:ext cx="379234"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205094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2AAFD6-73CE-73DC-189E-196653B376E6}"/>
              </a:ext>
            </a:extLst>
          </p:cNvPr>
          <p:cNvSpPr>
            <a:spLocks noGrp="1"/>
          </p:cNvSpPr>
          <p:nvPr>
            <p:ph type="title"/>
          </p:nvPr>
        </p:nvSpPr>
        <p:spPr>
          <a:xfrm>
            <a:off x="853190" y="65346"/>
            <a:ext cx="4108554" cy="1325563"/>
          </a:xfrm>
        </p:spPr>
        <p:txBody>
          <a:bodyPr/>
          <a:lstStyle/>
          <a:p>
            <a:r>
              <a:rPr lang="en-US" dirty="0"/>
              <a:t>Task</a:t>
            </a:r>
          </a:p>
        </p:txBody>
      </p:sp>
      <p:sp>
        <p:nvSpPr>
          <p:cNvPr id="3" name="Content Placeholder 2">
            <a:extLst>
              <a:ext uri="{FF2B5EF4-FFF2-40B4-BE49-F238E27FC236}">
                <a16:creationId xmlns:a16="http://schemas.microsoft.com/office/drawing/2014/main" id="{8C16B17E-B527-64CB-6FE9-A36936F9B322}"/>
              </a:ext>
            </a:extLst>
          </p:cNvPr>
          <p:cNvSpPr>
            <a:spLocks noGrp="1"/>
          </p:cNvSpPr>
          <p:nvPr>
            <p:ph idx="1"/>
          </p:nvPr>
        </p:nvSpPr>
        <p:spPr>
          <a:xfrm>
            <a:off x="554636" y="1390909"/>
            <a:ext cx="4991724" cy="4919949"/>
          </a:xfrm>
        </p:spPr>
        <p:txBody>
          <a:bodyPr/>
          <a:lstStyle/>
          <a:p>
            <a:r>
              <a:rPr lang="en-US" dirty="0" err="1"/>
              <a:t>Reagh</a:t>
            </a:r>
            <a:r>
              <a:rPr lang="en-US" dirty="0"/>
              <a:t> &amp; </a:t>
            </a:r>
            <a:r>
              <a:rPr lang="en-US" dirty="0" err="1"/>
              <a:t>Ranganath</a:t>
            </a:r>
            <a:r>
              <a:rPr lang="en-US" dirty="0"/>
              <a:t> (2023) presented eight videos, which overlapped in some dimensions</a:t>
            </a:r>
          </a:p>
          <a:p>
            <a:pPr lvl="1"/>
            <a:r>
              <a:rPr lang="en-US" dirty="0"/>
              <a:t>Character</a:t>
            </a:r>
          </a:p>
          <a:p>
            <a:pPr lvl="1"/>
            <a:r>
              <a:rPr lang="en-US" dirty="0"/>
              <a:t>Specific scene</a:t>
            </a:r>
          </a:p>
          <a:p>
            <a:pPr lvl="1"/>
            <a:r>
              <a:rPr lang="en-US" dirty="0"/>
              <a:t>General schema</a:t>
            </a:r>
          </a:p>
          <a:p>
            <a:r>
              <a:rPr lang="en-US" dirty="0"/>
              <a:t>Could emulate this research</a:t>
            </a:r>
          </a:p>
        </p:txBody>
      </p:sp>
      <p:pic>
        <p:nvPicPr>
          <p:cNvPr id="4" name="Picture 3">
            <a:extLst>
              <a:ext uri="{FF2B5EF4-FFF2-40B4-BE49-F238E27FC236}">
                <a16:creationId xmlns:a16="http://schemas.microsoft.com/office/drawing/2014/main" id="{1A7C109E-970C-42E6-0B20-12A5C0F17D81}"/>
              </a:ext>
            </a:extLst>
          </p:cNvPr>
          <p:cNvPicPr>
            <a:picLocks noChangeAspect="1"/>
          </p:cNvPicPr>
          <p:nvPr/>
        </p:nvPicPr>
        <p:blipFill>
          <a:blip r:embed="rId2"/>
          <a:stretch>
            <a:fillRect/>
          </a:stretch>
        </p:blipFill>
        <p:spPr>
          <a:xfrm>
            <a:off x="5546360" y="262845"/>
            <a:ext cx="6395095" cy="6332310"/>
          </a:xfrm>
          <a:prstGeom prst="rect">
            <a:avLst/>
          </a:prstGeom>
        </p:spPr>
      </p:pic>
    </p:spTree>
    <p:extLst>
      <p:ext uri="{BB962C8B-B14F-4D97-AF65-F5344CB8AC3E}">
        <p14:creationId xmlns:p14="http://schemas.microsoft.com/office/powerpoint/2010/main" val="15295342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lank.potx" id="{9C6B1436-0ACE-4CC3-BC66-C2BCB97D7D52}" vid="{95E57EA4-F55F-474A-9811-FDC52FAD541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blank</Template>
  <TotalTime>64505</TotalTime>
  <Words>4601</Words>
  <Application>Microsoft Office PowerPoint</Application>
  <PresentationFormat>Widescreen</PresentationFormat>
  <Paragraphs>598</Paragraphs>
  <Slides>61</Slides>
  <Notes>26</Notes>
  <HiddenSlides>7</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61</vt:i4>
      </vt:variant>
    </vt:vector>
  </HeadingPairs>
  <TitlesOfParts>
    <vt:vector size="67" baseType="lpstr">
      <vt:lpstr>Arial</vt:lpstr>
      <vt:lpstr>Calibri</vt:lpstr>
      <vt:lpstr>Courier New</vt:lpstr>
      <vt:lpstr>Times New Roman</vt:lpstr>
      <vt:lpstr>Wingdings</vt:lpstr>
      <vt:lpstr>Office Theme</vt:lpstr>
      <vt:lpstr>Paul Update  (now, with results now)</vt:lpstr>
      <vt:lpstr>3-session fMRI study (SchemRep)</vt:lpstr>
      <vt:lpstr>Standard way to mix RSA and connectivity</vt:lpstr>
      <vt:lpstr>Question </vt:lpstr>
      <vt:lpstr>Methodological issue</vt:lpstr>
      <vt:lpstr>Model-free and model-based analyses</vt:lpstr>
      <vt:lpstr>Many sessions</vt:lpstr>
      <vt:lpstr>Splitting ROIs</vt:lpstr>
      <vt:lpstr>Between-session similarity (THESE ARE FROM CONNECTIVYT AS PRODUCT)</vt:lpstr>
      <vt:lpstr>RSA (THESE ARE FROM CONNECTIVYT AS PRODUCT)</vt:lpstr>
      <vt:lpstr>Conclusion</vt:lpstr>
      <vt:lpstr>Next steps</vt:lpstr>
      <vt:lpstr>PowerPoint Presentation</vt:lpstr>
      <vt:lpstr>PowerPoint Presentation</vt:lpstr>
      <vt:lpstr>Power</vt:lpstr>
      <vt:lpstr>Paul Update</vt:lpstr>
      <vt:lpstr>Edge-based connectivity RSA</vt:lpstr>
      <vt:lpstr>Network-based connectivity RSA</vt:lpstr>
      <vt:lpstr>Single trial connectivity</vt:lpstr>
      <vt:lpstr>PowerPoint Presentation</vt:lpstr>
      <vt:lpstr>Justifying the use of the SchemeRep data specifically</vt:lpstr>
      <vt:lpstr>Some analyses</vt:lpstr>
      <vt:lpstr>Significance testing and permutation testing</vt:lpstr>
      <vt:lpstr>RSA with functional connectivity</vt:lpstr>
      <vt:lpstr>Modularity</vt:lpstr>
      <vt:lpstr>Task idea </vt:lpstr>
      <vt:lpstr>What are we doing?</vt:lpstr>
      <vt:lpstr>Possible Mechanism 1 &amp; RSA</vt:lpstr>
      <vt:lpstr>Three types of relational memory tasks</vt:lpstr>
      <vt:lpstr>Encoding task</vt:lpstr>
      <vt:lpstr>Retrieval task</vt:lpstr>
      <vt:lpstr>Extra test before the main retrieval task</vt:lpstr>
      <vt:lpstr>Multiple RDMs</vt:lpstr>
      <vt:lpstr>Real-world relevance</vt:lpstr>
      <vt:lpstr>Task idea 2</vt:lpstr>
      <vt:lpstr>Reinforcement learning and states</vt:lpstr>
      <vt:lpstr>Multi-part states</vt:lpstr>
      <vt:lpstr>Affordances</vt:lpstr>
      <vt:lpstr>Goals</vt:lpstr>
      <vt:lpstr>Affordances</vt:lpstr>
      <vt:lpstr>Episodic memories</vt:lpstr>
      <vt:lpstr>Question: Scenes</vt:lpstr>
      <vt:lpstr>Question: Individual relations</vt:lpstr>
      <vt:lpstr>Question: Recollection and episodic memory</vt:lpstr>
      <vt:lpstr>Question: Semantic memory</vt:lpstr>
      <vt:lpstr>Question: Actions</vt:lpstr>
      <vt:lpstr>Question: Affordances</vt:lpstr>
      <vt:lpstr>Question: Goals</vt:lpstr>
      <vt:lpstr>General task idea</vt:lpstr>
      <vt:lpstr>Other idea</vt:lpstr>
      <vt:lpstr>Old</vt:lpstr>
      <vt:lpstr>Episodic memory is intertwined with relational memory</vt:lpstr>
      <vt:lpstr>Examining relational memory from multiple levels</vt:lpstr>
      <vt:lpstr>Broad aim: Focus on edges and groups not nodes</vt:lpstr>
      <vt:lpstr>fMRI analysis</vt:lpstr>
      <vt:lpstr>Building on this analytic direction</vt:lpstr>
      <vt:lpstr>Ways to extend and interpret these analyses</vt:lpstr>
      <vt:lpstr>(Beyond the task)  Older adults prototype rather than generalize</vt:lpstr>
      <vt:lpstr>Analyzing generalizing and prototyping</vt:lpstr>
      <vt:lpstr>Task: Analogies and relations  with meaning</vt:lpstr>
      <vt:lpstr>Task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Bogdan, Paul Christian</dc:creator>
  <cp:lastModifiedBy>Bogdan, Paul Christian</cp:lastModifiedBy>
  <cp:revision>187</cp:revision>
  <dcterms:created xsi:type="dcterms:W3CDTF">2023-09-14T13:36:35Z</dcterms:created>
  <dcterms:modified xsi:type="dcterms:W3CDTF">2023-11-13T14:02:13Z</dcterms:modified>
</cp:coreProperties>
</file>