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424" r:id="rId3"/>
    <p:sldId id="425" r:id="rId4"/>
    <p:sldId id="426" r:id="rId5"/>
    <p:sldId id="427" r:id="rId6"/>
    <p:sldId id="428" r:id="rId7"/>
    <p:sldId id="325" r:id="rId8"/>
    <p:sldId id="364" r:id="rId9"/>
    <p:sldId id="423" r:id="rId10"/>
    <p:sldId id="319" r:id="rId11"/>
    <p:sldId id="393" r:id="rId12"/>
    <p:sldId id="394" r:id="rId13"/>
    <p:sldId id="398" r:id="rId14"/>
    <p:sldId id="397" r:id="rId15"/>
    <p:sldId id="400" r:id="rId16"/>
    <p:sldId id="399" r:id="rId17"/>
    <p:sldId id="404" r:id="rId18"/>
    <p:sldId id="386" r:id="rId19"/>
    <p:sldId id="401" r:id="rId20"/>
    <p:sldId id="407" r:id="rId21"/>
    <p:sldId id="409" r:id="rId22"/>
    <p:sldId id="410" r:id="rId23"/>
    <p:sldId id="412" r:id="rId24"/>
    <p:sldId id="413" r:id="rId25"/>
    <p:sldId id="408" r:id="rId26"/>
    <p:sldId id="402" r:id="rId27"/>
    <p:sldId id="416" r:id="rId28"/>
    <p:sldId id="418" r:id="rId29"/>
    <p:sldId id="417" r:id="rId30"/>
    <p:sldId id="420" r:id="rId31"/>
    <p:sldId id="414" r:id="rId32"/>
    <p:sldId id="421" r:id="rId33"/>
    <p:sldId id="422" r:id="rId34"/>
    <p:sldId id="419" r:id="rId35"/>
    <p:sldId id="405" r:id="rId36"/>
    <p:sldId id="403" r:id="rId37"/>
    <p:sldId id="367" r:id="rId38"/>
    <p:sldId id="368" r:id="rId39"/>
    <p:sldId id="372" r:id="rId40"/>
    <p:sldId id="373" r:id="rId41"/>
    <p:sldId id="374" r:id="rId42"/>
    <p:sldId id="375" r:id="rId43"/>
    <p:sldId id="329" r:id="rId44"/>
    <p:sldId id="333" r:id="rId45"/>
    <p:sldId id="381" r:id="rId46"/>
    <p:sldId id="382"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CC"/>
    <a:srgbClr val="FFCCCC"/>
    <a:srgbClr val="FE962B"/>
    <a:srgbClr val="D2E935"/>
    <a:srgbClr val="FF7C80"/>
    <a:srgbClr val="FDA631"/>
    <a:srgbClr val="33CC33"/>
    <a:srgbClr val="804710"/>
    <a:srgbClr val="452A4F"/>
    <a:srgbClr val="A6A6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346" autoAdjust="0"/>
    <p:restoredTop sz="92240" autoAdjust="0"/>
  </p:normalViewPr>
  <p:slideViewPr>
    <p:cSldViewPr snapToGrid="0">
      <p:cViewPr>
        <p:scale>
          <a:sx n="75" d="100"/>
          <a:sy n="75" d="100"/>
        </p:scale>
        <p:origin x="798" y="108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98493-CA63-4D0A-8042-ED8AF27DCFF3}" type="datetimeFigureOut">
              <a:rPr lang="en-US" smtClean="0"/>
              <a:t>11/8/2023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E3E675-13CA-4196-84E5-E684757DD2A6}" type="slidenum">
              <a:rPr lang="en-US" smtClean="0"/>
              <a:t>‹#›</a:t>
            </a:fld>
            <a:endParaRPr lang="en-US"/>
          </a:p>
        </p:txBody>
      </p:sp>
    </p:spTree>
    <p:extLst>
      <p:ext uri="{BB962C8B-B14F-4D97-AF65-F5344CB8AC3E}">
        <p14:creationId xmlns:p14="http://schemas.microsoft.com/office/powerpoint/2010/main" val="3913321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may be of general interest: You know how the RSA values (z-scores and IRAFs) between regions seem to be spatially correlated (neighboring regions are similar). This violates assumptions of independence. This violation may mean that multiple hypothesis correction methods may not be appropriate, and FWER corrections will be too strict. I explored this question in the </a:t>
            </a:r>
            <a:r>
              <a:rPr lang="en-US" dirty="0" err="1"/>
              <a:t>SchemeRep</a:t>
            </a:r>
            <a:r>
              <a:rPr lang="en-US" dirty="0"/>
              <a:t> data. The data can be split into either 45 large or 222 smaller ROIs meaning 45 or 222 comparisons*. I did a permutation-testing analysis, where I shuffled every trial, meaning that every trial’s fMRI data is matched with random stimulus data. I only shuffled within-run (e.g., moving Run 2 trial 1’s fMRI data to the Run 2 trial 5 position), to avoid issues related to within/between run RSA. The RSA analysis, for each ROI, entailed doing the </a:t>
            </a:r>
            <a:r>
              <a:rPr lang="en-US" dirty="0" err="1"/>
              <a:t>fMRI_RDM</a:t>
            </a:r>
            <a:r>
              <a:rPr lang="en-US" dirty="0"/>
              <a:t> x </a:t>
            </a:r>
            <a:r>
              <a:rPr lang="en-US" dirty="0" err="1"/>
              <a:t>stim_RDM</a:t>
            </a:r>
            <a:r>
              <a:rPr lang="en-US" dirty="0"/>
              <a:t> correlation, and submitting each participant’s score to a one-sample t-test, examining whether it is significantly above zero. I did this 2000 times for the analysis of 50 ROIs and 760 times for the analysis of 250 ROIs.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I plot here, in red, the maximum t-value seen across any ROI, for a given simulation. For reference, I also plot in green what would be expected if each ROI’s analysis independent from each other ROI’s analysis (this parallels the t-value threshold required after Bonferroni correction). We can see that the red line is slightly lower than the green line but not by very much (e.g., Bonferroni correction would require t = ~3.3, but the simulation suggests that t = ~3.15 is sufficient for FWER correction). In blue, I also tried modeling the red line to gain some intuition for its shape. It basically models the t-values by sampling from a multilevel model using variance settings measured from the simulated data.</a:t>
            </a:r>
          </a:p>
          <a:p>
            <a:endParaRPr lang="en-US" dirty="0"/>
          </a:p>
          <a:p>
            <a:r>
              <a:rPr lang="en-US" b="1" dirty="0"/>
              <a:t>In sum</a:t>
            </a:r>
            <a:r>
              <a:rPr lang="en-US" dirty="0"/>
              <a:t>, standard multiple hypothesis correction techniques are basically fine. However, if your results are just barely falling under a standard FWER threshold, they may end up significant if permutation-testing is used. It’s not clear to mean what implications this would have for FDR correction.</a:t>
            </a:r>
          </a:p>
          <a:p>
            <a:endParaRPr lang="en-US" dirty="0"/>
          </a:p>
          <a:p>
            <a:r>
              <a:rPr lang="en-US" dirty="0"/>
              <a:t>*Note, I’m using the </a:t>
            </a:r>
            <a:r>
              <a:rPr lang="en-US" dirty="0" err="1"/>
              <a:t>brainnetome</a:t>
            </a:r>
            <a:r>
              <a:rPr lang="en-US" dirty="0"/>
              <a:t> atlas and 222 is slightly less than the number of ROIs in the </a:t>
            </a:r>
            <a:r>
              <a:rPr lang="en-US" dirty="0" err="1"/>
              <a:t>brainnetome</a:t>
            </a:r>
            <a:r>
              <a:rPr lang="en-US" dirty="0"/>
              <a:t> atlas. This is lower because I simply discarding ROIs where one or more participants have too many nan values. </a:t>
            </a:r>
          </a:p>
        </p:txBody>
      </p:sp>
      <p:sp>
        <p:nvSpPr>
          <p:cNvPr id="4" name="Slide Number Placeholder 3"/>
          <p:cNvSpPr>
            <a:spLocks noGrp="1"/>
          </p:cNvSpPr>
          <p:nvPr>
            <p:ph type="sldNum" sz="quarter" idx="5"/>
          </p:nvPr>
        </p:nvSpPr>
        <p:spPr/>
        <p:txBody>
          <a:bodyPr/>
          <a:lstStyle/>
          <a:p>
            <a:fld id="{92E3E675-13CA-4196-84E5-E684757DD2A6}" type="slidenum">
              <a:rPr lang="en-US" smtClean="0"/>
              <a:t>8</a:t>
            </a:fld>
            <a:endParaRPr lang="en-US"/>
          </a:p>
        </p:txBody>
      </p:sp>
    </p:spTree>
    <p:extLst>
      <p:ext uri="{BB962C8B-B14F-4D97-AF65-F5344CB8AC3E}">
        <p14:creationId xmlns:p14="http://schemas.microsoft.com/office/powerpoint/2010/main" val="33975254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10</a:t>
            </a:fld>
            <a:endParaRPr lang="en-US"/>
          </a:p>
        </p:txBody>
      </p:sp>
    </p:spTree>
    <p:extLst>
      <p:ext uri="{BB962C8B-B14F-4D97-AF65-F5344CB8AC3E}">
        <p14:creationId xmlns:p14="http://schemas.microsoft.com/office/powerpoint/2010/main" val="4216775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12</a:t>
            </a:fld>
            <a:endParaRPr lang="en-US"/>
          </a:p>
        </p:txBody>
      </p:sp>
    </p:spTree>
    <p:extLst>
      <p:ext uri="{BB962C8B-B14F-4D97-AF65-F5344CB8AC3E}">
        <p14:creationId xmlns:p14="http://schemas.microsoft.com/office/powerpoint/2010/main" val="2914530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13</a:t>
            </a:fld>
            <a:endParaRPr lang="en-US"/>
          </a:p>
        </p:txBody>
      </p:sp>
    </p:spTree>
    <p:extLst>
      <p:ext uri="{BB962C8B-B14F-4D97-AF65-F5344CB8AC3E}">
        <p14:creationId xmlns:p14="http://schemas.microsoft.com/office/powerpoint/2010/main" val="1701095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15</a:t>
            </a:fld>
            <a:endParaRPr lang="en-US"/>
          </a:p>
        </p:txBody>
      </p:sp>
    </p:spTree>
    <p:extLst>
      <p:ext uri="{BB962C8B-B14F-4D97-AF65-F5344CB8AC3E}">
        <p14:creationId xmlns:p14="http://schemas.microsoft.com/office/powerpoint/2010/main" val="6433572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16</a:t>
            </a:fld>
            <a:endParaRPr lang="en-US"/>
          </a:p>
        </p:txBody>
      </p:sp>
    </p:spTree>
    <p:extLst>
      <p:ext uri="{BB962C8B-B14F-4D97-AF65-F5344CB8AC3E}">
        <p14:creationId xmlns:p14="http://schemas.microsoft.com/office/powerpoint/2010/main" val="3228560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Correlation between spatial IRAF x analogical IRAF = </a:t>
            </a:r>
          </a:p>
        </p:txBody>
      </p:sp>
      <p:sp>
        <p:nvSpPr>
          <p:cNvPr id="4" name="Slide Number Placeholder 3"/>
          <p:cNvSpPr>
            <a:spLocks noGrp="1"/>
          </p:cNvSpPr>
          <p:nvPr>
            <p:ph type="sldNum" sz="quarter" idx="5"/>
          </p:nvPr>
        </p:nvSpPr>
        <p:spPr/>
        <p:txBody>
          <a:bodyPr/>
          <a:lstStyle/>
          <a:p>
            <a:fld id="{92E3E675-13CA-4196-84E5-E684757DD2A6}" type="slidenum">
              <a:rPr lang="en-US" smtClean="0"/>
              <a:t>18</a:t>
            </a:fld>
            <a:endParaRPr lang="en-US"/>
          </a:p>
        </p:txBody>
      </p:sp>
    </p:spTree>
    <p:extLst>
      <p:ext uri="{BB962C8B-B14F-4D97-AF65-F5344CB8AC3E}">
        <p14:creationId xmlns:p14="http://schemas.microsoft.com/office/powerpoint/2010/main" val="931592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19</a:t>
            </a:fld>
            <a:endParaRPr lang="en-US"/>
          </a:p>
        </p:txBody>
      </p:sp>
    </p:spTree>
    <p:extLst>
      <p:ext uri="{BB962C8B-B14F-4D97-AF65-F5344CB8AC3E}">
        <p14:creationId xmlns:p14="http://schemas.microsoft.com/office/powerpoint/2010/main" val="9422519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21</a:t>
            </a:fld>
            <a:endParaRPr lang="en-US"/>
          </a:p>
        </p:txBody>
      </p:sp>
    </p:spTree>
    <p:extLst>
      <p:ext uri="{BB962C8B-B14F-4D97-AF65-F5344CB8AC3E}">
        <p14:creationId xmlns:p14="http://schemas.microsoft.com/office/powerpoint/2010/main" val="38934418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22</a:t>
            </a:fld>
            <a:endParaRPr lang="en-US"/>
          </a:p>
        </p:txBody>
      </p:sp>
    </p:spTree>
    <p:extLst>
      <p:ext uri="{BB962C8B-B14F-4D97-AF65-F5344CB8AC3E}">
        <p14:creationId xmlns:p14="http://schemas.microsoft.com/office/powerpoint/2010/main" val="10778718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23</a:t>
            </a:fld>
            <a:endParaRPr lang="en-US"/>
          </a:p>
        </p:txBody>
      </p:sp>
    </p:spTree>
    <p:extLst>
      <p:ext uri="{BB962C8B-B14F-4D97-AF65-F5344CB8AC3E}">
        <p14:creationId xmlns:p14="http://schemas.microsoft.com/office/powerpoint/2010/main" val="32843290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24</a:t>
            </a:fld>
            <a:endParaRPr lang="en-US"/>
          </a:p>
        </p:txBody>
      </p:sp>
    </p:spTree>
    <p:extLst>
      <p:ext uri="{BB962C8B-B14F-4D97-AF65-F5344CB8AC3E}">
        <p14:creationId xmlns:p14="http://schemas.microsoft.com/office/powerpoint/2010/main" val="6511685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 between-experience links differ from within-experience relations?</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26</a:t>
            </a:fld>
            <a:endParaRPr lang="en-US"/>
          </a:p>
        </p:txBody>
      </p:sp>
    </p:spTree>
    <p:extLst>
      <p:ext uri="{BB962C8B-B14F-4D97-AF65-F5344CB8AC3E}">
        <p14:creationId xmlns:p14="http://schemas.microsoft.com/office/powerpoint/2010/main" val="374365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Downside because participants will need to be trained</a:t>
            </a:r>
          </a:p>
        </p:txBody>
      </p:sp>
      <p:sp>
        <p:nvSpPr>
          <p:cNvPr id="4" name="Slide Number Placeholder 3"/>
          <p:cNvSpPr>
            <a:spLocks noGrp="1"/>
          </p:cNvSpPr>
          <p:nvPr>
            <p:ph type="sldNum" sz="quarter" idx="5"/>
          </p:nvPr>
        </p:nvSpPr>
        <p:spPr/>
        <p:txBody>
          <a:bodyPr/>
          <a:lstStyle/>
          <a:p>
            <a:fld id="{92E3E675-13CA-4196-84E5-E684757DD2A6}" type="slidenum">
              <a:rPr lang="en-US" smtClean="0"/>
              <a:t>29</a:t>
            </a:fld>
            <a:endParaRPr lang="en-US"/>
          </a:p>
        </p:txBody>
      </p:sp>
    </p:spTree>
    <p:extLst>
      <p:ext uri="{BB962C8B-B14F-4D97-AF65-F5344CB8AC3E}">
        <p14:creationId xmlns:p14="http://schemas.microsoft.com/office/powerpoint/2010/main" val="25463559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visit multiple times, then R/K is questionable</a:t>
            </a:r>
          </a:p>
        </p:txBody>
      </p:sp>
      <p:sp>
        <p:nvSpPr>
          <p:cNvPr id="4" name="Slide Number Placeholder 3"/>
          <p:cNvSpPr>
            <a:spLocks noGrp="1"/>
          </p:cNvSpPr>
          <p:nvPr>
            <p:ph type="sldNum" sz="quarter" idx="5"/>
          </p:nvPr>
        </p:nvSpPr>
        <p:spPr/>
        <p:txBody>
          <a:bodyPr/>
          <a:lstStyle/>
          <a:p>
            <a:fld id="{92E3E675-13CA-4196-84E5-E684757DD2A6}" type="slidenum">
              <a:rPr lang="en-US" smtClean="0"/>
              <a:t>34</a:t>
            </a:fld>
            <a:endParaRPr lang="en-US"/>
          </a:p>
        </p:txBody>
      </p:sp>
    </p:spTree>
    <p:extLst>
      <p:ext uri="{BB962C8B-B14F-4D97-AF65-F5344CB8AC3E}">
        <p14:creationId xmlns:p14="http://schemas.microsoft.com/office/powerpoint/2010/main" val="4376585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episodic vs. semantic retrieval based on speed?</a:t>
            </a:r>
          </a:p>
        </p:txBody>
      </p:sp>
      <p:sp>
        <p:nvSpPr>
          <p:cNvPr id="4" name="Slide Number Placeholder 3"/>
          <p:cNvSpPr>
            <a:spLocks noGrp="1"/>
          </p:cNvSpPr>
          <p:nvPr>
            <p:ph type="sldNum" sz="quarter" idx="5"/>
          </p:nvPr>
        </p:nvSpPr>
        <p:spPr/>
        <p:txBody>
          <a:bodyPr/>
          <a:lstStyle/>
          <a:p>
            <a:fld id="{92E3E675-13CA-4196-84E5-E684757DD2A6}" type="slidenum">
              <a:rPr lang="en-US" smtClean="0"/>
              <a:t>35</a:t>
            </a:fld>
            <a:endParaRPr lang="en-US"/>
          </a:p>
        </p:txBody>
      </p:sp>
    </p:spTree>
    <p:extLst>
      <p:ext uri="{BB962C8B-B14F-4D97-AF65-F5344CB8AC3E}">
        <p14:creationId xmlns:p14="http://schemas.microsoft.com/office/powerpoint/2010/main" val="1224742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sz="2400" i="1" dirty="0">
                <a:latin typeface="Arial" panose="020B0604020202020204" pitchFamily="34" charset="0"/>
                <a:cs typeface="Arial" panose="020B0604020202020204" pitchFamily="34" charset="0"/>
              </a:rPr>
              <a:t>Consolidation</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Via episodic memory retrieval, a semantic network is built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Possibly also entails retrieving an “action”</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37</a:t>
            </a:fld>
            <a:endParaRPr lang="en-US"/>
          </a:p>
        </p:txBody>
      </p:sp>
    </p:spTree>
    <p:extLst>
      <p:ext uri="{BB962C8B-B14F-4D97-AF65-F5344CB8AC3E}">
        <p14:creationId xmlns:p14="http://schemas.microsoft.com/office/powerpoint/2010/main" val="30118654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38</a:t>
            </a:fld>
            <a:endParaRPr lang="en-US"/>
          </a:p>
        </p:txBody>
      </p:sp>
    </p:spTree>
    <p:extLst>
      <p:ext uri="{BB962C8B-B14F-4D97-AF65-F5344CB8AC3E}">
        <p14:creationId xmlns:p14="http://schemas.microsoft.com/office/powerpoint/2010/main" val="21537385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dirty="0"/>
              <a:t>This analysis is premised on the idea that (1) how relations are encoded depends on the information being encoded and (2) this contingency is captured by the stimulus features we can model, e.g., with a DNN or word2vec</a:t>
            </a:r>
          </a:p>
          <a:p>
            <a:pPr lvl="1"/>
            <a:r>
              <a:rPr lang="en-US" sz="1200" dirty="0"/>
              <a:t>However, what if relational memory encoding isn’t tracked by our stimulus features</a:t>
            </a:r>
          </a:p>
          <a:p>
            <a:endParaRPr lang="en-US" dirty="0"/>
          </a:p>
          <a:p>
            <a:endParaRPr lang="en-US" dirty="0"/>
          </a:p>
          <a:p>
            <a:r>
              <a:rPr lang="en-US" dirty="0"/>
              <a:t>Maybe include a baseline task where participants just see all the targets. This will also help with encoding</a:t>
            </a:r>
          </a:p>
        </p:txBody>
      </p:sp>
      <p:sp>
        <p:nvSpPr>
          <p:cNvPr id="4" name="Slide Number Placeholder 3"/>
          <p:cNvSpPr>
            <a:spLocks noGrp="1"/>
          </p:cNvSpPr>
          <p:nvPr>
            <p:ph type="sldNum" sz="quarter" idx="5"/>
          </p:nvPr>
        </p:nvSpPr>
        <p:spPr/>
        <p:txBody>
          <a:bodyPr/>
          <a:lstStyle/>
          <a:p>
            <a:fld id="{92E3E675-13CA-4196-84E5-E684757DD2A6}" type="slidenum">
              <a:rPr lang="en-US" smtClean="0"/>
              <a:t>40</a:t>
            </a:fld>
            <a:endParaRPr lang="en-US"/>
          </a:p>
        </p:txBody>
      </p:sp>
    </p:spTree>
    <p:extLst>
      <p:ext uri="{BB962C8B-B14F-4D97-AF65-F5344CB8AC3E}">
        <p14:creationId xmlns:p14="http://schemas.microsoft.com/office/powerpoint/2010/main" val="39094057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task design 2, participants may encode X-A, X-B, and B-A simultaneously as an episodic memory)</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41</a:t>
            </a:fld>
            <a:endParaRPr lang="en-US"/>
          </a:p>
        </p:txBody>
      </p:sp>
    </p:spTree>
    <p:extLst>
      <p:ext uri="{BB962C8B-B14F-4D97-AF65-F5344CB8AC3E}">
        <p14:creationId xmlns:p14="http://schemas.microsoft.com/office/powerpoint/2010/main" val="25785532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42</a:t>
            </a:fld>
            <a:endParaRPr lang="en-US"/>
          </a:p>
        </p:txBody>
      </p:sp>
    </p:spTree>
    <p:extLst>
      <p:ext uri="{BB962C8B-B14F-4D97-AF65-F5344CB8AC3E}">
        <p14:creationId xmlns:p14="http://schemas.microsoft.com/office/powerpoint/2010/main" val="18848158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43</a:t>
            </a:fld>
            <a:endParaRPr lang="en-US"/>
          </a:p>
        </p:txBody>
      </p:sp>
    </p:spTree>
    <p:extLst>
      <p:ext uri="{BB962C8B-B14F-4D97-AF65-F5344CB8AC3E}">
        <p14:creationId xmlns:p14="http://schemas.microsoft.com/office/powerpoint/2010/main" val="34624851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Times New Roman" panose="02020603050405020304" pitchFamily="18" charset="0"/>
                <a:cs typeface="Times New Roman" panose="02020603050405020304" pitchFamily="18" charset="0"/>
              </a:rPr>
              <a:t>u</a:t>
            </a:r>
            <a:r>
              <a:rPr lang="en-US" dirty="0"/>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a:t>
            </a:r>
            <a:r>
              <a:rPr lang="en-US" dirty="0"/>
              <a:t>,</a:t>
            </a:r>
            <a:r>
              <a:rPr lang="en-US" b="1" dirty="0">
                <a:latin typeface="Times New Roman" panose="02020603050405020304" pitchFamily="18" charset="0"/>
                <a:cs typeface="Times New Roman" panose="02020603050405020304" pitchFamily="18" charset="0"/>
              </a:rPr>
              <a:t> w</a:t>
            </a:r>
            <a:r>
              <a:rPr lang="en-US" dirty="0"/>
              <a:t>,</a:t>
            </a:r>
            <a:r>
              <a:rPr lang="en-US" b="1" dirty="0">
                <a:latin typeface="Times New Roman" panose="02020603050405020304" pitchFamily="18" charset="0"/>
                <a:cs typeface="Times New Roman" panose="02020603050405020304" pitchFamily="18" charset="0"/>
              </a:rPr>
              <a:t> x</a:t>
            </a:r>
            <a:r>
              <a:rPr lang="en-US" dirty="0"/>
              <a:t>,</a:t>
            </a:r>
            <a:r>
              <a:rPr lang="en-US" b="1" dirty="0">
                <a:latin typeface="Times New Roman" panose="02020603050405020304" pitchFamily="18" charset="0"/>
                <a:cs typeface="Times New Roman" panose="02020603050405020304" pitchFamily="18" charset="0"/>
              </a:rPr>
              <a:t> y</a:t>
            </a:r>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44</a:t>
            </a:fld>
            <a:endParaRPr lang="en-US"/>
          </a:p>
        </p:txBody>
      </p:sp>
    </p:spTree>
    <p:extLst>
      <p:ext uri="{BB962C8B-B14F-4D97-AF65-F5344CB8AC3E}">
        <p14:creationId xmlns:p14="http://schemas.microsoft.com/office/powerpoint/2010/main" val="32622704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 true analogies (e.g., “ingredient of” or “cooked in”) and not just overlapping features or category examples</a:t>
            </a:r>
          </a:p>
          <a:p>
            <a:pPr lvl="1"/>
            <a:r>
              <a:rPr lang="en-US" dirty="0"/>
              <a:t>However, this makes the design more challenging</a:t>
            </a:r>
          </a:p>
          <a:p>
            <a:r>
              <a:rPr lang="en-US" dirty="0"/>
              <a:t>Either way, it would be hard to just look at similarity of analogy processing since it could just be confounded by overlaps in the representations of a given item (e.g., retrieving USA-Fried chicken :: Italy-Pizza, could be confounded by features “country” and “food”)</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45</a:t>
            </a:fld>
            <a:endParaRPr lang="en-US"/>
          </a:p>
        </p:txBody>
      </p:sp>
    </p:spTree>
    <p:extLst>
      <p:ext uri="{BB962C8B-B14F-4D97-AF65-F5344CB8AC3E}">
        <p14:creationId xmlns:p14="http://schemas.microsoft.com/office/powerpoint/2010/main" val="4217178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AD00B-6584-4BEB-BB07-D320C42443A6}"/>
              </a:ext>
            </a:extLst>
          </p:cNvPr>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E093775-97DA-4F0C-8091-7243A71F5AB9}"/>
              </a:ext>
            </a:extLst>
          </p:cNvPr>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C2E7B29-494F-46C3-98E5-9F2CFE6B57A9}"/>
              </a:ext>
            </a:extLst>
          </p:cNvPr>
          <p:cNvSpPr>
            <a:spLocks noGrp="1"/>
          </p:cNvSpPr>
          <p:nvPr>
            <p:ph type="dt" sz="half" idx="10"/>
          </p:nvPr>
        </p:nvSpPr>
        <p:spPr/>
        <p:txBody>
          <a:bodyPr/>
          <a:lstStyle/>
          <a:p>
            <a:fld id="{826B2E29-6454-4170-AF87-B006FFB35D00}" type="datetimeFigureOut">
              <a:rPr lang="en-US" smtClean="0"/>
              <a:t>11/8/2023</a:t>
            </a:fld>
            <a:endParaRPr lang="en-US" dirty="0"/>
          </a:p>
        </p:txBody>
      </p:sp>
      <p:sp>
        <p:nvSpPr>
          <p:cNvPr id="5" name="Footer Placeholder 4">
            <a:extLst>
              <a:ext uri="{FF2B5EF4-FFF2-40B4-BE49-F238E27FC236}">
                <a16:creationId xmlns:a16="http://schemas.microsoft.com/office/drawing/2014/main" id="{1C629F06-03E1-4DE2-98E0-74887BAC9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FE5F46-6594-4C1E-B5CA-1F1D6F20F0C5}"/>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921770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18E2B-D6F1-4EA2-8F10-7D5D17974DB8}"/>
              </a:ext>
            </a:extLst>
          </p:cNvPr>
          <p:cNvSpPr>
            <a:spLocks noGrp="1"/>
          </p:cNvSpPr>
          <p:nvPr>
            <p:ph type="title"/>
          </p:nvPr>
        </p:nvSpPr>
        <p:spPr/>
        <p:txBody>
          <a:bodyPr/>
          <a:lstStyle>
            <a:lvl1pPr algn="ct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7AD061B-03B3-4665-AA43-89C80159D0F0}"/>
              </a:ext>
            </a:extLst>
          </p:cNvPr>
          <p:cNvSpPr>
            <a:spLocks noGrp="1"/>
          </p:cNvSpPr>
          <p:nvPr>
            <p:ph idx="1"/>
          </p:nvPr>
        </p:nvSpPr>
        <p:spPr/>
        <p:txBody>
          <a:bodyPr/>
          <a:lstStyle>
            <a:lvl1pPr>
              <a:defRPr>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latin typeface="Arial" panose="020B0604020202020204" pitchFamily="34" charset="0"/>
                <a:cs typeface="Arial" panose="020B0604020202020204" pitchFamily="34" charset="0"/>
              </a:defRPr>
            </a:lvl3pPr>
            <a:lvl4pPr marL="1600200" indent="-228600">
              <a:buFont typeface="Wingdings" panose="05000000000000000000" pitchFamily="2" charset="2"/>
              <a:buChar char="v"/>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DE68A43-9AA0-4950-B1EC-6BFB6F75E798}"/>
              </a:ext>
            </a:extLst>
          </p:cNvPr>
          <p:cNvSpPr>
            <a:spLocks noGrp="1"/>
          </p:cNvSpPr>
          <p:nvPr>
            <p:ph type="dt" sz="half" idx="10"/>
          </p:nvPr>
        </p:nvSpPr>
        <p:spPr/>
        <p:txBody>
          <a:bodyPr/>
          <a:lstStyle/>
          <a:p>
            <a:fld id="{826B2E29-6454-4170-AF87-B006FFB35D00}" type="datetimeFigureOut">
              <a:rPr lang="en-US" smtClean="0"/>
              <a:t>11/8/2023</a:t>
            </a:fld>
            <a:endParaRPr lang="en-US"/>
          </a:p>
        </p:txBody>
      </p:sp>
      <p:sp>
        <p:nvSpPr>
          <p:cNvPr id="5" name="Footer Placeholder 4">
            <a:extLst>
              <a:ext uri="{FF2B5EF4-FFF2-40B4-BE49-F238E27FC236}">
                <a16:creationId xmlns:a16="http://schemas.microsoft.com/office/drawing/2014/main" id="{3D1BB70E-48FE-49D7-B925-546DA100FE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8C68AE-EABA-4A35-AFE9-C39F59588379}"/>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60635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9B53F-ED2E-4673-A940-F01A32CB4A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9796FD-D16C-4F81-BDA1-928AE471D6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6B1EED-EFC9-4E32-A27E-A04910ABAF18}"/>
              </a:ext>
            </a:extLst>
          </p:cNvPr>
          <p:cNvSpPr>
            <a:spLocks noGrp="1"/>
          </p:cNvSpPr>
          <p:nvPr>
            <p:ph type="dt" sz="half" idx="10"/>
          </p:nvPr>
        </p:nvSpPr>
        <p:spPr/>
        <p:txBody>
          <a:bodyPr/>
          <a:lstStyle/>
          <a:p>
            <a:fld id="{826B2E29-6454-4170-AF87-B006FFB35D00}" type="datetimeFigureOut">
              <a:rPr lang="en-US" smtClean="0"/>
              <a:t>11/8/2023</a:t>
            </a:fld>
            <a:endParaRPr lang="en-US"/>
          </a:p>
        </p:txBody>
      </p:sp>
      <p:sp>
        <p:nvSpPr>
          <p:cNvPr id="5" name="Footer Placeholder 4">
            <a:extLst>
              <a:ext uri="{FF2B5EF4-FFF2-40B4-BE49-F238E27FC236}">
                <a16:creationId xmlns:a16="http://schemas.microsoft.com/office/drawing/2014/main" id="{5930C3AC-D4C3-43A1-B81B-0FE71EF265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1631A4-C8E4-40B1-8060-9CD773F03DB6}"/>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358247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4271-11DA-4E97-B187-22F01CD292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AD5DB8-CF97-4315-BD7D-836111B754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D2452B-E913-4410-8B5A-FEA37D312D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060FC7-4A31-4ECB-B9E2-E3F479496C2B}"/>
              </a:ext>
            </a:extLst>
          </p:cNvPr>
          <p:cNvSpPr>
            <a:spLocks noGrp="1"/>
          </p:cNvSpPr>
          <p:nvPr>
            <p:ph type="dt" sz="half" idx="10"/>
          </p:nvPr>
        </p:nvSpPr>
        <p:spPr/>
        <p:txBody>
          <a:bodyPr/>
          <a:lstStyle/>
          <a:p>
            <a:fld id="{826B2E29-6454-4170-AF87-B006FFB35D00}" type="datetimeFigureOut">
              <a:rPr lang="en-US" smtClean="0"/>
              <a:t>11/8/2023</a:t>
            </a:fld>
            <a:endParaRPr lang="en-US"/>
          </a:p>
        </p:txBody>
      </p:sp>
      <p:sp>
        <p:nvSpPr>
          <p:cNvPr id="6" name="Footer Placeholder 5">
            <a:extLst>
              <a:ext uri="{FF2B5EF4-FFF2-40B4-BE49-F238E27FC236}">
                <a16:creationId xmlns:a16="http://schemas.microsoft.com/office/drawing/2014/main" id="{3EF10980-53A5-4B2D-8BF1-430BA182B1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17DF36-9C11-43B0-AFBB-13D8E0BB40F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4214901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1C380-5819-47C0-B6DB-1BCA49A315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6281FCE-3703-4337-967E-C2A5382DEB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6731D9-4835-412C-88CC-3CD3C6FA3E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28CEF9-828A-4745-997E-A7DBBAD108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D2CBA7-3ACA-46DD-B733-BAC85603BC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5F5A09-EDB5-46E6-893D-EFB70025FE62}"/>
              </a:ext>
            </a:extLst>
          </p:cNvPr>
          <p:cNvSpPr>
            <a:spLocks noGrp="1"/>
          </p:cNvSpPr>
          <p:nvPr>
            <p:ph type="dt" sz="half" idx="10"/>
          </p:nvPr>
        </p:nvSpPr>
        <p:spPr/>
        <p:txBody>
          <a:bodyPr/>
          <a:lstStyle/>
          <a:p>
            <a:fld id="{826B2E29-6454-4170-AF87-B006FFB35D00}" type="datetimeFigureOut">
              <a:rPr lang="en-US" smtClean="0"/>
              <a:t>11/8/2023</a:t>
            </a:fld>
            <a:endParaRPr lang="en-US"/>
          </a:p>
        </p:txBody>
      </p:sp>
      <p:sp>
        <p:nvSpPr>
          <p:cNvPr id="8" name="Footer Placeholder 7">
            <a:extLst>
              <a:ext uri="{FF2B5EF4-FFF2-40B4-BE49-F238E27FC236}">
                <a16:creationId xmlns:a16="http://schemas.microsoft.com/office/drawing/2014/main" id="{01002CA3-1581-43C3-98FC-59A33E3D22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D09075-C4B1-42AC-8C75-4FB488376E15}"/>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497736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B10F9-1F70-4CC0-A1BC-D1C42C2B75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B85726-DBEF-4CA3-839B-352075533D1B}"/>
              </a:ext>
            </a:extLst>
          </p:cNvPr>
          <p:cNvSpPr>
            <a:spLocks noGrp="1"/>
          </p:cNvSpPr>
          <p:nvPr>
            <p:ph type="dt" sz="half" idx="10"/>
          </p:nvPr>
        </p:nvSpPr>
        <p:spPr/>
        <p:txBody>
          <a:bodyPr/>
          <a:lstStyle/>
          <a:p>
            <a:fld id="{826B2E29-6454-4170-AF87-B006FFB35D00}" type="datetimeFigureOut">
              <a:rPr lang="en-US" smtClean="0"/>
              <a:t>11/8/2023</a:t>
            </a:fld>
            <a:endParaRPr lang="en-US"/>
          </a:p>
        </p:txBody>
      </p:sp>
      <p:sp>
        <p:nvSpPr>
          <p:cNvPr id="4" name="Footer Placeholder 3">
            <a:extLst>
              <a:ext uri="{FF2B5EF4-FFF2-40B4-BE49-F238E27FC236}">
                <a16:creationId xmlns:a16="http://schemas.microsoft.com/office/drawing/2014/main" id="{05BA00EA-3C23-4588-BF03-F22ABBE80D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9F3800-C9A5-4235-B574-19A012682222}"/>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696482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BCECA6-D996-452B-AD6A-269CA18468B3}"/>
              </a:ext>
            </a:extLst>
          </p:cNvPr>
          <p:cNvSpPr>
            <a:spLocks noGrp="1"/>
          </p:cNvSpPr>
          <p:nvPr>
            <p:ph type="dt" sz="half" idx="10"/>
          </p:nvPr>
        </p:nvSpPr>
        <p:spPr/>
        <p:txBody>
          <a:bodyPr/>
          <a:lstStyle/>
          <a:p>
            <a:fld id="{826B2E29-6454-4170-AF87-B006FFB35D00}" type="datetimeFigureOut">
              <a:rPr lang="en-US" smtClean="0"/>
              <a:t>11/8/2023</a:t>
            </a:fld>
            <a:endParaRPr lang="en-US"/>
          </a:p>
        </p:txBody>
      </p:sp>
      <p:sp>
        <p:nvSpPr>
          <p:cNvPr id="3" name="Footer Placeholder 2">
            <a:extLst>
              <a:ext uri="{FF2B5EF4-FFF2-40B4-BE49-F238E27FC236}">
                <a16:creationId xmlns:a16="http://schemas.microsoft.com/office/drawing/2014/main" id="{F60A0586-0096-41A3-A9AF-EE9CB38C9B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777BFA-2216-49F0-AF38-B46C9D82B7E4}"/>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1482853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1C996-C8A9-4FB0-A317-2E7E90812F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127B42-DBC2-47A8-A40D-BAE97758B6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7521C7B-35CB-4880-A0AC-805BFB5B98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D47D0-2081-45E3-9C7E-BF43B9672EFD}"/>
              </a:ext>
            </a:extLst>
          </p:cNvPr>
          <p:cNvSpPr>
            <a:spLocks noGrp="1"/>
          </p:cNvSpPr>
          <p:nvPr>
            <p:ph type="dt" sz="half" idx="10"/>
          </p:nvPr>
        </p:nvSpPr>
        <p:spPr/>
        <p:txBody>
          <a:bodyPr/>
          <a:lstStyle/>
          <a:p>
            <a:fld id="{826B2E29-6454-4170-AF87-B006FFB35D00}" type="datetimeFigureOut">
              <a:rPr lang="en-US" smtClean="0"/>
              <a:t>11/8/2023</a:t>
            </a:fld>
            <a:endParaRPr lang="en-US"/>
          </a:p>
        </p:txBody>
      </p:sp>
      <p:sp>
        <p:nvSpPr>
          <p:cNvPr id="6" name="Footer Placeholder 5">
            <a:extLst>
              <a:ext uri="{FF2B5EF4-FFF2-40B4-BE49-F238E27FC236}">
                <a16:creationId xmlns:a16="http://schemas.microsoft.com/office/drawing/2014/main" id="{3ABC9F89-7930-49B0-A81E-736C95A736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624FF2-1361-4D73-A914-D03027804B0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369873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6A0EA-C4AE-4F36-8754-7F92C6FD49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A581EA3-D358-4C88-8CEE-AF58C0349F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B9D2496-CC08-4831-A9A9-D5744A808C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AED85-6938-40CE-A6E8-A23E81056D88}"/>
              </a:ext>
            </a:extLst>
          </p:cNvPr>
          <p:cNvSpPr>
            <a:spLocks noGrp="1"/>
          </p:cNvSpPr>
          <p:nvPr>
            <p:ph type="dt" sz="half" idx="10"/>
          </p:nvPr>
        </p:nvSpPr>
        <p:spPr/>
        <p:txBody>
          <a:bodyPr/>
          <a:lstStyle/>
          <a:p>
            <a:fld id="{826B2E29-6454-4170-AF87-B006FFB35D00}" type="datetimeFigureOut">
              <a:rPr lang="en-US" smtClean="0"/>
              <a:t>11/8/2023</a:t>
            </a:fld>
            <a:endParaRPr lang="en-US"/>
          </a:p>
        </p:txBody>
      </p:sp>
      <p:sp>
        <p:nvSpPr>
          <p:cNvPr id="6" name="Footer Placeholder 5">
            <a:extLst>
              <a:ext uri="{FF2B5EF4-FFF2-40B4-BE49-F238E27FC236}">
                <a16:creationId xmlns:a16="http://schemas.microsoft.com/office/drawing/2014/main" id="{C33890F1-7ABC-438C-86BC-16AABE5A3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A9E24A-6694-40DE-A232-40F924DE746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1455701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ED043-E298-4666-8D40-3D14B1C9CB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9E29ED-D0CE-46BF-BF1D-C444FE7CC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0FE7BF-BCB2-4C76-9FCF-0BC648695851}"/>
              </a:ext>
            </a:extLst>
          </p:cNvPr>
          <p:cNvSpPr>
            <a:spLocks noGrp="1"/>
          </p:cNvSpPr>
          <p:nvPr>
            <p:ph type="dt" sz="half" idx="10"/>
          </p:nvPr>
        </p:nvSpPr>
        <p:spPr/>
        <p:txBody>
          <a:bodyPr/>
          <a:lstStyle/>
          <a:p>
            <a:fld id="{826B2E29-6454-4170-AF87-B006FFB35D00}" type="datetimeFigureOut">
              <a:rPr lang="en-US" smtClean="0"/>
              <a:t>11/8/2023</a:t>
            </a:fld>
            <a:endParaRPr lang="en-US"/>
          </a:p>
        </p:txBody>
      </p:sp>
      <p:sp>
        <p:nvSpPr>
          <p:cNvPr id="5" name="Footer Placeholder 4">
            <a:extLst>
              <a:ext uri="{FF2B5EF4-FFF2-40B4-BE49-F238E27FC236}">
                <a16:creationId xmlns:a16="http://schemas.microsoft.com/office/drawing/2014/main" id="{68DD8F2D-07AF-4D6E-8EE6-F00A819F29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D59C9D-03F5-4136-A115-2B5FC467ACCE}"/>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035892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978F8E-91D5-4268-9E68-89B29C78C7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0A7A88-61E4-488E-96E2-DC43AFC7C5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0A047E-85C8-4E09-8CD6-618AA4BB7918}"/>
              </a:ext>
            </a:extLst>
          </p:cNvPr>
          <p:cNvSpPr>
            <a:spLocks noGrp="1"/>
          </p:cNvSpPr>
          <p:nvPr>
            <p:ph type="dt" sz="half" idx="10"/>
          </p:nvPr>
        </p:nvSpPr>
        <p:spPr/>
        <p:txBody>
          <a:bodyPr/>
          <a:lstStyle/>
          <a:p>
            <a:fld id="{826B2E29-6454-4170-AF87-B006FFB35D00}" type="datetimeFigureOut">
              <a:rPr lang="en-US" smtClean="0"/>
              <a:t>11/8/2023</a:t>
            </a:fld>
            <a:endParaRPr lang="en-US"/>
          </a:p>
        </p:txBody>
      </p:sp>
      <p:sp>
        <p:nvSpPr>
          <p:cNvPr id="5" name="Footer Placeholder 4">
            <a:extLst>
              <a:ext uri="{FF2B5EF4-FFF2-40B4-BE49-F238E27FC236}">
                <a16:creationId xmlns:a16="http://schemas.microsoft.com/office/drawing/2014/main" id="{C91B3190-D85C-4508-A9FB-2F4F4CA9E2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17CC3-2A4A-4F7B-970D-92630A69D12C}"/>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888836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B8FB9C-8843-415F-A091-7ADDE32AF1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A904287-E011-453F-99FD-D95C1BD669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1C8B418-76C4-4EDB-91EF-C8E4A73B4C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6B2E29-6454-4170-AF87-B006FFB35D00}" type="datetimeFigureOut">
              <a:rPr lang="en-US" smtClean="0"/>
              <a:t>11/8/2023</a:t>
            </a:fld>
            <a:endParaRPr lang="en-US"/>
          </a:p>
        </p:txBody>
      </p:sp>
      <p:sp>
        <p:nvSpPr>
          <p:cNvPr id="5" name="Footer Placeholder 4">
            <a:extLst>
              <a:ext uri="{FF2B5EF4-FFF2-40B4-BE49-F238E27FC236}">
                <a16:creationId xmlns:a16="http://schemas.microsoft.com/office/drawing/2014/main" id="{DDB74509-FFF9-4164-B6C3-46DDB68E46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8F2CDD-6359-4BCA-92D7-C7A8CB3D21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8BFAFE-0FA7-4047-BC8F-BE5A17279354}" type="slidenum">
              <a:rPr lang="en-US" smtClean="0"/>
              <a:t>‹#›</a:t>
            </a:fld>
            <a:endParaRPr lang="en-US"/>
          </a:p>
        </p:txBody>
      </p:sp>
    </p:spTree>
    <p:extLst>
      <p:ext uri="{BB962C8B-B14F-4D97-AF65-F5344CB8AC3E}">
        <p14:creationId xmlns:p14="http://schemas.microsoft.com/office/powerpoint/2010/main" val="4222671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0.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Paul Update</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r>
              <a:rPr lang="en-US" dirty="0"/>
              <a:t>10/3/2023</a:t>
            </a:r>
          </a:p>
        </p:txBody>
      </p:sp>
    </p:spTree>
    <p:extLst>
      <p:ext uri="{BB962C8B-B14F-4D97-AF65-F5344CB8AC3E}">
        <p14:creationId xmlns:p14="http://schemas.microsoft.com/office/powerpoint/2010/main" val="3057907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28035-1AA9-D649-5FA6-920B4DE6C77A}"/>
              </a:ext>
            </a:extLst>
          </p:cNvPr>
          <p:cNvSpPr>
            <a:spLocks noGrp="1"/>
          </p:cNvSpPr>
          <p:nvPr>
            <p:ph type="title"/>
          </p:nvPr>
        </p:nvSpPr>
        <p:spPr>
          <a:xfrm>
            <a:off x="838200" y="233247"/>
            <a:ext cx="10515600" cy="1325563"/>
          </a:xfrm>
        </p:spPr>
        <p:txBody>
          <a:bodyPr/>
          <a:lstStyle/>
          <a:p>
            <a:r>
              <a:rPr lang="en-US" dirty="0"/>
              <a:t>Edge-based connectivity RSA</a:t>
            </a:r>
          </a:p>
        </p:txBody>
      </p:sp>
      <p:sp>
        <p:nvSpPr>
          <p:cNvPr id="3" name="Content Placeholder 2">
            <a:extLst>
              <a:ext uri="{FF2B5EF4-FFF2-40B4-BE49-F238E27FC236}">
                <a16:creationId xmlns:a16="http://schemas.microsoft.com/office/drawing/2014/main" id="{1100F770-7523-D6C5-ACEA-CBEC65E12F5D}"/>
              </a:ext>
            </a:extLst>
          </p:cNvPr>
          <p:cNvSpPr>
            <a:spLocks noGrp="1"/>
          </p:cNvSpPr>
          <p:nvPr>
            <p:ph idx="1"/>
          </p:nvPr>
        </p:nvSpPr>
        <p:spPr>
          <a:xfrm>
            <a:off x="838200" y="1610632"/>
            <a:ext cx="10515600" cy="4891767"/>
          </a:xfrm>
        </p:spPr>
        <p:txBody>
          <a:bodyPr>
            <a:normAutofit fontScale="85000" lnSpcReduction="20000"/>
          </a:bodyPr>
          <a:lstStyle/>
          <a:p>
            <a:r>
              <a:rPr lang="en-US" dirty="0"/>
              <a:t>Goal: Measure whether the connectivity patterns linking a pair of regions is linked to a model RDM in some way</a:t>
            </a:r>
          </a:p>
          <a:p>
            <a:r>
              <a:rPr lang="en-US" dirty="0"/>
              <a:t>IRAF x IRAF connectivity</a:t>
            </a:r>
          </a:p>
          <a:p>
            <a:r>
              <a:rPr lang="en-US" dirty="0"/>
              <a:t>Triple-connectivity RSA</a:t>
            </a:r>
          </a:p>
          <a:p>
            <a:pPr lvl="1"/>
            <a:r>
              <a:rPr lang="en-US" dirty="0"/>
              <a:t>This “triple correlation” measures whether the product of X &amp; Y is linked to high Z</a:t>
            </a:r>
          </a:p>
          <a:p>
            <a:pPr lvl="2"/>
            <a:r>
              <a:rPr lang="en-US" dirty="0"/>
              <a:t>Calculate: E[XYZ] – E[X]E[Y]E[Z]</a:t>
            </a:r>
          </a:p>
          <a:p>
            <a:pPr lvl="1"/>
            <a:r>
              <a:rPr lang="en-US" dirty="0"/>
              <a:t>i.e., measure whether model similarity (between trials 1 and 2) is linked to regions A and B </a:t>
            </a:r>
            <a:r>
              <a:rPr lang="en-US" i="1" dirty="0"/>
              <a:t>both </a:t>
            </a:r>
            <a:r>
              <a:rPr lang="en-US" dirty="0"/>
              <a:t>also showing similarity or </a:t>
            </a:r>
            <a:r>
              <a:rPr lang="en-US" i="1" dirty="0"/>
              <a:t>neither </a:t>
            </a:r>
            <a:r>
              <a:rPr lang="en-US" dirty="0"/>
              <a:t>showing similarity</a:t>
            </a:r>
          </a:p>
          <a:p>
            <a:r>
              <a:rPr lang="en-US" dirty="0"/>
              <a:t>Region-product RSA</a:t>
            </a:r>
          </a:p>
          <a:p>
            <a:pPr lvl="1"/>
            <a:r>
              <a:rPr lang="en-US" dirty="0"/>
              <a:t>Typically neural RDMs are calculated based on vectors representing BOLD activity for a given trial in one ROI</a:t>
            </a:r>
          </a:p>
          <a:p>
            <a:pPr lvl="1"/>
            <a:r>
              <a:rPr lang="en-US" dirty="0"/>
              <a:t>Here, I selected pairs of ROIs and calculated the elementwise products of their vectors </a:t>
            </a:r>
          </a:p>
          <a:p>
            <a:pPr lvl="2"/>
            <a:r>
              <a:rPr lang="en-US" dirty="0"/>
              <a:t>e.g., if vector A has 100 elements and vector B has 50 elements, then the product vector has 5000 elements, and it can be used to calculate the neural RDM</a:t>
            </a:r>
          </a:p>
          <a:p>
            <a:pPr lvl="1"/>
            <a:r>
              <a:rPr lang="en-US" dirty="0"/>
              <a:t>Also tried the elementwise absolute differences</a:t>
            </a:r>
          </a:p>
          <a:p>
            <a:endParaRPr lang="en-US" dirty="0"/>
          </a:p>
        </p:txBody>
      </p:sp>
    </p:spTree>
    <p:extLst>
      <p:ext uri="{BB962C8B-B14F-4D97-AF65-F5344CB8AC3E}">
        <p14:creationId xmlns:p14="http://schemas.microsoft.com/office/powerpoint/2010/main" val="2284966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588D5-14F5-AD59-76B2-E6630626C97C}"/>
              </a:ext>
            </a:extLst>
          </p:cNvPr>
          <p:cNvSpPr>
            <a:spLocks noGrp="1"/>
          </p:cNvSpPr>
          <p:nvPr>
            <p:ph type="title"/>
          </p:nvPr>
        </p:nvSpPr>
        <p:spPr>
          <a:xfrm>
            <a:off x="838200" y="247761"/>
            <a:ext cx="10515600" cy="1325563"/>
          </a:xfrm>
        </p:spPr>
        <p:txBody>
          <a:bodyPr/>
          <a:lstStyle/>
          <a:p>
            <a:r>
              <a:rPr lang="en-US" dirty="0"/>
              <a:t>Network-based connectivity RSA</a:t>
            </a:r>
          </a:p>
        </p:txBody>
      </p:sp>
      <p:sp>
        <p:nvSpPr>
          <p:cNvPr id="3" name="Content Placeholder 2">
            <a:extLst>
              <a:ext uri="{FF2B5EF4-FFF2-40B4-BE49-F238E27FC236}">
                <a16:creationId xmlns:a16="http://schemas.microsoft.com/office/drawing/2014/main" id="{32B831F2-92A6-C3C1-A767-887C7E4A8D53}"/>
              </a:ext>
            </a:extLst>
          </p:cNvPr>
          <p:cNvSpPr>
            <a:spLocks noGrp="1"/>
          </p:cNvSpPr>
          <p:nvPr>
            <p:ph idx="1"/>
          </p:nvPr>
        </p:nvSpPr>
        <p:spPr>
          <a:xfrm>
            <a:off x="838200" y="1521048"/>
            <a:ext cx="10515600" cy="5089191"/>
          </a:xfrm>
        </p:spPr>
        <p:txBody>
          <a:bodyPr>
            <a:normAutofit fontScale="85000" lnSpcReduction="20000"/>
          </a:bodyPr>
          <a:lstStyle/>
          <a:p>
            <a:r>
              <a:rPr lang="en-US" dirty="0"/>
              <a:t>Goal: Measure whether the connectivity pattern among a set of regions is linked to a model RDM in some way</a:t>
            </a:r>
          </a:p>
          <a:p>
            <a:pPr lvl="1"/>
            <a:r>
              <a:rPr lang="en-US" dirty="0"/>
              <a:t>e.g., are perceptual features represented in the connectivity between 20 different occipital sub-regions?</a:t>
            </a:r>
          </a:p>
          <a:p>
            <a:pPr lvl="1"/>
            <a:r>
              <a:rPr lang="en-US" dirty="0"/>
              <a:t>If it is possible to measure connectivity on a single-trial basis, then you could create a neural vector based on just the 190 connections among the 20 regions, then use that to create the RDM</a:t>
            </a:r>
          </a:p>
          <a:p>
            <a:pPr lvl="2"/>
            <a:r>
              <a:rPr lang="en-US" dirty="0"/>
              <a:t>However, it is unclear how one could measure connectivity for a single trial, given that connectivity is a relationship over time, but a single trial is generally seen as a single time point</a:t>
            </a:r>
          </a:p>
          <a:p>
            <a:r>
              <a:rPr lang="en-US" dirty="0"/>
              <a:t>To calculate single-trial connectivity, I tried:</a:t>
            </a:r>
          </a:p>
          <a:p>
            <a:pPr lvl="1"/>
            <a:r>
              <a:rPr lang="en-US" dirty="0"/>
              <a:t>For the encoding session: Measuring the correlations between single-trial beta for scene presentation x object presentation</a:t>
            </a:r>
          </a:p>
          <a:p>
            <a:pPr lvl="2"/>
            <a:r>
              <a:rPr lang="en-US" dirty="0"/>
              <a:t>Correlation between two time points. This will always yield -1 or 1</a:t>
            </a:r>
          </a:p>
          <a:p>
            <a:pPr lvl="1"/>
            <a:r>
              <a:rPr lang="en-US" dirty="0"/>
              <a:t>For the baseline session: Taking the four TRs following object presentation, and measuring connectivity among those</a:t>
            </a:r>
          </a:p>
          <a:p>
            <a:pPr lvl="1"/>
            <a:r>
              <a:rPr lang="en-US" dirty="0"/>
              <a:t>Region product procedure</a:t>
            </a:r>
          </a:p>
          <a:p>
            <a:pPr lvl="1"/>
            <a:r>
              <a:rPr lang="en-US" dirty="0"/>
              <a:t>Along with attempting RSA, I tried using this single-trial approach to measure item-wise similarity between baseline and encoding responses (analogous to encoding-retrieval similarity)</a:t>
            </a:r>
          </a:p>
          <a:p>
            <a:pPr lvl="1"/>
            <a:endParaRPr lang="en-US" dirty="0"/>
          </a:p>
        </p:txBody>
      </p:sp>
    </p:spTree>
    <p:extLst>
      <p:ext uri="{BB962C8B-B14F-4D97-AF65-F5344CB8AC3E}">
        <p14:creationId xmlns:p14="http://schemas.microsoft.com/office/powerpoint/2010/main" val="994370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A647B-1A50-75FC-23AB-AA4E2C92944E}"/>
              </a:ext>
            </a:extLst>
          </p:cNvPr>
          <p:cNvSpPr>
            <a:spLocks noGrp="1"/>
          </p:cNvSpPr>
          <p:nvPr>
            <p:ph type="title"/>
          </p:nvPr>
        </p:nvSpPr>
        <p:spPr/>
        <p:txBody>
          <a:bodyPr/>
          <a:lstStyle/>
          <a:p>
            <a:r>
              <a:rPr lang="en-US" dirty="0"/>
              <a:t>Single trial connectivity</a:t>
            </a:r>
          </a:p>
        </p:txBody>
      </p:sp>
      <p:sp>
        <p:nvSpPr>
          <p:cNvPr id="3" name="Content Placeholder 2">
            <a:extLst>
              <a:ext uri="{FF2B5EF4-FFF2-40B4-BE49-F238E27FC236}">
                <a16:creationId xmlns:a16="http://schemas.microsoft.com/office/drawing/2014/main" id="{907E8725-AB96-F1FC-2177-E0DDC8FC5138}"/>
              </a:ext>
            </a:extLst>
          </p:cNvPr>
          <p:cNvSpPr>
            <a:spLocks noGrp="1"/>
          </p:cNvSpPr>
          <p:nvPr>
            <p:ph idx="1"/>
          </p:nvPr>
        </p:nvSpPr>
        <p:spPr>
          <a:xfrm>
            <a:off x="838200" y="1825625"/>
            <a:ext cx="5179772" cy="4351338"/>
          </a:xfrm>
        </p:spPr>
        <p:txBody>
          <a:bodyPr/>
          <a:lstStyle/>
          <a:p>
            <a:r>
              <a:rPr lang="en-US" dirty="0"/>
              <a:t>The method I used (4 TRs in each trial) yields reasonable networks</a:t>
            </a:r>
          </a:p>
          <a:p>
            <a:pPr lvl="1"/>
            <a:r>
              <a:rPr lang="en-US" dirty="0"/>
              <a:t>Averaged across all trials</a:t>
            </a:r>
          </a:p>
        </p:txBody>
      </p:sp>
      <p:pic>
        <p:nvPicPr>
          <p:cNvPr id="7" name="Picture 6">
            <a:extLst>
              <a:ext uri="{FF2B5EF4-FFF2-40B4-BE49-F238E27FC236}">
                <a16:creationId xmlns:a16="http://schemas.microsoft.com/office/drawing/2014/main" id="{48445FD9-FB4B-004A-C398-20A8F3A16AB0}"/>
              </a:ext>
            </a:extLst>
          </p:cNvPr>
          <p:cNvPicPr>
            <a:picLocks noChangeAspect="1"/>
          </p:cNvPicPr>
          <p:nvPr/>
        </p:nvPicPr>
        <p:blipFill>
          <a:blip r:embed="rId2"/>
          <a:stretch>
            <a:fillRect/>
          </a:stretch>
        </p:blipFill>
        <p:spPr>
          <a:xfrm>
            <a:off x="6766693" y="1411407"/>
            <a:ext cx="5179773" cy="5179773"/>
          </a:xfrm>
          <a:prstGeom prst="rect">
            <a:avLst/>
          </a:prstGeom>
        </p:spPr>
      </p:pic>
    </p:spTree>
    <p:extLst>
      <p:ext uri="{BB962C8B-B14F-4D97-AF65-F5344CB8AC3E}">
        <p14:creationId xmlns:p14="http://schemas.microsoft.com/office/powerpoint/2010/main" val="4105226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2F1CF-5ECC-EB51-0169-09620A806DF2}"/>
              </a:ext>
            </a:extLst>
          </p:cNvPr>
          <p:cNvSpPr>
            <a:spLocks noGrp="1"/>
          </p:cNvSpPr>
          <p:nvPr>
            <p:ph type="title"/>
          </p:nvPr>
        </p:nvSpPr>
        <p:spPr>
          <a:xfrm>
            <a:off x="838200" y="365125"/>
            <a:ext cx="3924300" cy="1325563"/>
          </a:xfrm>
        </p:spPr>
        <p:txBody>
          <a:bodyPr/>
          <a:lstStyle/>
          <a:p>
            <a:endParaRPr lang="en-US" dirty="0"/>
          </a:p>
        </p:txBody>
      </p:sp>
      <p:sp>
        <p:nvSpPr>
          <p:cNvPr id="3" name="Content Placeholder 2">
            <a:extLst>
              <a:ext uri="{FF2B5EF4-FFF2-40B4-BE49-F238E27FC236}">
                <a16:creationId xmlns:a16="http://schemas.microsoft.com/office/drawing/2014/main" id="{7EDB2C85-D313-3050-77DB-EAF92B2E85E6}"/>
              </a:ext>
            </a:extLst>
          </p:cNvPr>
          <p:cNvSpPr>
            <a:spLocks noGrp="1"/>
          </p:cNvSpPr>
          <p:nvPr>
            <p:ph idx="1"/>
          </p:nvPr>
        </p:nvSpPr>
        <p:spPr>
          <a:xfrm>
            <a:off x="838200" y="1825625"/>
            <a:ext cx="4483100" cy="4351338"/>
          </a:xfrm>
        </p:spPr>
        <p:txBody>
          <a:bodyPr/>
          <a:lstStyle/>
          <a:p>
            <a:r>
              <a:rPr lang="en-US" dirty="0"/>
              <a:t>RSA based on connectivity strength of a single edge</a:t>
            </a:r>
          </a:p>
          <a:p>
            <a:r>
              <a:rPr lang="en-US" dirty="0"/>
              <a:t>Semantic shown here</a:t>
            </a:r>
          </a:p>
          <a:p>
            <a:pPr marL="0" indent="0">
              <a:buNone/>
            </a:pPr>
            <a:r>
              <a:rPr lang="en-US" dirty="0"/>
              <a:t>	&gt;:|</a:t>
            </a:r>
          </a:p>
        </p:txBody>
      </p:sp>
      <p:pic>
        <p:nvPicPr>
          <p:cNvPr id="5" name="Picture 4">
            <a:extLst>
              <a:ext uri="{FF2B5EF4-FFF2-40B4-BE49-F238E27FC236}">
                <a16:creationId xmlns:a16="http://schemas.microsoft.com/office/drawing/2014/main" id="{FCD6D2C0-24B6-D23D-4C01-4AA2B97CBD47}"/>
              </a:ext>
            </a:extLst>
          </p:cNvPr>
          <p:cNvPicPr>
            <a:picLocks noChangeAspect="1"/>
          </p:cNvPicPr>
          <p:nvPr/>
        </p:nvPicPr>
        <p:blipFill rotWithShape="1">
          <a:blip r:embed="rId2"/>
          <a:srcRect t="19260"/>
          <a:stretch/>
        </p:blipFill>
        <p:spPr>
          <a:xfrm>
            <a:off x="5207000" y="1320800"/>
            <a:ext cx="6858000" cy="5537200"/>
          </a:xfrm>
          <a:prstGeom prst="rect">
            <a:avLst/>
          </a:prstGeom>
        </p:spPr>
      </p:pic>
    </p:spTree>
    <p:extLst>
      <p:ext uri="{BB962C8B-B14F-4D97-AF65-F5344CB8AC3E}">
        <p14:creationId xmlns:p14="http://schemas.microsoft.com/office/powerpoint/2010/main" val="2824604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C9E93-1B82-1321-E1A0-5684BC07FA4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4E2856A-4660-6260-FD2D-05357240FE1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ABCB5DD-9A38-AF0E-8E30-83A63EF2731E}"/>
              </a:ext>
            </a:extLst>
          </p:cNvPr>
          <p:cNvPicPr>
            <a:picLocks noChangeAspect="1"/>
          </p:cNvPicPr>
          <p:nvPr/>
        </p:nvPicPr>
        <p:blipFill>
          <a:blip r:embed="rId2"/>
          <a:stretch>
            <a:fillRect/>
          </a:stretch>
        </p:blipFill>
        <p:spPr>
          <a:xfrm>
            <a:off x="2059049" y="3429000"/>
            <a:ext cx="8329551" cy="3281338"/>
          </a:xfrm>
          <a:prstGeom prst="rect">
            <a:avLst/>
          </a:prstGeom>
        </p:spPr>
      </p:pic>
      <p:pic>
        <p:nvPicPr>
          <p:cNvPr id="7" name="Picture 6">
            <a:extLst>
              <a:ext uri="{FF2B5EF4-FFF2-40B4-BE49-F238E27FC236}">
                <a16:creationId xmlns:a16="http://schemas.microsoft.com/office/drawing/2014/main" id="{D43CDD9C-B0F1-385A-99C1-8348B89EE65E}"/>
              </a:ext>
            </a:extLst>
          </p:cNvPr>
          <p:cNvPicPr>
            <a:picLocks noChangeAspect="1"/>
          </p:cNvPicPr>
          <p:nvPr/>
        </p:nvPicPr>
        <p:blipFill>
          <a:blip r:embed="rId3"/>
          <a:stretch>
            <a:fillRect/>
          </a:stretch>
        </p:blipFill>
        <p:spPr>
          <a:xfrm>
            <a:off x="2304742" y="365125"/>
            <a:ext cx="8083858" cy="3184550"/>
          </a:xfrm>
          <a:prstGeom prst="rect">
            <a:avLst/>
          </a:prstGeom>
        </p:spPr>
      </p:pic>
    </p:spTree>
    <p:extLst>
      <p:ext uri="{BB962C8B-B14F-4D97-AF65-F5344CB8AC3E}">
        <p14:creationId xmlns:p14="http://schemas.microsoft.com/office/powerpoint/2010/main" val="3110203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Some analyses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336599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356F6-E6CA-E70B-1743-FFFE221C455C}"/>
              </a:ext>
            </a:extLst>
          </p:cNvPr>
          <p:cNvSpPr>
            <a:spLocks noGrp="1"/>
          </p:cNvSpPr>
          <p:nvPr>
            <p:ph type="title"/>
          </p:nvPr>
        </p:nvSpPr>
        <p:spPr>
          <a:xfrm>
            <a:off x="838200" y="0"/>
            <a:ext cx="10515600" cy="1325563"/>
          </a:xfrm>
        </p:spPr>
        <p:txBody>
          <a:bodyPr>
            <a:normAutofit/>
          </a:bodyPr>
          <a:lstStyle/>
          <a:p>
            <a:r>
              <a:rPr lang="en-US" sz="4000" dirty="0"/>
              <a:t>Significance testing and permutation testing</a:t>
            </a:r>
          </a:p>
        </p:txBody>
      </p:sp>
      <p:sp>
        <p:nvSpPr>
          <p:cNvPr id="3" name="Content Placeholder 2">
            <a:extLst>
              <a:ext uri="{FF2B5EF4-FFF2-40B4-BE49-F238E27FC236}">
                <a16:creationId xmlns:a16="http://schemas.microsoft.com/office/drawing/2014/main" id="{9E68F6A3-4B31-926E-60B3-368BE35B1E42}"/>
              </a:ext>
            </a:extLst>
          </p:cNvPr>
          <p:cNvSpPr>
            <a:spLocks noGrp="1"/>
          </p:cNvSpPr>
          <p:nvPr>
            <p:ph idx="1"/>
          </p:nvPr>
        </p:nvSpPr>
        <p:spPr>
          <a:xfrm>
            <a:off x="838200" y="1154719"/>
            <a:ext cx="10515600" cy="4351338"/>
          </a:xfrm>
        </p:spPr>
        <p:txBody>
          <a:bodyPr/>
          <a:lstStyle/>
          <a:p>
            <a:r>
              <a:rPr lang="en-US" dirty="0"/>
              <a:t>Investigated whether current multiple hypothesis correction strategies are too strict, via doing permutation-testing</a:t>
            </a:r>
          </a:p>
        </p:txBody>
      </p:sp>
      <p:pic>
        <p:nvPicPr>
          <p:cNvPr id="11" name="Picture 10">
            <a:extLst>
              <a:ext uri="{FF2B5EF4-FFF2-40B4-BE49-F238E27FC236}">
                <a16:creationId xmlns:a16="http://schemas.microsoft.com/office/drawing/2014/main" id="{554D1F4C-0CDB-6FFE-345C-70F650D67ED5}"/>
              </a:ext>
            </a:extLst>
          </p:cNvPr>
          <p:cNvPicPr>
            <a:picLocks noChangeAspect="1"/>
          </p:cNvPicPr>
          <p:nvPr/>
        </p:nvPicPr>
        <p:blipFill>
          <a:blip r:embed="rId3"/>
          <a:stretch>
            <a:fillRect/>
          </a:stretch>
        </p:blipFill>
        <p:spPr>
          <a:xfrm>
            <a:off x="6096000" y="2118706"/>
            <a:ext cx="6096000" cy="4572000"/>
          </a:xfrm>
          <a:prstGeom prst="rect">
            <a:avLst/>
          </a:prstGeom>
        </p:spPr>
      </p:pic>
      <p:pic>
        <p:nvPicPr>
          <p:cNvPr id="13" name="Picture 12">
            <a:extLst>
              <a:ext uri="{FF2B5EF4-FFF2-40B4-BE49-F238E27FC236}">
                <a16:creationId xmlns:a16="http://schemas.microsoft.com/office/drawing/2014/main" id="{50879747-886A-C472-F9AF-FCD33BF8602C}"/>
              </a:ext>
            </a:extLst>
          </p:cNvPr>
          <p:cNvPicPr>
            <a:picLocks noChangeAspect="1"/>
          </p:cNvPicPr>
          <p:nvPr/>
        </p:nvPicPr>
        <p:blipFill>
          <a:blip r:embed="rId4"/>
          <a:stretch>
            <a:fillRect/>
          </a:stretch>
        </p:blipFill>
        <p:spPr>
          <a:xfrm>
            <a:off x="119864" y="2144882"/>
            <a:ext cx="6096000" cy="4572000"/>
          </a:xfrm>
          <a:prstGeom prst="rect">
            <a:avLst/>
          </a:prstGeom>
        </p:spPr>
      </p:pic>
    </p:spTree>
    <p:extLst>
      <p:ext uri="{BB962C8B-B14F-4D97-AF65-F5344CB8AC3E}">
        <p14:creationId xmlns:p14="http://schemas.microsoft.com/office/powerpoint/2010/main" val="442436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EE673-BC06-C844-FC5D-509C3B80C07B}"/>
              </a:ext>
            </a:extLst>
          </p:cNvPr>
          <p:cNvSpPr>
            <a:spLocks noGrp="1"/>
          </p:cNvSpPr>
          <p:nvPr>
            <p:ph type="title"/>
          </p:nvPr>
        </p:nvSpPr>
        <p:spPr/>
        <p:txBody>
          <a:bodyPr/>
          <a:lstStyle/>
          <a:p>
            <a:r>
              <a:rPr lang="en-US" dirty="0"/>
              <a:t>RSA with functional connectivity</a:t>
            </a:r>
          </a:p>
        </p:txBody>
      </p:sp>
      <p:sp>
        <p:nvSpPr>
          <p:cNvPr id="3" name="Content Placeholder 2">
            <a:extLst>
              <a:ext uri="{FF2B5EF4-FFF2-40B4-BE49-F238E27FC236}">
                <a16:creationId xmlns:a16="http://schemas.microsoft.com/office/drawing/2014/main" id="{BC34BB5B-5926-5269-9C68-D70AD7F358B2}"/>
              </a:ext>
            </a:extLst>
          </p:cNvPr>
          <p:cNvSpPr>
            <a:spLocks noGrp="1"/>
          </p:cNvSpPr>
          <p:nvPr>
            <p:ph idx="1"/>
          </p:nvPr>
        </p:nvSpPr>
        <p:spPr>
          <a:xfrm>
            <a:off x="838200" y="1825625"/>
            <a:ext cx="10515600" cy="4667250"/>
          </a:xfrm>
        </p:spPr>
        <p:txBody>
          <a:bodyPr>
            <a:normAutofit fontScale="92500" lnSpcReduction="10000"/>
          </a:bodyPr>
          <a:lstStyle/>
          <a:p>
            <a:r>
              <a:rPr lang="en-US" dirty="0"/>
              <a:t>RSA depends on trial-level measurements</a:t>
            </a:r>
          </a:p>
          <a:p>
            <a:pPr lvl="1"/>
            <a:r>
              <a:rPr lang="en-US" dirty="0"/>
              <a:t>E.g., single-trial betas</a:t>
            </a:r>
          </a:p>
          <a:p>
            <a:pPr lvl="1"/>
            <a:r>
              <a:rPr lang="en-US" dirty="0"/>
              <a:t>Needed for measuring similarity between trials</a:t>
            </a:r>
          </a:p>
          <a:p>
            <a:r>
              <a:rPr lang="en-US" dirty="0"/>
              <a:t>How can connectivity be calculated for a single trial?</a:t>
            </a:r>
          </a:p>
          <a:p>
            <a:pPr lvl="1"/>
            <a:r>
              <a:rPr lang="en-US" dirty="0"/>
              <a:t>Baseline session trials involve the presentation of an image and are 8 seconds long</a:t>
            </a:r>
          </a:p>
          <a:p>
            <a:pPr lvl="1"/>
            <a:r>
              <a:rPr lang="en-US" dirty="0"/>
              <a:t>I tried taking the 3-4 TRs following an image and measuring connectivity based on that</a:t>
            </a:r>
          </a:p>
          <a:p>
            <a:pPr lvl="2"/>
            <a:r>
              <a:rPr lang="en-US" dirty="0"/>
              <a:t>Attempted to perform RSA based on occipital connectivity</a:t>
            </a:r>
          </a:p>
          <a:p>
            <a:r>
              <a:rPr lang="en-US" dirty="0"/>
              <a:t>It did not work</a:t>
            </a:r>
          </a:p>
          <a:p>
            <a:pPr lvl="1"/>
            <a:r>
              <a:rPr lang="en-US" dirty="0"/>
              <a:t>Potentially, the analysis was just too crude, as I simply took BOLD activation and did not fit any GLM</a:t>
            </a:r>
          </a:p>
          <a:p>
            <a:pPr lvl="1"/>
            <a:r>
              <a:rPr lang="en-US" dirty="0"/>
              <a:t>In either case, in testing this, I took a close look at the file structure and Shenyang’s single-trial beta code. I couldn’t find any bugs</a:t>
            </a:r>
          </a:p>
        </p:txBody>
      </p:sp>
    </p:spTree>
    <p:extLst>
      <p:ext uri="{BB962C8B-B14F-4D97-AF65-F5344CB8AC3E}">
        <p14:creationId xmlns:p14="http://schemas.microsoft.com/office/powerpoint/2010/main" val="1830081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F8A30-9097-C6DF-4F19-3F47E35CCC35}"/>
              </a:ext>
            </a:extLst>
          </p:cNvPr>
          <p:cNvSpPr>
            <a:spLocks noGrp="1"/>
          </p:cNvSpPr>
          <p:nvPr>
            <p:ph type="title"/>
          </p:nvPr>
        </p:nvSpPr>
        <p:spPr/>
        <p:txBody>
          <a:bodyPr/>
          <a:lstStyle/>
          <a:p>
            <a:r>
              <a:rPr lang="en-US" dirty="0"/>
              <a:t>Modularity</a:t>
            </a:r>
          </a:p>
        </p:txBody>
      </p:sp>
      <p:pic>
        <p:nvPicPr>
          <p:cNvPr id="7" name="Content Placeholder 6" descr="A diagram of a brain&#10;&#10;Description automatically generated">
            <a:extLst>
              <a:ext uri="{FF2B5EF4-FFF2-40B4-BE49-F238E27FC236}">
                <a16:creationId xmlns:a16="http://schemas.microsoft.com/office/drawing/2014/main" id="{F876F9C2-1A68-4477-18E0-142F7A385BAD}"/>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35200" t="10834"/>
          <a:stretch/>
        </p:blipFill>
        <p:spPr>
          <a:xfrm>
            <a:off x="6455028" y="1658919"/>
            <a:ext cx="5323645" cy="2907207"/>
          </a:xfrm>
        </p:spPr>
      </p:pic>
      <p:pic>
        <p:nvPicPr>
          <p:cNvPr id="5" name="Picture 4">
            <a:extLst>
              <a:ext uri="{FF2B5EF4-FFF2-40B4-BE49-F238E27FC236}">
                <a16:creationId xmlns:a16="http://schemas.microsoft.com/office/drawing/2014/main" id="{3A1B3735-50A5-ED6C-FCA7-924BC8814968}"/>
              </a:ext>
            </a:extLst>
          </p:cNvPr>
          <p:cNvPicPr>
            <a:picLocks noChangeAspect="1"/>
          </p:cNvPicPr>
          <p:nvPr/>
        </p:nvPicPr>
        <p:blipFill>
          <a:blip r:embed="rId4"/>
          <a:stretch>
            <a:fillRect/>
          </a:stretch>
        </p:blipFill>
        <p:spPr>
          <a:xfrm>
            <a:off x="615338" y="1658920"/>
            <a:ext cx="5323645" cy="2907206"/>
          </a:xfrm>
          <a:prstGeom prst="rect">
            <a:avLst/>
          </a:prstGeom>
        </p:spPr>
      </p:pic>
      <p:sp>
        <p:nvSpPr>
          <p:cNvPr id="8" name="Content Placeholder 2">
            <a:extLst>
              <a:ext uri="{FF2B5EF4-FFF2-40B4-BE49-F238E27FC236}">
                <a16:creationId xmlns:a16="http://schemas.microsoft.com/office/drawing/2014/main" id="{069D59E4-3E30-5031-69BE-D146CFE67648}"/>
              </a:ext>
            </a:extLst>
          </p:cNvPr>
          <p:cNvSpPr txBox="1">
            <a:spLocks/>
          </p:cNvSpPr>
          <p:nvPr/>
        </p:nvSpPr>
        <p:spPr>
          <a:xfrm>
            <a:off x="838200" y="5199080"/>
            <a:ext cx="10515600" cy="9815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Replicate modules identified by </a:t>
            </a:r>
            <a:r>
              <a:rPr lang="en-US" dirty="0" err="1"/>
              <a:t>Lifu</a:t>
            </a:r>
            <a:endParaRPr lang="en-US" dirty="0"/>
          </a:p>
        </p:txBody>
      </p:sp>
    </p:spTree>
    <p:extLst>
      <p:ext uri="{BB962C8B-B14F-4D97-AF65-F5344CB8AC3E}">
        <p14:creationId xmlns:p14="http://schemas.microsoft.com/office/powerpoint/2010/main" val="2254574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Task idea </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r>
              <a:rPr lang="en-US" dirty="0"/>
              <a:t>10/30/2023</a:t>
            </a:r>
          </a:p>
        </p:txBody>
      </p:sp>
    </p:spTree>
    <p:extLst>
      <p:ext uri="{BB962C8B-B14F-4D97-AF65-F5344CB8AC3E}">
        <p14:creationId xmlns:p14="http://schemas.microsoft.com/office/powerpoint/2010/main" val="3804604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37C23-03B7-053C-2693-C9875AF59208}"/>
              </a:ext>
            </a:extLst>
          </p:cNvPr>
          <p:cNvSpPr>
            <a:spLocks noGrp="1"/>
          </p:cNvSpPr>
          <p:nvPr>
            <p:ph type="title"/>
          </p:nvPr>
        </p:nvSpPr>
        <p:spPr>
          <a:xfrm>
            <a:off x="937416" y="11438"/>
            <a:ext cx="10515600" cy="1325563"/>
          </a:xfrm>
        </p:spPr>
        <p:txBody>
          <a:bodyPr/>
          <a:lstStyle/>
          <a:p>
            <a:r>
              <a:rPr lang="en-US" dirty="0"/>
              <a:t>What are we doing?</a:t>
            </a:r>
          </a:p>
        </p:txBody>
      </p:sp>
      <p:sp>
        <p:nvSpPr>
          <p:cNvPr id="3" name="Content Placeholder 2">
            <a:extLst>
              <a:ext uri="{FF2B5EF4-FFF2-40B4-BE49-F238E27FC236}">
                <a16:creationId xmlns:a16="http://schemas.microsoft.com/office/drawing/2014/main" id="{EBA5DF13-D6AC-47BF-42D5-C40899F26B61}"/>
              </a:ext>
            </a:extLst>
          </p:cNvPr>
          <p:cNvSpPr>
            <a:spLocks noGrp="1"/>
          </p:cNvSpPr>
          <p:nvPr>
            <p:ph idx="1"/>
          </p:nvPr>
        </p:nvSpPr>
        <p:spPr>
          <a:xfrm>
            <a:off x="173063" y="1343880"/>
            <a:ext cx="8949218" cy="5502681"/>
          </a:xfrm>
        </p:spPr>
        <p:txBody>
          <a:bodyPr>
            <a:normAutofit fontScale="85000" lnSpcReduction="20000"/>
          </a:bodyPr>
          <a:lstStyle/>
          <a:p>
            <a:r>
              <a:rPr lang="en-US" dirty="0"/>
              <a:t>What memory processes are tested?</a:t>
            </a:r>
          </a:p>
          <a:p>
            <a:pPr lvl="1"/>
            <a:r>
              <a:rPr lang="en-US" dirty="0">
                <a:solidFill>
                  <a:srgbClr val="FF0000"/>
                </a:solidFill>
              </a:rPr>
              <a:t>Participants are not encoding “steaks are made from cows” or “steaks and cows are related”. They already know this</a:t>
            </a:r>
          </a:p>
          <a:p>
            <a:pPr lvl="2"/>
            <a:r>
              <a:rPr lang="en-US" dirty="0"/>
              <a:t>Formally, participants have already formed a relation between their </a:t>
            </a:r>
            <a:r>
              <a:rPr lang="en-US" i="1" dirty="0"/>
              <a:t>cow schema </a:t>
            </a:r>
            <a:r>
              <a:rPr lang="en-US" dirty="0"/>
              <a:t>and </a:t>
            </a:r>
            <a:r>
              <a:rPr lang="en-US" i="1" dirty="0"/>
              <a:t>steak schema </a:t>
            </a:r>
            <a:r>
              <a:rPr lang="en-US" dirty="0"/>
              <a:t>(</a:t>
            </a:r>
            <a:r>
              <a:rPr lang="en-US" dirty="0" err="1"/>
              <a:t>mPFC</a:t>
            </a:r>
            <a:r>
              <a:rPr lang="en-US" dirty="0"/>
              <a:t> process)</a:t>
            </a:r>
          </a:p>
          <a:p>
            <a:pPr lvl="1"/>
            <a:r>
              <a:rPr lang="en-US" dirty="0"/>
              <a:t>Possible mechanism relevant to the retrieval question “What picture was shown near this cow</a:t>
            </a:r>
            <a:r>
              <a:rPr lang="en-US" i="1" dirty="0"/>
              <a:t> in the encoding session</a:t>
            </a:r>
            <a:r>
              <a:rPr lang="en-US" dirty="0"/>
              <a:t>?”</a:t>
            </a:r>
            <a:endParaRPr lang="en-US" i="1" dirty="0"/>
          </a:p>
          <a:p>
            <a:pPr lvl="2"/>
            <a:r>
              <a:rPr lang="en-US" dirty="0"/>
              <a:t>Requires link between </a:t>
            </a:r>
            <a:r>
              <a:rPr lang="en-US" i="1" dirty="0"/>
              <a:t>this instance of a cow </a:t>
            </a:r>
            <a:r>
              <a:rPr lang="en-US" dirty="0"/>
              <a:t>and </a:t>
            </a:r>
            <a:r>
              <a:rPr lang="en-US" i="1" dirty="0"/>
              <a:t>this instance of a steak</a:t>
            </a:r>
            <a:endParaRPr lang="en-US" dirty="0"/>
          </a:p>
          <a:p>
            <a:pPr lvl="3"/>
            <a:r>
              <a:rPr lang="en-US" dirty="0"/>
              <a:t>Represent </a:t>
            </a:r>
            <a:r>
              <a:rPr lang="en-US" i="1" dirty="0"/>
              <a:t>this instance of a cow</a:t>
            </a:r>
            <a:r>
              <a:rPr lang="en-US" dirty="0"/>
              <a:t> in the perirhinal cortex (</a:t>
            </a:r>
            <a:r>
              <a:rPr lang="en-US" dirty="0" err="1"/>
              <a:t>PRc</a:t>
            </a:r>
            <a:r>
              <a:rPr lang="en-US" dirty="0"/>
              <a:t>)</a:t>
            </a:r>
          </a:p>
          <a:p>
            <a:pPr lvl="3"/>
            <a:r>
              <a:rPr lang="en-US" dirty="0"/>
              <a:t>Represent </a:t>
            </a:r>
            <a:r>
              <a:rPr lang="en-US" i="1" dirty="0"/>
              <a:t>this instance of a steak </a:t>
            </a:r>
            <a:r>
              <a:rPr lang="en-US" dirty="0"/>
              <a:t>in the perirhinal cortex (</a:t>
            </a:r>
            <a:r>
              <a:rPr lang="en-US" dirty="0" err="1"/>
              <a:t>PRc</a:t>
            </a:r>
            <a:r>
              <a:rPr lang="en-US" dirty="0"/>
              <a:t>)</a:t>
            </a:r>
          </a:p>
          <a:p>
            <a:pPr lvl="3"/>
            <a:r>
              <a:rPr lang="en-US" dirty="0"/>
              <a:t>Bind the two via the hippocampus</a:t>
            </a:r>
          </a:p>
          <a:p>
            <a:pPr lvl="2"/>
            <a:r>
              <a:rPr lang="en-US" dirty="0"/>
              <a:t>Alternatively, requires participants to update their </a:t>
            </a:r>
            <a:r>
              <a:rPr lang="en-US" i="1" dirty="0"/>
              <a:t>cow schema </a:t>
            </a:r>
            <a:r>
              <a:rPr lang="en-US" dirty="0"/>
              <a:t>and </a:t>
            </a:r>
            <a:r>
              <a:rPr lang="en-US" i="1" dirty="0"/>
              <a:t>steak schema </a:t>
            </a:r>
            <a:r>
              <a:rPr lang="en-US" dirty="0"/>
              <a:t>to include an additional relation: </a:t>
            </a:r>
            <a:r>
              <a:rPr lang="en-US" i="1" dirty="0"/>
              <a:t>“were presented together in the encoding session”</a:t>
            </a:r>
          </a:p>
          <a:p>
            <a:r>
              <a:rPr lang="en-US" dirty="0"/>
              <a:t>What does RSA do?</a:t>
            </a:r>
          </a:p>
          <a:p>
            <a:pPr lvl="1"/>
            <a:r>
              <a:rPr lang="en-US" dirty="0"/>
              <a:t>We are </a:t>
            </a:r>
            <a:r>
              <a:rPr lang="en-US" u="sng" dirty="0"/>
              <a:t>not</a:t>
            </a:r>
            <a:r>
              <a:rPr lang="en-US" dirty="0"/>
              <a:t> measuring the neural correlates of encoding the relation “steaks are made from cows” </a:t>
            </a:r>
          </a:p>
          <a:p>
            <a:pPr lvl="1"/>
            <a:r>
              <a:rPr lang="en-US" dirty="0"/>
              <a:t>Rather, RSA measures the neural correlates of when the relation is:</a:t>
            </a:r>
          </a:p>
          <a:p>
            <a:pPr lvl="2"/>
            <a:r>
              <a:rPr lang="en-US" dirty="0"/>
              <a:t>activated, </a:t>
            </a:r>
          </a:p>
          <a:p>
            <a:pPr lvl="2"/>
            <a:r>
              <a:rPr lang="en-US" dirty="0"/>
              <a:t>used for encoding, </a:t>
            </a:r>
          </a:p>
          <a:p>
            <a:pPr lvl="2"/>
            <a:r>
              <a:rPr lang="en-US" dirty="0"/>
              <a:t>retrieved</a:t>
            </a:r>
          </a:p>
        </p:txBody>
      </p:sp>
      <p:sp>
        <p:nvSpPr>
          <p:cNvPr id="5" name="Rectangle 4">
            <a:extLst>
              <a:ext uri="{FF2B5EF4-FFF2-40B4-BE49-F238E27FC236}">
                <a16:creationId xmlns:a16="http://schemas.microsoft.com/office/drawing/2014/main" id="{7353905C-3AC8-D633-4D1F-DE3BE1C38E13}"/>
              </a:ext>
            </a:extLst>
          </p:cNvPr>
          <p:cNvSpPr/>
          <p:nvPr/>
        </p:nvSpPr>
        <p:spPr>
          <a:xfrm>
            <a:off x="9215270" y="2004758"/>
            <a:ext cx="2896656" cy="1510812"/>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AC1E270-7289-126D-AC55-BECE5A69CEDE}"/>
              </a:ext>
            </a:extLst>
          </p:cNvPr>
          <p:cNvPicPr>
            <a:picLocks noChangeAspect="1"/>
          </p:cNvPicPr>
          <p:nvPr/>
        </p:nvPicPr>
        <p:blipFill>
          <a:blip r:embed="rId3"/>
          <a:stretch>
            <a:fillRect/>
          </a:stretch>
        </p:blipFill>
        <p:spPr>
          <a:xfrm>
            <a:off x="9913417" y="2216165"/>
            <a:ext cx="1218569" cy="1087998"/>
          </a:xfrm>
          <a:prstGeom prst="rect">
            <a:avLst/>
          </a:prstGeom>
        </p:spPr>
      </p:pic>
      <p:pic>
        <p:nvPicPr>
          <p:cNvPr id="7" name="Picture 4" descr="Premium Photo | Roasted beef steaks isolated on white background">
            <a:extLst>
              <a:ext uri="{FF2B5EF4-FFF2-40B4-BE49-F238E27FC236}">
                <a16:creationId xmlns:a16="http://schemas.microsoft.com/office/drawing/2014/main" id="{14112A32-E7E3-12E9-B0B8-E356EEE5C18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453" t="3792" r="18923" b="6739"/>
          <a:stretch/>
        </p:blipFill>
        <p:spPr bwMode="auto">
          <a:xfrm>
            <a:off x="11131986" y="2324460"/>
            <a:ext cx="828038" cy="841793"/>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id="{81598C0A-D4E0-7414-F774-175CB8F9CCD2}"/>
              </a:ext>
            </a:extLst>
          </p:cNvPr>
          <p:cNvSpPr txBox="1">
            <a:spLocks/>
          </p:cNvSpPr>
          <p:nvPr/>
        </p:nvSpPr>
        <p:spPr>
          <a:xfrm>
            <a:off x="9215270" y="1358007"/>
            <a:ext cx="2896656" cy="6467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dirty="0"/>
              <a:t>Encoding</a:t>
            </a:r>
            <a:endParaRPr lang="en-US" dirty="0"/>
          </a:p>
        </p:txBody>
      </p:sp>
      <p:sp>
        <p:nvSpPr>
          <p:cNvPr id="9" name="Rectangle 8">
            <a:extLst>
              <a:ext uri="{FF2B5EF4-FFF2-40B4-BE49-F238E27FC236}">
                <a16:creationId xmlns:a16="http://schemas.microsoft.com/office/drawing/2014/main" id="{1E6FB867-610D-C172-D874-CCCC12CE5954}"/>
              </a:ext>
            </a:extLst>
          </p:cNvPr>
          <p:cNvSpPr/>
          <p:nvPr/>
        </p:nvSpPr>
        <p:spPr>
          <a:xfrm>
            <a:off x="9215270" y="4560896"/>
            <a:ext cx="2896656" cy="1510812"/>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96E52A7F-36BA-B95D-7035-77EB7AC16912}"/>
              </a:ext>
            </a:extLst>
          </p:cNvPr>
          <p:cNvPicPr>
            <a:picLocks noChangeAspect="1"/>
          </p:cNvPicPr>
          <p:nvPr/>
        </p:nvPicPr>
        <p:blipFill>
          <a:blip r:embed="rId3"/>
          <a:stretch>
            <a:fillRect/>
          </a:stretch>
        </p:blipFill>
        <p:spPr>
          <a:xfrm>
            <a:off x="9986569" y="4772303"/>
            <a:ext cx="1218569" cy="1087998"/>
          </a:xfrm>
          <a:prstGeom prst="rect">
            <a:avLst/>
          </a:prstGeom>
        </p:spPr>
      </p:pic>
      <p:sp>
        <p:nvSpPr>
          <p:cNvPr id="11" name="Content Placeholder 2">
            <a:extLst>
              <a:ext uri="{FF2B5EF4-FFF2-40B4-BE49-F238E27FC236}">
                <a16:creationId xmlns:a16="http://schemas.microsoft.com/office/drawing/2014/main" id="{FA32F089-C49C-919C-9292-2AD3310188BF}"/>
              </a:ext>
            </a:extLst>
          </p:cNvPr>
          <p:cNvSpPr txBox="1">
            <a:spLocks/>
          </p:cNvSpPr>
          <p:nvPr/>
        </p:nvSpPr>
        <p:spPr>
          <a:xfrm>
            <a:off x="11422043" y="4941783"/>
            <a:ext cx="555731" cy="7965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400" dirty="0"/>
              <a:t>?</a:t>
            </a:r>
            <a:endParaRPr lang="en-US" dirty="0"/>
          </a:p>
        </p:txBody>
      </p:sp>
      <p:sp>
        <p:nvSpPr>
          <p:cNvPr id="12" name="Content Placeholder 2">
            <a:extLst>
              <a:ext uri="{FF2B5EF4-FFF2-40B4-BE49-F238E27FC236}">
                <a16:creationId xmlns:a16="http://schemas.microsoft.com/office/drawing/2014/main" id="{38C82417-6FEB-5E39-4267-0F9ACA91F1CD}"/>
              </a:ext>
            </a:extLst>
          </p:cNvPr>
          <p:cNvSpPr txBox="1">
            <a:spLocks/>
          </p:cNvSpPr>
          <p:nvPr/>
        </p:nvSpPr>
        <p:spPr>
          <a:xfrm>
            <a:off x="9215270" y="3904193"/>
            <a:ext cx="2896656" cy="6467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dirty="0"/>
              <a:t>Retrieval</a:t>
            </a:r>
            <a:endParaRPr lang="en-US" dirty="0"/>
          </a:p>
        </p:txBody>
      </p:sp>
    </p:spTree>
    <p:extLst>
      <p:ext uri="{BB962C8B-B14F-4D97-AF65-F5344CB8AC3E}">
        <p14:creationId xmlns:p14="http://schemas.microsoft.com/office/powerpoint/2010/main" val="3881199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val 32">
            <a:extLst>
              <a:ext uri="{FF2B5EF4-FFF2-40B4-BE49-F238E27FC236}">
                <a16:creationId xmlns:a16="http://schemas.microsoft.com/office/drawing/2014/main" id="{F620C727-409B-335A-ED26-1A70B6D959D6}"/>
              </a:ext>
            </a:extLst>
          </p:cNvPr>
          <p:cNvSpPr/>
          <p:nvPr/>
        </p:nvSpPr>
        <p:spPr>
          <a:xfrm rot="19892085">
            <a:off x="6481036" y="2201823"/>
            <a:ext cx="4400550" cy="735622"/>
          </a:xfrm>
          <a:prstGeom prst="ellipse">
            <a:avLst/>
          </a:prstGeom>
          <a:solidFill>
            <a:schemeClr val="bg1"/>
          </a:solid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EB01AF9-D952-2200-FBDD-FAC191283F9D}"/>
              </a:ext>
            </a:extLst>
          </p:cNvPr>
          <p:cNvSpPr/>
          <p:nvPr/>
        </p:nvSpPr>
        <p:spPr>
          <a:xfrm>
            <a:off x="2549121" y="4148679"/>
            <a:ext cx="4022606" cy="2075992"/>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497A7A3-5424-E429-14EA-783EC10FFAA8}"/>
              </a:ext>
            </a:extLst>
          </p:cNvPr>
          <p:cNvSpPr/>
          <p:nvPr/>
        </p:nvSpPr>
        <p:spPr>
          <a:xfrm>
            <a:off x="792984" y="1426062"/>
            <a:ext cx="4176713" cy="2271713"/>
          </a:xfrm>
          <a:prstGeom prst="rect">
            <a:avLst/>
          </a:prstGeom>
          <a:solidFill>
            <a:schemeClr val="bg1"/>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CAEE230F-5366-7902-9A5C-5B265232BE5F}"/>
              </a:ext>
            </a:extLst>
          </p:cNvPr>
          <p:cNvSpPr/>
          <p:nvPr/>
        </p:nvSpPr>
        <p:spPr>
          <a:xfrm>
            <a:off x="2690125" y="4274086"/>
            <a:ext cx="1691934" cy="1799855"/>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8D1630F-D43A-5283-662E-4787CA0004A2}"/>
              </a:ext>
            </a:extLst>
          </p:cNvPr>
          <p:cNvSpPr/>
          <p:nvPr/>
        </p:nvSpPr>
        <p:spPr>
          <a:xfrm>
            <a:off x="3054456" y="1762242"/>
            <a:ext cx="1652630" cy="1676073"/>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FAA2E0-F09F-C671-1CC0-1721B407377A}"/>
              </a:ext>
            </a:extLst>
          </p:cNvPr>
          <p:cNvSpPr>
            <a:spLocks noGrp="1"/>
          </p:cNvSpPr>
          <p:nvPr>
            <p:ph type="title"/>
          </p:nvPr>
        </p:nvSpPr>
        <p:spPr>
          <a:xfrm>
            <a:off x="680110" y="224859"/>
            <a:ext cx="10515600" cy="640323"/>
          </a:xfrm>
        </p:spPr>
        <p:txBody>
          <a:bodyPr>
            <a:normAutofit fontScale="90000"/>
          </a:bodyPr>
          <a:lstStyle/>
          <a:p>
            <a:r>
              <a:rPr lang="en-US" dirty="0"/>
              <a:t>Possible Mechanism 1 &amp; RSA</a:t>
            </a:r>
          </a:p>
        </p:txBody>
      </p:sp>
      <p:sp>
        <p:nvSpPr>
          <p:cNvPr id="4" name="Oval 3">
            <a:extLst>
              <a:ext uri="{FF2B5EF4-FFF2-40B4-BE49-F238E27FC236}">
                <a16:creationId xmlns:a16="http://schemas.microsoft.com/office/drawing/2014/main" id="{11B8FDB8-04A6-2B29-4522-79862EC62B93}"/>
              </a:ext>
            </a:extLst>
          </p:cNvPr>
          <p:cNvSpPr/>
          <p:nvPr/>
        </p:nvSpPr>
        <p:spPr>
          <a:xfrm>
            <a:off x="997661" y="1765957"/>
            <a:ext cx="1648968" cy="1672358"/>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C0103C31-043D-8DBD-510A-AB82D4FBFEA2}"/>
              </a:ext>
            </a:extLst>
          </p:cNvPr>
          <p:cNvSpPr/>
          <p:nvPr/>
        </p:nvSpPr>
        <p:spPr>
          <a:xfrm>
            <a:off x="7342825" y="3000636"/>
            <a:ext cx="389256" cy="41408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SVG CLIPART Cute Simple Cow Outline Cute Kids Clipart Farm - Etsy">
            <a:extLst>
              <a:ext uri="{FF2B5EF4-FFF2-40B4-BE49-F238E27FC236}">
                <a16:creationId xmlns:a16="http://schemas.microsoft.com/office/drawing/2014/main" id="{92E28DE4-1722-8D45-B131-DFB22A4A251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828" t="29276" r="22793" b="27471"/>
          <a:stretch/>
        </p:blipFill>
        <p:spPr bwMode="auto">
          <a:xfrm>
            <a:off x="3293050" y="2094637"/>
            <a:ext cx="1230324" cy="101128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aw meat doodle icon, vector illustration of steak chop, fresh beef slice  in butcher shop, grocery product, isolated outline clipart on white  background Stock Vector | Adobe Stock">
            <a:extLst>
              <a:ext uri="{FF2B5EF4-FFF2-40B4-BE49-F238E27FC236}">
                <a16:creationId xmlns:a16="http://schemas.microsoft.com/office/drawing/2014/main" id="{7AE4AE2B-5D09-FEEF-9416-B649D21A23E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334" t="15289" r="7334" b="13423"/>
          <a:stretch/>
        </p:blipFill>
        <p:spPr bwMode="auto">
          <a:xfrm>
            <a:off x="1268034" y="2139222"/>
            <a:ext cx="1108221" cy="925827"/>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572BEF9D-4873-B5BE-C33E-0F804A121B19}"/>
              </a:ext>
            </a:extLst>
          </p:cNvPr>
          <p:cNvCxnSpPr>
            <a:cxnSpLocks/>
            <a:stCxn id="4" idx="6"/>
            <a:endCxn id="8" idx="2"/>
          </p:cNvCxnSpPr>
          <p:nvPr/>
        </p:nvCxnSpPr>
        <p:spPr>
          <a:xfrm flipV="1">
            <a:off x="2646629" y="2600279"/>
            <a:ext cx="407827" cy="1857"/>
          </a:xfrm>
          <a:prstGeom prst="line">
            <a:avLst/>
          </a:prstGeom>
          <a:ln w="76200">
            <a:solidFill>
              <a:schemeClr val="tx1">
                <a:alpha val="99000"/>
              </a:schemeClr>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21DDEABD-7646-3A4F-44EE-891F379729C0}"/>
              </a:ext>
            </a:extLst>
          </p:cNvPr>
          <p:cNvSpPr/>
          <p:nvPr/>
        </p:nvSpPr>
        <p:spPr>
          <a:xfrm>
            <a:off x="4765146" y="4274086"/>
            <a:ext cx="1691934" cy="1799855"/>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828F7B0B-A37B-5337-79A7-A0BE493F45D2}"/>
              </a:ext>
            </a:extLst>
          </p:cNvPr>
          <p:cNvPicPr>
            <a:picLocks noChangeAspect="1"/>
          </p:cNvPicPr>
          <p:nvPr/>
        </p:nvPicPr>
        <p:blipFill>
          <a:blip r:embed="rId5"/>
          <a:stretch>
            <a:fillRect/>
          </a:stretch>
        </p:blipFill>
        <p:spPr>
          <a:xfrm>
            <a:off x="5043278" y="4675397"/>
            <a:ext cx="1218569" cy="1087998"/>
          </a:xfrm>
          <a:prstGeom prst="rect">
            <a:avLst/>
          </a:prstGeom>
        </p:spPr>
      </p:pic>
      <p:pic>
        <p:nvPicPr>
          <p:cNvPr id="17" name="Picture 4" descr="Premium Photo | Roasted beef steaks isolated on white background">
            <a:extLst>
              <a:ext uri="{FF2B5EF4-FFF2-40B4-BE49-F238E27FC236}">
                <a16:creationId xmlns:a16="http://schemas.microsoft.com/office/drawing/2014/main" id="{995EF831-0216-42A1-3682-20854661BC6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2453" t="3792" r="18923" b="6739"/>
          <a:stretch/>
        </p:blipFill>
        <p:spPr bwMode="auto">
          <a:xfrm>
            <a:off x="2987485" y="4552512"/>
            <a:ext cx="1097213" cy="1115439"/>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Connector 24">
            <a:extLst>
              <a:ext uri="{FF2B5EF4-FFF2-40B4-BE49-F238E27FC236}">
                <a16:creationId xmlns:a16="http://schemas.microsoft.com/office/drawing/2014/main" id="{92D662A7-3AD8-5C8E-1A28-B8032BF46D0E}"/>
              </a:ext>
            </a:extLst>
          </p:cNvPr>
          <p:cNvCxnSpPr>
            <a:cxnSpLocks/>
            <a:stCxn id="19" idx="0"/>
            <a:endCxn id="5" idx="2"/>
          </p:cNvCxnSpPr>
          <p:nvPr/>
        </p:nvCxnSpPr>
        <p:spPr>
          <a:xfrm flipV="1">
            <a:off x="3536092" y="3207679"/>
            <a:ext cx="3806733" cy="106640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B53789D1-25E0-082B-3794-3610A8B0F03A}"/>
              </a:ext>
            </a:extLst>
          </p:cNvPr>
          <p:cNvSpPr txBox="1"/>
          <p:nvPr/>
        </p:nvSpPr>
        <p:spPr>
          <a:xfrm>
            <a:off x="2104184" y="795483"/>
            <a:ext cx="1492716" cy="646331"/>
          </a:xfrm>
          <a:prstGeom prst="rect">
            <a:avLst/>
          </a:prstGeom>
          <a:noFill/>
        </p:spPr>
        <p:txBody>
          <a:bodyPr wrap="none" rtlCol="0">
            <a:spAutoFit/>
          </a:bodyPr>
          <a:lstStyle/>
          <a:p>
            <a:r>
              <a:rPr lang="en-US" sz="3600" dirty="0" err="1">
                <a:solidFill>
                  <a:srgbClr val="FF0000"/>
                </a:solidFill>
                <a:latin typeface="Arial" panose="020B0604020202020204" pitchFamily="34" charset="0"/>
                <a:cs typeface="Arial" panose="020B0604020202020204" pitchFamily="34" charset="0"/>
              </a:rPr>
              <a:t>mPFC</a:t>
            </a:r>
            <a:endParaRPr lang="en-US" sz="3600" dirty="0">
              <a:solidFill>
                <a:srgbClr val="FF0000"/>
              </a:solidFill>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2F1D017A-BA09-2007-0722-14B56F5658AC}"/>
              </a:ext>
            </a:extLst>
          </p:cNvPr>
          <p:cNvSpPr txBox="1"/>
          <p:nvPr/>
        </p:nvSpPr>
        <p:spPr>
          <a:xfrm>
            <a:off x="2549121" y="6211669"/>
            <a:ext cx="4022606" cy="646331"/>
          </a:xfrm>
          <a:prstGeom prst="rect">
            <a:avLst/>
          </a:prstGeom>
          <a:noFill/>
        </p:spPr>
        <p:txBody>
          <a:bodyPr wrap="square" rtlCol="0">
            <a:spAutoFit/>
          </a:bodyPr>
          <a:lstStyle/>
          <a:p>
            <a:pPr algn="ctr"/>
            <a:r>
              <a:rPr lang="en-US" sz="3600" dirty="0">
                <a:solidFill>
                  <a:srgbClr val="0070C0"/>
                </a:solidFill>
                <a:latin typeface="Arial" panose="020B0604020202020204" pitchFamily="34" charset="0"/>
                <a:cs typeface="Arial" panose="020B0604020202020204" pitchFamily="34" charset="0"/>
              </a:rPr>
              <a:t>Perirhinal cortex</a:t>
            </a:r>
          </a:p>
        </p:txBody>
      </p:sp>
      <p:sp>
        <p:nvSpPr>
          <p:cNvPr id="34" name="TextBox 33">
            <a:extLst>
              <a:ext uri="{FF2B5EF4-FFF2-40B4-BE49-F238E27FC236}">
                <a16:creationId xmlns:a16="http://schemas.microsoft.com/office/drawing/2014/main" id="{B916BB85-F1D3-4D29-C995-67784A22F55E}"/>
              </a:ext>
            </a:extLst>
          </p:cNvPr>
          <p:cNvSpPr txBox="1"/>
          <p:nvPr/>
        </p:nvSpPr>
        <p:spPr>
          <a:xfrm>
            <a:off x="8301625" y="3183967"/>
            <a:ext cx="2690160" cy="584775"/>
          </a:xfrm>
          <a:prstGeom prst="rect">
            <a:avLst/>
          </a:prstGeom>
          <a:noFill/>
        </p:spPr>
        <p:txBody>
          <a:bodyPr wrap="square" rtlCol="0">
            <a:spAutoFit/>
          </a:bodyPr>
          <a:lstStyle/>
          <a:p>
            <a:r>
              <a:rPr lang="en-US" sz="3200" dirty="0">
                <a:solidFill>
                  <a:srgbClr val="00B050"/>
                </a:solidFill>
                <a:latin typeface="Arial" panose="020B0604020202020204" pitchFamily="34" charset="0"/>
                <a:cs typeface="Arial" panose="020B0604020202020204" pitchFamily="34" charset="0"/>
              </a:rPr>
              <a:t>Hippocampus</a:t>
            </a:r>
          </a:p>
        </p:txBody>
      </p:sp>
      <p:cxnSp>
        <p:nvCxnSpPr>
          <p:cNvPr id="42" name="Straight Connector 41">
            <a:extLst>
              <a:ext uri="{FF2B5EF4-FFF2-40B4-BE49-F238E27FC236}">
                <a16:creationId xmlns:a16="http://schemas.microsoft.com/office/drawing/2014/main" id="{20472716-4877-311F-DF17-E4D78E05DAD3}"/>
              </a:ext>
            </a:extLst>
          </p:cNvPr>
          <p:cNvCxnSpPr>
            <a:cxnSpLocks/>
            <a:stCxn id="11" idx="7"/>
            <a:endCxn id="5" idx="3"/>
          </p:cNvCxnSpPr>
          <p:nvPr/>
        </p:nvCxnSpPr>
        <p:spPr>
          <a:xfrm flipV="1">
            <a:off x="6209302" y="3354080"/>
            <a:ext cx="1190528" cy="118358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555A25E-18BC-C472-EFFE-2E6103764E39}"/>
              </a:ext>
            </a:extLst>
          </p:cNvPr>
          <p:cNvCxnSpPr>
            <a:cxnSpLocks/>
            <a:stCxn id="29" idx="3"/>
          </p:cNvCxnSpPr>
          <p:nvPr/>
        </p:nvCxnSpPr>
        <p:spPr>
          <a:xfrm>
            <a:off x="4969697" y="2561919"/>
            <a:ext cx="2080805" cy="437641"/>
          </a:xfrm>
          <a:prstGeom prst="line">
            <a:avLst/>
          </a:prstGeom>
          <a:ln w="38100">
            <a:solidFill>
              <a:srgbClr val="FF0000"/>
            </a:solidFill>
            <a:tailEnd type="oval" w="lg"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0D34A351-BA3E-13C1-E292-409148D9D871}"/>
              </a:ext>
            </a:extLst>
          </p:cNvPr>
          <p:cNvSpPr txBox="1"/>
          <p:nvPr/>
        </p:nvSpPr>
        <p:spPr>
          <a:xfrm>
            <a:off x="5114913" y="971191"/>
            <a:ext cx="4029087" cy="1477328"/>
          </a:xfrm>
          <a:prstGeom prst="rect">
            <a:avLst/>
          </a:prstGeom>
          <a:noFill/>
        </p:spPr>
        <p:txBody>
          <a:bodyPr wrap="square" rtlCol="0">
            <a:spAutoFit/>
          </a:bodyPr>
          <a:lstStyle/>
          <a:p>
            <a:r>
              <a:rPr lang="en-US" dirty="0">
                <a:solidFill>
                  <a:srgbClr val="FF0000"/>
                </a:solidFill>
                <a:latin typeface="Arial" panose="020B0604020202020204" pitchFamily="34" charset="0"/>
                <a:cs typeface="Arial" panose="020B0604020202020204" pitchFamily="34" charset="0"/>
              </a:rPr>
              <a:t>Relations encoded within the </a:t>
            </a:r>
            <a:r>
              <a:rPr lang="en-US" dirty="0" err="1">
                <a:solidFill>
                  <a:srgbClr val="FF0000"/>
                </a:solidFill>
                <a:latin typeface="Arial" panose="020B0604020202020204" pitchFamily="34" charset="0"/>
                <a:cs typeface="Arial" panose="020B0604020202020204" pitchFamily="34" charset="0"/>
              </a:rPr>
              <a:t>mPFC</a:t>
            </a:r>
            <a:r>
              <a:rPr lang="en-US" dirty="0">
                <a:solidFill>
                  <a:srgbClr val="FF0000"/>
                </a:solidFill>
                <a:latin typeface="Arial" panose="020B0604020202020204" pitchFamily="34" charset="0"/>
                <a:cs typeface="Arial" panose="020B0604020202020204" pitchFamily="34" charset="0"/>
              </a:rPr>
              <a:t> likely have a meaningful structure. </a:t>
            </a:r>
          </a:p>
          <a:p>
            <a:r>
              <a:rPr lang="en-US" dirty="0">
                <a:solidFill>
                  <a:srgbClr val="FF0000"/>
                </a:solidFill>
                <a:latin typeface="Arial" panose="020B0604020202020204" pitchFamily="34" charset="0"/>
                <a:cs typeface="Arial" panose="020B0604020202020204" pitchFamily="34" charset="0"/>
              </a:rPr>
              <a:t>If our task reactivates these relations, then they can likely be investigated with RSA</a:t>
            </a:r>
          </a:p>
        </p:txBody>
      </p:sp>
      <p:sp>
        <p:nvSpPr>
          <p:cNvPr id="49" name="TextBox 48">
            <a:extLst>
              <a:ext uri="{FF2B5EF4-FFF2-40B4-BE49-F238E27FC236}">
                <a16:creationId xmlns:a16="http://schemas.microsoft.com/office/drawing/2014/main" id="{D9E37001-751F-F66C-5607-B2F10587A822}"/>
              </a:ext>
            </a:extLst>
          </p:cNvPr>
          <p:cNvSpPr txBox="1"/>
          <p:nvPr/>
        </p:nvSpPr>
        <p:spPr>
          <a:xfrm>
            <a:off x="6894988" y="4321293"/>
            <a:ext cx="4022606" cy="1938992"/>
          </a:xfrm>
          <a:prstGeom prst="rect">
            <a:avLst/>
          </a:prstGeom>
          <a:noFill/>
        </p:spPr>
        <p:txBody>
          <a:bodyPr wrap="square" rtlCol="0">
            <a:spAutoFit/>
          </a:bodyPr>
          <a:lstStyle/>
          <a:p>
            <a:r>
              <a:rPr lang="en-US" sz="2400" dirty="0">
                <a:solidFill>
                  <a:srgbClr val="0070C0"/>
                </a:solidFill>
                <a:latin typeface="Arial" panose="020B0604020202020204" pitchFamily="34" charset="0"/>
                <a:cs typeface="Arial" panose="020B0604020202020204" pitchFamily="34" charset="0"/>
              </a:rPr>
              <a:t>However, it’s less clear whether the meaningful structure also arises in these new hippocampal relations</a:t>
            </a:r>
          </a:p>
        </p:txBody>
      </p:sp>
      <p:sp>
        <p:nvSpPr>
          <p:cNvPr id="50" name="TextBox 49">
            <a:extLst>
              <a:ext uri="{FF2B5EF4-FFF2-40B4-BE49-F238E27FC236}">
                <a16:creationId xmlns:a16="http://schemas.microsoft.com/office/drawing/2014/main" id="{9F4D68F1-F49F-56BC-716F-7B7FF2FA7155}"/>
              </a:ext>
            </a:extLst>
          </p:cNvPr>
          <p:cNvSpPr txBox="1"/>
          <p:nvPr/>
        </p:nvSpPr>
        <p:spPr>
          <a:xfrm>
            <a:off x="2211068" y="1490953"/>
            <a:ext cx="1261884"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(schemas)</a:t>
            </a:r>
          </a:p>
        </p:txBody>
      </p:sp>
      <p:cxnSp>
        <p:nvCxnSpPr>
          <p:cNvPr id="52" name="Straight Arrow Connector 51">
            <a:extLst>
              <a:ext uri="{FF2B5EF4-FFF2-40B4-BE49-F238E27FC236}">
                <a16:creationId xmlns:a16="http://schemas.microsoft.com/office/drawing/2014/main" id="{52E27923-CC05-240B-57CC-2A5F6097716D}"/>
              </a:ext>
            </a:extLst>
          </p:cNvPr>
          <p:cNvCxnSpPr/>
          <p:nvPr/>
        </p:nvCxnSpPr>
        <p:spPr>
          <a:xfrm>
            <a:off x="997661" y="3941687"/>
            <a:ext cx="974014" cy="1273251"/>
          </a:xfrm>
          <a:prstGeom prst="straightConnector1">
            <a:avLst/>
          </a:prstGeom>
          <a:ln w="76200">
            <a:solidFill>
              <a:srgbClr val="FDA631"/>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FBAB6B83-1AFE-D999-601E-D35FE1D5E112}"/>
              </a:ext>
            </a:extLst>
          </p:cNvPr>
          <p:cNvSpPr txBox="1"/>
          <p:nvPr/>
        </p:nvSpPr>
        <p:spPr>
          <a:xfrm>
            <a:off x="182714" y="5264114"/>
            <a:ext cx="2251760" cy="1200329"/>
          </a:xfrm>
          <a:prstGeom prst="rect">
            <a:avLst/>
          </a:prstGeom>
          <a:noFill/>
        </p:spPr>
        <p:txBody>
          <a:bodyPr wrap="square" rtlCol="0">
            <a:spAutoFit/>
          </a:bodyPr>
          <a:lstStyle/>
          <a:p>
            <a:r>
              <a:rPr lang="en-US" dirty="0">
                <a:solidFill>
                  <a:srgbClr val="FDA631"/>
                </a:solidFill>
              </a:rPr>
              <a:t>Assumption that the </a:t>
            </a:r>
            <a:r>
              <a:rPr lang="en-US" dirty="0" err="1">
                <a:solidFill>
                  <a:srgbClr val="FDA631"/>
                </a:solidFill>
              </a:rPr>
              <a:t>mPFC</a:t>
            </a:r>
            <a:r>
              <a:rPr lang="en-US" dirty="0">
                <a:solidFill>
                  <a:srgbClr val="FDA631"/>
                </a:solidFill>
              </a:rPr>
              <a:t> structure bears relevance to the perirhinal structure</a:t>
            </a:r>
          </a:p>
        </p:txBody>
      </p:sp>
    </p:spTree>
    <p:extLst>
      <p:ext uri="{BB962C8B-B14F-4D97-AF65-F5344CB8AC3E}">
        <p14:creationId xmlns:p14="http://schemas.microsoft.com/office/powerpoint/2010/main" val="2880051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AFF94-F7FC-1CA7-C4BB-83EA56782F85}"/>
              </a:ext>
            </a:extLst>
          </p:cNvPr>
          <p:cNvSpPr>
            <a:spLocks noGrp="1"/>
          </p:cNvSpPr>
          <p:nvPr>
            <p:ph type="title"/>
          </p:nvPr>
        </p:nvSpPr>
        <p:spPr/>
        <p:txBody>
          <a:bodyPr/>
          <a:lstStyle/>
          <a:p>
            <a:r>
              <a:rPr lang="en-US" dirty="0"/>
              <a:t>Three types of relational memory tasks</a:t>
            </a:r>
          </a:p>
        </p:txBody>
      </p:sp>
      <p:sp>
        <p:nvSpPr>
          <p:cNvPr id="3" name="Content Placeholder 2">
            <a:extLst>
              <a:ext uri="{FF2B5EF4-FFF2-40B4-BE49-F238E27FC236}">
                <a16:creationId xmlns:a16="http://schemas.microsoft.com/office/drawing/2014/main" id="{01762B4F-B45C-72E1-C186-C4A151464FB3}"/>
              </a:ext>
            </a:extLst>
          </p:cNvPr>
          <p:cNvSpPr>
            <a:spLocks noGrp="1"/>
          </p:cNvSpPr>
          <p:nvPr>
            <p:ph idx="1"/>
          </p:nvPr>
        </p:nvSpPr>
        <p:spPr>
          <a:xfrm>
            <a:off x="838200" y="1690688"/>
            <a:ext cx="10515600" cy="5032375"/>
          </a:xfrm>
        </p:spPr>
        <p:txBody>
          <a:bodyPr>
            <a:normAutofit/>
          </a:bodyPr>
          <a:lstStyle/>
          <a:p>
            <a:r>
              <a:rPr lang="en-US" dirty="0"/>
              <a:t>Novel items </a:t>
            </a:r>
          </a:p>
          <a:p>
            <a:pPr lvl="1"/>
            <a:r>
              <a:rPr lang="en-US" dirty="0"/>
              <a:t>Pair fractal 1 &amp; fractal 2</a:t>
            </a:r>
          </a:p>
          <a:p>
            <a:pPr lvl="1"/>
            <a:r>
              <a:rPr lang="en-US" dirty="0"/>
              <a:t>Relations must also be novel</a:t>
            </a:r>
          </a:p>
          <a:p>
            <a:r>
              <a:rPr lang="en-US" dirty="0"/>
              <a:t>Known items + novel relations</a:t>
            </a:r>
          </a:p>
          <a:p>
            <a:pPr lvl="1"/>
            <a:r>
              <a:rPr lang="en-US" dirty="0"/>
              <a:t>Pair cow &amp; hat</a:t>
            </a:r>
          </a:p>
          <a:p>
            <a:pPr lvl="1"/>
            <a:r>
              <a:rPr lang="en-US" dirty="0"/>
              <a:t>Memory accuracy can be based on relations formed between item schemas </a:t>
            </a:r>
            <a:r>
              <a:rPr lang="en-US" i="1" dirty="0"/>
              <a:t>or </a:t>
            </a:r>
            <a:r>
              <a:rPr lang="en-US" dirty="0"/>
              <a:t>item instances</a:t>
            </a:r>
          </a:p>
          <a:p>
            <a:r>
              <a:rPr lang="en-US" dirty="0"/>
              <a:t>Known items + known relations</a:t>
            </a:r>
          </a:p>
          <a:p>
            <a:pPr lvl="1"/>
            <a:r>
              <a:rPr lang="en-US" dirty="0"/>
              <a:t>Pair cow &amp; steak</a:t>
            </a:r>
          </a:p>
          <a:p>
            <a:pPr lvl="1"/>
            <a:r>
              <a:rPr lang="en-US" dirty="0"/>
              <a:t>Memory accuracy must be based on relations formed between item instances</a:t>
            </a:r>
          </a:p>
          <a:p>
            <a:pPr lvl="1"/>
            <a:endParaRPr lang="en-US" dirty="0"/>
          </a:p>
          <a:p>
            <a:pPr lvl="1"/>
            <a:endParaRPr lang="en-US" dirty="0"/>
          </a:p>
          <a:p>
            <a:endParaRPr lang="en-US" dirty="0"/>
          </a:p>
        </p:txBody>
      </p:sp>
    </p:spTree>
    <p:extLst>
      <p:ext uri="{BB962C8B-B14F-4D97-AF65-F5344CB8AC3E}">
        <p14:creationId xmlns:p14="http://schemas.microsoft.com/office/powerpoint/2010/main" val="19489084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C7FAE-B40D-7729-878E-A5B6B4E10AFF}"/>
              </a:ext>
            </a:extLst>
          </p:cNvPr>
          <p:cNvSpPr>
            <a:spLocks noGrp="1"/>
          </p:cNvSpPr>
          <p:nvPr>
            <p:ph type="title"/>
          </p:nvPr>
        </p:nvSpPr>
        <p:spPr>
          <a:xfrm>
            <a:off x="3357562" y="70567"/>
            <a:ext cx="8281987" cy="1325563"/>
          </a:xfrm>
        </p:spPr>
        <p:txBody>
          <a:bodyPr/>
          <a:lstStyle/>
          <a:p>
            <a:r>
              <a:rPr lang="en-US" dirty="0"/>
              <a:t>Encoding task</a:t>
            </a:r>
          </a:p>
        </p:txBody>
      </p:sp>
      <p:sp>
        <p:nvSpPr>
          <p:cNvPr id="12" name="Rectangle 11">
            <a:extLst>
              <a:ext uri="{FF2B5EF4-FFF2-40B4-BE49-F238E27FC236}">
                <a16:creationId xmlns:a16="http://schemas.microsoft.com/office/drawing/2014/main" id="{67EF658F-E736-E9D1-141D-6ABB82CAEE4C}"/>
              </a:ext>
            </a:extLst>
          </p:cNvPr>
          <p:cNvSpPr/>
          <p:nvPr/>
        </p:nvSpPr>
        <p:spPr>
          <a:xfrm>
            <a:off x="1643395" y="1146657"/>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8DFAF88-E656-82EF-A799-16593E7D3A1C}"/>
              </a:ext>
            </a:extLst>
          </p:cNvPr>
          <p:cNvPicPr>
            <a:picLocks noChangeAspect="1"/>
          </p:cNvPicPr>
          <p:nvPr/>
        </p:nvPicPr>
        <p:blipFill>
          <a:blip r:embed="rId3"/>
          <a:stretch>
            <a:fillRect/>
          </a:stretch>
        </p:blipFill>
        <p:spPr>
          <a:xfrm>
            <a:off x="2472946" y="2007144"/>
            <a:ext cx="1041779" cy="930151"/>
          </a:xfrm>
          <a:prstGeom prst="rect">
            <a:avLst/>
          </a:prstGeom>
        </p:spPr>
      </p:pic>
      <p:sp>
        <p:nvSpPr>
          <p:cNvPr id="13" name="Rectangle 12">
            <a:extLst>
              <a:ext uri="{FF2B5EF4-FFF2-40B4-BE49-F238E27FC236}">
                <a16:creationId xmlns:a16="http://schemas.microsoft.com/office/drawing/2014/main" id="{963866F1-8BBE-56A6-BD07-BB840911B0C3}"/>
              </a:ext>
            </a:extLst>
          </p:cNvPr>
          <p:cNvSpPr/>
          <p:nvPr/>
        </p:nvSpPr>
        <p:spPr>
          <a:xfrm>
            <a:off x="3638217" y="2120372"/>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0CD278E-A689-9EFA-17E2-F7F2E2D7B211}"/>
              </a:ext>
            </a:extLst>
          </p:cNvPr>
          <p:cNvSpPr>
            <a:spLocks noGrp="1"/>
          </p:cNvSpPr>
          <p:nvPr>
            <p:ph idx="1"/>
          </p:nvPr>
        </p:nvSpPr>
        <p:spPr>
          <a:xfrm>
            <a:off x="4671658" y="3095678"/>
            <a:ext cx="553614" cy="622093"/>
          </a:xfrm>
        </p:spPr>
        <p:txBody>
          <a:bodyPr>
            <a:normAutofit lnSpcReduction="10000"/>
          </a:bodyPr>
          <a:lstStyle/>
          <a:p>
            <a:pPr marL="0" indent="0">
              <a:buNone/>
            </a:pPr>
            <a:r>
              <a:rPr lang="en-US" sz="4000" dirty="0"/>
              <a:t>+</a:t>
            </a:r>
            <a:endParaRPr lang="en-US" dirty="0"/>
          </a:p>
        </p:txBody>
      </p:sp>
      <p:sp>
        <p:nvSpPr>
          <p:cNvPr id="14" name="Rectangle 13">
            <a:extLst>
              <a:ext uri="{FF2B5EF4-FFF2-40B4-BE49-F238E27FC236}">
                <a16:creationId xmlns:a16="http://schemas.microsoft.com/office/drawing/2014/main" id="{EF334CC4-1382-4623-262E-A56C1FA676CD}"/>
              </a:ext>
            </a:extLst>
          </p:cNvPr>
          <p:cNvSpPr/>
          <p:nvPr/>
        </p:nvSpPr>
        <p:spPr>
          <a:xfrm>
            <a:off x="5509547" y="2937295"/>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4" descr="Premium Photo | Roasted beef steaks isolated on white background">
            <a:extLst>
              <a:ext uri="{FF2B5EF4-FFF2-40B4-BE49-F238E27FC236}">
                <a16:creationId xmlns:a16="http://schemas.microsoft.com/office/drawing/2014/main" id="{EBB29267-CEF1-0867-B1B7-1F966292E0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453" t="3792" r="18923" b="6739"/>
          <a:stretch/>
        </p:blipFill>
        <p:spPr bwMode="auto">
          <a:xfrm>
            <a:off x="5569906" y="3763912"/>
            <a:ext cx="828038" cy="841793"/>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084F3FFF-2003-5CB1-B3AA-033BAB9FC717}"/>
              </a:ext>
            </a:extLst>
          </p:cNvPr>
          <p:cNvSpPr/>
          <p:nvPr/>
        </p:nvSpPr>
        <p:spPr>
          <a:xfrm>
            <a:off x="7651432" y="3992535"/>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2">
            <a:extLst>
              <a:ext uri="{FF2B5EF4-FFF2-40B4-BE49-F238E27FC236}">
                <a16:creationId xmlns:a16="http://schemas.microsoft.com/office/drawing/2014/main" id="{53E8C5C0-6DBC-A182-2D6B-76C1DB6852A2}"/>
              </a:ext>
            </a:extLst>
          </p:cNvPr>
          <p:cNvSpPr txBox="1">
            <a:spLocks/>
          </p:cNvSpPr>
          <p:nvPr/>
        </p:nvSpPr>
        <p:spPr>
          <a:xfrm>
            <a:off x="8115756" y="5018691"/>
            <a:ext cx="1878642" cy="6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Response</a:t>
            </a:r>
          </a:p>
        </p:txBody>
      </p:sp>
      <p:sp>
        <p:nvSpPr>
          <p:cNvPr id="7" name="Content Placeholder 2">
            <a:extLst>
              <a:ext uri="{FF2B5EF4-FFF2-40B4-BE49-F238E27FC236}">
                <a16:creationId xmlns:a16="http://schemas.microsoft.com/office/drawing/2014/main" id="{ED8C7DA4-0BCB-E93B-B2CE-C4815DD2F45A}"/>
              </a:ext>
            </a:extLst>
          </p:cNvPr>
          <p:cNvSpPr txBox="1">
            <a:spLocks/>
          </p:cNvSpPr>
          <p:nvPr/>
        </p:nvSpPr>
        <p:spPr>
          <a:xfrm>
            <a:off x="4466190" y="1396130"/>
            <a:ext cx="7299131" cy="5418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Some pairs are related, some are unrelated</a:t>
            </a:r>
          </a:p>
        </p:txBody>
      </p:sp>
      <p:sp>
        <p:nvSpPr>
          <p:cNvPr id="8" name="Oval 7">
            <a:extLst>
              <a:ext uri="{FF2B5EF4-FFF2-40B4-BE49-F238E27FC236}">
                <a16:creationId xmlns:a16="http://schemas.microsoft.com/office/drawing/2014/main" id="{2D4C88E0-0318-9C18-3A05-87D83277E5D5}"/>
              </a:ext>
            </a:extLst>
          </p:cNvPr>
          <p:cNvSpPr/>
          <p:nvPr/>
        </p:nvSpPr>
        <p:spPr>
          <a:xfrm>
            <a:off x="5455032" y="3691647"/>
            <a:ext cx="1038529" cy="1038529"/>
          </a:xfrm>
          <a:prstGeom prst="ellipse">
            <a:avLst/>
          </a:prstGeom>
          <a:noFill/>
          <a:ln w="76200">
            <a:solidFill>
              <a:srgbClr val="FF7C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18ABD16-CD6B-9F8F-6D6E-809DCF787A21}"/>
              </a:ext>
            </a:extLst>
          </p:cNvPr>
          <p:cNvSpPr/>
          <p:nvPr/>
        </p:nvSpPr>
        <p:spPr>
          <a:xfrm>
            <a:off x="2402229" y="1842948"/>
            <a:ext cx="1112496" cy="1112496"/>
          </a:xfrm>
          <a:prstGeom prst="ellipse">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E06259B9-CC29-D522-2DA3-D9645E8DF329}"/>
              </a:ext>
            </a:extLst>
          </p:cNvPr>
          <p:cNvSpPr txBox="1">
            <a:spLocks/>
          </p:cNvSpPr>
          <p:nvPr/>
        </p:nvSpPr>
        <p:spPr>
          <a:xfrm>
            <a:off x="2017801" y="1220855"/>
            <a:ext cx="1112497" cy="6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7030A0"/>
                </a:solidFill>
              </a:rPr>
              <a:t>“Cue”</a:t>
            </a:r>
          </a:p>
        </p:txBody>
      </p:sp>
      <p:sp>
        <p:nvSpPr>
          <p:cNvPr id="17" name="Content Placeholder 2">
            <a:extLst>
              <a:ext uri="{FF2B5EF4-FFF2-40B4-BE49-F238E27FC236}">
                <a16:creationId xmlns:a16="http://schemas.microsoft.com/office/drawing/2014/main" id="{AE11192F-8D5A-AC1F-3799-E8CC8A89AD4E}"/>
              </a:ext>
            </a:extLst>
          </p:cNvPr>
          <p:cNvSpPr txBox="1">
            <a:spLocks/>
          </p:cNvSpPr>
          <p:nvPr/>
        </p:nvSpPr>
        <p:spPr>
          <a:xfrm>
            <a:off x="6188397" y="3359630"/>
            <a:ext cx="1430837" cy="6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FF7C80"/>
                </a:solidFill>
              </a:rPr>
              <a:t>“Target”</a:t>
            </a:r>
          </a:p>
        </p:txBody>
      </p:sp>
      <p:sp>
        <p:nvSpPr>
          <p:cNvPr id="18" name="Content Placeholder 2">
            <a:extLst>
              <a:ext uri="{FF2B5EF4-FFF2-40B4-BE49-F238E27FC236}">
                <a16:creationId xmlns:a16="http://schemas.microsoft.com/office/drawing/2014/main" id="{3D07BFE2-DE7F-6FD8-6974-6F53BB7DF597}"/>
              </a:ext>
            </a:extLst>
          </p:cNvPr>
          <p:cNvSpPr txBox="1">
            <a:spLocks/>
          </p:cNvSpPr>
          <p:nvPr/>
        </p:nvSpPr>
        <p:spPr>
          <a:xfrm>
            <a:off x="8277606" y="2191468"/>
            <a:ext cx="3635277" cy="134799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Each</a:t>
            </a:r>
            <a:r>
              <a:rPr lang="en-US" dirty="0">
                <a:solidFill>
                  <a:srgbClr val="7030A0"/>
                </a:solidFill>
              </a:rPr>
              <a:t> cue </a:t>
            </a:r>
            <a:r>
              <a:rPr lang="en-US" dirty="0"/>
              <a:t>appears once</a:t>
            </a:r>
          </a:p>
          <a:p>
            <a:pPr marL="0" indent="0">
              <a:buFont typeface="Arial" panose="020B0604020202020204" pitchFamily="34" charset="0"/>
              <a:buNone/>
            </a:pPr>
            <a:r>
              <a:rPr lang="en-US" dirty="0"/>
              <a:t>Each </a:t>
            </a:r>
            <a:r>
              <a:rPr lang="en-US" dirty="0">
                <a:solidFill>
                  <a:srgbClr val="FF7C80"/>
                </a:solidFill>
              </a:rPr>
              <a:t>target</a:t>
            </a:r>
            <a:r>
              <a:rPr lang="en-US" dirty="0"/>
              <a:t> is paired with three cues</a:t>
            </a:r>
          </a:p>
        </p:txBody>
      </p:sp>
      <p:sp>
        <p:nvSpPr>
          <p:cNvPr id="20" name="TextBox 19">
            <a:extLst>
              <a:ext uri="{FF2B5EF4-FFF2-40B4-BE49-F238E27FC236}">
                <a16:creationId xmlns:a16="http://schemas.microsoft.com/office/drawing/2014/main" id="{D0812B59-8AAA-992A-662C-435FAB5DC449}"/>
              </a:ext>
            </a:extLst>
          </p:cNvPr>
          <p:cNvSpPr txBox="1"/>
          <p:nvPr/>
        </p:nvSpPr>
        <p:spPr>
          <a:xfrm>
            <a:off x="435044" y="4811828"/>
            <a:ext cx="4656151" cy="2031325"/>
          </a:xfrm>
          <a:prstGeom prst="rect">
            <a:avLst/>
          </a:prstGeom>
          <a:noFill/>
        </p:spPr>
        <p:txBody>
          <a:bodyPr wrap="square" rtlCol="0">
            <a:spAutoFit/>
          </a:bodyPr>
          <a:lstStyle/>
          <a:p>
            <a:r>
              <a:rPr lang="en-US" dirty="0"/>
              <a:t>Target position may vary (e.g., left/right). This creates another dimension (spatial relation) that can be tested. </a:t>
            </a:r>
          </a:p>
          <a:p>
            <a:r>
              <a:rPr lang="en-US" dirty="0"/>
              <a:t>Because targets appear multiple times, then the target’s position relative to the cue image must be a relation and “position” can’t just be encoded as a feature of the item</a:t>
            </a:r>
          </a:p>
        </p:txBody>
      </p:sp>
      <p:sp>
        <p:nvSpPr>
          <p:cNvPr id="4" name="TextBox 3">
            <a:extLst>
              <a:ext uri="{FF2B5EF4-FFF2-40B4-BE49-F238E27FC236}">
                <a16:creationId xmlns:a16="http://schemas.microsoft.com/office/drawing/2014/main" id="{4A541466-D8CF-ECC6-FEE5-6D191FB3BD08}"/>
              </a:ext>
            </a:extLst>
          </p:cNvPr>
          <p:cNvSpPr txBox="1"/>
          <p:nvPr/>
        </p:nvSpPr>
        <p:spPr>
          <a:xfrm>
            <a:off x="10273515" y="4400596"/>
            <a:ext cx="1918485" cy="1754326"/>
          </a:xfrm>
          <a:prstGeom prst="rect">
            <a:avLst/>
          </a:prstGeom>
          <a:noFill/>
        </p:spPr>
        <p:txBody>
          <a:bodyPr wrap="square" rtlCol="0">
            <a:spAutoFit/>
          </a:bodyPr>
          <a:lstStyle/>
          <a:p>
            <a:r>
              <a:rPr lang="en-US" dirty="0"/>
              <a:t>Presenting on different screens deters unitization, but does this make the task too hard for OAs?</a:t>
            </a:r>
          </a:p>
        </p:txBody>
      </p:sp>
    </p:spTree>
    <p:extLst>
      <p:ext uri="{BB962C8B-B14F-4D97-AF65-F5344CB8AC3E}">
        <p14:creationId xmlns:p14="http://schemas.microsoft.com/office/powerpoint/2010/main" val="2144163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C7FAE-B40D-7729-878E-A5B6B4E10AFF}"/>
              </a:ext>
            </a:extLst>
          </p:cNvPr>
          <p:cNvSpPr>
            <a:spLocks noGrp="1"/>
          </p:cNvSpPr>
          <p:nvPr>
            <p:ph type="title"/>
          </p:nvPr>
        </p:nvSpPr>
        <p:spPr>
          <a:xfrm>
            <a:off x="5745690" y="-192669"/>
            <a:ext cx="6759931" cy="1325563"/>
          </a:xfrm>
        </p:spPr>
        <p:txBody>
          <a:bodyPr/>
          <a:lstStyle/>
          <a:p>
            <a:r>
              <a:rPr lang="en-US" dirty="0"/>
              <a:t>Retrieval task</a:t>
            </a:r>
          </a:p>
        </p:txBody>
      </p:sp>
      <p:sp>
        <p:nvSpPr>
          <p:cNvPr id="12" name="Rectangle 11">
            <a:extLst>
              <a:ext uri="{FF2B5EF4-FFF2-40B4-BE49-F238E27FC236}">
                <a16:creationId xmlns:a16="http://schemas.microsoft.com/office/drawing/2014/main" id="{67EF658F-E736-E9D1-141D-6ABB82CAEE4C}"/>
              </a:ext>
            </a:extLst>
          </p:cNvPr>
          <p:cNvSpPr/>
          <p:nvPr/>
        </p:nvSpPr>
        <p:spPr>
          <a:xfrm>
            <a:off x="2005347" y="588668"/>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8DFAF88-E656-82EF-A799-16593E7D3A1C}"/>
              </a:ext>
            </a:extLst>
          </p:cNvPr>
          <p:cNvPicPr>
            <a:picLocks noChangeAspect="1"/>
          </p:cNvPicPr>
          <p:nvPr/>
        </p:nvPicPr>
        <p:blipFill>
          <a:blip r:embed="rId3"/>
          <a:stretch>
            <a:fillRect/>
          </a:stretch>
        </p:blipFill>
        <p:spPr>
          <a:xfrm>
            <a:off x="2711328" y="1449155"/>
            <a:ext cx="1041779" cy="930151"/>
          </a:xfrm>
          <a:prstGeom prst="rect">
            <a:avLst/>
          </a:prstGeom>
        </p:spPr>
      </p:pic>
      <p:sp>
        <p:nvSpPr>
          <p:cNvPr id="19" name="Content Placeholder 2">
            <a:extLst>
              <a:ext uri="{FF2B5EF4-FFF2-40B4-BE49-F238E27FC236}">
                <a16:creationId xmlns:a16="http://schemas.microsoft.com/office/drawing/2014/main" id="{142ABEF4-72E3-2178-448B-BEFF47558F62}"/>
              </a:ext>
            </a:extLst>
          </p:cNvPr>
          <p:cNvSpPr txBox="1">
            <a:spLocks/>
          </p:cNvSpPr>
          <p:nvPr/>
        </p:nvSpPr>
        <p:spPr>
          <a:xfrm>
            <a:off x="281790" y="3820240"/>
            <a:ext cx="6101716" cy="339211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Must avoid participants simply using logic to answer the pair without memory </a:t>
            </a:r>
          </a:p>
          <a:p>
            <a:pPr lvl="1"/>
            <a:r>
              <a:rPr lang="en-US" dirty="0"/>
              <a:t>If participants were previously cued with a </a:t>
            </a:r>
            <a:r>
              <a:rPr lang="en-US" i="1" dirty="0"/>
              <a:t>chicken</a:t>
            </a:r>
            <a:r>
              <a:rPr lang="en-US" dirty="0"/>
              <a:t> and retrieved </a:t>
            </a:r>
            <a:r>
              <a:rPr lang="en-US" i="1" dirty="0"/>
              <a:t>drumstick</a:t>
            </a:r>
            <a:r>
              <a:rPr lang="en-US" dirty="0"/>
              <a:t>, when they are cued with a </a:t>
            </a:r>
            <a:r>
              <a:rPr lang="en-US" i="1" dirty="0"/>
              <a:t>cow</a:t>
            </a:r>
            <a:r>
              <a:rPr lang="en-US" dirty="0"/>
              <a:t>, we want to avoid them reasoning that the pair must be </a:t>
            </a:r>
            <a:r>
              <a:rPr lang="en-US" i="1" dirty="0"/>
              <a:t>steak </a:t>
            </a:r>
            <a:r>
              <a:rPr lang="en-US" dirty="0"/>
              <a:t>(especially if participants know steak was shown at one point during encoding but don’t have memory for its pair)</a:t>
            </a:r>
          </a:p>
          <a:p>
            <a:r>
              <a:rPr lang="en-US" dirty="0"/>
              <a:t>To do this, the encoding task is designed such that the full set of target images includes three options that are related to each cue</a:t>
            </a:r>
          </a:p>
          <a:p>
            <a:pPr lvl="1"/>
            <a:r>
              <a:rPr lang="en-US" dirty="0"/>
              <a:t>E.g., the targets included a barn and a milk container, which can serve as foils in the retrieval test</a:t>
            </a:r>
          </a:p>
        </p:txBody>
      </p:sp>
      <p:sp>
        <p:nvSpPr>
          <p:cNvPr id="20" name="Oval 19">
            <a:extLst>
              <a:ext uri="{FF2B5EF4-FFF2-40B4-BE49-F238E27FC236}">
                <a16:creationId xmlns:a16="http://schemas.microsoft.com/office/drawing/2014/main" id="{BF508DD8-93B6-5DD8-A9E3-F4B09A65C66D}"/>
              </a:ext>
            </a:extLst>
          </p:cNvPr>
          <p:cNvSpPr/>
          <p:nvPr/>
        </p:nvSpPr>
        <p:spPr>
          <a:xfrm>
            <a:off x="2425986" y="1151120"/>
            <a:ext cx="1450613" cy="1450613"/>
          </a:xfrm>
          <a:prstGeom prst="ellipse">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DDD6C80-1D0C-88C2-7BD9-270EF726A0D7}"/>
              </a:ext>
            </a:extLst>
          </p:cNvPr>
          <p:cNvSpPr txBox="1"/>
          <p:nvPr/>
        </p:nvSpPr>
        <p:spPr>
          <a:xfrm>
            <a:off x="2126958" y="618690"/>
            <a:ext cx="845103" cy="523220"/>
          </a:xfrm>
          <a:prstGeom prst="rect">
            <a:avLst/>
          </a:prstGeom>
          <a:noFill/>
        </p:spPr>
        <p:txBody>
          <a:bodyPr wrap="none" rtlCol="0">
            <a:spAutoFit/>
          </a:bodyPr>
          <a:lstStyle/>
          <a:p>
            <a:r>
              <a:rPr lang="en-US" sz="2800" dirty="0">
                <a:solidFill>
                  <a:srgbClr val="7030A0"/>
                </a:solidFill>
                <a:latin typeface="Arial" panose="020B0604020202020204" pitchFamily="34" charset="0"/>
                <a:cs typeface="Arial" panose="020B0604020202020204" pitchFamily="34" charset="0"/>
              </a:rPr>
              <a:t>Cue</a:t>
            </a:r>
          </a:p>
        </p:txBody>
      </p:sp>
      <p:sp>
        <p:nvSpPr>
          <p:cNvPr id="14" name="Rectangle 13">
            <a:extLst>
              <a:ext uri="{FF2B5EF4-FFF2-40B4-BE49-F238E27FC236}">
                <a16:creationId xmlns:a16="http://schemas.microsoft.com/office/drawing/2014/main" id="{EF334CC4-1382-4623-262E-A56C1FA676CD}"/>
              </a:ext>
            </a:extLst>
          </p:cNvPr>
          <p:cNvSpPr/>
          <p:nvPr/>
        </p:nvSpPr>
        <p:spPr>
          <a:xfrm>
            <a:off x="3579588" y="872968"/>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2">
            <a:extLst>
              <a:ext uri="{FF2B5EF4-FFF2-40B4-BE49-F238E27FC236}">
                <a16:creationId xmlns:a16="http://schemas.microsoft.com/office/drawing/2014/main" id="{53E8C5C0-6DBC-A182-2D6B-76C1DB6852A2}"/>
              </a:ext>
            </a:extLst>
          </p:cNvPr>
          <p:cNvSpPr txBox="1">
            <a:spLocks/>
          </p:cNvSpPr>
          <p:nvPr/>
        </p:nvSpPr>
        <p:spPr>
          <a:xfrm>
            <a:off x="3766775" y="1362925"/>
            <a:ext cx="2246122" cy="4442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Is pair related?</a:t>
            </a:r>
          </a:p>
        </p:txBody>
      </p:sp>
      <p:sp>
        <p:nvSpPr>
          <p:cNvPr id="24" name="Content Placeholder 2">
            <a:extLst>
              <a:ext uri="{FF2B5EF4-FFF2-40B4-BE49-F238E27FC236}">
                <a16:creationId xmlns:a16="http://schemas.microsoft.com/office/drawing/2014/main" id="{9CABDC0A-AA5E-DD8A-1DAF-6EC84D2FF11F}"/>
              </a:ext>
            </a:extLst>
          </p:cNvPr>
          <p:cNvSpPr txBox="1">
            <a:spLocks/>
          </p:cNvSpPr>
          <p:nvPr/>
        </p:nvSpPr>
        <p:spPr>
          <a:xfrm>
            <a:off x="4201983" y="2024694"/>
            <a:ext cx="1433181" cy="6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Yes / No</a:t>
            </a:r>
          </a:p>
        </p:txBody>
      </p:sp>
      <p:sp>
        <p:nvSpPr>
          <p:cNvPr id="13" name="Rectangle 12">
            <a:extLst>
              <a:ext uri="{FF2B5EF4-FFF2-40B4-BE49-F238E27FC236}">
                <a16:creationId xmlns:a16="http://schemas.microsoft.com/office/drawing/2014/main" id="{963866F1-8BBE-56A6-BD07-BB840911B0C3}"/>
              </a:ext>
            </a:extLst>
          </p:cNvPr>
          <p:cNvSpPr/>
          <p:nvPr/>
        </p:nvSpPr>
        <p:spPr>
          <a:xfrm>
            <a:off x="5667923" y="1279454"/>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0CD278E-A689-9EFA-17E2-F7F2E2D7B211}"/>
              </a:ext>
            </a:extLst>
          </p:cNvPr>
          <p:cNvSpPr>
            <a:spLocks noGrp="1"/>
          </p:cNvSpPr>
          <p:nvPr>
            <p:ph idx="1"/>
          </p:nvPr>
        </p:nvSpPr>
        <p:spPr>
          <a:xfrm>
            <a:off x="5978121" y="1450530"/>
            <a:ext cx="2240112" cy="622093"/>
          </a:xfrm>
        </p:spPr>
        <p:txBody>
          <a:bodyPr>
            <a:normAutofit/>
          </a:bodyPr>
          <a:lstStyle/>
          <a:p>
            <a:pPr marL="0" indent="0">
              <a:buNone/>
            </a:pPr>
            <a:r>
              <a:rPr lang="en-US" dirty="0"/>
              <a:t>Select pair</a:t>
            </a:r>
          </a:p>
        </p:txBody>
      </p:sp>
      <p:pic>
        <p:nvPicPr>
          <p:cNvPr id="9" name="Picture 4" descr="Premium Photo | Roasted beef steaks isolated on white background">
            <a:extLst>
              <a:ext uri="{FF2B5EF4-FFF2-40B4-BE49-F238E27FC236}">
                <a16:creationId xmlns:a16="http://schemas.microsoft.com/office/drawing/2014/main" id="{EBB29267-CEF1-0867-B1B7-1F966292E0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453" t="3792" r="18923" b="6739"/>
          <a:stretch/>
        </p:blipFill>
        <p:spPr bwMode="auto">
          <a:xfrm>
            <a:off x="7318321" y="2268881"/>
            <a:ext cx="828038" cy="84179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3D rendering of a red wooden barn isolated on a white background. AI  Generated 23378910 Stock Photo at Vecteezy">
            <a:extLst>
              <a:ext uri="{FF2B5EF4-FFF2-40B4-BE49-F238E27FC236}">
                <a16:creationId xmlns:a16="http://schemas.microsoft.com/office/drawing/2014/main" id="{CBAE67AB-A3A9-958A-B63E-81A252AE2C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58442" y="2296888"/>
            <a:ext cx="1067466" cy="71164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2,053 White Milk Carton Stock Photos - Free &amp; Royalty-Free Stock Photos  from Dreamstime">
            <a:extLst>
              <a:ext uri="{FF2B5EF4-FFF2-40B4-BE49-F238E27FC236}">
                <a16:creationId xmlns:a16="http://schemas.microsoft.com/office/drawing/2014/main" id="{2990E7BB-0535-4068-5D6E-85141A6C246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 r="4998" b="11693"/>
          <a:stretch/>
        </p:blipFill>
        <p:spPr bwMode="auto">
          <a:xfrm>
            <a:off x="6701296" y="2177199"/>
            <a:ext cx="553750" cy="942629"/>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084F3FFF-2003-5CB1-B3AA-033BAB9FC717}"/>
              </a:ext>
            </a:extLst>
          </p:cNvPr>
          <p:cNvSpPr/>
          <p:nvPr/>
        </p:nvSpPr>
        <p:spPr>
          <a:xfrm>
            <a:off x="8011544" y="1517839"/>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ontent Placeholder 2">
            <a:extLst>
              <a:ext uri="{FF2B5EF4-FFF2-40B4-BE49-F238E27FC236}">
                <a16:creationId xmlns:a16="http://schemas.microsoft.com/office/drawing/2014/main" id="{1D8A5972-B8D6-F13E-9DD4-B05C5108135B}"/>
              </a:ext>
            </a:extLst>
          </p:cNvPr>
          <p:cNvSpPr txBox="1">
            <a:spLocks/>
          </p:cNvSpPr>
          <p:nvPr/>
        </p:nvSpPr>
        <p:spPr>
          <a:xfrm>
            <a:off x="8305403" y="1983446"/>
            <a:ext cx="2240112" cy="622093"/>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Pair position?</a:t>
            </a:r>
          </a:p>
        </p:txBody>
      </p:sp>
      <p:sp>
        <p:nvSpPr>
          <p:cNvPr id="26" name="Content Placeholder 2">
            <a:extLst>
              <a:ext uri="{FF2B5EF4-FFF2-40B4-BE49-F238E27FC236}">
                <a16:creationId xmlns:a16="http://schemas.microsoft.com/office/drawing/2014/main" id="{1CAA66EC-3572-FDEB-AEB6-29F48C8A0B4E}"/>
              </a:ext>
            </a:extLst>
          </p:cNvPr>
          <p:cNvSpPr txBox="1">
            <a:spLocks/>
          </p:cNvSpPr>
          <p:nvPr/>
        </p:nvSpPr>
        <p:spPr>
          <a:xfrm>
            <a:off x="8305403" y="2748223"/>
            <a:ext cx="2240112" cy="622093"/>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Left / right /</a:t>
            </a:r>
            <a:br>
              <a:rPr lang="en-US" dirty="0"/>
            </a:br>
            <a:r>
              <a:rPr lang="en-US" dirty="0"/>
              <a:t>above / below</a:t>
            </a:r>
          </a:p>
        </p:txBody>
      </p:sp>
      <p:sp>
        <p:nvSpPr>
          <p:cNvPr id="28" name="TextBox 27">
            <a:extLst>
              <a:ext uri="{FF2B5EF4-FFF2-40B4-BE49-F238E27FC236}">
                <a16:creationId xmlns:a16="http://schemas.microsoft.com/office/drawing/2014/main" id="{92B4FFC7-AC36-FB1B-35BB-B5DB8612657E}"/>
              </a:ext>
            </a:extLst>
          </p:cNvPr>
          <p:cNvSpPr txBox="1"/>
          <p:nvPr/>
        </p:nvSpPr>
        <p:spPr>
          <a:xfrm>
            <a:off x="5745690" y="3286576"/>
            <a:ext cx="2178802" cy="338554"/>
          </a:xfrm>
          <a:prstGeom prst="rect">
            <a:avLst/>
          </a:prstGeom>
          <a:noFill/>
        </p:spPr>
        <p:txBody>
          <a:bodyPr wrap="none" rtlCol="0">
            <a:spAutoFit/>
          </a:bodyPr>
          <a:lstStyle/>
          <a:p>
            <a:r>
              <a:rPr lang="en-US" sz="1600" dirty="0">
                <a:solidFill>
                  <a:srgbClr val="FF0000"/>
                </a:solidFill>
                <a:latin typeface="Arial" panose="020B0604020202020204" pitchFamily="34" charset="0"/>
                <a:cs typeface="Arial" panose="020B0604020202020204" pitchFamily="34" charset="0"/>
              </a:rPr>
              <a:t>Foils are related &amp; old</a:t>
            </a:r>
          </a:p>
        </p:txBody>
      </p:sp>
      <p:sp>
        <p:nvSpPr>
          <p:cNvPr id="29" name="TextBox 28">
            <a:extLst>
              <a:ext uri="{FF2B5EF4-FFF2-40B4-BE49-F238E27FC236}">
                <a16:creationId xmlns:a16="http://schemas.microsoft.com/office/drawing/2014/main" id="{2D35A2EE-671A-DE5A-B20F-1530B0EABD37}"/>
              </a:ext>
            </a:extLst>
          </p:cNvPr>
          <p:cNvSpPr txBox="1"/>
          <p:nvPr/>
        </p:nvSpPr>
        <p:spPr>
          <a:xfrm>
            <a:off x="6846071" y="4251376"/>
            <a:ext cx="4919908" cy="2554545"/>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Could also ask about temporal order between cue and target</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However, it is possible that participants encoded this information as a cue feature (i.e., encode “cow appeared first” rather than “cow appeared before steak”). </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This isn’t a problem for the spatial test because the cue is always centered, and the target position varied depending on which cue it was paired with</a:t>
            </a:r>
          </a:p>
        </p:txBody>
      </p:sp>
      <p:sp>
        <p:nvSpPr>
          <p:cNvPr id="8" name="Content Placeholder 2">
            <a:extLst>
              <a:ext uri="{FF2B5EF4-FFF2-40B4-BE49-F238E27FC236}">
                <a16:creationId xmlns:a16="http://schemas.microsoft.com/office/drawing/2014/main" id="{71AC6A2B-DA00-27A2-514C-EEA1ECE391ED}"/>
              </a:ext>
            </a:extLst>
          </p:cNvPr>
          <p:cNvSpPr txBox="1">
            <a:spLocks/>
          </p:cNvSpPr>
          <p:nvPr/>
        </p:nvSpPr>
        <p:spPr>
          <a:xfrm>
            <a:off x="2191634" y="2747660"/>
            <a:ext cx="1123961" cy="481302"/>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R/K/N or Old/New</a:t>
            </a:r>
          </a:p>
        </p:txBody>
      </p:sp>
    </p:spTree>
    <p:extLst>
      <p:ext uri="{BB962C8B-B14F-4D97-AF65-F5344CB8AC3E}">
        <p14:creationId xmlns:p14="http://schemas.microsoft.com/office/powerpoint/2010/main" val="3865044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0BEE-33FB-A5F4-29CF-4F559B33DD6E}"/>
              </a:ext>
            </a:extLst>
          </p:cNvPr>
          <p:cNvSpPr>
            <a:spLocks noGrp="1"/>
          </p:cNvSpPr>
          <p:nvPr>
            <p:ph type="title"/>
          </p:nvPr>
        </p:nvSpPr>
        <p:spPr/>
        <p:txBody>
          <a:bodyPr/>
          <a:lstStyle/>
          <a:p>
            <a:r>
              <a:rPr lang="en-US" dirty="0"/>
              <a:t>Extra test before the main retrieval task</a:t>
            </a:r>
          </a:p>
        </p:txBody>
      </p:sp>
      <p:sp>
        <p:nvSpPr>
          <p:cNvPr id="3" name="Content Placeholder 2">
            <a:extLst>
              <a:ext uri="{FF2B5EF4-FFF2-40B4-BE49-F238E27FC236}">
                <a16:creationId xmlns:a16="http://schemas.microsoft.com/office/drawing/2014/main" id="{F833893A-4A3F-4F96-D69B-7F4E43A86D59}"/>
              </a:ext>
            </a:extLst>
          </p:cNvPr>
          <p:cNvSpPr>
            <a:spLocks noGrp="1"/>
          </p:cNvSpPr>
          <p:nvPr>
            <p:ph idx="1"/>
          </p:nvPr>
        </p:nvSpPr>
        <p:spPr/>
        <p:txBody>
          <a:bodyPr/>
          <a:lstStyle/>
          <a:p>
            <a:r>
              <a:rPr lang="en-US" dirty="0"/>
              <a:t>Before the retrieval scanning, participants complete an Old/New test for the target images</a:t>
            </a:r>
          </a:p>
          <a:p>
            <a:pPr lvl="1"/>
            <a:r>
              <a:rPr lang="en-US" dirty="0"/>
              <a:t>Priming participants with these may improve performance on the relational memory test</a:t>
            </a:r>
          </a:p>
          <a:p>
            <a:pPr lvl="1"/>
            <a:r>
              <a:rPr lang="en-US" dirty="0"/>
              <a:t>Also, given that the targets will be shown three times during the retrieval test, there could be differences between the 1</a:t>
            </a:r>
            <a:r>
              <a:rPr lang="en-US" baseline="30000" dirty="0"/>
              <a:t>st </a:t>
            </a:r>
            <a:r>
              <a:rPr lang="en-US" dirty="0"/>
              <a:t>time they appear vs. 2</a:t>
            </a:r>
            <a:r>
              <a:rPr lang="en-US" baseline="30000" dirty="0"/>
              <a:t>nd</a:t>
            </a:r>
            <a:r>
              <a:rPr lang="en-US" dirty="0"/>
              <a:t>/3</a:t>
            </a:r>
            <a:r>
              <a:rPr lang="en-US" baseline="30000" dirty="0"/>
              <a:t>rd</a:t>
            </a:r>
            <a:r>
              <a:rPr lang="en-US" dirty="0"/>
              <a:t> times</a:t>
            </a:r>
          </a:p>
          <a:p>
            <a:pPr lvl="2"/>
            <a:r>
              <a:rPr lang="en-US" dirty="0"/>
              <a:t>Presenting the images in an Old/New test beforehand mitigates this issue</a:t>
            </a:r>
          </a:p>
        </p:txBody>
      </p:sp>
    </p:spTree>
    <p:extLst>
      <p:ext uri="{BB962C8B-B14F-4D97-AF65-F5344CB8AC3E}">
        <p14:creationId xmlns:p14="http://schemas.microsoft.com/office/powerpoint/2010/main" val="889627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AE450-34EF-2588-5246-1D8930F3D891}"/>
              </a:ext>
            </a:extLst>
          </p:cNvPr>
          <p:cNvSpPr>
            <a:spLocks noGrp="1"/>
          </p:cNvSpPr>
          <p:nvPr>
            <p:ph type="title"/>
          </p:nvPr>
        </p:nvSpPr>
        <p:spPr>
          <a:xfrm>
            <a:off x="838200" y="104775"/>
            <a:ext cx="10515600" cy="1325563"/>
          </a:xfrm>
        </p:spPr>
        <p:txBody>
          <a:bodyPr/>
          <a:lstStyle/>
          <a:p>
            <a:r>
              <a:rPr lang="en-US" dirty="0"/>
              <a:t>Multiple RDMs</a:t>
            </a:r>
          </a:p>
        </p:txBody>
      </p:sp>
      <p:sp>
        <p:nvSpPr>
          <p:cNvPr id="3" name="Content Placeholder 2">
            <a:extLst>
              <a:ext uri="{FF2B5EF4-FFF2-40B4-BE49-F238E27FC236}">
                <a16:creationId xmlns:a16="http://schemas.microsoft.com/office/drawing/2014/main" id="{3E873500-CBAE-3B91-4A3E-594122AA8853}"/>
              </a:ext>
            </a:extLst>
          </p:cNvPr>
          <p:cNvSpPr>
            <a:spLocks noGrp="1"/>
          </p:cNvSpPr>
          <p:nvPr>
            <p:ph idx="1"/>
          </p:nvPr>
        </p:nvSpPr>
        <p:spPr>
          <a:xfrm>
            <a:off x="787400" y="1501774"/>
            <a:ext cx="10667314" cy="4865108"/>
          </a:xfrm>
        </p:spPr>
        <p:txBody>
          <a:bodyPr>
            <a:normAutofit/>
          </a:bodyPr>
          <a:lstStyle/>
          <a:p>
            <a:r>
              <a:rPr lang="en-US" dirty="0"/>
              <a:t>Type of analogy hierarchy:</a:t>
            </a:r>
          </a:p>
          <a:p>
            <a:pPr lvl="1"/>
            <a:r>
              <a:rPr lang="en-US" dirty="0"/>
              <a:t>Functional</a:t>
            </a:r>
          </a:p>
          <a:p>
            <a:pPr lvl="1"/>
            <a:r>
              <a:rPr lang="en-US" dirty="0"/>
              <a:t>Characteristic</a:t>
            </a:r>
          </a:p>
          <a:p>
            <a:r>
              <a:rPr lang="en-US" dirty="0"/>
              <a:t>Position:</a:t>
            </a:r>
          </a:p>
          <a:p>
            <a:pPr lvl="1"/>
            <a:r>
              <a:rPr lang="en-US" dirty="0"/>
              <a:t>Whether the target appeared below/above/left/right?</a:t>
            </a:r>
          </a:p>
          <a:p>
            <a:r>
              <a:rPr lang="en-US" dirty="0"/>
              <a:t>Target identity</a:t>
            </a:r>
          </a:p>
          <a:p>
            <a:pPr lvl="1"/>
            <a:r>
              <a:rPr lang="en-US" dirty="0"/>
              <a:t>Target similarity (based on the fact each target is presented three times)</a:t>
            </a:r>
          </a:p>
          <a:p>
            <a:pPr lvl="1"/>
            <a:r>
              <a:rPr lang="en-US" dirty="0"/>
              <a:t>Target stimulus vector (perceptual/semantic)</a:t>
            </a:r>
          </a:p>
          <a:p>
            <a:r>
              <a:rPr lang="en-US" dirty="0"/>
              <a:t>Combination vectors </a:t>
            </a:r>
          </a:p>
          <a:p>
            <a:pPr lvl="1"/>
            <a:r>
              <a:rPr lang="en-US" dirty="0"/>
              <a:t>E.g., absolute difference between stimulus vectors</a:t>
            </a:r>
          </a:p>
          <a:p>
            <a:endParaRPr lang="en-US" dirty="0"/>
          </a:p>
        </p:txBody>
      </p:sp>
    </p:spTree>
    <p:extLst>
      <p:ext uri="{BB962C8B-B14F-4D97-AF65-F5344CB8AC3E}">
        <p14:creationId xmlns:p14="http://schemas.microsoft.com/office/powerpoint/2010/main" val="29016538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DD5B-DB25-21B3-97A8-8EDB16C7FE06}"/>
              </a:ext>
            </a:extLst>
          </p:cNvPr>
          <p:cNvSpPr>
            <a:spLocks noGrp="1"/>
          </p:cNvSpPr>
          <p:nvPr>
            <p:ph type="title"/>
          </p:nvPr>
        </p:nvSpPr>
        <p:spPr/>
        <p:txBody>
          <a:bodyPr/>
          <a:lstStyle/>
          <a:p>
            <a:r>
              <a:rPr lang="en-US" dirty="0"/>
              <a:t>Real-world relevance</a:t>
            </a:r>
          </a:p>
        </p:txBody>
      </p:sp>
      <p:sp>
        <p:nvSpPr>
          <p:cNvPr id="3" name="Content Placeholder 2">
            <a:extLst>
              <a:ext uri="{FF2B5EF4-FFF2-40B4-BE49-F238E27FC236}">
                <a16:creationId xmlns:a16="http://schemas.microsoft.com/office/drawing/2014/main" id="{3A034872-A0D7-461A-38E6-C6ADEDBFBE9E}"/>
              </a:ext>
            </a:extLst>
          </p:cNvPr>
          <p:cNvSpPr>
            <a:spLocks noGrp="1"/>
          </p:cNvSpPr>
          <p:nvPr>
            <p:ph idx="1"/>
          </p:nvPr>
        </p:nvSpPr>
        <p:spPr/>
        <p:txBody>
          <a:bodyPr/>
          <a:lstStyle/>
          <a:p>
            <a:r>
              <a:rPr lang="en-US" dirty="0"/>
              <a:t>Outside the laboratory, memory encoding has a practical purpose</a:t>
            </a:r>
          </a:p>
          <a:p>
            <a:pPr lvl="1"/>
            <a:r>
              <a:rPr lang="en-US" dirty="0"/>
              <a:t>We learn the relations between stimuli so that we can reason about them in the future</a:t>
            </a:r>
          </a:p>
          <a:p>
            <a:pPr lvl="1"/>
            <a:r>
              <a:rPr lang="en-US" dirty="0"/>
              <a:t>The present research gets at that</a:t>
            </a:r>
          </a:p>
        </p:txBody>
      </p:sp>
    </p:spTree>
    <p:extLst>
      <p:ext uri="{BB962C8B-B14F-4D97-AF65-F5344CB8AC3E}">
        <p14:creationId xmlns:p14="http://schemas.microsoft.com/office/powerpoint/2010/main" val="40590305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Task idea 2</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r>
              <a:rPr lang="en-US" dirty="0"/>
              <a:t>10/30/2023</a:t>
            </a:r>
          </a:p>
        </p:txBody>
      </p:sp>
    </p:spTree>
    <p:extLst>
      <p:ext uri="{BB962C8B-B14F-4D97-AF65-F5344CB8AC3E}">
        <p14:creationId xmlns:p14="http://schemas.microsoft.com/office/powerpoint/2010/main" val="17679052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7D259-8F40-1A31-E2DC-275CBD6C9B78}"/>
              </a:ext>
            </a:extLst>
          </p:cNvPr>
          <p:cNvSpPr>
            <a:spLocks noGrp="1"/>
          </p:cNvSpPr>
          <p:nvPr>
            <p:ph type="title"/>
          </p:nvPr>
        </p:nvSpPr>
        <p:spPr>
          <a:xfrm>
            <a:off x="838200" y="39580"/>
            <a:ext cx="10515600" cy="1325563"/>
          </a:xfrm>
        </p:spPr>
        <p:txBody>
          <a:bodyPr/>
          <a:lstStyle/>
          <a:p>
            <a:r>
              <a:rPr lang="en-US" dirty="0"/>
              <a:t>Reinforcement learning and states</a:t>
            </a:r>
          </a:p>
        </p:txBody>
      </p:sp>
      <p:sp>
        <p:nvSpPr>
          <p:cNvPr id="3" name="Content Placeholder 2">
            <a:extLst>
              <a:ext uri="{FF2B5EF4-FFF2-40B4-BE49-F238E27FC236}">
                <a16:creationId xmlns:a16="http://schemas.microsoft.com/office/drawing/2014/main" id="{C4C4AC54-FEE1-3BFE-E500-1E5AFF2978FD}"/>
              </a:ext>
            </a:extLst>
          </p:cNvPr>
          <p:cNvSpPr>
            <a:spLocks noGrp="1"/>
          </p:cNvSpPr>
          <p:nvPr>
            <p:ph idx="1"/>
          </p:nvPr>
        </p:nvSpPr>
        <p:spPr>
          <a:xfrm>
            <a:off x="838200" y="1180510"/>
            <a:ext cx="10515600" cy="2657356"/>
          </a:xfrm>
        </p:spPr>
        <p:txBody>
          <a:bodyPr>
            <a:normAutofit fontScale="92500" lnSpcReduction="10000"/>
          </a:bodyPr>
          <a:lstStyle/>
          <a:p>
            <a:r>
              <a:rPr lang="en-US" dirty="0"/>
              <a:t>Decision-making can be conceptualized as purposeful transitions through different states</a:t>
            </a:r>
          </a:p>
          <a:p>
            <a:pPr lvl="1"/>
            <a:r>
              <a:rPr lang="en-US" dirty="0"/>
              <a:t>Many cognitive processes are abstracted away, such as perception, and memory</a:t>
            </a:r>
          </a:p>
          <a:p>
            <a:r>
              <a:rPr lang="en-US" dirty="0"/>
              <a:t>Maps onto neural patterns</a:t>
            </a:r>
          </a:p>
          <a:p>
            <a:pPr lvl="1"/>
            <a:r>
              <a:rPr lang="en-US" dirty="0"/>
              <a:t>OFC represents state spaces (Schuck et al., 2016, </a:t>
            </a:r>
            <a:r>
              <a:rPr lang="en-US" i="1" dirty="0"/>
              <a:t>Neuron</a:t>
            </a:r>
            <a:r>
              <a:rPr lang="en-US" dirty="0"/>
              <a:t>)</a:t>
            </a:r>
          </a:p>
          <a:p>
            <a:pPr lvl="1"/>
            <a:r>
              <a:rPr lang="en-US" dirty="0"/>
              <a:t>Unclear how memory systems come into play to support this</a:t>
            </a:r>
          </a:p>
          <a:p>
            <a:pPr lvl="1"/>
            <a:endParaRPr lang="en-US" dirty="0"/>
          </a:p>
          <a:p>
            <a:pPr marL="457200" lvl="1" indent="0">
              <a:buNone/>
            </a:pPr>
            <a:endParaRPr lang="en-US" dirty="0"/>
          </a:p>
        </p:txBody>
      </p:sp>
      <p:sp>
        <p:nvSpPr>
          <p:cNvPr id="4" name="Oval 3">
            <a:extLst>
              <a:ext uri="{FF2B5EF4-FFF2-40B4-BE49-F238E27FC236}">
                <a16:creationId xmlns:a16="http://schemas.microsoft.com/office/drawing/2014/main" id="{7F763BBA-C92D-0FCE-2D78-EA3FE0CE393C}"/>
              </a:ext>
            </a:extLst>
          </p:cNvPr>
          <p:cNvSpPr/>
          <p:nvPr/>
        </p:nvSpPr>
        <p:spPr>
          <a:xfrm>
            <a:off x="7724562" y="497221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Reinforcement Learning 101. Learn the essentials of Reinforcement… | by  Shweta Bhatt | Towards Data Science">
            <a:extLst>
              <a:ext uri="{FF2B5EF4-FFF2-40B4-BE49-F238E27FC236}">
                <a16:creationId xmlns:a16="http://schemas.microsoft.com/office/drawing/2014/main" id="{2D6A728C-AB7F-71BF-4049-E20B68C0E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343" y="4030312"/>
            <a:ext cx="6275369" cy="2418919"/>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02DE857F-46E8-C868-AFD9-224126C4C3AA}"/>
              </a:ext>
            </a:extLst>
          </p:cNvPr>
          <p:cNvSpPr/>
          <p:nvPr/>
        </p:nvSpPr>
        <p:spPr>
          <a:xfrm>
            <a:off x="8616464"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AE361E3-D024-4B47-F6EA-B403D32605AB}"/>
              </a:ext>
            </a:extLst>
          </p:cNvPr>
          <p:cNvSpPr/>
          <p:nvPr/>
        </p:nvSpPr>
        <p:spPr>
          <a:xfrm>
            <a:off x="10078680"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23ED408B-83EF-2036-128B-52D9F75DCB11}"/>
              </a:ext>
            </a:extLst>
          </p:cNvPr>
          <p:cNvCxnSpPr>
            <a:stCxn id="5" idx="6"/>
            <a:endCxn id="6" idx="2"/>
          </p:cNvCxnSpPr>
          <p:nvPr/>
        </p:nvCxnSpPr>
        <p:spPr>
          <a:xfrm>
            <a:off x="9286904" y="6125626"/>
            <a:ext cx="79177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F4AB3DA-DE1E-B32B-097F-B1A34D2CC488}"/>
              </a:ext>
            </a:extLst>
          </p:cNvPr>
          <p:cNvCxnSpPr>
            <a:cxnSpLocks/>
            <a:stCxn id="4" idx="5"/>
            <a:endCxn id="5" idx="1"/>
          </p:cNvCxnSpPr>
          <p:nvPr/>
        </p:nvCxnSpPr>
        <p:spPr>
          <a:xfrm>
            <a:off x="8296818" y="5544467"/>
            <a:ext cx="417830" cy="3441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8376974A-BA46-9608-D45B-281CBA7C6338}"/>
              </a:ext>
            </a:extLst>
          </p:cNvPr>
          <p:cNvSpPr/>
          <p:nvPr/>
        </p:nvSpPr>
        <p:spPr>
          <a:xfrm>
            <a:off x="8638665" y="444861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649C05E-5A95-1261-E685-10322C04AC39}"/>
              </a:ext>
            </a:extLst>
          </p:cNvPr>
          <p:cNvSpPr/>
          <p:nvPr/>
        </p:nvSpPr>
        <p:spPr>
          <a:xfrm>
            <a:off x="10080291" y="488526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F83B86A1-0957-5120-EBDE-9BD553BA0BF6}"/>
              </a:ext>
            </a:extLst>
          </p:cNvPr>
          <p:cNvCxnSpPr>
            <a:stCxn id="13" idx="6"/>
            <a:endCxn id="14" idx="2"/>
          </p:cNvCxnSpPr>
          <p:nvPr/>
        </p:nvCxnSpPr>
        <p:spPr>
          <a:xfrm>
            <a:off x="9309105" y="4783836"/>
            <a:ext cx="771186" cy="4366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BD70EC7-2184-2DBF-89EA-813F6DF38ABC}"/>
              </a:ext>
            </a:extLst>
          </p:cNvPr>
          <p:cNvCxnSpPr>
            <a:cxnSpLocks/>
            <a:stCxn id="4" idx="7"/>
            <a:endCxn id="13" idx="2"/>
          </p:cNvCxnSpPr>
          <p:nvPr/>
        </p:nvCxnSpPr>
        <p:spPr>
          <a:xfrm flipV="1">
            <a:off x="8296818" y="4783836"/>
            <a:ext cx="341847" cy="28655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4C589C7F-6609-46C8-A184-972045447E0D}"/>
              </a:ext>
            </a:extLst>
          </p:cNvPr>
          <p:cNvSpPr/>
          <p:nvPr/>
        </p:nvSpPr>
        <p:spPr>
          <a:xfrm>
            <a:off x="10078680" y="392470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14C01A6E-24B5-4AD5-0559-E94DE45C841E}"/>
              </a:ext>
            </a:extLst>
          </p:cNvPr>
          <p:cNvCxnSpPr>
            <a:cxnSpLocks/>
            <a:stCxn id="13" idx="6"/>
            <a:endCxn id="27" idx="2"/>
          </p:cNvCxnSpPr>
          <p:nvPr/>
        </p:nvCxnSpPr>
        <p:spPr>
          <a:xfrm flipV="1">
            <a:off x="9309105" y="4259924"/>
            <a:ext cx="769575" cy="5239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A854A251-D07C-B22D-6B8F-D6E59FAD6D8F}"/>
              </a:ext>
            </a:extLst>
          </p:cNvPr>
          <p:cNvSpPr txBox="1"/>
          <p:nvPr/>
        </p:nvSpPr>
        <p:spPr>
          <a:xfrm>
            <a:off x="7704551" y="5767189"/>
            <a:ext cx="902811" cy="830997"/>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Watch</a:t>
            </a:r>
          </a:p>
          <a:p>
            <a:pPr algn="ctr"/>
            <a:r>
              <a:rPr lang="en-US" sz="1600" dirty="0">
                <a:latin typeface="Arial" panose="020B0604020202020204" pitchFamily="34" charset="0"/>
                <a:cs typeface="Arial" panose="020B0604020202020204" pitchFamily="34" charset="0"/>
              </a:rPr>
              <a:t>TV then</a:t>
            </a:r>
          </a:p>
          <a:p>
            <a:pPr algn="ctr"/>
            <a:r>
              <a:rPr lang="en-US" sz="1600" dirty="0">
                <a:latin typeface="Arial" panose="020B0604020202020204" pitchFamily="34" charset="0"/>
                <a:cs typeface="Arial" panose="020B0604020202020204" pitchFamily="34" charset="0"/>
              </a:rPr>
              <a:t>sleep</a:t>
            </a:r>
            <a:endParaRPr lang="en-US" sz="1400" dirty="0">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815E65AF-F874-5C0B-0982-653C4EF18BE6}"/>
              </a:ext>
            </a:extLst>
          </p:cNvPr>
          <p:cNvSpPr txBox="1"/>
          <p:nvPr/>
        </p:nvSpPr>
        <p:spPr>
          <a:xfrm>
            <a:off x="7707671" y="5154617"/>
            <a:ext cx="737701" cy="276999"/>
          </a:xfrm>
          <a:prstGeom prst="rect">
            <a:avLst/>
          </a:prstGeom>
          <a:noFill/>
        </p:spPr>
        <p:txBody>
          <a:bodyPr wrap="none" rtlCol="0">
            <a:spAutoFit/>
          </a:bodyPr>
          <a:lstStyle/>
          <a:p>
            <a:pPr algn="ctr"/>
            <a:r>
              <a:rPr lang="en-US" sz="1200" dirty="0">
                <a:latin typeface="Arial" panose="020B0604020202020204" pitchFamily="34" charset="0"/>
                <a:cs typeface="Arial" panose="020B0604020202020204" pitchFamily="34" charset="0"/>
              </a:rPr>
              <a:t>Morning</a:t>
            </a:r>
          </a:p>
        </p:txBody>
      </p:sp>
      <p:sp>
        <p:nvSpPr>
          <p:cNvPr id="40" name="TextBox 39">
            <a:extLst>
              <a:ext uri="{FF2B5EF4-FFF2-40B4-BE49-F238E27FC236}">
                <a16:creationId xmlns:a16="http://schemas.microsoft.com/office/drawing/2014/main" id="{1B3C479C-7488-C57F-1058-1F72A41862CB}"/>
              </a:ext>
            </a:extLst>
          </p:cNvPr>
          <p:cNvSpPr txBox="1"/>
          <p:nvPr/>
        </p:nvSpPr>
        <p:spPr>
          <a:xfrm>
            <a:off x="7687718" y="4415410"/>
            <a:ext cx="936475" cy="338554"/>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Do work</a:t>
            </a:r>
            <a:endParaRPr lang="en-US" sz="1400" dirty="0">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89B6B50B-A7F9-EC14-0C84-8E8826484D3F}"/>
              </a:ext>
            </a:extLst>
          </p:cNvPr>
          <p:cNvSpPr txBox="1"/>
          <p:nvPr/>
        </p:nvSpPr>
        <p:spPr>
          <a:xfrm>
            <a:off x="8515843" y="4547462"/>
            <a:ext cx="929687" cy="461665"/>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2809F08F-C9F1-66D1-A9D4-96CCEAF52820}"/>
              </a:ext>
            </a:extLst>
          </p:cNvPr>
          <p:cNvSpPr txBox="1"/>
          <p:nvPr/>
        </p:nvSpPr>
        <p:spPr>
          <a:xfrm>
            <a:off x="8915564" y="3810728"/>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Prep for individual meeting</a:t>
            </a:r>
          </a:p>
        </p:txBody>
      </p:sp>
      <p:sp>
        <p:nvSpPr>
          <p:cNvPr id="44" name="TextBox 43">
            <a:extLst>
              <a:ext uri="{FF2B5EF4-FFF2-40B4-BE49-F238E27FC236}">
                <a16:creationId xmlns:a16="http://schemas.microsoft.com/office/drawing/2014/main" id="{7C336859-7FDD-EF58-C3B1-CCD98F94A1B8}"/>
              </a:ext>
            </a:extLst>
          </p:cNvPr>
          <p:cNvSpPr txBox="1"/>
          <p:nvPr/>
        </p:nvSpPr>
        <p:spPr>
          <a:xfrm>
            <a:off x="8515843" y="5796193"/>
            <a:ext cx="929687" cy="646331"/>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no</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9A9A32BE-17F8-9BD0-D3DF-1051A32D704E}"/>
              </a:ext>
            </a:extLst>
          </p:cNvPr>
          <p:cNvSpPr txBox="1"/>
          <p:nvPr/>
        </p:nvSpPr>
        <p:spPr>
          <a:xfrm>
            <a:off x="8964727" y="5088029"/>
            <a:ext cx="1161505" cy="430887"/>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Read </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book</a:t>
            </a:r>
          </a:p>
        </p:txBody>
      </p:sp>
      <p:sp>
        <p:nvSpPr>
          <p:cNvPr id="46" name="TextBox 45">
            <a:extLst>
              <a:ext uri="{FF2B5EF4-FFF2-40B4-BE49-F238E27FC236}">
                <a16:creationId xmlns:a16="http://schemas.microsoft.com/office/drawing/2014/main" id="{4A3AB0D0-13A4-CCC2-ECE8-1BAAE63AAC1B}"/>
              </a:ext>
            </a:extLst>
          </p:cNvPr>
          <p:cNvSpPr txBox="1"/>
          <p:nvPr/>
        </p:nvSpPr>
        <p:spPr>
          <a:xfrm>
            <a:off x="9831537" y="3926380"/>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great</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47" name="TextBox 46">
            <a:extLst>
              <a:ext uri="{FF2B5EF4-FFF2-40B4-BE49-F238E27FC236}">
                <a16:creationId xmlns:a16="http://schemas.microsoft.com/office/drawing/2014/main" id="{646E1723-EDB5-4A74-A9F0-435211381C35}"/>
              </a:ext>
            </a:extLst>
          </p:cNvPr>
          <p:cNvSpPr txBox="1"/>
          <p:nvPr/>
        </p:nvSpPr>
        <p:spPr>
          <a:xfrm>
            <a:off x="9839677" y="4892693"/>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ok</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48" name="TextBox 47">
            <a:extLst>
              <a:ext uri="{FF2B5EF4-FFF2-40B4-BE49-F238E27FC236}">
                <a16:creationId xmlns:a16="http://schemas.microsoft.com/office/drawing/2014/main" id="{933FA630-7582-4BC5-7DC2-9ABE56314D6D}"/>
              </a:ext>
            </a:extLst>
          </p:cNvPr>
          <p:cNvSpPr txBox="1"/>
          <p:nvPr/>
        </p:nvSpPr>
        <p:spPr>
          <a:xfrm>
            <a:off x="9825572" y="5793396"/>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10" name="TextBox 9">
            <a:extLst>
              <a:ext uri="{FF2B5EF4-FFF2-40B4-BE49-F238E27FC236}">
                <a16:creationId xmlns:a16="http://schemas.microsoft.com/office/drawing/2014/main" id="{A3A879FF-1D1E-FC78-4687-D9D35C506EDA}"/>
              </a:ext>
            </a:extLst>
          </p:cNvPr>
          <p:cNvSpPr txBox="1"/>
          <p:nvPr/>
        </p:nvSpPr>
        <p:spPr>
          <a:xfrm>
            <a:off x="9147382" y="6217490"/>
            <a:ext cx="929687"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Cry</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689463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69ADA-B458-7AC4-A1F7-566C7D6C4265}"/>
              </a:ext>
            </a:extLst>
          </p:cNvPr>
          <p:cNvSpPr>
            <a:spLocks noGrp="1"/>
          </p:cNvSpPr>
          <p:nvPr>
            <p:ph type="title"/>
          </p:nvPr>
        </p:nvSpPr>
        <p:spPr/>
        <p:txBody>
          <a:bodyPr/>
          <a:lstStyle/>
          <a:p>
            <a:r>
              <a:rPr lang="en-US" dirty="0"/>
              <a:t>Multi-part states</a:t>
            </a:r>
          </a:p>
        </p:txBody>
      </p:sp>
      <p:sp>
        <p:nvSpPr>
          <p:cNvPr id="3" name="Content Placeholder 2">
            <a:extLst>
              <a:ext uri="{FF2B5EF4-FFF2-40B4-BE49-F238E27FC236}">
                <a16:creationId xmlns:a16="http://schemas.microsoft.com/office/drawing/2014/main" id="{9EFCA276-9AA8-453B-7F52-2DA444E34B71}"/>
              </a:ext>
            </a:extLst>
          </p:cNvPr>
          <p:cNvSpPr>
            <a:spLocks noGrp="1"/>
          </p:cNvSpPr>
          <p:nvPr>
            <p:ph idx="1"/>
          </p:nvPr>
        </p:nvSpPr>
        <p:spPr/>
        <p:txBody>
          <a:bodyPr/>
          <a:lstStyle/>
          <a:p>
            <a:r>
              <a:rPr lang="en-US" dirty="0"/>
              <a:t>In the real world and the brain, states have multiple parts</a:t>
            </a:r>
          </a:p>
          <a:p>
            <a:pPr lvl="1"/>
            <a:r>
              <a:rPr lang="en-US" dirty="0"/>
              <a:t>Psychological/neural research</a:t>
            </a:r>
            <a:br>
              <a:rPr lang="en-US" dirty="0"/>
            </a:br>
            <a:r>
              <a:rPr lang="en-US" dirty="0"/>
              <a:t>hasn’t investigated this</a:t>
            </a:r>
          </a:p>
          <a:p>
            <a:r>
              <a:rPr lang="en-US" dirty="0"/>
              <a:t>Morning</a:t>
            </a:r>
          </a:p>
          <a:p>
            <a:pPr lvl="1"/>
            <a:r>
              <a:rPr lang="en-US" dirty="0"/>
              <a:t>Own TV</a:t>
            </a:r>
          </a:p>
          <a:p>
            <a:pPr lvl="1"/>
            <a:r>
              <a:rPr lang="en-US" dirty="0"/>
              <a:t>Have preprocessed data</a:t>
            </a:r>
          </a:p>
          <a:p>
            <a:pPr lvl="1"/>
            <a:r>
              <a:rPr lang="en-US" dirty="0"/>
              <a:t>Etc.</a:t>
            </a:r>
          </a:p>
          <a:p>
            <a:r>
              <a:rPr lang="en-US" dirty="0"/>
              <a:t>Where does memory fit in?</a:t>
            </a:r>
          </a:p>
          <a:p>
            <a:pPr lvl="1"/>
            <a:r>
              <a:rPr lang="en-US" sz="2200" dirty="0"/>
              <a:t>Literally, in this diagram, where does memory</a:t>
            </a:r>
            <a:br>
              <a:rPr lang="en-US" sz="2200" dirty="0"/>
            </a:br>
            <a:r>
              <a:rPr lang="en-US" sz="2200" dirty="0"/>
              <a:t>operate for learning and decision-making?</a:t>
            </a:r>
          </a:p>
        </p:txBody>
      </p:sp>
      <p:sp>
        <p:nvSpPr>
          <p:cNvPr id="4" name="Oval 3">
            <a:extLst>
              <a:ext uri="{FF2B5EF4-FFF2-40B4-BE49-F238E27FC236}">
                <a16:creationId xmlns:a16="http://schemas.microsoft.com/office/drawing/2014/main" id="{FB5E694C-5068-255A-80AA-02B5B1672AD3}"/>
              </a:ext>
            </a:extLst>
          </p:cNvPr>
          <p:cNvSpPr/>
          <p:nvPr/>
        </p:nvSpPr>
        <p:spPr>
          <a:xfrm>
            <a:off x="7724562" y="497221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428C21B-1725-5174-5D2C-BF717600FA35}"/>
              </a:ext>
            </a:extLst>
          </p:cNvPr>
          <p:cNvSpPr/>
          <p:nvPr/>
        </p:nvSpPr>
        <p:spPr>
          <a:xfrm>
            <a:off x="8616464"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E9BFC90-FF53-7743-871C-83CD4912B1BE}"/>
              </a:ext>
            </a:extLst>
          </p:cNvPr>
          <p:cNvSpPr/>
          <p:nvPr/>
        </p:nvSpPr>
        <p:spPr>
          <a:xfrm>
            <a:off x="10078680"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4C6F4198-5198-EC3F-2E20-33E3BDDB1D1F}"/>
              </a:ext>
            </a:extLst>
          </p:cNvPr>
          <p:cNvCxnSpPr>
            <a:stCxn id="5" idx="6"/>
            <a:endCxn id="6" idx="2"/>
          </p:cNvCxnSpPr>
          <p:nvPr/>
        </p:nvCxnSpPr>
        <p:spPr>
          <a:xfrm>
            <a:off x="9286904" y="6125626"/>
            <a:ext cx="79177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8B2E407-7E89-56D9-8C06-25B74FFC163C}"/>
              </a:ext>
            </a:extLst>
          </p:cNvPr>
          <p:cNvCxnSpPr>
            <a:cxnSpLocks/>
            <a:stCxn id="4" idx="5"/>
            <a:endCxn id="5" idx="1"/>
          </p:cNvCxnSpPr>
          <p:nvPr/>
        </p:nvCxnSpPr>
        <p:spPr>
          <a:xfrm>
            <a:off x="8296818" y="5544467"/>
            <a:ext cx="417830" cy="3441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5ABF9AD2-0CB1-1F03-E2EF-BDDC4ABAAE46}"/>
              </a:ext>
            </a:extLst>
          </p:cNvPr>
          <p:cNvSpPr/>
          <p:nvPr/>
        </p:nvSpPr>
        <p:spPr>
          <a:xfrm>
            <a:off x="8638665" y="444861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1A157A9-090D-2215-A634-E42DB5296454}"/>
              </a:ext>
            </a:extLst>
          </p:cNvPr>
          <p:cNvSpPr/>
          <p:nvPr/>
        </p:nvSpPr>
        <p:spPr>
          <a:xfrm>
            <a:off x="10080291" y="488526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0C421230-3C98-EE1C-E179-4A47330A05AD}"/>
              </a:ext>
            </a:extLst>
          </p:cNvPr>
          <p:cNvCxnSpPr>
            <a:stCxn id="9" idx="6"/>
            <a:endCxn id="10" idx="2"/>
          </p:cNvCxnSpPr>
          <p:nvPr/>
        </p:nvCxnSpPr>
        <p:spPr>
          <a:xfrm>
            <a:off x="9309105" y="4783836"/>
            <a:ext cx="771186" cy="4366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113A111-5AF6-FA98-0199-7150A03012BF}"/>
              </a:ext>
            </a:extLst>
          </p:cNvPr>
          <p:cNvCxnSpPr>
            <a:cxnSpLocks/>
            <a:stCxn id="4" idx="7"/>
            <a:endCxn id="9" idx="2"/>
          </p:cNvCxnSpPr>
          <p:nvPr/>
        </p:nvCxnSpPr>
        <p:spPr>
          <a:xfrm flipV="1">
            <a:off x="8296818" y="4783836"/>
            <a:ext cx="341847" cy="28655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CB889F4A-5FE8-B87F-D0E6-DE2D2AA27718}"/>
              </a:ext>
            </a:extLst>
          </p:cNvPr>
          <p:cNvSpPr/>
          <p:nvPr/>
        </p:nvSpPr>
        <p:spPr>
          <a:xfrm>
            <a:off x="10078680" y="392470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FD218C6B-4A06-150D-91E6-D2126FC3C8DB}"/>
              </a:ext>
            </a:extLst>
          </p:cNvPr>
          <p:cNvCxnSpPr>
            <a:cxnSpLocks/>
            <a:stCxn id="9" idx="6"/>
            <a:endCxn id="13" idx="2"/>
          </p:cNvCxnSpPr>
          <p:nvPr/>
        </p:nvCxnSpPr>
        <p:spPr>
          <a:xfrm flipV="1">
            <a:off x="9309105" y="4259924"/>
            <a:ext cx="769575" cy="5239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1BCC562-9501-833B-7764-00DC225291AC}"/>
              </a:ext>
            </a:extLst>
          </p:cNvPr>
          <p:cNvSpPr txBox="1"/>
          <p:nvPr/>
        </p:nvSpPr>
        <p:spPr>
          <a:xfrm>
            <a:off x="7704551" y="5767189"/>
            <a:ext cx="902811" cy="830997"/>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Watch</a:t>
            </a:r>
          </a:p>
          <a:p>
            <a:pPr algn="ctr"/>
            <a:r>
              <a:rPr lang="en-US" sz="1600" dirty="0">
                <a:latin typeface="Arial" panose="020B0604020202020204" pitchFamily="34" charset="0"/>
                <a:cs typeface="Arial" panose="020B0604020202020204" pitchFamily="34" charset="0"/>
              </a:rPr>
              <a:t>TV then</a:t>
            </a:r>
          </a:p>
          <a:p>
            <a:pPr algn="ctr"/>
            <a:r>
              <a:rPr lang="en-US" sz="1600" dirty="0">
                <a:latin typeface="Arial" panose="020B0604020202020204" pitchFamily="34" charset="0"/>
                <a:cs typeface="Arial" panose="020B0604020202020204" pitchFamily="34" charset="0"/>
              </a:rPr>
              <a:t>sleep</a:t>
            </a:r>
            <a:endParaRPr lang="en-US" sz="14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83D79B39-0722-4DE9-D5BE-B199967A01A6}"/>
              </a:ext>
            </a:extLst>
          </p:cNvPr>
          <p:cNvSpPr txBox="1"/>
          <p:nvPr/>
        </p:nvSpPr>
        <p:spPr>
          <a:xfrm>
            <a:off x="7707671" y="5154617"/>
            <a:ext cx="737701" cy="276999"/>
          </a:xfrm>
          <a:prstGeom prst="rect">
            <a:avLst/>
          </a:prstGeom>
          <a:noFill/>
        </p:spPr>
        <p:txBody>
          <a:bodyPr wrap="none" rtlCol="0">
            <a:spAutoFit/>
          </a:bodyPr>
          <a:lstStyle/>
          <a:p>
            <a:pPr algn="ctr"/>
            <a:r>
              <a:rPr lang="en-US" sz="1200" dirty="0">
                <a:latin typeface="Arial" panose="020B0604020202020204" pitchFamily="34" charset="0"/>
                <a:cs typeface="Arial" panose="020B0604020202020204" pitchFamily="34" charset="0"/>
              </a:rPr>
              <a:t>Morning</a:t>
            </a:r>
          </a:p>
        </p:txBody>
      </p:sp>
      <p:sp>
        <p:nvSpPr>
          <p:cNvPr id="17" name="TextBox 16">
            <a:extLst>
              <a:ext uri="{FF2B5EF4-FFF2-40B4-BE49-F238E27FC236}">
                <a16:creationId xmlns:a16="http://schemas.microsoft.com/office/drawing/2014/main" id="{E79852F9-151A-B3F4-A41D-39B3CD63A050}"/>
              </a:ext>
            </a:extLst>
          </p:cNvPr>
          <p:cNvSpPr txBox="1"/>
          <p:nvPr/>
        </p:nvSpPr>
        <p:spPr>
          <a:xfrm>
            <a:off x="7771938" y="4472491"/>
            <a:ext cx="936475" cy="338554"/>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Do work</a:t>
            </a:r>
            <a:endParaRPr lang="en-US" sz="14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4CFBE3BD-0D0D-59E1-0245-1297B313362F}"/>
              </a:ext>
            </a:extLst>
          </p:cNvPr>
          <p:cNvSpPr txBox="1"/>
          <p:nvPr/>
        </p:nvSpPr>
        <p:spPr>
          <a:xfrm>
            <a:off x="8515843" y="4547462"/>
            <a:ext cx="929687" cy="461665"/>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41CE8973-1273-FAD8-EF33-D6AB16557258}"/>
              </a:ext>
            </a:extLst>
          </p:cNvPr>
          <p:cNvSpPr txBox="1"/>
          <p:nvPr/>
        </p:nvSpPr>
        <p:spPr>
          <a:xfrm>
            <a:off x="8915564" y="3810728"/>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Prep for individual meeting</a:t>
            </a:r>
          </a:p>
        </p:txBody>
      </p:sp>
      <p:sp>
        <p:nvSpPr>
          <p:cNvPr id="20" name="TextBox 19">
            <a:extLst>
              <a:ext uri="{FF2B5EF4-FFF2-40B4-BE49-F238E27FC236}">
                <a16:creationId xmlns:a16="http://schemas.microsoft.com/office/drawing/2014/main" id="{60A83CF3-EDCB-D4E5-EE6C-A0A5DB534D78}"/>
              </a:ext>
            </a:extLst>
          </p:cNvPr>
          <p:cNvSpPr txBox="1"/>
          <p:nvPr/>
        </p:nvSpPr>
        <p:spPr>
          <a:xfrm>
            <a:off x="8515843" y="5796193"/>
            <a:ext cx="929687" cy="646331"/>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no</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5389D55C-331A-7D0F-AEC0-C5599E852C1F}"/>
              </a:ext>
            </a:extLst>
          </p:cNvPr>
          <p:cNvSpPr txBox="1"/>
          <p:nvPr/>
        </p:nvSpPr>
        <p:spPr>
          <a:xfrm>
            <a:off x="8964727" y="5088029"/>
            <a:ext cx="1161505" cy="261610"/>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Read</a:t>
            </a:r>
          </a:p>
        </p:txBody>
      </p:sp>
      <p:sp>
        <p:nvSpPr>
          <p:cNvPr id="22" name="TextBox 21">
            <a:extLst>
              <a:ext uri="{FF2B5EF4-FFF2-40B4-BE49-F238E27FC236}">
                <a16:creationId xmlns:a16="http://schemas.microsoft.com/office/drawing/2014/main" id="{F61E1506-4C15-9D0D-01E3-45043ECB75AD}"/>
              </a:ext>
            </a:extLst>
          </p:cNvPr>
          <p:cNvSpPr txBox="1"/>
          <p:nvPr/>
        </p:nvSpPr>
        <p:spPr>
          <a:xfrm>
            <a:off x="9831537" y="3926380"/>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great</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3" name="TextBox 22">
            <a:extLst>
              <a:ext uri="{FF2B5EF4-FFF2-40B4-BE49-F238E27FC236}">
                <a16:creationId xmlns:a16="http://schemas.microsoft.com/office/drawing/2014/main" id="{770C3B45-144D-5D93-74C0-CF963C24794D}"/>
              </a:ext>
            </a:extLst>
          </p:cNvPr>
          <p:cNvSpPr txBox="1"/>
          <p:nvPr/>
        </p:nvSpPr>
        <p:spPr>
          <a:xfrm>
            <a:off x="9839677" y="4892693"/>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ok</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4" name="TextBox 23">
            <a:extLst>
              <a:ext uri="{FF2B5EF4-FFF2-40B4-BE49-F238E27FC236}">
                <a16:creationId xmlns:a16="http://schemas.microsoft.com/office/drawing/2014/main" id="{382F12B4-63D2-1623-08A2-D9BDBCE0950F}"/>
              </a:ext>
            </a:extLst>
          </p:cNvPr>
          <p:cNvSpPr txBox="1"/>
          <p:nvPr/>
        </p:nvSpPr>
        <p:spPr>
          <a:xfrm>
            <a:off x="9825572" y="5793396"/>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5" name="Oval 24">
            <a:extLst>
              <a:ext uri="{FF2B5EF4-FFF2-40B4-BE49-F238E27FC236}">
                <a16:creationId xmlns:a16="http://schemas.microsoft.com/office/drawing/2014/main" id="{117E3E0F-3C3C-EAD9-C3F2-75A66E456E62}"/>
              </a:ext>
            </a:extLst>
          </p:cNvPr>
          <p:cNvSpPr/>
          <p:nvPr/>
        </p:nvSpPr>
        <p:spPr>
          <a:xfrm>
            <a:off x="5732757" y="2420682"/>
            <a:ext cx="2065825" cy="2065825"/>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65132C73-1B0F-A6FF-2992-1E6E1B6D6C8F}"/>
              </a:ext>
            </a:extLst>
          </p:cNvPr>
          <p:cNvSpPr/>
          <p:nvPr/>
        </p:nvSpPr>
        <p:spPr>
          <a:xfrm>
            <a:off x="5963687" y="2819261"/>
            <a:ext cx="715552" cy="715552"/>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A23DCFF-1A39-F190-1794-3569D1661DA5}"/>
              </a:ext>
            </a:extLst>
          </p:cNvPr>
          <p:cNvSpPr/>
          <p:nvPr/>
        </p:nvSpPr>
        <p:spPr>
          <a:xfrm>
            <a:off x="6889395" y="2845130"/>
            <a:ext cx="715552" cy="715552"/>
          </a:xfrm>
          <a:prstGeom prst="ellipse">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AB5FD0D2-06EA-E5FA-8D1E-6C84B93C88AD}"/>
              </a:ext>
            </a:extLst>
          </p:cNvPr>
          <p:cNvSpPr/>
          <p:nvPr/>
        </p:nvSpPr>
        <p:spPr>
          <a:xfrm>
            <a:off x="6406863" y="3597658"/>
            <a:ext cx="715552" cy="715552"/>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64C16D8D-30AA-0F02-785F-287FAEE601A3}"/>
              </a:ext>
            </a:extLst>
          </p:cNvPr>
          <p:cNvCxnSpPr>
            <a:cxnSpLocks/>
            <a:stCxn id="25" idx="4"/>
            <a:endCxn id="4" idx="1"/>
          </p:cNvCxnSpPr>
          <p:nvPr/>
        </p:nvCxnSpPr>
        <p:spPr>
          <a:xfrm>
            <a:off x="6765670" y="4486507"/>
            <a:ext cx="1057076" cy="5838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C2CD14A-AA90-98FE-9954-3FC7040037AF}"/>
              </a:ext>
            </a:extLst>
          </p:cNvPr>
          <p:cNvCxnSpPr>
            <a:cxnSpLocks/>
            <a:stCxn id="25" idx="6"/>
            <a:endCxn id="4" idx="1"/>
          </p:cNvCxnSpPr>
          <p:nvPr/>
        </p:nvCxnSpPr>
        <p:spPr>
          <a:xfrm>
            <a:off x="7798582" y="3453595"/>
            <a:ext cx="24164" cy="1616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EAB7784-850E-87A7-3619-A702E1838407}"/>
              </a:ext>
            </a:extLst>
          </p:cNvPr>
          <p:cNvSpPr txBox="1"/>
          <p:nvPr/>
        </p:nvSpPr>
        <p:spPr>
          <a:xfrm>
            <a:off x="6964591" y="2936713"/>
            <a:ext cx="603049" cy="523220"/>
          </a:xfrm>
          <a:prstGeom prst="rect">
            <a:avLst/>
          </a:prstGeom>
          <a:noFill/>
        </p:spPr>
        <p:txBody>
          <a:bodyPr wrap="none" rtlCol="0">
            <a:spAutoFit/>
          </a:bodyPr>
          <a:lstStyle/>
          <a:p>
            <a:pPr algn="ctr"/>
            <a:r>
              <a:rPr lang="en-US" sz="1400" dirty="0">
                <a:solidFill>
                  <a:schemeClr val="bg1"/>
                </a:solidFill>
                <a:latin typeface="Arial" panose="020B0604020202020204" pitchFamily="34" charset="0"/>
                <a:cs typeface="Arial" panose="020B0604020202020204" pitchFamily="34" charset="0"/>
              </a:rPr>
              <a:t>Have</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data</a:t>
            </a:r>
          </a:p>
        </p:txBody>
      </p:sp>
      <p:sp>
        <p:nvSpPr>
          <p:cNvPr id="38" name="TextBox 37">
            <a:extLst>
              <a:ext uri="{FF2B5EF4-FFF2-40B4-BE49-F238E27FC236}">
                <a16:creationId xmlns:a16="http://schemas.microsoft.com/office/drawing/2014/main" id="{5943CB29-6B48-E5AD-C33A-D76094464866}"/>
              </a:ext>
            </a:extLst>
          </p:cNvPr>
          <p:cNvSpPr txBox="1"/>
          <p:nvPr/>
        </p:nvSpPr>
        <p:spPr>
          <a:xfrm>
            <a:off x="6418230" y="3779503"/>
            <a:ext cx="692818" cy="307777"/>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Sunny</a:t>
            </a:r>
          </a:p>
        </p:txBody>
      </p:sp>
      <p:sp>
        <p:nvSpPr>
          <p:cNvPr id="39" name="TextBox 38">
            <a:extLst>
              <a:ext uri="{FF2B5EF4-FFF2-40B4-BE49-F238E27FC236}">
                <a16:creationId xmlns:a16="http://schemas.microsoft.com/office/drawing/2014/main" id="{2CC34A18-DCE1-BDC2-4F82-0ECBF04DCE34}"/>
              </a:ext>
            </a:extLst>
          </p:cNvPr>
          <p:cNvSpPr txBox="1"/>
          <p:nvPr/>
        </p:nvSpPr>
        <p:spPr>
          <a:xfrm>
            <a:off x="6044784" y="2930596"/>
            <a:ext cx="553357" cy="523220"/>
          </a:xfrm>
          <a:prstGeom prst="rect">
            <a:avLst/>
          </a:prstGeom>
          <a:noFill/>
        </p:spPr>
        <p:txBody>
          <a:bodyPr wrap="none" rtlCol="0">
            <a:spAutoFit/>
          </a:bodyPr>
          <a:lstStyle/>
          <a:p>
            <a:pPr algn="ctr"/>
            <a:r>
              <a:rPr lang="en-US" sz="1400" dirty="0">
                <a:solidFill>
                  <a:schemeClr val="bg1"/>
                </a:solidFill>
                <a:latin typeface="Arial" panose="020B0604020202020204" pitchFamily="34" charset="0"/>
                <a:cs typeface="Arial" panose="020B0604020202020204" pitchFamily="34" charset="0"/>
              </a:rPr>
              <a:t>Own</a:t>
            </a:r>
          </a:p>
          <a:p>
            <a:pPr algn="ctr"/>
            <a:r>
              <a:rPr lang="en-US" sz="1400" dirty="0">
                <a:solidFill>
                  <a:schemeClr val="bg1"/>
                </a:solidFill>
                <a:latin typeface="Arial" panose="020B0604020202020204" pitchFamily="34" charset="0"/>
                <a:cs typeface="Arial" panose="020B0604020202020204" pitchFamily="34" charset="0"/>
              </a:rPr>
              <a:t>TV</a:t>
            </a:r>
          </a:p>
        </p:txBody>
      </p:sp>
      <p:sp>
        <p:nvSpPr>
          <p:cNvPr id="42" name="TextBox 41">
            <a:extLst>
              <a:ext uri="{FF2B5EF4-FFF2-40B4-BE49-F238E27FC236}">
                <a16:creationId xmlns:a16="http://schemas.microsoft.com/office/drawing/2014/main" id="{40E34CCB-FE05-B298-6E90-1805269F738A}"/>
              </a:ext>
            </a:extLst>
          </p:cNvPr>
          <p:cNvSpPr txBox="1"/>
          <p:nvPr/>
        </p:nvSpPr>
        <p:spPr>
          <a:xfrm>
            <a:off x="9147382" y="6217490"/>
            <a:ext cx="929687"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Cry</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4503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69ADA-B458-7AC4-A1F7-566C7D6C4265}"/>
              </a:ext>
            </a:extLst>
          </p:cNvPr>
          <p:cNvSpPr>
            <a:spLocks noGrp="1"/>
          </p:cNvSpPr>
          <p:nvPr>
            <p:ph type="title"/>
          </p:nvPr>
        </p:nvSpPr>
        <p:spPr>
          <a:xfrm>
            <a:off x="838200" y="365125"/>
            <a:ext cx="7653479" cy="1325563"/>
          </a:xfrm>
        </p:spPr>
        <p:txBody>
          <a:bodyPr/>
          <a:lstStyle/>
          <a:p>
            <a:r>
              <a:rPr lang="en-US" dirty="0"/>
              <a:t>Affordances</a:t>
            </a:r>
          </a:p>
        </p:txBody>
      </p:sp>
      <p:sp>
        <p:nvSpPr>
          <p:cNvPr id="3" name="Content Placeholder 2">
            <a:extLst>
              <a:ext uri="{FF2B5EF4-FFF2-40B4-BE49-F238E27FC236}">
                <a16:creationId xmlns:a16="http://schemas.microsoft.com/office/drawing/2014/main" id="{9EFCA276-9AA8-453B-7F52-2DA444E34B71}"/>
              </a:ext>
            </a:extLst>
          </p:cNvPr>
          <p:cNvSpPr>
            <a:spLocks noGrp="1"/>
          </p:cNvSpPr>
          <p:nvPr>
            <p:ph idx="1"/>
          </p:nvPr>
        </p:nvSpPr>
        <p:spPr>
          <a:xfrm>
            <a:off x="468923" y="1825624"/>
            <a:ext cx="5053429" cy="4772561"/>
          </a:xfrm>
        </p:spPr>
        <p:txBody>
          <a:bodyPr>
            <a:normAutofit fontScale="92500" lnSpcReduction="10000"/>
          </a:bodyPr>
          <a:lstStyle/>
          <a:p>
            <a:r>
              <a:rPr lang="en-US" dirty="0"/>
              <a:t>Affordances:</a:t>
            </a:r>
          </a:p>
          <a:p>
            <a:pPr lvl="1"/>
            <a:r>
              <a:rPr lang="en-US" dirty="0"/>
              <a:t>Idea that objects in the world are perceived in terms of what actions they make permissible</a:t>
            </a:r>
          </a:p>
          <a:p>
            <a:pPr lvl="1"/>
            <a:r>
              <a:rPr lang="en-US" dirty="0"/>
              <a:t>This door design is bad because it is meant to be pushed yet the handles allow pulling</a:t>
            </a:r>
          </a:p>
          <a:p>
            <a:r>
              <a:rPr lang="en-US" dirty="0"/>
              <a:t>State framing:</a:t>
            </a:r>
          </a:p>
          <a:p>
            <a:pPr lvl="1"/>
            <a:r>
              <a:rPr lang="en-US" dirty="0"/>
              <a:t>Affordances are features of a state that define which actions (transitions) are available to go toward another state</a:t>
            </a:r>
          </a:p>
          <a:p>
            <a:pPr lvl="1"/>
            <a:r>
              <a:rPr lang="en-US" dirty="0"/>
              <a:t>I need to own a TV in order to watch TV</a:t>
            </a:r>
          </a:p>
        </p:txBody>
      </p:sp>
      <p:sp>
        <p:nvSpPr>
          <p:cNvPr id="4" name="Oval 3">
            <a:extLst>
              <a:ext uri="{FF2B5EF4-FFF2-40B4-BE49-F238E27FC236}">
                <a16:creationId xmlns:a16="http://schemas.microsoft.com/office/drawing/2014/main" id="{FB5E694C-5068-255A-80AA-02B5B1672AD3}"/>
              </a:ext>
            </a:extLst>
          </p:cNvPr>
          <p:cNvSpPr/>
          <p:nvPr/>
        </p:nvSpPr>
        <p:spPr>
          <a:xfrm>
            <a:off x="7724562" y="497221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428C21B-1725-5174-5D2C-BF717600FA35}"/>
              </a:ext>
            </a:extLst>
          </p:cNvPr>
          <p:cNvSpPr/>
          <p:nvPr/>
        </p:nvSpPr>
        <p:spPr>
          <a:xfrm>
            <a:off x="8616464"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E9BFC90-FF53-7743-871C-83CD4912B1BE}"/>
              </a:ext>
            </a:extLst>
          </p:cNvPr>
          <p:cNvSpPr/>
          <p:nvPr/>
        </p:nvSpPr>
        <p:spPr>
          <a:xfrm>
            <a:off x="10078680"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4C6F4198-5198-EC3F-2E20-33E3BDDB1D1F}"/>
              </a:ext>
            </a:extLst>
          </p:cNvPr>
          <p:cNvCxnSpPr>
            <a:stCxn id="5" idx="6"/>
            <a:endCxn id="6" idx="2"/>
          </p:cNvCxnSpPr>
          <p:nvPr/>
        </p:nvCxnSpPr>
        <p:spPr>
          <a:xfrm>
            <a:off x="9286904" y="6125626"/>
            <a:ext cx="79177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8B2E407-7E89-56D9-8C06-25B74FFC163C}"/>
              </a:ext>
            </a:extLst>
          </p:cNvPr>
          <p:cNvCxnSpPr>
            <a:cxnSpLocks/>
            <a:stCxn id="4" idx="5"/>
            <a:endCxn id="5" idx="1"/>
          </p:cNvCxnSpPr>
          <p:nvPr/>
        </p:nvCxnSpPr>
        <p:spPr>
          <a:xfrm>
            <a:off x="8296818" y="5544467"/>
            <a:ext cx="417830" cy="3441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5ABF9AD2-0CB1-1F03-E2EF-BDDC4ABAAE46}"/>
              </a:ext>
            </a:extLst>
          </p:cNvPr>
          <p:cNvSpPr/>
          <p:nvPr/>
        </p:nvSpPr>
        <p:spPr>
          <a:xfrm>
            <a:off x="8638665" y="444861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71A157A9-090D-2215-A634-E42DB5296454}"/>
              </a:ext>
            </a:extLst>
          </p:cNvPr>
          <p:cNvSpPr/>
          <p:nvPr/>
        </p:nvSpPr>
        <p:spPr>
          <a:xfrm>
            <a:off x="10080291" y="488526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0C421230-3C98-EE1C-E179-4A47330A05AD}"/>
              </a:ext>
            </a:extLst>
          </p:cNvPr>
          <p:cNvCxnSpPr>
            <a:stCxn id="9" idx="6"/>
            <a:endCxn id="10" idx="2"/>
          </p:cNvCxnSpPr>
          <p:nvPr/>
        </p:nvCxnSpPr>
        <p:spPr>
          <a:xfrm>
            <a:off x="9309105" y="4783836"/>
            <a:ext cx="771186" cy="4366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113A111-5AF6-FA98-0199-7150A03012BF}"/>
              </a:ext>
            </a:extLst>
          </p:cNvPr>
          <p:cNvCxnSpPr>
            <a:cxnSpLocks/>
            <a:stCxn id="4" idx="7"/>
            <a:endCxn id="9" idx="2"/>
          </p:cNvCxnSpPr>
          <p:nvPr/>
        </p:nvCxnSpPr>
        <p:spPr>
          <a:xfrm flipV="1">
            <a:off x="8296818" y="4783836"/>
            <a:ext cx="341847" cy="28655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CB889F4A-5FE8-B87F-D0E6-DE2D2AA27718}"/>
              </a:ext>
            </a:extLst>
          </p:cNvPr>
          <p:cNvSpPr/>
          <p:nvPr/>
        </p:nvSpPr>
        <p:spPr>
          <a:xfrm>
            <a:off x="10078680" y="392470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FD218C6B-4A06-150D-91E6-D2126FC3C8DB}"/>
              </a:ext>
            </a:extLst>
          </p:cNvPr>
          <p:cNvCxnSpPr>
            <a:cxnSpLocks/>
            <a:stCxn id="9" idx="6"/>
            <a:endCxn id="13" idx="2"/>
          </p:cNvCxnSpPr>
          <p:nvPr/>
        </p:nvCxnSpPr>
        <p:spPr>
          <a:xfrm flipV="1">
            <a:off x="9309105" y="4259924"/>
            <a:ext cx="769575" cy="5239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1BCC562-9501-833B-7764-00DC225291AC}"/>
              </a:ext>
            </a:extLst>
          </p:cNvPr>
          <p:cNvSpPr txBox="1"/>
          <p:nvPr/>
        </p:nvSpPr>
        <p:spPr>
          <a:xfrm>
            <a:off x="7704551" y="5767189"/>
            <a:ext cx="902811" cy="830997"/>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Watch</a:t>
            </a:r>
          </a:p>
          <a:p>
            <a:pPr algn="ctr"/>
            <a:r>
              <a:rPr lang="en-US" sz="1600" dirty="0">
                <a:latin typeface="Arial" panose="020B0604020202020204" pitchFamily="34" charset="0"/>
                <a:cs typeface="Arial" panose="020B0604020202020204" pitchFamily="34" charset="0"/>
              </a:rPr>
              <a:t>TV then</a:t>
            </a:r>
          </a:p>
          <a:p>
            <a:pPr algn="ctr"/>
            <a:r>
              <a:rPr lang="en-US" sz="1600" dirty="0">
                <a:latin typeface="Arial" panose="020B0604020202020204" pitchFamily="34" charset="0"/>
                <a:cs typeface="Arial" panose="020B0604020202020204" pitchFamily="34" charset="0"/>
              </a:rPr>
              <a:t>sleep</a:t>
            </a:r>
            <a:endParaRPr lang="en-US" sz="14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83D79B39-0722-4DE9-D5BE-B199967A01A6}"/>
              </a:ext>
            </a:extLst>
          </p:cNvPr>
          <p:cNvSpPr txBox="1"/>
          <p:nvPr/>
        </p:nvSpPr>
        <p:spPr>
          <a:xfrm>
            <a:off x="7707671" y="5154617"/>
            <a:ext cx="737701" cy="276999"/>
          </a:xfrm>
          <a:prstGeom prst="rect">
            <a:avLst/>
          </a:prstGeom>
          <a:noFill/>
        </p:spPr>
        <p:txBody>
          <a:bodyPr wrap="none" rtlCol="0">
            <a:spAutoFit/>
          </a:bodyPr>
          <a:lstStyle/>
          <a:p>
            <a:pPr algn="ctr"/>
            <a:r>
              <a:rPr lang="en-US" sz="1200" dirty="0">
                <a:latin typeface="Arial" panose="020B0604020202020204" pitchFamily="34" charset="0"/>
                <a:cs typeface="Arial" panose="020B0604020202020204" pitchFamily="34" charset="0"/>
              </a:rPr>
              <a:t>Morning</a:t>
            </a:r>
          </a:p>
        </p:txBody>
      </p:sp>
      <p:sp>
        <p:nvSpPr>
          <p:cNvPr id="17" name="TextBox 16">
            <a:extLst>
              <a:ext uri="{FF2B5EF4-FFF2-40B4-BE49-F238E27FC236}">
                <a16:creationId xmlns:a16="http://schemas.microsoft.com/office/drawing/2014/main" id="{E79852F9-151A-B3F4-A41D-39B3CD63A050}"/>
              </a:ext>
            </a:extLst>
          </p:cNvPr>
          <p:cNvSpPr txBox="1"/>
          <p:nvPr/>
        </p:nvSpPr>
        <p:spPr>
          <a:xfrm>
            <a:off x="7758527" y="4515611"/>
            <a:ext cx="936475" cy="338554"/>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Do work</a:t>
            </a:r>
            <a:endParaRPr lang="en-US" sz="14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4CFBE3BD-0D0D-59E1-0245-1297B313362F}"/>
              </a:ext>
            </a:extLst>
          </p:cNvPr>
          <p:cNvSpPr txBox="1"/>
          <p:nvPr/>
        </p:nvSpPr>
        <p:spPr>
          <a:xfrm>
            <a:off x="8515843" y="4547462"/>
            <a:ext cx="929687" cy="461665"/>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41CE8973-1273-FAD8-EF33-D6AB16557258}"/>
              </a:ext>
            </a:extLst>
          </p:cNvPr>
          <p:cNvSpPr txBox="1"/>
          <p:nvPr/>
        </p:nvSpPr>
        <p:spPr>
          <a:xfrm>
            <a:off x="8915564" y="3810728"/>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Prep for individual meeting</a:t>
            </a:r>
          </a:p>
        </p:txBody>
      </p:sp>
      <p:sp>
        <p:nvSpPr>
          <p:cNvPr id="20" name="TextBox 19">
            <a:extLst>
              <a:ext uri="{FF2B5EF4-FFF2-40B4-BE49-F238E27FC236}">
                <a16:creationId xmlns:a16="http://schemas.microsoft.com/office/drawing/2014/main" id="{60A83CF3-EDCB-D4E5-EE6C-A0A5DB534D78}"/>
              </a:ext>
            </a:extLst>
          </p:cNvPr>
          <p:cNvSpPr txBox="1"/>
          <p:nvPr/>
        </p:nvSpPr>
        <p:spPr>
          <a:xfrm>
            <a:off x="8493265" y="5796193"/>
            <a:ext cx="929687" cy="646331"/>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no</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5389D55C-331A-7D0F-AEC0-C5599E852C1F}"/>
              </a:ext>
            </a:extLst>
          </p:cNvPr>
          <p:cNvSpPr txBox="1"/>
          <p:nvPr/>
        </p:nvSpPr>
        <p:spPr>
          <a:xfrm>
            <a:off x="8873831" y="4986590"/>
            <a:ext cx="1161505" cy="430887"/>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Read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book</a:t>
            </a:r>
          </a:p>
        </p:txBody>
      </p:sp>
      <p:sp>
        <p:nvSpPr>
          <p:cNvPr id="22" name="TextBox 21">
            <a:extLst>
              <a:ext uri="{FF2B5EF4-FFF2-40B4-BE49-F238E27FC236}">
                <a16:creationId xmlns:a16="http://schemas.microsoft.com/office/drawing/2014/main" id="{F61E1506-4C15-9D0D-01E3-45043ECB75AD}"/>
              </a:ext>
            </a:extLst>
          </p:cNvPr>
          <p:cNvSpPr txBox="1"/>
          <p:nvPr/>
        </p:nvSpPr>
        <p:spPr>
          <a:xfrm>
            <a:off x="9831537" y="3926380"/>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great</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3" name="TextBox 22">
            <a:extLst>
              <a:ext uri="{FF2B5EF4-FFF2-40B4-BE49-F238E27FC236}">
                <a16:creationId xmlns:a16="http://schemas.microsoft.com/office/drawing/2014/main" id="{770C3B45-144D-5D93-74C0-CF963C24794D}"/>
              </a:ext>
            </a:extLst>
          </p:cNvPr>
          <p:cNvSpPr txBox="1"/>
          <p:nvPr/>
        </p:nvSpPr>
        <p:spPr>
          <a:xfrm>
            <a:off x="9839677" y="4892693"/>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ok</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4" name="TextBox 23">
            <a:extLst>
              <a:ext uri="{FF2B5EF4-FFF2-40B4-BE49-F238E27FC236}">
                <a16:creationId xmlns:a16="http://schemas.microsoft.com/office/drawing/2014/main" id="{382F12B4-63D2-1623-08A2-D9BDBCE0950F}"/>
              </a:ext>
            </a:extLst>
          </p:cNvPr>
          <p:cNvSpPr txBox="1"/>
          <p:nvPr/>
        </p:nvSpPr>
        <p:spPr>
          <a:xfrm>
            <a:off x="9825572" y="5793396"/>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5" name="Oval 24">
            <a:extLst>
              <a:ext uri="{FF2B5EF4-FFF2-40B4-BE49-F238E27FC236}">
                <a16:creationId xmlns:a16="http://schemas.microsoft.com/office/drawing/2014/main" id="{117E3E0F-3C3C-EAD9-C3F2-75A66E456E62}"/>
              </a:ext>
            </a:extLst>
          </p:cNvPr>
          <p:cNvSpPr/>
          <p:nvPr/>
        </p:nvSpPr>
        <p:spPr>
          <a:xfrm>
            <a:off x="5732757" y="2420682"/>
            <a:ext cx="2065825" cy="2065825"/>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65132C73-1B0F-A6FF-2992-1E6E1B6D6C8F}"/>
              </a:ext>
            </a:extLst>
          </p:cNvPr>
          <p:cNvSpPr/>
          <p:nvPr/>
        </p:nvSpPr>
        <p:spPr>
          <a:xfrm>
            <a:off x="6348475" y="3612003"/>
            <a:ext cx="715552" cy="715552"/>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A23DCFF-1A39-F190-1794-3569D1661DA5}"/>
              </a:ext>
            </a:extLst>
          </p:cNvPr>
          <p:cNvSpPr/>
          <p:nvPr/>
        </p:nvSpPr>
        <p:spPr>
          <a:xfrm>
            <a:off x="6889395" y="2845130"/>
            <a:ext cx="715552" cy="715552"/>
          </a:xfrm>
          <a:prstGeom prst="ellipse">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AB5FD0D2-06EA-E5FA-8D1E-6C84B93C88AD}"/>
              </a:ext>
            </a:extLst>
          </p:cNvPr>
          <p:cNvSpPr/>
          <p:nvPr/>
        </p:nvSpPr>
        <p:spPr>
          <a:xfrm>
            <a:off x="5944061" y="2888221"/>
            <a:ext cx="715552" cy="715552"/>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64C16D8D-30AA-0F02-785F-287FAEE601A3}"/>
              </a:ext>
            </a:extLst>
          </p:cNvPr>
          <p:cNvCxnSpPr>
            <a:cxnSpLocks/>
            <a:stCxn id="25" idx="4"/>
            <a:endCxn id="4" idx="1"/>
          </p:cNvCxnSpPr>
          <p:nvPr/>
        </p:nvCxnSpPr>
        <p:spPr>
          <a:xfrm>
            <a:off x="6765670" y="4486507"/>
            <a:ext cx="1057076" cy="5838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C2CD14A-AA90-98FE-9954-3FC7040037AF}"/>
              </a:ext>
            </a:extLst>
          </p:cNvPr>
          <p:cNvCxnSpPr>
            <a:cxnSpLocks/>
            <a:stCxn id="25" idx="6"/>
            <a:endCxn id="4" idx="1"/>
          </p:cNvCxnSpPr>
          <p:nvPr/>
        </p:nvCxnSpPr>
        <p:spPr>
          <a:xfrm>
            <a:off x="7798582" y="3453595"/>
            <a:ext cx="24164" cy="1616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EAB7784-850E-87A7-3619-A702E1838407}"/>
              </a:ext>
            </a:extLst>
          </p:cNvPr>
          <p:cNvSpPr txBox="1"/>
          <p:nvPr/>
        </p:nvSpPr>
        <p:spPr>
          <a:xfrm>
            <a:off x="6964591" y="2936713"/>
            <a:ext cx="603049" cy="523220"/>
          </a:xfrm>
          <a:prstGeom prst="rect">
            <a:avLst/>
          </a:prstGeom>
          <a:noFill/>
        </p:spPr>
        <p:txBody>
          <a:bodyPr wrap="none" rtlCol="0">
            <a:spAutoFit/>
          </a:bodyPr>
          <a:lstStyle/>
          <a:p>
            <a:pPr algn="ctr"/>
            <a:r>
              <a:rPr lang="en-US" sz="1400" dirty="0">
                <a:solidFill>
                  <a:schemeClr val="bg1"/>
                </a:solidFill>
                <a:latin typeface="Arial" panose="020B0604020202020204" pitchFamily="34" charset="0"/>
                <a:cs typeface="Arial" panose="020B0604020202020204" pitchFamily="34" charset="0"/>
              </a:rPr>
              <a:t>Have</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data</a:t>
            </a:r>
          </a:p>
        </p:txBody>
      </p:sp>
      <p:sp>
        <p:nvSpPr>
          <p:cNvPr id="38" name="TextBox 37">
            <a:extLst>
              <a:ext uri="{FF2B5EF4-FFF2-40B4-BE49-F238E27FC236}">
                <a16:creationId xmlns:a16="http://schemas.microsoft.com/office/drawing/2014/main" id="{5943CB29-6B48-E5AD-C33A-D76094464866}"/>
              </a:ext>
            </a:extLst>
          </p:cNvPr>
          <p:cNvSpPr txBox="1"/>
          <p:nvPr/>
        </p:nvSpPr>
        <p:spPr>
          <a:xfrm>
            <a:off x="5955428" y="3070066"/>
            <a:ext cx="692818" cy="307777"/>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Sunny</a:t>
            </a:r>
          </a:p>
        </p:txBody>
      </p:sp>
      <p:sp>
        <p:nvSpPr>
          <p:cNvPr id="39" name="TextBox 38">
            <a:extLst>
              <a:ext uri="{FF2B5EF4-FFF2-40B4-BE49-F238E27FC236}">
                <a16:creationId xmlns:a16="http://schemas.microsoft.com/office/drawing/2014/main" id="{2CC34A18-DCE1-BDC2-4F82-0ECBF04DCE34}"/>
              </a:ext>
            </a:extLst>
          </p:cNvPr>
          <p:cNvSpPr txBox="1"/>
          <p:nvPr/>
        </p:nvSpPr>
        <p:spPr>
          <a:xfrm>
            <a:off x="6429572" y="3723338"/>
            <a:ext cx="553357" cy="523220"/>
          </a:xfrm>
          <a:prstGeom prst="rect">
            <a:avLst/>
          </a:prstGeom>
          <a:noFill/>
        </p:spPr>
        <p:txBody>
          <a:bodyPr wrap="none" rtlCol="0">
            <a:spAutoFit/>
          </a:bodyPr>
          <a:lstStyle/>
          <a:p>
            <a:pPr algn="ctr"/>
            <a:r>
              <a:rPr lang="en-US" sz="1400" dirty="0">
                <a:solidFill>
                  <a:schemeClr val="bg1"/>
                </a:solidFill>
                <a:latin typeface="Arial" panose="020B0604020202020204" pitchFamily="34" charset="0"/>
                <a:cs typeface="Arial" panose="020B0604020202020204" pitchFamily="34" charset="0"/>
              </a:rPr>
              <a:t>Own</a:t>
            </a:r>
          </a:p>
          <a:p>
            <a:pPr algn="ctr"/>
            <a:r>
              <a:rPr lang="en-US" sz="1400" dirty="0">
                <a:solidFill>
                  <a:schemeClr val="bg1"/>
                </a:solidFill>
                <a:latin typeface="Arial" panose="020B0604020202020204" pitchFamily="34" charset="0"/>
                <a:cs typeface="Arial" panose="020B0604020202020204" pitchFamily="34" charset="0"/>
              </a:rPr>
              <a:t>TV</a:t>
            </a:r>
          </a:p>
        </p:txBody>
      </p:sp>
      <p:pic>
        <p:nvPicPr>
          <p:cNvPr id="29" name="Picture 28">
            <a:extLst>
              <a:ext uri="{FF2B5EF4-FFF2-40B4-BE49-F238E27FC236}">
                <a16:creationId xmlns:a16="http://schemas.microsoft.com/office/drawing/2014/main" id="{C800284C-DDB5-72E6-D289-FE14B791C71B}"/>
              </a:ext>
            </a:extLst>
          </p:cNvPr>
          <p:cNvPicPr>
            <a:picLocks noChangeAspect="1"/>
          </p:cNvPicPr>
          <p:nvPr/>
        </p:nvPicPr>
        <p:blipFill>
          <a:blip r:embed="rId3"/>
          <a:stretch>
            <a:fillRect/>
          </a:stretch>
        </p:blipFill>
        <p:spPr>
          <a:xfrm>
            <a:off x="8515843" y="274557"/>
            <a:ext cx="2393820" cy="3219274"/>
          </a:xfrm>
          <a:prstGeom prst="rect">
            <a:avLst/>
          </a:prstGeom>
        </p:spPr>
      </p:pic>
      <p:cxnSp>
        <p:nvCxnSpPr>
          <p:cNvPr id="33" name="Straight Connector 32">
            <a:extLst>
              <a:ext uri="{FF2B5EF4-FFF2-40B4-BE49-F238E27FC236}">
                <a16:creationId xmlns:a16="http://schemas.microsoft.com/office/drawing/2014/main" id="{1C0EB3F2-B1C5-8468-FD9C-DE4093FC865F}"/>
              </a:ext>
            </a:extLst>
          </p:cNvPr>
          <p:cNvCxnSpPr>
            <a:cxnSpLocks/>
            <a:endCxn id="17" idx="0"/>
          </p:cNvCxnSpPr>
          <p:nvPr/>
        </p:nvCxnSpPr>
        <p:spPr>
          <a:xfrm>
            <a:off x="7414947" y="3404405"/>
            <a:ext cx="811818" cy="1111206"/>
          </a:xfrm>
          <a:prstGeom prst="line">
            <a:avLst/>
          </a:prstGeom>
          <a:ln w="28575">
            <a:solidFill>
              <a:srgbClr val="0070C0"/>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F589293-D1F6-D6B3-35FF-9801880D340B}"/>
              </a:ext>
            </a:extLst>
          </p:cNvPr>
          <p:cNvCxnSpPr>
            <a:cxnSpLocks/>
          </p:cNvCxnSpPr>
          <p:nvPr/>
        </p:nvCxnSpPr>
        <p:spPr>
          <a:xfrm>
            <a:off x="6853758" y="4246558"/>
            <a:ext cx="887403" cy="1642032"/>
          </a:xfrm>
          <a:prstGeom prst="line">
            <a:avLst/>
          </a:prstGeom>
          <a:ln w="28575">
            <a:solidFill>
              <a:srgbClr val="FF0000"/>
            </a:solidFill>
            <a:tailEnd type="ova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937CABBE-0C21-83B9-7133-CBEDA3A96A6E}"/>
              </a:ext>
            </a:extLst>
          </p:cNvPr>
          <p:cNvSpPr txBox="1"/>
          <p:nvPr/>
        </p:nvSpPr>
        <p:spPr>
          <a:xfrm>
            <a:off x="9147382" y="6217490"/>
            <a:ext cx="929687"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Cry</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510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69ADA-B458-7AC4-A1F7-566C7D6C4265}"/>
              </a:ext>
            </a:extLst>
          </p:cNvPr>
          <p:cNvSpPr>
            <a:spLocks noGrp="1"/>
          </p:cNvSpPr>
          <p:nvPr>
            <p:ph type="title"/>
          </p:nvPr>
        </p:nvSpPr>
        <p:spPr>
          <a:xfrm>
            <a:off x="838200" y="365125"/>
            <a:ext cx="8828625" cy="1325563"/>
          </a:xfrm>
        </p:spPr>
        <p:txBody>
          <a:bodyPr/>
          <a:lstStyle/>
          <a:p>
            <a:r>
              <a:rPr lang="en-US" dirty="0"/>
              <a:t>Goals</a:t>
            </a:r>
          </a:p>
        </p:txBody>
      </p:sp>
      <p:sp>
        <p:nvSpPr>
          <p:cNvPr id="3" name="Content Placeholder 2">
            <a:extLst>
              <a:ext uri="{FF2B5EF4-FFF2-40B4-BE49-F238E27FC236}">
                <a16:creationId xmlns:a16="http://schemas.microsoft.com/office/drawing/2014/main" id="{9EFCA276-9AA8-453B-7F52-2DA444E34B71}"/>
              </a:ext>
            </a:extLst>
          </p:cNvPr>
          <p:cNvSpPr>
            <a:spLocks noGrp="1"/>
          </p:cNvSpPr>
          <p:nvPr>
            <p:ph idx="1"/>
          </p:nvPr>
        </p:nvSpPr>
        <p:spPr>
          <a:xfrm>
            <a:off x="468923" y="1825624"/>
            <a:ext cx="5053429" cy="4772561"/>
          </a:xfrm>
        </p:spPr>
        <p:txBody>
          <a:bodyPr>
            <a:normAutofit/>
          </a:bodyPr>
          <a:lstStyle/>
          <a:p>
            <a:r>
              <a:rPr lang="en-US" dirty="0"/>
              <a:t>Goal:</a:t>
            </a:r>
          </a:p>
          <a:p>
            <a:pPr lvl="1"/>
            <a:r>
              <a:rPr lang="en-US" dirty="0"/>
              <a:t>Something you value</a:t>
            </a:r>
          </a:p>
          <a:p>
            <a:pPr lvl="1"/>
            <a:r>
              <a:rPr lang="en-US" dirty="0"/>
              <a:t>People perform actions to achieve goals</a:t>
            </a:r>
          </a:p>
        </p:txBody>
      </p:sp>
      <p:sp>
        <p:nvSpPr>
          <p:cNvPr id="4" name="Oval 3">
            <a:extLst>
              <a:ext uri="{FF2B5EF4-FFF2-40B4-BE49-F238E27FC236}">
                <a16:creationId xmlns:a16="http://schemas.microsoft.com/office/drawing/2014/main" id="{FB5E694C-5068-255A-80AA-02B5B1672AD3}"/>
              </a:ext>
            </a:extLst>
          </p:cNvPr>
          <p:cNvSpPr/>
          <p:nvPr/>
        </p:nvSpPr>
        <p:spPr>
          <a:xfrm>
            <a:off x="7724562" y="497221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428C21B-1725-5174-5D2C-BF717600FA35}"/>
              </a:ext>
            </a:extLst>
          </p:cNvPr>
          <p:cNvSpPr/>
          <p:nvPr/>
        </p:nvSpPr>
        <p:spPr>
          <a:xfrm>
            <a:off x="8616464"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E9BFC90-FF53-7743-871C-83CD4912B1BE}"/>
              </a:ext>
            </a:extLst>
          </p:cNvPr>
          <p:cNvSpPr/>
          <p:nvPr/>
        </p:nvSpPr>
        <p:spPr>
          <a:xfrm>
            <a:off x="10078680"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4C6F4198-5198-EC3F-2E20-33E3BDDB1D1F}"/>
              </a:ext>
            </a:extLst>
          </p:cNvPr>
          <p:cNvCxnSpPr>
            <a:stCxn id="5" idx="6"/>
            <a:endCxn id="6" idx="2"/>
          </p:cNvCxnSpPr>
          <p:nvPr/>
        </p:nvCxnSpPr>
        <p:spPr>
          <a:xfrm>
            <a:off x="9286904" y="6125626"/>
            <a:ext cx="79177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8B2E407-7E89-56D9-8C06-25B74FFC163C}"/>
              </a:ext>
            </a:extLst>
          </p:cNvPr>
          <p:cNvCxnSpPr>
            <a:cxnSpLocks/>
            <a:stCxn id="4" idx="5"/>
            <a:endCxn id="5" idx="1"/>
          </p:cNvCxnSpPr>
          <p:nvPr/>
        </p:nvCxnSpPr>
        <p:spPr>
          <a:xfrm>
            <a:off x="8296818" y="5544467"/>
            <a:ext cx="417830" cy="3441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5ABF9AD2-0CB1-1F03-E2EF-BDDC4ABAAE46}"/>
              </a:ext>
            </a:extLst>
          </p:cNvPr>
          <p:cNvSpPr/>
          <p:nvPr/>
        </p:nvSpPr>
        <p:spPr>
          <a:xfrm>
            <a:off x="8638665" y="444861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71A157A9-090D-2215-A634-E42DB5296454}"/>
              </a:ext>
            </a:extLst>
          </p:cNvPr>
          <p:cNvSpPr/>
          <p:nvPr/>
        </p:nvSpPr>
        <p:spPr>
          <a:xfrm>
            <a:off x="10080291" y="488526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0C421230-3C98-EE1C-E179-4A47330A05AD}"/>
              </a:ext>
            </a:extLst>
          </p:cNvPr>
          <p:cNvCxnSpPr>
            <a:stCxn id="9" idx="6"/>
            <a:endCxn id="10" idx="2"/>
          </p:cNvCxnSpPr>
          <p:nvPr/>
        </p:nvCxnSpPr>
        <p:spPr>
          <a:xfrm>
            <a:off x="9309105" y="4783836"/>
            <a:ext cx="771186" cy="4366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113A111-5AF6-FA98-0199-7150A03012BF}"/>
              </a:ext>
            </a:extLst>
          </p:cNvPr>
          <p:cNvCxnSpPr>
            <a:cxnSpLocks/>
            <a:stCxn id="4" idx="7"/>
            <a:endCxn id="9" idx="2"/>
          </p:cNvCxnSpPr>
          <p:nvPr/>
        </p:nvCxnSpPr>
        <p:spPr>
          <a:xfrm flipV="1">
            <a:off x="8296818" y="4783836"/>
            <a:ext cx="341847" cy="28655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CB889F4A-5FE8-B87F-D0E6-DE2D2AA27718}"/>
              </a:ext>
            </a:extLst>
          </p:cNvPr>
          <p:cNvSpPr/>
          <p:nvPr/>
        </p:nvSpPr>
        <p:spPr>
          <a:xfrm>
            <a:off x="10078680" y="392470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FD218C6B-4A06-150D-91E6-D2126FC3C8DB}"/>
              </a:ext>
            </a:extLst>
          </p:cNvPr>
          <p:cNvCxnSpPr>
            <a:cxnSpLocks/>
            <a:stCxn id="9" idx="6"/>
            <a:endCxn id="13" idx="2"/>
          </p:cNvCxnSpPr>
          <p:nvPr/>
        </p:nvCxnSpPr>
        <p:spPr>
          <a:xfrm flipV="1">
            <a:off x="9309105" y="4259924"/>
            <a:ext cx="769575" cy="5239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1BCC562-9501-833B-7764-00DC225291AC}"/>
              </a:ext>
            </a:extLst>
          </p:cNvPr>
          <p:cNvSpPr txBox="1"/>
          <p:nvPr/>
        </p:nvSpPr>
        <p:spPr>
          <a:xfrm>
            <a:off x="7704551" y="5767189"/>
            <a:ext cx="902811" cy="830997"/>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Watch</a:t>
            </a:r>
          </a:p>
          <a:p>
            <a:pPr algn="ctr"/>
            <a:r>
              <a:rPr lang="en-US" sz="1600" dirty="0">
                <a:latin typeface="Arial" panose="020B0604020202020204" pitchFamily="34" charset="0"/>
                <a:cs typeface="Arial" panose="020B0604020202020204" pitchFamily="34" charset="0"/>
              </a:rPr>
              <a:t>TV then</a:t>
            </a:r>
          </a:p>
          <a:p>
            <a:pPr algn="ctr"/>
            <a:r>
              <a:rPr lang="en-US" sz="1600" dirty="0">
                <a:latin typeface="Arial" panose="020B0604020202020204" pitchFamily="34" charset="0"/>
                <a:cs typeface="Arial" panose="020B0604020202020204" pitchFamily="34" charset="0"/>
              </a:rPr>
              <a:t>sleep</a:t>
            </a:r>
            <a:endParaRPr lang="en-US" sz="14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83D79B39-0722-4DE9-D5BE-B199967A01A6}"/>
              </a:ext>
            </a:extLst>
          </p:cNvPr>
          <p:cNvSpPr txBox="1"/>
          <p:nvPr/>
        </p:nvSpPr>
        <p:spPr>
          <a:xfrm>
            <a:off x="7707671" y="5154617"/>
            <a:ext cx="737701" cy="276999"/>
          </a:xfrm>
          <a:prstGeom prst="rect">
            <a:avLst/>
          </a:prstGeom>
          <a:noFill/>
        </p:spPr>
        <p:txBody>
          <a:bodyPr wrap="none" rtlCol="0">
            <a:spAutoFit/>
          </a:bodyPr>
          <a:lstStyle/>
          <a:p>
            <a:pPr algn="ctr"/>
            <a:r>
              <a:rPr lang="en-US" sz="1200" dirty="0">
                <a:latin typeface="Arial" panose="020B0604020202020204" pitchFamily="34" charset="0"/>
                <a:cs typeface="Arial" panose="020B0604020202020204" pitchFamily="34" charset="0"/>
              </a:rPr>
              <a:t>Morning</a:t>
            </a:r>
          </a:p>
        </p:txBody>
      </p:sp>
      <p:sp>
        <p:nvSpPr>
          <p:cNvPr id="18" name="TextBox 17">
            <a:extLst>
              <a:ext uri="{FF2B5EF4-FFF2-40B4-BE49-F238E27FC236}">
                <a16:creationId xmlns:a16="http://schemas.microsoft.com/office/drawing/2014/main" id="{4CFBE3BD-0D0D-59E1-0245-1297B313362F}"/>
              </a:ext>
            </a:extLst>
          </p:cNvPr>
          <p:cNvSpPr txBox="1"/>
          <p:nvPr/>
        </p:nvSpPr>
        <p:spPr>
          <a:xfrm>
            <a:off x="8515843" y="4547462"/>
            <a:ext cx="929687" cy="461665"/>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41CE8973-1273-FAD8-EF33-D6AB16557258}"/>
              </a:ext>
            </a:extLst>
          </p:cNvPr>
          <p:cNvSpPr txBox="1"/>
          <p:nvPr/>
        </p:nvSpPr>
        <p:spPr>
          <a:xfrm>
            <a:off x="8915564" y="3810728"/>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Prep for individual meeting</a:t>
            </a:r>
          </a:p>
        </p:txBody>
      </p:sp>
      <p:sp>
        <p:nvSpPr>
          <p:cNvPr id="20" name="TextBox 19">
            <a:extLst>
              <a:ext uri="{FF2B5EF4-FFF2-40B4-BE49-F238E27FC236}">
                <a16:creationId xmlns:a16="http://schemas.microsoft.com/office/drawing/2014/main" id="{60A83CF3-EDCB-D4E5-EE6C-A0A5DB534D78}"/>
              </a:ext>
            </a:extLst>
          </p:cNvPr>
          <p:cNvSpPr txBox="1"/>
          <p:nvPr/>
        </p:nvSpPr>
        <p:spPr>
          <a:xfrm>
            <a:off x="8493265" y="5796193"/>
            <a:ext cx="929687" cy="646331"/>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no</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5389D55C-331A-7D0F-AEC0-C5599E852C1F}"/>
              </a:ext>
            </a:extLst>
          </p:cNvPr>
          <p:cNvSpPr txBox="1"/>
          <p:nvPr/>
        </p:nvSpPr>
        <p:spPr>
          <a:xfrm>
            <a:off x="8873831" y="4986590"/>
            <a:ext cx="1161505" cy="430887"/>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Read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book</a:t>
            </a:r>
          </a:p>
        </p:txBody>
      </p:sp>
      <p:sp>
        <p:nvSpPr>
          <p:cNvPr id="22" name="TextBox 21">
            <a:extLst>
              <a:ext uri="{FF2B5EF4-FFF2-40B4-BE49-F238E27FC236}">
                <a16:creationId xmlns:a16="http://schemas.microsoft.com/office/drawing/2014/main" id="{F61E1506-4C15-9D0D-01E3-45043ECB75AD}"/>
              </a:ext>
            </a:extLst>
          </p:cNvPr>
          <p:cNvSpPr txBox="1"/>
          <p:nvPr/>
        </p:nvSpPr>
        <p:spPr>
          <a:xfrm>
            <a:off x="9831537" y="3926380"/>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great</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3" name="TextBox 22">
            <a:extLst>
              <a:ext uri="{FF2B5EF4-FFF2-40B4-BE49-F238E27FC236}">
                <a16:creationId xmlns:a16="http://schemas.microsoft.com/office/drawing/2014/main" id="{770C3B45-144D-5D93-74C0-CF963C24794D}"/>
              </a:ext>
            </a:extLst>
          </p:cNvPr>
          <p:cNvSpPr txBox="1"/>
          <p:nvPr/>
        </p:nvSpPr>
        <p:spPr>
          <a:xfrm>
            <a:off x="9839677" y="4892693"/>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ok</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4" name="TextBox 23">
            <a:extLst>
              <a:ext uri="{FF2B5EF4-FFF2-40B4-BE49-F238E27FC236}">
                <a16:creationId xmlns:a16="http://schemas.microsoft.com/office/drawing/2014/main" id="{382F12B4-63D2-1623-08A2-D9BDBCE0950F}"/>
              </a:ext>
            </a:extLst>
          </p:cNvPr>
          <p:cNvSpPr txBox="1"/>
          <p:nvPr/>
        </p:nvSpPr>
        <p:spPr>
          <a:xfrm>
            <a:off x="9825572" y="5793396"/>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47" name="TextBox 46">
            <a:extLst>
              <a:ext uri="{FF2B5EF4-FFF2-40B4-BE49-F238E27FC236}">
                <a16:creationId xmlns:a16="http://schemas.microsoft.com/office/drawing/2014/main" id="{937CABBE-0C21-83B9-7133-CBEDA3A96A6E}"/>
              </a:ext>
            </a:extLst>
          </p:cNvPr>
          <p:cNvSpPr txBox="1"/>
          <p:nvPr/>
        </p:nvSpPr>
        <p:spPr>
          <a:xfrm>
            <a:off x="9147382" y="6217490"/>
            <a:ext cx="929687"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Cry</a:t>
            </a:r>
            <a:endParaRPr lang="en-US" sz="1100" dirty="0">
              <a:latin typeface="Arial" panose="020B0604020202020204" pitchFamily="34" charset="0"/>
              <a:cs typeface="Arial" panose="020B0604020202020204" pitchFamily="34" charset="0"/>
            </a:endParaRPr>
          </a:p>
        </p:txBody>
      </p:sp>
      <p:sp>
        <p:nvSpPr>
          <p:cNvPr id="31" name="Oval 30">
            <a:extLst>
              <a:ext uri="{FF2B5EF4-FFF2-40B4-BE49-F238E27FC236}">
                <a16:creationId xmlns:a16="http://schemas.microsoft.com/office/drawing/2014/main" id="{015C7F35-EDC8-90D1-ACCF-ADD5CA25B4BC}"/>
              </a:ext>
            </a:extLst>
          </p:cNvPr>
          <p:cNvSpPr/>
          <p:nvPr/>
        </p:nvSpPr>
        <p:spPr>
          <a:xfrm>
            <a:off x="9490061" y="1334115"/>
            <a:ext cx="2065825" cy="2065825"/>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4" name="Straight Connector 33">
            <a:extLst>
              <a:ext uri="{FF2B5EF4-FFF2-40B4-BE49-F238E27FC236}">
                <a16:creationId xmlns:a16="http://schemas.microsoft.com/office/drawing/2014/main" id="{12AA9530-7DB0-1ACD-A436-EF72720EDBE3}"/>
              </a:ext>
            </a:extLst>
          </p:cNvPr>
          <p:cNvCxnSpPr>
            <a:cxnSpLocks/>
            <a:stCxn id="31" idx="3"/>
            <a:endCxn id="22" idx="0"/>
          </p:cNvCxnSpPr>
          <p:nvPr/>
        </p:nvCxnSpPr>
        <p:spPr>
          <a:xfrm>
            <a:off x="9792594" y="3097407"/>
            <a:ext cx="619696" cy="8289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909F43A-86A0-F605-0BB6-0DB68762802F}"/>
              </a:ext>
            </a:extLst>
          </p:cNvPr>
          <p:cNvCxnSpPr>
            <a:cxnSpLocks/>
            <a:stCxn id="31" idx="5"/>
            <a:endCxn id="22" idx="0"/>
          </p:cNvCxnSpPr>
          <p:nvPr/>
        </p:nvCxnSpPr>
        <p:spPr>
          <a:xfrm flipH="1">
            <a:off x="10412290" y="3097407"/>
            <a:ext cx="841063" cy="8289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E48C27EB-DD50-637F-292D-08F815AB7F89}"/>
              </a:ext>
            </a:extLst>
          </p:cNvPr>
          <p:cNvSpPr/>
          <p:nvPr/>
        </p:nvSpPr>
        <p:spPr>
          <a:xfrm>
            <a:off x="9717433" y="1670005"/>
            <a:ext cx="715552" cy="715552"/>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EBC77C1B-F3A5-4C71-DD16-E4B89E7E55F0}"/>
              </a:ext>
            </a:extLst>
          </p:cNvPr>
          <p:cNvSpPr txBox="1"/>
          <p:nvPr/>
        </p:nvSpPr>
        <p:spPr>
          <a:xfrm>
            <a:off x="9672152" y="1729373"/>
            <a:ext cx="811441" cy="523220"/>
          </a:xfrm>
          <a:prstGeom prst="rect">
            <a:avLst/>
          </a:prstGeom>
          <a:noFill/>
        </p:spPr>
        <p:txBody>
          <a:bodyPr wrap="none" rtlCol="0">
            <a:spAutoFit/>
          </a:bodyPr>
          <a:lstStyle/>
          <a:p>
            <a:pPr algn="ctr"/>
            <a:r>
              <a:rPr lang="en-US" sz="1400" dirty="0">
                <a:solidFill>
                  <a:schemeClr val="bg1"/>
                </a:solidFill>
                <a:latin typeface="Arial" panose="020B0604020202020204" pitchFamily="34" charset="0"/>
                <a:cs typeface="Arial" panose="020B0604020202020204" pitchFamily="34" charset="0"/>
              </a:rPr>
              <a:t>R&amp;S</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pleased</a:t>
            </a:r>
          </a:p>
        </p:txBody>
      </p:sp>
      <p:sp>
        <p:nvSpPr>
          <p:cNvPr id="49" name="Oval 48">
            <a:extLst>
              <a:ext uri="{FF2B5EF4-FFF2-40B4-BE49-F238E27FC236}">
                <a16:creationId xmlns:a16="http://schemas.microsoft.com/office/drawing/2014/main" id="{ECD7E5EF-8450-7199-CACC-7E65C17B9B95}"/>
              </a:ext>
            </a:extLst>
          </p:cNvPr>
          <p:cNvSpPr/>
          <p:nvPr/>
        </p:nvSpPr>
        <p:spPr>
          <a:xfrm>
            <a:off x="10636659" y="1806019"/>
            <a:ext cx="715552" cy="715552"/>
          </a:xfrm>
          <a:prstGeom prst="ellipse">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E385E0E5-5BF1-C62C-D5B9-0BD554F9E7F3}"/>
              </a:ext>
            </a:extLst>
          </p:cNvPr>
          <p:cNvSpPr txBox="1"/>
          <p:nvPr/>
        </p:nvSpPr>
        <p:spPr>
          <a:xfrm>
            <a:off x="10682933" y="1875024"/>
            <a:ext cx="638316" cy="600164"/>
          </a:xfrm>
          <a:prstGeom prst="rect">
            <a:avLst/>
          </a:prstGeom>
          <a:noFill/>
        </p:spPr>
        <p:txBody>
          <a:bodyPr wrap="none" rtlCol="0">
            <a:spAutoFit/>
          </a:bodyPr>
          <a:lstStyle/>
          <a:p>
            <a:pPr algn="ctr"/>
            <a:r>
              <a:rPr lang="en-US" sz="1100" dirty="0">
                <a:solidFill>
                  <a:schemeClr val="bg1"/>
                </a:solidFill>
                <a:latin typeface="Arial" panose="020B0604020202020204" pitchFamily="34" charset="0"/>
                <a:cs typeface="Arial" panose="020B0604020202020204" pitchFamily="34" charset="0"/>
              </a:rPr>
              <a:t>Ready</a:t>
            </a:r>
            <a:br>
              <a:rPr lang="en-US" sz="1100" dirty="0">
                <a:solidFill>
                  <a:schemeClr val="bg1"/>
                </a:solidFill>
                <a:latin typeface="Arial" panose="020B0604020202020204" pitchFamily="34" charset="0"/>
                <a:cs typeface="Arial" panose="020B0604020202020204" pitchFamily="34" charset="0"/>
              </a:rPr>
            </a:br>
            <a:r>
              <a:rPr lang="en-US" sz="1100" dirty="0">
                <a:solidFill>
                  <a:schemeClr val="bg1"/>
                </a:solidFill>
                <a:latin typeface="Arial" panose="020B0604020202020204" pitchFamily="34" charset="0"/>
                <a:cs typeface="Arial" panose="020B0604020202020204" pitchFamily="34" charset="0"/>
              </a:rPr>
              <a:t>to write</a:t>
            </a:r>
          </a:p>
          <a:p>
            <a:pPr algn="ctr"/>
            <a:r>
              <a:rPr lang="en-US" sz="1100" dirty="0">
                <a:solidFill>
                  <a:schemeClr val="bg1"/>
                </a:solidFill>
                <a:latin typeface="Arial" panose="020B0604020202020204" pitchFamily="34" charset="0"/>
                <a:cs typeface="Arial" panose="020B0604020202020204" pitchFamily="34" charset="0"/>
              </a:rPr>
              <a:t>paper</a:t>
            </a:r>
          </a:p>
        </p:txBody>
      </p:sp>
      <p:sp>
        <p:nvSpPr>
          <p:cNvPr id="51" name="Oval 50">
            <a:extLst>
              <a:ext uri="{FF2B5EF4-FFF2-40B4-BE49-F238E27FC236}">
                <a16:creationId xmlns:a16="http://schemas.microsoft.com/office/drawing/2014/main" id="{35D2AB27-AB20-D986-7F18-C64F6F0808EA}"/>
              </a:ext>
            </a:extLst>
          </p:cNvPr>
          <p:cNvSpPr/>
          <p:nvPr/>
        </p:nvSpPr>
        <p:spPr>
          <a:xfrm>
            <a:off x="10035357" y="2486989"/>
            <a:ext cx="715552" cy="715552"/>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0D75F717-FCAD-6BB0-6E65-FAD8B1FD5A39}"/>
              </a:ext>
            </a:extLst>
          </p:cNvPr>
          <p:cNvSpPr txBox="1"/>
          <p:nvPr/>
        </p:nvSpPr>
        <p:spPr>
          <a:xfrm>
            <a:off x="10100554" y="2668834"/>
            <a:ext cx="585160" cy="307777"/>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Tired</a:t>
            </a:r>
          </a:p>
        </p:txBody>
      </p:sp>
      <p:cxnSp>
        <p:nvCxnSpPr>
          <p:cNvPr id="55" name="Straight Connector 54">
            <a:extLst>
              <a:ext uri="{FF2B5EF4-FFF2-40B4-BE49-F238E27FC236}">
                <a16:creationId xmlns:a16="http://schemas.microsoft.com/office/drawing/2014/main" id="{47A02967-45E6-13DD-E59C-801EFB31ADD4}"/>
              </a:ext>
            </a:extLst>
          </p:cNvPr>
          <p:cNvCxnSpPr>
            <a:cxnSpLocks/>
          </p:cNvCxnSpPr>
          <p:nvPr/>
        </p:nvCxnSpPr>
        <p:spPr>
          <a:xfrm flipH="1">
            <a:off x="7930682" y="2817585"/>
            <a:ext cx="1660353" cy="2148657"/>
          </a:xfrm>
          <a:prstGeom prst="line">
            <a:avLst/>
          </a:prstGeom>
          <a:ln w="28575">
            <a:solidFill>
              <a:srgbClr val="0070C0"/>
            </a:solidFill>
            <a:tailEnd type="ova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A9BCB88-A7F3-9644-F5B1-8E4A23F67B9C}"/>
              </a:ext>
            </a:extLst>
          </p:cNvPr>
          <p:cNvCxnSpPr>
            <a:cxnSpLocks/>
          </p:cNvCxnSpPr>
          <p:nvPr/>
        </p:nvCxnSpPr>
        <p:spPr>
          <a:xfrm flipH="1">
            <a:off x="8203391" y="2964097"/>
            <a:ext cx="1521290" cy="1988850"/>
          </a:xfrm>
          <a:prstGeom prst="line">
            <a:avLst/>
          </a:prstGeom>
          <a:ln w="28575">
            <a:solidFill>
              <a:srgbClr val="FF0000"/>
            </a:solidFill>
            <a:tailEnd type="ova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C4557ED-B1BC-D2DE-863E-FCC80B65DCFA}"/>
              </a:ext>
            </a:extLst>
          </p:cNvPr>
          <p:cNvCxnSpPr>
            <a:cxnSpLocks/>
            <a:endCxn id="4" idx="0"/>
          </p:cNvCxnSpPr>
          <p:nvPr/>
        </p:nvCxnSpPr>
        <p:spPr>
          <a:xfrm flipH="1">
            <a:off x="8059782" y="2909448"/>
            <a:ext cx="1572457" cy="2062763"/>
          </a:xfrm>
          <a:prstGeom prst="line">
            <a:avLst/>
          </a:prstGeom>
          <a:ln w="28575">
            <a:solidFill>
              <a:schemeClr val="accent4"/>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69951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B2818-0ACC-EA91-9931-5DFE299421AB}"/>
              </a:ext>
            </a:extLst>
          </p:cNvPr>
          <p:cNvSpPr>
            <a:spLocks noGrp="1"/>
          </p:cNvSpPr>
          <p:nvPr>
            <p:ph type="title"/>
          </p:nvPr>
        </p:nvSpPr>
        <p:spPr/>
        <p:txBody>
          <a:bodyPr/>
          <a:lstStyle/>
          <a:p>
            <a:r>
              <a:rPr lang="en-US" dirty="0"/>
              <a:t>Affordances</a:t>
            </a:r>
          </a:p>
        </p:txBody>
      </p:sp>
      <p:sp>
        <p:nvSpPr>
          <p:cNvPr id="3" name="Content Placeholder 2">
            <a:extLst>
              <a:ext uri="{FF2B5EF4-FFF2-40B4-BE49-F238E27FC236}">
                <a16:creationId xmlns:a16="http://schemas.microsoft.com/office/drawing/2014/main" id="{2365027E-669A-D5B0-303F-A3BBEB86066C}"/>
              </a:ext>
            </a:extLst>
          </p:cNvPr>
          <p:cNvSpPr>
            <a:spLocks noGrp="1"/>
          </p:cNvSpPr>
          <p:nvPr>
            <p:ph idx="1"/>
          </p:nvPr>
        </p:nvSpPr>
        <p:spPr>
          <a:xfrm>
            <a:off x="838200" y="1825625"/>
            <a:ext cx="8449235" cy="4351338"/>
          </a:xfrm>
        </p:spPr>
        <p:txBody>
          <a:bodyPr>
            <a:normAutofit/>
          </a:bodyPr>
          <a:lstStyle/>
          <a:p>
            <a:r>
              <a:rPr lang="en-US" dirty="0"/>
              <a:t>Affordances:</a:t>
            </a:r>
          </a:p>
          <a:p>
            <a:pPr lvl="1"/>
            <a:r>
              <a:rPr lang="en-US" dirty="0"/>
              <a:t>Idea that objects in the world are perceived in terms of what actions they make permissible</a:t>
            </a:r>
          </a:p>
          <a:p>
            <a:pPr lvl="1"/>
            <a:r>
              <a:rPr lang="en-US" dirty="0"/>
              <a:t>For example, this door design is bad because it is meant to be pushed yet the handles allow pulling</a:t>
            </a:r>
          </a:p>
          <a:p>
            <a:r>
              <a:rPr lang="en-US" dirty="0"/>
              <a:t>State framing:</a:t>
            </a:r>
          </a:p>
          <a:p>
            <a:pPr lvl="1"/>
            <a:r>
              <a:rPr lang="en-US" dirty="0"/>
              <a:t>Affordances are features of a state that define which actions (transitions) are available to go toward another state</a:t>
            </a:r>
          </a:p>
          <a:p>
            <a:pPr lvl="1"/>
            <a:r>
              <a:rPr lang="en-US" dirty="0"/>
              <a:t>I need to own a TV in order to watch TV</a:t>
            </a:r>
          </a:p>
        </p:txBody>
      </p:sp>
      <p:pic>
        <p:nvPicPr>
          <p:cNvPr id="4" name="Picture 3">
            <a:extLst>
              <a:ext uri="{FF2B5EF4-FFF2-40B4-BE49-F238E27FC236}">
                <a16:creationId xmlns:a16="http://schemas.microsoft.com/office/drawing/2014/main" id="{B5C0F37D-2EC5-DA44-2EEE-C3874A5F998D}"/>
              </a:ext>
            </a:extLst>
          </p:cNvPr>
          <p:cNvPicPr>
            <a:picLocks noChangeAspect="1"/>
          </p:cNvPicPr>
          <p:nvPr/>
        </p:nvPicPr>
        <p:blipFill>
          <a:blip r:embed="rId2"/>
          <a:stretch>
            <a:fillRect/>
          </a:stretch>
        </p:blipFill>
        <p:spPr>
          <a:xfrm>
            <a:off x="9287435" y="2465135"/>
            <a:ext cx="2550458" cy="3429926"/>
          </a:xfrm>
          <a:prstGeom prst="rect">
            <a:avLst/>
          </a:prstGeom>
        </p:spPr>
      </p:pic>
    </p:spTree>
    <p:extLst>
      <p:ext uri="{BB962C8B-B14F-4D97-AF65-F5344CB8AC3E}">
        <p14:creationId xmlns:p14="http://schemas.microsoft.com/office/powerpoint/2010/main" val="15870879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21409-172B-16D6-8013-BFAA001CD9C1}"/>
              </a:ext>
            </a:extLst>
          </p:cNvPr>
          <p:cNvSpPr>
            <a:spLocks noGrp="1"/>
          </p:cNvSpPr>
          <p:nvPr>
            <p:ph type="title"/>
          </p:nvPr>
        </p:nvSpPr>
        <p:spPr>
          <a:xfrm>
            <a:off x="838200" y="120920"/>
            <a:ext cx="10515600" cy="1325563"/>
          </a:xfrm>
        </p:spPr>
        <p:txBody>
          <a:bodyPr/>
          <a:lstStyle/>
          <a:p>
            <a:r>
              <a:rPr lang="en-US" dirty="0"/>
              <a:t>Episodic memories</a:t>
            </a:r>
          </a:p>
        </p:txBody>
      </p:sp>
      <p:sp>
        <p:nvSpPr>
          <p:cNvPr id="3" name="Content Placeholder 2">
            <a:extLst>
              <a:ext uri="{FF2B5EF4-FFF2-40B4-BE49-F238E27FC236}">
                <a16:creationId xmlns:a16="http://schemas.microsoft.com/office/drawing/2014/main" id="{543456C0-58B0-0CCC-9CBE-3CB25731FDA2}"/>
              </a:ext>
            </a:extLst>
          </p:cNvPr>
          <p:cNvSpPr>
            <a:spLocks noGrp="1"/>
          </p:cNvSpPr>
          <p:nvPr>
            <p:ph idx="1"/>
          </p:nvPr>
        </p:nvSpPr>
        <p:spPr>
          <a:xfrm>
            <a:off x="313766" y="1446483"/>
            <a:ext cx="6911123" cy="4981212"/>
          </a:xfrm>
        </p:spPr>
        <p:txBody>
          <a:bodyPr>
            <a:normAutofit/>
          </a:bodyPr>
          <a:lstStyle/>
          <a:p>
            <a:r>
              <a:rPr lang="en-US" dirty="0"/>
              <a:t>Episodic memories, to me, often feel “active”</a:t>
            </a:r>
          </a:p>
          <a:p>
            <a:pPr lvl="1"/>
            <a:r>
              <a:rPr lang="en-US" dirty="0"/>
              <a:t>When I recollect an experience, I don’t just see a collection of stimuli in my mind’s eye</a:t>
            </a:r>
          </a:p>
          <a:p>
            <a:pPr lvl="1"/>
            <a:r>
              <a:rPr lang="en-US" dirty="0"/>
              <a:t>I also recollect what I was doing and/or what led to the experience</a:t>
            </a:r>
          </a:p>
          <a:p>
            <a:pPr lvl="1"/>
            <a:r>
              <a:rPr lang="en-US" dirty="0"/>
              <a:t>This would suggest that typical research on episodic memory is missing a fundamental element</a:t>
            </a:r>
          </a:p>
          <a:p>
            <a:r>
              <a:rPr lang="en-US" dirty="0"/>
              <a:t>In some way, this feels related to episodic simulation (reasoning/planning)</a:t>
            </a:r>
          </a:p>
          <a:p>
            <a:pPr lvl="1"/>
            <a:r>
              <a:rPr lang="en-US" dirty="0"/>
              <a:t>Inference about how one experience leads to another</a:t>
            </a:r>
          </a:p>
        </p:txBody>
      </p:sp>
      <p:sp>
        <p:nvSpPr>
          <p:cNvPr id="4" name="Oval 3">
            <a:extLst>
              <a:ext uri="{FF2B5EF4-FFF2-40B4-BE49-F238E27FC236}">
                <a16:creationId xmlns:a16="http://schemas.microsoft.com/office/drawing/2014/main" id="{0C350394-5600-E6EB-2A79-3FE021AFE423}"/>
              </a:ext>
            </a:extLst>
          </p:cNvPr>
          <p:cNvSpPr/>
          <p:nvPr/>
        </p:nvSpPr>
        <p:spPr>
          <a:xfrm>
            <a:off x="8004775" y="378006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32A8084-E958-57A2-F32A-9AC094845235}"/>
              </a:ext>
            </a:extLst>
          </p:cNvPr>
          <p:cNvSpPr/>
          <p:nvPr/>
        </p:nvSpPr>
        <p:spPr>
          <a:xfrm>
            <a:off x="8896677" y="459826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B4C4967-0531-5713-99A2-1448851C5BAB}"/>
              </a:ext>
            </a:extLst>
          </p:cNvPr>
          <p:cNvSpPr/>
          <p:nvPr/>
        </p:nvSpPr>
        <p:spPr>
          <a:xfrm>
            <a:off x="10358893" y="459826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7E9AC6FC-0662-ADBB-6BB8-FF1D1B515602}"/>
              </a:ext>
            </a:extLst>
          </p:cNvPr>
          <p:cNvCxnSpPr>
            <a:stCxn id="5" idx="6"/>
            <a:endCxn id="6" idx="2"/>
          </p:cNvCxnSpPr>
          <p:nvPr/>
        </p:nvCxnSpPr>
        <p:spPr>
          <a:xfrm>
            <a:off x="9567117" y="4933481"/>
            <a:ext cx="791776"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633228C-B881-5A54-7FD5-B6E9413439AE}"/>
              </a:ext>
            </a:extLst>
          </p:cNvPr>
          <p:cNvCxnSpPr>
            <a:cxnSpLocks/>
            <a:stCxn id="4" idx="5"/>
            <a:endCxn id="5" idx="1"/>
          </p:cNvCxnSpPr>
          <p:nvPr/>
        </p:nvCxnSpPr>
        <p:spPr>
          <a:xfrm>
            <a:off x="8577031" y="4352322"/>
            <a:ext cx="417830" cy="344123"/>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84042AB7-6918-E162-E620-9E2BFF3F5DAC}"/>
              </a:ext>
            </a:extLst>
          </p:cNvPr>
          <p:cNvSpPr/>
          <p:nvPr/>
        </p:nvSpPr>
        <p:spPr>
          <a:xfrm>
            <a:off x="8918878" y="325647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85C3C0EF-5C6D-4D83-6D37-754C459F658A}"/>
              </a:ext>
            </a:extLst>
          </p:cNvPr>
          <p:cNvSpPr/>
          <p:nvPr/>
        </p:nvSpPr>
        <p:spPr>
          <a:xfrm>
            <a:off x="10360504" y="3693123"/>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8B8F4FA4-4010-E0AE-20CD-EC7D5C8F0EE0}"/>
              </a:ext>
            </a:extLst>
          </p:cNvPr>
          <p:cNvCxnSpPr>
            <a:stCxn id="9" idx="6"/>
            <a:endCxn id="10" idx="2"/>
          </p:cNvCxnSpPr>
          <p:nvPr/>
        </p:nvCxnSpPr>
        <p:spPr>
          <a:xfrm>
            <a:off x="9589318" y="3591691"/>
            <a:ext cx="771186" cy="43665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4F01A42-D8E3-F448-F43A-DBB1EDD6C6A0}"/>
              </a:ext>
            </a:extLst>
          </p:cNvPr>
          <p:cNvCxnSpPr>
            <a:cxnSpLocks/>
            <a:stCxn id="4" idx="7"/>
            <a:endCxn id="9" idx="2"/>
          </p:cNvCxnSpPr>
          <p:nvPr/>
        </p:nvCxnSpPr>
        <p:spPr>
          <a:xfrm flipV="1">
            <a:off x="8577031" y="3591691"/>
            <a:ext cx="341847" cy="286559"/>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DF76BD0-FC65-11DC-13ED-8BCD6DF2A29F}"/>
              </a:ext>
            </a:extLst>
          </p:cNvPr>
          <p:cNvSpPr/>
          <p:nvPr/>
        </p:nvSpPr>
        <p:spPr>
          <a:xfrm>
            <a:off x="10358893" y="2732559"/>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CBE279F7-07C8-7C35-7FCC-8F9CC26AD627}"/>
              </a:ext>
            </a:extLst>
          </p:cNvPr>
          <p:cNvCxnSpPr>
            <a:cxnSpLocks/>
            <a:stCxn id="9" idx="6"/>
            <a:endCxn id="13" idx="2"/>
          </p:cNvCxnSpPr>
          <p:nvPr/>
        </p:nvCxnSpPr>
        <p:spPr>
          <a:xfrm flipV="1">
            <a:off x="9589318" y="3067779"/>
            <a:ext cx="769575" cy="52391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3BFB9DA-920E-EF33-7387-F046727B669F}"/>
              </a:ext>
            </a:extLst>
          </p:cNvPr>
          <p:cNvSpPr txBox="1"/>
          <p:nvPr/>
        </p:nvSpPr>
        <p:spPr>
          <a:xfrm>
            <a:off x="7984764" y="4575044"/>
            <a:ext cx="902811" cy="830997"/>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Watch</a:t>
            </a:r>
          </a:p>
          <a:p>
            <a:pPr algn="ctr"/>
            <a:r>
              <a:rPr lang="en-US" sz="1600" dirty="0">
                <a:latin typeface="Arial" panose="020B0604020202020204" pitchFamily="34" charset="0"/>
                <a:cs typeface="Arial" panose="020B0604020202020204" pitchFamily="34" charset="0"/>
              </a:rPr>
              <a:t>TV then</a:t>
            </a:r>
          </a:p>
          <a:p>
            <a:pPr algn="ctr"/>
            <a:r>
              <a:rPr lang="en-US" sz="1600" dirty="0">
                <a:latin typeface="Arial" panose="020B0604020202020204" pitchFamily="34" charset="0"/>
                <a:cs typeface="Arial" panose="020B0604020202020204" pitchFamily="34" charset="0"/>
              </a:rPr>
              <a:t>sleep</a:t>
            </a:r>
            <a:endParaRPr lang="en-US" sz="14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5049A6F3-5D9B-CECF-79DF-5F4D0B85B46A}"/>
              </a:ext>
            </a:extLst>
          </p:cNvPr>
          <p:cNvSpPr txBox="1"/>
          <p:nvPr/>
        </p:nvSpPr>
        <p:spPr>
          <a:xfrm>
            <a:off x="7987884" y="3962472"/>
            <a:ext cx="737701" cy="276999"/>
          </a:xfrm>
          <a:prstGeom prst="rect">
            <a:avLst/>
          </a:prstGeom>
          <a:noFill/>
        </p:spPr>
        <p:txBody>
          <a:bodyPr wrap="none" rtlCol="0">
            <a:spAutoFit/>
          </a:bodyPr>
          <a:lstStyle/>
          <a:p>
            <a:pPr algn="ctr"/>
            <a:r>
              <a:rPr lang="en-US" sz="1200" dirty="0">
                <a:latin typeface="Arial" panose="020B0604020202020204" pitchFamily="34" charset="0"/>
                <a:cs typeface="Arial" panose="020B0604020202020204" pitchFamily="34" charset="0"/>
              </a:rPr>
              <a:t>Morning</a:t>
            </a:r>
          </a:p>
        </p:txBody>
      </p:sp>
      <p:sp>
        <p:nvSpPr>
          <p:cNvPr id="17" name="TextBox 16">
            <a:extLst>
              <a:ext uri="{FF2B5EF4-FFF2-40B4-BE49-F238E27FC236}">
                <a16:creationId xmlns:a16="http://schemas.microsoft.com/office/drawing/2014/main" id="{4E2E2E12-F0EC-27E3-FE8F-19018795F1A2}"/>
              </a:ext>
            </a:extLst>
          </p:cNvPr>
          <p:cNvSpPr txBox="1"/>
          <p:nvPr/>
        </p:nvSpPr>
        <p:spPr>
          <a:xfrm>
            <a:off x="8796056" y="3355317"/>
            <a:ext cx="929687" cy="461665"/>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BC4BCC12-D311-EB1B-5348-C170D70C56C7}"/>
              </a:ext>
            </a:extLst>
          </p:cNvPr>
          <p:cNvSpPr txBox="1"/>
          <p:nvPr/>
        </p:nvSpPr>
        <p:spPr>
          <a:xfrm>
            <a:off x="9195777" y="2618583"/>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Prep for individual meeting</a:t>
            </a:r>
          </a:p>
        </p:txBody>
      </p:sp>
      <p:sp>
        <p:nvSpPr>
          <p:cNvPr id="19" name="TextBox 18">
            <a:extLst>
              <a:ext uri="{FF2B5EF4-FFF2-40B4-BE49-F238E27FC236}">
                <a16:creationId xmlns:a16="http://schemas.microsoft.com/office/drawing/2014/main" id="{5C325548-57D4-AFC7-A887-27B5135CF3D8}"/>
              </a:ext>
            </a:extLst>
          </p:cNvPr>
          <p:cNvSpPr txBox="1"/>
          <p:nvPr/>
        </p:nvSpPr>
        <p:spPr>
          <a:xfrm>
            <a:off x="8773478" y="4604048"/>
            <a:ext cx="929687" cy="646331"/>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no</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94E2CDDD-394F-D28E-DE64-25BE52212259}"/>
              </a:ext>
            </a:extLst>
          </p:cNvPr>
          <p:cNvSpPr txBox="1"/>
          <p:nvPr/>
        </p:nvSpPr>
        <p:spPr>
          <a:xfrm>
            <a:off x="9154044" y="3794445"/>
            <a:ext cx="1161505" cy="430887"/>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Read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book</a:t>
            </a:r>
          </a:p>
        </p:txBody>
      </p:sp>
      <p:sp>
        <p:nvSpPr>
          <p:cNvPr id="21" name="TextBox 20">
            <a:extLst>
              <a:ext uri="{FF2B5EF4-FFF2-40B4-BE49-F238E27FC236}">
                <a16:creationId xmlns:a16="http://schemas.microsoft.com/office/drawing/2014/main" id="{4FE89FCE-DCCA-8177-5438-0E39030B27EF}"/>
              </a:ext>
            </a:extLst>
          </p:cNvPr>
          <p:cNvSpPr txBox="1"/>
          <p:nvPr/>
        </p:nvSpPr>
        <p:spPr>
          <a:xfrm>
            <a:off x="10111750" y="2734235"/>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great</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2" name="TextBox 21">
            <a:extLst>
              <a:ext uri="{FF2B5EF4-FFF2-40B4-BE49-F238E27FC236}">
                <a16:creationId xmlns:a16="http://schemas.microsoft.com/office/drawing/2014/main" id="{A464408C-C4F0-7706-5E7F-1692D6CB1F59}"/>
              </a:ext>
            </a:extLst>
          </p:cNvPr>
          <p:cNvSpPr txBox="1"/>
          <p:nvPr/>
        </p:nvSpPr>
        <p:spPr>
          <a:xfrm>
            <a:off x="10119890" y="3700548"/>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ok</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3" name="TextBox 22">
            <a:extLst>
              <a:ext uri="{FF2B5EF4-FFF2-40B4-BE49-F238E27FC236}">
                <a16:creationId xmlns:a16="http://schemas.microsoft.com/office/drawing/2014/main" id="{008D92C9-AE7F-9383-E2CE-963DDE1BF83C}"/>
              </a:ext>
            </a:extLst>
          </p:cNvPr>
          <p:cNvSpPr txBox="1"/>
          <p:nvPr/>
        </p:nvSpPr>
        <p:spPr>
          <a:xfrm>
            <a:off x="10105785" y="4601251"/>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4" name="TextBox 23">
            <a:extLst>
              <a:ext uri="{FF2B5EF4-FFF2-40B4-BE49-F238E27FC236}">
                <a16:creationId xmlns:a16="http://schemas.microsoft.com/office/drawing/2014/main" id="{5C244099-A905-AB35-F729-B6341B25EA4B}"/>
              </a:ext>
            </a:extLst>
          </p:cNvPr>
          <p:cNvSpPr txBox="1"/>
          <p:nvPr/>
        </p:nvSpPr>
        <p:spPr>
          <a:xfrm>
            <a:off x="9427595" y="5025345"/>
            <a:ext cx="929687"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Cry</a:t>
            </a:r>
            <a:endParaRPr lang="en-US" sz="1100" dirty="0">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0188C180-E652-9983-8B79-A5F1C674DE16}"/>
              </a:ext>
            </a:extLst>
          </p:cNvPr>
          <p:cNvSpPr/>
          <p:nvPr/>
        </p:nvSpPr>
        <p:spPr>
          <a:xfrm>
            <a:off x="8525337" y="3212975"/>
            <a:ext cx="1108936" cy="75743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2657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55D5E-CF7E-14B5-0302-9705B21572D4}"/>
              </a:ext>
            </a:extLst>
          </p:cNvPr>
          <p:cNvSpPr>
            <a:spLocks noGrp="1"/>
          </p:cNvSpPr>
          <p:nvPr>
            <p:ph type="title"/>
          </p:nvPr>
        </p:nvSpPr>
        <p:spPr>
          <a:xfrm>
            <a:off x="838200" y="0"/>
            <a:ext cx="10515600" cy="1325563"/>
          </a:xfrm>
        </p:spPr>
        <p:txBody>
          <a:bodyPr/>
          <a:lstStyle/>
          <a:p>
            <a:r>
              <a:rPr lang="en-US" dirty="0"/>
              <a:t>Question: Scenes</a:t>
            </a:r>
          </a:p>
        </p:txBody>
      </p:sp>
      <p:sp>
        <p:nvSpPr>
          <p:cNvPr id="3" name="Content Placeholder 2">
            <a:extLst>
              <a:ext uri="{FF2B5EF4-FFF2-40B4-BE49-F238E27FC236}">
                <a16:creationId xmlns:a16="http://schemas.microsoft.com/office/drawing/2014/main" id="{91474375-B6ED-9F2E-6540-E7EB50189909}"/>
              </a:ext>
            </a:extLst>
          </p:cNvPr>
          <p:cNvSpPr>
            <a:spLocks noGrp="1"/>
          </p:cNvSpPr>
          <p:nvPr>
            <p:ph idx="1"/>
          </p:nvPr>
        </p:nvSpPr>
        <p:spPr>
          <a:xfrm>
            <a:off x="838200" y="1352792"/>
            <a:ext cx="10515600" cy="3058278"/>
          </a:xfrm>
        </p:spPr>
        <p:txBody>
          <a:bodyPr/>
          <a:lstStyle/>
          <a:p>
            <a:r>
              <a:rPr lang="en-US" dirty="0"/>
              <a:t>How are items bundled together into scenes?</a:t>
            </a:r>
          </a:p>
          <a:p>
            <a:pPr lvl="1"/>
            <a:r>
              <a:rPr lang="en-US" dirty="0"/>
              <a:t>I’m using “scenes” to refer to a group of items presented together</a:t>
            </a:r>
          </a:p>
        </p:txBody>
      </p:sp>
      <p:sp>
        <p:nvSpPr>
          <p:cNvPr id="4" name="Oval 3">
            <a:extLst>
              <a:ext uri="{FF2B5EF4-FFF2-40B4-BE49-F238E27FC236}">
                <a16:creationId xmlns:a16="http://schemas.microsoft.com/office/drawing/2014/main" id="{D70B2241-57A3-6ACD-1DF5-C6C43278DA2E}"/>
              </a:ext>
            </a:extLst>
          </p:cNvPr>
          <p:cNvSpPr/>
          <p:nvPr/>
        </p:nvSpPr>
        <p:spPr>
          <a:xfrm>
            <a:off x="7590818" y="480325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596AD98-02AD-9C40-0A25-78DECAB150E6}"/>
              </a:ext>
            </a:extLst>
          </p:cNvPr>
          <p:cNvSpPr/>
          <p:nvPr/>
        </p:nvSpPr>
        <p:spPr>
          <a:xfrm>
            <a:off x="8482720"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7488B90-A479-1FC8-3491-D60C0C68163F}"/>
              </a:ext>
            </a:extLst>
          </p:cNvPr>
          <p:cNvSpPr/>
          <p:nvPr/>
        </p:nvSpPr>
        <p:spPr>
          <a:xfrm>
            <a:off x="9944936"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52B6352-81B3-771B-4003-FC2D8E84BAF1}"/>
              </a:ext>
            </a:extLst>
          </p:cNvPr>
          <p:cNvCxnSpPr>
            <a:stCxn id="5" idx="6"/>
            <a:endCxn id="6" idx="2"/>
          </p:cNvCxnSpPr>
          <p:nvPr/>
        </p:nvCxnSpPr>
        <p:spPr>
          <a:xfrm>
            <a:off x="9153160" y="5956672"/>
            <a:ext cx="79177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EBFDA45-1EE4-24E8-BD28-C0775C8109AA}"/>
              </a:ext>
            </a:extLst>
          </p:cNvPr>
          <p:cNvCxnSpPr>
            <a:cxnSpLocks/>
            <a:stCxn id="4" idx="5"/>
            <a:endCxn id="5" idx="1"/>
          </p:cNvCxnSpPr>
          <p:nvPr/>
        </p:nvCxnSpPr>
        <p:spPr>
          <a:xfrm>
            <a:off x="8163074" y="5375513"/>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D8895D7-8319-3E80-C874-D34AB5C50E89}"/>
              </a:ext>
            </a:extLst>
          </p:cNvPr>
          <p:cNvSpPr/>
          <p:nvPr/>
        </p:nvSpPr>
        <p:spPr>
          <a:xfrm>
            <a:off x="8504921" y="427966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F66AD85D-F53F-05DB-6F59-54DFC2DA34EB}"/>
              </a:ext>
            </a:extLst>
          </p:cNvPr>
          <p:cNvSpPr/>
          <p:nvPr/>
        </p:nvSpPr>
        <p:spPr>
          <a:xfrm>
            <a:off x="9946547" y="471631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EDBE322-EED2-38C0-3BC4-0324237728A4}"/>
              </a:ext>
            </a:extLst>
          </p:cNvPr>
          <p:cNvCxnSpPr>
            <a:stCxn id="9" idx="6"/>
            <a:endCxn id="10" idx="2"/>
          </p:cNvCxnSpPr>
          <p:nvPr/>
        </p:nvCxnSpPr>
        <p:spPr>
          <a:xfrm>
            <a:off x="9175361" y="4614882"/>
            <a:ext cx="771186"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9FD50DD-3131-998A-2499-61857D28FCB3}"/>
              </a:ext>
            </a:extLst>
          </p:cNvPr>
          <p:cNvCxnSpPr>
            <a:cxnSpLocks/>
            <a:stCxn id="4" idx="7"/>
            <a:endCxn id="9" idx="2"/>
          </p:cNvCxnSpPr>
          <p:nvPr/>
        </p:nvCxnSpPr>
        <p:spPr>
          <a:xfrm flipV="1">
            <a:off x="8163074" y="4614882"/>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044739D-B218-085F-4CC8-5EBA436CD34F}"/>
              </a:ext>
            </a:extLst>
          </p:cNvPr>
          <p:cNvSpPr/>
          <p:nvPr/>
        </p:nvSpPr>
        <p:spPr>
          <a:xfrm>
            <a:off x="9944936" y="375575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67D721F-E161-242E-CFEB-A751C71EDDB1}"/>
              </a:ext>
            </a:extLst>
          </p:cNvPr>
          <p:cNvCxnSpPr>
            <a:cxnSpLocks/>
            <a:stCxn id="9" idx="6"/>
            <a:endCxn id="13" idx="2"/>
          </p:cNvCxnSpPr>
          <p:nvPr/>
        </p:nvCxnSpPr>
        <p:spPr>
          <a:xfrm flipV="1">
            <a:off x="9175361" y="4090970"/>
            <a:ext cx="769575"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F65C176-7FAB-657E-46FE-45544A7FBF70}"/>
              </a:ext>
            </a:extLst>
          </p:cNvPr>
          <p:cNvSpPr/>
          <p:nvPr/>
        </p:nvSpPr>
        <p:spPr>
          <a:xfrm>
            <a:off x="8235334" y="4710768"/>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A8B1121-D66C-E955-11B7-E3F59801A7B9}"/>
              </a:ext>
            </a:extLst>
          </p:cNvPr>
          <p:cNvSpPr/>
          <p:nvPr/>
        </p:nvSpPr>
        <p:spPr>
          <a:xfrm>
            <a:off x="8273325" y="5458456"/>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9F1DF8D-79C2-C1B4-04BC-B50375DD05B6}"/>
              </a:ext>
            </a:extLst>
          </p:cNvPr>
          <p:cNvSpPr/>
          <p:nvPr/>
        </p:nvSpPr>
        <p:spPr>
          <a:xfrm>
            <a:off x="9461961" y="5882794"/>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0AF8657-F4D5-F566-13DF-FD084EE9A81E}"/>
              </a:ext>
            </a:extLst>
          </p:cNvPr>
          <p:cNvSpPr/>
          <p:nvPr/>
        </p:nvSpPr>
        <p:spPr>
          <a:xfrm>
            <a:off x="9461961" y="4764785"/>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3BBCAB-D3ED-AB56-A2F4-8D43387CA48C}"/>
              </a:ext>
            </a:extLst>
          </p:cNvPr>
          <p:cNvSpPr/>
          <p:nvPr/>
        </p:nvSpPr>
        <p:spPr>
          <a:xfrm>
            <a:off x="9461961" y="4286204"/>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64CC1F7-534A-DC39-5A22-09A1F0AD33BD}"/>
              </a:ext>
            </a:extLst>
          </p:cNvPr>
          <p:cNvSpPr/>
          <p:nvPr/>
        </p:nvSpPr>
        <p:spPr>
          <a:xfrm>
            <a:off x="7654775" y="491254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FD54496-9315-FBAA-FBDB-C46824E710D1}"/>
              </a:ext>
            </a:extLst>
          </p:cNvPr>
          <p:cNvSpPr/>
          <p:nvPr/>
        </p:nvSpPr>
        <p:spPr>
          <a:xfrm>
            <a:off x="7785120" y="517415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1583101-8F88-F0D5-C8B1-D608888D2C90}"/>
              </a:ext>
            </a:extLst>
          </p:cNvPr>
          <p:cNvSpPr/>
          <p:nvPr/>
        </p:nvSpPr>
        <p:spPr>
          <a:xfrm>
            <a:off x="7947317" y="493811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C6D25DA-8991-A4A3-2ECD-9915835E6B9F}"/>
              </a:ext>
            </a:extLst>
          </p:cNvPr>
          <p:cNvSpPr/>
          <p:nvPr/>
        </p:nvSpPr>
        <p:spPr>
          <a:xfrm>
            <a:off x="8581657" y="4401663"/>
            <a:ext cx="245451" cy="245451"/>
          </a:xfrm>
          <a:prstGeom prst="ellipse">
            <a:avLst/>
          </a:prstGeom>
          <a:solidFill>
            <a:srgbClr val="FFC00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A9A6C4B-15D8-1568-4706-472DC31FA751}"/>
              </a:ext>
            </a:extLst>
          </p:cNvPr>
          <p:cNvSpPr/>
          <p:nvPr/>
        </p:nvSpPr>
        <p:spPr>
          <a:xfrm>
            <a:off x="8699302" y="4663279"/>
            <a:ext cx="245451" cy="245451"/>
          </a:xfrm>
          <a:prstGeom prst="ellipse">
            <a:avLst/>
          </a:prstGeom>
          <a:solidFill>
            <a:srgbClr val="00B0F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00C38A8-4AE3-E95F-EB83-BB166461085F}"/>
              </a:ext>
            </a:extLst>
          </p:cNvPr>
          <p:cNvSpPr/>
          <p:nvPr/>
        </p:nvSpPr>
        <p:spPr>
          <a:xfrm>
            <a:off x="8874199" y="4427235"/>
            <a:ext cx="245451" cy="245451"/>
          </a:xfrm>
          <a:prstGeom prst="ellipse">
            <a:avLst/>
          </a:prstGeom>
          <a:solidFill>
            <a:srgbClr val="00B05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5288B57-7E44-B031-6714-3F3DC6197AF9}"/>
              </a:ext>
            </a:extLst>
          </p:cNvPr>
          <p:cNvSpPr/>
          <p:nvPr/>
        </p:nvSpPr>
        <p:spPr>
          <a:xfrm>
            <a:off x="8562989"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E0B3E38-87C4-E6CC-8CCF-2944AB1F2DF4}"/>
              </a:ext>
            </a:extLst>
          </p:cNvPr>
          <p:cNvSpPr/>
          <p:nvPr/>
        </p:nvSpPr>
        <p:spPr>
          <a:xfrm>
            <a:off x="8693334" y="5996112"/>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2CFF8F0-408B-F095-B312-96473131A416}"/>
              </a:ext>
            </a:extLst>
          </p:cNvPr>
          <p:cNvSpPr/>
          <p:nvPr/>
        </p:nvSpPr>
        <p:spPr>
          <a:xfrm>
            <a:off x="8855531" y="5760068"/>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F06D374-04E7-7B89-877F-08EC790BD678}"/>
              </a:ext>
            </a:extLst>
          </p:cNvPr>
          <p:cNvSpPr/>
          <p:nvPr/>
        </p:nvSpPr>
        <p:spPr>
          <a:xfrm>
            <a:off x="10008484"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E72715B-A6C2-A5FB-9800-6D78172AFAC1}"/>
              </a:ext>
            </a:extLst>
          </p:cNvPr>
          <p:cNvSpPr/>
          <p:nvPr/>
        </p:nvSpPr>
        <p:spPr>
          <a:xfrm>
            <a:off x="10138829" y="599611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5850D18-3057-0F25-3081-93A62F353454}"/>
              </a:ext>
            </a:extLst>
          </p:cNvPr>
          <p:cNvSpPr/>
          <p:nvPr/>
        </p:nvSpPr>
        <p:spPr>
          <a:xfrm>
            <a:off x="10301026" y="5760068"/>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B0A985B-6F69-E5CB-B7DF-0D8CA742B346}"/>
              </a:ext>
            </a:extLst>
          </p:cNvPr>
          <p:cNvSpPr/>
          <p:nvPr/>
        </p:nvSpPr>
        <p:spPr>
          <a:xfrm>
            <a:off x="10015314" y="483295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15B7EA6-C780-F4AE-0E2E-B5B6D7A5E817}"/>
              </a:ext>
            </a:extLst>
          </p:cNvPr>
          <p:cNvSpPr/>
          <p:nvPr/>
        </p:nvSpPr>
        <p:spPr>
          <a:xfrm>
            <a:off x="10145659" y="5094567"/>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3521308-ECF4-5075-ED3E-4546F3CB2D1B}"/>
              </a:ext>
            </a:extLst>
          </p:cNvPr>
          <p:cNvSpPr/>
          <p:nvPr/>
        </p:nvSpPr>
        <p:spPr>
          <a:xfrm>
            <a:off x="10307856" y="4858523"/>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339942BF-5CA5-B03A-9756-413450E210C7}"/>
              </a:ext>
            </a:extLst>
          </p:cNvPr>
          <p:cNvSpPr/>
          <p:nvPr/>
        </p:nvSpPr>
        <p:spPr>
          <a:xfrm>
            <a:off x="10015314" y="3872061"/>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0DF03D7-B1AE-E538-7CC4-41882AB19FAB}"/>
              </a:ext>
            </a:extLst>
          </p:cNvPr>
          <p:cNvSpPr/>
          <p:nvPr/>
        </p:nvSpPr>
        <p:spPr>
          <a:xfrm>
            <a:off x="10145659" y="413367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AA08571-EA76-4DF0-5C00-797644A4C8B8}"/>
              </a:ext>
            </a:extLst>
          </p:cNvPr>
          <p:cNvSpPr/>
          <p:nvPr/>
        </p:nvSpPr>
        <p:spPr>
          <a:xfrm>
            <a:off x="10307856" y="389763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Arrow: Right 51">
            <a:extLst>
              <a:ext uri="{FF2B5EF4-FFF2-40B4-BE49-F238E27FC236}">
                <a16:creationId xmlns:a16="http://schemas.microsoft.com/office/drawing/2014/main" id="{7F35FDD6-914A-3F2B-70A1-E4950BF79CEC}"/>
              </a:ext>
            </a:extLst>
          </p:cNvPr>
          <p:cNvSpPr/>
          <p:nvPr/>
        </p:nvSpPr>
        <p:spPr>
          <a:xfrm rot="4309810">
            <a:off x="8453798" y="3898060"/>
            <a:ext cx="341847" cy="186714"/>
          </a:xfrm>
          <a:prstGeom prst="rightArrow">
            <a:avLst/>
          </a:prstGeom>
          <a:solidFill>
            <a:schemeClr val="bg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5F7A3B6-D826-F9CE-EBC0-5DA207C491A2}"/>
              </a:ext>
            </a:extLst>
          </p:cNvPr>
          <p:cNvSpPr/>
          <p:nvPr/>
        </p:nvSpPr>
        <p:spPr>
          <a:xfrm>
            <a:off x="8417155" y="4201840"/>
            <a:ext cx="841937" cy="841937"/>
          </a:xfrm>
          <a:prstGeom prst="ellipse">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895594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55D5E-CF7E-14B5-0302-9705B21572D4}"/>
              </a:ext>
            </a:extLst>
          </p:cNvPr>
          <p:cNvSpPr>
            <a:spLocks noGrp="1"/>
          </p:cNvSpPr>
          <p:nvPr>
            <p:ph type="title"/>
          </p:nvPr>
        </p:nvSpPr>
        <p:spPr>
          <a:xfrm>
            <a:off x="838200" y="0"/>
            <a:ext cx="10515600" cy="1325563"/>
          </a:xfrm>
        </p:spPr>
        <p:txBody>
          <a:bodyPr/>
          <a:lstStyle/>
          <a:p>
            <a:r>
              <a:rPr lang="en-US" dirty="0"/>
              <a:t>Question: Individual relations</a:t>
            </a:r>
          </a:p>
        </p:txBody>
      </p:sp>
      <p:sp>
        <p:nvSpPr>
          <p:cNvPr id="3" name="Content Placeholder 2">
            <a:extLst>
              <a:ext uri="{FF2B5EF4-FFF2-40B4-BE49-F238E27FC236}">
                <a16:creationId xmlns:a16="http://schemas.microsoft.com/office/drawing/2014/main" id="{91474375-B6ED-9F2E-6540-E7EB50189909}"/>
              </a:ext>
            </a:extLst>
          </p:cNvPr>
          <p:cNvSpPr>
            <a:spLocks noGrp="1"/>
          </p:cNvSpPr>
          <p:nvPr>
            <p:ph idx="1"/>
          </p:nvPr>
        </p:nvSpPr>
        <p:spPr>
          <a:xfrm>
            <a:off x="838200" y="1352792"/>
            <a:ext cx="10515600" cy="3058278"/>
          </a:xfrm>
        </p:spPr>
        <p:txBody>
          <a:bodyPr/>
          <a:lstStyle/>
          <a:p>
            <a:r>
              <a:rPr lang="en-US" dirty="0"/>
              <a:t>How are relations encoded?</a:t>
            </a:r>
          </a:p>
          <a:p>
            <a:r>
              <a:rPr lang="en-US" dirty="0"/>
              <a:t>How is spatial information on the connection encoded?</a:t>
            </a:r>
          </a:p>
        </p:txBody>
      </p:sp>
      <p:sp>
        <p:nvSpPr>
          <p:cNvPr id="4" name="Oval 3">
            <a:extLst>
              <a:ext uri="{FF2B5EF4-FFF2-40B4-BE49-F238E27FC236}">
                <a16:creationId xmlns:a16="http://schemas.microsoft.com/office/drawing/2014/main" id="{D70B2241-57A3-6ACD-1DF5-C6C43278DA2E}"/>
              </a:ext>
            </a:extLst>
          </p:cNvPr>
          <p:cNvSpPr/>
          <p:nvPr/>
        </p:nvSpPr>
        <p:spPr>
          <a:xfrm>
            <a:off x="7590818" y="480325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596AD98-02AD-9C40-0A25-78DECAB150E6}"/>
              </a:ext>
            </a:extLst>
          </p:cNvPr>
          <p:cNvSpPr/>
          <p:nvPr/>
        </p:nvSpPr>
        <p:spPr>
          <a:xfrm>
            <a:off x="8482720"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7488B90-A479-1FC8-3491-D60C0C68163F}"/>
              </a:ext>
            </a:extLst>
          </p:cNvPr>
          <p:cNvSpPr/>
          <p:nvPr/>
        </p:nvSpPr>
        <p:spPr>
          <a:xfrm>
            <a:off x="9944936"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52B6352-81B3-771B-4003-FC2D8E84BAF1}"/>
              </a:ext>
            </a:extLst>
          </p:cNvPr>
          <p:cNvCxnSpPr>
            <a:stCxn id="5" idx="6"/>
            <a:endCxn id="6" idx="2"/>
          </p:cNvCxnSpPr>
          <p:nvPr/>
        </p:nvCxnSpPr>
        <p:spPr>
          <a:xfrm>
            <a:off x="9153160" y="5956672"/>
            <a:ext cx="79177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EBFDA45-1EE4-24E8-BD28-C0775C8109AA}"/>
              </a:ext>
            </a:extLst>
          </p:cNvPr>
          <p:cNvCxnSpPr>
            <a:cxnSpLocks/>
            <a:stCxn id="4" idx="5"/>
            <a:endCxn id="5" idx="1"/>
          </p:cNvCxnSpPr>
          <p:nvPr/>
        </p:nvCxnSpPr>
        <p:spPr>
          <a:xfrm>
            <a:off x="8163074" y="5375513"/>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D8895D7-8319-3E80-C874-D34AB5C50E89}"/>
              </a:ext>
            </a:extLst>
          </p:cNvPr>
          <p:cNvSpPr/>
          <p:nvPr/>
        </p:nvSpPr>
        <p:spPr>
          <a:xfrm>
            <a:off x="8504921" y="427966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F66AD85D-F53F-05DB-6F59-54DFC2DA34EB}"/>
              </a:ext>
            </a:extLst>
          </p:cNvPr>
          <p:cNvSpPr/>
          <p:nvPr/>
        </p:nvSpPr>
        <p:spPr>
          <a:xfrm>
            <a:off x="9946547" y="471631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EDBE322-EED2-38C0-3BC4-0324237728A4}"/>
              </a:ext>
            </a:extLst>
          </p:cNvPr>
          <p:cNvCxnSpPr>
            <a:stCxn id="9" idx="6"/>
            <a:endCxn id="10" idx="2"/>
          </p:cNvCxnSpPr>
          <p:nvPr/>
        </p:nvCxnSpPr>
        <p:spPr>
          <a:xfrm>
            <a:off x="9175361" y="4614882"/>
            <a:ext cx="771186"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9FD50DD-3131-998A-2499-61857D28FCB3}"/>
              </a:ext>
            </a:extLst>
          </p:cNvPr>
          <p:cNvCxnSpPr>
            <a:cxnSpLocks/>
            <a:stCxn id="4" idx="7"/>
            <a:endCxn id="9" idx="2"/>
          </p:cNvCxnSpPr>
          <p:nvPr/>
        </p:nvCxnSpPr>
        <p:spPr>
          <a:xfrm flipV="1">
            <a:off x="8163074" y="4614882"/>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044739D-B218-085F-4CC8-5EBA436CD34F}"/>
              </a:ext>
            </a:extLst>
          </p:cNvPr>
          <p:cNvSpPr/>
          <p:nvPr/>
        </p:nvSpPr>
        <p:spPr>
          <a:xfrm>
            <a:off x="9944936" y="375575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67D721F-E161-242E-CFEB-A751C71EDDB1}"/>
              </a:ext>
            </a:extLst>
          </p:cNvPr>
          <p:cNvCxnSpPr>
            <a:cxnSpLocks/>
            <a:stCxn id="9" idx="6"/>
            <a:endCxn id="13" idx="2"/>
          </p:cNvCxnSpPr>
          <p:nvPr/>
        </p:nvCxnSpPr>
        <p:spPr>
          <a:xfrm flipV="1">
            <a:off x="9175361" y="4090970"/>
            <a:ext cx="769575"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F65C176-7FAB-657E-46FE-45544A7FBF70}"/>
              </a:ext>
            </a:extLst>
          </p:cNvPr>
          <p:cNvSpPr/>
          <p:nvPr/>
        </p:nvSpPr>
        <p:spPr>
          <a:xfrm>
            <a:off x="8235334" y="4710768"/>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A8B1121-D66C-E955-11B7-E3F59801A7B9}"/>
              </a:ext>
            </a:extLst>
          </p:cNvPr>
          <p:cNvSpPr/>
          <p:nvPr/>
        </p:nvSpPr>
        <p:spPr>
          <a:xfrm>
            <a:off x="8273325" y="5458456"/>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9F1DF8D-79C2-C1B4-04BC-B50375DD05B6}"/>
              </a:ext>
            </a:extLst>
          </p:cNvPr>
          <p:cNvSpPr/>
          <p:nvPr/>
        </p:nvSpPr>
        <p:spPr>
          <a:xfrm>
            <a:off x="9461961" y="5882794"/>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0AF8657-F4D5-F566-13DF-FD084EE9A81E}"/>
              </a:ext>
            </a:extLst>
          </p:cNvPr>
          <p:cNvSpPr/>
          <p:nvPr/>
        </p:nvSpPr>
        <p:spPr>
          <a:xfrm>
            <a:off x="9461961" y="4764785"/>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3BBCAB-D3ED-AB56-A2F4-8D43387CA48C}"/>
              </a:ext>
            </a:extLst>
          </p:cNvPr>
          <p:cNvSpPr/>
          <p:nvPr/>
        </p:nvSpPr>
        <p:spPr>
          <a:xfrm>
            <a:off x="9461961" y="4286204"/>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64CC1F7-534A-DC39-5A22-09A1F0AD33BD}"/>
              </a:ext>
            </a:extLst>
          </p:cNvPr>
          <p:cNvSpPr/>
          <p:nvPr/>
        </p:nvSpPr>
        <p:spPr>
          <a:xfrm>
            <a:off x="7654775" y="491254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FD54496-9315-FBAA-FBDB-C46824E710D1}"/>
              </a:ext>
            </a:extLst>
          </p:cNvPr>
          <p:cNvSpPr/>
          <p:nvPr/>
        </p:nvSpPr>
        <p:spPr>
          <a:xfrm>
            <a:off x="7785120" y="517415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1583101-8F88-F0D5-C8B1-D608888D2C90}"/>
              </a:ext>
            </a:extLst>
          </p:cNvPr>
          <p:cNvSpPr/>
          <p:nvPr/>
        </p:nvSpPr>
        <p:spPr>
          <a:xfrm>
            <a:off x="7947317" y="493811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C6D25DA-8991-A4A3-2ECD-9915835E6B9F}"/>
              </a:ext>
            </a:extLst>
          </p:cNvPr>
          <p:cNvSpPr/>
          <p:nvPr/>
        </p:nvSpPr>
        <p:spPr>
          <a:xfrm>
            <a:off x="8581657" y="4401663"/>
            <a:ext cx="245451" cy="245451"/>
          </a:xfrm>
          <a:prstGeom prst="ellipse">
            <a:avLst/>
          </a:prstGeom>
          <a:solidFill>
            <a:srgbClr val="FFC00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A9A6C4B-15D8-1568-4706-472DC31FA751}"/>
              </a:ext>
            </a:extLst>
          </p:cNvPr>
          <p:cNvSpPr/>
          <p:nvPr/>
        </p:nvSpPr>
        <p:spPr>
          <a:xfrm>
            <a:off x="8699302" y="4663279"/>
            <a:ext cx="245451" cy="245451"/>
          </a:xfrm>
          <a:prstGeom prst="ellipse">
            <a:avLst/>
          </a:prstGeom>
          <a:solidFill>
            <a:srgbClr val="00B0F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00C38A8-4AE3-E95F-EB83-BB166461085F}"/>
              </a:ext>
            </a:extLst>
          </p:cNvPr>
          <p:cNvSpPr/>
          <p:nvPr/>
        </p:nvSpPr>
        <p:spPr>
          <a:xfrm>
            <a:off x="8874199" y="4427235"/>
            <a:ext cx="245451" cy="245451"/>
          </a:xfrm>
          <a:prstGeom prst="ellipse">
            <a:avLst/>
          </a:prstGeom>
          <a:solidFill>
            <a:srgbClr val="00B05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5288B57-7E44-B031-6714-3F3DC6197AF9}"/>
              </a:ext>
            </a:extLst>
          </p:cNvPr>
          <p:cNvSpPr/>
          <p:nvPr/>
        </p:nvSpPr>
        <p:spPr>
          <a:xfrm>
            <a:off x="8562989"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E0B3E38-87C4-E6CC-8CCF-2944AB1F2DF4}"/>
              </a:ext>
            </a:extLst>
          </p:cNvPr>
          <p:cNvSpPr/>
          <p:nvPr/>
        </p:nvSpPr>
        <p:spPr>
          <a:xfrm>
            <a:off x="8693334" y="5996112"/>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2CFF8F0-408B-F095-B312-96473131A416}"/>
              </a:ext>
            </a:extLst>
          </p:cNvPr>
          <p:cNvSpPr/>
          <p:nvPr/>
        </p:nvSpPr>
        <p:spPr>
          <a:xfrm>
            <a:off x="8855531" y="5760068"/>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F06D374-04E7-7B89-877F-08EC790BD678}"/>
              </a:ext>
            </a:extLst>
          </p:cNvPr>
          <p:cNvSpPr/>
          <p:nvPr/>
        </p:nvSpPr>
        <p:spPr>
          <a:xfrm>
            <a:off x="10008484"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E72715B-A6C2-A5FB-9800-6D78172AFAC1}"/>
              </a:ext>
            </a:extLst>
          </p:cNvPr>
          <p:cNvSpPr/>
          <p:nvPr/>
        </p:nvSpPr>
        <p:spPr>
          <a:xfrm>
            <a:off x="10138829" y="599611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5850D18-3057-0F25-3081-93A62F353454}"/>
              </a:ext>
            </a:extLst>
          </p:cNvPr>
          <p:cNvSpPr/>
          <p:nvPr/>
        </p:nvSpPr>
        <p:spPr>
          <a:xfrm>
            <a:off x="10301026" y="5760068"/>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B0A985B-6F69-E5CB-B7DF-0D8CA742B346}"/>
              </a:ext>
            </a:extLst>
          </p:cNvPr>
          <p:cNvSpPr/>
          <p:nvPr/>
        </p:nvSpPr>
        <p:spPr>
          <a:xfrm>
            <a:off x="10015314" y="483295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15B7EA6-C780-F4AE-0E2E-B5B6D7A5E817}"/>
              </a:ext>
            </a:extLst>
          </p:cNvPr>
          <p:cNvSpPr/>
          <p:nvPr/>
        </p:nvSpPr>
        <p:spPr>
          <a:xfrm>
            <a:off x="10145659" y="5094567"/>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3521308-ECF4-5075-ED3E-4546F3CB2D1B}"/>
              </a:ext>
            </a:extLst>
          </p:cNvPr>
          <p:cNvSpPr/>
          <p:nvPr/>
        </p:nvSpPr>
        <p:spPr>
          <a:xfrm>
            <a:off x="10307856" y="4858523"/>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339942BF-5CA5-B03A-9756-413450E210C7}"/>
              </a:ext>
            </a:extLst>
          </p:cNvPr>
          <p:cNvSpPr/>
          <p:nvPr/>
        </p:nvSpPr>
        <p:spPr>
          <a:xfrm>
            <a:off x="10015314" y="3872061"/>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0DF03D7-B1AE-E538-7CC4-41882AB19FAB}"/>
              </a:ext>
            </a:extLst>
          </p:cNvPr>
          <p:cNvSpPr/>
          <p:nvPr/>
        </p:nvSpPr>
        <p:spPr>
          <a:xfrm>
            <a:off x="10145659" y="413367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AA08571-EA76-4DF0-5C00-797644A4C8B8}"/>
              </a:ext>
            </a:extLst>
          </p:cNvPr>
          <p:cNvSpPr/>
          <p:nvPr/>
        </p:nvSpPr>
        <p:spPr>
          <a:xfrm>
            <a:off x="10307856" y="389763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Arrow: Right 51">
            <a:extLst>
              <a:ext uri="{FF2B5EF4-FFF2-40B4-BE49-F238E27FC236}">
                <a16:creationId xmlns:a16="http://schemas.microsoft.com/office/drawing/2014/main" id="{7F35FDD6-914A-3F2B-70A1-E4950BF79CEC}"/>
              </a:ext>
            </a:extLst>
          </p:cNvPr>
          <p:cNvSpPr/>
          <p:nvPr/>
        </p:nvSpPr>
        <p:spPr>
          <a:xfrm rot="5772190">
            <a:off x="8737996" y="4064241"/>
            <a:ext cx="341847" cy="186714"/>
          </a:xfrm>
          <a:prstGeom prst="rightArrow">
            <a:avLst/>
          </a:prstGeom>
          <a:solidFill>
            <a:schemeClr val="bg1"/>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D7B07CD-2C79-4106-0D1B-A773A89A8126}"/>
              </a:ext>
            </a:extLst>
          </p:cNvPr>
          <p:cNvSpPr/>
          <p:nvPr/>
        </p:nvSpPr>
        <p:spPr>
          <a:xfrm rot="20264571">
            <a:off x="8607398" y="4348832"/>
            <a:ext cx="307774" cy="635149"/>
          </a:xfrm>
          <a:prstGeom prst="ellipse">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66074CEC-8CA4-2E83-F3AA-A546560E1910}"/>
              </a:ext>
            </a:extLst>
          </p:cNvPr>
          <p:cNvSpPr/>
          <p:nvPr/>
        </p:nvSpPr>
        <p:spPr>
          <a:xfrm rot="16701416">
            <a:off x="8696304" y="4215024"/>
            <a:ext cx="307774" cy="635149"/>
          </a:xfrm>
          <a:prstGeom prst="ellipse">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DA6C4A61-B45E-9A98-B0F4-98799A640EEA}"/>
              </a:ext>
            </a:extLst>
          </p:cNvPr>
          <p:cNvSpPr/>
          <p:nvPr/>
        </p:nvSpPr>
        <p:spPr>
          <a:xfrm rot="2187266">
            <a:off x="8742857" y="4370326"/>
            <a:ext cx="307774" cy="635149"/>
          </a:xfrm>
          <a:prstGeom prst="ellipse">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Arrow: Right 15">
            <a:extLst>
              <a:ext uri="{FF2B5EF4-FFF2-40B4-BE49-F238E27FC236}">
                <a16:creationId xmlns:a16="http://schemas.microsoft.com/office/drawing/2014/main" id="{463B0C17-9BDE-D236-450A-3E2868818CD2}"/>
              </a:ext>
            </a:extLst>
          </p:cNvPr>
          <p:cNvSpPr/>
          <p:nvPr/>
        </p:nvSpPr>
        <p:spPr>
          <a:xfrm rot="13015829">
            <a:off x="9027982" y="4811925"/>
            <a:ext cx="341847" cy="186714"/>
          </a:xfrm>
          <a:prstGeom prst="rightArrow">
            <a:avLst/>
          </a:prstGeom>
          <a:solidFill>
            <a:schemeClr val="bg1"/>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FC1EB2B5-0FCA-3DF3-AFA4-89E0A3D8A3A3}"/>
              </a:ext>
            </a:extLst>
          </p:cNvPr>
          <p:cNvSpPr/>
          <p:nvPr/>
        </p:nvSpPr>
        <p:spPr>
          <a:xfrm rot="19236143">
            <a:off x="8274560" y="4775171"/>
            <a:ext cx="341847" cy="186714"/>
          </a:xfrm>
          <a:prstGeom prst="rightArrow">
            <a:avLst/>
          </a:prstGeom>
          <a:solidFill>
            <a:schemeClr val="bg1"/>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92503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55D5E-CF7E-14B5-0302-9705B21572D4}"/>
              </a:ext>
            </a:extLst>
          </p:cNvPr>
          <p:cNvSpPr>
            <a:spLocks noGrp="1"/>
          </p:cNvSpPr>
          <p:nvPr>
            <p:ph type="title"/>
          </p:nvPr>
        </p:nvSpPr>
        <p:spPr>
          <a:xfrm>
            <a:off x="838200" y="0"/>
            <a:ext cx="10515600" cy="1325563"/>
          </a:xfrm>
        </p:spPr>
        <p:txBody>
          <a:bodyPr>
            <a:normAutofit/>
          </a:bodyPr>
          <a:lstStyle/>
          <a:p>
            <a:r>
              <a:rPr lang="en-US" sz="4000" dirty="0"/>
              <a:t>Question: Recollection and episodic memory</a:t>
            </a:r>
          </a:p>
        </p:txBody>
      </p:sp>
      <p:sp>
        <p:nvSpPr>
          <p:cNvPr id="3" name="Content Placeholder 2">
            <a:extLst>
              <a:ext uri="{FF2B5EF4-FFF2-40B4-BE49-F238E27FC236}">
                <a16:creationId xmlns:a16="http://schemas.microsoft.com/office/drawing/2014/main" id="{91474375-B6ED-9F2E-6540-E7EB50189909}"/>
              </a:ext>
            </a:extLst>
          </p:cNvPr>
          <p:cNvSpPr>
            <a:spLocks noGrp="1"/>
          </p:cNvSpPr>
          <p:nvPr>
            <p:ph idx="1"/>
          </p:nvPr>
        </p:nvSpPr>
        <p:spPr>
          <a:xfrm>
            <a:off x="838200" y="1352792"/>
            <a:ext cx="10515600" cy="3058278"/>
          </a:xfrm>
        </p:spPr>
        <p:txBody>
          <a:bodyPr/>
          <a:lstStyle/>
          <a:p>
            <a:r>
              <a:rPr lang="en-US" dirty="0"/>
              <a:t>When participants recollect, what exactly are they retrieving?</a:t>
            </a:r>
          </a:p>
          <a:p>
            <a:pPr lvl="1"/>
            <a:r>
              <a:rPr lang="en-US" dirty="0"/>
              <a:t>What is an “episodic memory”</a:t>
            </a:r>
          </a:p>
          <a:p>
            <a:pPr lvl="1"/>
            <a:r>
              <a:rPr lang="en-US" dirty="0"/>
              <a:t>Is information about the action leading up to it included?</a:t>
            </a:r>
          </a:p>
        </p:txBody>
      </p:sp>
      <p:sp>
        <p:nvSpPr>
          <p:cNvPr id="4" name="Oval 3">
            <a:extLst>
              <a:ext uri="{FF2B5EF4-FFF2-40B4-BE49-F238E27FC236}">
                <a16:creationId xmlns:a16="http://schemas.microsoft.com/office/drawing/2014/main" id="{D70B2241-57A3-6ACD-1DF5-C6C43278DA2E}"/>
              </a:ext>
            </a:extLst>
          </p:cNvPr>
          <p:cNvSpPr/>
          <p:nvPr/>
        </p:nvSpPr>
        <p:spPr>
          <a:xfrm>
            <a:off x="8244502" y="471837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596AD98-02AD-9C40-0A25-78DECAB150E6}"/>
              </a:ext>
            </a:extLst>
          </p:cNvPr>
          <p:cNvSpPr/>
          <p:nvPr/>
        </p:nvSpPr>
        <p:spPr>
          <a:xfrm>
            <a:off x="9136404" y="553657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7488B90-A479-1FC8-3491-D60C0C68163F}"/>
              </a:ext>
            </a:extLst>
          </p:cNvPr>
          <p:cNvSpPr/>
          <p:nvPr/>
        </p:nvSpPr>
        <p:spPr>
          <a:xfrm>
            <a:off x="10598620" y="553657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52B6352-81B3-771B-4003-FC2D8E84BAF1}"/>
              </a:ext>
            </a:extLst>
          </p:cNvPr>
          <p:cNvCxnSpPr>
            <a:stCxn id="5" idx="6"/>
            <a:endCxn id="6" idx="2"/>
          </p:cNvCxnSpPr>
          <p:nvPr/>
        </p:nvCxnSpPr>
        <p:spPr>
          <a:xfrm>
            <a:off x="9806844" y="5871792"/>
            <a:ext cx="79177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EBFDA45-1EE4-24E8-BD28-C0775C8109AA}"/>
              </a:ext>
            </a:extLst>
          </p:cNvPr>
          <p:cNvCxnSpPr>
            <a:cxnSpLocks/>
            <a:stCxn id="4" idx="5"/>
            <a:endCxn id="5" idx="1"/>
          </p:cNvCxnSpPr>
          <p:nvPr/>
        </p:nvCxnSpPr>
        <p:spPr>
          <a:xfrm>
            <a:off x="8816758" y="5290633"/>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D8895D7-8319-3E80-C874-D34AB5C50E89}"/>
              </a:ext>
            </a:extLst>
          </p:cNvPr>
          <p:cNvSpPr/>
          <p:nvPr/>
        </p:nvSpPr>
        <p:spPr>
          <a:xfrm>
            <a:off x="9158605" y="419478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F66AD85D-F53F-05DB-6F59-54DFC2DA34EB}"/>
              </a:ext>
            </a:extLst>
          </p:cNvPr>
          <p:cNvSpPr/>
          <p:nvPr/>
        </p:nvSpPr>
        <p:spPr>
          <a:xfrm>
            <a:off x="10600231" y="463143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EDBE322-EED2-38C0-3BC4-0324237728A4}"/>
              </a:ext>
            </a:extLst>
          </p:cNvPr>
          <p:cNvCxnSpPr>
            <a:stCxn id="9" idx="6"/>
            <a:endCxn id="10" idx="2"/>
          </p:cNvCxnSpPr>
          <p:nvPr/>
        </p:nvCxnSpPr>
        <p:spPr>
          <a:xfrm>
            <a:off x="9829045" y="4530002"/>
            <a:ext cx="771186"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9FD50DD-3131-998A-2499-61857D28FCB3}"/>
              </a:ext>
            </a:extLst>
          </p:cNvPr>
          <p:cNvCxnSpPr>
            <a:cxnSpLocks/>
            <a:stCxn id="4" idx="7"/>
            <a:endCxn id="9" idx="2"/>
          </p:cNvCxnSpPr>
          <p:nvPr/>
        </p:nvCxnSpPr>
        <p:spPr>
          <a:xfrm flipV="1">
            <a:off x="8816758" y="4530002"/>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044739D-B218-085F-4CC8-5EBA436CD34F}"/>
              </a:ext>
            </a:extLst>
          </p:cNvPr>
          <p:cNvSpPr/>
          <p:nvPr/>
        </p:nvSpPr>
        <p:spPr>
          <a:xfrm>
            <a:off x="10598620" y="367087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67D721F-E161-242E-CFEB-A751C71EDDB1}"/>
              </a:ext>
            </a:extLst>
          </p:cNvPr>
          <p:cNvCxnSpPr>
            <a:cxnSpLocks/>
            <a:stCxn id="9" idx="6"/>
            <a:endCxn id="13" idx="2"/>
          </p:cNvCxnSpPr>
          <p:nvPr/>
        </p:nvCxnSpPr>
        <p:spPr>
          <a:xfrm flipV="1">
            <a:off x="9829045" y="4006090"/>
            <a:ext cx="769575"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F65C176-7FAB-657E-46FE-45544A7FBF70}"/>
              </a:ext>
            </a:extLst>
          </p:cNvPr>
          <p:cNvSpPr/>
          <p:nvPr/>
        </p:nvSpPr>
        <p:spPr>
          <a:xfrm>
            <a:off x="8889018" y="4625888"/>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A8B1121-D66C-E955-11B7-E3F59801A7B9}"/>
              </a:ext>
            </a:extLst>
          </p:cNvPr>
          <p:cNvSpPr/>
          <p:nvPr/>
        </p:nvSpPr>
        <p:spPr>
          <a:xfrm>
            <a:off x="8927009" y="5373576"/>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9F1DF8D-79C2-C1B4-04BC-B50375DD05B6}"/>
              </a:ext>
            </a:extLst>
          </p:cNvPr>
          <p:cNvSpPr/>
          <p:nvPr/>
        </p:nvSpPr>
        <p:spPr>
          <a:xfrm>
            <a:off x="10115645" y="5797914"/>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0AF8657-F4D5-F566-13DF-FD084EE9A81E}"/>
              </a:ext>
            </a:extLst>
          </p:cNvPr>
          <p:cNvSpPr/>
          <p:nvPr/>
        </p:nvSpPr>
        <p:spPr>
          <a:xfrm>
            <a:off x="10115645" y="4679905"/>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3BBCAB-D3ED-AB56-A2F4-8D43387CA48C}"/>
              </a:ext>
            </a:extLst>
          </p:cNvPr>
          <p:cNvSpPr/>
          <p:nvPr/>
        </p:nvSpPr>
        <p:spPr>
          <a:xfrm>
            <a:off x="10115645" y="4201324"/>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64CC1F7-534A-DC39-5A22-09A1F0AD33BD}"/>
              </a:ext>
            </a:extLst>
          </p:cNvPr>
          <p:cNvSpPr/>
          <p:nvPr/>
        </p:nvSpPr>
        <p:spPr>
          <a:xfrm>
            <a:off x="8308459" y="482766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FD54496-9315-FBAA-FBDB-C46824E710D1}"/>
              </a:ext>
            </a:extLst>
          </p:cNvPr>
          <p:cNvSpPr/>
          <p:nvPr/>
        </p:nvSpPr>
        <p:spPr>
          <a:xfrm>
            <a:off x="8438804" y="508927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1583101-8F88-F0D5-C8B1-D608888D2C90}"/>
              </a:ext>
            </a:extLst>
          </p:cNvPr>
          <p:cNvSpPr/>
          <p:nvPr/>
        </p:nvSpPr>
        <p:spPr>
          <a:xfrm>
            <a:off x="8601001" y="485323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C6D25DA-8991-A4A3-2ECD-9915835E6B9F}"/>
              </a:ext>
            </a:extLst>
          </p:cNvPr>
          <p:cNvSpPr/>
          <p:nvPr/>
        </p:nvSpPr>
        <p:spPr>
          <a:xfrm>
            <a:off x="9235341" y="4316783"/>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A9A6C4B-15D8-1568-4706-472DC31FA751}"/>
              </a:ext>
            </a:extLst>
          </p:cNvPr>
          <p:cNvSpPr/>
          <p:nvPr/>
        </p:nvSpPr>
        <p:spPr>
          <a:xfrm>
            <a:off x="9365686" y="4578399"/>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00C38A8-4AE3-E95F-EB83-BB166461085F}"/>
              </a:ext>
            </a:extLst>
          </p:cNvPr>
          <p:cNvSpPr/>
          <p:nvPr/>
        </p:nvSpPr>
        <p:spPr>
          <a:xfrm>
            <a:off x="9527883" y="4342355"/>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5288B57-7E44-B031-6714-3F3DC6197AF9}"/>
              </a:ext>
            </a:extLst>
          </p:cNvPr>
          <p:cNvSpPr/>
          <p:nvPr/>
        </p:nvSpPr>
        <p:spPr>
          <a:xfrm>
            <a:off x="9216673" y="564961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E0B3E38-87C4-E6CC-8CCF-2944AB1F2DF4}"/>
              </a:ext>
            </a:extLst>
          </p:cNvPr>
          <p:cNvSpPr/>
          <p:nvPr/>
        </p:nvSpPr>
        <p:spPr>
          <a:xfrm>
            <a:off x="9347018" y="5911232"/>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2CFF8F0-408B-F095-B312-96473131A416}"/>
              </a:ext>
            </a:extLst>
          </p:cNvPr>
          <p:cNvSpPr/>
          <p:nvPr/>
        </p:nvSpPr>
        <p:spPr>
          <a:xfrm>
            <a:off x="9509215" y="5675188"/>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F06D374-04E7-7B89-877F-08EC790BD678}"/>
              </a:ext>
            </a:extLst>
          </p:cNvPr>
          <p:cNvSpPr/>
          <p:nvPr/>
        </p:nvSpPr>
        <p:spPr>
          <a:xfrm>
            <a:off x="10662168" y="564961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E72715B-A6C2-A5FB-9800-6D78172AFAC1}"/>
              </a:ext>
            </a:extLst>
          </p:cNvPr>
          <p:cNvSpPr/>
          <p:nvPr/>
        </p:nvSpPr>
        <p:spPr>
          <a:xfrm>
            <a:off x="10792513" y="591123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5850D18-3057-0F25-3081-93A62F353454}"/>
              </a:ext>
            </a:extLst>
          </p:cNvPr>
          <p:cNvSpPr/>
          <p:nvPr/>
        </p:nvSpPr>
        <p:spPr>
          <a:xfrm>
            <a:off x="10954710" y="5675188"/>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B0A985B-6F69-E5CB-B7DF-0D8CA742B346}"/>
              </a:ext>
            </a:extLst>
          </p:cNvPr>
          <p:cNvSpPr/>
          <p:nvPr/>
        </p:nvSpPr>
        <p:spPr>
          <a:xfrm>
            <a:off x="10668998" y="474807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15B7EA6-C780-F4AE-0E2E-B5B6D7A5E817}"/>
              </a:ext>
            </a:extLst>
          </p:cNvPr>
          <p:cNvSpPr/>
          <p:nvPr/>
        </p:nvSpPr>
        <p:spPr>
          <a:xfrm>
            <a:off x="10799343" y="5009687"/>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3521308-ECF4-5075-ED3E-4546F3CB2D1B}"/>
              </a:ext>
            </a:extLst>
          </p:cNvPr>
          <p:cNvSpPr/>
          <p:nvPr/>
        </p:nvSpPr>
        <p:spPr>
          <a:xfrm>
            <a:off x="10961540" y="4773643"/>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339942BF-5CA5-B03A-9756-413450E210C7}"/>
              </a:ext>
            </a:extLst>
          </p:cNvPr>
          <p:cNvSpPr/>
          <p:nvPr/>
        </p:nvSpPr>
        <p:spPr>
          <a:xfrm>
            <a:off x="10668998" y="3787181"/>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0DF03D7-B1AE-E538-7CC4-41882AB19FAB}"/>
              </a:ext>
            </a:extLst>
          </p:cNvPr>
          <p:cNvSpPr/>
          <p:nvPr/>
        </p:nvSpPr>
        <p:spPr>
          <a:xfrm>
            <a:off x="10799343" y="404879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AA08571-EA76-4DF0-5C00-797644A4C8B8}"/>
              </a:ext>
            </a:extLst>
          </p:cNvPr>
          <p:cNvSpPr/>
          <p:nvPr/>
        </p:nvSpPr>
        <p:spPr>
          <a:xfrm>
            <a:off x="10961540" y="381275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5F7A3B6-D826-F9CE-EBC0-5DA207C491A2}"/>
              </a:ext>
            </a:extLst>
          </p:cNvPr>
          <p:cNvSpPr/>
          <p:nvPr/>
        </p:nvSpPr>
        <p:spPr>
          <a:xfrm>
            <a:off x="8817651" y="4040760"/>
            <a:ext cx="1072266" cy="1072266"/>
          </a:xfrm>
          <a:prstGeom prst="ellipse">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0B0D4E49-19CF-5A25-67C7-F6B4C7DF2FC1}"/>
              </a:ext>
            </a:extLst>
          </p:cNvPr>
          <p:cNvSpPr txBox="1"/>
          <p:nvPr/>
        </p:nvSpPr>
        <p:spPr>
          <a:xfrm>
            <a:off x="9194402" y="3612586"/>
            <a:ext cx="356188" cy="461665"/>
          </a:xfrm>
          <a:prstGeom prst="rect">
            <a:avLst/>
          </a:prstGeom>
          <a:noFill/>
        </p:spPr>
        <p:txBody>
          <a:bodyPr wrap="none" rtlCol="0">
            <a:spAutoFit/>
          </a:bodyPr>
          <a:lstStyle/>
          <a:p>
            <a:r>
              <a:rPr lang="en-US" sz="2400" dirty="0">
                <a:solidFill>
                  <a:srgbClr val="FF0000"/>
                </a:solidFill>
                <a:latin typeface="Arial" panose="020B0604020202020204" pitchFamily="34" charset="0"/>
                <a:cs typeface="Arial" panose="020B0604020202020204" pitchFamily="34" charset="0"/>
              </a:rPr>
              <a:t>?</a:t>
            </a:r>
          </a:p>
        </p:txBody>
      </p:sp>
      <p:sp>
        <p:nvSpPr>
          <p:cNvPr id="17" name="Oval 16">
            <a:extLst>
              <a:ext uri="{FF2B5EF4-FFF2-40B4-BE49-F238E27FC236}">
                <a16:creationId xmlns:a16="http://schemas.microsoft.com/office/drawing/2014/main" id="{DF393AA4-4E62-4F2A-5505-E2D366C57C57}"/>
              </a:ext>
            </a:extLst>
          </p:cNvPr>
          <p:cNvSpPr/>
          <p:nvPr/>
        </p:nvSpPr>
        <p:spPr>
          <a:xfrm>
            <a:off x="4838446" y="4721633"/>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63D76FD-927D-9DEB-16BF-DDE93C682BD7}"/>
              </a:ext>
            </a:extLst>
          </p:cNvPr>
          <p:cNvSpPr/>
          <p:nvPr/>
        </p:nvSpPr>
        <p:spPr>
          <a:xfrm>
            <a:off x="5730348" y="553982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51AC71A-A988-DA12-A418-9439813F95D9}"/>
              </a:ext>
            </a:extLst>
          </p:cNvPr>
          <p:cNvSpPr/>
          <p:nvPr/>
        </p:nvSpPr>
        <p:spPr>
          <a:xfrm>
            <a:off x="6934871" y="553982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9A235CB0-2B41-B948-F424-FF72D7E8FA95}"/>
              </a:ext>
            </a:extLst>
          </p:cNvPr>
          <p:cNvCxnSpPr>
            <a:stCxn id="18" idx="6"/>
            <a:endCxn id="19" idx="2"/>
          </p:cNvCxnSpPr>
          <p:nvPr/>
        </p:nvCxnSpPr>
        <p:spPr>
          <a:xfrm>
            <a:off x="6400788" y="5875048"/>
            <a:ext cx="53408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C00FF7A-772C-B3D7-C6C2-48651E57C9D7}"/>
              </a:ext>
            </a:extLst>
          </p:cNvPr>
          <p:cNvCxnSpPr>
            <a:cxnSpLocks/>
            <a:stCxn id="17" idx="5"/>
            <a:endCxn id="18" idx="1"/>
          </p:cNvCxnSpPr>
          <p:nvPr/>
        </p:nvCxnSpPr>
        <p:spPr>
          <a:xfrm>
            <a:off x="5410702" y="5293889"/>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AC96BCAF-AD80-94BD-3908-4217165043AB}"/>
              </a:ext>
            </a:extLst>
          </p:cNvPr>
          <p:cNvSpPr/>
          <p:nvPr/>
        </p:nvSpPr>
        <p:spPr>
          <a:xfrm>
            <a:off x="5752549" y="419803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C6B67099-7D36-8F0D-DC10-96301AA700ED}"/>
              </a:ext>
            </a:extLst>
          </p:cNvPr>
          <p:cNvSpPr/>
          <p:nvPr/>
        </p:nvSpPr>
        <p:spPr>
          <a:xfrm>
            <a:off x="6936482" y="463469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4868445F-797F-02E5-6922-C69A2AE58601}"/>
              </a:ext>
            </a:extLst>
          </p:cNvPr>
          <p:cNvCxnSpPr>
            <a:stCxn id="22" idx="6"/>
            <a:endCxn id="23" idx="2"/>
          </p:cNvCxnSpPr>
          <p:nvPr/>
        </p:nvCxnSpPr>
        <p:spPr>
          <a:xfrm>
            <a:off x="6422989" y="4533258"/>
            <a:ext cx="513493"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8F7EEBB-A04E-07D4-335E-60F22705F250}"/>
              </a:ext>
            </a:extLst>
          </p:cNvPr>
          <p:cNvCxnSpPr>
            <a:cxnSpLocks/>
            <a:stCxn id="17" idx="7"/>
            <a:endCxn id="22" idx="2"/>
          </p:cNvCxnSpPr>
          <p:nvPr/>
        </p:nvCxnSpPr>
        <p:spPr>
          <a:xfrm flipV="1">
            <a:off x="5410702" y="4533258"/>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FEDA24BE-5D80-D555-7393-3441FFC9516C}"/>
              </a:ext>
            </a:extLst>
          </p:cNvPr>
          <p:cNvSpPr/>
          <p:nvPr/>
        </p:nvSpPr>
        <p:spPr>
          <a:xfrm>
            <a:off x="6934871" y="367412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Arrow Connector 49">
            <a:extLst>
              <a:ext uri="{FF2B5EF4-FFF2-40B4-BE49-F238E27FC236}">
                <a16:creationId xmlns:a16="http://schemas.microsoft.com/office/drawing/2014/main" id="{ADE78473-BCE2-677C-8601-0EE180051CA5}"/>
              </a:ext>
            </a:extLst>
          </p:cNvPr>
          <p:cNvCxnSpPr>
            <a:cxnSpLocks/>
            <a:stCxn id="22" idx="6"/>
            <a:endCxn id="26" idx="2"/>
          </p:cNvCxnSpPr>
          <p:nvPr/>
        </p:nvCxnSpPr>
        <p:spPr>
          <a:xfrm flipV="1">
            <a:off x="6422989" y="4009346"/>
            <a:ext cx="511882"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B12F7415-33E3-BCD8-DA6B-0ECE889E94D9}"/>
              </a:ext>
            </a:extLst>
          </p:cNvPr>
          <p:cNvSpPr/>
          <p:nvPr/>
        </p:nvSpPr>
        <p:spPr>
          <a:xfrm>
            <a:off x="5482962" y="4629144"/>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3782FD8F-125C-0E4D-58AA-443BC518FE39}"/>
              </a:ext>
            </a:extLst>
          </p:cNvPr>
          <p:cNvSpPr/>
          <p:nvPr/>
        </p:nvSpPr>
        <p:spPr>
          <a:xfrm>
            <a:off x="5520953" y="5376832"/>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3FBB0721-5566-6956-19BE-C5E417B97C89}"/>
              </a:ext>
            </a:extLst>
          </p:cNvPr>
          <p:cNvSpPr/>
          <p:nvPr/>
        </p:nvSpPr>
        <p:spPr>
          <a:xfrm>
            <a:off x="6535480" y="5824445"/>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36CD0AD5-7AD5-B356-8A16-757EC22166F5}"/>
              </a:ext>
            </a:extLst>
          </p:cNvPr>
          <p:cNvSpPr/>
          <p:nvPr/>
        </p:nvSpPr>
        <p:spPr>
          <a:xfrm>
            <a:off x="6534278" y="4616548"/>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D336C8ED-16A4-DAF5-40DC-CE03A38C30CA}"/>
              </a:ext>
            </a:extLst>
          </p:cNvPr>
          <p:cNvSpPr/>
          <p:nvPr/>
        </p:nvSpPr>
        <p:spPr>
          <a:xfrm>
            <a:off x="6666652" y="4144016"/>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74FBC82A-117E-9CD6-FC56-A7202A712DC6}"/>
              </a:ext>
            </a:extLst>
          </p:cNvPr>
          <p:cNvSpPr/>
          <p:nvPr/>
        </p:nvSpPr>
        <p:spPr>
          <a:xfrm>
            <a:off x="4902403" y="483091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B2B659C9-3942-C1C4-3A89-CC726B76B624}"/>
              </a:ext>
            </a:extLst>
          </p:cNvPr>
          <p:cNvSpPr/>
          <p:nvPr/>
        </p:nvSpPr>
        <p:spPr>
          <a:xfrm>
            <a:off x="5032748" y="509253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D5651B48-40C7-BBD2-BD0D-D398217FD946}"/>
              </a:ext>
            </a:extLst>
          </p:cNvPr>
          <p:cNvSpPr/>
          <p:nvPr/>
        </p:nvSpPr>
        <p:spPr>
          <a:xfrm>
            <a:off x="5194945" y="4856488"/>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88652103-1496-209E-C38F-0CDF0FBDCC61}"/>
              </a:ext>
            </a:extLst>
          </p:cNvPr>
          <p:cNvSpPr/>
          <p:nvPr/>
        </p:nvSpPr>
        <p:spPr>
          <a:xfrm>
            <a:off x="5829285" y="4320039"/>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A58C4911-FA20-8763-00EB-BFC48F7846EE}"/>
              </a:ext>
            </a:extLst>
          </p:cNvPr>
          <p:cNvSpPr/>
          <p:nvPr/>
        </p:nvSpPr>
        <p:spPr>
          <a:xfrm>
            <a:off x="5959630" y="4581655"/>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A935B942-7FD6-6385-38AF-8A9F43751A5F}"/>
              </a:ext>
            </a:extLst>
          </p:cNvPr>
          <p:cNvSpPr/>
          <p:nvPr/>
        </p:nvSpPr>
        <p:spPr>
          <a:xfrm>
            <a:off x="6121827" y="434561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8C3DB5B3-7320-50E2-D16C-B2C4E49B9535}"/>
              </a:ext>
            </a:extLst>
          </p:cNvPr>
          <p:cNvSpPr/>
          <p:nvPr/>
        </p:nvSpPr>
        <p:spPr>
          <a:xfrm>
            <a:off x="5810617" y="5652872"/>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38AEA54C-95ED-DB20-B4CA-5FE969EA5D85}"/>
              </a:ext>
            </a:extLst>
          </p:cNvPr>
          <p:cNvSpPr/>
          <p:nvPr/>
        </p:nvSpPr>
        <p:spPr>
          <a:xfrm>
            <a:off x="5940962" y="5914488"/>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BD2816E8-2373-23F9-4118-E6CC4400FA89}"/>
              </a:ext>
            </a:extLst>
          </p:cNvPr>
          <p:cNvSpPr/>
          <p:nvPr/>
        </p:nvSpPr>
        <p:spPr>
          <a:xfrm>
            <a:off x="6103159" y="5678444"/>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5974CC5C-B6A2-B96B-FBB6-4A966C4B40CD}"/>
              </a:ext>
            </a:extLst>
          </p:cNvPr>
          <p:cNvSpPr/>
          <p:nvPr/>
        </p:nvSpPr>
        <p:spPr>
          <a:xfrm>
            <a:off x="6998419" y="5652872"/>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3586571A-687A-1AEB-F892-BBCF6CA233D1}"/>
              </a:ext>
            </a:extLst>
          </p:cNvPr>
          <p:cNvSpPr/>
          <p:nvPr/>
        </p:nvSpPr>
        <p:spPr>
          <a:xfrm>
            <a:off x="7128764" y="5914488"/>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CDF97C4A-85F9-144C-E3B7-39E4AA474A1B}"/>
              </a:ext>
            </a:extLst>
          </p:cNvPr>
          <p:cNvSpPr/>
          <p:nvPr/>
        </p:nvSpPr>
        <p:spPr>
          <a:xfrm>
            <a:off x="7290961" y="5678444"/>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C2AED052-B424-BC2A-A6A7-AC895584E591}"/>
              </a:ext>
            </a:extLst>
          </p:cNvPr>
          <p:cNvSpPr/>
          <p:nvPr/>
        </p:nvSpPr>
        <p:spPr>
          <a:xfrm>
            <a:off x="7005249" y="475132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C1D03E41-1A61-6975-7C75-7594D6ADC23F}"/>
              </a:ext>
            </a:extLst>
          </p:cNvPr>
          <p:cNvSpPr/>
          <p:nvPr/>
        </p:nvSpPr>
        <p:spPr>
          <a:xfrm>
            <a:off x="7135594" y="501294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91B80BD8-02AA-26FF-863B-0E4FA43CC37F}"/>
              </a:ext>
            </a:extLst>
          </p:cNvPr>
          <p:cNvSpPr/>
          <p:nvPr/>
        </p:nvSpPr>
        <p:spPr>
          <a:xfrm>
            <a:off x="7297791" y="4776899"/>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7978E7D7-397E-03FB-A7D6-B7964FB286CB}"/>
              </a:ext>
            </a:extLst>
          </p:cNvPr>
          <p:cNvSpPr/>
          <p:nvPr/>
        </p:nvSpPr>
        <p:spPr>
          <a:xfrm>
            <a:off x="7005249" y="3790437"/>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EA173A4C-BBEF-5C9C-51D9-5C8EE2EC3535}"/>
              </a:ext>
            </a:extLst>
          </p:cNvPr>
          <p:cNvSpPr/>
          <p:nvPr/>
        </p:nvSpPr>
        <p:spPr>
          <a:xfrm>
            <a:off x="7135594" y="4052053"/>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3EC2EEA8-CCE1-E13F-D9D7-F3F89C99AF05}"/>
              </a:ext>
            </a:extLst>
          </p:cNvPr>
          <p:cNvSpPr/>
          <p:nvPr/>
        </p:nvSpPr>
        <p:spPr>
          <a:xfrm>
            <a:off x="7297791" y="3816009"/>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8DD420E8-4136-10D5-DDE3-2F687A0ECF56}"/>
              </a:ext>
            </a:extLst>
          </p:cNvPr>
          <p:cNvSpPr/>
          <p:nvPr/>
        </p:nvSpPr>
        <p:spPr>
          <a:xfrm>
            <a:off x="5385762" y="4141800"/>
            <a:ext cx="1393041" cy="898513"/>
          </a:xfrm>
          <a:prstGeom prst="ellipse">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TextBox 76">
            <a:extLst>
              <a:ext uri="{FF2B5EF4-FFF2-40B4-BE49-F238E27FC236}">
                <a16:creationId xmlns:a16="http://schemas.microsoft.com/office/drawing/2014/main" id="{A9C62838-0E6F-C3D7-FBD0-F234B3E2035B}"/>
              </a:ext>
            </a:extLst>
          </p:cNvPr>
          <p:cNvSpPr txBox="1"/>
          <p:nvPr/>
        </p:nvSpPr>
        <p:spPr>
          <a:xfrm>
            <a:off x="5963017" y="3706335"/>
            <a:ext cx="356188" cy="461665"/>
          </a:xfrm>
          <a:prstGeom prst="rect">
            <a:avLst/>
          </a:prstGeom>
          <a:noFill/>
        </p:spPr>
        <p:txBody>
          <a:bodyPr wrap="none" rtlCol="0">
            <a:spAutoFit/>
          </a:bodyPr>
          <a:lstStyle/>
          <a:p>
            <a:r>
              <a:rPr lang="en-US" sz="2400" dirty="0">
                <a:solidFill>
                  <a:srgbClr val="FF0000"/>
                </a:solidFill>
                <a:latin typeface="Arial" panose="020B0604020202020204" pitchFamily="34" charset="0"/>
                <a:cs typeface="Arial" panose="020B0604020202020204" pitchFamily="34" charset="0"/>
              </a:rPr>
              <a:t>?</a:t>
            </a:r>
          </a:p>
        </p:txBody>
      </p:sp>
      <p:sp>
        <p:nvSpPr>
          <p:cNvPr id="78" name="Oval 77">
            <a:extLst>
              <a:ext uri="{FF2B5EF4-FFF2-40B4-BE49-F238E27FC236}">
                <a16:creationId xmlns:a16="http://schemas.microsoft.com/office/drawing/2014/main" id="{3BCE5F75-3DB8-FB02-C0B0-460C46A5A425}"/>
              </a:ext>
            </a:extLst>
          </p:cNvPr>
          <p:cNvSpPr/>
          <p:nvPr/>
        </p:nvSpPr>
        <p:spPr>
          <a:xfrm>
            <a:off x="1308746" y="472473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212659E4-E5BE-C9ED-98D8-9FEC3058BD28}"/>
              </a:ext>
            </a:extLst>
          </p:cNvPr>
          <p:cNvSpPr/>
          <p:nvPr/>
        </p:nvSpPr>
        <p:spPr>
          <a:xfrm>
            <a:off x="2200648" y="554293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3B0056A9-F3A3-7CD9-EED7-2341637FE09E}"/>
              </a:ext>
            </a:extLst>
          </p:cNvPr>
          <p:cNvSpPr/>
          <p:nvPr/>
        </p:nvSpPr>
        <p:spPr>
          <a:xfrm>
            <a:off x="3405171" y="554293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558F7F29-AAF6-8BA3-6F8B-EE5A70AECCCD}"/>
              </a:ext>
            </a:extLst>
          </p:cNvPr>
          <p:cNvCxnSpPr>
            <a:stCxn id="79" idx="6"/>
            <a:endCxn id="80" idx="2"/>
          </p:cNvCxnSpPr>
          <p:nvPr/>
        </p:nvCxnSpPr>
        <p:spPr>
          <a:xfrm>
            <a:off x="2871088" y="5878152"/>
            <a:ext cx="53408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0245B8D0-2E70-CE97-3437-E1ABF84ED598}"/>
              </a:ext>
            </a:extLst>
          </p:cNvPr>
          <p:cNvCxnSpPr>
            <a:cxnSpLocks/>
            <a:stCxn id="78" idx="5"/>
            <a:endCxn id="79" idx="1"/>
          </p:cNvCxnSpPr>
          <p:nvPr/>
        </p:nvCxnSpPr>
        <p:spPr>
          <a:xfrm>
            <a:off x="1881002" y="5296993"/>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Oval 82">
            <a:extLst>
              <a:ext uri="{FF2B5EF4-FFF2-40B4-BE49-F238E27FC236}">
                <a16:creationId xmlns:a16="http://schemas.microsoft.com/office/drawing/2014/main" id="{48C55BE1-8E8F-A3A8-3AC2-5BC31E5282AA}"/>
              </a:ext>
            </a:extLst>
          </p:cNvPr>
          <p:cNvSpPr/>
          <p:nvPr/>
        </p:nvSpPr>
        <p:spPr>
          <a:xfrm>
            <a:off x="2222849" y="420114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Oval 83">
            <a:extLst>
              <a:ext uri="{FF2B5EF4-FFF2-40B4-BE49-F238E27FC236}">
                <a16:creationId xmlns:a16="http://schemas.microsoft.com/office/drawing/2014/main" id="{81447415-8889-7D13-A64B-732FE01325A0}"/>
              </a:ext>
            </a:extLst>
          </p:cNvPr>
          <p:cNvSpPr/>
          <p:nvPr/>
        </p:nvSpPr>
        <p:spPr>
          <a:xfrm>
            <a:off x="3406782" y="463779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Arrow Connector 84">
            <a:extLst>
              <a:ext uri="{FF2B5EF4-FFF2-40B4-BE49-F238E27FC236}">
                <a16:creationId xmlns:a16="http://schemas.microsoft.com/office/drawing/2014/main" id="{84F2D2E8-4916-6065-058E-BDC3D92619A3}"/>
              </a:ext>
            </a:extLst>
          </p:cNvPr>
          <p:cNvCxnSpPr>
            <a:stCxn id="83" idx="6"/>
            <a:endCxn id="84" idx="2"/>
          </p:cNvCxnSpPr>
          <p:nvPr/>
        </p:nvCxnSpPr>
        <p:spPr>
          <a:xfrm>
            <a:off x="2893289" y="4536362"/>
            <a:ext cx="513493"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E0620EB8-C575-7BD0-7475-7771FE4DF60C}"/>
              </a:ext>
            </a:extLst>
          </p:cNvPr>
          <p:cNvCxnSpPr>
            <a:cxnSpLocks/>
            <a:stCxn id="78" idx="7"/>
            <a:endCxn id="83" idx="2"/>
          </p:cNvCxnSpPr>
          <p:nvPr/>
        </p:nvCxnSpPr>
        <p:spPr>
          <a:xfrm flipV="1">
            <a:off x="1881002" y="4536362"/>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Oval 86">
            <a:extLst>
              <a:ext uri="{FF2B5EF4-FFF2-40B4-BE49-F238E27FC236}">
                <a16:creationId xmlns:a16="http://schemas.microsoft.com/office/drawing/2014/main" id="{CD7CC5E4-00DE-984A-B40F-4A68387C4B25}"/>
              </a:ext>
            </a:extLst>
          </p:cNvPr>
          <p:cNvSpPr/>
          <p:nvPr/>
        </p:nvSpPr>
        <p:spPr>
          <a:xfrm>
            <a:off x="3405171" y="367723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Arrow Connector 87">
            <a:extLst>
              <a:ext uri="{FF2B5EF4-FFF2-40B4-BE49-F238E27FC236}">
                <a16:creationId xmlns:a16="http://schemas.microsoft.com/office/drawing/2014/main" id="{26848972-7E5C-BFDC-2DD2-49912549BD85}"/>
              </a:ext>
            </a:extLst>
          </p:cNvPr>
          <p:cNvCxnSpPr>
            <a:cxnSpLocks/>
            <a:stCxn id="83" idx="6"/>
            <a:endCxn id="87" idx="2"/>
          </p:cNvCxnSpPr>
          <p:nvPr/>
        </p:nvCxnSpPr>
        <p:spPr>
          <a:xfrm flipV="1">
            <a:off x="2893289" y="4012450"/>
            <a:ext cx="511882"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C9468104-A562-CD8F-DFEC-C4A2F35A73D3}"/>
              </a:ext>
            </a:extLst>
          </p:cNvPr>
          <p:cNvSpPr/>
          <p:nvPr/>
        </p:nvSpPr>
        <p:spPr>
          <a:xfrm>
            <a:off x="1953262" y="4632248"/>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2BE43A0C-DCAE-E62B-1D6F-B33F428DE184}"/>
              </a:ext>
            </a:extLst>
          </p:cNvPr>
          <p:cNvSpPr/>
          <p:nvPr/>
        </p:nvSpPr>
        <p:spPr>
          <a:xfrm>
            <a:off x="1991253" y="5379936"/>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1964F278-1C3A-159D-4F1A-E048CD4D971C}"/>
              </a:ext>
            </a:extLst>
          </p:cNvPr>
          <p:cNvSpPr/>
          <p:nvPr/>
        </p:nvSpPr>
        <p:spPr>
          <a:xfrm>
            <a:off x="3005780" y="5827549"/>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BCAF177C-897D-54B7-C631-7E068BB87FD6}"/>
              </a:ext>
            </a:extLst>
          </p:cNvPr>
          <p:cNvSpPr/>
          <p:nvPr/>
        </p:nvSpPr>
        <p:spPr>
          <a:xfrm>
            <a:off x="3004578" y="4619652"/>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F4C10884-A68F-66FA-E8FF-654CC785AFD4}"/>
              </a:ext>
            </a:extLst>
          </p:cNvPr>
          <p:cNvSpPr/>
          <p:nvPr/>
        </p:nvSpPr>
        <p:spPr>
          <a:xfrm>
            <a:off x="3136952" y="4147120"/>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9DDFF73F-0E7C-7BBB-22F3-D9B204AAF7B1}"/>
              </a:ext>
            </a:extLst>
          </p:cNvPr>
          <p:cNvSpPr/>
          <p:nvPr/>
        </p:nvSpPr>
        <p:spPr>
          <a:xfrm>
            <a:off x="1372703" y="483402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0FE50EF0-2FA9-089B-659A-9C0C18DBDA50}"/>
              </a:ext>
            </a:extLst>
          </p:cNvPr>
          <p:cNvSpPr/>
          <p:nvPr/>
        </p:nvSpPr>
        <p:spPr>
          <a:xfrm>
            <a:off x="1503048" y="509563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DCB6B940-62E8-5DEA-2CD7-735F5C4C24E4}"/>
              </a:ext>
            </a:extLst>
          </p:cNvPr>
          <p:cNvSpPr/>
          <p:nvPr/>
        </p:nvSpPr>
        <p:spPr>
          <a:xfrm>
            <a:off x="1665245" y="485959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8B6B0CCD-4E9E-A279-FBBF-1D1DE248882B}"/>
              </a:ext>
            </a:extLst>
          </p:cNvPr>
          <p:cNvSpPr/>
          <p:nvPr/>
        </p:nvSpPr>
        <p:spPr>
          <a:xfrm>
            <a:off x="2299585" y="4323143"/>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E9C8F1AD-0543-35B5-1CB2-6F534D3EB127}"/>
              </a:ext>
            </a:extLst>
          </p:cNvPr>
          <p:cNvSpPr/>
          <p:nvPr/>
        </p:nvSpPr>
        <p:spPr>
          <a:xfrm>
            <a:off x="2429930" y="4584759"/>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EA745F53-7193-528E-CB4C-CFEDACF68ACD}"/>
              </a:ext>
            </a:extLst>
          </p:cNvPr>
          <p:cNvSpPr/>
          <p:nvPr/>
        </p:nvSpPr>
        <p:spPr>
          <a:xfrm>
            <a:off x="2592127" y="4348715"/>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2CDFD687-AA14-E5D7-C657-5ACB686A2997}"/>
              </a:ext>
            </a:extLst>
          </p:cNvPr>
          <p:cNvSpPr/>
          <p:nvPr/>
        </p:nvSpPr>
        <p:spPr>
          <a:xfrm>
            <a:off x="2280917" y="565597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C6AD5BB9-08A5-D631-4407-7B47BC025B61}"/>
              </a:ext>
            </a:extLst>
          </p:cNvPr>
          <p:cNvSpPr/>
          <p:nvPr/>
        </p:nvSpPr>
        <p:spPr>
          <a:xfrm>
            <a:off x="2411262" y="5917592"/>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79374062-7689-BADC-D34E-16EB81E18558}"/>
              </a:ext>
            </a:extLst>
          </p:cNvPr>
          <p:cNvSpPr/>
          <p:nvPr/>
        </p:nvSpPr>
        <p:spPr>
          <a:xfrm>
            <a:off x="2573459" y="5681548"/>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9760F22C-25A8-2336-2B29-7B0D98F87B76}"/>
              </a:ext>
            </a:extLst>
          </p:cNvPr>
          <p:cNvSpPr/>
          <p:nvPr/>
        </p:nvSpPr>
        <p:spPr>
          <a:xfrm>
            <a:off x="3468719" y="565597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9BB0DDC2-4D46-920C-EC6B-D3DF80504B55}"/>
              </a:ext>
            </a:extLst>
          </p:cNvPr>
          <p:cNvSpPr/>
          <p:nvPr/>
        </p:nvSpPr>
        <p:spPr>
          <a:xfrm>
            <a:off x="3599064" y="591759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33415445-AB64-2533-09CC-2A5DB1308B70}"/>
              </a:ext>
            </a:extLst>
          </p:cNvPr>
          <p:cNvSpPr/>
          <p:nvPr/>
        </p:nvSpPr>
        <p:spPr>
          <a:xfrm>
            <a:off x="3761261" y="5681548"/>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10752FEE-0DD9-60E0-8723-DE691152C304}"/>
              </a:ext>
            </a:extLst>
          </p:cNvPr>
          <p:cNvSpPr/>
          <p:nvPr/>
        </p:nvSpPr>
        <p:spPr>
          <a:xfrm>
            <a:off x="3475549" y="475443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ABF70A60-7CE6-7B79-55B6-0CC40DC14DF4}"/>
              </a:ext>
            </a:extLst>
          </p:cNvPr>
          <p:cNvSpPr/>
          <p:nvPr/>
        </p:nvSpPr>
        <p:spPr>
          <a:xfrm>
            <a:off x="3605894" y="5016047"/>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D9BAA66D-11EF-6DF1-3640-77195D603312}"/>
              </a:ext>
            </a:extLst>
          </p:cNvPr>
          <p:cNvSpPr/>
          <p:nvPr/>
        </p:nvSpPr>
        <p:spPr>
          <a:xfrm>
            <a:off x="3768091" y="4780003"/>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60A0F782-DDF5-0156-64EC-85F3BF85E3CB}"/>
              </a:ext>
            </a:extLst>
          </p:cNvPr>
          <p:cNvSpPr/>
          <p:nvPr/>
        </p:nvSpPr>
        <p:spPr>
          <a:xfrm>
            <a:off x="3475549" y="3793541"/>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1EA77B1B-B132-D26C-AD7D-5F654049EAFA}"/>
              </a:ext>
            </a:extLst>
          </p:cNvPr>
          <p:cNvSpPr/>
          <p:nvPr/>
        </p:nvSpPr>
        <p:spPr>
          <a:xfrm>
            <a:off x="3605894" y="405515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D16745EA-4406-8F22-DEF0-757ED03C2A0E}"/>
              </a:ext>
            </a:extLst>
          </p:cNvPr>
          <p:cNvSpPr/>
          <p:nvPr/>
        </p:nvSpPr>
        <p:spPr>
          <a:xfrm>
            <a:off x="3768091" y="381911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FF4DD140-EC75-DB95-688D-B0CEAF136793}"/>
              </a:ext>
            </a:extLst>
          </p:cNvPr>
          <p:cNvSpPr/>
          <p:nvPr/>
        </p:nvSpPr>
        <p:spPr>
          <a:xfrm rot="19784506">
            <a:off x="1079860" y="4314537"/>
            <a:ext cx="2051049" cy="944921"/>
          </a:xfrm>
          <a:prstGeom prst="ellipse">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TextBox 112">
            <a:extLst>
              <a:ext uri="{FF2B5EF4-FFF2-40B4-BE49-F238E27FC236}">
                <a16:creationId xmlns:a16="http://schemas.microsoft.com/office/drawing/2014/main" id="{F3413C11-7D9F-29EA-32B1-3482D3943588}"/>
              </a:ext>
            </a:extLst>
          </p:cNvPr>
          <p:cNvSpPr txBox="1"/>
          <p:nvPr/>
        </p:nvSpPr>
        <p:spPr>
          <a:xfrm>
            <a:off x="1694422" y="3860028"/>
            <a:ext cx="356188" cy="461665"/>
          </a:xfrm>
          <a:prstGeom prst="rect">
            <a:avLst/>
          </a:prstGeom>
          <a:noFill/>
        </p:spPr>
        <p:txBody>
          <a:bodyPr wrap="none" rtlCol="0">
            <a:spAutoFit/>
          </a:bodyPr>
          <a:lstStyle/>
          <a:p>
            <a:r>
              <a:rPr lang="en-US" sz="2400" dirty="0">
                <a:solidFill>
                  <a:srgbClr val="FF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4991224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16C78-BE8E-B9EE-FCE5-554A15522FCA}"/>
              </a:ext>
            </a:extLst>
          </p:cNvPr>
          <p:cNvSpPr>
            <a:spLocks noGrp="1"/>
          </p:cNvSpPr>
          <p:nvPr>
            <p:ph type="title"/>
          </p:nvPr>
        </p:nvSpPr>
        <p:spPr/>
        <p:txBody>
          <a:bodyPr/>
          <a:lstStyle/>
          <a:p>
            <a:r>
              <a:rPr lang="en-US" dirty="0"/>
              <a:t>Question: Semantic memory</a:t>
            </a:r>
          </a:p>
        </p:txBody>
      </p:sp>
      <p:sp>
        <p:nvSpPr>
          <p:cNvPr id="3" name="Content Placeholder 2">
            <a:extLst>
              <a:ext uri="{FF2B5EF4-FFF2-40B4-BE49-F238E27FC236}">
                <a16:creationId xmlns:a16="http://schemas.microsoft.com/office/drawing/2014/main" id="{51496C73-457D-5337-FA7B-4CED1AC3C4D5}"/>
              </a:ext>
            </a:extLst>
          </p:cNvPr>
          <p:cNvSpPr>
            <a:spLocks noGrp="1"/>
          </p:cNvSpPr>
          <p:nvPr>
            <p:ph idx="1"/>
          </p:nvPr>
        </p:nvSpPr>
        <p:spPr>
          <a:xfrm>
            <a:off x="838200" y="1825625"/>
            <a:ext cx="10515600" cy="1220499"/>
          </a:xfrm>
        </p:spPr>
        <p:txBody>
          <a:bodyPr/>
          <a:lstStyle/>
          <a:p>
            <a:endParaRPr lang="en-US" dirty="0"/>
          </a:p>
        </p:txBody>
      </p:sp>
    </p:spTree>
    <p:extLst>
      <p:ext uri="{BB962C8B-B14F-4D97-AF65-F5344CB8AC3E}">
        <p14:creationId xmlns:p14="http://schemas.microsoft.com/office/powerpoint/2010/main" val="24173916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55D5E-CF7E-14B5-0302-9705B21572D4}"/>
              </a:ext>
            </a:extLst>
          </p:cNvPr>
          <p:cNvSpPr>
            <a:spLocks noGrp="1"/>
          </p:cNvSpPr>
          <p:nvPr>
            <p:ph type="title"/>
          </p:nvPr>
        </p:nvSpPr>
        <p:spPr>
          <a:xfrm>
            <a:off x="838200" y="0"/>
            <a:ext cx="10515600" cy="1325563"/>
          </a:xfrm>
        </p:spPr>
        <p:txBody>
          <a:bodyPr/>
          <a:lstStyle/>
          <a:p>
            <a:r>
              <a:rPr lang="en-US" dirty="0"/>
              <a:t>Question: Actions</a:t>
            </a:r>
          </a:p>
        </p:txBody>
      </p:sp>
      <p:sp>
        <p:nvSpPr>
          <p:cNvPr id="3" name="Content Placeholder 2">
            <a:extLst>
              <a:ext uri="{FF2B5EF4-FFF2-40B4-BE49-F238E27FC236}">
                <a16:creationId xmlns:a16="http://schemas.microsoft.com/office/drawing/2014/main" id="{91474375-B6ED-9F2E-6540-E7EB50189909}"/>
              </a:ext>
            </a:extLst>
          </p:cNvPr>
          <p:cNvSpPr>
            <a:spLocks noGrp="1"/>
          </p:cNvSpPr>
          <p:nvPr>
            <p:ph idx="1"/>
          </p:nvPr>
        </p:nvSpPr>
        <p:spPr>
          <a:xfrm>
            <a:off x="838200" y="1352791"/>
            <a:ext cx="10515600" cy="3721603"/>
          </a:xfrm>
        </p:spPr>
        <p:txBody>
          <a:bodyPr/>
          <a:lstStyle/>
          <a:p>
            <a:r>
              <a:rPr lang="en-US" dirty="0"/>
              <a:t>How are actions represented?</a:t>
            </a:r>
          </a:p>
          <a:p>
            <a:pPr lvl="1"/>
            <a:r>
              <a:rPr lang="en-US" dirty="0"/>
              <a:t>Semantic memory encoding: Actions are encoded based on the states they change</a:t>
            </a:r>
          </a:p>
          <a:p>
            <a:pPr lvl="1"/>
            <a:r>
              <a:rPr lang="en-US" dirty="0"/>
              <a:t>Episodic memory encoding: Actions encoded as a transition from one scene to another</a:t>
            </a:r>
          </a:p>
          <a:p>
            <a:pPr lvl="1"/>
            <a:r>
              <a:rPr lang="en-US" dirty="0"/>
              <a:t>How do the neural representations of actions interface with the representation of states or scenes</a:t>
            </a:r>
          </a:p>
        </p:txBody>
      </p:sp>
      <p:sp>
        <p:nvSpPr>
          <p:cNvPr id="4" name="Oval 3">
            <a:extLst>
              <a:ext uri="{FF2B5EF4-FFF2-40B4-BE49-F238E27FC236}">
                <a16:creationId xmlns:a16="http://schemas.microsoft.com/office/drawing/2014/main" id="{D70B2241-57A3-6ACD-1DF5-C6C43278DA2E}"/>
              </a:ext>
            </a:extLst>
          </p:cNvPr>
          <p:cNvSpPr/>
          <p:nvPr/>
        </p:nvSpPr>
        <p:spPr>
          <a:xfrm>
            <a:off x="7590818" y="480325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596AD98-02AD-9C40-0A25-78DECAB150E6}"/>
              </a:ext>
            </a:extLst>
          </p:cNvPr>
          <p:cNvSpPr/>
          <p:nvPr/>
        </p:nvSpPr>
        <p:spPr>
          <a:xfrm>
            <a:off x="8482720"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7488B90-A479-1FC8-3491-D60C0C68163F}"/>
              </a:ext>
            </a:extLst>
          </p:cNvPr>
          <p:cNvSpPr/>
          <p:nvPr/>
        </p:nvSpPr>
        <p:spPr>
          <a:xfrm>
            <a:off x="9944936"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52B6352-81B3-771B-4003-FC2D8E84BAF1}"/>
              </a:ext>
            </a:extLst>
          </p:cNvPr>
          <p:cNvCxnSpPr>
            <a:stCxn id="5" idx="6"/>
            <a:endCxn id="6" idx="2"/>
          </p:cNvCxnSpPr>
          <p:nvPr/>
        </p:nvCxnSpPr>
        <p:spPr>
          <a:xfrm>
            <a:off x="9153160" y="5956672"/>
            <a:ext cx="79177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EBFDA45-1EE4-24E8-BD28-C0775C8109AA}"/>
              </a:ext>
            </a:extLst>
          </p:cNvPr>
          <p:cNvCxnSpPr>
            <a:cxnSpLocks/>
            <a:stCxn id="4" idx="5"/>
            <a:endCxn id="5" idx="1"/>
          </p:cNvCxnSpPr>
          <p:nvPr/>
        </p:nvCxnSpPr>
        <p:spPr>
          <a:xfrm>
            <a:off x="8163074" y="5375513"/>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D8895D7-8319-3E80-C874-D34AB5C50E89}"/>
              </a:ext>
            </a:extLst>
          </p:cNvPr>
          <p:cNvSpPr/>
          <p:nvPr/>
        </p:nvSpPr>
        <p:spPr>
          <a:xfrm>
            <a:off x="8504921" y="427966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F66AD85D-F53F-05DB-6F59-54DFC2DA34EB}"/>
              </a:ext>
            </a:extLst>
          </p:cNvPr>
          <p:cNvSpPr/>
          <p:nvPr/>
        </p:nvSpPr>
        <p:spPr>
          <a:xfrm>
            <a:off x="9946547" y="471631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EDBE322-EED2-38C0-3BC4-0324237728A4}"/>
              </a:ext>
            </a:extLst>
          </p:cNvPr>
          <p:cNvCxnSpPr>
            <a:stCxn id="9" idx="6"/>
            <a:endCxn id="10" idx="2"/>
          </p:cNvCxnSpPr>
          <p:nvPr/>
        </p:nvCxnSpPr>
        <p:spPr>
          <a:xfrm>
            <a:off x="9175361" y="4614882"/>
            <a:ext cx="771186"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9FD50DD-3131-998A-2499-61857D28FCB3}"/>
              </a:ext>
            </a:extLst>
          </p:cNvPr>
          <p:cNvCxnSpPr>
            <a:cxnSpLocks/>
            <a:stCxn id="4" idx="7"/>
            <a:endCxn id="9" idx="2"/>
          </p:cNvCxnSpPr>
          <p:nvPr/>
        </p:nvCxnSpPr>
        <p:spPr>
          <a:xfrm flipV="1">
            <a:off x="8163074" y="4614882"/>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044739D-B218-085F-4CC8-5EBA436CD34F}"/>
              </a:ext>
            </a:extLst>
          </p:cNvPr>
          <p:cNvSpPr/>
          <p:nvPr/>
        </p:nvSpPr>
        <p:spPr>
          <a:xfrm>
            <a:off x="9944936" y="375575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67D721F-E161-242E-CFEB-A751C71EDDB1}"/>
              </a:ext>
            </a:extLst>
          </p:cNvPr>
          <p:cNvCxnSpPr>
            <a:cxnSpLocks/>
            <a:stCxn id="9" idx="6"/>
            <a:endCxn id="13" idx="2"/>
          </p:cNvCxnSpPr>
          <p:nvPr/>
        </p:nvCxnSpPr>
        <p:spPr>
          <a:xfrm flipV="1">
            <a:off x="9175361" y="4090970"/>
            <a:ext cx="769575"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F65C176-7FAB-657E-46FE-45544A7FBF70}"/>
              </a:ext>
            </a:extLst>
          </p:cNvPr>
          <p:cNvSpPr/>
          <p:nvPr/>
        </p:nvSpPr>
        <p:spPr>
          <a:xfrm>
            <a:off x="8235334" y="4710768"/>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A8B1121-D66C-E955-11B7-E3F59801A7B9}"/>
              </a:ext>
            </a:extLst>
          </p:cNvPr>
          <p:cNvSpPr/>
          <p:nvPr/>
        </p:nvSpPr>
        <p:spPr>
          <a:xfrm>
            <a:off x="8273325" y="5458456"/>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9F1DF8D-79C2-C1B4-04BC-B50375DD05B6}"/>
              </a:ext>
            </a:extLst>
          </p:cNvPr>
          <p:cNvSpPr/>
          <p:nvPr/>
        </p:nvSpPr>
        <p:spPr>
          <a:xfrm>
            <a:off x="9461961" y="5882794"/>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0AF8657-F4D5-F566-13DF-FD084EE9A81E}"/>
              </a:ext>
            </a:extLst>
          </p:cNvPr>
          <p:cNvSpPr/>
          <p:nvPr/>
        </p:nvSpPr>
        <p:spPr>
          <a:xfrm>
            <a:off x="9461961" y="4764785"/>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3BBCAB-D3ED-AB56-A2F4-8D43387CA48C}"/>
              </a:ext>
            </a:extLst>
          </p:cNvPr>
          <p:cNvSpPr/>
          <p:nvPr/>
        </p:nvSpPr>
        <p:spPr>
          <a:xfrm>
            <a:off x="9461961" y="4286204"/>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64CC1F7-534A-DC39-5A22-09A1F0AD33BD}"/>
              </a:ext>
            </a:extLst>
          </p:cNvPr>
          <p:cNvSpPr/>
          <p:nvPr/>
        </p:nvSpPr>
        <p:spPr>
          <a:xfrm>
            <a:off x="7654775" y="491254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FD54496-9315-FBAA-FBDB-C46824E710D1}"/>
              </a:ext>
            </a:extLst>
          </p:cNvPr>
          <p:cNvSpPr/>
          <p:nvPr/>
        </p:nvSpPr>
        <p:spPr>
          <a:xfrm>
            <a:off x="7785120" y="517415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1583101-8F88-F0D5-C8B1-D608888D2C90}"/>
              </a:ext>
            </a:extLst>
          </p:cNvPr>
          <p:cNvSpPr/>
          <p:nvPr/>
        </p:nvSpPr>
        <p:spPr>
          <a:xfrm>
            <a:off x="7947317" y="493811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C6D25DA-8991-A4A3-2ECD-9915835E6B9F}"/>
              </a:ext>
            </a:extLst>
          </p:cNvPr>
          <p:cNvSpPr/>
          <p:nvPr/>
        </p:nvSpPr>
        <p:spPr>
          <a:xfrm>
            <a:off x="8581657" y="4401663"/>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A9A6C4B-15D8-1568-4706-472DC31FA751}"/>
              </a:ext>
            </a:extLst>
          </p:cNvPr>
          <p:cNvSpPr/>
          <p:nvPr/>
        </p:nvSpPr>
        <p:spPr>
          <a:xfrm>
            <a:off x="8712002" y="4663279"/>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00C38A8-4AE3-E95F-EB83-BB166461085F}"/>
              </a:ext>
            </a:extLst>
          </p:cNvPr>
          <p:cNvSpPr/>
          <p:nvPr/>
        </p:nvSpPr>
        <p:spPr>
          <a:xfrm>
            <a:off x="8874199" y="4427235"/>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5288B57-7E44-B031-6714-3F3DC6197AF9}"/>
              </a:ext>
            </a:extLst>
          </p:cNvPr>
          <p:cNvSpPr/>
          <p:nvPr/>
        </p:nvSpPr>
        <p:spPr>
          <a:xfrm>
            <a:off x="8562989"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E0B3E38-87C4-E6CC-8CCF-2944AB1F2DF4}"/>
              </a:ext>
            </a:extLst>
          </p:cNvPr>
          <p:cNvSpPr/>
          <p:nvPr/>
        </p:nvSpPr>
        <p:spPr>
          <a:xfrm>
            <a:off x="8693334" y="5996112"/>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2CFF8F0-408B-F095-B312-96473131A416}"/>
              </a:ext>
            </a:extLst>
          </p:cNvPr>
          <p:cNvSpPr/>
          <p:nvPr/>
        </p:nvSpPr>
        <p:spPr>
          <a:xfrm>
            <a:off x="8855531" y="5760068"/>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F06D374-04E7-7B89-877F-08EC790BD678}"/>
              </a:ext>
            </a:extLst>
          </p:cNvPr>
          <p:cNvSpPr/>
          <p:nvPr/>
        </p:nvSpPr>
        <p:spPr>
          <a:xfrm>
            <a:off x="10008484"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E72715B-A6C2-A5FB-9800-6D78172AFAC1}"/>
              </a:ext>
            </a:extLst>
          </p:cNvPr>
          <p:cNvSpPr/>
          <p:nvPr/>
        </p:nvSpPr>
        <p:spPr>
          <a:xfrm>
            <a:off x="10138829" y="599611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5850D18-3057-0F25-3081-93A62F353454}"/>
              </a:ext>
            </a:extLst>
          </p:cNvPr>
          <p:cNvSpPr/>
          <p:nvPr/>
        </p:nvSpPr>
        <p:spPr>
          <a:xfrm>
            <a:off x="10301026" y="5760068"/>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B0A985B-6F69-E5CB-B7DF-0D8CA742B346}"/>
              </a:ext>
            </a:extLst>
          </p:cNvPr>
          <p:cNvSpPr/>
          <p:nvPr/>
        </p:nvSpPr>
        <p:spPr>
          <a:xfrm>
            <a:off x="10015314" y="483295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15B7EA6-C780-F4AE-0E2E-B5B6D7A5E817}"/>
              </a:ext>
            </a:extLst>
          </p:cNvPr>
          <p:cNvSpPr/>
          <p:nvPr/>
        </p:nvSpPr>
        <p:spPr>
          <a:xfrm>
            <a:off x="10145659" y="5094567"/>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3521308-ECF4-5075-ED3E-4546F3CB2D1B}"/>
              </a:ext>
            </a:extLst>
          </p:cNvPr>
          <p:cNvSpPr/>
          <p:nvPr/>
        </p:nvSpPr>
        <p:spPr>
          <a:xfrm>
            <a:off x="10307856" y="4858523"/>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339942BF-5CA5-B03A-9756-413450E210C7}"/>
              </a:ext>
            </a:extLst>
          </p:cNvPr>
          <p:cNvSpPr/>
          <p:nvPr/>
        </p:nvSpPr>
        <p:spPr>
          <a:xfrm>
            <a:off x="10015314" y="3872061"/>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0DF03D7-B1AE-E538-7CC4-41882AB19FAB}"/>
              </a:ext>
            </a:extLst>
          </p:cNvPr>
          <p:cNvSpPr/>
          <p:nvPr/>
        </p:nvSpPr>
        <p:spPr>
          <a:xfrm>
            <a:off x="10145659" y="413367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AA08571-EA76-4DF0-5C00-797644A4C8B8}"/>
              </a:ext>
            </a:extLst>
          </p:cNvPr>
          <p:cNvSpPr/>
          <p:nvPr/>
        </p:nvSpPr>
        <p:spPr>
          <a:xfrm>
            <a:off x="10307856" y="389763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1DC03CB7-544A-1D42-D29F-100FE5B10D4D}"/>
              </a:ext>
            </a:extLst>
          </p:cNvPr>
          <p:cNvSpPr/>
          <p:nvPr/>
        </p:nvSpPr>
        <p:spPr>
          <a:xfrm>
            <a:off x="8169866" y="4634234"/>
            <a:ext cx="281017" cy="281017"/>
          </a:xfrm>
          <a:prstGeom prst="ellipse">
            <a:avLst/>
          </a:prstGeom>
          <a:noFill/>
          <a:ln w="254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Arrow: Right 51">
            <a:extLst>
              <a:ext uri="{FF2B5EF4-FFF2-40B4-BE49-F238E27FC236}">
                <a16:creationId xmlns:a16="http://schemas.microsoft.com/office/drawing/2014/main" id="{7F35FDD6-914A-3F2B-70A1-E4950BF79CEC}"/>
              </a:ext>
            </a:extLst>
          </p:cNvPr>
          <p:cNvSpPr/>
          <p:nvPr/>
        </p:nvSpPr>
        <p:spPr>
          <a:xfrm rot="3178524">
            <a:off x="8122738" y="4512287"/>
            <a:ext cx="117430" cy="105044"/>
          </a:xfrm>
          <a:prstGeom prst="rightArrow">
            <a:avLst/>
          </a:prstGeom>
          <a:solidFill>
            <a:schemeClr val="bg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C09D4AC4-9886-8CD6-6158-E97663976E95}"/>
              </a:ext>
            </a:extLst>
          </p:cNvPr>
          <p:cNvSpPr/>
          <p:nvPr/>
        </p:nvSpPr>
        <p:spPr>
          <a:xfrm rot="3664409">
            <a:off x="7877903" y="3918528"/>
            <a:ext cx="1010370" cy="1925438"/>
          </a:xfrm>
          <a:prstGeom prst="ellipse">
            <a:avLst/>
          </a:prstGeom>
          <a:noFill/>
          <a:ln w="254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Arrow: Right 53">
            <a:extLst>
              <a:ext uri="{FF2B5EF4-FFF2-40B4-BE49-F238E27FC236}">
                <a16:creationId xmlns:a16="http://schemas.microsoft.com/office/drawing/2014/main" id="{8D148E81-6096-1C50-9CE0-252CD89FF2CA}"/>
              </a:ext>
            </a:extLst>
          </p:cNvPr>
          <p:cNvSpPr/>
          <p:nvPr/>
        </p:nvSpPr>
        <p:spPr>
          <a:xfrm rot="3178524">
            <a:off x="7864271" y="4211457"/>
            <a:ext cx="275398" cy="186714"/>
          </a:xfrm>
          <a:prstGeom prst="rightArrow">
            <a:avLst/>
          </a:prstGeom>
          <a:solidFill>
            <a:schemeClr val="bg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93738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55D5E-CF7E-14B5-0302-9705B21572D4}"/>
              </a:ext>
            </a:extLst>
          </p:cNvPr>
          <p:cNvSpPr>
            <a:spLocks noGrp="1"/>
          </p:cNvSpPr>
          <p:nvPr>
            <p:ph type="title"/>
          </p:nvPr>
        </p:nvSpPr>
        <p:spPr>
          <a:xfrm>
            <a:off x="838200" y="0"/>
            <a:ext cx="10515600" cy="1325563"/>
          </a:xfrm>
        </p:spPr>
        <p:txBody>
          <a:bodyPr/>
          <a:lstStyle/>
          <a:p>
            <a:r>
              <a:rPr lang="en-US" dirty="0"/>
              <a:t>Question: Affordances</a:t>
            </a:r>
          </a:p>
        </p:txBody>
      </p:sp>
      <p:sp>
        <p:nvSpPr>
          <p:cNvPr id="3" name="Content Placeholder 2">
            <a:extLst>
              <a:ext uri="{FF2B5EF4-FFF2-40B4-BE49-F238E27FC236}">
                <a16:creationId xmlns:a16="http://schemas.microsoft.com/office/drawing/2014/main" id="{91474375-B6ED-9F2E-6540-E7EB50189909}"/>
              </a:ext>
            </a:extLst>
          </p:cNvPr>
          <p:cNvSpPr>
            <a:spLocks noGrp="1"/>
          </p:cNvSpPr>
          <p:nvPr>
            <p:ph idx="1"/>
          </p:nvPr>
        </p:nvSpPr>
        <p:spPr>
          <a:xfrm>
            <a:off x="838200" y="1352792"/>
            <a:ext cx="10515600" cy="3058278"/>
          </a:xfrm>
        </p:spPr>
        <p:txBody>
          <a:bodyPr/>
          <a:lstStyle/>
          <a:p>
            <a:r>
              <a:rPr lang="en-US" dirty="0"/>
              <a:t>How do affordances operate?</a:t>
            </a:r>
          </a:p>
          <a:p>
            <a:pPr lvl="1"/>
            <a:r>
              <a:rPr lang="en-US" dirty="0"/>
              <a:t>Test whether activation of a given item representation leads to activation of its associated action representations</a:t>
            </a:r>
          </a:p>
        </p:txBody>
      </p:sp>
      <p:sp>
        <p:nvSpPr>
          <p:cNvPr id="4" name="Oval 3">
            <a:extLst>
              <a:ext uri="{FF2B5EF4-FFF2-40B4-BE49-F238E27FC236}">
                <a16:creationId xmlns:a16="http://schemas.microsoft.com/office/drawing/2014/main" id="{D70B2241-57A3-6ACD-1DF5-C6C43278DA2E}"/>
              </a:ext>
            </a:extLst>
          </p:cNvPr>
          <p:cNvSpPr/>
          <p:nvPr/>
        </p:nvSpPr>
        <p:spPr>
          <a:xfrm>
            <a:off x="7590818" y="480325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596AD98-02AD-9C40-0A25-78DECAB150E6}"/>
              </a:ext>
            </a:extLst>
          </p:cNvPr>
          <p:cNvSpPr/>
          <p:nvPr/>
        </p:nvSpPr>
        <p:spPr>
          <a:xfrm>
            <a:off x="8482720"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7488B90-A479-1FC8-3491-D60C0C68163F}"/>
              </a:ext>
            </a:extLst>
          </p:cNvPr>
          <p:cNvSpPr/>
          <p:nvPr/>
        </p:nvSpPr>
        <p:spPr>
          <a:xfrm>
            <a:off x="9944936"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52B6352-81B3-771B-4003-FC2D8E84BAF1}"/>
              </a:ext>
            </a:extLst>
          </p:cNvPr>
          <p:cNvCxnSpPr>
            <a:stCxn id="5" idx="6"/>
            <a:endCxn id="6" idx="2"/>
          </p:cNvCxnSpPr>
          <p:nvPr/>
        </p:nvCxnSpPr>
        <p:spPr>
          <a:xfrm>
            <a:off x="9153160" y="5956672"/>
            <a:ext cx="79177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EBFDA45-1EE4-24E8-BD28-C0775C8109AA}"/>
              </a:ext>
            </a:extLst>
          </p:cNvPr>
          <p:cNvCxnSpPr>
            <a:cxnSpLocks/>
            <a:stCxn id="4" idx="5"/>
            <a:endCxn id="5" idx="1"/>
          </p:cNvCxnSpPr>
          <p:nvPr/>
        </p:nvCxnSpPr>
        <p:spPr>
          <a:xfrm>
            <a:off x="8163074" y="5375513"/>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D8895D7-8319-3E80-C874-D34AB5C50E89}"/>
              </a:ext>
            </a:extLst>
          </p:cNvPr>
          <p:cNvSpPr/>
          <p:nvPr/>
        </p:nvSpPr>
        <p:spPr>
          <a:xfrm>
            <a:off x="8504921" y="427966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F66AD85D-F53F-05DB-6F59-54DFC2DA34EB}"/>
              </a:ext>
            </a:extLst>
          </p:cNvPr>
          <p:cNvSpPr/>
          <p:nvPr/>
        </p:nvSpPr>
        <p:spPr>
          <a:xfrm>
            <a:off x="9946547" y="471631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EDBE322-EED2-38C0-3BC4-0324237728A4}"/>
              </a:ext>
            </a:extLst>
          </p:cNvPr>
          <p:cNvCxnSpPr>
            <a:stCxn id="9" idx="6"/>
            <a:endCxn id="10" idx="2"/>
          </p:cNvCxnSpPr>
          <p:nvPr/>
        </p:nvCxnSpPr>
        <p:spPr>
          <a:xfrm>
            <a:off x="9175361" y="4614882"/>
            <a:ext cx="771186"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9FD50DD-3131-998A-2499-61857D28FCB3}"/>
              </a:ext>
            </a:extLst>
          </p:cNvPr>
          <p:cNvCxnSpPr>
            <a:cxnSpLocks/>
            <a:stCxn id="4" idx="7"/>
            <a:endCxn id="9" idx="2"/>
          </p:cNvCxnSpPr>
          <p:nvPr/>
        </p:nvCxnSpPr>
        <p:spPr>
          <a:xfrm flipV="1">
            <a:off x="8163074" y="4614882"/>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044739D-B218-085F-4CC8-5EBA436CD34F}"/>
              </a:ext>
            </a:extLst>
          </p:cNvPr>
          <p:cNvSpPr/>
          <p:nvPr/>
        </p:nvSpPr>
        <p:spPr>
          <a:xfrm>
            <a:off x="9944936" y="375575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67D721F-E161-242E-CFEB-A751C71EDDB1}"/>
              </a:ext>
            </a:extLst>
          </p:cNvPr>
          <p:cNvCxnSpPr>
            <a:cxnSpLocks/>
            <a:stCxn id="9" idx="6"/>
            <a:endCxn id="13" idx="2"/>
          </p:cNvCxnSpPr>
          <p:nvPr/>
        </p:nvCxnSpPr>
        <p:spPr>
          <a:xfrm flipV="1">
            <a:off x="9175361" y="4090970"/>
            <a:ext cx="769575"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F65C176-7FAB-657E-46FE-45544A7FBF70}"/>
              </a:ext>
            </a:extLst>
          </p:cNvPr>
          <p:cNvSpPr/>
          <p:nvPr/>
        </p:nvSpPr>
        <p:spPr>
          <a:xfrm>
            <a:off x="8235334" y="4710768"/>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A8B1121-D66C-E955-11B7-E3F59801A7B9}"/>
              </a:ext>
            </a:extLst>
          </p:cNvPr>
          <p:cNvSpPr/>
          <p:nvPr/>
        </p:nvSpPr>
        <p:spPr>
          <a:xfrm>
            <a:off x="8273325" y="5458456"/>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9F1DF8D-79C2-C1B4-04BC-B50375DD05B6}"/>
              </a:ext>
            </a:extLst>
          </p:cNvPr>
          <p:cNvSpPr/>
          <p:nvPr/>
        </p:nvSpPr>
        <p:spPr>
          <a:xfrm>
            <a:off x="9461961" y="5882794"/>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0AF8657-F4D5-F566-13DF-FD084EE9A81E}"/>
              </a:ext>
            </a:extLst>
          </p:cNvPr>
          <p:cNvSpPr/>
          <p:nvPr/>
        </p:nvSpPr>
        <p:spPr>
          <a:xfrm>
            <a:off x="9461961" y="4764785"/>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3BBCAB-D3ED-AB56-A2F4-8D43387CA48C}"/>
              </a:ext>
            </a:extLst>
          </p:cNvPr>
          <p:cNvSpPr/>
          <p:nvPr/>
        </p:nvSpPr>
        <p:spPr>
          <a:xfrm>
            <a:off x="9461961" y="4286204"/>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64CC1F7-534A-DC39-5A22-09A1F0AD33BD}"/>
              </a:ext>
            </a:extLst>
          </p:cNvPr>
          <p:cNvSpPr/>
          <p:nvPr/>
        </p:nvSpPr>
        <p:spPr>
          <a:xfrm>
            <a:off x="7654775" y="491254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FD54496-9315-FBAA-FBDB-C46824E710D1}"/>
              </a:ext>
            </a:extLst>
          </p:cNvPr>
          <p:cNvSpPr/>
          <p:nvPr/>
        </p:nvSpPr>
        <p:spPr>
          <a:xfrm>
            <a:off x="7785120" y="517415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1583101-8F88-F0D5-C8B1-D608888D2C90}"/>
              </a:ext>
            </a:extLst>
          </p:cNvPr>
          <p:cNvSpPr/>
          <p:nvPr/>
        </p:nvSpPr>
        <p:spPr>
          <a:xfrm>
            <a:off x="7947317" y="493811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C6D25DA-8991-A4A3-2ECD-9915835E6B9F}"/>
              </a:ext>
            </a:extLst>
          </p:cNvPr>
          <p:cNvSpPr/>
          <p:nvPr/>
        </p:nvSpPr>
        <p:spPr>
          <a:xfrm>
            <a:off x="8581657" y="4401663"/>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A9A6C4B-15D8-1568-4706-472DC31FA751}"/>
              </a:ext>
            </a:extLst>
          </p:cNvPr>
          <p:cNvSpPr/>
          <p:nvPr/>
        </p:nvSpPr>
        <p:spPr>
          <a:xfrm>
            <a:off x="8712002" y="4663279"/>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00C38A8-4AE3-E95F-EB83-BB166461085F}"/>
              </a:ext>
            </a:extLst>
          </p:cNvPr>
          <p:cNvSpPr/>
          <p:nvPr/>
        </p:nvSpPr>
        <p:spPr>
          <a:xfrm>
            <a:off x="8874199" y="4427235"/>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5288B57-7E44-B031-6714-3F3DC6197AF9}"/>
              </a:ext>
            </a:extLst>
          </p:cNvPr>
          <p:cNvSpPr/>
          <p:nvPr/>
        </p:nvSpPr>
        <p:spPr>
          <a:xfrm>
            <a:off x="8562989"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E0B3E38-87C4-E6CC-8CCF-2944AB1F2DF4}"/>
              </a:ext>
            </a:extLst>
          </p:cNvPr>
          <p:cNvSpPr/>
          <p:nvPr/>
        </p:nvSpPr>
        <p:spPr>
          <a:xfrm>
            <a:off x="8693334" y="5996112"/>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2CFF8F0-408B-F095-B312-96473131A416}"/>
              </a:ext>
            </a:extLst>
          </p:cNvPr>
          <p:cNvSpPr/>
          <p:nvPr/>
        </p:nvSpPr>
        <p:spPr>
          <a:xfrm>
            <a:off x="8855531" y="5760068"/>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F06D374-04E7-7B89-877F-08EC790BD678}"/>
              </a:ext>
            </a:extLst>
          </p:cNvPr>
          <p:cNvSpPr/>
          <p:nvPr/>
        </p:nvSpPr>
        <p:spPr>
          <a:xfrm>
            <a:off x="10008484"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E72715B-A6C2-A5FB-9800-6D78172AFAC1}"/>
              </a:ext>
            </a:extLst>
          </p:cNvPr>
          <p:cNvSpPr/>
          <p:nvPr/>
        </p:nvSpPr>
        <p:spPr>
          <a:xfrm>
            <a:off x="10138829" y="599611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5850D18-3057-0F25-3081-93A62F353454}"/>
              </a:ext>
            </a:extLst>
          </p:cNvPr>
          <p:cNvSpPr/>
          <p:nvPr/>
        </p:nvSpPr>
        <p:spPr>
          <a:xfrm>
            <a:off x="10301026" y="5760068"/>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B0A985B-6F69-E5CB-B7DF-0D8CA742B346}"/>
              </a:ext>
            </a:extLst>
          </p:cNvPr>
          <p:cNvSpPr/>
          <p:nvPr/>
        </p:nvSpPr>
        <p:spPr>
          <a:xfrm>
            <a:off x="10015314" y="483295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15B7EA6-C780-F4AE-0E2E-B5B6D7A5E817}"/>
              </a:ext>
            </a:extLst>
          </p:cNvPr>
          <p:cNvSpPr/>
          <p:nvPr/>
        </p:nvSpPr>
        <p:spPr>
          <a:xfrm>
            <a:off x="10145659" y="5094567"/>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3521308-ECF4-5075-ED3E-4546F3CB2D1B}"/>
              </a:ext>
            </a:extLst>
          </p:cNvPr>
          <p:cNvSpPr/>
          <p:nvPr/>
        </p:nvSpPr>
        <p:spPr>
          <a:xfrm>
            <a:off x="10307856" y="4858523"/>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339942BF-5CA5-B03A-9756-413450E210C7}"/>
              </a:ext>
            </a:extLst>
          </p:cNvPr>
          <p:cNvSpPr/>
          <p:nvPr/>
        </p:nvSpPr>
        <p:spPr>
          <a:xfrm>
            <a:off x="10015314" y="3872061"/>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0DF03D7-B1AE-E538-7CC4-41882AB19FAB}"/>
              </a:ext>
            </a:extLst>
          </p:cNvPr>
          <p:cNvSpPr/>
          <p:nvPr/>
        </p:nvSpPr>
        <p:spPr>
          <a:xfrm>
            <a:off x="10145659" y="413367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AA08571-EA76-4DF0-5C00-797644A4C8B8}"/>
              </a:ext>
            </a:extLst>
          </p:cNvPr>
          <p:cNvSpPr/>
          <p:nvPr/>
        </p:nvSpPr>
        <p:spPr>
          <a:xfrm>
            <a:off x="10307856" y="389763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Arrow: Right 51">
            <a:extLst>
              <a:ext uri="{FF2B5EF4-FFF2-40B4-BE49-F238E27FC236}">
                <a16:creationId xmlns:a16="http://schemas.microsoft.com/office/drawing/2014/main" id="{7F35FDD6-914A-3F2B-70A1-E4950BF79CEC}"/>
              </a:ext>
            </a:extLst>
          </p:cNvPr>
          <p:cNvSpPr/>
          <p:nvPr/>
        </p:nvSpPr>
        <p:spPr>
          <a:xfrm rot="4309810">
            <a:off x="7834050" y="4288671"/>
            <a:ext cx="341847" cy="186714"/>
          </a:xfrm>
          <a:prstGeom prst="rightArrow">
            <a:avLst/>
          </a:prstGeom>
          <a:solidFill>
            <a:schemeClr val="bg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E88E6298-8CBF-B11C-3AAA-6500C05B4EF3}"/>
              </a:ext>
            </a:extLst>
          </p:cNvPr>
          <p:cNvCxnSpPr>
            <a:cxnSpLocks/>
            <a:endCxn id="27" idx="1"/>
          </p:cNvCxnSpPr>
          <p:nvPr/>
        </p:nvCxnSpPr>
        <p:spPr>
          <a:xfrm flipV="1">
            <a:off x="7774613" y="4784646"/>
            <a:ext cx="460721" cy="250619"/>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B341E3B-E9BC-B4E0-CB7E-2B8462562F05}"/>
              </a:ext>
            </a:extLst>
          </p:cNvPr>
          <p:cNvCxnSpPr>
            <a:cxnSpLocks/>
          </p:cNvCxnSpPr>
          <p:nvPr/>
        </p:nvCxnSpPr>
        <p:spPr>
          <a:xfrm flipV="1">
            <a:off x="8070042" y="4857038"/>
            <a:ext cx="167286" cy="199296"/>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8CE4B60-DE65-DB38-85FE-E581D4E06A69}"/>
              </a:ext>
            </a:extLst>
          </p:cNvPr>
          <p:cNvCxnSpPr>
            <a:cxnSpLocks/>
            <a:endCxn id="27" idx="2"/>
          </p:cNvCxnSpPr>
          <p:nvPr/>
        </p:nvCxnSpPr>
        <p:spPr>
          <a:xfrm flipV="1">
            <a:off x="7907845" y="4858523"/>
            <a:ext cx="401367" cy="446257"/>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309AD222-C225-8641-1890-4FDFA2292EA4}"/>
              </a:ext>
            </a:extLst>
          </p:cNvPr>
          <p:cNvSpPr/>
          <p:nvPr/>
        </p:nvSpPr>
        <p:spPr>
          <a:xfrm rot="2816031">
            <a:off x="7625096" y="4513768"/>
            <a:ext cx="777118" cy="1096849"/>
          </a:xfrm>
          <a:prstGeom prst="ellipse">
            <a:avLst/>
          </a:prstGeom>
          <a:noFill/>
          <a:ln w="254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87430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55D5E-CF7E-14B5-0302-9705B21572D4}"/>
              </a:ext>
            </a:extLst>
          </p:cNvPr>
          <p:cNvSpPr>
            <a:spLocks noGrp="1"/>
          </p:cNvSpPr>
          <p:nvPr>
            <p:ph type="title"/>
          </p:nvPr>
        </p:nvSpPr>
        <p:spPr>
          <a:xfrm>
            <a:off x="838200" y="0"/>
            <a:ext cx="10515600" cy="1325563"/>
          </a:xfrm>
        </p:spPr>
        <p:txBody>
          <a:bodyPr/>
          <a:lstStyle/>
          <a:p>
            <a:r>
              <a:rPr lang="en-US" dirty="0"/>
              <a:t>Question: Goals</a:t>
            </a:r>
          </a:p>
        </p:txBody>
      </p:sp>
      <p:sp>
        <p:nvSpPr>
          <p:cNvPr id="3" name="Content Placeholder 2">
            <a:extLst>
              <a:ext uri="{FF2B5EF4-FFF2-40B4-BE49-F238E27FC236}">
                <a16:creationId xmlns:a16="http://schemas.microsoft.com/office/drawing/2014/main" id="{91474375-B6ED-9F2E-6540-E7EB50189909}"/>
              </a:ext>
            </a:extLst>
          </p:cNvPr>
          <p:cNvSpPr>
            <a:spLocks noGrp="1"/>
          </p:cNvSpPr>
          <p:nvPr>
            <p:ph idx="1"/>
          </p:nvPr>
        </p:nvSpPr>
        <p:spPr>
          <a:xfrm>
            <a:off x="838200" y="1352791"/>
            <a:ext cx="10515600" cy="3721603"/>
          </a:xfrm>
        </p:spPr>
        <p:txBody>
          <a:bodyPr/>
          <a:lstStyle/>
          <a:p>
            <a:r>
              <a:rPr lang="en-US" dirty="0"/>
              <a:t>How do representations of items interact with neural mechanisms for values/goals</a:t>
            </a:r>
          </a:p>
          <a:p>
            <a:pPr lvl="1"/>
            <a:r>
              <a:rPr lang="en-US" dirty="0"/>
              <a:t>Less novel question</a:t>
            </a:r>
          </a:p>
        </p:txBody>
      </p:sp>
      <p:sp>
        <p:nvSpPr>
          <p:cNvPr id="4" name="Oval 3">
            <a:extLst>
              <a:ext uri="{FF2B5EF4-FFF2-40B4-BE49-F238E27FC236}">
                <a16:creationId xmlns:a16="http://schemas.microsoft.com/office/drawing/2014/main" id="{D70B2241-57A3-6ACD-1DF5-C6C43278DA2E}"/>
              </a:ext>
            </a:extLst>
          </p:cNvPr>
          <p:cNvSpPr/>
          <p:nvPr/>
        </p:nvSpPr>
        <p:spPr>
          <a:xfrm>
            <a:off x="7590818" y="480325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596AD98-02AD-9C40-0A25-78DECAB150E6}"/>
              </a:ext>
            </a:extLst>
          </p:cNvPr>
          <p:cNvSpPr/>
          <p:nvPr/>
        </p:nvSpPr>
        <p:spPr>
          <a:xfrm>
            <a:off x="8482720"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7488B90-A479-1FC8-3491-D60C0C68163F}"/>
              </a:ext>
            </a:extLst>
          </p:cNvPr>
          <p:cNvSpPr/>
          <p:nvPr/>
        </p:nvSpPr>
        <p:spPr>
          <a:xfrm>
            <a:off x="9944936"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52B6352-81B3-771B-4003-FC2D8E84BAF1}"/>
              </a:ext>
            </a:extLst>
          </p:cNvPr>
          <p:cNvCxnSpPr>
            <a:stCxn id="5" idx="6"/>
            <a:endCxn id="6" idx="2"/>
          </p:cNvCxnSpPr>
          <p:nvPr/>
        </p:nvCxnSpPr>
        <p:spPr>
          <a:xfrm>
            <a:off x="9153160" y="5956672"/>
            <a:ext cx="79177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EBFDA45-1EE4-24E8-BD28-C0775C8109AA}"/>
              </a:ext>
            </a:extLst>
          </p:cNvPr>
          <p:cNvCxnSpPr>
            <a:cxnSpLocks/>
            <a:stCxn id="4" idx="5"/>
            <a:endCxn id="5" idx="1"/>
          </p:cNvCxnSpPr>
          <p:nvPr/>
        </p:nvCxnSpPr>
        <p:spPr>
          <a:xfrm>
            <a:off x="8163074" y="5375513"/>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D8895D7-8319-3E80-C874-D34AB5C50E89}"/>
              </a:ext>
            </a:extLst>
          </p:cNvPr>
          <p:cNvSpPr/>
          <p:nvPr/>
        </p:nvSpPr>
        <p:spPr>
          <a:xfrm>
            <a:off x="8504921" y="427966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F66AD85D-F53F-05DB-6F59-54DFC2DA34EB}"/>
              </a:ext>
            </a:extLst>
          </p:cNvPr>
          <p:cNvSpPr/>
          <p:nvPr/>
        </p:nvSpPr>
        <p:spPr>
          <a:xfrm>
            <a:off x="9946547" y="471631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EDBE322-EED2-38C0-3BC4-0324237728A4}"/>
              </a:ext>
            </a:extLst>
          </p:cNvPr>
          <p:cNvCxnSpPr>
            <a:stCxn id="9" idx="6"/>
            <a:endCxn id="10" idx="2"/>
          </p:cNvCxnSpPr>
          <p:nvPr/>
        </p:nvCxnSpPr>
        <p:spPr>
          <a:xfrm>
            <a:off x="9175361" y="4614882"/>
            <a:ext cx="771186"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9FD50DD-3131-998A-2499-61857D28FCB3}"/>
              </a:ext>
            </a:extLst>
          </p:cNvPr>
          <p:cNvCxnSpPr>
            <a:cxnSpLocks/>
            <a:stCxn id="4" idx="7"/>
            <a:endCxn id="9" idx="2"/>
          </p:cNvCxnSpPr>
          <p:nvPr/>
        </p:nvCxnSpPr>
        <p:spPr>
          <a:xfrm flipV="1">
            <a:off x="8163074" y="4614882"/>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044739D-B218-085F-4CC8-5EBA436CD34F}"/>
              </a:ext>
            </a:extLst>
          </p:cNvPr>
          <p:cNvSpPr/>
          <p:nvPr/>
        </p:nvSpPr>
        <p:spPr>
          <a:xfrm>
            <a:off x="9944936" y="375575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67D721F-E161-242E-CFEB-A751C71EDDB1}"/>
              </a:ext>
            </a:extLst>
          </p:cNvPr>
          <p:cNvCxnSpPr>
            <a:cxnSpLocks/>
            <a:stCxn id="9" idx="6"/>
            <a:endCxn id="13" idx="2"/>
          </p:cNvCxnSpPr>
          <p:nvPr/>
        </p:nvCxnSpPr>
        <p:spPr>
          <a:xfrm flipV="1">
            <a:off x="9175361" y="4090970"/>
            <a:ext cx="769575"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F65C176-7FAB-657E-46FE-45544A7FBF70}"/>
              </a:ext>
            </a:extLst>
          </p:cNvPr>
          <p:cNvSpPr/>
          <p:nvPr/>
        </p:nvSpPr>
        <p:spPr>
          <a:xfrm>
            <a:off x="8235334" y="4710768"/>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A8B1121-D66C-E955-11B7-E3F59801A7B9}"/>
              </a:ext>
            </a:extLst>
          </p:cNvPr>
          <p:cNvSpPr/>
          <p:nvPr/>
        </p:nvSpPr>
        <p:spPr>
          <a:xfrm>
            <a:off x="8273325" y="5458456"/>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9F1DF8D-79C2-C1B4-04BC-B50375DD05B6}"/>
              </a:ext>
            </a:extLst>
          </p:cNvPr>
          <p:cNvSpPr/>
          <p:nvPr/>
        </p:nvSpPr>
        <p:spPr>
          <a:xfrm>
            <a:off x="9461961" y="5882794"/>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0AF8657-F4D5-F566-13DF-FD084EE9A81E}"/>
              </a:ext>
            </a:extLst>
          </p:cNvPr>
          <p:cNvSpPr/>
          <p:nvPr/>
        </p:nvSpPr>
        <p:spPr>
          <a:xfrm>
            <a:off x="9461961" y="4764785"/>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3BBCAB-D3ED-AB56-A2F4-8D43387CA48C}"/>
              </a:ext>
            </a:extLst>
          </p:cNvPr>
          <p:cNvSpPr/>
          <p:nvPr/>
        </p:nvSpPr>
        <p:spPr>
          <a:xfrm>
            <a:off x="9461961" y="4286204"/>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64CC1F7-534A-DC39-5A22-09A1F0AD33BD}"/>
              </a:ext>
            </a:extLst>
          </p:cNvPr>
          <p:cNvSpPr/>
          <p:nvPr/>
        </p:nvSpPr>
        <p:spPr>
          <a:xfrm>
            <a:off x="7654775" y="491254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FD54496-9315-FBAA-FBDB-C46824E710D1}"/>
              </a:ext>
            </a:extLst>
          </p:cNvPr>
          <p:cNvSpPr/>
          <p:nvPr/>
        </p:nvSpPr>
        <p:spPr>
          <a:xfrm>
            <a:off x="7785120" y="517415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1583101-8F88-F0D5-C8B1-D608888D2C90}"/>
              </a:ext>
            </a:extLst>
          </p:cNvPr>
          <p:cNvSpPr/>
          <p:nvPr/>
        </p:nvSpPr>
        <p:spPr>
          <a:xfrm>
            <a:off x="7947317" y="493811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C6D25DA-8991-A4A3-2ECD-9915835E6B9F}"/>
              </a:ext>
            </a:extLst>
          </p:cNvPr>
          <p:cNvSpPr/>
          <p:nvPr/>
        </p:nvSpPr>
        <p:spPr>
          <a:xfrm>
            <a:off x="8581657" y="4401663"/>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A9A6C4B-15D8-1568-4706-472DC31FA751}"/>
              </a:ext>
            </a:extLst>
          </p:cNvPr>
          <p:cNvSpPr/>
          <p:nvPr/>
        </p:nvSpPr>
        <p:spPr>
          <a:xfrm>
            <a:off x="8712002" y="4663279"/>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00C38A8-4AE3-E95F-EB83-BB166461085F}"/>
              </a:ext>
            </a:extLst>
          </p:cNvPr>
          <p:cNvSpPr/>
          <p:nvPr/>
        </p:nvSpPr>
        <p:spPr>
          <a:xfrm>
            <a:off x="8874199" y="4427235"/>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5288B57-7E44-B031-6714-3F3DC6197AF9}"/>
              </a:ext>
            </a:extLst>
          </p:cNvPr>
          <p:cNvSpPr/>
          <p:nvPr/>
        </p:nvSpPr>
        <p:spPr>
          <a:xfrm>
            <a:off x="8562989"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E0B3E38-87C4-E6CC-8CCF-2944AB1F2DF4}"/>
              </a:ext>
            </a:extLst>
          </p:cNvPr>
          <p:cNvSpPr/>
          <p:nvPr/>
        </p:nvSpPr>
        <p:spPr>
          <a:xfrm>
            <a:off x="8693334" y="5996112"/>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2CFF8F0-408B-F095-B312-96473131A416}"/>
              </a:ext>
            </a:extLst>
          </p:cNvPr>
          <p:cNvSpPr/>
          <p:nvPr/>
        </p:nvSpPr>
        <p:spPr>
          <a:xfrm>
            <a:off x="8855531" y="5760068"/>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F06D374-04E7-7B89-877F-08EC790BD678}"/>
              </a:ext>
            </a:extLst>
          </p:cNvPr>
          <p:cNvSpPr/>
          <p:nvPr/>
        </p:nvSpPr>
        <p:spPr>
          <a:xfrm>
            <a:off x="10008484"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E72715B-A6C2-A5FB-9800-6D78172AFAC1}"/>
              </a:ext>
            </a:extLst>
          </p:cNvPr>
          <p:cNvSpPr/>
          <p:nvPr/>
        </p:nvSpPr>
        <p:spPr>
          <a:xfrm>
            <a:off x="10138829" y="599611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5850D18-3057-0F25-3081-93A62F353454}"/>
              </a:ext>
            </a:extLst>
          </p:cNvPr>
          <p:cNvSpPr/>
          <p:nvPr/>
        </p:nvSpPr>
        <p:spPr>
          <a:xfrm>
            <a:off x="10301026" y="5760068"/>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B0A985B-6F69-E5CB-B7DF-0D8CA742B346}"/>
              </a:ext>
            </a:extLst>
          </p:cNvPr>
          <p:cNvSpPr/>
          <p:nvPr/>
        </p:nvSpPr>
        <p:spPr>
          <a:xfrm>
            <a:off x="10015314" y="483295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15B7EA6-C780-F4AE-0E2E-B5B6D7A5E817}"/>
              </a:ext>
            </a:extLst>
          </p:cNvPr>
          <p:cNvSpPr/>
          <p:nvPr/>
        </p:nvSpPr>
        <p:spPr>
          <a:xfrm>
            <a:off x="10145659" y="5094567"/>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3521308-ECF4-5075-ED3E-4546F3CB2D1B}"/>
              </a:ext>
            </a:extLst>
          </p:cNvPr>
          <p:cNvSpPr/>
          <p:nvPr/>
        </p:nvSpPr>
        <p:spPr>
          <a:xfrm>
            <a:off x="10307856" y="4858523"/>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339942BF-5CA5-B03A-9756-413450E210C7}"/>
              </a:ext>
            </a:extLst>
          </p:cNvPr>
          <p:cNvSpPr/>
          <p:nvPr/>
        </p:nvSpPr>
        <p:spPr>
          <a:xfrm>
            <a:off x="10015314" y="3872061"/>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0DF03D7-B1AE-E538-7CC4-41882AB19FAB}"/>
              </a:ext>
            </a:extLst>
          </p:cNvPr>
          <p:cNvSpPr/>
          <p:nvPr/>
        </p:nvSpPr>
        <p:spPr>
          <a:xfrm>
            <a:off x="10145659" y="413367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AA08571-EA76-4DF0-5C00-797644A4C8B8}"/>
              </a:ext>
            </a:extLst>
          </p:cNvPr>
          <p:cNvSpPr/>
          <p:nvPr/>
        </p:nvSpPr>
        <p:spPr>
          <a:xfrm>
            <a:off x="10307856" y="389763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C09D4AC4-9886-8CD6-6158-E97663976E95}"/>
              </a:ext>
            </a:extLst>
          </p:cNvPr>
          <p:cNvSpPr/>
          <p:nvPr/>
        </p:nvSpPr>
        <p:spPr>
          <a:xfrm rot="3664409">
            <a:off x="9984101" y="3821562"/>
            <a:ext cx="308132" cy="348141"/>
          </a:xfrm>
          <a:prstGeom prst="ellipse">
            <a:avLst/>
          </a:prstGeom>
          <a:noFill/>
          <a:ln w="254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Arrow: Right 53">
            <a:extLst>
              <a:ext uri="{FF2B5EF4-FFF2-40B4-BE49-F238E27FC236}">
                <a16:creationId xmlns:a16="http://schemas.microsoft.com/office/drawing/2014/main" id="{8D148E81-6096-1C50-9CE0-252CD89FF2CA}"/>
              </a:ext>
            </a:extLst>
          </p:cNvPr>
          <p:cNvSpPr/>
          <p:nvPr/>
        </p:nvSpPr>
        <p:spPr>
          <a:xfrm>
            <a:off x="9634349" y="3867317"/>
            <a:ext cx="275398" cy="186714"/>
          </a:xfrm>
          <a:prstGeom prst="rightArrow">
            <a:avLst/>
          </a:prstGeom>
          <a:solidFill>
            <a:schemeClr val="bg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48351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1CD71-D9D5-3A80-0B98-0043F50A952E}"/>
              </a:ext>
            </a:extLst>
          </p:cNvPr>
          <p:cNvSpPr>
            <a:spLocks noGrp="1"/>
          </p:cNvSpPr>
          <p:nvPr>
            <p:ph type="title"/>
          </p:nvPr>
        </p:nvSpPr>
        <p:spPr>
          <a:xfrm>
            <a:off x="838200" y="47906"/>
            <a:ext cx="10515600" cy="1325563"/>
          </a:xfrm>
        </p:spPr>
        <p:txBody>
          <a:bodyPr/>
          <a:lstStyle/>
          <a:p>
            <a:r>
              <a:rPr lang="en-US" dirty="0"/>
              <a:t>General task idea</a:t>
            </a:r>
          </a:p>
        </p:txBody>
      </p:sp>
      <p:sp>
        <p:nvSpPr>
          <p:cNvPr id="3" name="Content Placeholder 2">
            <a:extLst>
              <a:ext uri="{FF2B5EF4-FFF2-40B4-BE49-F238E27FC236}">
                <a16:creationId xmlns:a16="http://schemas.microsoft.com/office/drawing/2014/main" id="{C9C21F2F-9F08-5DAD-2FE4-C3CF81D4C44B}"/>
              </a:ext>
            </a:extLst>
          </p:cNvPr>
          <p:cNvSpPr>
            <a:spLocks noGrp="1"/>
          </p:cNvSpPr>
          <p:nvPr>
            <p:ph idx="1"/>
          </p:nvPr>
        </p:nvSpPr>
        <p:spPr>
          <a:xfrm>
            <a:off x="906201" y="1147901"/>
            <a:ext cx="6183144" cy="5710099"/>
          </a:xfrm>
        </p:spPr>
        <p:txBody>
          <a:bodyPr>
            <a:normAutofit fontScale="77500" lnSpcReduction="20000"/>
          </a:bodyPr>
          <a:lstStyle/>
          <a:p>
            <a:r>
              <a:rPr lang="en-US" dirty="0"/>
              <a:t>Basic scheme:</a:t>
            </a:r>
          </a:p>
          <a:p>
            <a:pPr lvl="1"/>
            <a:r>
              <a:rPr lang="en-US" dirty="0"/>
              <a:t>Learn phase:</a:t>
            </a:r>
          </a:p>
          <a:p>
            <a:pPr lvl="2"/>
            <a:r>
              <a:rPr lang="en-US" dirty="0"/>
              <a:t>Explore and pursue goals </a:t>
            </a:r>
          </a:p>
          <a:p>
            <a:pPr lvl="2"/>
            <a:r>
              <a:rPr lang="en-US" dirty="0"/>
              <a:t>e.g., goal = “Find the robin”</a:t>
            </a:r>
          </a:p>
          <a:p>
            <a:pPr lvl="2"/>
            <a:r>
              <a:rPr lang="en-US" dirty="0"/>
              <a:t>Randomly move at first but learn steadily</a:t>
            </a:r>
          </a:p>
          <a:p>
            <a:pPr lvl="1"/>
            <a:r>
              <a:rPr lang="en-US" dirty="0"/>
              <a:t>Memory test phase</a:t>
            </a:r>
          </a:p>
          <a:p>
            <a:r>
              <a:rPr lang="en-US" dirty="0"/>
              <a:t>Avoid excessive difficulty</a:t>
            </a:r>
          </a:p>
          <a:p>
            <a:pPr lvl="1"/>
            <a:r>
              <a:rPr lang="en-US" dirty="0"/>
              <a:t>Learn + memory are done as pairs of runs</a:t>
            </a:r>
          </a:p>
          <a:p>
            <a:pPr lvl="1"/>
            <a:r>
              <a:rPr lang="en-US" dirty="0"/>
              <a:t>If a session has six runs, then that’s three independent learn + memory runs</a:t>
            </a:r>
          </a:p>
          <a:p>
            <a:r>
              <a:rPr lang="en-US" dirty="0"/>
              <a:t>Environment</a:t>
            </a:r>
          </a:p>
          <a:p>
            <a:pPr lvl="1"/>
            <a:r>
              <a:rPr lang="en-US" dirty="0"/>
              <a:t>Environment doesn’t have a start or end. </a:t>
            </a:r>
          </a:p>
          <a:p>
            <a:pPr lvl="2"/>
            <a:r>
              <a:rPr lang="en-US" dirty="0"/>
              <a:t>Just a bunch of interconnected connected scenes</a:t>
            </a:r>
          </a:p>
          <a:p>
            <a:pPr lvl="1"/>
            <a:r>
              <a:rPr lang="en-US" dirty="0"/>
              <a:t>10 scenes made up of 15 items</a:t>
            </a:r>
          </a:p>
          <a:p>
            <a:pPr lvl="1"/>
            <a:r>
              <a:rPr lang="en-US" dirty="0"/>
              <a:t>5 or 10 actions, depending on button box options</a:t>
            </a:r>
          </a:p>
          <a:p>
            <a:r>
              <a:rPr lang="en-US" dirty="0"/>
              <a:t>Memory test</a:t>
            </a:r>
          </a:p>
          <a:p>
            <a:pPr lvl="1"/>
            <a:r>
              <a:rPr lang="en-US" dirty="0"/>
              <a:t>Challenge: Participants will encounter the same pictures and scenes multiple times</a:t>
            </a:r>
          </a:p>
          <a:p>
            <a:pPr lvl="1"/>
            <a:r>
              <a:rPr lang="en-US" dirty="0"/>
              <a:t>This may make retrieval too easy</a:t>
            </a:r>
          </a:p>
          <a:p>
            <a:pPr lvl="1"/>
            <a:r>
              <a:rPr lang="en-US" dirty="0"/>
              <a:t>This also raises concerns about testing R/K</a:t>
            </a:r>
          </a:p>
          <a:p>
            <a:pPr lvl="1"/>
            <a:endParaRPr lang="en-US" dirty="0"/>
          </a:p>
        </p:txBody>
      </p:sp>
      <p:sp>
        <p:nvSpPr>
          <p:cNvPr id="5" name="Rectangle 4">
            <a:extLst>
              <a:ext uri="{FF2B5EF4-FFF2-40B4-BE49-F238E27FC236}">
                <a16:creationId xmlns:a16="http://schemas.microsoft.com/office/drawing/2014/main" id="{3458000D-8481-A4F5-212E-150C334C5E03}"/>
              </a:ext>
            </a:extLst>
          </p:cNvPr>
          <p:cNvSpPr/>
          <p:nvPr/>
        </p:nvSpPr>
        <p:spPr>
          <a:xfrm>
            <a:off x="7435813" y="2161228"/>
            <a:ext cx="2248514" cy="155313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3D16DF5-0F92-7608-C9B7-56A886FBCC80}"/>
              </a:ext>
            </a:extLst>
          </p:cNvPr>
          <p:cNvPicPr>
            <a:picLocks noChangeAspect="1"/>
          </p:cNvPicPr>
          <p:nvPr/>
        </p:nvPicPr>
        <p:blipFill>
          <a:blip r:embed="rId3"/>
          <a:stretch>
            <a:fillRect/>
          </a:stretch>
        </p:blipFill>
        <p:spPr>
          <a:xfrm>
            <a:off x="7850762" y="2734145"/>
            <a:ext cx="625713" cy="437142"/>
          </a:xfrm>
          <a:prstGeom prst="rect">
            <a:avLst/>
          </a:prstGeom>
        </p:spPr>
      </p:pic>
      <p:pic>
        <p:nvPicPr>
          <p:cNvPr id="7" name="Picture 6">
            <a:extLst>
              <a:ext uri="{FF2B5EF4-FFF2-40B4-BE49-F238E27FC236}">
                <a16:creationId xmlns:a16="http://schemas.microsoft.com/office/drawing/2014/main" id="{91F1A0C5-0C8F-7431-204F-5C35EF45D13C}"/>
              </a:ext>
            </a:extLst>
          </p:cNvPr>
          <p:cNvPicPr>
            <a:picLocks noChangeAspect="1"/>
          </p:cNvPicPr>
          <p:nvPr/>
        </p:nvPicPr>
        <p:blipFill rotWithShape="1">
          <a:blip r:embed="rId4"/>
          <a:srcRect l="18090" t="-3138"/>
          <a:stretch/>
        </p:blipFill>
        <p:spPr>
          <a:xfrm>
            <a:off x="8790754" y="2636646"/>
            <a:ext cx="424596" cy="534641"/>
          </a:xfrm>
          <a:prstGeom prst="rect">
            <a:avLst/>
          </a:prstGeom>
        </p:spPr>
      </p:pic>
      <p:pic>
        <p:nvPicPr>
          <p:cNvPr id="8" name="Picture 7">
            <a:extLst>
              <a:ext uri="{FF2B5EF4-FFF2-40B4-BE49-F238E27FC236}">
                <a16:creationId xmlns:a16="http://schemas.microsoft.com/office/drawing/2014/main" id="{74958CF1-7FD7-E993-A0E1-DD16729D617B}"/>
              </a:ext>
            </a:extLst>
          </p:cNvPr>
          <p:cNvPicPr>
            <a:picLocks noChangeAspect="1"/>
          </p:cNvPicPr>
          <p:nvPr/>
        </p:nvPicPr>
        <p:blipFill>
          <a:blip r:embed="rId5"/>
          <a:stretch>
            <a:fillRect/>
          </a:stretch>
        </p:blipFill>
        <p:spPr>
          <a:xfrm>
            <a:off x="8228697" y="2192226"/>
            <a:ext cx="645184" cy="485983"/>
          </a:xfrm>
          <a:prstGeom prst="rect">
            <a:avLst/>
          </a:prstGeom>
        </p:spPr>
      </p:pic>
      <p:sp>
        <p:nvSpPr>
          <p:cNvPr id="9" name="TextBox 8">
            <a:extLst>
              <a:ext uri="{FF2B5EF4-FFF2-40B4-BE49-F238E27FC236}">
                <a16:creationId xmlns:a16="http://schemas.microsoft.com/office/drawing/2014/main" id="{D93B1AA7-C880-8E04-3C0C-EC95F4A580DA}"/>
              </a:ext>
            </a:extLst>
          </p:cNvPr>
          <p:cNvSpPr txBox="1"/>
          <p:nvPr/>
        </p:nvSpPr>
        <p:spPr>
          <a:xfrm>
            <a:off x="7647805" y="3245691"/>
            <a:ext cx="845296" cy="369332"/>
          </a:xfrm>
          <a:prstGeom prst="rect">
            <a:avLst/>
          </a:prstGeom>
          <a:solidFill>
            <a:schemeClr val="bg1">
              <a:lumMod val="95000"/>
            </a:schemeClr>
          </a:solidFill>
          <a:ln>
            <a:solidFill>
              <a:schemeClr val="tx1">
                <a:lumMod val="75000"/>
                <a:lumOff val="25000"/>
              </a:schemeClr>
            </a:solidFill>
          </a:ln>
        </p:spPr>
        <p:txBody>
          <a:bodyPr wrap="none" rtlCol="0">
            <a:spAutoFit/>
          </a:bodyPr>
          <a:lstStyle/>
          <a:p>
            <a:r>
              <a:rPr lang="en-US" dirty="0"/>
              <a:t>Press 2</a:t>
            </a:r>
          </a:p>
        </p:txBody>
      </p:sp>
      <p:sp>
        <p:nvSpPr>
          <p:cNvPr id="10" name="TextBox 9">
            <a:extLst>
              <a:ext uri="{FF2B5EF4-FFF2-40B4-BE49-F238E27FC236}">
                <a16:creationId xmlns:a16="http://schemas.microsoft.com/office/drawing/2014/main" id="{8134946F-F132-3892-5C68-C4393C7D20E6}"/>
              </a:ext>
            </a:extLst>
          </p:cNvPr>
          <p:cNvSpPr txBox="1"/>
          <p:nvPr/>
        </p:nvSpPr>
        <p:spPr>
          <a:xfrm>
            <a:off x="8576696" y="3249704"/>
            <a:ext cx="845296" cy="369332"/>
          </a:xfrm>
          <a:prstGeom prst="rect">
            <a:avLst/>
          </a:prstGeom>
          <a:solidFill>
            <a:schemeClr val="bg1">
              <a:lumMod val="95000"/>
            </a:schemeClr>
          </a:solidFill>
          <a:ln>
            <a:solidFill>
              <a:schemeClr val="tx1">
                <a:lumMod val="75000"/>
                <a:lumOff val="25000"/>
              </a:schemeClr>
            </a:solidFill>
          </a:ln>
        </p:spPr>
        <p:txBody>
          <a:bodyPr wrap="none" rtlCol="0">
            <a:spAutoFit/>
          </a:bodyPr>
          <a:lstStyle/>
          <a:p>
            <a:r>
              <a:rPr lang="en-US" dirty="0"/>
              <a:t>Press 5</a:t>
            </a:r>
          </a:p>
        </p:txBody>
      </p:sp>
      <p:cxnSp>
        <p:nvCxnSpPr>
          <p:cNvPr id="11" name="Straight Arrow Connector 10">
            <a:extLst>
              <a:ext uri="{FF2B5EF4-FFF2-40B4-BE49-F238E27FC236}">
                <a16:creationId xmlns:a16="http://schemas.microsoft.com/office/drawing/2014/main" id="{2E0E76D4-C1EC-1397-21E6-4A41DC219396}"/>
              </a:ext>
            </a:extLst>
          </p:cNvPr>
          <p:cNvCxnSpPr>
            <a:cxnSpLocks/>
          </p:cNvCxnSpPr>
          <p:nvPr/>
        </p:nvCxnSpPr>
        <p:spPr>
          <a:xfrm>
            <a:off x="9044309" y="3615023"/>
            <a:ext cx="327947" cy="66682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50DD5B6-10D5-5B42-0095-F3F7AD79E74A}"/>
              </a:ext>
            </a:extLst>
          </p:cNvPr>
          <p:cNvCxnSpPr>
            <a:cxnSpLocks/>
          </p:cNvCxnSpPr>
          <p:nvPr/>
        </p:nvCxnSpPr>
        <p:spPr>
          <a:xfrm flipH="1">
            <a:off x="7850762" y="3615023"/>
            <a:ext cx="230796" cy="66682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F7D49B8-EF03-CCB5-C7DC-014FFAA007F5}"/>
              </a:ext>
            </a:extLst>
          </p:cNvPr>
          <p:cNvGrpSpPr/>
          <p:nvPr/>
        </p:nvGrpSpPr>
        <p:grpSpPr>
          <a:xfrm rot="10800000">
            <a:off x="10313245" y="2196382"/>
            <a:ext cx="1559891" cy="1862384"/>
            <a:chOff x="7559999" y="4596834"/>
            <a:chExt cx="731271" cy="876863"/>
          </a:xfrm>
        </p:grpSpPr>
        <p:sp>
          <p:nvSpPr>
            <p:cNvPr id="18" name="Oval 17">
              <a:extLst>
                <a:ext uri="{FF2B5EF4-FFF2-40B4-BE49-F238E27FC236}">
                  <a16:creationId xmlns:a16="http://schemas.microsoft.com/office/drawing/2014/main" id="{1CB44B51-4DFD-6549-1BB5-5B7EDF8D2E6C}"/>
                </a:ext>
              </a:extLst>
            </p:cNvPr>
            <p:cNvSpPr/>
            <p:nvPr/>
          </p:nvSpPr>
          <p:spPr>
            <a:xfrm>
              <a:off x="7590818" y="480325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1F828325-58E2-DB94-BC66-7A5C39E3A41A}"/>
                </a:ext>
              </a:extLst>
            </p:cNvPr>
            <p:cNvCxnSpPr>
              <a:cxnSpLocks/>
              <a:stCxn id="18" idx="1"/>
            </p:cNvCxnSpPr>
            <p:nvPr/>
          </p:nvCxnSpPr>
          <p:spPr>
            <a:xfrm rot="10800000">
              <a:off x="7578750" y="4596834"/>
              <a:ext cx="110252" cy="3046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B8CA9A8-74EA-894E-C59A-BBA6003EB0F1}"/>
                </a:ext>
              </a:extLst>
            </p:cNvPr>
            <p:cNvCxnSpPr>
              <a:cxnSpLocks/>
              <a:stCxn id="18" idx="7"/>
            </p:cNvCxnSpPr>
            <p:nvPr/>
          </p:nvCxnSpPr>
          <p:spPr>
            <a:xfrm rot="10800000" flipH="1">
              <a:off x="8163074" y="4596834"/>
              <a:ext cx="117049" cy="3046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3832066E-FA30-D352-942D-52F879EA19B4}"/>
                </a:ext>
              </a:extLst>
            </p:cNvPr>
            <p:cNvSpPr/>
            <p:nvPr/>
          </p:nvSpPr>
          <p:spPr>
            <a:xfrm>
              <a:off x="8143515" y="4689212"/>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2B1B513-7E6E-54AD-70B2-A305FA7605BD}"/>
                </a:ext>
              </a:extLst>
            </p:cNvPr>
            <p:cNvSpPr/>
            <p:nvPr/>
          </p:nvSpPr>
          <p:spPr>
            <a:xfrm>
              <a:off x="7559999" y="4674738"/>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0800D7C-A736-0D38-44F9-36E96F66F014}"/>
                </a:ext>
              </a:extLst>
            </p:cNvPr>
            <p:cNvSpPr/>
            <p:nvPr/>
          </p:nvSpPr>
          <p:spPr>
            <a:xfrm>
              <a:off x="7654775" y="491254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F75BFA3B-6210-26CF-E791-F4380F197F4A}"/>
                </a:ext>
              </a:extLst>
            </p:cNvPr>
            <p:cNvSpPr/>
            <p:nvPr/>
          </p:nvSpPr>
          <p:spPr>
            <a:xfrm>
              <a:off x="7785120" y="517415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4E9C214-BE55-8B49-919B-85DE6AEF2A41}"/>
                </a:ext>
              </a:extLst>
            </p:cNvPr>
            <p:cNvSpPr/>
            <p:nvPr/>
          </p:nvSpPr>
          <p:spPr>
            <a:xfrm>
              <a:off x="7947317" y="493811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95252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0CBB35B-936E-0995-4831-CD254C649BA6}"/>
              </a:ext>
            </a:extLst>
          </p:cNvPr>
          <p:cNvSpPr/>
          <p:nvPr/>
        </p:nvSpPr>
        <p:spPr>
          <a:xfrm>
            <a:off x="9521635" y="3604813"/>
            <a:ext cx="1553139" cy="155313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D9B9C5C-9875-6775-8045-34E244FE7B37}"/>
              </a:ext>
            </a:extLst>
          </p:cNvPr>
          <p:cNvSpPr/>
          <p:nvPr/>
        </p:nvSpPr>
        <p:spPr>
          <a:xfrm>
            <a:off x="7627837" y="3604814"/>
            <a:ext cx="1553139" cy="155313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6AEED65-A850-B879-9755-B42BBAD54162}"/>
              </a:ext>
            </a:extLst>
          </p:cNvPr>
          <p:cNvSpPr/>
          <p:nvPr/>
        </p:nvSpPr>
        <p:spPr>
          <a:xfrm>
            <a:off x="8516469" y="1080574"/>
            <a:ext cx="1553139" cy="155313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421409-172B-16D6-8013-BFAA001CD9C1}"/>
              </a:ext>
            </a:extLst>
          </p:cNvPr>
          <p:cNvSpPr>
            <a:spLocks noGrp="1"/>
          </p:cNvSpPr>
          <p:nvPr>
            <p:ph type="title"/>
          </p:nvPr>
        </p:nvSpPr>
        <p:spPr>
          <a:xfrm>
            <a:off x="838200" y="24422"/>
            <a:ext cx="10515600" cy="1325563"/>
          </a:xfrm>
        </p:spPr>
        <p:txBody>
          <a:bodyPr/>
          <a:lstStyle/>
          <a:p>
            <a:r>
              <a:rPr lang="en-US" dirty="0"/>
              <a:t>Other idea</a:t>
            </a:r>
          </a:p>
        </p:txBody>
      </p:sp>
      <p:sp>
        <p:nvSpPr>
          <p:cNvPr id="3" name="Content Placeholder 2">
            <a:extLst>
              <a:ext uri="{FF2B5EF4-FFF2-40B4-BE49-F238E27FC236}">
                <a16:creationId xmlns:a16="http://schemas.microsoft.com/office/drawing/2014/main" id="{543456C0-58B0-0CCC-9CBE-3CB25731FDA2}"/>
              </a:ext>
            </a:extLst>
          </p:cNvPr>
          <p:cNvSpPr>
            <a:spLocks noGrp="1"/>
          </p:cNvSpPr>
          <p:nvPr>
            <p:ph idx="1"/>
          </p:nvPr>
        </p:nvSpPr>
        <p:spPr>
          <a:xfrm>
            <a:off x="313766" y="1446483"/>
            <a:ext cx="6973412" cy="4981212"/>
          </a:xfrm>
        </p:spPr>
        <p:txBody>
          <a:bodyPr>
            <a:normAutofit/>
          </a:bodyPr>
          <a:lstStyle/>
          <a:p>
            <a:r>
              <a:rPr lang="en-US" dirty="0"/>
              <a:t>Can be investigated by incorporating a decision-making element that links scenes</a:t>
            </a:r>
          </a:p>
          <a:p>
            <a:r>
              <a:rPr lang="en-US" dirty="0"/>
              <a:t>Make a link between the current images and the actions afforded</a:t>
            </a:r>
          </a:p>
          <a:p>
            <a:pPr lvl="1"/>
            <a:r>
              <a:rPr lang="en-US" dirty="0"/>
              <a:t>E.g., blue circle being in a scene increases the likelihood of pink square action</a:t>
            </a:r>
          </a:p>
          <a:p>
            <a:r>
              <a:rPr lang="en-US" dirty="0"/>
              <a:t>Assign values to some shapes?</a:t>
            </a:r>
          </a:p>
        </p:txBody>
      </p:sp>
      <p:sp>
        <p:nvSpPr>
          <p:cNvPr id="4" name="Oval 3">
            <a:extLst>
              <a:ext uri="{FF2B5EF4-FFF2-40B4-BE49-F238E27FC236}">
                <a16:creationId xmlns:a16="http://schemas.microsoft.com/office/drawing/2014/main" id="{0B12F8B1-676D-C481-AAA2-C069DAA5FB46}"/>
              </a:ext>
            </a:extLst>
          </p:cNvPr>
          <p:cNvSpPr/>
          <p:nvPr/>
        </p:nvSpPr>
        <p:spPr>
          <a:xfrm>
            <a:off x="8713693" y="1919831"/>
            <a:ext cx="510989" cy="5109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54F6B6F-AEC0-6FC6-CE79-980AEB81F409}"/>
              </a:ext>
            </a:extLst>
          </p:cNvPr>
          <p:cNvSpPr/>
          <p:nvPr/>
        </p:nvSpPr>
        <p:spPr>
          <a:xfrm>
            <a:off x="9377082" y="1919830"/>
            <a:ext cx="510989" cy="51098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D9F4D62-60D4-C083-6F13-3F225CF7AB02}"/>
              </a:ext>
            </a:extLst>
          </p:cNvPr>
          <p:cNvSpPr/>
          <p:nvPr/>
        </p:nvSpPr>
        <p:spPr>
          <a:xfrm>
            <a:off x="9018492" y="1329467"/>
            <a:ext cx="510989" cy="51098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265E412-24BF-37D1-FB8D-9C3E7841D690}"/>
              </a:ext>
            </a:extLst>
          </p:cNvPr>
          <p:cNvSpPr/>
          <p:nvPr/>
        </p:nvSpPr>
        <p:spPr>
          <a:xfrm>
            <a:off x="7844114" y="4389094"/>
            <a:ext cx="510989" cy="5109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4F8C359-3732-5322-9138-5771319B1C62}"/>
              </a:ext>
            </a:extLst>
          </p:cNvPr>
          <p:cNvSpPr/>
          <p:nvPr/>
        </p:nvSpPr>
        <p:spPr>
          <a:xfrm>
            <a:off x="8507503" y="4389093"/>
            <a:ext cx="510989" cy="510989"/>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7554B55-ADB6-DE82-DCF6-6996887B5108}"/>
              </a:ext>
            </a:extLst>
          </p:cNvPr>
          <p:cNvSpPr/>
          <p:nvPr/>
        </p:nvSpPr>
        <p:spPr>
          <a:xfrm>
            <a:off x="8148913" y="3798730"/>
            <a:ext cx="510989" cy="51098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F650FDC-2B21-8630-B6D3-950812B9D3E8}"/>
              </a:ext>
            </a:extLst>
          </p:cNvPr>
          <p:cNvSpPr/>
          <p:nvPr/>
        </p:nvSpPr>
        <p:spPr>
          <a:xfrm>
            <a:off x="9702052" y="4394370"/>
            <a:ext cx="510989" cy="510989"/>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7C8A370-1328-7997-6B09-C9437D7047E1}"/>
              </a:ext>
            </a:extLst>
          </p:cNvPr>
          <p:cNvSpPr/>
          <p:nvPr/>
        </p:nvSpPr>
        <p:spPr>
          <a:xfrm>
            <a:off x="10365441" y="4394369"/>
            <a:ext cx="510989" cy="51098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97CC6F2-FA22-5776-D352-0E115CE3ABAA}"/>
              </a:ext>
            </a:extLst>
          </p:cNvPr>
          <p:cNvSpPr/>
          <p:nvPr/>
        </p:nvSpPr>
        <p:spPr>
          <a:xfrm>
            <a:off x="10006851" y="3804006"/>
            <a:ext cx="510989" cy="510989"/>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F5225A39-0596-BD4C-7794-ADD6A38119AF}"/>
              </a:ext>
            </a:extLst>
          </p:cNvPr>
          <p:cNvCxnSpPr/>
          <p:nvPr/>
        </p:nvCxnSpPr>
        <p:spPr>
          <a:xfrm flipH="1">
            <a:off x="8588188" y="2633713"/>
            <a:ext cx="268941" cy="9711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9F50DCF-C298-A85C-0BF6-6FA5D5AF54A4}"/>
              </a:ext>
            </a:extLst>
          </p:cNvPr>
          <p:cNvCxnSpPr>
            <a:cxnSpLocks/>
          </p:cNvCxnSpPr>
          <p:nvPr/>
        </p:nvCxnSpPr>
        <p:spPr>
          <a:xfrm>
            <a:off x="9744634" y="2633713"/>
            <a:ext cx="324974" cy="100266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7575C34-927E-60B3-E34B-CC1634555A19}"/>
              </a:ext>
            </a:extLst>
          </p:cNvPr>
          <p:cNvSpPr/>
          <p:nvPr/>
        </p:nvSpPr>
        <p:spPr>
          <a:xfrm>
            <a:off x="9753598" y="2991248"/>
            <a:ext cx="268945" cy="26894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44289EF-B08A-EF81-05C6-0ADAE9C11EF3}"/>
              </a:ext>
            </a:extLst>
          </p:cNvPr>
          <p:cNvSpPr/>
          <p:nvPr/>
        </p:nvSpPr>
        <p:spPr>
          <a:xfrm>
            <a:off x="8579220" y="2991248"/>
            <a:ext cx="268945" cy="268945"/>
          </a:xfrm>
          <a:prstGeom prst="rect">
            <a:avLst/>
          </a:prstGeom>
          <a:solidFill>
            <a:srgbClr val="FF7C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6DCCE981-FA6E-87F0-A026-A4A7D740E522}"/>
              </a:ext>
            </a:extLst>
          </p:cNvPr>
          <p:cNvCxnSpPr>
            <a:cxnSpLocks/>
          </p:cNvCxnSpPr>
          <p:nvPr/>
        </p:nvCxnSpPr>
        <p:spPr>
          <a:xfrm flipH="1">
            <a:off x="7663700" y="5174297"/>
            <a:ext cx="268941" cy="9711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3DF6D22-586E-BDED-9995-90367F64F814}"/>
              </a:ext>
            </a:extLst>
          </p:cNvPr>
          <p:cNvCxnSpPr>
            <a:cxnSpLocks/>
          </p:cNvCxnSpPr>
          <p:nvPr/>
        </p:nvCxnSpPr>
        <p:spPr>
          <a:xfrm>
            <a:off x="8820146" y="5174297"/>
            <a:ext cx="324974" cy="100266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76AE114B-E6DB-B462-2E92-67CB4B7FBC1A}"/>
              </a:ext>
            </a:extLst>
          </p:cNvPr>
          <p:cNvSpPr/>
          <p:nvPr/>
        </p:nvSpPr>
        <p:spPr>
          <a:xfrm>
            <a:off x="8829110" y="5531832"/>
            <a:ext cx="268945" cy="26894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AD5AD25-6FC4-8DA5-7BBC-8882924D8C5C}"/>
              </a:ext>
            </a:extLst>
          </p:cNvPr>
          <p:cNvSpPr/>
          <p:nvPr/>
        </p:nvSpPr>
        <p:spPr>
          <a:xfrm>
            <a:off x="7654732" y="5531832"/>
            <a:ext cx="268945" cy="268945"/>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C85E8C48-6A7F-9D58-C339-4C2D2D2F4D07}"/>
              </a:ext>
            </a:extLst>
          </p:cNvPr>
          <p:cNvCxnSpPr/>
          <p:nvPr/>
        </p:nvCxnSpPr>
        <p:spPr>
          <a:xfrm flipH="1">
            <a:off x="9640419" y="5171341"/>
            <a:ext cx="268941" cy="9711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B8DFBD5-E5B2-6EC9-5618-425F4811436E}"/>
              </a:ext>
            </a:extLst>
          </p:cNvPr>
          <p:cNvCxnSpPr>
            <a:cxnSpLocks/>
          </p:cNvCxnSpPr>
          <p:nvPr/>
        </p:nvCxnSpPr>
        <p:spPr>
          <a:xfrm>
            <a:off x="10796865" y="5171341"/>
            <a:ext cx="324974" cy="100266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1018D57F-8217-F35A-1F56-0647AD57BBE8}"/>
              </a:ext>
            </a:extLst>
          </p:cNvPr>
          <p:cNvSpPr/>
          <p:nvPr/>
        </p:nvSpPr>
        <p:spPr>
          <a:xfrm>
            <a:off x="10805829" y="5528876"/>
            <a:ext cx="268945" cy="268945"/>
          </a:xfrm>
          <a:prstGeom prst="rect">
            <a:avLst/>
          </a:prstGeom>
          <a:solidFill>
            <a:srgbClr val="D2E93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751A112-B20F-4F9F-D0E0-9E68F19BFCA7}"/>
              </a:ext>
            </a:extLst>
          </p:cNvPr>
          <p:cNvSpPr/>
          <p:nvPr/>
        </p:nvSpPr>
        <p:spPr>
          <a:xfrm>
            <a:off x="9631451" y="5528876"/>
            <a:ext cx="268945" cy="26894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51545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Old</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0074131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6B539-2AF8-D501-748C-D190CE835AB5}"/>
              </a:ext>
            </a:extLst>
          </p:cNvPr>
          <p:cNvSpPr>
            <a:spLocks noGrp="1"/>
          </p:cNvSpPr>
          <p:nvPr>
            <p:ph type="title"/>
          </p:nvPr>
        </p:nvSpPr>
        <p:spPr>
          <a:xfrm>
            <a:off x="838200" y="221341"/>
            <a:ext cx="10515600" cy="1061360"/>
          </a:xfrm>
        </p:spPr>
        <p:txBody>
          <a:bodyPr>
            <a:noAutofit/>
          </a:bodyPr>
          <a:lstStyle/>
          <a:p>
            <a:r>
              <a:rPr lang="en-US" sz="3200" dirty="0">
                <a:solidFill>
                  <a:srgbClr val="002060"/>
                </a:solidFill>
              </a:rPr>
              <a:t>Episodic memory is intertwined with relational memory</a:t>
            </a:r>
          </a:p>
        </p:txBody>
      </p:sp>
      <p:sp>
        <p:nvSpPr>
          <p:cNvPr id="3" name="Content Placeholder 2">
            <a:extLst>
              <a:ext uri="{FF2B5EF4-FFF2-40B4-BE49-F238E27FC236}">
                <a16:creationId xmlns:a16="http://schemas.microsoft.com/office/drawing/2014/main" id="{DBA5EF3A-B579-1F20-5251-7ADEA05C180E}"/>
              </a:ext>
            </a:extLst>
          </p:cNvPr>
          <p:cNvSpPr>
            <a:spLocks noGrp="1"/>
          </p:cNvSpPr>
          <p:nvPr>
            <p:ph idx="1"/>
          </p:nvPr>
        </p:nvSpPr>
        <p:spPr>
          <a:xfrm>
            <a:off x="451649" y="1314801"/>
            <a:ext cx="11020684" cy="5170666"/>
          </a:xfrm>
        </p:spPr>
        <p:txBody>
          <a:bodyPr>
            <a:normAutofit/>
          </a:bodyPr>
          <a:lstStyle/>
          <a:p>
            <a:r>
              <a:rPr lang="en-US" dirty="0"/>
              <a:t>What does it mean to retrieve an episodic memory?</a:t>
            </a:r>
          </a:p>
          <a:p>
            <a:pPr lvl="1"/>
            <a:r>
              <a:rPr lang="en-US" dirty="0"/>
              <a:t>It entails retrieving a bundle of items, tied together by relational memories</a:t>
            </a:r>
          </a:p>
          <a:p>
            <a:r>
              <a:rPr lang="en-US" dirty="0"/>
              <a:t>In the R/K test:</a:t>
            </a:r>
          </a:p>
          <a:p>
            <a:pPr lvl="1"/>
            <a:r>
              <a:rPr lang="en-US" dirty="0"/>
              <a:t>Remember responses reflect episodic memory and can be conceptualized as familiarity + relational memory</a:t>
            </a:r>
          </a:p>
          <a:p>
            <a:r>
              <a:rPr lang="en-US" dirty="0"/>
              <a:t>The study ideas here focus on episodic memory and relational memory</a:t>
            </a:r>
          </a:p>
          <a:p>
            <a:pPr lvl="1"/>
            <a:r>
              <a:rPr lang="en-US" dirty="0"/>
              <a:t>To investigate how individuals represent episodic memories and how individuals encode relations between items</a:t>
            </a:r>
          </a:p>
          <a:p>
            <a:pPr lvl="1"/>
            <a:r>
              <a:rPr lang="en-US" dirty="0"/>
              <a:t>There has been little RSA research investigating this type of complex neural encoding, which goes beyond item representation</a:t>
            </a:r>
          </a:p>
          <a:p>
            <a:pPr lvl="1"/>
            <a:r>
              <a:rPr lang="en-US" dirty="0"/>
              <a:t>Relational memory is a central focus of aging research</a:t>
            </a:r>
          </a:p>
          <a:p>
            <a:endParaRPr lang="en-US" dirty="0"/>
          </a:p>
          <a:p>
            <a:pPr lvl="1"/>
            <a:endParaRPr lang="en-US" dirty="0"/>
          </a:p>
        </p:txBody>
      </p:sp>
    </p:spTree>
    <p:extLst>
      <p:ext uri="{BB962C8B-B14F-4D97-AF65-F5344CB8AC3E}">
        <p14:creationId xmlns:p14="http://schemas.microsoft.com/office/powerpoint/2010/main" val="3581976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D2025-22BD-5A4D-9AC9-9EDC864D4C8F}"/>
              </a:ext>
            </a:extLst>
          </p:cNvPr>
          <p:cNvSpPr>
            <a:spLocks noGrp="1"/>
          </p:cNvSpPr>
          <p:nvPr>
            <p:ph type="title"/>
          </p:nvPr>
        </p:nvSpPr>
        <p:spPr>
          <a:xfrm>
            <a:off x="838200" y="216005"/>
            <a:ext cx="10515600" cy="1084263"/>
          </a:xfrm>
        </p:spPr>
        <p:txBody>
          <a:bodyPr>
            <a:noAutofit/>
          </a:bodyPr>
          <a:lstStyle/>
          <a:p>
            <a:r>
              <a:rPr lang="en-US" sz="3600" dirty="0">
                <a:solidFill>
                  <a:srgbClr val="002060"/>
                </a:solidFill>
              </a:rPr>
              <a:t>Examining relational memory from multiple levels</a:t>
            </a:r>
          </a:p>
        </p:txBody>
      </p:sp>
      <p:sp>
        <p:nvSpPr>
          <p:cNvPr id="3" name="Content Placeholder 2">
            <a:extLst>
              <a:ext uri="{FF2B5EF4-FFF2-40B4-BE49-F238E27FC236}">
                <a16:creationId xmlns:a16="http://schemas.microsoft.com/office/drawing/2014/main" id="{489A9E8A-319A-AAA0-1F7F-9FEF583D1C15}"/>
              </a:ext>
            </a:extLst>
          </p:cNvPr>
          <p:cNvSpPr>
            <a:spLocks noGrp="1"/>
          </p:cNvSpPr>
          <p:nvPr>
            <p:ph idx="1"/>
          </p:nvPr>
        </p:nvSpPr>
        <p:spPr>
          <a:xfrm>
            <a:off x="838200" y="1374069"/>
            <a:ext cx="10761133" cy="2736085"/>
          </a:xfrm>
        </p:spPr>
        <p:txBody>
          <a:bodyPr>
            <a:normAutofit/>
          </a:bodyPr>
          <a:lstStyle/>
          <a:p>
            <a:r>
              <a:rPr lang="en-US" dirty="0"/>
              <a:t>Spatial and temporal relational memory</a:t>
            </a:r>
          </a:p>
          <a:p>
            <a:pPr lvl="1"/>
            <a:r>
              <a:rPr lang="en-US" dirty="0"/>
              <a:t>Spatial relations exist among items within a scene</a:t>
            </a:r>
          </a:p>
          <a:p>
            <a:pPr lvl="1"/>
            <a:r>
              <a:rPr lang="en-US" dirty="0"/>
              <a:t>Temporal relations exist between scenes</a:t>
            </a:r>
          </a:p>
          <a:p>
            <a:r>
              <a:rPr lang="en-US" dirty="0"/>
              <a:t>Episodic vs. semantic retrieval</a:t>
            </a:r>
          </a:p>
        </p:txBody>
      </p:sp>
      <p:cxnSp>
        <p:nvCxnSpPr>
          <p:cNvPr id="4" name="Straight Arrow Connector 3">
            <a:extLst>
              <a:ext uri="{FF2B5EF4-FFF2-40B4-BE49-F238E27FC236}">
                <a16:creationId xmlns:a16="http://schemas.microsoft.com/office/drawing/2014/main" id="{437580CF-807B-59C4-2BD1-E3793EC680B1}"/>
              </a:ext>
            </a:extLst>
          </p:cNvPr>
          <p:cNvCxnSpPr/>
          <p:nvPr/>
        </p:nvCxnSpPr>
        <p:spPr>
          <a:xfrm>
            <a:off x="4798725" y="5038994"/>
            <a:ext cx="169200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709E0A05-D346-7BC1-B318-65310399F820}"/>
              </a:ext>
            </a:extLst>
          </p:cNvPr>
          <p:cNvSpPr/>
          <p:nvPr/>
        </p:nvSpPr>
        <p:spPr>
          <a:xfrm>
            <a:off x="6588821" y="4021888"/>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BBCE22A-D190-6587-F8B8-F2FE16B82C28}"/>
              </a:ext>
            </a:extLst>
          </p:cNvPr>
          <p:cNvSpPr/>
          <p:nvPr/>
        </p:nvSpPr>
        <p:spPr>
          <a:xfrm>
            <a:off x="6588821" y="5477875"/>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EE4B647-6802-8349-E542-8B505C87CA87}"/>
              </a:ext>
            </a:extLst>
          </p:cNvPr>
          <p:cNvSpPr/>
          <p:nvPr/>
        </p:nvSpPr>
        <p:spPr>
          <a:xfrm>
            <a:off x="8058858" y="4021888"/>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89A6244-DAAA-BE99-2FA0-52966FC4F5AA}"/>
              </a:ext>
            </a:extLst>
          </p:cNvPr>
          <p:cNvSpPr/>
          <p:nvPr/>
        </p:nvSpPr>
        <p:spPr>
          <a:xfrm>
            <a:off x="8058858" y="5477875"/>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3472B2FE-78B6-3244-0EFC-C5164B96472C}"/>
              </a:ext>
            </a:extLst>
          </p:cNvPr>
          <p:cNvCxnSpPr>
            <a:cxnSpLocks/>
            <a:stCxn id="5" idx="5"/>
            <a:endCxn id="8" idx="1"/>
          </p:cNvCxnSpPr>
          <p:nvPr/>
        </p:nvCxnSpPr>
        <p:spPr>
          <a:xfrm>
            <a:off x="7111196" y="4544263"/>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CE9E80D-F97A-65F9-A3B1-29C7DDB54D30}"/>
              </a:ext>
            </a:extLst>
          </p:cNvPr>
          <p:cNvCxnSpPr>
            <a:cxnSpLocks/>
            <a:stCxn id="6" idx="6"/>
            <a:endCxn id="8" idx="2"/>
          </p:cNvCxnSpPr>
          <p:nvPr/>
        </p:nvCxnSpPr>
        <p:spPr>
          <a:xfrm>
            <a:off x="7200821" y="5783875"/>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B41E27-BD97-F45F-7031-A7DE9A7EA8CE}"/>
              </a:ext>
            </a:extLst>
          </p:cNvPr>
          <p:cNvCxnSpPr>
            <a:cxnSpLocks/>
            <a:stCxn id="8" idx="0"/>
            <a:endCxn id="7" idx="4"/>
          </p:cNvCxnSpPr>
          <p:nvPr/>
        </p:nvCxnSpPr>
        <p:spPr>
          <a:xfrm flipV="1">
            <a:off x="8364858" y="4633888"/>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19F8D9B-BF08-3FAB-BEE8-9D54BB06D534}"/>
              </a:ext>
            </a:extLst>
          </p:cNvPr>
          <p:cNvCxnSpPr>
            <a:cxnSpLocks/>
            <a:stCxn id="5" idx="6"/>
            <a:endCxn id="7" idx="2"/>
          </p:cNvCxnSpPr>
          <p:nvPr/>
        </p:nvCxnSpPr>
        <p:spPr>
          <a:xfrm>
            <a:off x="7200821" y="4327888"/>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06D6A75-D8FA-D2D3-E1DB-06257A97267E}"/>
              </a:ext>
            </a:extLst>
          </p:cNvPr>
          <p:cNvCxnSpPr>
            <a:cxnSpLocks/>
            <a:stCxn id="6" idx="0"/>
            <a:endCxn id="5" idx="4"/>
          </p:cNvCxnSpPr>
          <p:nvPr/>
        </p:nvCxnSpPr>
        <p:spPr>
          <a:xfrm flipV="1">
            <a:off x="6894821" y="4633888"/>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6C7B98D-73ED-E1E2-61A8-4158E4473181}"/>
              </a:ext>
            </a:extLst>
          </p:cNvPr>
          <p:cNvCxnSpPr>
            <a:cxnSpLocks/>
            <a:stCxn id="6" idx="7"/>
            <a:endCxn id="7" idx="3"/>
          </p:cNvCxnSpPr>
          <p:nvPr/>
        </p:nvCxnSpPr>
        <p:spPr>
          <a:xfrm flipV="1">
            <a:off x="7111196" y="4544263"/>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08B49F0F-697D-B487-1007-41403F0A1CA7}"/>
              </a:ext>
            </a:extLst>
          </p:cNvPr>
          <p:cNvSpPr/>
          <p:nvPr/>
        </p:nvSpPr>
        <p:spPr>
          <a:xfrm>
            <a:off x="2651021" y="4021888"/>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4FC456B-5178-55C1-F801-6C9A49C7266A}"/>
              </a:ext>
            </a:extLst>
          </p:cNvPr>
          <p:cNvSpPr/>
          <p:nvPr/>
        </p:nvSpPr>
        <p:spPr>
          <a:xfrm>
            <a:off x="2651021" y="5477875"/>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37315BE-C5DF-1175-99BE-F4872FFFF4DA}"/>
              </a:ext>
            </a:extLst>
          </p:cNvPr>
          <p:cNvSpPr/>
          <p:nvPr/>
        </p:nvSpPr>
        <p:spPr>
          <a:xfrm>
            <a:off x="4121058" y="4021888"/>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17EEAE2-51F1-D44E-A27D-57EC10A0F5F6}"/>
              </a:ext>
            </a:extLst>
          </p:cNvPr>
          <p:cNvSpPr/>
          <p:nvPr/>
        </p:nvSpPr>
        <p:spPr>
          <a:xfrm>
            <a:off x="4121058" y="5477875"/>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FC064E44-95A9-0AAC-4DA4-A66C2FD08D59}"/>
              </a:ext>
            </a:extLst>
          </p:cNvPr>
          <p:cNvCxnSpPr>
            <a:cxnSpLocks/>
            <a:stCxn id="15" idx="5"/>
            <a:endCxn id="18" idx="1"/>
          </p:cNvCxnSpPr>
          <p:nvPr/>
        </p:nvCxnSpPr>
        <p:spPr>
          <a:xfrm>
            <a:off x="3173396" y="4544263"/>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D001CF7-EA77-D826-9DBB-D9D6AA12B8CE}"/>
              </a:ext>
            </a:extLst>
          </p:cNvPr>
          <p:cNvCxnSpPr>
            <a:cxnSpLocks/>
            <a:stCxn id="16" idx="6"/>
            <a:endCxn id="18" idx="2"/>
          </p:cNvCxnSpPr>
          <p:nvPr/>
        </p:nvCxnSpPr>
        <p:spPr>
          <a:xfrm>
            <a:off x="3263021" y="5783875"/>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243E4CD-8311-446D-E6AC-5231385DD847}"/>
              </a:ext>
            </a:extLst>
          </p:cNvPr>
          <p:cNvCxnSpPr>
            <a:cxnSpLocks/>
            <a:stCxn id="18" idx="0"/>
            <a:endCxn id="17" idx="4"/>
          </p:cNvCxnSpPr>
          <p:nvPr/>
        </p:nvCxnSpPr>
        <p:spPr>
          <a:xfrm flipV="1">
            <a:off x="4427058" y="4633888"/>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F0CBC2E-EA65-8756-B5CC-B282984C8A10}"/>
              </a:ext>
            </a:extLst>
          </p:cNvPr>
          <p:cNvCxnSpPr>
            <a:cxnSpLocks/>
            <a:stCxn id="15" idx="6"/>
            <a:endCxn id="17" idx="2"/>
          </p:cNvCxnSpPr>
          <p:nvPr/>
        </p:nvCxnSpPr>
        <p:spPr>
          <a:xfrm>
            <a:off x="3263021" y="4327888"/>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0642AD6-55AC-EC4B-46B1-0D1CBDA83D2B}"/>
              </a:ext>
            </a:extLst>
          </p:cNvPr>
          <p:cNvCxnSpPr>
            <a:cxnSpLocks/>
            <a:stCxn id="16" idx="0"/>
            <a:endCxn id="15" idx="4"/>
          </p:cNvCxnSpPr>
          <p:nvPr/>
        </p:nvCxnSpPr>
        <p:spPr>
          <a:xfrm flipV="1">
            <a:off x="2957021" y="4633888"/>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6D38852-D039-CB56-C8AE-670F1B0CC1E4}"/>
              </a:ext>
            </a:extLst>
          </p:cNvPr>
          <p:cNvCxnSpPr>
            <a:cxnSpLocks/>
            <a:stCxn id="16" idx="7"/>
            <a:endCxn id="17" idx="3"/>
          </p:cNvCxnSpPr>
          <p:nvPr/>
        </p:nvCxnSpPr>
        <p:spPr>
          <a:xfrm flipV="1">
            <a:off x="3173396" y="4544263"/>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5567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5D89-0549-0C95-0C4E-44910D4AF16B}"/>
              </a:ext>
            </a:extLst>
          </p:cNvPr>
          <p:cNvSpPr>
            <a:spLocks noGrp="1"/>
          </p:cNvSpPr>
          <p:nvPr>
            <p:ph type="title"/>
          </p:nvPr>
        </p:nvSpPr>
        <p:spPr>
          <a:xfrm>
            <a:off x="838200" y="46038"/>
            <a:ext cx="10515600" cy="1229278"/>
          </a:xfrm>
        </p:spPr>
        <p:txBody>
          <a:bodyPr>
            <a:normAutofit/>
          </a:bodyPr>
          <a:lstStyle/>
          <a:p>
            <a:r>
              <a:rPr lang="en-US" sz="3600" dirty="0">
                <a:solidFill>
                  <a:srgbClr val="002060"/>
                </a:solidFill>
              </a:rPr>
              <a:t>Broad aim: Focus on edges and groups not nodes</a:t>
            </a:r>
          </a:p>
        </p:txBody>
      </p:sp>
      <p:sp>
        <p:nvSpPr>
          <p:cNvPr id="3" name="Content Placeholder 2">
            <a:extLst>
              <a:ext uri="{FF2B5EF4-FFF2-40B4-BE49-F238E27FC236}">
                <a16:creationId xmlns:a16="http://schemas.microsoft.com/office/drawing/2014/main" id="{0712C86D-86B7-4BB1-21B2-7E11FEDD18D8}"/>
              </a:ext>
            </a:extLst>
          </p:cNvPr>
          <p:cNvSpPr>
            <a:spLocks noGrp="1"/>
          </p:cNvSpPr>
          <p:nvPr>
            <p:ph idx="1"/>
          </p:nvPr>
        </p:nvSpPr>
        <p:spPr>
          <a:xfrm>
            <a:off x="838200" y="1212897"/>
            <a:ext cx="10515600" cy="5465763"/>
          </a:xfrm>
        </p:spPr>
        <p:txBody>
          <a:bodyPr>
            <a:normAutofit fontScale="92500" lnSpcReduction="10000"/>
          </a:bodyPr>
          <a:lstStyle/>
          <a:p>
            <a:r>
              <a:rPr lang="en-US" dirty="0"/>
              <a:t>We do </a:t>
            </a:r>
            <a:r>
              <a:rPr lang="en-US" u="sng" dirty="0"/>
              <a:t>not</a:t>
            </a:r>
            <a:r>
              <a:rPr lang="en-US" dirty="0"/>
              <a:t> want to only study how multiple items representations may be active at the same time</a:t>
            </a:r>
          </a:p>
          <a:p>
            <a:pPr lvl="1"/>
            <a:r>
              <a:rPr lang="en-US" dirty="0"/>
              <a:t>Nor just study how activating one item representation leads to the activation of another item representation</a:t>
            </a:r>
          </a:p>
          <a:p>
            <a:pPr lvl="1"/>
            <a:r>
              <a:rPr lang="en-US" dirty="0"/>
              <a:t>Not novel enough</a:t>
            </a:r>
          </a:p>
          <a:p>
            <a:r>
              <a:rPr lang="en-US" dirty="0"/>
              <a:t>Rather, we want to investigate the relations themselves</a:t>
            </a:r>
          </a:p>
          <a:p>
            <a:pPr lvl="1"/>
            <a:r>
              <a:rPr lang="en-US" dirty="0"/>
              <a:t>Empirically: </a:t>
            </a:r>
          </a:p>
          <a:p>
            <a:pPr lvl="2"/>
            <a:r>
              <a:rPr lang="en-US" dirty="0"/>
              <a:t>During encoding: Identify the neural correlates of connecting item representations</a:t>
            </a:r>
          </a:p>
          <a:p>
            <a:pPr lvl="2"/>
            <a:r>
              <a:rPr lang="en-US" dirty="0"/>
              <a:t>During retrieval: Identify the neural correlates of activating a relation, which in turn activates an item representation</a:t>
            </a:r>
          </a:p>
          <a:p>
            <a:pPr lvl="1"/>
            <a:r>
              <a:rPr lang="en-US" dirty="0"/>
              <a:t>e.g., if two items are represented in the perirhinal cortex, and their association is implemented as connections from each representation to the hippocampus. </a:t>
            </a:r>
          </a:p>
          <a:p>
            <a:pPr lvl="2"/>
            <a:r>
              <a:rPr lang="en-US" dirty="0"/>
              <a:t>Can we model the hippocampal signatures of the relation being encoded and, later, the relation being activated used during retrieval?</a:t>
            </a:r>
          </a:p>
          <a:p>
            <a:pPr lvl="2"/>
            <a:r>
              <a:rPr lang="en-US" dirty="0"/>
              <a:t>Can we model an episodic memory as the collection of relations and items</a:t>
            </a:r>
          </a:p>
          <a:p>
            <a:pPr lvl="2"/>
            <a:r>
              <a:rPr lang="en-US" dirty="0"/>
              <a:t>Can we model the semantic network of relations that form among multiple stimuli?</a:t>
            </a:r>
          </a:p>
          <a:p>
            <a:r>
              <a:rPr lang="en-US" dirty="0"/>
              <a:t>Central novel design element: presenting some stimuli multiple times</a:t>
            </a:r>
          </a:p>
        </p:txBody>
      </p:sp>
    </p:spTree>
    <p:extLst>
      <p:ext uri="{BB962C8B-B14F-4D97-AF65-F5344CB8AC3E}">
        <p14:creationId xmlns:p14="http://schemas.microsoft.com/office/powerpoint/2010/main" val="126915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855CA-770A-C7A0-4CD1-558C690976E9}"/>
              </a:ext>
            </a:extLst>
          </p:cNvPr>
          <p:cNvSpPr>
            <a:spLocks noGrp="1"/>
          </p:cNvSpPr>
          <p:nvPr>
            <p:ph type="title"/>
          </p:nvPr>
        </p:nvSpPr>
        <p:spPr>
          <a:xfrm>
            <a:off x="838200" y="161925"/>
            <a:ext cx="10515600" cy="828675"/>
          </a:xfrm>
        </p:spPr>
        <p:txBody>
          <a:bodyPr/>
          <a:lstStyle/>
          <a:p>
            <a:r>
              <a:rPr lang="en-US" dirty="0">
                <a:solidFill>
                  <a:srgbClr val="002060"/>
                </a:solidFill>
              </a:rPr>
              <a:t>fMRI analysis</a:t>
            </a:r>
          </a:p>
        </p:txBody>
      </p:sp>
      <p:sp>
        <p:nvSpPr>
          <p:cNvPr id="3" name="Content Placeholder 2">
            <a:extLst>
              <a:ext uri="{FF2B5EF4-FFF2-40B4-BE49-F238E27FC236}">
                <a16:creationId xmlns:a16="http://schemas.microsoft.com/office/drawing/2014/main" id="{30352D74-6257-CA13-52FD-618450492F4C}"/>
              </a:ext>
            </a:extLst>
          </p:cNvPr>
          <p:cNvSpPr>
            <a:spLocks noGrp="1"/>
          </p:cNvSpPr>
          <p:nvPr>
            <p:ph idx="1"/>
          </p:nvPr>
        </p:nvSpPr>
        <p:spPr>
          <a:xfrm>
            <a:off x="838200" y="1079500"/>
            <a:ext cx="10735734" cy="5616575"/>
          </a:xfrm>
        </p:spPr>
        <p:txBody>
          <a:bodyPr>
            <a:normAutofit/>
          </a:bodyPr>
          <a:lstStyle/>
          <a:p>
            <a:r>
              <a:rPr lang="en-US" sz="2400" dirty="0"/>
              <a:t>How do we investigate the neural correlates of relational memory encoding?</a:t>
            </a:r>
          </a:p>
          <a:p>
            <a:r>
              <a:rPr lang="en-US" sz="2400" dirty="0"/>
              <a:t>One possible way is with RSA using combination vectors</a:t>
            </a:r>
          </a:p>
          <a:p>
            <a:pPr lvl="1"/>
            <a:r>
              <a:rPr lang="en-US" sz="2000" dirty="0"/>
              <a:t>Combining stimulus features linked to each items</a:t>
            </a:r>
          </a:p>
          <a:p>
            <a:r>
              <a:rPr lang="en-US" sz="2400" dirty="0"/>
              <a:t>Alternatively, because some stimuli are presented multiple times, we can leverage this and measure similarity between trials involving associations to the same stimulus </a:t>
            </a:r>
          </a:p>
          <a:p>
            <a:pPr lvl="1"/>
            <a:r>
              <a:rPr lang="en-US" sz="2000" dirty="0"/>
              <a:t>Participants encode relations </a:t>
            </a:r>
            <a:r>
              <a:rPr lang="en-US" sz="2000" i="1" dirty="0"/>
              <a:t>Bird-Pizza</a:t>
            </a:r>
            <a:r>
              <a:rPr lang="en-US" sz="2000" dirty="0"/>
              <a:t> and </a:t>
            </a:r>
            <a:r>
              <a:rPr lang="en-US" sz="2000" i="1" dirty="0"/>
              <a:t>Cat-Pizza</a:t>
            </a:r>
          </a:p>
          <a:p>
            <a:pPr lvl="1"/>
            <a:r>
              <a:rPr lang="en-US" sz="2000" dirty="0"/>
              <a:t>Later, during retrieval, we may see similarity between retrieval of </a:t>
            </a:r>
            <a:r>
              <a:rPr lang="en-US" sz="2000" i="1" dirty="0"/>
              <a:t>Bird</a:t>
            </a:r>
            <a:r>
              <a:rPr lang="en-US" sz="2000" dirty="0"/>
              <a:t> and </a:t>
            </a:r>
            <a:r>
              <a:rPr lang="en-US" sz="2000" i="1" dirty="0"/>
              <a:t>Cat</a:t>
            </a:r>
          </a:p>
          <a:p>
            <a:pPr lvl="2"/>
            <a:r>
              <a:rPr lang="en-US" dirty="0"/>
              <a:t>Regions showing similarity indicate areas involved in encoding relations to specific other stimuli </a:t>
            </a:r>
          </a:p>
          <a:p>
            <a:pPr lvl="2"/>
            <a:r>
              <a:rPr lang="en-US" sz="1800" dirty="0"/>
              <a:t>Need to rule out the possibility that the similarity is due to simply retrieval of the A item representation</a:t>
            </a:r>
          </a:p>
          <a:p>
            <a:pPr lvl="1"/>
            <a:r>
              <a:rPr lang="en-US" sz="2200" dirty="0"/>
              <a:t>Through this and additional analyses, we can distinguish:</a:t>
            </a:r>
          </a:p>
          <a:p>
            <a:pPr lvl="2"/>
            <a:r>
              <a:rPr lang="en-US" sz="1800" dirty="0"/>
              <a:t>(1) Regions where specific relations are encoded</a:t>
            </a:r>
          </a:p>
          <a:p>
            <a:pPr lvl="2"/>
            <a:r>
              <a:rPr lang="en-US" sz="1800" dirty="0"/>
              <a:t>(2) Regions that support relational memory encoding yet do not contain the relations</a:t>
            </a:r>
          </a:p>
          <a:p>
            <a:pPr lvl="2"/>
            <a:r>
              <a:rPr lang="en-US" sz="1800" dirty="0"/>
              <a:t>(3) Regions where items are encoded</a:t>
            </a:r>
          </a:p>
        </p:txBody>
      </p:sp>
    </p:spTree>
    <p:extLst>
      <p:ext uri="{BB962C8B-B14F-4D97-AF65-F5344CB8AC3E}">
        <p14:creationId xmlns:p14="http://schemas.microsoft.com/office/powerpoint/2010/main" val="39741708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01E3-C38D-D2F6-896D-9241C4B1D4AB}"/>
              </a:ext>
            </a:extLst>
          </p:cNvPr>
          <p:cNvSpPr>
            <a:spLocks noGrp="1"/>
          </p:cNvSpPr>
          <p:nvPr>
            <p:ph type="title"/>
          </p:nvPr>
        </p:nvSpPr>
        <p:spPr>
          <a:xfrm>
            <a:off x="838200" y="118463"/>
            <a:ext cx="10515600" cy="998729"/>
          </a:xfrm>
        </p:spPr>
        <p:txBody>
          <a:bodyPr/>
          <a:lstStyle/>
          <a:p>
            <a:r>
              <a:rPr lang="en-US" dirty="0">
                <a:solidFill>
                  <a:srgbClr val="002060"/>
                </a:solidFill>
              </a:rPr>
              <a:t>Building on this analytic direction</a:t>
            </a:r>
          </a:p>
        </p:txBody>
      </p:sp>
      <p:sp>
        <p:nvSpPr>
          <p:cNvPr id="3" name="Content Placeholder 2">
            <a:extLst>
              <a:ext uri="{FF2B5EF4-FFF2-40B4-BE49-F238E27FC236}">
                <a16:creationId xmlns:a16="http://schemas.microsoft.com/office/drawing/2014/main" id="{14FB3116-0E3A-7552-55D1-E841923C3B94}"/>
              </a:ext>
            </a:extLst>
          </p:cNvPr>
          <p:cNvSpPr>
            <a:spLocks noGrp="1"/>
          </p:cNvSpPr>
          <p:nvPr>
            <p:ph idx="1"/>
          </p:nvPr>
        </p:nvSpPr>
        <p:spPr>
          <a:xfrm>
            <a:off x="796992" y="1352720"/>
            <a:ext cx="7147586" cy="5386817"/>
          </a:xfrm>
        </p:spPr>
        <p:txBody>
          <a:bodyPr>
            <a:normAutofit fontScale="92500"/>
          </a:bodyPr>
          <a:lstStyle/>
          <a:p>
            <a:r>
              <a:rPr lang="en-US" dirty="0"/>
              <a:t>Suppose participants encode eight relations:</a:t>
            </a:r>
          </a:p>
          <a:p>
            <a:pPr lvl="1"/>
            <a:r>
              <a:rPr lang="en-US" dirty="0"/>
              <a:t>X-A, X-B</a:t>
            </a:r>
          </a:p>
          <a:p>
            <a:pPr lvl="1"/>
            <a:r>
              <a:rPr lang="en-US" dirty="0"/>
              <a:t>Y-A, Y-B</a:t>
            </a:r>
          </a:p>
          <a:p>
            <a:pPr lvl="1"/>
            <a:r>
              <a:rPr lang="en-US" dirty="0"/>
              <a:t>Z-A, Z-C</a:t>
            </a:r>
          </a:p>
          <a:p>
            <a:pPr lvl="1"/>
            <a:r>
              <a:rPr lang="en-US" dirty="0"/>
              <a:t>W-C, W-D</a:t>
            </a:r>
          </a:p>
          <a:p>
            <a:r>
              <a:rPr lang="en-US" dirty="0"/>
              <a:t>In terms of the relations encoded:</a:t>
            </a:r>
          </a:p>
          <a:p>
            <a:pPr lvl="1"/>
            <a:r>
              <a:rPr lang="en-US" dirty="0"/>
              <a:t>X is very similar to Y (both connected to A &amp; B)</a:t>
            </a:r>
          </a:p>
          <a:p>
            <a:pPr lvl="1"/>
            <a:r>
              <a:rPr lang="en-US" dirty="0"/>
              <a:t>X is somewhat similar to Z (both connected to A)</a:t>
            </a:r>
          </a:p>
          <a:p>
            <a:pPr lvl="1"/>
            <a:r>
              <a:rPr lang="en-US" dirty="0"/>
              <a:t>X shows no similarity with W</a:t>
            </a:r>
          </a:p>
          <a:p>
            <a:r>
              <a:rPr lang="en-US" dirty="0"/>
              <a:t>Illustrated as an RSM</a:t>
            </a:r>
          </a:p>
          <a:p>
            <a:pPr lvl="1"/>
            <a:r>
              <a:rPr lang="en-US" dirty="0"/>
              <a:t>Performing RSA using this RSM expands the analysis on the previous slide to work with many stimuli and relations</a:t>
            </a:r>
          </a:p>
          <a:p>
            <a:pPr lvl="1"/>
            <a:endParaRPr lang="en-US" dirty="0"/>
          </a:p>
          <a:p>
            <a:pPr lvl="1"/>
            <a:endParaRPr lang="en-US" dirty="0"/>
          </a:p>
        </p:txBody>
      </p:sp>
      <p:sp>
        <p:nvSpPr>
          <p:cNvPr id="4" name="Rectangle 3">
            <a:extLst>
              <a:ext uri="{FF2B5EF4-FFF2-40B4-BE49-F238E27FC236}">
                <a16:creationId xmlns:a16="http://schemas.microsoft.com/office/drawing/2014/main" id="{FDBF3C6D-B660-C17C-2B5B-795C7A7B7582}"/>
              </a:ext>
            </a:extLst>
          </p:cNvPr>
          <p:cNvSpPr/>
          <p:nvPr/>
        </p:nvSpPr>
        <p:spPr>
          <a:xfrm>
            <a:off x="10553105" y="2257517"/>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8A88778-4B6F-9AC2-440C-F530F417C710}"/>
              </a:ext>
            </a:extLst>
          </p:cNvPr>
          <p:cNvSpPr/>
          <p:nvPr/>
        </p:nvSpPr>
        <p:spPr>
          <a:xfrm>
            <a:off x="10553105" y="2602363"/>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A9E2092-67CF-8421-3AD9-80A89F553190}"/>
              </a:ext>
            </a:extLst>
          </p:cNvPr>
          <p:cNvSpPr/>
          <p:nvPr/>
        </p:nvSpPr>
        <p:spPr>
          <a:xfrm>
            <a:off x="10553105"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22DD7A5-E55C-B1E1-C758-78048607D6C8}"/>
              </a:ext>
            </a:extLst>
          </p:cNvPr>
          <p:cNvSpPr/>
          <p:nvPr/>
        </p:nvSpPr>
        <p:spPr>
          <a:xfrm>
            <a:off x="9875491" y="2257517"/>
            <a:ext cx="279400" cy="279400"/>
          </a:xfrm>
          <a:prstGeom prst="rect">
            <a:avLst/>
          </a:prstGeom>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12D4D7B-0256-D4EE-CAD6-26EEA20F3A70}"/>
              </a:ext>
            </a:extLst>
          </p:cNvPr>
          <p:cNvSpPr/>
          <p:nvPr/>
        </p:nvSpPr>
        <p:spPr>
          <a:xfrm>
            <a:off x="9875491"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BE8971E-8D20-D3DD-C43B-380ECB52CEC0}"/>
              </a:ext>
            </a:extLst>
          </p:cNvPr>
          <p:cNvSpPr/>
          <p:nvPr/>
        </p:nvSpPr>
        <p:spPr>
          <a:xfrm>
            <a:off x="9875491"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664B0C-1AD4-A832-0A4A-1445F382F157}"/>
              </a:ext>
            </a:extLst>
          </p:cNvPr>
          <p:cNvSpPr/>
          <p:nvPr/>
        </p:nvSpPr>
        <p:spPr>
          <a:xfrm>
            <a:off x="10214298" y="2257517"/>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64A2850-D63C-440B-75C6-849B097228DA}"/>
              </a:ext>
            </a:extLst>
          </p:cNvPr>
          <p:cNvSpPr/>
          <p:nvPr/>
        </p:nvSpPr>
        <p:spPr>
          <a:xfrm>
            <a:off x="10214298" y="2602363"/>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DF3E3BD-CD80-5FC0-D7CD-A00A709AAD46}"/>
              </a:ext>
            </a:extLst>
          </p:cNvPr>
          <p:cNvSpPr/>
          <p:nvPr/>
        </p:nvSpPr>
        <p:spPr>
          <a:xfrm>
            <a:off x="10214298" y="3292055"/>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324FBB5-844A-47D3-D0B5-10A22116543B}"/>
              </a:ext>
            </a:extLst>
          </p:cNvPr>
          <p:cNvSpPr/>
          <p:nvPr/>
        </p:nvSpPr>
        <p:spPr>
          <a:xfrm>
            <a:off x="9540777" y="2602363"/>
            <a:ext cx="279400" cy="279400"/>
          </a:xfrm>
          <a:prstGeom prst="rect">
            <a:avLst/>
          </a:prstGeom>
          <a:solidFill>
            <a:schemeClr val="tx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68420B5-7618-A2B4-225B-C7CEFF57EBB5}"/>
              </a:ext>
            </a:extLst>
          </p:cNvPr>
          <p:cNvSpPr/>
          <p:nvPr/>
        </p:nvSpPr>
        <p:spPr>
          <a:xfrm>
            <a:off x="9540777"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101E58D-C935-4CA1-77F2-B7022FC8CA9D}"/>
              </a:ext>
            </a:extLst>
          </p:cNvPr>
          <p:cNvSpPr/>
          <p:nvPr/>
        </p:nvSpPr>
        <p:spPr>
          <a:xfrm>
            <a:off x="9540777"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003C2457-615B-AF87-DCB7-B3F5162D6AD3}"/>
              </a:ext>
            </a:extLst>
          </p:cNvPr>
          <p:cNvSpPr txBox="1"/>
          <p:nvPr/>
        </p:nvSpPr>
        <p:spPr>
          <a:xfrm>
            <a:off x="9157764" y="2215080"/>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79" name="TextBox 78">
            <a:extLst>
              <a:ext uri="{FF2B5EF4-FFF2-40B4-BE49-F238E27FC236}">
                <a16:creationId xmlns:a16="http://schemas.microsoft.com/office/drawing/2014/main" id="{377EB0A3-04A5-DE44-A5D9-DE15F27F28D0}"/>
              </a:ext>
            </a:extLst>
          </p:cNvPr>
          <p:cNvSpPr txBox="1"/>
          <p:nvPr/>
        </p:nvSpPr>
        <p:spPr>
          <a:xfrm>
            <a:off x="9157764" y="2559148"/>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
        <p:nvSpPr>
          <p:cNvPr id="80" name="TextBox 79">
            <a:extLst>
              <a:ext uri="{FF2B5EF4-FFF2-40B4-BE49-F238E27FC236}">
                <a16:creationId xmlns:a16="http://schemas.microsoft.com/office/drawing/2014/main" id="{803769A3-A6EC-BC2C-D673-400D799E22FC}"/>
              </a:ext>
            </a:extLst>
          </p:cNvPr>
          <p:cNvSpPr txBox="1"/>
          <p:nvPr/>
        </p:nvSpPr>
        <p:spPr>
          <a:xfrm>
            <a:off x="9157764" y="2903216"/>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1" name="TextBox 80">
            <a:extLst>
              <a:ext uri="{FF2B5EF4-FFF2-40B4-BE49-F238E27FC236}">
                <a16:creationId xmlns:a16="http://schemas.microsoft.com/office/drawing/2014/main" id="{ADEA4B86-F02E-1403-A930-51B0E3F5C7F5}"/>
              </a:ext>
            </a:extLst>
          </p:cNvPr>
          <p:cNvSpPr txBox="1"/>
          <p:nvPr/>
        </p:nvSpPr>
        <p:spPr>
          <a:xfrm>
            <a:off x="9122323" y="3247285"/>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2" name="TextBox 81">
            <a:extLst>
              <a:ext uri="{FF2B5EF4-FFF2-40B4-BE49-F238E27FC236}">
                <a16:creationId xmlns:a16="http://schemas.microsoft.com/office/drawing/2014/main" id="{F5B6834D-C8A0-C636-3059-193EFF59E29D}"/>
              </a:ext>
            </a:extLst>
          </p:cNvPr>
          <p:cNvSpPr txBox="1"/>
          <p:nvPr/>
        </p:nvSpPr>
        <p:spPr>
          <a:xfrm>
            <a:off x="9510494"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83" name="TextBox 82">
            <a:extLst>
              <a:ext uri="{FF2B5EF4-FFF2-40B4-BE49-F238E27FC236}">
                <a16:creationId xmlns:a16="http://schemas.microsoft.com/office/drawing/2014/main" id="{332C7A99-C6A8-CA6E-ACC0-7B7B99944B15}"/>
              </a:ext>
            </a:extLst>
          </p:cNvPr>
          <p:cNvSpPr txBox="1"/>
          <p:nvPr/>
        </p:nvSpPr>
        <p:spPr>
          <a:xfrm>
            <a:off x="10488414" y="1873061"/>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4" name="TextBox 83">
            <a:extLst>
              <a:ext uri="{FF2B5EF4-FFF2-40B4-BE49-F238E27FC236}">
                <a16:creationId xmlns:a16="http://schemas.microsoft.com/office/drawing/2014/main" id="{C061AB7A-92A7-7DDE-8026-4EF9237D1092}"/>
              </a:ext>
            </a:extLst>
          </p:cNvPr>
          <p:cNvSpPr txBox="1"/>
          <p:nvPr/>
        </p:nvSpPr>
        <p:spPr>
          <a:xfrm>
            <a:off x="10184032"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5" name="TextBox 84">
            <a:extLst>
              <a:ext uri="{FF2B5EF4-FFF2-40B4-BE49-F238E27FC236}">
                <a16:creationId xmlns:a16="http://schemas.microsoft.com/office/drawing/2014/main" id="{D0F36D53-F16E-9E07-865A-3EAD8453B0D0}"/>
              </a:ext>
            </a:extLst>
          </p:cNvPr>
          <p:cNvSpPr txBox="1"/>
          <p:nvPr/>
        </p:nvSpPr>
        <p:spPr>
          <a:xfrm>
            <a:off x="9847263"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1505201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21" grpId="0" animBg="1"/>
      <p:bldP spid="23" grpId="0" animBg="1"/>
      <p:bldP spid="24" grpId="0" animBg="1"/>
      <p:bldP spid="26" grpId="0" animBg="1"/>
      <p:bldP spid="27" grpId="0" animBg="1"/>
      <p:bldP spid="29" grpId="0" animBg="1"/>
      <p:bldP spid="32" grpId="0" animBg="1"/>
      <p:bldP spid="33" grpId="0" animBg="1"/>
      <p:bldP spid="34" grpId="0" animBg="1"/>
      <p:bldP spid="78" grpId="0"/>
      <p:bldP spid="79" grpId="0"/>
      <p:bldP spid="80" grpId="0"/>
      <p:bldP spid="81" grpId="0"/>
      <p:bldP spid="82" grpId="0"/>
      <p:bldP spid="83" grpId="0"/>
      <p:bldP spid="84" grpId="0"/>
      <p:bldP spid="8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01E3-C38D-D2F6-896D-9241C4B1D4AB}"/>
              </a:ext>
            </a:extLst>
          </p:cNvPr>
          <p:cNvSpPr>
            <a:spLocks noGrp="1"/>
          </p:cNvSpPr>
          <p:nvPr>
            <p:ph type="title"/>
          </p:nvPr>
        </p:nvSpPr>
        <p:spPr>
          <a:xfrm>
            <a:off x="838200" y="118463"/>
            <a:ext cx="10515600" cy="998729"/>
          </a:xfrm>
        </p:spPr>
        <p:txBody>
          <a:bodyPr>
            <a:normAutofit fontScale="90000"/>
          </a:bodyPr>
          <a:lstStyle/>
          <a:p>
            <a:r>
              <a:rPr lang="en-US" dirty="0">
                <a:solidFill>
                  <a:srgbClr val="002060"/>
                </a:solidFill>
              </a:rPr>
              <a:t>Ways to extend and interpret these analyses</a:t>
            </a:r>
          </a:p>
        </p:txBody>
      </p:sp>
      <p:sp>
        <p:nvSpPr>
          <p:cNvPr id="3" name="Content Placeholder 2">
            <a:extLst>
              <a:ext uri="{FF2B5EF4-FFF2-40B4-BE49-F238E27FC236}">
                <a16:creationId xmlns:a16="http://schemas.microsoft.com/office/drawing/2014/main" id="{14FB3116-0E3A-7552-55D1-E841923C3B94}"/>
              </a:ext>
            </a:extLst>
          </p:cNvPr>
          <p:cNvSpPr>
            <a:spLocks noGrp="1"/>
          </p:cNvSpPr>
          <p:nvPr>
            <p:ph idx="1"/>
          </p:nvPr>
        </p:nvSpPr>
        <p:spPr>
          <a:xfrm>
            <a:off x="627525" y="1210328"/>
            <a:ext cx="7147586" cy="5386817"/>
          </a:xfrm>
        </p:spPr>
        <p:txBody>
          <a:bodyPr>
            <a:normAutofit fontScale="85000" lnSpcReduction="10000"/>
          </a:bodyPr>
          <a:lstStyle/>
          <a:p>
            <a:r>
              <a:rPr lang="en-US" dirty="0"/>
              <a:t>Participants encode a relational network</a:t>
            </a:r>
          </a:p>
          <a:p>
            <a:pPr lvl="1"/>
            <a:r>
              <a:rPr lang="en-US" dirty="0"/>
              <a:t>Opens the door for graph theory analysis</a:t>
            </a:r>
          </a:p>
          <a:p>
            <a:pPr lvl="1"/>
            <a:r>
              <a:rPr lang="en-US" dirty="0"/>
              <a:t>e.g., effects of retrieving stimuli with high centrality</a:t>
            </a:r>
          </a:p>
          <a:p>
            <a:pPr lvl="1"/>
            <a:r>
              <a:rPr lang="en-US" dirty="0"/>
              <a:t>Parallels that journal club study which involved video clips</a:t>
            </a:r>
          </a:p>
          <a:p>
            <a:r>
              <a:rPr lang="en-US" dirty="0"/>
              <a:t>Participants encode a map</a:t>
            </a:r>
          </a:p>
          <a:p>
            <a:pPr lvl="1"/>
            <a:r>
              <a:rPr lang="en-US" dirty="0"/>
              <a:t>Potential links to research on the PPA and spatial memory</a:t>
            </a:r>
          </a:p>
          <a:p>
            <a:pPr lvl="2"/>
            <a:r>
              <a:rPr lang="en-US" dirty="0"/>
              <a:t>Investigating PPA maps is typically done in rat research, although studying this in humans opens new directions</a:t>
            </a:r>
          </a:p>
          <a:p>
            <a:pPr lvl="1"/>
            <a:r>
              <a:rPr lang="en-US" dirty="0"/>
              <a:t>Can incorporate directionality (before/after) into the analysis</a:t>
            </a:r>
          </a:p>
          <a:p>
            <a:r>
              <a:rPr lang="en-US" dirty="0"/>
              <a:t>Episodic memories are a collection of relations</a:t>
            </a:r>
          </a:p>
          <a:p>
            <a:pPr lvl="1"/>
            <a:r>
              <a:rPr lang="en-US" dirty="0"/>
              <a:t>Hence, these analyses can be thought of as investigating how episodic memories are represented</a:t>
            </a:r>
          </a:p>
          <a:p>
            <a:pPr lvl="1"/>
            <a:r>
              <a:rPr lang="en-US" dirty="0"/>
              <a:t>Next study idea gets at this more directly</a:t>
            </a:r>
          </a:p>
        </p:txBody>
      </p:sp>
      <p:sp>
        <p:nvSpPr>
          <p:cNvPr id="4" name="Rectangle 3">
            <a:extLst>
              <a:ext uri="{FF2B5EF4-FFF2-40B4-BE49-F238E27FC236}">
                <a16:creationId xmlns:a16="http://schemas.microsoft.com/office/drawing/2014/main" id="{FDBF3C6D-B660-C17C-2B5B-795C7A7B7582}"/>
              </a:ext>
            </a:extLst>
          </p:cNvPr>
          <p:cNvSpPr/>
          <p:nvPr/>
        </p:nvSpPr>
        <p:spPr>
          <a:xfrm>
            <a:off x="10553105" y="2257517"/>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8A88778-4B6F-9AC2-440C-F530F417C710}"/>
              </a:ext>
            </a:extLst>
          </p:cNvPr>
          <p:cNvSpPr/>
          <p:nvPr/>
        </p:nvSpPr>
        <p:spPr>
          <a:xfrm>
            <a:off x="10553105" y="2602363"/>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A9E2092-67CF-8421-3AD9-80A89F553190}"/>
              </a:ext>
            </a:extLst>
          </p:cNvPr>
          <p:cNvSpPr/>
          <p:nvPr/>
        </p:nvSpPr>
        <p:spPr>
          <a:xfrm>
            <a:off x="10553105"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22DD7A5-E55C-B1E1-C758-78048607D6C8}"/>
              </a:ext>
            </a:extLst>
          </p:cNvPr>
          <p:cNvSpPr/>
          <p:nvPr/>
        </p:nvSpPr>
        <p:spPr>
          <a:xfrm>
            <a:off x="9875491" y="2257517"/>
            <a:ext cx="279400" cy="279400"/>
          </a:xfrm>
          <a:prstGeom prst="rect">
            <a:avLst/>
          </a:prstGeom>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12D4D7B-0256-D4EE-CAD6-26EEA20F3A70}"/>
              </a:ext>
            </a:extLst>
          </p:cNvPr>
          <p:cNvSpPr/>
          <p:nvPr/>
        </p:nvSpPr>
        <p:spPr>
          <a:xfrm>
            <a:off x="9875491"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BE8971E-8D20-D3DD-C43B-380ECB52CEC0}"/>
              </a:ext>
            </a:extLst>
          </p:cNvPr>
          <p:cNvSpPr/>
          <p:nvPr/>
        </p:nvSpPr>
        <p:spPr>
          <a:xfrm>
            <a:off x="9875491"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664B0C-1AD4-A832-0A4A-1445F382F157}"/>
              </a:ext>
            </a:extLst>
          </p:cNvPr>
          <p:cNvSpPr/>
          <p:nvPr/>
        </p:nvSpPr>
        <p:spPr>
          <a:xfrm>
            <a:off x="10214298" y="2257517"/>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64A2850-D63C-440B-75C6-849B097228DA}"/>
              </a:ext>
            </a:extLst>
          </p:cNvPr>
          <p:cNvSpPr/>
          <p:nvPr/>
        </p:nvSpPr>
        <p:spPr>
          <a:xfrm>
            <a:off x="10214298" y="2602363"/>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DF3E3BD-CD80-5FC0-D7CD-A00A709AAD46}"/>
              </a:ext>
            </a:extLst>
          </p:cNvPr>
          <p:cNvSpPr/>
          <p:nvPr/>
        </p:nvSpPr>
        <p:spPr>
          <a:xfrm>
            <a:off x="10214298" y="3292055"/>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324FBB5-844A-47D3-D0B5-10A22116543B}"/>
              </a:ext>
            </a:extLst>
          </p:cNvPr>
          <p:cNvSpPr/>
          <p:nvPr/>
        </p:nvSpPr>
        <p:spPr>
          <a:xfrm>
            <a:off x="9540777" y="2602363"/>
            <a:ext cx="279400" cy="279400"/>
          </a:xfrm>
          <a:prstGeom prst="rect">
            <a:avLst/>
          </a:prstGeom>
          <a:solidFill>
            <a:schemeClr val="tx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68420B5-7618-A2B4-225B-C7CEFF57EBB5}"/>
              </a:ext>
            </a:extLst>
          </p:cNvPr>
          <p:cNvSpPr/>
          <p:nvPr/>
        </p:nvSpPr>
        <p:spPr>
          <a:xfrm>
            <a:off x="9540777"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101E58D-C935-4CA1-77F2-B7022FC8CA9D}"/>
              </a:ext>
            </a:extLst>
          </p:cNvPr>
          <p:cNvSpPr/>
          <p:nvPr/>
        </p:nvSpPr>
        <p:spPr>
          <a:xfrm>
            <a:off x="9540777"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C8388321-71D9-0DBE-36CB-F05BA1506E6F}"/>
              </a:ext>
            </a:extLst>
          </p:cNvPr>
          <p:cNvSpPr/>
          <p:nvPr/>
        </p:nvSpPr>
        <p:spPr>
          <a:xfrm>
            <a:off x="8607031" y="5029358"/>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705EEE63-8202-28E6-6E72-272FFFA9EB40}"/>
              </a:ext>
            </a:extLst>
          </p:cNvPr>
          <p:cNvSpPr txBox="1"/>
          <p:nvPr/>
        </p:nvSpPr>
        <p:spPr>
          <a:xfrm>
            <a:off x="8680380" y="5066799"/>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X</a:t>
            </a:r>
          </a:p>
        </p:txBody>
      </p:sp>
      <p:sp>
        <p:nvSpPr>
          <p:cNvPr id="38" name="Oval 37">
            <a:extLst>
              <a:ext uri="{FF2B5EF4-FFF2-40B4-BE49-F238E27FC236}">
                <a16:creationId xmlns:a16="http://schemas.microsoft.com/office/drawing/2014/main" id="{789B1782-EE66-AED0-E92B-BA52A3A6842E}"/>
              </a:ext>
            </a:extLst>
          </p:cNvPr>
          <p:cNvSpPr/>
          <p:nvPr/>
        </p:nvSpPr>
        <p:spPr>
          <a:xfrm>
            <a:off x="9448527" y="5029358"/>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FD1CF775-97D0-072F-2A7A-F9E789B6C6F3}"/>
              </a:ext>
            </a:extLst>
          </p:cNvPr>
          <p:cNvSpPr txBox="1"/>
          <p:nvPr/>
        </p:nvSpPr>
        <p:spPr>
          <a:xfrm>
            <a:off x="9521876" y="5066799"/>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A</a:t>
            </a:r>
          </a:p>
        </p:txBody>
      </p:sp>
      <p:sp>
        <p:nvSpPr>
          <p:cNvPr id="40" name="Oval 39">
            <a:extLst>
              <a:ext uri="{FF2B5EF4-FFF2-40B4-BE49-F238E27FC236}">
                <a16:creationId xmlns:a16="http://schemas.microsoft.com/office/drawing/2014/main" id="{FC85FC39-DA9D-00FE-4FAA-70B2AA4BAA24}"/>
              </a:ext>
            </a:extLst>
          </p:cNvPr>
          <p:cNvSpPr/>
          <p:nvPr/>
        </p:nvSpPr>
        <p:spPr>
          <a:xfrm>
            <a:off x="9470145" y="5801434"/>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5CC7CDDD-D8E5-F9EF-DF95-90A108F895DD}"/>
              </a:ext>
            </a:extLst>
          </p:cNvPr>
          <p:cNvSpPr txBox="1"/>
          <p:nvPr/>
        </p:nvSpPr>
        <p:spPr>
          <a:xfrm>
            <a:off x="9543494" y="5838875"/>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B</a:t>
            </a:r>
          </a:p>
        </p:txBody>
      </p:sp>
      <p:sp>
        <p:nvSpPr>
          <p:cNvPr id="42" name="Oval 41">
            <a:extLst>
              <a:ext uri="{FF2B5EF4-FFF2-40B4-BE49-F238E27FC236}">
                <a16:creationId xmlns:a16="http://schemas.microsoft.com/office/drawing/2014/main" id="{89B791A3-31B1-DB90-6526-B9E3C8704323}"/>
              </a:ext>
            </a:extLst>
          </p:cNvPr>
          <p:cNvSpPr/>
          <p:nvPr/>
        </p:nvSpPr>
        <p:spPr>
          <a:xfrm>
            <a:off x="8629702" y="5801434"/>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825D2BD6-DE44-B163-74EF-5028EC303B9E}"/>
              </a:ext>
            </a:extLst>
          </p:cNvPr>
          <p:cNvSpPr txBox="1"/>
          <p:nvPr/>
        </p:nvSpPr>
        <p:spPr>
          <a:xfrm>
            <a:off x="8703051" y="5838875"/>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Y</a:t>
            </a:r>
          </a:p>
        </p:txBody>
      </p:sp>
      <p:sp>
        <p:nvSpPr>
          <p:cNvPr id="44" name="Oval 43">
            <a:extLst>
              <a:ext uri="{FF2B5EF4-FFF2-40B4-BE49-F238E27FC236}">
                <a16:creationId xmlns:a16="http://schemas.microsoft.com/office/drawing/2014/main" id="{96076ABD-1E63-ED73-8BEB-C53EF3B91F68}"/>
              </a:ext>
            </a:extLst>
          </p:cNvPr>
          <p:cNvSpPr/>
          <p:nvPr/>
        </p:nvSpPr>
        <p:spPr>
          <a:xfrm>
            <a:off x="9849048" y="4205299"/>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7D86D83E-9906-058E-3F12-15C3CF860722}"/>
              </a:ext>
            </a:extLst>
          </p:cNvPr>
          <p:cNvSpPr txBox="1"/>
          <p:nvPr/>
        </p:nvSpPr>
        <p:spPr>
          <a:xfrm>
            <a:off x="9922397" y="4242740"/>
            <a:ext cx="372218"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Z</a:t>
            </a:r>
          </a:p>
        </p:txBody>
      </p:sp>
      <p:sp>
        <p:nvSpPr>
          <p:cNvPr id="46" name="Oval 45">
            <a:extLst>
              <a:ext uri="{FF2B5EF4-FFF2-40B4-BE49-F238E27FC236}">
                <a16:creationId xmlns:a16="http://schemas.microsoft.com/office/drawing/2014/main" id="{600E4950-30D4-AC28-E0D7-DCBA2B5BE491}"/>
              </a:ext>
            </a:extLst>
          </p:cNvPr>
          <p:cNvSpPr/>
          <p:nvPr/>
        </p:nvSpPr>
        <p:spPr>
          <a:xfrm>
            <a:off x="10268877" y="5029358"/>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D58B61A9-7739-7966-ED9C-89D1AF245104}"/>
              </a:ext>
            </a:extLst>
          </p:cNvPr>
          <p:cNvSpPr txBox="1"/>
          <p:nvPr/>
        </p:nvSpPr>
        <p:spPr>
          <a:xfrm>
            <a:off x="10342226" y="5066799"/>
            <a:ext cx="407484"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C</a:t>
            </a:r>
          </a:p>
        </p:txBody>
      </p:sp>
      <p:sp>
        <p:nvSpPr>
          <p:cNvPr id="48" name="Oval 47">
            <a:extLst>
              <a:ext uri="{FF2B5EF4-FFF2-40B4-BE49-F238E27FC236}">
                <a16:creationId xmlns:a16="http://schemas.microsoft.com/office/drawing/2014/main" id="{333888F6-6619-0F88-1CAF-B70F7B2FE31E}"/>
              </a:ext>
            </a:extLst>
          </p:cNvPr>
          <p:cNvSpPr/>
          <p:nvPr/>
        </p:nvSpPr>
        <p:spPr>
          <a:xfrm>
            <a:off x="10274536" y="5801434"/>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11B1BD2B-8C7F-9FC4-B4BD-97747EAAB477}"/>
              </a:ext>
            </a:extLst>
          </p:cNvPr>
          <p:cNvSpPr txBox="1"/>
          <p:nvPr/>
        </p:nvSpPr>
        <p:spPr>
          <a:xfrm>
            <a:off x="10347885" y="5838875"/>
            <a:ext cx="407484"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D</a:t>
            </a:r>
          </a:p>
        </p:txBody>
      </p:sp>
      <p:sp>
        <p:nvSpPr>
          <p:cNvPr id="50" name="Oval 49">
            <a:extLst>
              <a:ext uri="{FF2B5EF4-FFF2-40B4-BE49-F238E27FC236}">
                <a16:creationId xmlns:a16="http://schemas.microsoft.com/office/drawing/2014/main" id="{103DDC47-CED6-F7DE-F25E-8E31A1929F13}"/>
              </a:ext>
            </a:extLst>
          </p:cNvPr>
          <p:cNvSpPr/>
          <p:nvPr/>
        </p:nvSpPr>
        <p:spPr>
          <a:xfrm>
            <a:off x="11027927" y="5395513"/>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37A36E92-D9C3-11FA-5C24-7B4ABBA33867}"/>
              </a:ext>
            </a:extLst>
          </p:cNvPr>
          <p:cNvSpPr txBox="1"/>
          <p:nvPr/>
        </p:nvSpPr>
        <p:spPr>
          <a:xfrm>
            <a:off x="11056032" y="5432954"/>
            <a:ext cx="47481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W</a:t>
            </a:r>
          </a:p>
        </p:txBody>
      </p:sp>
      <p:cxnSp>
        <p:nvCxnSpPr>
          <p:cNvPr id="53" name="Straight Connector 52">
            <a:extLst>
              <a:ext uri="{FF2B5EF4-FFF2-40B4-BE49-F238E27FC236}">
                <a16:creationId xmlns:a16="http://schemas.microsoft.com/office/drawing/2014/main" id="{144747FC-D0C2-3B16-8166-D411F98FC19B}"/>
              </a:ext>
            </a:extLst>
          </p:cNvPr>
          <p:cNvCxnSpPr>
            <a:stCxn id="36" idx="6"/>
            <a:endCxn id="38" idx="2"/>
          </p:cNvCxnSpPr>
          <p:nvPr/>
        </p:nvCxnSpPr>
        <p:spPr>
          <a:xfrm>
            <a:off x="9143579" y="5297632"/>
            <a:ext cx="3049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53A3E79-390D-4B5A-B692-95009541C95B}"/>
              </a:ext>
            </a:extLst>
          </p:cNvPr>
          <p:cNvCxnSpPr>
            <a:cxnSpLocks/>
            <a:stCxn id="42" idx="7"/>
            <a:endCxn id="38" idx="3"/>
          </p:cNvCxnSpPr>
          <p:nvPr/>
        </p:nvCxnSpPr>
        <p:spPr>
          <a:xfrm flipV="1">
            <a:off x="9087674" y="5487330"/>
            <a:ext cx="439429" cy="3926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5D56D2D-5E10-ED63-B334-3E85E8184159}"/>
              </a:ext>
            </a:extLst>
          </p:cNvPr>
          <p:cNvCxnSpPr>
            <a:cxnSpLocks/>
            <a:stCxn id="36" idx="5"/>
            <a:endCxn id="40" idx="1"/>
          </p:cNvCxnSpPr>
          <p:nvPr/>
        </p:nvCxnSpPr>
        <p:spPr>
          <a:xfrm>
            <a:off x="9065003" y="5487330"/>
            <a:ext cx="483718" cy="3926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D9080E0-3EF4-49B3-96E2-02D3BD3962DE}"/>
              </a:ext>
            </a:extLst>
          </p:cNvPr>
          <p:cNvCxnSpPr>
            <a:cxnSpLocks/>
            <a:stCxn id="42" idx="6"/>
            <a:endCxn id="40" idx="2"/>
          </p:cNvCxnSpPr>
          <p:nvPr/>
        </p:nvCxnSpPr>
        <p:spPr>
          <a:xfrm>
            <a:off x="9166250" y="6069708"/>
            <a:ext cx="3038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1064F49-9203-DC6C-8279-E9DD938830F9}"/>
              </a:ext>
            </a:extLst>
          </p:cNvPr>
          <p:cNvCxnSpPr>
            <a:cxnSpLocks/>
            <a:stCxn id="38" idx="0"/>
            <a:endCxn id="44" idx="3"/>
          </p:cNvCxnSpPr>
          <p:nvPr/>
        </p:nvCxnSpPr>
        <p:spPr>
          <a:xfrm flipV="1">
            <a:off x="9716801" y="4663271"/>
            <a:ext cx="210823" cy="366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0E7AEF6-3C0C-E5CA-8978-89FEA273ADA1}"/>
              </a:ext>
            </a:extLst>
          </p:cNvPr>
          <p:cNvCxnSpPr>
            <a:cxnSpLocks/>
            <a:stCxn id="46" idx="0"/>
            <a:endCxn id="44" idx="5"/>
          </p:cNvCxnSpPr>
          <p:nvPr/>
        </p:nvCxnSpPr>
        <p:spPr>
          <a:xfrm flipH="1" flipV="1">
            <a:off x="10307020" y="4663271"/>
            <a:ext cx="230131" cy="366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B1F8FA34-5D35-27C0-0AE1-8324D1CEE3D4}"/>
              </a:ext>
            </a:extLst>
          </p:cNvPr>
          <p:cNvCxnSpPr>
            <a:cxnSpLocks/>
            <a:stCxn id="50" idx="1"/>
            <a:endCxn id="46" idx="6"/>
          </p:cNvCxnSpPr>
          <p:nvPr/>
        </p:nvCxnSpPr>
        <p:spPr>
          <a:xfrm flipH="1" flipV="1">
            <a:off x="10805425" y="5297632"/>
            <a:ext cx="301078" cy="176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8A89B42-EB7C-E614-2774-538101CEAB3B}"/>
              </a:ext>
            </a:extLst>
          </p:cNvPr>
          <p:cNvCxnSpPr>
            <a:cxnSpLocks/>
            <a:stCxn id="50" idx="3"/>
            <a:endCxn id="48" idx="6"/>
          </p:cNvCxnSpPr>
          <p:nvPr/>
        </p:nvCxnSpPr>
        <p:spPr>
          <a:xfrm flipH="1">
            <a:off x="10811084" y="5853485"/>
            <a:ext cx="295419" cy="2162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003C2457-615B-AF87-DCB7-B3F5162D6AD3}"/>
              </a:ext>
            </a:extLst>
          </p:cNvPr>
          <p:cNvSpPr txBox="1"/>
          <p:nvPr/>
        </p:nvSpPr>
        <p:spPr>
          <a:xfrm>
            <a:off x="9157764" y="2215080"/>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79" name="TextBox 78">
            <a:extLst>
              <a:ext uri="{FF2B5EF4-FFF2-40B4-BE49-F238E27FC236}">
                <a16:creationId xmlns:a16="http://schemas.microsoft.com/office/drawing/2014/main" id="{377EB0A3-04A5-DE44-A5D9-DE15F27F28D0}"/>
              </a:ext>
            </a:extLst>
          </p:cNvPr>
          <p:cNvSpPr txBox="1"/>
          <p:nvPr/>
        </p:nvSpPr>
        <p:spPr>
          <a:xfrm>
            <a:off x="9157764" y="2559148"/>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
        <p:nvSpPr>
          <p:cNvPr id="80" name="TextBox 79">
            <a:extLst>
              <a:ext uri="{FF2B5EF4-FFF2-40B4-BE49-F238E27FC236}">
                <a16:creationId xmlns:a16="http://schemas.microsoft.com/office/drawing/2014/main" id="{803769A3-A6EC-BC2C-D673-400D799E22FC}"/>
              </a:ext>
            </a:extLst>
          </p:cNvPr>
          <p:cNvSpPr txBox="1"/>
          <p:nvPr/>
        </p:nvSpPr>
        <p:spPr>
          <a:xfrm>
            <a:off x="9157764" y="2903216"/>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1" name="TextBox 80">
            <a:extLst>
              <a:ext uri="{FF2B5EF4-FFF2-40B4-BE49-F238E27FC236}">
                <a16:creationId xmlns:a16="http://schemas.microsoft.com/office/drawing/2014/main" id="{ADEA4B86-F02E-1403-A930-51B0E3F5C7F5}"/>
              </a:ext>
            </a:extLst>
          </p:cNvPr>
          <p:cNvSpPr txBox="1"/>
          <p:nvPr/>
        </p:nvSpPr>
        <p:spPr>
          <a:xfrm>
            <a:off x="9122323" y="3247285"/>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2" name="TextBox 81">
            <a:extLst>
              <a:ext uri="{FF2B5EF4-FFF2-40B4-BE49-F238E27FC236}">
                <a16:creationId xmlns:a16="http://schemas.microsoft.com/office/drawing/2014/main" id="{F5B6834D-C8A0-C636-3059-193EFF59E29D}"/>
              </a:ext>
            </a:extLst>
          </p:cNvPr>
          <p:cNvSpPr txBox="1"/>
          <p:nvPr/>
        </p:nvSpPr>
        <p:spPr>
          <a:xfrm>
            <a:off x="9510494"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83" name="TextBox 82">
            <a:extLst>
              <a:ext uri="{FF2B5EF4-FFF2-40B4-BE49-F238E27FC236}">
                <a16:creationId xmlns:a16="http://schemas.microsoft.com/office/drawing/2014/main" id="{332C7A99-C6A8-CA6E-ACC0-7B7B99944B15}"/>
              </a:ext>
            </a:extLst>
          </p:cNvPr>
          <p:cNvSpPr txBox="1"/>
          <p:nvPr/>
        </p:nvSpPr>
        <p:spPr>
          <a:xfrm>
            <a:off x="10488414" y="1873061"/>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4" name="TextBox 83">
            <a:extLst>
              <a:ext uri="{FF2B5EF4-FFF2-40B4-BE49-F238E27FC236}">
                <a16:creationId xmlns:a16="http://schemas.microsoft.com/office/drawing/2014/main" id="{C061AB7A-92A7-7DDE-8026-4EF9237D1092}"/>
              </a:ext>
            </a:extLst>
          </p:cNvPr>
          <p:cNvSpPr txBox="1"/>
          <p:nvPr/>
        </p:nvSpPr>
        <p:spPr>
          <a:xfrm>
            <a:off x="10184032"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5" name="TextBox 84">
            <a:extLst>
              <a:ext uri="{FF2B5EF4-FFF2-40B4-BE49-F238E27FC236}">
                <a16:creationId xmlns:a16="http://schemas.microsoft.com/office/drawing/2014/main" id="{D0F36D53-F16E-9E07-865A-3EAD8453B0D0}"/>
              </a:ext>
            </a:extLst>
          </p:cNvPr>
          <p:cNvSpPr txBox="1"/>
          <p:nvPr/>
        </p:nvSpPr>
        <p:spPr>
          <a:xfrm>
            <a:off x="9847263"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269818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722C3-F583-BF77-2450-11AFE2621D30}"/>
              </a:ext>
            </a:extLst>
          </p:cNvPr>
          <p:cNvSpPr>
            <a:spLocks noGrp="1"/>
          </p:cNvSpPr>
          <p:nvPr>
            <p:ph type="title"/>
          </p:nvPr>
        </p:nvSpPr>
        <p:spPr>
          <a:xfrm>
            <a:off x="514713" y="142977"/>
            <a:ext cx="11053173" cy="1325563"/>
          </a:xfrm>
        </p:spPr>
        <p:txBody>
          <a:bodyPr>
            <a:normAutofit/>
          </a:bodyPr>
          <a:lstStyle/>
          <a:p>
            <a:r>
              <a:rPr lang="en-US" sz="4000" dirty="0"/>
              <a:t>(Beyond the task) </a:t>
            </a:r>
            <a:br>
              <a:rPr lang="en-US" sz="4000" dirty="0"/>
            </a:br>
            <a:r>
              <a:rPr lang="en-US" sz="4000" dirty="0"/>
              <a:t>Older adults prototype rather than generalize</a:t>
            </a:r>
          </a:p>
        </p:txBody>
      </p:sp>
      <p:sp>
        <p:nvSpPr>
          <p:cNvPr id="3" name="Content Placeholder 2">
            <a:extLst>
              <a:ext uri="{FF2B5EF4-FFF2-40B4-BE49-F238E27FC236}">
                <a16:creationId xmlns:a16="http://schemas.microsoft.com/office/drawing/2014/main" id="{20DB8345-CF6A-C2AB-94BA-1A4AE2D2E46B}"/>
              </a:ext>
            </a:extLst>
          </p:cNvPr>
          <p:cNvSpPr>
            <a:spLocks noGrp="1"/>
          </p:cNvSpPr>
          <p:nvPr>
            <p:ph idx="1"/>
          </p:nvPr>
        </p:nvSpPr>
        <p:spPr>
          <a:xfrm>
            <a:off x="514713" y="1623321"/>
            <a:ext cx="4790678" cy="2065811"/>
          </a:xfrm>
        </p:spPr>
        <p:txBody>
          <a:bodyPr>
            <a:normAutofit/>
          </a:bodyPr>
          <a:lstStyle/>
          <a:p>
            <a:r>
              <a:rPr lang="en-US" i="1" dirty="0"/>
              <a:t>Prototyping</a:t>
            </a:r>
            <a:r>
              <a:rPr lang="en-US" dirty="0"/>
              <a:t> = link stimuli to a previous similar “prototypical” stimulus</a:t>
            </a:r>
          </a:p>
        </p:txBody>
      </p:sp>
      <p:sp>
        <p:nvSpPr>
          <p:cNvPr id="4" name="Oval 3">
            <a:extLst>
              <a:ext uri="{FF2B5EF4-FFF2-40B4-BE49-F238E27FC236}">
                <a16:creationId xmlns:a16="http://schemas.microsoft.com/office/drawing/2014/main" id="{560AA76F-12E0-9B5C-35A7-E6E8EA1094B7}"/>
              </a:ext>
            </a:extLst>
          </p:cNvPr>
          <p:cNvSpPr/>
          <p:nvPr/>
        </p:nvSpPr>
        <p:spPr>
          <a:xfrm>
            <a:off x="2928308" y="4876698"/>
            <a:ext cx="323850" cy="323850"/>
          </a:xfrm>
          <a:prstGeom prst="ellipse">
            <a:avLst/>
          </a:prstGeom>
          <a:solidFill>
            <a:srgbClr val="FF0000"/>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A5430B2B-2DD5-EEE6-6847-852506D6858E}"/>
              </a:ext>
            </a:extLst>
          </p:cNvPr>
          <p:cNvSpPr/>
          <p:nvPr/>
        </p:nvSpPr>
        <p:spPr>
          <a:xfrm>
            <a:off x="3785558" y="48766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7AFF95E-6A3F-CB36-7A75-AEA58DC1B26D}"/>
              </a:ext>
            </a:extLst>
          </p:cNvPr>
          <p:cNvSpPr/>
          <p:nvPr/>
        </p:nvSpPr>
        <p:spPr>
          <a:xfrm>
            <a:off x="2928308" y="5720455"/>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7F8E08E-C0E1-81D7-939E-57AAB82954EA}"/>
              </a:ext>
            </a:extLst>
          </p:cNvPr>
          <p:cNvSpPr/>
          <p:nvPr/>
        </p:nvSpPr>
        <p:spPr>
          <a:xfrm>
            <a:off x="2071058" y="48766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8FDF158-64A6-9669-501B-3ADD66A32264}"/>
              </a:ext>
            </a:extLst>
          </p:cNvPr>
          <p:cNvSpPr/>
          <p:nvPr/>
        </p:nvSpPr>
        <p:spPr>
          <a:xfrm>
            <a:off x="2928308" y="40384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4A56725E-D96E-7F5F-73B4-EA3470F0F50A}"/>
              </a:ext>
            </a:extLst>
          </p:cNvPr>
          <p:cNvCxnSpPr>
            <a:stCxn id="8" idx="4"/>
            <a:endCxn id="4" idx="0"/>
          </p:cNvCxnSpPr>
          <p:nvPr/>
        </p:nvCxnSpPr>
        <p:spPr>
          <a:xfrm>
            <a:off x="3090233" y="4362348"/>
            <a:ext cx="0" cy="51435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E33AB7A-28B5-0F0F-F41B-0BBDA8BAA4A4}"/>
              </a:ext>
            </a:extLst>
          </p:cNvPr>
          <p:cNvCxnSpPr>
            <a:cxnSpLocks/>
            <a:stCxn id="5" idx="2"/>
            <a:endCxn id="4" idx="6"/>
          </p:cNvCxnSpPr>
          <p:nvPr/>
        </p:nvCxnSpPr>
        <p:spPr>
          <a:xfrm flipH="1">
            <a:off x="3252158" y="50386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8D9173-BE1D-FE81-5C8A-2108C02B40B5}"/>
              </a:ext>
            </a:extLst>
          </p:cNvPr>
          <p:cNvCxnSpPr>
            <a:cxnSpLocks/>
            <a:stCxn id="4" idx="2"/>
            <a:endCxn id="7" idx="6"/>
          </p:cNvCxnSpPr>
          <p:nvPr/>
        </p:nvCxnSpPr>
        <p:spPr>
          <a:xfrm flipH="1">
            <a:off x="2394908" y="50386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AE00385-7B99-C91B-3639-B3CC96545AC2}"/>
              </a:ext>
            </a:extLst>
          </p:cNvPr>
          <p:cNvCxnSpPr>
            <a:cxnSpLocks/>
            <a:stCxn id="4" idx="4"/>
            <a:endCxn id="6" idx="0"/>
          </p:cNvCxnSpPr>
          <p:nvPr/>
        </p:nvCxnSpPr>
        <p:spPr>
          <a:xfrm>
            <a:off x="3090233" y="5200548"/>
            <a:ext cx="0" cy="519907"/>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B1BA51E1-2FE7-42F1-EF00-C4EB494EAA1C}"/>
              </a:ext>
            </a:extLst>
          </p:cNvPr>
          <p:cNvSpPr/>
          <p:nvPr/>
        </p:nvSpPr>
        <p:spPr>
          <a:xfrm>
            <a:off x="9966190" y="48089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B05FDE2-2A45-CF35-46EA-8E17C03246A7}"/>
              </a:ext>
            </a:extLst>
          </p:cNvPr>
          <p:cNvSpPr/>
          <p:nvPr/>
        </p:nvSpPr>
        <p:spPr>
          <a:xfrm>
            <a:off x="8651739" y="57064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270C5FB1-826B-D5A3-8E75-CCBAE2A45E43}"/>
              </a:ext>
            </a:extLst>
          </p:cNvPr>
          <p:cNvSpPr/>
          <p:nvPr/>
        </p:nvSpPr>
        <p:spPr>
          <a:xfrm>
            <a:off x="8332652" y="48089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7A143C3-3E5D-442E-2618-C6B0214BC815}"/>
              </a:ext>
            </a:extLst>
          </p:cNvPr>
          <p:cNvSpPr/>
          <p:nvPr/>
        </p:nvSpPr>
        <p:spPr>
          <a:xfrm>
            <a:off x="9642340" y="57064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9A4740C0-CFFD-1208-DC36-283E29289561}"/>
              </a:ext>
            </a:extLst>
          </p:cNvPr>
          <p:cNvSpPr txBox="1"/>
          <p:nvPr/>
        </p:nvSpPr>
        <p:spPr>
          <a:xfrm>
            <a:off x="4501874" y="4735747"/>
            <a:ext cx="3343967" cy="369332"/>
          </a:xfrm>
          <a:prstGeom prst="rect">
            <a:avLst/>
          </a:prstGeom>
          <a:noFill/>
        </p:spPr>
        <p:txBody>
          <a:bodyPr wrap="square" rtlCol="0">
            <a:spAutoFit/>
          </a:bodyPr>
          <a:lstStyle/>
          <a:p>
            <a:pPr algn="ctr"/>
            <a:r>
              <a:rPr lang="en-US" dirty="0">
                <a:solidFill>
                  <a:srgbClr val="FF0000"/>
                </a:solidFill>
                <a:latin typeface="Arial" panose="020B0604020202020204" pitchFamily="34" charset="0"/>
                <a:cs typeface="Arial" panose="020B0604020202020204" pitchFamily="34" charset="0"/>
              </a:rPr>
              <a:t>Red = first stimulus presented</a:t>
            </a:r>
          </a:p>
        </p:txBody>
      </p:sp>
      <p:cxnSp>
        <p:nvCxnSpPr>
          <p:cNvPr id="43" name="Straight Connector 42">
            <a:extLst>
              <a:ext uri="{FF2B5EF4-FFF2-40B4-BE49-F238E27FC236}">
                <a16:creationId xmlns:a16="http://schemas.microsoft.com/office/drawing/2014/main" id="{4A3DCB2C-3AA2-C4FC-EA8E-7653A4D11D6A}"/>
              </a:ext>
            </a:extLst>
          </p:cNvPr>
          <p:cNvCxnSpPr>
            <a:cxnSpLocks/>
          </p:cNvCxnSpPr>
          <p:nvPr/>
        </p:nvCxnSpPr>
        <p:spPr>
          <a:xfrm flipH="1">
            <a:off x="8494577" y="4368460"/>
            <a:ext cx="766762" cy="60245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B19E9CA-9419-89B0-1622-B2F5A8270E93}"/>
              </a:ext>
            </a:extLst>
          </p:cNvPr>
          <p:cNvCxnSpPr>
            <a:cxnSpLocks/>
          </p:cNvCxnSpPr>
          <p:nvPr/>
        </p:nvCxnSpPr>
        <p:spPr>
          <a:xfrm>
            <a:off x="9296463" y="4330596"/>
            <a:ext cx="831652" cy="647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BB28748-1BE6-0707-0748-500C91B5665A}"/>
              </a:ext>
            </a:extLst>
          </p:cNvPr>
          <p:cNvCxnSpPr>
            <a:cxnSpLocks/>
          </p:cNvCxnSpPr>
          <p:nvPr/>
        </p:nvCxnSpPr>
        <p:spPr>
          <a:xfrm>
            <a:off x="8485053" y="4970916"/>
            <a:ext cx="328611" cy="91757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1268FC1-3684-C7AC-5900-B897E53D511C}"/>
              </a:ext>
            </a:extLst>
          </p:cNvPr>
          <p:cNvCxnSpPr>
            <a:cxnSpLocks/>
          </p:cNvCxnSpPr>
          <p:nvPr/>
        </p:nvCxnSpPr>
        <p:spPr>
          <a:xfrm flipH="1">
            <a:off x="9804265" y="4933372"/>
            <a:ext cx="321469" cy="935038"/>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E943AF2-7D15-791B-3284-95898DF339F6}"/>
              </a:ext>
            </a:extLst>
          </p:cNvPr>
          <p:cNvCxnSpPr>
            <a:cxnSpLocks/>
            <a:stCxn id="24" idx="6"/>
            <a:endCxn id="26" idx="2"/>
          </p:cNvCxnSpPr>
          <p:nvPr/>
        </p:nvCxnSpPr>
        <p:spPr>
          <a:xfrm>
            <a:off x="8975589" y="5868410"/>
            <a:ext cx="666751"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D1044BD-5631-4726-D7E7-DB030A7802CD}"/>
              </a:ext>
            </a:extLst>
          </p:cNvPr>
          <p:cNvCxnSpPr>
            <a:cxnSpLocks/>
          </p:cNvCxnSpPr>
          <p:nvPr/>
        </p:nvCxnSpPr>
        <p:spPr>
          <a:xfrm>
            <a:off x="9285152" y="4217647"/>
            <a:ext cx="516732" cy="1670845"/>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8967B1C-1F8F-BB67-DF92-EB0F6C426BB8}"/>
              </a:ext>
            </a:extLst>
          </p:cNvPr>
          <p:cNvCxnSpPr>
            <a:cxnSpLocks/>
          </p:cNvCxnSpPr>
          <p:nvPr/>
        </p:nvCxnSpPr>
        <p:spPr>
          <a:xfrm flipH="1">
            <a:off x="8844025" y="4220028"/>
            <a:ext cx="431603" cy="1668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F80DF87-AA54-0AFE-9745-1D1C092AF1B0}"/>
              </a:ext>
            </a:extLst>
          </p:cNvPr>
          <p:cNvCxnSpPr>
            <a:cxnSpLocks/>
            <a:endCxn id="23" idx="2"/>
          </p:cNvCxnSpPr>
          <p:nvPr/>
        </p:nvCxnSpPr>
        <p:spPr>
          <a:xfrm>
            <a:off x="8494577" y="4970916"/>
            <a:ext cx="1471613"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4814046D-EFAF-197C-DBF8-94DB575D6DAD}"/>
              </a:ext>
            </a:extLst>
          </p:cNvPr>
          <p:cNvCxnSpPr>
            <a:cxnSpLocks/>
          </p:cNvCxnSpPr>
          <p:nvPr/>
        </p:nvCxnSpPr>
        <p:spPr>
          <a:xfrm>
            <a:off x="8494576" y="4978060"/>
            <a:ext cx="1316832" cy="88320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9A92D04E-757F-6E6F-3DAE-44A9DC4916B0}"/>
              </a:ext>
            </a:extLst>
          </p:cNvPr>
          <p:cNvCxnSpPr>
            <a:cxnSpLocks/>
          </p:cNvCxnSpPr>
          <p:nvPr/>
        </p:nvCxnSpPr>
        <p:spPr>
          <a:xfrm flipV="1">
            <a:off x="8808903" y="4970916"/>
            <a:ext cx="1316831" cy="89035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691D4A58-324F-8BEB-C0B3-373A37098E77}"/>
              </a:ext>
            </a:extLst>
          </p:cNvPr>
          <p:cNvSpPr/>
          <p:nvPr/>
        </p:nvSpPr>
        <p:spPr>
          <a:xfrm>
            <a:off x="9120846" y="4194071"/>
            <a:ext cx="323850" cy="323850"/>
          </a:xfrm>
          <a:prstGeom prst="ellipse">
            <a:avLst/>
          </a:prstGeom>
          <a:solidFill>
            <a:srgbClr val="FF0000"/>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Content Placeholder 2">
            <a:extLst>
              <a:ext uri="{FF2B5EF4-FFF2-40B4-BE49-F238E27FC236}">
                <a16:creationId xmlns:a16="http://schemas.microsoft.com/office/drawing/2014/main" id="{25B69ABD-169E-1AAD-8FE4-3582E5292F64}"/>
              </a:ext>
            </a:extLst>
          </p:cNvPr>
          <p:cNvSpPr txBox="1">
            <a:spLocks/>
          </p:cNvSpPr>
          <p:nvPr/>
        </p:nvSpPr>
        <p:spPr>
          <a:xfrm>
            <a:off x="7171808" y="1623321"/>
            <a:ext cx="4790678" cy="20658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i="1" dirty="0"/>
              <a:t>Generalization</a:t>
            </a:r>
            <a:r>
              <a:rPr lang="en-US" dirty="0"/>
              <a:t> = identifying patterns common across multiple stimuli</a:t>
            </a:r>
          </a:p>
        </p:txBody>
      </p:sp>
      <p:sp>
        <p:nvSpPr>
          <p:cNvPr id="86" name="Content Placeholder 2">
            <a:extLst>
              <a:ext uri="{FF2B5EF4-FFF2-40B4-BE49-F238E27FC236}">
                <a16:creationId xmlns:a16="http://schemas.microsoft.com/office/drawing/2014/main" id="{A87C50B1-363B-2E76-CA36-AB9E083D39E6}"/>
              </a:ext>
            </a:extLst>
          </p:cNvPr>
          <p:cNvSpPr txBox="1">
            <a:spLocks/>
          </p:cNvSpPr>
          <p:nvPr/>
        </p:nvSpPr>
        <p:spPr>
          <a:xfrm>
            <a:off x="496457" y="2958717"/>
            <a:ext cx="4808934" cy="9022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May reflect past knowledge influencing encoding</a:t>
            </a:r>
          </a:p>
        </p:txBody>
      </p:sp>
      <p:sp>
        <p:nvSpPr>
          <p:cNvPr id="104" name="Content Placeholder 2">
            <a:extLst>
              <a:ext uri="{FF2B5EF4-FFF2-40B4-BE49-F238E27FC236}">
                <a16:creationId xmlns:a16="http://schemas.microsoft.com/office/drawing/2014/main" id="{907E7BC7-E67C-516E-8D16-F0A2529C4C29}"/>
              </a:ext>
            </a:extLst>
          </p:cNvPr>
          <p:cNvSpPr txBox="1">
            <a:spLocks/>
          </p:cNvSpPr>
          <p:nvPr/>
        </p:nvSpPr>
        <p:spPr>
          <a:xfrm>
            <a:off x="3090233" y="6209938"/>
            <a:ext cx="6623759" cy="5050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Testable behaviorally and via fMRI</a:t>
            </a:r>
          </a:p>
        </p:txBody>
      </p:sp>
    </p:spTree>
    <p:extLst>
      <p:ext uri="{BB962C8B-B14F-4D97-AF65-F5344CB8AC3E}">
        <p14:creationId xmlns:p14="http://schemas.microsoft.com/office/powerpoint/2010/main" val="900971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F125C-B673-982D-DD9A-F86DB2C74097}"/>
              </a:ext>
            </a:extLst>
          </p:cNvPr>
          <p:cNvSpPr>
            <a:spLocks noGrp="1"/>
          </p:cNvSpPr>
          <p:nvPr>
            <p:ph type="title"/>
          </p:nvPr>
        </p:nvSpPr>
        <p:spPr>
          <a:xfrm>
            <a:off x="838200" y="111125"/>
            <a:ext cx="10515600" cy="1325563"/>
          </a:xfrm>
        </p:spPr>
        <p:txBody>
          <a:bodyPr/>
          <a:lstStyle/>
          <a:p>
            <a:r>
              <a:rPr lang="en-US" dirty="0"/>
              <a:t>Analyzing generalizing and prototyping</a:t>
            </a:r>
          </a:p>
        </p:txBody>
      </p:sp>
      <p:sp>
        <p:nvSpPr>
          <p:cNvPr id="3" name="Content Placeholder 2">
            <a:extLst>
              <a:ext uri="{FF2B5EF4-FFF2-40B4-BE49-F238E27FC236}">
                <a16:creationId xmlns:a16="http://schemas.microsoft.com/office/drawing/2014/main" id="{9E498769-61E6-A918-3D54-08726A4D2C1E}"/>
              </a:ext>
            </a:extLst>
          </p:cNvPr>
          <p:cNvSpPr>
            <a:spLocks noGrp="1"/>
          </p:cNvSpPr>
          <p:nvPr>
            <p:ph idx="1"/>
          </p:nvPr>
        </p:nvSpPr>
        <p:spPr>
          <a:xfrm>
            <a:off x="838200" y="1474788"/>
            <a:ext cx="10515600" cy="2259705"/>
          </a:xfrm>
        </p:spPr>
        <p:txBody>
          <a:bodyPr>
            <a:normAutofit/>
          </a:bodyPr>
          <a:lstStyle/>
          <a:p>
            <a:r>
              <a:rPr lang="en-US" dirty="0"/>
              <a:t>5-stimulus group (u, v, w, x, y)</a:t>
            </a:r>
          </a:p>
          <a:p>
            <a:r>
              <a:rPr lang="en-US" dirty="0"/>
              <a:t>During some experiment phase:</a:t>
            </a:r>
          </a:p>
          <a:p>
            <a:pPr lvl="1"/>
            <a:r>
              <a:rPr lang="en-US" dirty="0"/>
              <a:t>Measure pairwise correlations among </a:t>
            </a:r>
            <a:r>
              <a:rPr lang="en-US" b="1" dirty="0">
                <a:latin typeface="Times New Roman" panose="02020603050405020304" pitchFamily="18" charset="0"/>
                <a:cs typeface="Times New Roman" panose="02020603050405020304" pitchFamily="18" charset="0"/>
              </a:rPr>
              <a:t>u</a:t>
            </a:r>
            <a:r>
              <a:rPr lang="en-US" dirty="0"/>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a:t>
            </a:r>
            <a:r>
              <a:rPr lang="en-US" dirty="0"/>
              <a:t>,</a:t>
            </a:r>
            <a:r>
              <a:rPr lang="en-US" b="1" dirty="0">
                <a:latin typeface="Times New Roman" panose="02020603050405020304" pitchFamily="18" charset="0"/>
                <a:cs typeface="Times New Roman" panose="02020603050405020304" pitchFamily="18" charset="0"/>
              </a:rPr>
              <a:t> w</a:t>
            </a:r>
            <a:r>
              <a:rPr lang="en-US" dirty="0"/>
              <a:t>,</a:t>
            </a:r>
            <a:r>
              <a:rPr lang="en-US" b="1" dirty="0">
                <a:latin typeface="Times New Roman" panose="02020603050405020304" pitchFamily="18" charset="0"/>
                <a:cs typeface="Times New Roman" panose="02020603050405020304" pitchFamily="18" charset="0"/>
              </a:rPr>
              <a:t> x</a:t>
            </a:r>
            <a:r>
              <a:rPr lang="en-US" dirty="0"/>
              <a:t>, and</a:t>
            </a:r>
            <a:r>
              <a:rPr lang="en-US" b="1" dirty="0">
                <a:latin typeface="Times New Roman" panose="02020603050405020304" pitchFamily="18" charset="0"/>
                <a:cs typeface="Times New Roman" panose="02020603050405020304" pitchFamily="18" charset="0"/>
              </a:rPr>
              <a:t> y</a:t>
            </a:r>
          </a:p>
          <a:p>
            <a:pPr lvl="1"/>
            <a:r>
              <a:rPr lang="en-US" dirty="0"/>
              <a:t>Examine whether the correlations are more consistent with the diagram on the left vs. right </a:t>
            </a:r>
          </a:p>
        </p:txBody>
      </p:sp>
      <p:sp>
        <p:nvSpPr>
          <p:cNvPr id="58" name="Oval 57">
            <a:extLst>
              <a:ext uri="{FF2B5EF4-FFF2-40B4-BE49-F238E27FC236}">
                <a16:creationId xmlns:a16="http://schemas.microsoft.com/office/drawing/2014/main" id="{EC65C6F7-DB57-D3EF-87C6-3487973EC713}"/>
              </a:ext>
            </a:extLst>
          </p:cNvPr>
          <p:cNvSpPr/>
          <p:nvPr/>
        </p:nvSpPr>
        <p:spPr>
          <a:xfrm>
            <a:off x="296640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BE75BD44-8CEB-99B8-7CCD-793D69A1935A}"/>
              </a:ext>
            </a:extLst>
          </p:cNvPr>
          <p:cNvSpPr/>
          <p:nvPr/>
        </p:nvSpPr>
        <p:spPr>
          <a:xfrm>
            <a:off x="382365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DC45F2BA-01B0-2931-0525-96EB1D7755AC}"/>
              </a:ext>
            </a:extLst>
          </p:cNvPr>
          <p:cNvSpPr/>
          <p:nvPr/>
        </p:nvSpPr>
        <p:spPr>
          <a:xfrm>
            <a:off x="2966408" y="5707755"/>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479E233D-BFE2-A289-47DF-11FC5ED85E55}"/>
              </a:ext>
            </a:extLst>
          </p:cNvPr>
          <p:cNvSpPr/>
          <p:nvPr/>
        </p:nvSpPr>
        <p:spPr>
          <a:xfrm>
            <a:off x="210915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05F6DFB9-A5BF-D5D2-1BB8-1D6FCB36A2B0}"/>
              </a:ext>
            </a:extLst>
          </p:cNvPr>
          <p:cNvSpPr/>
          <p:nvPr/>
        </p:nvSpPr>
        <p:spPr>
          <a:xfrm>
            <a:off x="2966408" y="40257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908CB9C4-F8B7-9C0F-C730-9663AFE76357}"/>
              </a:ext>
            </a:extLst>
          </p:cNvPr>
          <p:cNvCxnSpPr>
            <a:stCxn id="62" idx="4"/>
            <a:endCxn id="58" idx="0"/>
          </p:cNvCxnSpPr>
          <p:nvPr/>
        </p:nvCxnSpPr>
        <p:spPr>
          <a:xfrm>
            <a:off x="3128333" y="4349648"/>
            <a:ext cx="0" cy="51435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A61A38C-3516-99C2-516F-5B9BFC6B7CA6}"/>
              </a:ext>
            </a:extLst>
          </p:cNvPr>
          <p:cNvCxnSpPr>
            <a:cxnSpLocks/>
            <a:stCxn id="59" idx="2"/>
            <a:endCxn id="58" idx="6"/>
          </p:cNvCxnSpPr>
          <p:nvPr/>
        </p:nvCxnSpPr>
        <p:spPr>
          <a:xfrm flipH="1">
            <a:off x="3290258" y="50259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D38F946-12D8-AFA3-CFCF-5CDC56B95945}"/>
              </a:ext>
            </a:extLst>
          </p:cNvPr>
          <p:cNvCxnSpPr>
            <a:cxnSpLocks/>
            <a:stCxn id="58" idx="2"/>
            <a:endCxn id="61" idx="6"/>
          </p:cNvCxnSpPr>
          <p:nvPr/>
        </p:nvCxnSpPr>
        <p:spPr>
          <a:xfrm flipH="1">
            <a:off x="2433008" y="50259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C4AF690-7385-9367-BE36-AD46D9FAB915}"/>
              </a:ext>
            </a:extLst>
          </p:cNvPr>
          <p:cNvCxnSpPr>
            <a:cxnSpLocks/>
            <a:stCxn id="58" idx="4"/>
            <a:endCxn id="60" idx="0"/>
          </p:cNvCxnSpPr>
          <p:nvPr/>
        </p:nvCxnSpPr>
        <p:spPr>
          <a:xfrm>
            <a:off x="3128333" y="5187848"/>
            <a:ext cx="0" cy="519907"/>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53D65922-7944-FFFE-D1BB-3268FABF5404}"/>
              </a:ext>
            </a:extLst>
          </p:cNvPr>
          <p:cNvSpPr/>
          <p:nvPr/>
        </p:nvSpPr>
        <p:spPr>
          <a:xfrm>
            <a:off x="10004290" y="47962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69A02E6D-377E-00F6-3771-05612AB8F0A4}"/>
              </a:ext>
            </a:extLst>
          </p:cNvPr>
          <p:cNvSpPr/>
          <p:nvPr/>
        </p:nvSpPr>
        <p:spPr>
          <a:xfrm>
            <a:off x="8689839" y="56937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BDE8E9D6-5505-152D-9F41-8A5995058952}"/>
              </a:ext>
            </a:extLst>
          </p:cNvPr>
          <p:cNvSpPr/>
          <p:nvPr/>
        </p:nvSpPr>
        <p:spPr>
          <a:xfrm>
            <a:off x="8370752" y="47962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B1916BFD-E075-1AA1-E7F6-3A882F4750EB}"/>
              </a:ext>
            </a:extLst>
          </p:cNvPr>
          <p:cNvSpPr/>
          <p:nvPr/>
        </p:nvSpPr>
        <p:spPr>
          <a:xfrm>
            <a:off x="9680440" y="56937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231F800B-F904-FF1D-4120-26A4F48611D5}"/>
              </a:ext>
            </a:extLst>
          </p:cNvPr>
          <p:cNvCxnSpPr>
            <a:cxnSpLocks/>
          </p:cNvCxnSpPr>
          <p:nvPr/>
        </p:nvCxnSpPr>
        <p:spPr>
          <a:xfrm flipH="1">
            <a:off x="8532677" y="4355760"/>
            <a:ext cx="766762" cy="60245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124F5BC-BD3B-F8C7-EA34-EEB96C4D2D00}"/>
              </a:ext>
            </a:extLst>
          </p:cNvPr>
          <p:cNvCxnSpPr>
            <a:cxnSpLocks/>
          </p:cNvCxnSpPr>
          <p:nvPr/>
        </p:nvCxnSpPr>
        <p:spPr>
          <a:xfrm>
            <a:off x="9334563" y="4317896"/>
            <a:ext cx="831652" cy="647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78D289F2-362C-531F-46BB-200CA4181D03}"/>
              </a:ext>
            </a:extLst>
          </p:cNvPr>
          <p:cNvCxnSpPr>
            <a:cxnSpLocks/>
          </p:cNvCxnSpPr>
          <p:nvPr/>
        </p:nvCxnSpPr>
        <p:spPr>
          <a:xfrm>
            <a:off x="8523153" y="4958216"/>
            <a:ext cx="328611" cy="91757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966D4DBD-51FD-F917-DCE6-FB1954C4956B}"/>
              </a:ext>
            </a:extLst>
          </p:cNvPr>
          <p:cNvCxnSpPr>
            <a:cxnSpLocks/>
          </p:cNvCxnSpPr>
          <p:nvPr/>
        </p:nvCxnSpPr>
        <p:spPr>
          <a:xfrm flipH="1">
            <a:off x="9842365" y="4920672"/>
            <a:ext cx="321469" cy="935038"/>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E8C46C5A-69F7-989C-BA4A-E0E121F5F598}"/>
              </a:ext>
            </a:extLst>
          </p:cNvPr>
          <p:cNvCxnSpPr>
            <a:cxnSpLocks/>
            <a:stCxn id="68" idx="6"/>
            <a:endCxn id="70" idx="2"/>
          </p:cNvCxnSpPr>
          <p:nvPr/>
        </p:nvCxnSpPr>
        <p:spPr>
          <a:xfrm>
            <a:off x="9013689" y="5855710"/>
            <a:ext cx="666751"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0E43EC6-1A0D-AA62-2A55-1CC007CCE005}"/>
              </a:ext>
            </a:extLst>
          </p:cNvPr>
          <p:cNvCxnSpPr>
            <a:cxnSpLocks/>
          </p:cNvCxnSpPr>
          <p:nvPr/>
        </p:nvCxnSpPr>
        <p:spPr>
          <a:xfrm>
            <a:off x="9323252" y="4204947"/>
            <a:ext cx="516732" cy="1670845"/>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112E795-6DFF-E9E3-6CDB-118038306399}"/>
              </a:ext>
            </a:extLst>
          </p:cNvPr>
          <p:cNvCxnSpPr>
            <a:cxnSpLocks/>
          </p:cNvCxnSpPr>
          <p:nvPr/>
        </p:nvCxnSpPr>
        <p:spPr>
          <a:xfrm flipH="1">
            <a:off x="8882125" y="4207328"/>
            <a:ext cx="431603" cy="1668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995EFC0-D308-ACEB-9FB9-7D1A0E27504B}"/>
              </a:ext>
            </a:extLst>
          </p:cNvPr>
          <p:cNvCxnSpPr>
            <a:cxnSpLocks/>
            <a:endCxn id="67" idx="2"/>
          </p:cNvCxnSpPr>
          <p:nvPr/>
        </p:nvCxnSpPr>
        <p:spPr>
          <a:xfrm>
            <a:off x="8532677" y="4958216"/>
            <a:ext cx="1471613"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9F3EEEE-6BDC-DA56-066A-2052620B25DF}"/>
              </a:ext>
            </a:extLst>
          </p:cNvPr>
          <p:cNvCxnSpPr>
            <a:cxnSpLocks/>
          </p:cNvCxnSpPr>
          <p:nvPr/>
        </p:nvCxnSpPr>
        <p:spPr>
          <a:xfrm>
            <a:off x="8532676" y="4965360"/>
            <a:ext cx="1316832" cy="88320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21F68361-7B17-7221-458F-D6D9427FD079}"/>
              </a:ext>
            </a:extLst>
          </p:cNvPr>
          <p:cNvCxnSpPr>
            <a:cxnSpLocks/>
          </p:cNvCxnSpPr>
          <p:nvPr/>
        </p:nvCxnSpPr>
        <p:spPr>
          <a:xfrm flipV="1">
            <a:off x="8847003" y="4958216"/>
            <a:ext cx="1316831" cy="89035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F1CEFC69-AE25-4208-8BC1-433A56E6D797}"/>
              </a:ext>
            </a:extLst>
          </p:cNvPr>
          <p:cNvSpPr/>
          <p:nvPr/>
        </p:nvSpPr>
        <p:spPr>
          <a:xfrm>
            <a:off x="9158946" y="4181371"/>
            <a:ext cx="323850" cy="323850"/>
          </a:xfrm>
          <a:prstGeom prst="ellipse">
            <a:avLst/>
          </a:prstGeom>
          <a:solidFill>
            <a:schemeClr val="tx1"/>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97708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D0D50-3C30-58D7-BF9E-80E04F4669E4}"/>
              </a:ext>
            </a:extLst>
          </p:cNvPr>
          <p:cNvSpPr>
            <a:spLocks noGrp="1"/>
          </p:cNvSpPr>
          <p:nvPr>
            <p:ph type="title"/>
          </p:nvPr>
        </p:nvSpPr>
        <p:spPr>
          <a:xfrm>
            <a:off x="838200" y="102467"/>
            <a:ext cx="10515600" cy="1325563"/>
          </a:xfrm>
        </p:spPr>
        <p:txBody>
          <a:bodyPr/>
          <a:lstStyle/>
          <a:p>
            <a:r>
              <a:rPr lang="en-US" dirty="0">
                <a:solidFill>
                  <a:srgbClr val="002060"/>
                </a:solidFill>
              </a:rPr>
              <a:t>Task: Analogies and relations </a:t>
            </a:r>
            <a:br>
              <a:rPr lang="en-US" dirty="0">
                <a:solidFill>
                  <a:srgbClr val="002060"/>
                </a:solidFill>
              </a:rPr>
            </a:br>
            <a:r>
              <a:rPr lang="en-US" dirty="0">
                <a:solidFill>
                  <a:srgbClr val="002060"/>
                </a:solidFill>
              </a:rPr>
              <a:t>with meaning</a:t>
            </a:r>
          </a:p>
        </p:txBody>
      </p:sp>
      <p:sp>
        <p:nvSpPr>
          <p:cNvPr id="3" name="Content Placeholder 2">
            <a:extLst>
              <a:ext uri="{FF2B5EF4-FFF2-40B4-BE49-F238E27FC236}">
                <a16:creationId xmlns:a16="http://schemas.microsoft.com/office/drawing/2014/main" id="{016A002C-C9B0-4DE6-13F9-22A384759F48}"/>
              </a:ext>
            </a:extLst>
          </p:cNvPr>
          <p:cNvSpPr>
            <a:spLocks noGrp="1"/>
          </p:cNvSpPr>
          <p:nvPr>
            <p:ph idx="1"/>
          </p:nvPr>
        </p:nvSpPr>
        <p:spPr>
          <a:xfrm>
            <a:off x="1009615" y="3376441"/>
            <a:ext cx="10515600" cy="3481559"/>
          </a:xfrm>
        </p:spPr>
        <p:txBody>
          <a:bodyPr>
            <a:normAutofit lnSpcReduction="10000"/>
          </a:bodyPr>
          <a:lstStyle/>
          <a:p>
            <a:r>
              <a:rPr lang="en-US" dirty="0"/>
              <a:t>Difficult to probe analogies while avoiding confounds:</a:t>
            </a:r>
          </a:p>
          <a:p>
            <a:pPr lvl="1"/>
            <a:r>
              <a:rPr lang="en-US" dirty="0"/>
              <a:t>Encoding: </a:t>
            </a:r>
          </a:p>
          <a:p>
            <a:pPr lvl="2"/>
            <a:r>
              <a:rPr lang="en-US" dirty="0"/>
              <a:t>Oven-Cake :: Grill-Steak</a:t>
            </a:r>
          </a:p>
          <a:p>
            <a:pPr lvl="1"/>
            <a:r>
              <a:rPr lang="en-US" dirty="0"/>
              <a:t>Retrieval (different tests, similar problem): </a:t>
            </a:r>
          </a:p>
          <a:p>
            <a:pPr lvl="2"/>
            <a:r>
              <a:rPr lang="en-US" dirty="0"/>
              <a:t>Oven-?A?, Grill-?B?</a:t>
            </a:r>
          </a:p>
          <a:p>
            <a:pPr lvl="1"/>
            <a:r>
              <a:rPr lang="en-US" dirty="0"/>
              <a:t>Retrieval of ?A? = Cake and ?B? = Steak may elicit similar neural correlates simply due to overlapping features in terms of Cake and Steak (e.g., both edible)</a:t>
            </a:r>
          </a:p>
          <a:p>
            <a:pPr lvl="2"/>
            <a:r>
              <a:rPr lang="en-US" dirty="0"/>
              <a:t>To pinpoint relationship effect, subtract similarity between Cake &amp; Steak retrieved by non-analogies (e.g., Egg-Cake &amp; Cow-Steak)</a:t>
            </a:r>
          </a:p>
        </p:txBody>
      </p:sp>
      <p:sp>
        <p:nvSpPr>
          <p:cNvPr id="6" name="TextBox 5">
            <a:extLst>
              <a:ext uri="{FF2B5EF4-FFF2-40B4-BE49-F238E27FC236}">
                <a16:creationId xmlns:a16="http://schemas.microsoft.com/office/drawing/2014/main" id="{E134B397-FC18-F2A0-2D76-513DC148FD72}"/>
              </a:ext>
            </a:extLst>
          </p:cNvPr>
          <p:cNvSpPr txBox="1"/>
          <p:nvPr/>
        </p:nvSpPr>
        <p:spPr>
          <a:xfrm>
            <a:off x="3223953" y="2846182"/>
            <a:ext cx="645690" cy="369332"/>
          </a:xfrm>
          <a:prstGeom prst="rect">
            <a:avLst/>
          </a:prstGeom>
          <a:noFill/>
        </p:spPr>
        <p:txBody>
          <a:bodyPr wrap="none" rtlCol="0">
            <a:spAutoFit/>
          </a:bodyPr>
          <a:lstStyle/>
          <a:p>
            <a:r>
              <a:rPr lang="en-US" dirty="0"/>
              <a:t>Pizza</a:t>
            </a:r>
          </a:p>
        </p:txBody>
      </p:sp>
      <p:sp>
        <p:nvSpPr>
          <p:cNvPr id="7" name="TextBox 6">
            <a:extLst>
              <a:ext uri="{FF2B5EF4-FFF2-40B4-BE49-F238E27FC236}">
                <a16:creationId xmlns:a16="http://schemas.microsoft.com/office/drawing/2014/main" id="{21DBFD71-0D8B-D036-A2A8-E13C30C54AF4}"/>
              </a:ext>
            </a:extLst>
          </p:cNvPr>
          <p:cNvSpPr txBox="1"/>
          <p:nvPr/>
        </p:nvSpPr>
        <p:spPr>
          <a:xfrm>
            <a:off x="4134396" y="2846182"/>
            <a:ext cx="865943" cy="369332"/>
          </a:xfrm>
          <a:prstGeom prst="rect">
            <a:avLst/>
          </a:prstGeom>
          <a:noFill/>
        </p:spPr>
        <p:txBody>
          <a:bodyPr wrap="none" rtlCol="0">
            <a:spAutoFit/>
          </a:bodyPr>
          <a:lstStyle/>
          <a:p>
            <a:r>
              <a:rPr lang="en-US" dirty="0"/>
              <a:t>Cheese</a:t>
            </a:r>
          </a:p>
        </p:txBody>
      </p:sp>
      <p:sp>
        <p:nvSpPr>
          <p:cNvPr id="8" name="TextBox 7">
            <a:extLst>
              <a:ext uri="{FF2B5EF4-FFF2-40B4-BE49-F238E27FC236}">
                <a16:creationId xmlns:a16="http://schemas.microsoft.com/office/drawing/2014/main" id="{FD4333E7-8AB4-33DC-647B-9B3D7FEDF9CA}"/>
              </a:ext>
            </a:extLst>
          </p:cNvPr>
          <p:cNvSpPr txBox="1"/>
          <p:nvPr/>
        </p:nvSpPr>
        <p:spPr>
          <a:xfrm>
            <a:off x="7062556" y="1629824"/>
            <a:ext cx="630878" cy="369332"/>
          </a:xfrm>
          <a:prstGeom prst="rect">
            <a:avLst/>
          </a:prstGeom>
          <a:noFill/>
        </p:spPr>
        <p:txBody>
          <a:bodyPr wrap="none" rtlCol="0">
            <a:spAutoFit/>
          </a:bodyPr>
          <a:lstStyle/>
          <a:p>
            <a:r>
              <a:rPr lang="en-US" dirty="0"/>
              <a:t>Cake</a:t>
            </a:r>
          </a:p>
        </p:txBody>
      </p:sp>
      <p:sp>
        <p:nvSpPr>
          <p:cNvPr id="9" name="TextBox 8">
            <a:extLst>
              <a:ext uri="{FF2B5EF4-FFF2-40B4-BE49-F238E27FC236}">
                <a16:creationId xmlns:a16="http://schemas.microsoft.com/office/drawing/2014/main" id="{40F6AC58-EC01-F9F5-A1A8-29978D758968}"/>
              </a:ext>
            </a:extLst>
          </p:cNvPr>
          <p:cNvSpPr txBox="1"/>
          <p:nvPr/>
        </p:nvSpPr>
        <p:spPr>
          <a:xfrm>
            <a:off x="8105482" y="1620319"/>
            <a:ext cx="936603" cy="369332"/>
          </a:xfrm>
          <a:prstGeom prst="rect">
            <a:avLst/>
          </a:prstGeom>
          <a:noFill/>
        </p:spPr>
        <p:txBody>
          <a:bodyPr wrap="none" rtlCol="0">
            <a:spAutoFit/>
          </a:bodyPr>
          <a:lstStyle/>
          <a:p>
            <a:r>
              <a:rPr lang="en-US" dirty="0"/>
              <a:t>Frosting</a:t>
            </a:r>
          </a:p>
        </p:txBody>
      </p:sp>
      <p:sp>
        <p:nvSpPr>
          <p:cNvPr id="10" name="TextBox 9">
            <a:extLst>
              <a:ext uri="{FF2B5EF4-FFF2-40B4-BE49-F238E27FC236}">
                <a16:creationId xmlns:a16="http://schemas.microsoft.com/office/drawing/2014/main" id="{56076371-FA05-0ACB-40B4-D693C75D8113}"/>
              </a:ext>
            </a:extLst>
          </p:cNvPr>
          <p:cNvSpPr txBox="1"/>
          <p:nvPr/>
        </p:nvSpPr>
        <p:spPr>
          <a:xfrm>
            <a:off x="5333602" y="2846182"/>
            <a:ext cx="591829" cy="369332"/>
          </a:xfrm>
          <a:prstGeom prst="rect">
            <a:avLst/>
          </a:prstGeom>
          <a:noFill/>
        </p:spPr>
        <p:txBody>
          <a:bodyPr wrap="none" rtlCol="0">
            <a:spAutoFit/>
          </a:bodyPr>
          <a:lstStyle/>
          <a:p>
            <a:r>
              <a:rPr lang="en-US" dirty="0"/>
              <a:t>Milk</a:t>
            </a:r>
          </a:p>
        </p:txBody>
      </p:sp>
      <p:sp>
        <p:nvSpPr>
          <p:cNvPr id="11" name="TextBox 10">
            <a:extLst>
              <a:ext uri="{FF2B5EF4-FFF2-40B4-BE49-F238E27FC236}">
                <a16:creationId xmlns:a16="http://schemas.microsoft.com/office/drawing/2014/main" id="{F93EC82C-DA99-9A6E-B641-08E80D382541}"/>
              </a:ext>
            </a:extLst>
          </p:cNvPr>
          <p:cNvSpPr txBox="1"/>
          <p:nvPr/>
        </p:nvSpPr>
        <p:spPr>
          <a:xfrm>
            <a:off x="9406483" y="1620319"/>
            <a:ext cx="707758" cy="369332"/>
          </a:xfrm>
          <a:prstGeom prst="rect">
            <a:avLst/>
          </a:prstGeom>
          <a:noFill/>
        </p:spPr>
        <p:txBody>
          <a:bodyPr wrap="none" rtlCol="0">
            <a:spAutoFit/>
          </a:bodyPr>
          <a:lstStyle/>
          <a:p>
            <a:r>
              <a:rPr lang="en-US" dirty="0"/>
              <a:t>Sugar</a:t>
            </a:r>
          </a:p>
        </p:txBody>
      </p:sp>
      <p:sp>
        <p:nvSpPr>
          <p:cNvPr id="13" name="TextBox 12">
            <a:extLst>
              <a:ext uri="{FF2B5EF4-FFF2-40B4-BE49-F238E27FC236}">
                <a16:creationId xmlns:a16="http://schemas.microsoft.com/office/drawing/2014/main" id="{D3A78E9C-446F-7460-A434-599944470FEA}"/>
              </a:ext>
            </a:extLst>
          </p:cNvPr>
          <p:cNvSpPr txBox="1"/>
          <p:nvPr/>
        </p:nvSpPr>
        <p:spPr>
          <a:xfrm>
            <a:off x="6282405" y="2846182"/>
            <a:ext cx="594137" cy="369332"/>
          </a:xfrm>
          <a:prstGeom prst="rect">
            <a:avLst/>
          </a:prstGeom>
          <a:noFill/>
        </p:spPr>
        <p:txBody>
          <a:bodyPr wrap="none" rtlCol="0">
            <a:spAutoFit/>
          </a:bodyPr>
          <a:lstStyle/>
          <a:p>
            <a:r>
              <a:rPr lang="en-US" dirty="0"/>
              <a:t>Cow</a:t>
            </a:r>
          </a:p>
        </p:txBody>
      </p:sp>
      <p:sp>
        <p:nvSpPr>
          <p:cNvPr id="14" name="TextBox 13">
            <a:extLst>
              <a:ext uri="{FF2B5EF4-FFF2-40B4-BE49-F238E27FC236}">
                <a16:creationId xmlns:a16="http://schemas.microsoft.com/office/drawing/2014/main" id="{01A1B981-5C5E-04BA-4A23-EE24D443C6C6}"/>
              </a:ext>
            </a:extLst>
          </p:cNvPr>
          <p:cNvSpPr txBox="1"/>
          <p:nvPr/>
        </p:nvSpPr>
        <p:spPr>
          <a:xfrm>
            <a:off x="6133507" y="1629824"/>
            <a:ext cx="517001" cy="369332"/>
          </a:xfrm>
          <a:prstGeom prst="rect">
            <a:avLst/>
          </a:prstGeom>
          <a:noFill/>
        </p:spPr>
        <p:txBody>
          <a:bodyPr wrap="none" rtlCol="0">
            <a:spAutoFit/>
          </a:bodyPr>
          <a:lstStyle/>
          <a:p>
            <a:r>
              <a:rPr lang="en-US" dirty="0"/>
              <a:t>Egg</a:t>
            </a:r>
          </a:p>
        </p:txBody>
      </p:sp>
      <p:sp>
        <p:nvSpPr>
          <p:cNvPr id="15" name="TextBox 14">
            <a:extLst>
              <a:ext uri="{FF2B5EF4-FFF2-40B4-BE49-F238E27FC236}">
                <a16:creationId xmlns:a16="http://schemas.microsoft.com/office/drawing/2014/main" id="{412BEAA5-6745-BC50-2762-C96551ECBB42}"/>
              </a:ext>
            </a:extLst>
          </p:cNvPr>
          <p:cNvSpPr txBox="1"/>
          <p:nvPr/>
        </p:nvSpPr>
        <p:spPr>
          <a:xfrm>
            <a:off x="4846946" y="1629824"/>
            <a:ext cx="914609" cy="369332"/>
          </a:xfrm>
          <a:prstGeom prst="rect">
            <a:avLst/>
          </a:prstGeom>
          <a:noFill/>
        </p:spPr>
        <p:txBody>
          <a:bodyPr wrap="none" rtlCol="0">
            <a:spAutoFit/>
          </a:bodyPr>
          <a:lstStyle/>
          <a:p>
            <a:r>
              <a:rPr lang="en-US" dirty="0"/>
              <a:t>Chicken</a:t>
            </a:r>
          </a:p>
        </p:txBody>
      </p:sp>
      <p:cxnSp>
        <p:nvCxnSpPr>
          <p:cNvPr id="17" name="Straight Connector 16">
            <a:extLst>
              <a:ext uri="{FF2B5EF4-FFF2-40B4-BE49-F238E27FC236}">
                <a16:creationId xmlns:a16="http://schemas.microsoft.com/office/drawing/2014/main" id="{4151EF59-133E-9D80-FB68-F4BB6B150E00}"/>
              </a:ext>
            </a:extLst>
          </p:cNvPr>
          <p:cNvCxnSpPr>
            <a:cxnSpLocks/>
            <a:stCxn id="6" idx="3"/>
            <a:endCxn id="7" idx="1"/>
          </p:cNvCxnSpPr>
          <p:nvPr/>
        </p:nvCxnSpPr>
        <p:spPr>
          <a:xfrm>
            <a:off x="3869643" y="3030848"/>
            <a:ext cx="26475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B2F7309-AF4A-28E8-9D92-52FA21FD2C2A}"/>
              </a:ext>
            </a:extLst>
          </p:cNvPr>
          <p:cNvCxnSpPr>
            <a:cxnSpLocks/>
            <a:stCxn id="10" idx="1"/>
            <a:endCxn id="7" idx="3"/>
          </p:cNvCxnSpPr>
          <p:nvPr/>
        </p:nvCxnSpPr>
        <p:spPr>
          <a:xfrm flipH="1">
            <a:off x="5000339" y="3030848"/>
            <a:ext cx="33326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253D158-20EB-0F32-7BE0-91849CC32BC2}"/>
              </a:ext>
            </a:extLst>
          </p:cNvPr>
          <p:cNvCxnSpPr>
            <a:cxnSpLocks/>
            <a:stCxn id="13" idx="1"/>
            <a:endCxn id="10" idx="3"/>
          </p:cNvCxnSpPr>
          <p:nvPr/>
        </p:nvCxnSpPr>
        <p:spPr>
          <a:xfrm flipH="1">
            <a:off x="5925431" y="3030848"/>
            <a:ext cx="35697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A36259-075B-CD94-3403-771A0EFF30CE}"/>
              </a:ext>
            </a:extLst>
          </p:cNvPr>
          <p:cNvCxnSpPr>
            <a:cxnSpLocks/>
            <a:stCxn id="8" idx="1"/>
            <a:endCxn id="14" idx="3"/>
          </p:cNvCxnSpPr>
          <p:nvPr/>
        </p:nvCxnSpPr>
        <p:spPr>
          <a:xfrm flipH="1">
            <a:off x="6650508" y="1814490"/>
            <a:ext cx="4120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FCF913B-FB7B-248D-4DC1-9C4050B1716C}"/>
              </a:ext>
            </a:extLst>
          </p:cNvPr>
          <p:cNvCxnSpPr>
            <a:cxnSpLocks/>
            <a:stCxn id="9" idx="1"/>
            <a:endCxn id="8" idx="3"/>
          </p:cNvCxnSpPr>
          <p:nvPr/>
        </p:nvCxnSpPr>
        <p:spPr>
          <a:xfrm flipH="1">
            <a:off x="7693434" y="1804985"/>
            <a:ext cx="412048" cy="95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A1DCB95-B004-9738-AC94-B97E9D7D60EB}"/>
              </a:ext>
            </a:extLst>
          </p:cNvPr>
          <p:cNvCxnSpPr>
            <a:cxnSpLocks/>
            <a:stCxn id="15" idx="3"/>
            <a:endCxn id="14" idx="1"/>
          </p:cNvCxnSpPr>
          <p:nvPr/>
        </p:nvCxnSpPr>
        <p:spPr>
          <a:xfrm>
            <a:off x="5761555" y="1814490"/>
            <a:ext cx="37195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4570F8A-CFC6-D0D5-D404-97BFBEE0CAE5}"/>
              </a:ext>
            </a:extLst>
          </p:cNvPr>
          <p:cNvCxnSpPr>
            <a:cxnSpLocks/>
            <a:stCxn id="9" idx="3"/>
            <a:endCxn id="11" idx="1"/>
          </p:cNvCxnSpPr>
          <p:nvPr/>
        </p:nvCxnSpPr>
        <p:spPr>
          <a:xfrm>
            <a:off x="9042085" y="1804985"/>
            <a:ext cx="36439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034F8460-D231-9241-2E72-7637BAF31AA1}"/>
              </a:ext>
            </a:extLst>
          </p:cNvPr>
          <p:cNvSpPr txBox="1"/>
          <p:nvPr/>
        </p:nvSpPr>
        <p:spPr>
          <a:xfrm>
            <a:off x="7061737" y="2846182"/>
            <a:ext cx="695127" cy="369332"/>
          </a:xfrm>
          <a:prstGeom prst="rect">
            <a:avLst/>
          </a:prstGeom>
          <a:noFill/>
        </p:spPr>
        <p:txBody>
          <a:bodyPr wrap="none" rtlCol="0">
            <a:spAutoFit/>
          </a:bodyPr>
          <a:lstStyle/>
          <a:p>
            <a:r>
              <a:rPr lang="en-US" dirty="0"/>
              <a:t>Steak</a:t>
            </a:r>
          </a:p>
        </p:txBody>
      </p:sp>
      <p:cxnSp>
        <p:nvCxnSpPr>
          <p:cNvPr id="80" name="Straight Connector 79">
            <a:extLst>
              <a:ext uri="{FF2B5EF4-FFF2-40B4-BE49-F238E27FC236}">
                <a16:creationId xmlns:a16="http://schemas.microsoft.com/office/drawing/2014/main" id="{232DBAFC-3769-3C6E-DDB1-BE13DFA69F1C}"/>
              </a:ext>
            </a:extLst>
          </p:cNvPr>
          <p:cNvCxnSpPr>
            <a:cxnSpLocks/>
            <a:stCxn id="42" idx="1"/>
            <a:endCxn id="13" idx="3"/>
          </p:cNvCxnSpPr>
          <p:nvPr/>
        </p:nvCxnSpPr>
        <p:spPr>
          <a:xfrm flipH="1">
            <a:off x="6876542" y="3030848"/>
            <a:ext cx="18519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F065D4B2-500C-2991-B8C5-411E3381724A}"/>
              </a:ext>
            </a:extLst>
          </p:cNvPr>
          <p:cNvSpPr txBox="1"/>
          <p:nvPr/>
        </p:nvSpPr>
        <p:spPr>
          <a:xfrm>
            <a:off x="7922364" y="2846182"/>
            <a:ext cx="569387" cy="369332"/>
          </a:xfrm>
          <a:prstGeom prst="rect">
            <a:avLst/>
          </a:prstGeom>
          <a:noFill/>
        </p:spPr>
        <p:txBody>
          <a:bodyPr wrap="none" rtlCol="0">
            <a:spAutoFit/>
          </a:bodyPr>
          <a:lstStyle/>
          <a:p>
            <a:r>
              <a:rPr lang="en-US" dirty="0"/>
              <a:t>Grill</a:t>
            </a:r>
          </a:p>
        </p:txBody>
      </p:sp>
      <p:sp>
        <p:nvSpPr>
          <p:cNvPr id="84" name="TextBox 83">
            <a:extLst>
              <a:ext uri="{FF2B5EF4-FFF2-40B4-BE49-F238E27FC236}">
                <a16:creationId xmlns:a16="http://schemas.microsoft.com/office/drawing/2014/main" id="{0B6A93C6-115E-1C37-F687-7CFE19757EC3}"/>
              </a:ext>
            </a:extLst>
          </p:cNvPr>
          <p:cNvSpPr txBox="1"/>
          <p:nvPr/>
        </p:nvSpPr>
        <p:spPr>
          <a:xfrm>
            <a:off x="7039921" y="2183822"/>
            <a:ext cx="676147" cy="369332"/>
          </a:xfrm>
          <a:prstGeom prst="rect">
            <a:avLst/>
          </a:prstGeom>
          <a:noFill/>
        </p:spPr>
        <p:txBody>
          <a:bodyPr wrap="none" rtlCol="0">
            <a:spAutoFit/>
          </a:bodyPr>
          <a:lstStyle/>
          <a:p>
            <a:r>
              <a:rPr lang="en-US" dirty="0"/>
              <a:t>Oven</a:t>
            </a:r>
          </a:p>
        </p:txBody>
      </p:sp>
      <p:cxnSp>
        <p:nvCxnSpPr>
          <p:cNvPr id="86" name="Straight Connector 85">
            <a:extLst>
              <a:ext uri="{FF2B5EF4-FFF2-40B4-BE49-F238E27FC236}">
                <a16:creationId xmlns:a16="http://schemas.microsoft.com/office/drawing/2014/main" id="{1972C19A-DA4F-C869-BAB7-61B7023C9811}"/>
              </a:ext>
            </a:extLst>
          </p:cNvPr>
          <p:cNvCxnSpPr>
            <a:cxnSpLocks/>
            <a:stCxn id="8" idx="2"/>
            <a:endCxn id="84" idx="0"/>
          </p:cNvCxnSpPr>
          <p:nvPr/>
        </p:nvCxnSpPr>
        <p:spPr>
          <a:xfrm>
            <a:off x="7377995" y="1999156"/>
            <a:ext cx="0" cy="1846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41689FEB-9E59-E555-ED83-7141CEB3FAD2}"/>
              </a:ext>
            </a:extLst>
          </p:cNvPr>
          <p:cNvCxnSpPr>
            <a:cxnSpLocks/>
            <a:stCxn id="83" idx="1"/>
            <a:endCxn id="42" idx="3"/>
          </p:cNvCxnSpPr>
          <p:nvPr/>
        </p:nvCxnSpPr>
        <p:spPr>
          <a:xfrm flipH="1">
            <a:off x="7756864" y="3030848"/>
            <a:ext cx="165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3D767FCF-670B-751C-EEA7-22CCCF750FF6}"/>
              </a:ext>
            </a:extLst>
          </p:cNvPr>
          <p:cNvSpPr txBox="1"/>
          <p:nvPr/>
        </p:nvSpPr>
        <p:spPr>
          <a:xfrm>
            <a:off x="3455525" y="1491325"/>
            <a:ext cx="1111843" cy="646331"/>
          </a:xfrm>
          <a:prstGeom prst="rect">
            <a:avLst/>
          </a:prstGeom>
          <a:noFill/>
        </p:spPr>
        <p:txBody>
          <a:bodyPr wrap="none" rtlCol="0">
            <a:spAutoFit/>
          </a:bodyPr>
          <a:lstStyle/>
          <a:p>
            <a:pPr algn="ctr"/>
            <a:r>
              <a:rPr lang="en-US" dirty="0"/>
              <a:t>Fried</a:t>
            </a:r>
          </a:p>
          <a:p>
            <a:pPr algn="ctr"/>
            <a:r>
              <a:rPr lang="en-US" dirty="0"/>
              <a:t>drumstick</a:t>
            </a:r>
          </a:p>
        </p:txBody>
      </p:sp>
      <p:cxnSp>
        <p:nvCxnSpPr>
          <p:cNvPr id="94" name="Straight Connector 93">
            <a:extLst>
              <a:ext uri="{FF2B5EF4-FFF2-40B4-BE49-F238E27FC236}">
                <a16:creationId xmlns:a16="http://schemas.microsoft.com/office/drawing/2014/main" id="{EA50E8ED-1B58-C25D-E2B9-0CBA4C5E03D1}"/>
              </a:ext>
            </a:extLst>
          </p:cNvPr>
          <p:cNvCxnSpPr>
            <a:cxnSpLocks/>
            <a:stCxn id="93" idx="3"/>
            <a:endCxn id="15" idx="1"/>
          </p:cNvCxnSpPr>
          <p:nvPr/>
        </p:nvCxnSpPr>
        <p:spPr>
          <a:xfrm flipV="1">
            <a:off x="4567368" y="1814490"/>
            <a:ext cx="279578"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09C3C61B-B632-FF98-7C4D-9FF2DD516EB1}"/>
              </a:ext>
            </a:extLst>
          </p:cNvPr>
          <p:cNvSpPr txBox="1"/>
          <p:nvPr/>
        </p:nvSpPr>
        <p:spPr>
          <a:xfrm>
            <a:off x="2260520" y="2846182"/>
            <a:ext cx="584199" cy="369332"/>
          </a:xfrm>
          <a:prstGeom prst="rect">
            <a:avLst/>
          </a:prstGeom>
          <a:noFill/>
        </p:spPr>
        <p:txBody>
          <a:bodyPr wrap="none" rtlCol="0">
            <a:spAutoFit/>
          </a:bodyPr>
          <a:lstStyle/>
          <a:p>
            <a:r>
              <a:rPr lang="en-US" dirty="0"/>
              <a:t>Italy</a:t>
            </a:r>
          </a:p>
        </p:txBody>
      </p:sp>
      <p:sp>
        <p:nvSpPr>
          <p:cNvPr id="100" name="TextBox 99">
            <a:extLst>
              <a:ext uri="{FF2B5EF4-FFF2-40B4-BE49-F238E27FC236}">
                <a16:creationId xmlns:a16="http://schemas.microsoft.com/office/drawing/2014/main" id="{7731E2D2-1FA1-70F1-4B0C-45E876BB1A88}"/>
              </a:ext>
            </a:extLst>
          </p:cNvPr>
          <p:cNvSpPr txBox="1"/>
          <p:nvPr/>
        </p:nvSpPr>
        <p:spPr>
          <a:xfrm>
            <a:off x="1577319" y="1627483"/>
            <a:ext cx="1420902" cy="369332"/>
          </a:xfrm>
          <a:prstGeom prst="rect">
            <a:avLst/>
          </a:prstGeom>
          <a:noFill/>
        </p:spPr>
        <p:txBody>
          <a:bodyPr wrap="none" rtlCol="0">
            <a:spAutoFit/>
          </a:bodyPr>
          <a:lstStyle/>
          <a:p>
            <a:r>
              <a:rPr lang="en-US" dirty="0"/>
              <a:t>United states</a:t>
            </a:r>
          </a:p>
        </p:txBody>
      </p:sp>
      <p:cxnSp>
        <p:nvCxnSpPr>
          <p:cNvPr id="101" name="Straight Connector 100">
            <a:extLst>
              <a:ext uri="{FF2B5EF4-FFF2-40B4-BE49-F238E27FC236}">
                <a16:creationId xmlns:a16="http://schemas.microsoft.com/office/drawing/2014/main" id="{A853A953-7FAD-3158-2871-A9D778F40833}"/>
              </a:ext>
            </a:extLst>
          </p:cNvPr>
          <p:cNvCxnSpPr>
            <a:cxnSpLocks/>
            <a:stCxn id="93" idx="1"/>
            <a:endCxn id="100" idx="3"/>
          </p:cNvCxnSpPr>
          <p:nvPr/>
        </p:nvCxnSpPr>
        <p:spPr>
          <a:xfrm flipH="1" flipV="1">
            <a:off x="2998221" y="1812149"/>
            <a:ext cx="457304" cy="23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90DAF585-F9BD-F9F3-8A0D-08E7AC362B2C}"/>
              </a:ext>
            </a:extLst>
          </p:cNvPr>
          <p:cNvCxnSpPr>
            <a:cxnSpLocks/>
            <a:stCxn id="6" idx="1"/>
            <a:endCxn id="99" idx="3"/>
          </p:cNvCxnSpPr>
          <p:nvPr/>
        </p:nvCxnSpPr>
        <p:spPr>
          <a:xfrm flipH="1">
            <a:off x="2844719" y="3030848"/>
            <a:ext cx="37923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0509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AAFD6-73CE-73DC-189E-196653B376E6}"/>
              </a:ext>
            </a:extLst>
          </p:cNvPr>
          <p:cNvSpPr>
            <a:spLocks noGrp="1"/>
          </p:cNvSpPr>
          <p:nvPr>
            <p:ph type="title"/>
          </p:nvPr>
        </p:nvSpPr>
        <p:spPr>
          <a:xfrm>
            <a:off x="853190" y="65346"/>
            <a:ext cx="4108554" cy="1325563"/>
          </a:xfrm>
        </p:spPr>
        <p:txBody>
          <a:bodyPr/>
          <a:lstStyle/>
          <a:p>
            <a:r>
              <a:rPr lang="en-US" dirty="0"/>
              <a:t>Task</a:t>
            </a:r>
          </a:p>
        </p:txBody>
      </p:sp>
      <p:sp>
        <p:nvSpPr>
          <p:cNvPr id="3" name="Content Placeholder 2">
            <a:extLst>
              <a:ext uri="{FF2B5EF4-FFF2-40B4-BE49-F238E27FC236}">
                <a16:creationId xmlns:a16="http://schemas.microsoft.com/office/drawing/2014/main" id="{8C16B17E-B527-64CB-6FE9-A36936F9B322}"/>
              </a:ext>
            </a:extLst>
          </p:cNvPr>
          <p:cNvSpPr>
            <a:spLocks noGrp="1"/>
          </p:cNvSpPr>
          <p:nvPr>
            <p:ph idx="1"/>
          </p:nvPr>
        </p:nvSpPr>
        <p:spPr>
          <a:xfrm>
            <a:off x="554636" y="1390909"/>
            <a:ext cx="4991724" cy="4919949"/>
          </a:xfrm>
        </p:spPr>
        <p:txBody>
          <a:bodyPr/>
          <a:lstStyle/>
          <a:p>
            <a:r>
              <a:rPr lang="en-US" dirty="0" err="1"/>
              <a:t>Reagh</a:t>
            </a:r>
            <a:r>
              <a:rPr lang="en-US" dirty="0"/>
              <a:t> &amp; </a:t>
            </a:r>
            <a:r>
              <a:rPr lang="en-US" dirty="0" err="1"/>
              <a:t>Ranganath</a:t>
            </a:r>
            <a:r>
              <a:rPr lang="en-US" dirty="0"/>
              <a:t> (2023) presented eight videos, which overlapped in some dimensions</a:t>
            </a:r>
          </a:p>
          <a:p>
            <a:pPr lvl="1"/>
            <a:r>
              <a:rPr lang="en-US" dirty="0"/>
              <a:t>Character</a:t>
            </a:r>
          </a:p>
          <a:p>
            <a:pPr lvl="1"/>
            <a:r>
              <a:rPr lang="en-US" dirty="0"/>
              <a:t>Specific scene</a:t>
            </a:r>
          </a:p>
          <a:p>
            <a:pPr lvl="1"/>
            <a:r>
              <a:rPr lang="en-US" dirty="0"/>
              <a:t>General schema</a:t>
            </a:r>
          </a:p>
          <a:p>
            <a:r>
              <a:rPr lang="en-US" dirty="0"/>
              <a:t>Could emulate this research</a:t>
            </a:r>
          </a:p>
        </p:txBody>
      </p:sp>
      <p:pic>
        <p:nvPicPr>
          <p:cNvPr id="4" name="Picture 3">
            <a:extLst>
              <a:ext uri="{FF2B5EF4-FFF2-40B4-BE49-F238E27FC236}">
                <a16:creationId xmlns:a16="http://schemas.microsoft.com/office/drawing/2014/main" id="{1A7C109E-970C-42E6-0B20-12A5C0F17D81}"/>
              </a:ext>
            </a:extLst>
          </p:cNvPr>
          <p:cNvPicPr>
            <a:picLocks noChangeAspect="1"/>
          </p:cNvPicPr>
          <p:nvPr/>
        </p:nvPicPr>
        <p:blipFill>
          <a:blip r:embed="rId2"/>
          <a:stretch>
            <a:fillRect/>
          </a:stretch>
        </p:blipFill>
        <p:spPr>
          <a:xfrm>
            <a:off x="5546360" y="262845"/>
            <a:ext cx="6395095" cy="6332310"/>
          </a:xfrm>
          <a:prstGeom prst="rect">
            <a:avLst/>
          </a:prstGeom>
        </p:spPr>
      </p:pic>
    </p:spTree>
    <p:extLst>
      <p:ext uri="{BB962C8B-B14F-4D97-AF65-F5344CB8AC3E}">
        <p14:creationId xmlns:p14="http://schemas.microsoft.com/office/powerpoint/2010/main" val="15295342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ank.potx" id="{9C6B1436-0ACE-4CC3-BC66-C2BCB97D7D52}" vid="{95E57EA4-F55F-474A-9811-FDC52FAD54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63048</TotalTime>
  <Words>3914</Words>
  <Application>Microsoft Office PowerPoint</Application>
  <PresentationFormat>Widescreen</PresentationFormat>
  <Paragraphs>498</Paragraphs>
  <Slides>46</Slides>
  <Notes>24</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Calibri</vt:lpstr>
      <vt:lpstr>Courier New</vt:lpstr>
      <vt:lpstr>Times New Roman</vt:lpstr>
      <vt:lpstr>Wingdings</vt:lpstr>
      <vt:lpstr>Office Theme</vt:lpstr>
      <vt:lpstr>Paul Update</vt:lpstr>
      <vt:lpstr>Edge-based connectivity RSA</vt:lpstr>
      <vt:lpstr>Network-based connectivity RSA</vt:lpstr>
      <vt:lpstr>Single trial connectivity</vt:lpstr>
      <vt:lpstr>PowerPoint Presentation</vt:lpstr>
      <vt:lpstr>PowerPoint Presentation</vt:lpstr>
      <vt:lpstr>Some analyses</vt:lpstr>
      <vt:lpstr>Significance testing and permutation testing</vt:lpstr>
      <vt:lpstr>RSA with functional connectivity</vt:lpstr>
      <vt:lpstr>Modularity</vt:lpstr>
      <vt:lpstr>Task idea </vt:lpstr>
      <vt:lpstr>What are we doing?</vt:lpstr>
      <vt:lpstr>Possible Mechanism 1 &amp; RSA</vt:lpstr>
      <vt:lpstr>Three types of relational memory tasks</vt:lpstr>
      <vt:lpstr>Encoding task</vt:lpstr>
      <vt:lpstr>Retrieval task</vt:lpstr>
      <vt:lpstr>Extra test before the main retrieval task</vt:lpstr>
      <vt:lpstr>Multiple RDMs</vt:lpstr>
      <vt:lpstr>Real-world relevance</vt:lpstr>
      <vt:lpstr>Task idea 2</vt:lpstr>
      <vt:lpstr>Reinforcement learning and states</vt:lpstr>
      <vt:lpstr>Multi-part states</vt:lpstr>
      <vt:lpstr>Affordances</vt:lpstr>
      <vt:lpstr>Goals</vt:lpstr>
      <vt:lpstr>Affordances</vt:lpstr>
      <vt:lpstr>Episodic memories</vt:lpstr>
      <vt:lpstr>Question: Scenes</vt:lpstr>
      <vt:lpstr>Question: Individual relations</vt:lpstr>
      <vt:lpstr>Question: Recollection and episodic memory</vt:lpstr>
      <vt:lpstr>Question: Semantic memory</vt:lpstr>
      <vt:lpstr>Question: Actions</vt:lpstr>
      <vt:lpstr>Question: Affordances</vt:lpstr>
      <vt:lpstr>Question: Goals</vt:lpstr>
      <vt:lpstr>General task idea</vt:lpstr>
      <vt:lpstr>Other idea</vt:lpstr>
      <vt:lpstr>Old</vt:lpstr>
      <vt:lpstr>Episodic memory is intertwined with relational memory</vt:lpstr>
      <vt:lpstr>Examining relational memory from multiple levels</vt:lpstr>
      <vt:lpstr>Broad aim: Focus on edges and groups not nodes</vt:lpstr>
      <vt:lpstr>fMRI analysis</vt:lpstr>
      <vt:lpstr>Building on this analytic direction</vt:lpstr>
      <vt:lpstr>Ways to extend and interpret these analyses</vt:lpstr>
      <vt:lpstr>(Beyond the task)  Older adults prototype rather than generalize</vt:lpstr>
      <vt:lpstr>Analyzing generalizing and prototyping</vt:lpstr>
      <vt:lpstr>Task: Analogies and relations  with meaning</vt:lpstr>
      <vt:lpstr>Task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Bogdan, Paul Christian</dc:creator>
  <cp:lastModifiedBy>Bogdan, Paul Christian</cp:lastModifiedBy>
  <cp:revision>173</cp:revision>
  <dcterms:created xsi:type="dcterms:W3CDTF">2023-09-14T13:36:35Z</dcterms:created>
  <dcterms:modified xsi:type="dcterms:W3CDTF">2023-11-12T13:44:25Z</dcterms:modified>
</cp:coreProperties>
</file>