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1"/>
  </p:notesMasterIdLst>
  <p:sldIdLst>
    <p:sldId id="256" r:id="rId2"/>
    <p:sldId id="345" r:id="rId3"/>
    <p:sldId id="304" r:id="rId4"/>
    <p:sldId id="337" r:id="rId5"/>
    <p:sldId id="338" r:id="rId6"/>
    <p:sldId id="340" r:id="rId7"/>
    <p:sldId id="341" r:id="rId8"/>
    <p:sldId id="342" r:id="rId9"/>
    <p:sldId id="346" r:id="rId10"/>
    <p:sldId id="321" r:id="rId11"/>
    <p:sldId id="363" r:id="rId12"/>
    <p:sldId id="323" r:id="rId13"/>
    <p:sldId id="344" r:id="rId14"/>
    <p:sldId id="264" r:id="rId15"/>
    <p:sldId id="312" r:id="rId16"/>
    <p:sldId id="313" r:id="rId17"/>
    <p:sldId id="302" r:id="rId18"/>
    <p:sldId id="263" r:id="rId19"/>
    <p:sldId id="343" r:id="rId20"/>
    <p:sldId id="348" r:id="rId21"/>
    <p:sldId id="280" r:id="rId22"/>
    <p:sldId id="306" r:id="rId23"/>
    <p:sldId id="292" r:id="rId24"/>
    <p:sldId id="310" r:id="rId25"/>
    <p:sldId id="309" r:id="rId26"/>
    <p:sldId id="347" r:id="rId27"/>
    <p:sldId id="293" r:id="rId28"/>
    <p:sldId id="322" r:id="rId29"/>
    <p:sldId id="291" r:id="rId30"/>
    <p:sldId id="303" r:id="rId31"/>
    <p:sldId id="362" r:id="rId32"/>
    <p:sldId id="297" r:id="rId33"/>
    <p:sldId id="279" r:id="rId34"/>
    <p:sldId id="324" r:id="rId35"/>
    <p:sldId id="307" r:id="rId36"/>
    <p:sldId id="290" r:id="rId37"/>
    <p:sldId id="284" r:id="rId38"/>
    <p:sldId id="360" r:id="rId39"/>
    <p:sldId id="314" r:id="rId40"/>
    <p:sldId id="311" r:id="rId41"/>
    <p:sldId id="325" r:id="rId42"/>
    <p:sldId id="361" r:id="rId43"/>
    <p:sldId id="364" r:id="rId44"/>
    <p:sldId id="319" r:id="rId45"/>
    <p:sldId id="320" r:id="rId46"/>
    <p:sldId id="316" r:id="rId47"/>
    <p:sldId id="318" r:id="rId48"/>
    <p:sldId id="326" r:id="rId49"/>
    <p:sldId id="327" r:id="rId50"/>
    <p:sldId id="350" r:id="rId51"/>
    <p:sldId id="351" r:id="rId52"/>
    <p:sldId id="393" r:id="rId53"/>
    <p:sldId id="394" r:id="rId54"/>
    <p:sldId id="398" r:id="rId55"/>
    <p:sldId id="397" r:id="rId56"/>
    <p:sldId id="400" r:id="rId57"/>
    <p:sldId id="399" r:id="rId58"/>
    <p:sldId id="404" r:id="rId59"/>
    <p:sldId id="386" r:id="rId60"/>
    <p:sldId id="401" r:id="rId61"/>
    <p:sldId id="406" r:id="rId62"/>
    <p:sldId id="407" r:id="rId63"/>
    <p:sldId id="409" r:id="rId64"/>
    <p:sldId id="410" r:id="rId65"/>
    <p:sldId id="408" r:id="rId66"/>
    <p:sldId id="411" r:id="rId67"/>
    <p:sldId id="402" r:id="rId68"/>
    <p:sldId id="405" r:id="rId69"/>
    <p:sldId id="403" r:id="rId70"/>
    <p:sldId id="367" r:id="rId71"/>
    <p:sldId id="368" r:id="rId72"/>
    <p:sldId id="372" r:id="rId73"/>
    <p:sldId id="373" r:id="rId74"/>
    <p:sldId id="374" r:id="rId75"/>
    <p:sldId id="375" r:id="rId76"/>
    <p:sldId id="329" r:id="rId77"/>
    <p:sldId id="333" r:id="rId78"/>
    <p:sldId id="381" r:id="rId79"/>
    <p:sldId id="382" r:id="rId8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E935"/>
    <a:srgbClr val="FF7C80"/>
    <a:srgbClr val="FFCCCC"/>
    <a:srgbClr val="FDA631"/>
    <a:srgbClr val="33CC33"/>
    <a:srgbClr val="804710"/>
    <a:srgbClr val="00FFCC"/>
    <a:srgbClr val="452A4F"/>
    <a:srgbClr val="FE962B"/>
    <a:srgbClr val="A6A6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408" autoAdjust="0"/>
    <p:restoredTop sz="81515" autoAdjust="0"/>
  </p:normalViewPr>
  <p:slideViewPr>
    <p:cSldViewPr snapToGrid="0">
      <p:cViewPr>
        <p:scale>
          <a:sx n="75" d="100"/>
          <a:sy n="75" d="100"/>
        </p:scale>
        <p:origin x="-380" y="122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presProps" Target="presProp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B98493-CA63-4D0A-8042-ED8AF27DCFF3}" type="datetimeFigureOut">
              <a:rPr lang="en-US" smtClean="0"/>
              <a:t>11/8/2023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2E3E675-13CA-4196-84E5-E684757DD2A6}" type="slidenum">
              <a:rPr lang="en-US" smtClean="0"/>
              <a:t>‹#›</a:t>
            </a:fld>
            <a:endParaRPr lang="en-US"/>
          </a:p>
        </p:txBody>
      </p:sp>
    </p:spTree>
    <p:extLst>
      <p:ext uri="{BB962C8B-B14F-4D97-AF65-F5344CB8AC3E}">
        <p14:creationId xmlns:p14="http://schemas.microsoft.com/office/powerpoint/2010/main" val="39133210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Prediction error is not just an “outcome” of processing information but rather is a computational mechanism that influences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Example of perceptional prediction error: car honking feels louder in a classroom than on a busy street</a:t>
            </a:r>
          </a:p>
          <a:p>
            <a:endParaRPr lang="en-US" dirty="0"/>
          </a:p>
          <a:p>
            <a:endParaRPr lang="en-US" dirty="0"/>
          </a:p>
          <a:p>
            <a:endParaRPr lang="en-US" dirty="0"/>
          </a:p>
          <a:p>
            <a:r>
              <a:rPr lang="en-US" dirty="0"/>
              <a:t>Meta analysis: </a:t>
            </a:r>
            <a:r>
              <a:rPr lang="en-US" b="0" i="0" dirty="0">
                <a:solidFill>
                  <a:srgbClr val="222222"/>
                </a:solidFill>
                <a:effectLst/>
                <a:latin typeface="Arial" panose="020B0604020202020204" pitchFamily="34" charset="0"/>
              </a:rPr>
              <a:t>Corlett, P. R., </a:t>
            </a:r>
            <a:r>
              <a:rPr lang="en-US" b="0" i="0" dirty="0" err="1">
                <a:solidFill>
                  <a:srgbClr val="222222"/>
                </a:solidFill>
                <a:effectLst/>
                <a:latin typeface="Arial" panose="020B0604020202020204" pitchFamily="34" charset="0"/>
              </a:rPr>
              <a:t>Mollick</a:t>
            </a:r>
            <a:r>
              <a:rPr lang="en-US" b="0" i="0" dirty="0">
                <a:solidFill>
                  <a:srgbClr val="222222"/>
                </a:solidFill>
                <a:effectLst/>
                <a:latin typeface="Arial" panose="020B0604020202020204" pitchFamily="34" charset="0"/>
              </a:rPr>
              <a:t>, J. A., &amp; </a:t>
            </a:r>
            <a:r>
              <a:rPr lang="en-US" b="0" i="0" dirty="0" err="1">
                <a:solidFill>
                  <a:srgbClr val="222222"/>
                </a:solidFill>
                <a:effectLst/>
                <a:latin typeface="Arial" panose="020B0604020202020204" pitchFamily="34" charset="0"/>
              </a:rPr>
              <a:t>Kober</a:t>
            </a:r>
            <a:r>
              <a:rPr lang="en-US" b="0" i="0" dirty="0">
                <a:solidFill>
                  <a:srgbClr val="222222"/>
                </a:solidFill>
                <a:effectLst/>
                <a:latin typeface="Arial" panose="020B0604020202020204" pitchFamily="34" charset="0"/>
              </a:rPr>
              <a:t>, H. (2022). Meta-analysis of human prediction error for incentives, perception, cognition, and action. </a:t>
            </a:r>
            <a:r>
              <a:rPr lang="en-US" b="0" i="1" dirty="0">
                <a:solidFill>
                  <a:srgbClr val="222222"/>
                </a:solidFill>
                <a:effectLst/>
                <a:latin typeface="Arial" panose="020B0604020202020204" pitchFamily="34" charset="0"/>
              </a:rPr>
              <a:t>Neuropsychopharmacology</a:t>
            </a:r>
            <a:r>
              <a:rPr lang="en-US" b="0" i="0" dirty="0">
                <a:solidFill>
                  <a:srgbClr val="222222"/>
                </a:solidFill>
                <a:effectLst/>
                <a:latin typeface="Arial" panose="020B0604020202020204" pitchFamily="34" charset="0"/>
              </a:rPr>
              <a:t>, </a:t>
            </a:r>
            <a:r>
              <a:rPr lang="en-US" b="0" i="1" dirty="0">
                <a:solidFill>
                  <a:srgbClr val="222222"/>
                </a:solidFill>
                <a:effectLst/>
                <a:latin typeface="Arial" panose="020B0604020202020204" pitchFamily="34" charset="0"/>
              </a:rPr>
              <a:t>47</a:t>
            </a:r>
            <a:r>
              <a:rPr lang="en-US" b="0" i="0" dirty="0">
                <a:solidFill>
                  <a:srgbClr val="222222"/>
                </a:solidFill>
                <a:effectLst/>
                <a:latin typeface="Arial" panose="020B0604020202020204" pitchFamily="34" charset="0"/>
              </a:rPr>
              <a:t>(7), 1339-1349.</a:t>
            </a:r>
          </a:p>
          <a:p>
            <a:endParaRPr lang="en-US" b="0" i="0" dirty="0">
              <a:solidFill>
                <a:srgbClr val="222222"/>
              </a:solidFill>
              <a:effectLst/>
              <a:latin typeface="Arial" panose="020B0604020202020204" pitchFamily="34" charset="0"/>
            </a:endParaRPr>
          </a:p>
          <a:p>
            <a:r>
              <a:rPr lang="en-US" b="0" i="0" dirty="0">
                <a:solidFill>
                  <a:srgbClr val="222222"/>
                </a:solidFill>
                <a:effectLst/>
                <a:latin typeface="Arial" panose="020B0604020202020204" pitchFamily="34" charset="0"/>
              </a:rPr>
              <a:t>Perception results: Iglesias, S., </a:t>
            </a:r>
            <a:r>
              <a:rPr lang="en-US" b="0" i="0" dirty="0" err="1">
                <a:solidFill>
                  <a:srgbClr val="222222"/>
                </a:solidFill>
                <a:effectLst/>
                <a:latin typeface="Arial" panose="020B0604020202020204" pitchFamily="34" charset="0"/>
              </a:rPr>
              <a:t>Mathys</a:t>
            </a:r>
            <a:r>
              <a:rPr lang="en-US" b="0" i="0" dirty="0">
                <a:solidFill>
                  <a:srgbClr val="222222"/>
                </a:solidFill>
                <a:effectLst/>
                <a:latin typeface="Arial" panose="020B0604020202020204" pitchFamily="34" charset="0"/>
              </a:rPr>
              <a:t>, C., </a:t>
            </a:r>
            <a:r>
              <a:rPr lang="en-US" b="0" i="0" dirty="0" err="1">
                <a:solidFill>
                  <a:srgbClr val="222222"/>
                </a:solidFill>
                <a:effectLst/>
                <a:latin typeface="Arial" panose="020B0604020202020204" pitchFamily="34" charset="0"/>
              </a:rPr>
              <a:t>Brodersen</a:t>
            </a:r>
            <a:r>
              <a:rPr lang="en-US" b="0" i="0" dirty="0">
                <a:solidFill>
                  <a:srgbClr val="222222"/>
                </a:solidFill>
                <a:effectLst/>
                <a:latin typeface="Arial" panose="020B0604020202020204" pitchFamily="34" charset="0"/>
              </a:rPr>
              <a:t>, K. H., Kasper, L., </a:t>
            </a:r>
            <a:r>
              <a:rPr lang="en-US" b="0" i="0" dirty="0" err="1">
                <a:solidFill>
                  <a:srgbClr val="222222"/>
                </a:solidFill>
                <a:effectLst/>
                <a:latin typeface="Arial" panose="020B0604020202020204" pitchFamily="34" charset="0"/>
              </a:rPr>
              <a:t>Piccirelli</a:t>
            </a:r>
            <a:r>
              <a:rPr lang="en-US" b="0" i="0" dirty="0">
                <a:solidFill>
                  <a:srgbClr val="222222"/>
                </a:solidFill>
                <a:effectLst/>
                <a:latin typeface="Arial" panose="020B0604020202020204" pitchFamily="34" charset="0"/>
              </a:rPr>
              <a:t>, M., den Ouden, H. E., &amp; Stephan, K. E. (2013). Hierarchical prediction errors in midbrain and basal forebrain during sensory learning. </a:t>
            </a:r>
            <a:r>
              <a:rPr lang="en-US" b="0" i="1" dirty="0">
                <a:solidFill>
                  <a:srgbClr val="222222"/>
                </a:solidFill>
                <a:effectLst/>
                <a:latin typeface="Arial" panose="020B0604020202020204" pitchFamily="34" charset="0"/>
              </a:rPr>
              <a:t>Neuron</a:t>
            </a:r>
            <a:r>
              <a:rPr lang="en-US" b="0" i="0" dirty="0">
                <a:solidFill>
                  <a:srgbClr val="222222"/>
                </a:solidFill>
                <a:effectLst/>
                <a:latin typeface="Arial" panose="020B0604020202020204" pitchFamily="34" charset="0"/>
              </a:rPr>
              <a:t>, </a:t>
            </a:r>
            <a:r>
              <a:rPr lang="en-US" b="0" i="1" dirty="0">
                <a:solidFill>
                  <a:srgbClr val="222222"/>
                </a:solidFill>
                <a:effectLst/>
                <a:latin typeface="Arial" panose="020B0604020202020204" pitchFamily="34" charset="0"/>
              </a:rPr>
              <a:t>80</a:t>
            </a:r>
            <a:r>
              <a:rPr lang="en-US" b="0" i="0" dirty="0">
                <a:solidFill>
                  <a:srgbClr val="222222"/>
                </a:solidFill>
                <a:effectLst/>
                <a:latin typeface="Arial" panose="020B0604020202020204" pitchFamily="34" charset="0"/>
              </a:rPr>
              <a:t>(2), 519-530.</a:t>
            </a:r>
          </a:p>
          <a:p>
            <a:pPr marL="171450" indent="-171450">
              <a:buFont typeface="Arial" panose="020B0604020202020204" pitchFamily="34" charset="0"/>
              <a:buChar char="•"/>
            </a:pPr>
            <a:r>
              <a:rPr lang="en-US" b="0" i="0" dirty="0">
                <a:solidFill>
                  <a:srgbClr val="222222"/>
                </a:solidFill>
                <a:effectLst/>
                <a:latin typeface="Arial" panose="020B0604020202020204" pitchFamily="34" charset="0"/>
              </a:rPr>
              <a:t>* </a:t>
            </a:r>
            <a:r>
              <a:rPr lang="en-US" b="0" i="0" dirty="0" err="1">
                <a:solidFill>
                  <a:srgbClr val="222222"/>
                </a:solidFill>
                <a:effectLst/>
                <a:latin typeface="Arial" panose="020B0604020202020204" pitchFamily="34" charset="0"/>
              </a:rPr>
              <a:t>dlPFC</a:t>
            </a:r>
            <a:r>
              <a:rPr lang="en-US" b="0" i="0" dirty="0">
                <a:solidFill>
                  <a:srgbClr val="222222"/>
                </a:solidFill>
                <a:effectLst/>
                <a:latin typeface="Arial" panose="020B0604020202020204" pitchFamily="34" charset="0"/>
              </a:rPr>
              <a:t> result (IFG and MFG)</a:t>
            </a:r>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14</a:t>
            </a:fld>
            <a:endParaRPr lang="en-US"/>
          </a:p>
        </p:txBody>
      </p:sp>
    </p:spTree>
    <p:extLst>
      <p:ext uri="{BB962C8B-B14F-4D97-AF65-F5344CB8AC3E}">
        <p14:creationId xmlns:p14="http://schemas.microsoft.com/office/powerpoint/2010/main" val="4032803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16</a:t>
            </a:fld>
            <a:endParaRPr lang="en-US"/>
          </a:p>
        </p:txBody>
      </p:sp>
    </p:spTree>
    <p:extLst>
      <p:ext uri="{BB962C8B-B14F-4D97-AF65-F5344CB8AC3E}">
        <p14:creationId xmlns:p14="http://schemas.microsoft.com/office/powerpoint/2010/main" val="14542327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learned about how to run Word2Vec + DNNs because </a:t>
            </a:r>
            <a:r>
              <a:rPr lang="en-US" dirty="0" err="1"/>
              <a:t>Lifu</a:t>
            </a:r>
            <a:r>
              <a:rPr lang="en-US" dirty="0"/>
              <a:t> didn’t yet try applying these to the scene images</a:t>
            </a:r>
          </a:p>
          <a:p>
            <a:pPr lvl="1"/>
            <a:r>
              <a:rPr lang="en-US" dirty="0"/>
              <a:t>However, I didn’t do the word2vec properly, so I don’t provide results on that</a:t>
            </a:r>
          </a:p>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18</a:t>
            </a:fld>
            <a:endParaRPr lang="en-US"/>
          </a:p>
        </p:txBody>
      </p:sp>
    </p:spTree>
    <p:extLst>
      <p:ext uri="{BB962C8B-B14F-4D97-AF65-F5344CB8AC3E}">
        <p14:creationId xmlns:p14="http://schemas.microsoft.com/office/powerpoint/2010/main" val="13881497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Notably organized into:</a:t>
            </a:r>
          </a:p>
          <a:p>
            <a:pPr lvl="1"/>
            <a:r>
              <a:rPr lang="en-US" dirty="0"/>
              <a:t>EVC</a:t>
            </a:r>
          </a:p>
          <a:p>
            <a:pPr lvl="1"/>
            <a:r>
              <a:rPr lang="en-US" dirty="0"/>
              <a:t>LOC</a:t>
            </a:r>
          </a:p>
          <a:p>
            <a:pPr lvl="1"/>
            <a:r>
              <a:rPr lang="en-US" dirty="0" err="1"/>
              <a:t>FuG</a:t>
            </a:r>
            <a:endParaRPr lang="en-US" dirty="0"/>
          </a:p>
          <a:p>
            <a:pPr lvl="1"/>
            <a:r>
              <a:rPr lang="en-US" dirty="0"/>
              <a:t>ATL</a:t>
            </a:r>
          </a:p>
          <a:p>
            <a:pPr lvl="1"/>
            <a:r>
              <a:rPr lang="en-US" dirty="0"/>
              <a:t>Hippocampus</a:t>
            </a:r>
          </a:p>
          <a:p>
            <a:pPr lvl="1"/>
            <a:r>
              <a:rPr lang="en-US" dirty="0"/>
              <a:t>IFG</a:t>
            </a:r>
          </a:p>
          <a:p>
            <a:pPr lvl="1"/>
            <a:r>
              <a:rPr lang="en-US" dirty="0"/>
              <a:t>MFG</a:t>
            </a:r>
          </a:p>
          <a:p>
            <a:pPr lvl="1"/>
            <a:r>
              <a:rPr lang="en-US" dirty="0"/>
              <a:t>SFG</a:t>
            </a:r>
          </a:p>
        </p:txBody>
      </p:sp>
      <p:sp>
        <p:nvSpPr>
          <p:cNvPr id="4" name="Slide Number Placeholder 3"/>
          <p:cNvSpPr>
            <a:spLocks noGrp="1"/>
          </p:cNvSpPr>
          <p:nvPr>
            <p:ph type="sldNum" sz="quarter" idx="5"/>
          </p:nvPr>
        </p:nvSpPr>
        <p:spPr/>
        <p:txBody>
          <a:bodyPr/>
          <a:lstStyle/>
          <a:p>
            <a:fld id="{92E3E675-13CA-4196-84E5-E684757DD2A6}" type="slidenum">
              <a:rPr lang="en-US" smtClean="0"/>
              <a:t>21</a:t>
            </a:fld>
            <a:endParaRPr lang="en-US"/>
          </a:p>
        </p:txBody>
      </p:sp>
    </p:spTree>
    <p:extLst>
      <p:ext uri="{BB962C8B-B14F-4D97-AF65-F5344CB8AC3E}">
        <p14:creationId xmlns:p14="http://schemas.microsoft.com/office/powerpoint/2010/main" val="27920933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22</a:t>
            </a:fld>
            <a:endParaRPr lang="en-US"/>
          </a:p>
        </p:txBody>
      </p:sp>
    </p:spTree>
    <p:extLst>
      <p:ext uri="{BB962C8B-B14F-4D97-AF65-F5344CB8AC3E}">
        <p14:creationId xmlns:p14="http://schemas.microsoft.com/office/powerpoint/2010/main" val="272745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23</a:t>
            </a:fld>
            <a:endParaRPr lang="en-US"/>
          </a:p>
        </p:txBody>
      </p:sp>
    </p:spTree>
    <p:extLst>
      <p:ext uri="{BB962C8B-B14F-4D97-AF65-F5344CB8AC3E}">
        <p14:creationId xmlns:p14="http://schemas.microsoft.com/office/powerpoint/2010/main" val="3110100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29</a:t>
            </a:fld>
            <a:endParaRPr lang="en-US"/>
          </a:p>
        </p:txBody>
      </p:sp>
    </p:spTree>
    <p:extLst>
      <p:ext uri="{BB962C8B-B14F-4D97-AF65-F5344CB8AC3E}">
        <p14:creationId xmlns:p14="http://schemas.microsoft.com/office/powerpoint/2010/main" val="8937340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hoc tests on bilateral SFG, for the eight </a:t>
            </a:r>
            <a:r>
              <a:rPr lang="en-US" dirty="0" err="1"/>
              <a:t>dmPFC</a:t>
            </a:r>
            <a:r>
              <a:rPr lang="en-US" dirty="0"/>
              <a:t> ROIs, t = 4.14. For the six </a:t>
            </a:r>
            <a:r>
              <a:rPr lang="en-US" dirty="0" err="1"/>
              <a:t>dlPFC</a:t>
            </a:r>
            <a:r>
              <a:rPr lang="en-US" dirty="0"/>
              <a:t> ROIs, t = 2.94. SFG bilateral altogether is 4.17.</a:t>
            </a:r>
          </a:p>
          <a:p>
            <a:r>
              <a:rPr lang="en-US" dirty="0" err="1"/>
              <a:t>mPFC</a:t>
            </a:r>
            <a:r>
              <a:rPr lang="en-US" dirty="0"/>
              <a:t> overall (including some orbital and CG, yields 3.85. Excluding CG, we get 3.6. </a:t>
            </a:r>
          </a:p>
        </p:txBody>
      </p:sp>
      <p:sp>
        <p:nvSpPr>
          <p:cNvPr id="4" name="Slide Number Placeholder 3"/>
          <p:cNvSpPr>
            <a:spLocks noGrp="1"/>
          </p:cNvSpPr>
          <p:nvPr>
            <p:ph type="sldNum" sz="quarter" idx="5"/>
          </p:nvPr>
        </p:nvSpPr>
        <p:spPr/>
        <p:txBody>
          <a:bodyPr/>
          <a:lstStyle/>
          <a:p>
            <a:fld id="{92E3E675-13CA-4196-84E5-E684757DD2A6}" type="slidenum">
              <a:rPr lang="en-US" smtClean="0"/>
              <a:t>32</a:t>
            </a:fld>
            <a:endParaRPr lang="en-US"/>
          </a:p>
        </p:txBody>
      </p:sp>
    </p:spTree>
    <p:extLst>
      <p:ext uri="{BB962C8B-B14F-4D97-AF65-F5344CB8AC3E}">
        <p14:creationId xmlns:p14="http://schemas.microsoft.com/office/powerpoint/2010/main" val="649563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Downside: Doesn’t pan out for word2vec analysis. </a:t>
            </a:r>
            <a:r>
              <a:rPr lang="en-US" dirty="0" err="1"/>
              <a:t>lPFC</a:t>
            </a:r>
            <a:r>
              <a:rPr lang="en-US" dirty="0"/>
              <a:t> doesn’t pan out for connectivity. Also, doesn’t work if only looking at a single congruent/incongruent/neutral condition</a:t>
            </a:r>
          </a:p>
          <a:p>
            <a:r>
              <a:rPr lang="en-US" dirty="0"/>
              <a:t>HC result a bit less robust</a:t>
            </a:r>
          </a:p>
        </p:txBody>
      </p:sp>
      <p:sp>
        <p:nvSpPr>
          <p:cNvPr id="4" name="Slide Number Placeholder 3"/>
          <p:cNvSpPr>
            <a:spLocks noGrp="1"/>
          </p:cNvSpPr>
          <p:nvPr>
            <p:ph type="sldNum" sz="quarter" idx="5"/>
          </p:nvPr>
        </p:nvSpPr>
        <p:spPr/>
        <p:txBody>
          <a:bodyPr/>
          <a:lstStyle/>
          <a:p>
            <a:fld id="{92E3E675-13CA-4196-84E5-E684757DD2A6}" type="slidenum">
              <a:rPr lang="en-US" smtClean="0"/>
              <a:t>34</a:t>
            </a:fld>
            <a:endParaRPr lang="en-US"/>
          </a:p>
        </p:txBody>
      </p:sp>
    </p:spTree>
    <p:extLst>
      <p:ext uri="{BB962C8B-B14F-4D97-AF65-F5344CB8AC3E}">
        <p14:creationId xmlns:p14="http://schemas.microsoft.com/office/powerpoint/2010/main" val="8847857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Downside: Doesn’t pan out for word2vec analysis. </a:t>
            </a:r>
            <a:r>
              <a:rPr lang="en-US" dirty="0" err="1"/>
              <a:t>lPFC</a:t>
            </a:r>
            <a:r>
              <a:rPr lang="en-US" dirty="0"/>
              <a:t> doesn’t pan out for connectivity. Also, doesn’t work if only looking at a single congruent/incongruent/neutral condition</a:t>
            </a:r>
          </a:p>
          <a:p>
            <a:r>
              <a:rPr lang="en-US" dirty="0"/>
              <a:t>HC result a bit less robust</a:t>
            </a:r>
          </a:p>
        </p:txBody>
      </p:sp>
      <p:sp>
        <p:nvSpPr>
          <p:cNvPr id="4" name="Slide Number Placeholder 3"/>
          <p:cNvSpPr>
            <a:spLocks noGrp="1"/>
          </p:cNvSpPr>
          <p:nvPr>
            <p:ph type="sldNum" sz="quarter" idx="5"/>
          </p:nvPr>
        </p:nvSpPr>
        <p:spPr/>
        <p:txBody>
          <a:bodyPr/>
          <a:lstStyle/>
          <a:p>
            <a:fld id="{92E3E675-13CA-4196-84E5-E684757DD2A6}" type="slidenum">
              <a:rPr lang="en-US" smtClean="0"/>
              <a:t>35</a:t>
            </a:fld>
            <a:endParaRPr lang="en-US"/>
          </a:p>
        </p:txBody>
      </p:sp>
    </p:spTree>
    <p:extLst>
      <p:ext uri="{BB962C8B-B14F-4D97-AF65-F5344CB8AC3E}">
        <p14:creationId xmlns:p14="http://schemas.microsoft.com/office/powerpoint/2010/main" val="21287514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amygdala also shows an interesting pattern</a:t>
            </a:r>
          </a:p>
          <a:p>
            <a:pPr lvl="1"/>
            <a:r>
              <a:rPr lang="en-US" dirty="0"/>
              <a:t>Stronger representation in the </a:t>
            </a:r>
            <a:r>
              <a:rPr lang="en-US" dirty="0" err="1"/>
              <a:t>amgydala</a:t>
            </a:r>
            <a:r>
              <a:rPr lang="en-US" dirty="0"/>
              <a:t> is linked to decreased connectivity with everything else</a:t>
            </a:r>
          </a:p>
          <a:p>
            <a:pPr lvl="1"/>
            <a:r>
              <a:rPr lang="en-US" dirty="0"/>
              <a:t>Beyond the present focus?</a:t>
            </a:r>
          </a:p>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37</a:t>
            </a:fld>
            <a:endParaRPr lang="en-US"/>
          </a:p>
        </p:txBody>
      </p:sp>
    </p:spTree>
    <p:extLst>
      <p:ext uri="{BB962C8B-B14F-4D97-AF65-F5344CB8AC3E}">
        <p14:creationId xmlns:p14="http://schemas.microsoft.com/office/powerpoint/2010/main" val="2619718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may be of general interest: You know how the RSA values (z-scores and IRAFs) between regions seem to be spatially correlated (neighboring regions are similar). This violates assumptions of independence. This violation may mean that multiple hypothesis correction methods may not be appropriate, and FWER corrections will be too strict. I explored this question in the </a:t>
            </a:r>
            <a:r>
              <a:rPr lang="en-US" dirty="0" err="1"/>
              <a:t>SchemeRep</a:t>
            </a:r>
            <a:r>
              <a:rPr lang="en-US" dirty="0"/>
              <a:t> data. The data can be split into either 45 large or 222 smaller ROIs meaning 45 or 222 comparisons*. I did a permutation-testing analysis, where I shuffled every trial, meaning that every trial’s fMRI data is matched with random stimulus data. I only shuffled within-run (e.g., moving Run 2 trial 1’s fMRI data to the Run 2 trial 5 position), to avoid issues related to within/between run RSA. The RSA analysis, for each ROI, entailed doing the </a:t>
            </a:r>
            <a:r>
              <a:rPr lang="en-US" dirty="0" err="1"/>
              <a:t>fMRI_RDM</a:t>
            </a:r>
            <a:r>
              <a:rPr lang="en-US" dirty="0"/>
              <a:t> x </a:t>
            </a:r>
            <a:r>
              <a:rPr lang="en-US" dirty="0" err="1"/>
              <a:t>stim_RDM</a:t>
            </a:r>
            <a:r>
              <a:rPr lang="en-US" dirty="0"/>
              <a:t> correlation, and submitting each participant’s score to a one-sample t-test, examining whether it is significantly above zero. I did this 2000 times for the analysis of 50 ROIs and 760 times for the analysis of 250 ROIs.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I plot here, in red, the maximum t-value seen across any ROI, for a given simulation. For reference, I also plot in green what would be expected if each ROI’s analysis independent from each other ROI’s analysis (this parallels the t-value threshold required after Bonferroni correction). We can see that the red line is slightly lower than the green line but not by very much (e.g., Bonferroni correction would require t = ~3.3, but the simulation suggests that t = ~3.15 is sufficient for FWER correction). In blue, I also tried modeling the red line to gain some intuition for its shape. It basically models the t-values by sampling from a multilevel model using variance settings measured from the simulated data.</a:t>
            </a:r>
          </a:p>
          <a:p>
            <a:endParaRPr lang="en-US" dirty="0"/>
          </a:p>
          <a:p>
            <a:r>
              <a:rPr lang="en-US" b="1" dirty="0"/>
              <a:t>In sum</a:t>
            </a:r>
            <a:r>
              <a:rPr lang="en-US" dirty="0"/>
              <a:t>, standard multiple hypothesis correction techniques are basically fine. However, if your results are just barely falling under a standard FWER threshold, they may end up significant if permutation-testing is used. It’s not clear to mean what implications this would have for FDR correction.</a:t>
            </a:r>
          </a:p>
          <a:p>
            <a:endParaRPr lang="en-US" dirty="0"/>
          </a:p>
          <a:p>
            <a:r>
              <a:rPr lang="en-US" dirty="0"/>
              <a:t>*Note, I’m using the </a:t>
            </a:r>
            <a:r>
              <a:rPr lang="en-US" dirty="0" err="1"/>
              <a:t>brainnetome</a:t>
            </a:r>
            <a:r>
              <a:rPr lang="en-US" dirty="0"/>
              <a:t> atlas and 222 is slightly less than the number of ROIs in the </a:t>
            </a:r>
            <a:r>
              <a:rPr lang="en-US" dirty="0" err="1"/>
              <a:t>brainnetome</a:t>
            </a:r>
            <a:r>
              <a:rPr lang="en-US" dirty="0"/>
              <a:t> atlas. This is lower because I simply discarding ROIs where one or more participants have too many nan values. </a:t>
            </a:r>
          </a:p>
        </p:txBody>
      </p:sp>
      <p:sp>
        <p:nvSpPr>
          <p:cNvPr id="4" name="Slide Number Placeholder 3"/>
          <p:cNvSpPr>
            <a:spLocks noGrp="1"/>
          </p:cNvSpPr>
          <p:nvPr>
            <p:ph type="sldNum" sz="quarter" idx="5"/>
          </p:nvPr>
        </p:nvSpPr>
        <p:spPr/>
        <p:txBody>
          <a:bodyPr/>
          <a:lstStyle/>
          <a:p>
            <a:fld id="{92E3E675-13CA-4196-84E5-E684757DD2A6}" type="slidenum">
              <a:rPr lang="en-US" smtClean="0"/>
              <a:t>43</a:t>
            </a:fld>
            <a:endParaRPr lang="en-US"/>
          </a:p>
        </p:txBody>
      </p:sp>
    </p:spTree>
    <p:extLst>
      <p:ext uri="{BB962C8B-B14F-4D97-AF65-F5344CB8AC3E}">
        <p14:creationId xmlns:p14="http://schemas.microsoft.com/office/powerpoint/2010/main" val="33975254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44</a:t>
            </a:fld>
            <a:endParaRPr lang="en-US"/>
          </a:p>
        </p:txBody>
      </p:sp>
    </p:spTree>
    <p:extLst>
      <p:ext uri="{BB962C8B-B14F-4D97-AF65-F5344CB8AC3E}">
        <p14:creationId xmlns:p14="http://schemas.microsoft.com/office/powerpoint/2010/main" val="42167758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49</a:t>
            </a:fld>
            <a:endParaRPr lang="en-US"/>
          </a:p>
        </p:txBody>
      </p:sp>
    </p:spTree>
    <p:extLst>
      <p:ext uri="{BB962C8B-B14F-4D97-AF65-F5344CB8AC3E}">
        <p14:creationId xmlns:p14="http://schemas.microsoft.com/office/powerpoint/2010/main" val="349295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a:t>
            </a:r>
          </a:p>
          <a:p>
            <a:pPr lvl="1"/>
            <a:r>
              <a:rPr lang="en-US" dirty="0"/>
              <a:t>Must be in a single session or else memory will degrade too much</a:t>
            </a:r>
          </a:p>
          <a:p>
            <a:pPr lvl="1"/>
            <a:r>
              <a:rPr lang="en-US" dirty="0"/>
              <a:t>Could vary the encoding question to be about different stimulus properties (e.g., Corish/k-crops perceptual vs. conceptual question)</a:t>
            </a:r>
          </a:p>
          <a:p>
            <a:pPr lvl="1"/>
            <a:r>
              <a:rPr lang="en-US" dirty="0"/>
              <a:t>Using the cue in an R/K test means it shouldn’t be repeated?</a:t>
            </a:r>
          </a:p>
          <a:p>
            <a:pPr lvl="1"/>
            <a:r>
              <a:rPr lang="en-US" dirty="0"/>
              <a:t>Could investigate memory for directionality accuracy, but I’m not sure how interesting that is</a:t>
            </a:r>
          </a:p>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50</a:t>
            </a:fld>
            <a:endParaRPr lang="en-US"/>
          </a:p>
        </p:txBody>
      </p:sp>
    </p:spTree>
    <p:extLst>
      <p:ext uri="{BB962C8B-B14F-4D97-AF65-F5344CB8AC3E}">
        <p14:creationId xmlns:p14="http://schemas.microsoft.com/office/powerpoint/2010/main" val="28860592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51</a:t>
            </a:fld>
            <a:endParaRPr lang="en-US"/>
          </a:p>
        </p:txBody>
      </p:sp>
    </p:spTree>
    <p:extLst>
      <p:ext uri="{BB962C8B-B14F-4D97-AF65-F5344CB8AC3E}">
        <p14:creationId xmlns:p14="http://schemas.microsoft.com/office/powerpoint/2010/main" val="18965921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53</a:t>
            </a:fld>
            <a:endParaRPr lang="en-US"/>
          </a:p>
        </p:txBody>
      </p:sp>
    </p:spTree>
    <p:extLst>
      <p:ext uri="{BB962C8B-B14F-4D97-AF65-F5344CB8AC3E}">
        <p14:creationId xmlns:p14="http://schemas.microsoft.com/office/powerpoint/2010/main" val="29145308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54</a:t>
            </a:fld>
            <a:endParaRPr lang="en-US"/>
          </a:p>
        </p:txBody>
      </p:sp>
    </p:spTree>
    <p:extLst>
      <p:ext uri="{BB962C8B-B14F-4D97-AF65-F5344CB8AC3E}">
        <p14:creationId xmlns:p14="http://schemas.microsoft.com/office/powerpoint/2010/main" val="17010959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56</a:t>
            </a:fld>
            <a:endParaRPr lang="en-US"/>
          </a:p>
        </p:txBody>
      </p:sp>
    </p:spTree>
    <p:extLst>
      <p:ext uri="{BB962C8B-B14F-4D97-AF65-F5344CB8AC3E}">
        <p14:creationId xmlns:p14="http://schemas.microsoft.com/office/powerpoint/2010/main" val="6433572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57</a:t>
            </a:fld>
            <a:endParaRPr lang="en-US"/>
          </a:p>
        </p:txBody>
      </p:sp>
    </p:spTree>
    <p:extLst>
      <p:ext uri="{BB962C8B-B14F-4D97-AF65-F5344CB8AC3E}">
        <p14:creationId xmlns:p14="http://schemas.microsoft.com/office/powerpoint/2010/main" val="32285605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Correlation between spatial IRAF x analogical IRAF = </a:t>
            </a:r>
          </a:p>
        </p:txBody>
      </p:sp>
      <p:sp>
        <p:nvSpPr>
          <p:cNvPr id="4" name="Slide Number Placeholder 3"/>
          <p:cNvSpPr>
            <a:spLocks noGrp="1"/>
          </p:cNvSpPr>
          <p:nvPr>
            <p:ph type="sldNum" sz="quarter" idx="5"/>
          </p:nvPr>
        </p:nvSpPr>
        <p:spPr/>
        <p:txBody>
          <a:bodyPr/>
          <a:lstStyle/>
          <a:p>
            <a:fld id="{92E3E675-13CA-4196-84E5-E684757DD2A6}" type="slidenum">
              <a:rPr lang="en-US" smtClean="0"/>
              <a:t>59</a:t>
            </a:fld>
            <a:endParaRPr lang="en-US"/>
          </a:p>
        </p:txBody>
      </p:sp>
    </p:spTree>
    <p:extLst>
      <p:ext uri="{BB962C8B-B14F-4D97-AF65-F5344CB8AC3E}">
        <p14:creationId xmlns:p14="http://schemas.microsoft.com/office/powerpoint/2010/main" val="9315925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60</a:t>
            </a:fld>
            <a:endParaRPr lang="en-US"/>
          </a:p>
        </p:txBody>
      </p:sp>
    </p:spTree>
    <p:extLst>
      <p:ext uri="{BB962C8B-B14F-4D97-AF65-F5344CB8AC3E}">
        <p14:creationId xmlns:p14="http://schemas.microsoft.com/office/powerpoint/2010/main" val="9422519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63</a:t>
            </a:fld>
            <a:endParaRPr lang="en-US"/>
          </a:p>
        </p:txBody>
      </p:sp>
    </p:spTree>
    <p:extLst>
      <p:ext uri="{BB962C8B-B14F-4D97-AF65-F5344CB8AC3E}">
        <p14:creationId xmlns:p14="http://schemas.microsoft.com/office/powerpoint/2010/main" val="38934418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64</a:t>
            </a:fld>
            <a:endParaRPr lang="en-US"/>
          </a:p>
        </p:txBody>
      </p:sp>
    </p:spTree>
    <p:extLst>
      <p:ext uri="{BB962C8B-B14F-4D97-AF65-F5344CB8AC3E}">
        <p14:creationId xmlns:p14="http://schemas.microsoft.com/office/powerpoint/2010/main" val="10778718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66</a:t>
            </a:fld>
            <a:endParaRPr lang="en-US"/>
          </a:p>
        </p:txBody>
      </p:sp>
    </p:spTree>
    <p:extLst>
      <p:ext uri="{BB962C8B-B14F-4D97-AF65-F5344CB8AC3E}">
        <p14:creationId xmlns:p14="http://schemas.microsoft.com/office/powerpoint/2010/main" val="32674694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67</a:t>
            </a:fld>
            <a:endParaRPr lang="en-US"/>
          </a:p>
        </p:txBody>
      </p:sp>
    </p:spTree>
    <p:extLst>
      <p:ext uri="{BB962C8B-B14F-4D97-AF65-F5344CB8AC3E}">
        <p14:creationId xmlns:p14="http://schemas.microsoft.com/office/powerpoint/2010/main" val="3743658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68</a:t>
            </a:fld>
            <a:endParaRPr lang="en-US"/>
          </a:p>
        </p:txBody>
      </p:sp>
    </p:spTree>
    <p:extLst>
      <p:ext uri="{BB962C8B-B14F-4D97-AF65-F5344CB8AC3E}">
        <p14:creationId xmlns:p14="http://schemas.microsoft.com/office/powerpoint/2010/main" val="1224742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Font typeface="Arial" panose="020B0604020202020204" pitchFamily="34" charset="0"/>
              <a:buChar char="•"/>
            </a:pPr>
            <a:r>
              <a:rPr lang="en-US" sz="2400" i="1" dirty="0">
                <a:latin typeface="Arial" panose="020B0604020202020204" pitchFamily="34" charset="0"/>
                <a:cs typeface="Arial" panose="020B0604020202020204" pitchFamily="34" charset="0"/>
              </a:rPr>
              <a:t>Consolidation</a:t>
            </a:r>
          </a:p>
          <a:p>
            <a:pPr marL="742950" lvl="1" indent="-285750">
              <a:buFont typeface="Courier New" panose="02070309020205020404" pitchFamily="49" charset="0"/>
              <a:buChar char="o"/>
            </a:pPr>
            <a:r>
              <a:rPr lang="en-US" sz="2400" dirty="0">
                <a:latin typeface="Arial" panose="020B0604020202020204" pitchFamily="34" charset="0"/>
                <a:cs typeface="Arial" panose="020B0604020202020204" pitchFamily="34" charset="0"/>
              </a:rPr>
              <a:t>Via episodic memory retrieval, a semantic network is built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Possibly also entails retrieving an “action”</a:t>
            </a:r>
          </a:p>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70</a:t>
            </a:fld>
            <a:endParaRPr lang="en-US"/>
          </a:p>
        </p:txBody>
      </p:sp>
    </p:spTree>
    <p:extLst>
      <p:ext uri="{BB962C8B-B14F-4D97-AF65-F5344CB8AC3E}">
        <p14:creationId xmlns:p14="http://schemas.microsoft.com/office/powerpoint/2010/main" val="30118654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71</a:t>
            </a:fld>
            <a:endParaRPr lang="en-US"/>
          </a:p>
        </p:txBody>
      </p:sp>
    </p:spTree>
    <p:extLst>
      <p:ext uri="{BB962C8B-B14F-4D97-AF65-F5344CB8AC3E}">
        <p14:creationId xmlns:p14="http://schemas.microsoft.com/office/powerpoint/2010/main" val="21537385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sz="1200" dirty="0"/>
              <a:t>This analysis is premised on the idea that (1) how relations are encoded depends on the information being encoded and (2) this contingency is captured by the stimulus features we can model, e.g., with a DNN or word2vec</a:t>
            </a:r>
          </a:p>
          <a:p>
            <a:pPr lvl="1"/>
            <a:r>
              <a:rPr lang="en-US" sz="1200" dirty="0"/>
              <a:t>However, what if relational memory encoding isn’t tracked by our stimulus features</a:t>
            </a:r>
          </a:p>
          <a:p>
            <a:endParaRPr lang="en-US" dirty="0"/>
          </a:p>
          <a:p>
            <a:endParaRPr lang="en-US" dirty="0"/>
          </a:p>
          <a:p>
            <a:r>
              <a:rPr lang="en-US" dirty="0"/>
              <a:t>Maybe include a baseline task where participants just see all the targets. This will also help with encoding</a:t>
            </a:r>
          </a:p>
        </p:txBody>
      </p:sp>
      <p:sp>
        <p:nvSpPr>
          <p:cNvPr id="4" name="Slide Number Placeholder 3"/>
          <p:cNvSpPr>
            <a:spLocks noGrp="1"/>
          </p:cNvSpPr>
          <p:nvPr>
            <p:ph type="sldNum" sz="quarter" idx="5"/>
          </p:nvPr>
        </p:nvSpPr>
        <p:spPr/>
        <p:txBody>
          <a:bodyPr/>
          <a:lstStyle/>
          <a:p>
            <a:fld id="{92E3E675-13CA-4196-84E5-E684757DD2A6}" type="slidenum">
              <a:rPr lang="en-US" smtClean="0"/>
              <a:t>73</a:t>
            </a:fld>
            <a:endParaRPr lang="en-US"/>
          </a:p>
        </p:txBody>
      </p:sp>
    </p:spTree>
    <p:extLst>
      <p:ext uri="{BB962C8B-B14F-4D97-AF65-F5344CB8AC3E}">
        <p14:creationId xmlns:p14="http://schemas.microsoft.com/office/powerpoint/2010/main" val="39094057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task design 2, participants may encode X-A, X-B, and B-A simultaneously as an episodic memory)</a:t>
            </a:r>
          </a:p>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74</a:t>
            </a:fld>
            <a:endParaRPr lang="en-US"/>
          </a:p>
        </p:txBody>
      </p:sp>
    </p:spTree>
    <p:extLst>
      <p:ext uri="{BB962C8B-B14F-4D97-AF65-F5344CB8AC3E}">
        <p14:creationId xmlns:p14="http://schemas.microsoft.com/office/powerpoint/2010/main" val="25785532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75</a:t>
            </a:fld>
            <a:endParaRPr lang="en-US"/>
          </a:p>
        </p:txBody>
      </p:sp>
    </p:spTree>
    <p:extLst>
      <p:ext uri="{BB962C8B-B14F-4D97-AF65-F5344CB8AC3E}">
        <p14:creationId xmlns:p14="http://schemas.microsoft.com/office/powerpoint/2010/main" val="188481586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76</a:t>
            </a:fld>
            <a:endParaRPr lang="en-US"/>
          </a:p>
        </p:txBody>
      </p:sp>
    </p:spTree>
    <p:extLst>
      <p:ext uri="{BB962C8B-B14F-4D97-AF65-F5344CB8AC3E}">
        <p14:creationId xmlns:p14="http://schemas.microsoft.com/office/powerpoint/2010/main" val="34624851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latin typeface="Times New Roman" panose="02020603050405020304" pitchFamily="18" charset="0"/>
                <a:cs typeface="Times New Roman" panose="02020603050405020304" pitchFamily="18" charset="0"/>
              </a:rPr>
              <a:t>u</a:t>
            </a:r>
            <a:r>
              <a:rPr lang="en-US" dirty="0"/>
              <a:t>,</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a:t>
            </a:r>
            <a:r>
              <a:rPr lang="en-US" dirty="0"/>
              <a:t>,</a:t>
            </a:r>
            <a:r>
              <a:rPr lang="en-US" b="1" dirty="0">
                <a:latin typeface="Times New Roman" panose="02020603050405020304" pitchFamily="18" charset="0"/>
                <a:cs typeface="Times New Roman" panose="02020603050405020304" pitchFamily="18" charset="0"/>
              </a:rPr>
              <a:t> w</a:t>
            </a:r>
            <a:r>
              <a:rPr lang="en-US" dirty="0"/>
              <a:t>,</a:t>
            </a:r>
            <a:r>
              <a:rPr lang="en-US" b="1" dirty="0">
                <a:latin typeface="Times New Roman" panose="02020603050405020304" pitchFamily="18" charset="0"/>
                <a:cs typeface="Times New Roman" panose="02020603050405020304" pitchFamily="18" charset="0"/>
              </a:rPr>
              <a:t> x</a:t>
            </a:r>
            <a:r>
              <a:rPr lang="en-US" dirty="0"/>
              <a:t>,</a:t>
            </a:r>
            <a:r>
              <a:rPr lang="en-US" b="1" dirty="0">
                <a:latin typeface="Times New Roman" panose="02020603050405020304" pitchFamily="18" charset="0"/>
                <a:cs typeface="Times New Roman" panose="02020603050405020304" pitchFamily="18" charset="0"/>
              </a:rPr>
              <a:t> y</a:t>
            </a:r>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77</a:t>
            </a:fld>
            <a:endParaRPr lang="en-US"/>
          </a:p>
        </p:txBody>
      </p:sp>
    </p:spTree>
    <p:extLst>
      <p:ext uri="{BB962C8B-B14F-4D97-AF65-F5344CB8AC3E}">
        <p14:creationId xmlns:p14="http://schemas.microsoft.com/office/powerpoint/2010/main" val="32622704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on true analogies (e.g., “ingredient of” or “cooked in”) and not just overlapping features or category examples</a:t>
            </a:r>
          </a:p>
          <a:p>
            <a:pPr lvl="1"/>
            <a:r>
              <a:rPr lang="en-US" dirty="0"/>
              <a:t>However, this makes the design more challenging</a:t>
            </a:r>
          </a:p>
          <a:p>
            <a:r>
              <a:rPr lang="en-US" dirty="0"/>
              <a:t>Either way, it would be hard to just look at similarity of analogy processing since it could just be confounded by overlaps in the representations of a given item (e.g., retrieving USA-Fried chicken :: Italy-Pizza, could be confounded by features “country” and “food”)</a:t>
            </a:r>
          </a:p>
          <a:p>
            <a:endParaRPr lang="en-US" dirty="0"/>
          </a:p>
        </p:txBody>
      </p:sp>
      <p:sp>
        <p:nvSpPr>
          <p:cNvPr id="4" name="Slide Number Placeholder 3"/>
          <p:cNvSpPr>
            <a:spLocks noGrp="1"/>
          </p:cNvSpPr>
          <p:nvPr>
            <p:ph type="sldNum" sz="quarter" idx="5"/>
          </p:nvPr>
        </p:nvSpPr>
        <p:spPr/>
        <p:txBody>
          <a:bodyPr/>
          <a:lstStyle/>
          <a:p>
            <a:fld id="{92E3E675-13CA-4196-84E5-E684757DD2A6}" type="slidenum">
              <a:rPr lang="en-US" smtClean="0"/>
              <a:t>78</a:t>
            </a:fld>
            <a:endParaRPr lang="en-US"/>
          </a:p>
        </p:txBody>
      </p:sp>
    </p:spTree>
    <p:extLst>
      <p:ext uri="{BB962C8B-B14F-4D97-AF65-F5344CB8AC3E}">
        <p14:creationId xmlns:p14="http://schemas.microsoft.com/office/powerpoint/2010/main" val="42171786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AD00B-6584-4BEB-BB07-D320C42443A6}"/>
              </a:ext>
            </a:extLst>
          </p:cNvPr>
          <p:cNvSpPr>
            <a:spLocks noGrp="1"/>
          </p:cNvSpPr>
          <p:nvPr>
            <p:ph type="ctrTitle"/>
          </p:nvPr>
        </p:nvSpPr>
        <p:spPr>
          <a:xfrm>
            <a:off x="1524000" y="1122363"/>
            <a:ext cx="9144000" cy="2387600"/>
          </a:xfrm>
        </p:spPr>
        <p:txBody>
          <a:bodyPr anchor="b"/>
          <a:lstStyle>
            <a:lvl1pPr algn="ct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EE093775-97DA-4F0C-8091-7243A71F5AB9}"/>
              </a:ext>
            </a:extLst>
          </p:cNvPr>
          <p:cNvSpPr>
            <a:spLocks noGrp="1"/>
          </p:cNvSpPr>
          <p:nvPr>
            <p:ph type="subTitle" idx="1"/>
          </p:nvPr>
        </p:nvSpPr>
        <p:spPr>
          <a:xfrm>
            <a:off x="1524000" y="3602038"/>
            <a:ext cx="9144000" cy="1655762"/>
          </a:xfrm>
        </p:spPr>
        <p:txBody>
          <a:bodyPr/>
          <a:lstStyle>
            <a:lvl1pPr marL="0" indent="0" algn="ctr">
              <a:buNone/>
              <a:defRPr sz="240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0C2E7B29-494F-46C3-98E5-9F2CFE6B57A9}"/>
              </a:ext>
            </a:extLst>
          </p:cNvPr>
          <p:cNvSpPr>
            <a:spLocks noGrp="1"/>
          </p:cNvSpPr>
          <p:nvPr>
            <p:ph type="dt" sz="half" idx="10"/>
          </p:nvPr>
        </p:nvSpPr>
        <p:spPr/>
        <p:txBody>
          <a:bodyPr/>
          <a:lstStyle/>
          <a:p>
            <a:fld id="{826B2E29-6454-4170-AF87-B006FFB35D00}" type="datetimeFigureOut">
              <a:rPr lang="en-US" smtClean="0"/>
              <a:t>11/8/2023</a:t>
            </a:fld>
            <a:endParaRPr lang="en-US" dirty="0"/>
          </a:p>
        </p:txBody>
      </p:sp>
      <p:sp>
        <p:nvSpPr>
          <p:cNvPr id="5" name="Footer Placeholder 4">
            <a:extLst>
              <a:ext uri="{FF2B5EF4-FFF2-40B4-BE49-F238E27FC236}">
                <a16:creationId xmlns:a16="http://schemas.microsoft.com/office/drawing/2014/main" id="{1C629F06-03E1-4DE2-98E0-74887BAC9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FE5F46-6594-4C1E-B5CA-1F1D6F20F0C5}"/>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2921770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18E2B-D6F1-4EA2-8F10-7D5D17974DB8}"/>
              </a:ext>
            </a:extLst>
          </p:cNvPr>
          <p:cNvSpPr>
            <a:spLocks noGrp="1"/>
          </p:cNvSpPr>
          <p:nvPr>
            <p:ph type="title"/>
          </p:nvPr>
        </p:nvSpPr>
        <p:spPr/>
        <p:txBody>
          <a:bodyPr/>
          <a:lstStyle>
            <a:lvl1pPr algn="ct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7AD061B-03B3-4665-AA43-89C80159D0F0}"/>
              </a:ext>
            </a:extLst>
          </p:cNvPr>
          <p:cNvSpPr>
            <a:spLocks noGrp="1"/>
          </p:cNvSpPr>
          <p:nvPr>
            <p:ph idx="1"/>
          </p:nvPr>
        </p:nvSpPr>
        <p:spPr/>
        <p:txBody>
          <a:bodyPr/>
          <a:lstStyle>
            <a:lvl1pPr>
              <a:defRPr>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latin typeface="Arial" panose="020B0604020202020204" pitchFamily="34" charset="0"/>
                <a:cs typeface="Arial" panose="020B0604020202020204" pitchFamily="34" charset="0"/>
              </a:defRPr>
            </a:lvl3pPr>
            <a:lvl4pPr marL="1600200" indent="-228600">
              <a:buFont typeface="Wingdings" panose="05000000000000000000" pitchFamily="2" charset="2"/>
              <a:buChar char="v"/>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DE68A43-9AA0-4950-B1EC-6BFB6F75E798}"/>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5" name="Footer Placeholder 4">
            <a:extLst>
              <a:ext uri="{FF2B5EF4-FFF2-40B4-BE49-F238E27FC236}">
                <a16:creationId xmlns:a16="http://schemas.microsoft.com/office/drawing/2014/main" id="{3D1BB70E-48FE-49D7-B925-546DA100FE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8C68AE-EABA-4A35-AFE9-C39F59588379}"/>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606355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9B53F-ED2E-4673-A940-F01A32CB4A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D9796FD-D16C-4F81-BDA1-928AE471D6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6B1EED-EFC9-4E32-A27E-A04910ABAF18}"/>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5" name="Footer Placeholder 4">
            <a:extLst>
              <a:ext uri="{FF2B5EF4-FFF2-40B4-BE49-F238E27FC236}">
                <a16:creationId xmlns:a16="http://schemas.microsoft.com/office/drawing/2014/main" id="{5930C3AC-D4C3-43A1-B81B-0FE71EF265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1631A4-C8E4-40B1-8060-9CD773F03DB6}"/>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33582478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74271-11DA-4E97-B187-22F01CD292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7AD5DB8-CF97-4315-BD7D-836111B7543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FD2452B-E913-4410-8B5A-FEA37D312DB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D060FC7-4A31-4ECB-B9E2-E3F479496C2B}"/>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6" name="Footer Placeholder 5">
            <a:extLst>
              <a:ext uri="{FF2B5EF4-FFF2-40B4-BE49-F238E27FC236}">
                <a16:creationId xmlns:a16="http://schemas.microsoft.com/office/drawing/2014/main" id="{3EF10980-53A5-4B2D-8BF1-430BA182B1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17DF36-9C11-43B0-AFBB-13D8E0BB40F3}"/>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42149018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1C380-5819-47C0-B6DB-1BCA49A315D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6281FCE-3703-4337-967E-C2A5382DEBB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6731D9-4835-412C-88CC-3CD3C6FA3E0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628CEF9-828A-4745-997E-A7DBBAD10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D2CBA7-3ACA-46DD-B733-BAC85603BC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35F5A09-EDB5-46E6-893D-EFB70025FE62}"/>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8" name="Footer Placeholder 7">
            <a:extLst>
              <a:ext uri="{FF2B5EF4-FFF2-40B4-BE49-F238E27FC236}">
                <a16:creationId xmlns:a16="http://schemas.microsoft.com/office/drawing/2014/main" id="{01002CA3-1581-43C3-98FC-59A33E3D226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CD09075-C4B1-42AC-8C75-4FB488376E15}"/>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24977364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B10F9-1F70-4CC0-A1BC-D1C42C2B756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B85726-DBEF-4CA3-839B-352075533D1B}"/>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4" name="Footer Placeholder 3">
            <a:extLst>
              <a:ext uri="{FF2B5EF4-FFF2-40B4-BE49-F238E27FC236}">
                <a16:creationId xmlns:a16="http://schemas.microsoft.com/office/drawing/2014/main" id="{05BA00EA-3C23-4588-BF03-F22ABBE80D4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89F3800-C9A5-4235-B574-19A012682222}"/>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36964829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CBCECA6-D996-452B-AD6A-269CA18468B3}"/>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3" name="Footer Placeholder 2">
            <a:extLst>
              <a:ext uri="{FF2B5EF4-FFF2-40B4-BE49-F238E27FC236}">
                <a16:creationId xmlns:a16="http://schemas.microsoft.com/office/drawing/2014/main" id="{F60A0586-0096-41A3-A9AF-EE9CB38C9B4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777BFA-2216-49F0-AF38-B46C9D82B7E4}"/>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1482853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A1C996-C8A9-4FB0-A317-2E7E90812F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127B42-DBC2-47A8-A40D-BAE97758B6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7521C7B-35CB-4880-A0AC-805BFB5B98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D47D0-2081-45E3-9C7E-BF43B9672EFD}"/>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6" name="Footer Placeholder 5">
            <a:extLst>
              <a:ext uri="{FF2B5EF4-FFF2-40B4-BE49-F238E27FC236}">
                <a16:creationId xmlns:a16="http://schemas.microsoft.com/office/drawing/2014/main" id="{3ABC9F89-7930-49B0-A81E-736C95A736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624FF2-1361-4D73-A914-D03027804B03}"/>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23698733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6A0EA-C4AE-4F36-8754-7F92C6FD49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A581EA3-D358-4C88-8CEE-AF58C0349F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B9D2496-CC08-4831-A9A9-D5744A808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3AED85-6938-40CE-A6E8-A23E81056D88}"/>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6" name="Footer Placeholder 5">
            <a:extLst>
              <a:ext uri="{FF2B5EF4-FFF2-40B4-BE49-F238E27FC236}">
                <a16:creationId xmlns:a16="http://schemas.microsoft.com/office/drawing/2014/main" id="{C33890F1-7ABC-438C-86BC-16AABE5A36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A9E24A-6694-40DE-A232-40F924DE7463}"/>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14557015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ED043-E298-4666-8D40-3D14B1C9CB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D9E29ED-D0CE-46BF-BF1D-C444FE7CCFB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0FE7BF-BCB2-4C76-9FCF-0BC648695851}"/>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5" name="Footer Placeholder 4">
            <a:extLst>
              <a:ext uri="{FF2B5EF4-FFF2-40B4-BE49-F238E27FC236}">
                <a16:creationId xmlns:a16="http://schemas.microsoft.com/office/drawing/2014/main" id="{68DD8F2D-07AF-4D6E-8EE6-F00A819F29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D59C9D-03F5-4136-A115-2B5FC467ACCE}"/>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30358920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978F8E-91D5-4268-9E68-89B29C78C7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20A7A88-61E4-488E-96E2-DC43AFC7C58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0A047E-85C8-4E09-8CD6-618AA4BB7918}"/>
              </a:ext>
            </a:extLst>
          </p:cNvPr>
          <p:cNvSpPr>
            <a:spLocks noGrp="1"/>
          </p:cNvSpPr>
          <p:nvPr>
            <p:ph type="dt" sz="half" idx="10"/>
          </p:nvPr>
        </p:nvSpPr>
        <p:spPr/>
        <p:txBody>
          <a:bodyPr/>
          <a:lstStyle/>
          <a:p>
            <a:fld id="{826B2E29-6454-4170-AF87-B006FFB35D00}" type="datetimeFigureOut">
              <a:rPr lang="en-US" smtClean="0"/>
              <a:t>11/8/2023</a:t>
            </a:fld>
            <a:endParaRPr lang="en-US"/>
          </a:p>
        </p:txBody>
      </p:sp>
      <p:sp>
        <p:nvSpPr>
          <p:cNvPr id="5" name="Footer Placeholder 4">
            <a:extLst>
              <a:ext uri="{FF2B5EF4-FFF2-40B4-BE49-F238E27FC236}">
                <a16:creationId xmlns:a16="http://schemas.microsoft.com/office/drawing/2014/main" id="{C91B3190-D85C-4508-A9FB-2F4F4CA9E2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317CC3-2A4A-4F7B-970D-92630A69D12C}"/>
              </a:ext>
            </a:extLst>
          </p:cNvPr>
          <p:cNvSpPr>
            <a:spLocks noGrp="1"/>
          </p:cNvSpPr>
          <p:nvPr>
            <p:ph type="sldNum" sz="quarter" idx="12"/>
          </p:nvPr>
        </p:nvSpPr>
        <p:spPr/>
        <p:txBody>
          <a:bodyPr/>
          <a:lstStyle/>
          <a:p>
            <a:fld id="{608BFAFE-0FA7-4047-BC8F-BE5A17279354}" type="slidenum">
              <a:rPr lang="en-US" smtClean="0"/>
              <a:t>‹#›</a:t>
            </a:fld>
            <a:endParaRPr lang="en-US"/>
          </a:p>
        </p:txBody>
      </p:sp>
    </p:spTree>
    <p:extLst>
      <p:ext uri="{BB962C8B-B14F-4D97-AF65-F5344CB8AC3E}">
        <p14:creationId xmlns:p14="http://schemas.microsoft.com/office/powerpoint/2010/main" val="8888360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6B8FB9C-8843-415F-A091-7ADDE32AF1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A904287-E011-453F-99FD-D95C1BD669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1C8B418-76C4-4EDB-91EF-C8E4A73B4C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6B2E29-6454-4170-AF87-B006FFB35D00}" type="datetimeFigureOut">
              <a:rPr lang="en-US" smtClean="0"/>
              <a:t>11/8/2023</a:t>
            </a:fld>
            <a:endParaRPr lang="en-US"/>
          </a:p>
        </p:txBody>
      </p:sp>
      <p:sp>
        <p:nvSpPr>
          <p:cNvPr id="5" name="Footer Placeholder 4">
            <a:extLst>
              <a:ext uri="{FF2B5EF4-FFF2-40B4-BE49-F238E27FC236}">
                <a16:creationId xmlns:a16="http://schemas.microsoft.com/office/drawing/2014/main" id="{DDB74509-FFF9-4164-B6C3-46DDB68E46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28F2CDD-6359-4BCA-92D7-C7A8CB3D21D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08BFAFE-0FA7-4047-BC8F-BE5A17279354}" type="slidenum">
              <a:rPr lang="en-US" smtClean="0"/>
              <a:t>‹#›</a:t>
            </a:fld>
            <a:endParaRPr lang="en-US"/>
          </a:p>
        </p:txBody>
      </p:sp>
    </p:spTree>
    <p:extLst>
      <p:ext uri="{BB962C8B-B14F-4D97-AF65-F5344CB8AC3E}">
        <p14:creationId xmlns:p14="http://schemas.microsoft.com/office/powerpoint/2010/main" val="4222671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51.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52.emf"/><Relationship Id="rId4" Type="http://schemas.openxmlformats.org/officeDocument/2006/relationships/image" Target="../media/image51.emf"/></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4.jpeg"/></Relationships>
</file>

<file path=ppt/slides/_rels/slide54.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4.jpeg"/><Relationship Id="rId5" Type="http://schemas.openxmlformats.org/officeDocument/2006/relationships/image" Target="../media/image53.png"/><Relationship Id="rId4" Type="http://schemas.openxmlformats.org/officeDocument/2006/relationships/image" Target="../media/image56.jpe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54.jpeg"/></Relationships>
</file>

<file path=ppt/slides/_rels/slide5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8.jpeg"/><Relationship Id="rId5" Type="http://schemas.openxmlformats.org/officeDocument/2006/relationships/image" Target="../media/image57.jpeg"/><Relationship Id="rId4" Type="http://schemas.openxmlformats.org/officeDocument/2006/relationships/image" Target="../media/image54.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Paul Update</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r>
              <a:rPr lang="en-US" dirty="0"/>
              <a:t>10/3/2023</a:t>
            </a:r>
          </a:p>
        </p:txBody>
      </p:sp>
    </p:spTree>
    <p:extLst>
      <p:ext uri="{BB962C8B-B14F-4D97-AF65-F5344CB8AC3E}">
        <p14:creationId xmlns:p14="http://schemas.microsoft.com/office/powerpoint/2010/main" val="30579078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err="1"/>
              <a:t>Lifu</a:t>
            </a:r>
            <a:r>
              <a:rPr lang="en-US" dirty="0"/>
              <a:t> dissertation results</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213092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3-session fMRI study (</a:t>
            </a:r>
            <a:r>
              <a:rPr lang="en-US" altLang="zh-CN" dirty="0" err="1"/>
              <a:t>SchemRep</a:t>
            </a:r>
            <a:r>
              <a:rPr lang="en-US" dirty="0"/>
              <a:t>)</a:t>
            </a:r>
          </a:p>
        </p:txBody>
      </p:sp>
      <p:sp>
        <p:nvSpPr>
          <p:cNvPr id="3" name="Content Placeholder 2"/>
          <p:cNvSpPr>
            <a:spLocks noGrp="1"/>
          </p:cNvSpPr>
          <p:nvPr>
            <p:ph idx="1"/>
          </p:nvPr>
        </p:nvSpPr>
        <p:spPr>
          <a:xfrm>
            <a:off x="635000" y="1954212"/>
            <a:ext cx="4985773" cy="4767263"/>
          </a:xfrm>
        </p:spPr>
        <p:txBody>
          <a:bodyPr>
            <a:normAutofit/>
          </a:bodyPr>
          <a:lstStyle/>
          <a:p>
            <a:pPr marL="514350" indent="-514350">
              <a:buFont typeface="+mj-lt"/>
              <a:buAutoNum type="arabicPeriod"/>
            </a:pPr>
            <a:r>
              <a:rPr lang="en-US" altLang="zh-CN" b="1" dirty="0"/>
              <a:t>Baseline</a:t>
            </a:r>
            <a:r>
              <a:rPr lang="en-US" altLang="zh-CN" dirty="0"/>
              <a:t>: rated image-label typicality for objects</a:t>
            </a:r>
          </a:p>
          <a:p>
            <a:pPr marL="514350" indent="-514350">
              <a:buFont typeface="+mj-lt"/>
              <a:buAutoNum type="arabicPeriod"/>
            </a:pPr>
            <a:r>
              <a:rPr lang="en-US" b="1" dirty="0"/>
              <a:t>Encoding</a:t>
            </a:r>
            <a:r>
              <a:rPr lang="en-US" dirty="0"/>
              <a:t>: Presentation of scene and object. Rated how likely one is to find the object in the scene</a:t>
            </a:r>
          </a:p>
          <a:p>
            <a:pPr marL="514350" indent="-514350">
              <a:buFont typeface="+mj-lt"/>
              <a:buAutoNum type="arabicPeriod"/>
            </a:pPr>
            <a:r>
              <a:rPr lang="en-US" b="1" dirty="0"/>
              <a:t>Retrieval</a:t>
            </a:r>
            <a:r>
              <a:rPr lang="en-US" dirty="0"/>
              <a:t>: conceptual old/new followed by visual old/similar/new</a:t>
            </a:r>
          </a:p>
        </p:txBody>
      </p:sp>
      <p:sp>
        <p:nvSpPr>
          <p:cNvPr id="4" name="Slide Number Placeholder 3">
            <a:extLst>
              <a:ext uri="{FF2B5EF4-FFF2-40B4-BE49-F238E27FC236}">
                <a16:creationId xmlns:a16="http://schemas.microsoft.com/office/drawing/2014/main" id="{1F2383D4-A18D-BBFA-1BDA-099C2F8C8C43}"/>
              </a:ext>
            </a:extLst>
          </p:cNvPr>
          <p:cNvSpPr>
            <a:spLocks noGrp="1"/>
          </p:cNvSpPr>
          <p:nvPr>
            <p:ph type="sldNum" sz="quarter" idx="12"/>
          </p:nvPr>
        </p:nvSpPr>
        <p:spPr/>
        <p:txBody>
          <a:bodyPr/>
          <a:lstStyle/>
          <a:p>
            <a:fld id="{5BC0481F-DE52-414A-8886-8B7F01508184}" type="slidenum">
              <a:rPr lang="en-US" smtClean="0"/>
              <a:t>3</a:t>
            </a:fld>
            <a:endParaRPr lang="en-US"/>
          </a:p>
        </p:txBody>
      </p:sp>
      <p:pic>
        <p:nvPicPr>
          <p:cNvPr id="6" name="Picture 5">
            <a:extLst>
              <a:ext uri="{FF2B5EF4-FFF2-40B4-BE49-F238E27FC236}">
                <a16:creationId xmlns:a16="http://schemas.microsoft.com/office/drawing/2014/main" id="{4A59CECC-3013-1697-DB76-D42854B95E96}"/>
              </a:ext>
            </a:extLst>
          </p:cNvPr>
          <p:cNvPicPr>
            <a:picLocks noChangeAspect="1"/>
          </p:cNvPicPr>
          <p:nvPr/>
        </p:nvPicPr>
        <p:blipFill>
          <a:blip r:embed="rId2"/>
          <a:stretch>
            <a:fillRect/>
          </a:stretch>
        </p:blipFill>
        <p:spPr>
          <a:xfrm>
            <a:off x="5820108" y="2371725"/>
            <a:ext cx="6371892" cy="3614057"/>
          </a:xfrm>
          <a:prstGeom prst="rect">
            <a:avLst/>
          </a:prstGeom>
        </p:spPr>
      </p:pic>
    </p:spTree>
    <p:extLst>
      <p:ext uri="{BB962C8B-B14F-4D97-AF65-F5344CB8AC3E}">
        <p14:creationId xmlns:p14="http://schemas.microsoft.com/office/powerpoint/2010/main" val="50814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F0860-80A0-A5D8-31FD-5B678ADD9780}"/>
              </a:ext>
            </a:extLst>
          </p:cNvPr>
          <p:cNvSpPr>
            <a:spLocks noGrp="1"/>
          </p:cNvSpPr>
          <p:nvPr>
            <p:ph type="title"/>
          </p:nvPr>
        </p:nvSpPr>
        <p:spPr>
          <a:xfrm>
            <a:off x="838200" y="64028"/>
            <a:ext cx="10515600" cy="1325563"/>
          </a:xfrm>
        </p:spPr>
        <p:txBody>
          <a:bodyPr/>
          <a:lstStyle/>
          <a:p>
            <a:r>
              <a:rPr lang="en-US" dirty="0" err="1"/>
              <a:t>Lifu</a:t>
            </a:r>
            <a:r>
              <a:rPr lang="en-US" dirty="0"/>
              <a:t> results 1.1</a:t>
            </a:r>
          </a:p>
        </p:txBody>
      </p:sp>
      <p:pic>
        <p:nvPicPr>
          <p:cNvPr id="4" name="Picture 3">
            <a:extLst>
              <a:ext uri="{FF2B5EF4-FFF2-40B4-BE49-F238E27FC236}">
                <a16:creationId xmlns:a16="http://schemas.microsoft.com/office/drawing/2014/main" id="{B0E68DB2-12DF-FE7B-2599-AD2C9B0CA7F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032933" y="1389591"/>
            <a:ext cx="9626600" cy="5284259"/>
          </a:xfrm>
          <a:prstGeom prst="rect">
            <a:avLst/>
          </a:prstGeom>
        </p:spPr>
      </p:pic>
    </p:spTree>
    <p:extLst>
      <p:ext uri="{BB962C8B-B14F-4D97-AF65-F5344CB8AC3E}">
        <p14:creationId xmlns:p14="http://schemas.microsoft.com/office/powerpoint/2010/main" val="810174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0E9D68-F79D-B51D-788F-4F35332A9836}"/>
              </a:ext>
            </a:extLst>
          </p:cNvPr>
          <p:cNvSpPr>
            <a:spLocks noGrp="1"/>
          </p:cNvSpPr>
          <p:nvPr>
            <p:ph type="title"/>
          </p:nvPr>
        </p:nvSpPr>
        <p:spPr>
          <a:xfrm>
            <a:off x="838200" y="-109008"/>
            <a:ext cx="10515600" cy="1325563"/>
          </a:xfrm>
        </p:spPr>
        <p:txBody>
          <a:bodyPr/>
          <a:lstStyle/>
          <a:p>
            <a:r>
              <a:rPr lang="en-US" dirty="0" err="1"/>
              <a:t>Lifu</a:t>
            </a:r>
            <a:r>
              <a:rPr lang="en-US" dirty="0"/>
              <a:t> Results 1.2</a:t>
            </a:r>
          </a:p>
        </p:txBody>
      </p:sp>
      <p:pic>
        <p:nvPicPr>
          <p:cNvPr id="4" name="Picture 3">
            <a:extLst>
              <a:ext uri="{FF2B5EF4-FFF2-40B4-BE49-F238E27FC236}">
                <a16:creationId xmlns:a16="http://schemas.microsoft.com/office/drawing/2014/main" id="{A88DC341-A9D3-D198-B0CC-9EE3631214D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665641" y="1024466"/>
            <a:ext cx="8657518" cy="5652995"/>
          </a:xfrm>
          <a:prstGeom prst="rect">
            <a:avLst/>
          </a:prstGeom>
        </p:spPr>
      </p:pic>
    </p:spTree>
    <p:extLst>
      <p:ext uri="{BB962C8B-B14F-4D97-AF65-F5344CB8AC3E}">
        <p14:creationId xmlns:p14="http://schemas.microsoft.com/office/powerpoint/2010/main" val="4078864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51A18-F415-5ED1-9132-CF7DEB077D05}"/>
              </a:ext>
            </a:extLst>
          </p:cNvPr>
          <p:cNvSpPr>
            <a:spLocks noGrp="1"/>
          </p:cNvSpPr>
          <p:nvPr>
            <p:ph type="title"/>
          </p:nvPr>
        </p:nvSpPr>
        <p:spPr/>
        <p:txBody>
          <a:bodyPr/>
          <a:lstStyle/>
          <a:p>
            <a:r>
              <a:rPr lang="en-US" dirty="0" err="1"/>
              <a:t>Lifu</a:t>
            </a:r>
            <a:r>
              <a:rPr lang="en-US" dirty="0"/>
              <a:t> Results 2.1</a:t>
            </a:r>
          </a:p>
        </p:txBody>
      </p:sp>
      <p:sp>
        <p:nvSpPr>
          <p:cNvPr id="3" name="Content Placeholder 2">
            <a:extLst>
              <a:ext uri="{FF2B5EF4-FFF2-40B4-BE49-F238E27FC236}">
                <a16:creationId xmlns:a16="http://schemas.microsoft.com/office/drawing/2014/main" id="{4B3EE3A3-2685-9FD4-0629-F08BD0784829}"/>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468065EB-3E6B-DC6B-8FAD-231C96BE68D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82283" y="1630891"/>
            <a:ext cx="10627433" cy="4486275"/>
          </a:xfrm>
          <a:prstGeom prst="rect">
            <a:avLst/>
          </a:prstGeom>
        </p:spPr>
      </p:pic>
    </p:spTree>
    <p:extLst>
      <p:ext uri="{BB962C8B-B14F-4D97-AF65-F5344CB8AC3E}">
        <p14:creationId xmlns:p14="http://schemas.microsoft.com/office/powerpoint/2010/main" val="2856259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97164-22BE-C244-BF7E-2CC91AF6FE3D}"/>
              </a:ext>
            </a:extLst>
          </p:cNvPr>
          <p:cNvSpPr>
            <a:spLocks noGrp="1"/>
          </p:cNvSpPr>
          <p:nvPr>
            <p:ph type="title"/>
          </p:nvPr>
        </p:nvSpPr>
        <p:spPr/>
        <p:txBody>
          <a:bodyPr/>
          <a:lstStyle/>
          <a:p>
            <a:r>
              <a:rPr lang="en-US" dirty="0" err="1"/>
              <a:t>Lifu</a:t>
            </a:r>
            <a:r>
              <a:rPr lang="en-US" dirty="0"/>
              <a:t> Results 2.2</a:t>
            </a:r>
          </a:p>
        </p:txBody>
      </p:sp>
      <p:sp>
        <p:nvSpPr>
          <p:cNvPr id="3" name="Content Placeholder 2">
            <a:extLst>
              <a:ext uri="{FF2B5EF4-FFF2-40B4-BE49-F238E27FC236}">
                <a16:creationId xmlns:a16="http://schemas.microsoft.com/office/drawing/2014/main" id="{215AAF47-1FEB-CE73-2786-BC73614AF840}"/>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F4E777CD-76FA-4D53-3344-629C9632F8F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04349" y="1589088"/>
            <a:ext cx="7783301" cy="5073001"/>
          </a:xfrm>
          <a:prstGeom prst="rect">
            <a:avLst/>
          </a:prstGeom>
        </p:spPr>
      </p:pic>
    </p:spTree>
    <p:extLst>
      <p:ext uri="{BB962C8B-B14F-4D97-AF65-F5344CB8AC3E}">
        <p14:creationId xmlns:p14="http://schemas.microsoft.com/office/powerpoint/2010/main" val="907255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7724A-15D9-E3AC-8A14-1D336E3839ED}"/>
              </a:ext>
            </a:extLst>
          </p:cNvPr>
          <p:cNvSpPr>
            <a:spLocks noGrp="1"/>
          </p:cNvSpPr>
          <p:nvPr>
            <p:ph type="title"/>
          </p:nvPr>
        </p:nvSpPr>
        <p:spPr/>
        <p:txBody>
          <a:bodyPr/>
          <a:lstStyle/>
          <a:p>
            <a:r>
              <a:rPr lang="en-US" dirty="0" err="1"/>
              <a:t>Lifu</a:t>
            </a:r>
            <a:r>
              <a:rPr lang="en-US" dirty="0"/>
              <a:t> Results 2.3</a:t>
            </a:r>
          </a:p>
        </p:txBody>
      </p:sp>
      <p:sp>
        <p:nvSpPr>
          <p:cNvPr id="3" name="Content Placeholder 2">
            <a:extLst>
              <a:ext uri="{FF2B5EF4-FFF2-40B4-BE49-F238E27FC236}">
                <a16:creationId xmlns:a16="http://schemas.microsoft.com/office/drawing/2014/main" id="{958EDBC8-F1B4-99DA-03A3-4A9439880E53}"/>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BF8A8033-FECC-1A17-76DD-9761D168FD5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93269" y="1825625"/>
            <a:ext cx="11445024" cy="4216664"/>
          </a:xfrm>
          <a:prstGeom prst="rect">
            <a:avLst/>
          </a:prstGeom>
        </p:spPr>
      </p:pic>
    </p:spTree>
    <p:extLst>
      <p:ext uri="{BB962C8B-B14F-4D97-AF65-F5344CB8AC3E}">
        <p14:creationId xmlns:p14="http://schemas.microsoft.com/office/powerpoint/2010/main" val="742776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normAutofit/>
          </a:bodyPr>
          <a:lstStyle/>
          <a:p>
            <a:r>
              <a:rPr lang="en-US" sz="5400" dirty="0"/>
              <a:t>Warning: Results may shift</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28873925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Picture 25">
            <a:extLst>
              <a:ext uri="{FF2B5EF4-FFF2-40B4-BE49-F238E27FC236}">
                <a16:creationId xmlns:a16="http://schemas.microsoft.com/office/drawing/2014/main" id="{8B651484-7A4A-6595-D8C4-5E593876A968}"/>
              </a:ext>
            </a:extLst>
          </p:cNvPr>
          <p:cNvPicPr>
            <a:picLocks noChangeAspect="1"/>
          </p:cNvPicPr>
          <p:nvPr/>
        </p:nvPicPr>
        <p:blipFill>
          <a:blip r:embed="rId2"/>
          <a:stretch>
            <a:fillRect/>
          </a:stretch>
        </p:blipFill>
        <p:spPr>
          <a:xfrm>
            <a:off x="7597540" y="2692667"/>
            <a:ext cx="4572000" cy="3429000"/>
          </a:xfrm>
          <a:prstGeom prst="rect">
            <a:avLst/>
          </a:prstGeom>
        </p:spPr>
      </p:pic>
      <p:pic>
        <p:nvPicPr>
          <p:cNvPr id="24" name="Picture 23">
            <a:extLst>
              <a:ext uri="{FF2B5EF4-FFF2-40B4-BE49-F238E27FC236}">
                <a16:creationId xmlns:a16="http://schemas.microsoft.com/office/drawing/2014/main" id="{848884DF-FF34-E897-7836-C70AE094E269}"/>
              </a:ext>
            </a:extLst>
          </p:cNvPr>
          <p:cNvPicPr>
            <a:picLocks noChangeAspect="1"/>
          </p:cNvPicPr>
          <p:nvPr/>
        </p:nvPicPr>
        <p:blipFill>
          <a:blip r:embed="rId3"/>
          <a:stretch>
            <a:fillRect/>
          </a:stretch>
        </p:blipFill>
        <p:spPr>
          <a:xfrm>
            <a:off x="3605166" y="2692667"/>
            <a:ext cx="4572000" cy="3429000"/>
          </a:xfrm>
          <a:prstGeom prst="rect">
            <a:avLst/>
          </a:prstGeom>
        </p:spPr>
      </p:pic>
      <p:sp>
        <p:nvSpPr>
          <p:cNvPr id="2" name="Title 1">
            <a:extLst>
              <a:ext uri="{FF2B5EF4-FFF2-40B4-BE49-F238E27FC236}">
                <a16:creationId xmlns:a16="http://schemas.microsoft.com/office/drawing/2014/main" id="{56B40001-D83E-48BD-85C6-89975C92760A}"/>
              </a:ext>
            </a:extLst>
          </p:cNvPr>
          <p:cNvSpPr>
            <a:spLocks noGrp="1"/>
          </p:cNvSpPr>
          <p:nvPr>
            <p:ph type="title"/>
          </p:nvPr>
        </p:nvSpPr>
        <p:spPr>
          <a:xfrm>
            <a:off x="838200" y="0"/>
            <a:ext cx="10515600" cy="1325563"/>
          </a:xfrm>
        </p:spPr>
        <p:txBody>
          <a:bodyPr/>
          <a:lstStyle/>
          <a:p>
            <a:r>
              <a:rPr lang="en-US" dirty="0"/>
              <a:t>Preprocessing</a:t>
            </a:r>
          </a:p>
        </p:txBody>
      </p:sp>
      <p:sp>
        <p:nvSpPr>
          <p:cNvPr id="3" name="Content Placeholder 2">
            <a:extLst>
              <a:ext uri="{FF2B5EF4-FFF2-40B4-BE49-F238E27FC236}">
                <a16:creationId xmlns:a16="http://schemas.microsoft.com/office/drawing/2014/main" id="{9824CF99-FDDD-8605-DF0C-7277040548AA}"/>
              </a:ext>
            </a:extLst>
          </p:cNvPr>
          <p:cNvSpPr>
            <a:spLocks noGrp="1"/>
          </p:cNvSpPr>
          <p:nvPr>
            <p:ph idx="1"/>
          </p:nvPr>
        </p:nvSpPr>
        <p:spPr>
          <a:xfrm>
            <a:off x="838200" y="1253331"/>
            <a:ext cx="10515600" cy="4351338"/>
          </a:xfrm>
        </p:spPr>
        <p:txBody>
          <a:bodyPr/>
          <a:lstStyle/>
          <a:p>
            <a:r>
              <a:rPr lang="en-US" dirty="0"/>
              <a:t>As Cortney said, the data will be preprocessed again</a:t>
            </a:r>
          </a:p>
          <a:p>
            <a:r>
              <a:rPr lang="en-US" dirty="0"/>
              <a:t>Also, as we discussed in the lab meeting, we will need to discuss exactly what will be done about the within-run point</a:t>
            </a:r>
          </a:p>
          <a:p>
            <a:pPr lvl="1"/>
            <a:endParaRPr lang="en-US" dirty="0"/>
          </a:p>
        </p:txBody>
      </p:sp>
      <p:pic>
        <p:nvPicPr>
          <p:cNvPr id="22" name="Picture 21">
            <a:extLst>
              <a:ext uri="{FF2B5EF4-FFF2-40B4-BE49-F238E27FC236}">
                <a16:creationId xmlns:a16="http://schemas.microsoft.com/office/drawing/2014/main" id="{B1FFB0B6-5883-5045-0BE7-1335802713D9}"/>
              </a:ext>
            </a:extLst>
          </p:cNvPr>
          <p:cNvPicPr>
            <a:picLocks noChangeAspect="1"/>
          </p:cNvPicPr>
          <p:nvPr/>
        </p:nvPicPr>
        <p:blipFill rotWithShape="1">
          <a:blip r:embed="rId4"/>
          <a:srcRect l="9936" r="3889"/>
          <a:stretch/>
        </p:blipFill>
        <p:spPr>
          <a:xfrm>
            <a:off x="174861" y="2692667"/>
            <a:ext cx="3939940" cy="3429000"/>
          </a:xfrm>
          <a:prstGeom prst="rect">
            <a:avLst/>
          </a:prstGeom>
        </p:spPr>
      </p:pic>
      <p:sp>
        <p:nvSpPr>
          <p:cNvPr id="27" name="TextBox 26">
            <a:extLst>
              <a:ext uri="{FF2B5EF4-FFF2-40B4-BE49-F238E27FC236}">
                <a16:creationId xmlns:a16="http://schemas.microsoft.com/office/drawing/2014/main" id="{44DC3259-C257-2A25-AB85-CDC6B498ADD4}"/>
              </a:ext>
            </a:extLst>
          </p:cNvPr>
          <p:cNvSpPr txBox="1"/>
          <p:nvPr/>
        </p:nvSpPr>
        <p:spPr>
          <a:xfrm>
            <a:off x="393121" y="6121667"/>
            <a:ext cx="11271034" cy="369332"/>
          </a:xfrm>
          <a:prstGeom prst="rect">
            <a:avLst/>
          </a:prstGeom>
          <a:noFill/>
        </p:spPr>
        <p:txBody>
          <a:bodyPr wrap="non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There are also questions about what exactly it means to “regress out” (e.g., should it be done run by run?)</a:t>
            </a:r>
          </a:p>
        </p:txBody>
      </p:sp>
    </p:spTree>
    <p:extLst>
      <p:ext uri="{BB962C8B-B14F-4D97-AF65-F5344CB8AC3E}">
        <p14:creationId xmlns:p14="http://schemas.microsoft.com/office/powerpoint/2010/main" val="141430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5EC47-EFFD-F52D-16CF-4B4258AC305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B4122AC-1970-3011-F088-636767DAB897}"/>
              </a:ext>
            </a:extLst>
          </p:cNvPr>
          <p:cNvSpPr>
            <a:spLocks noGrp="1"/>
          </p:cNvSpPr>
          <p:nvPr>
            <p:ph idx="1"/>
          </p:nvPr>
        </p:nvSpPr>
        <p:spPr/>
        <p:txBody>
          <a:bodyPr/>
          <a:lstStyle/>
          <a:p>
            <a:r>
              <a:rPr lang="en-US" dirty="0"/>
              <a:t>L_ATL for 102</a:t>
            </a:r>
          </a:p>
        </p:txBody>
      </p:sp>
      <p:pic>
        <p:nvPicPr>
          <p:cNvPr id="7" name="Picture 6">
            <a:extLst>
              <a:ext uri="{FF2B5EF4-FFF2-40B4-BE49-F238E27FC236}">
                <a16:creationId xmlns:a16="http://schemas.microsoft.com/office/drawing/2014/main" id="{8A0A50D0-526A-49ED-9A55-4346B9254A59}"/>
              </a:ext>
            </a:extLst>
          </p:cNvPr>
          <p:cNvPicPr>
            <a:picLocks noChangeAspect="1"/>
          </p:cNvPicPr>
          <p:nvPr/>
        </p:nvPicPr>
        <p:blipFill>
          <a:blip r:embed="rId2"/>
          <a:stretch>
            <a:fillRect/>
          </a:stretch>
        </p:blipFill>
        <p:spPr>
          <a:xfrm>
            <a:off x="5067300" y="1524000"/>
            <a:ext cx="6096000" cy="4572000"/>
          </a:xfrm>
          <a:prstGeom prst="rect">
            <a:avLst/>
          </a:prstGeom>
        </p:spPr>
      </p:pic>
    </p:spTree>
    <p:extLst>
      <p:ext uri="{BB962C8B-B14F-4D97-AF65-F5344CB8AC3E}">
        <p14:creationId xmlns:p14="http://schemas.microsoft.com/office/powerpoint/2010/main" val="3237001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93E52-1763-99E7-19BE-A4ADDB51E7EE}"/>
              </a:ext>
            </a:extLst>
          </p:cNvPr>
          <p:cNvSpPr>
            <a:spLocks noGrp="1"/>
          </p:cNvSpPr>
          <p:nvPr>
            <p:ph type="title"/>
          </p:nvPr>
        </p:nvSpPr>
        <p:spPr>
          <a:xfrm>
            <a:off x="838200" y="0"/>
            <a:ext cx="10515600" cy="1325563"/>
          </a:xfrm>
        </p:spPr>
        <p:txBody>
          <a:bodyPr/>
          <a:lstStyle/>
          <a:p>
            <a:r>
              <a:rPr lang="en-US" dirty="0"/>
              <a:t>Emerging property</a:t>
            </a:r>
          </a:p>
        </p:txBody>
      </p:sp>
      <p:sp>
        <p:nvSpPr>
          <p:cNvPr id="3" name="Content Placeholder 2">
            <a:extLst>
              <a:ext uri="{FF2B5EF4-FFF2-40B4-BE49-F238E27FC236}">
                <a16:creationId xmlns:a16="http://schemas.microsoft.com/office/drawing/2014/main" id="{136B450B-8CD0-7D7E-BB6E-2C56A686C674}"/>
              </a:ext>
            </a:extLst>
          </p:cNvPr>
          <p:cNvSpPr>
            <a:spLocks noGrp="1"/>
          </p:cNvSpPr>
          <p:nvPr>
            <p:ph idx="1"/>
          </p:nvPr>
        </p:nvSpPr>
        <p:spPr>
          <a:xfrm>
            <a:off x="838200" y="1325563"/>
            <a:ext cx="10515600" cy="1153578"/>
          </a:xfrm>
        </p:spPr>
        <p:txBody>
          <a:bodyPr/>
          <a:lstStyle/>
          <a:p>
            <a:r>
              <a:rPr lang="en-US" dirty="0"/>
              <a:t>If including within-run analysis, then we see similar IRAF across all ROIs for a given trial</a:t>
            </a:r>
          </a:p>
        </p:txBody>
      </p:sp>
      <p:pic>
        <p:nvPicPr>
          <p:cNvPr id="5" name="Picture 4">
            <a:extLst>
              <a:ext uri="{FF2B5EF4-FFF2-40B4-BE49-F238E27FC236}">
                <a16:creationId xmlns:a16="http://schemas.microsoft.com/office/drawing/2014/main" id="{C3571A27-BDCB-B9FB-14A1-F0810137067D}"/>
              </a:ext>
            </a:extLst>
          </p:cNvPr>
          <p:cNvPicPr>
            <a:picLocks noChangeAspect="1"/>
          </p:cNvPicPr>
          <p:nvPr/>
        </p:nvPicPr>
        <p:blipFill rotWithShape="1">
          <a:blip r:embed="rId2"/>
          <a:srcRect l="35895" r="5526"/>
          <a:stretch/>
        </p:blipFill>
        <p:spPr>
          <a:xfrm>
            <a:off x="1294998" y="2331449"/>
            <a:ext cx="3428134" cy="4389120"/>
          </a:xfrm>
          <a:prstGeom prst="rect">
            <a:avLst/>
          </a:prstGeom>
        </p:spPr>
      </p:pic>
      <p:pic>
        <p:nvPicPr>
          <p:cNvPr id="9" name="Picture 8">
            <a:extLst>
              <a:ext uri="{FF2B5EF4-FFF2-40B4-BE49-F238E27FC236}">
                <a16:creationId xmlns:a16="http://schemas.microsoft.com/office/drawing/2014/main" id="{DBCC8610-F2F4-95F1-378A-58A9CB1A2E13}"/>
              </a:ext>
            </a:extLst>
          </p:cNvPr>
          <p:cNvPicPr>
            <a:picLocks noChangeAspect="1"/>
          </p:cNvPicPr>
          <p:nvPr/>
        </p:nvPicPr>
        <p:blipFill rotWithShape="1">
          <a:blip r:embed="rId3"/>
          <a:srcRect l="36525" r="6316"/>
          <a:stretch/>
        </p:blipFill>
        <p:spPr>
          <a:xfrm>
            <a:off x="4593665" y="2339441"/>
            <a:ext cx="3344972" cy="4389120"/>
          </a:xfrm>
          <a:prstGeom prst="rect">
            <a:avLst/>
          </a:prstGeom>
        </p:spPr>
      </p:pic>
      <p:pic>
        <p:nvPicPr>
          <p:cNvPr id="13" name="Picture 12">
            <a:extLst>
              <a:ext uri="{FF2B5EF4-FFF2-40B4-BE49-F238E27FC236}">
                <a16:creationId xmlns:a16="http://schemas.microsoft.com/office/drawing/2014/main" id="{D5DE7C29-91B1-6E67-D58A-429182B787FB}"/>
              </a:ext>
            </a:extLst>
          </p:cNvPr>
          <p:cNvPicPr>
            <a:picLocks noChangeAspect="1"/>
          </p:cNvPicPr>
          <p:nvPr/>
        </p:nvPicPr>
        <p:blipFill rotWithShape="1">
          <a:blip r:embed="rId4"/>
          <a:srcRect l="36368" r="6474"/>
          <a:stretch/>
        </p:blipFill>
        <p:spPr>
          <a:xfrm>
            <a:off x="7784967" y="2352141"/>
            <a:ext cx="3344972" cy="4389120"/>
          </a:xfrm>
          <a:prstGeom prst="rect">
            <a:avLst/>
          </a:prstGeom>
        </p:spPr>
      </p:pic>
    </p:spTree>
    <p:extLst>
      <p:ext uri="{BB962C8B-B14F-4D97-AF65-F5344CB8AC3E}">
        <p14:creationId xmlns:p14="http://schemas.microsoft.com/office/powerpoint/2010/main" val="15091890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Proposed direction</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2881479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4A4B5-A432-541F-65E4-23FD5294701D}"/>
              </a:ext>
            </a:extLst>
          </p:cNvPr>
          <p:cNvSpPr>
            <a:spLocks noGrp="1"/>
          </p:cNvSpPr>
          <p:nvPr>
            <p:ph type="title"/>
          </p:nvPr>
        </p:nvSpPr>
        <p:spPr>
          <a:xfrm>
            <a:off x="838200" y="205200"/>
            <a:ext cx="10515600" cy="974558"/>
          </a:xfrm>
        </p:spPr>
        <p:txBody>
          <a:bodyPr/>
          <a:lstStyle/>
          <a:p>
            <a:r>
              <a:rPr lang="en-US" dirty="0"/>
              <a:t>Background</a:t>
            </a:r>
          </a:p>
        </p:txBody>
      </p:sp>
      <p:sp>
        <p:nvSpPr>
          <p:cNvPr id="3" name="Content Placeholder 2">
            <a:extLst>
              <a:ext uri="{FF2B5EF4-FFF2-40B4-BE49-F238E27FC236}">
                <a16:creationId xmlns:a16="http://schemas.microsoft.com/office/drawing/2014/main" id="{7DAC6084-ED24-0F80-EB4D-A00B47A1B11B}"/>
              </a:ext>
            </a:extLst>
          </p:cNvPr>
          <p:cNvSpPr>
            <a:spLocks noGrp="1"/>
          </p:cNvSpPr>
          <p:nvPr>
            <p:ph idx="1"/>
          </p:nvPr>
        </p:nvSpPr>
        <p:spPr>
          <a:xfrm>
            <a:off x="838200" y="1311922"/>
            <a:ext cx="10689000" cy="5391278"/>
          </a:xfrm>
        </p:spPr>
        <p:txBody>
          <a:bodyPr>
            <a:normAutofit/>
          </a:bodyPr>
          <a:lstStyle/>
          <a:p>
            <a:r>
              <a:rPr lang="en-US" dirty="0"/>
              <a:t>Predictive coding theory argues that all information is processed in terms of prediction errors</a:t>
            </a:r>
          </a:p>
          <a:p>
            <a:pPr lvl="1"/>
            <a:r>
              <a:rPr lang="en-US" dirty="0"/>
              <a:t>Prediction error is a computational mechanism used across the brain</a:t>
            </a:r>
          </a:p>
          <a:p>
            <a:pPr lvl="2"/>
            <a:r>
              <a:rPr lang="en-US" dirty="0"/>
              <a:t>Goes well beyond early theories that </a:t>
            </a:r>
            <a:r>
              <a:rPr lang="en-US" i="1" dirty="0"/>
              <a:t>reward prediction error </a:t>
            </a:r>
            <a:r>
              <a:rPr lang="en-US" dirty="0"/>
              <a:t>underlies behavioral learning and ventral striatum processing</a:t>
            </a:r>
          </a:p>
          <a:p>
            <a:pPr lvl="1"/>
            <a:r>
              <a:rPr lang="en-US" i="1" dirty="0"/>
              <a:t>Perceptual prediction error</a:t>
            </a:r>
          </a:p>
          <a:p>
            <a:pPr lvl="2"/>
            <a:r>
              <a:rPr lang="en-US" dirty="0"/>
              <a:t>Perception depends on the perceived likelihood of encountering a stimulus</a:t>
            </a:r>
          </a:p>
          <a:p>
            <a:pPr lvl="1"/>
            <a:r>
              <a:rPr lang="en-US" i="1" dirty="0"/>
              <a:t>Cognitive prediction error</a:t>
            </a:r>
          </a:p>
          <a:p>
            <a:pPr lvl="2"/>
            <a:r>
              <a:rPr lang="en-US" dirty="0"/>
              <a:t>Information is processed in terms of prior beliefs and updating</a:t>
            </a:r>
          </a:p>
          <a:p>
            <a:r>
              <a:rPr lang="en-US" dirty="0"/>
              <a:t>Predictive coding has been studied with univariate analyses</a:t>
            </a:r>
          </a:p>
          <a:p>
            <a:pPr lvl="1"/>
            <a:r>
              <a:rPr lang="en-US" dirty="0"/>
              <a:t>Perceptual prediction error correlated with activity in both cortical and subcortical regions</a:t>
            </a:r>
          </a:p>
        </p:txBody>
      </p:sp>
    </p:spTree>
    <p:extLst>
      <p:ext uri="{BB962C8B-B14F-4D97-AF65-F5344CB8AC3E}">
        <p14:creationId xmlns:p14="http://schemas.microsoft.com/office/powerpoint/2010/main" val="2397474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2C74-7939-7509-0F4F-EB79CECC20C0}"/>
              </a:ext>
            </a:extLst>
          </p:cNvPr>
          <p:cNvSpPr>
            <a:spLocks noGrp="1"/>
          </p:cNvSpPr>
          <p:nvPr>
            <p:ph type="title"/>
          </p:nvPr>
        </p:nvSpPr>
        <p:spPr>
          <a:xfrm>
            <a:off x="838200" y="235525"/>
            <a:ext cx="10515600" cy="1325563"/>
          </a:xfrm>
        </p:spPr>
        <p:txBody>
          <a:bodyPr/>
          <a:lstStyle/>
          <a:p>
            <a:r>
              <a:rPr lang="en-US" dirty="0"/>
              <a:t>Primary Question</a:t>
            </a:r>
          </a:p>
        </p:txBody>
      </p:sp>
      <p:sp>
        <p:nvSpPr>
          <p:cNvPr id="3" name="Content Placeholder 2">
            <a:extLst>
              <a:ext uri="{FF2B5EF4-FFF2-40B4-BE49-F238E27FC236}">
                <a16:creationId xmlns:a16="http://schemas.microsoft.com/office/drawing/2014/main" id="{093DC41D-33FB-7658-8B99-25CE7E0DACC7}"/>
              </a:ext>
            </a:extLst>
          </p:cNvPr>
          <p:cNvSpPr>
            <a:spLocks noGrp="1"/>
          </p:cNvSpPr>
          <p:nvPr>
            <p:ph idx="1"/>
          </p:nvPr>
        </p:nvSpPr>
        <p:spPr>
          <a:xfrm>
            <a:off x="838200" y="1661889"/>
            <a:ext cx="10515600" cy="4960586"/>
          </a:xfrm>
        </p:spPr>
        <p:txBody>
          <a:bodyPr>
            <a:normAutofit/>
          </a:bodyPr>
          <a:lstStyle/>
          <a:p>
            <a:r>
              <a:rPr lang="en-US" dirty="0"/>
              <a:t>Are stimuli </a:t>
            </a:r>
            <a:r>
              <a:rPr lang="en-US" i="1" dirty="0"/>
              <a:t>represented </a:t>
            </a:r>
            <a:r>
              <a:rPr lang="en-US" dirty="0"/>
              <a:t>as prediction errors?</a:t>
            </a:r>
          </a:p>
          <a:p>
            <a:pPr lvl="1"/>
            <a:r>
              <a:rPr lang="en-US" dirty="0"/>
              <a:t>No study has genuinely investigated this question </a:t>
            </a:r>
          </a:p>
          <a:p>
            <a:pPr lvl="2"/>
            <a:r>
              <a:rPr lang="en-US" dirty="0"/>
              <a:t>“Genuinely” = beyond univariate tests</a:t>
            </a:r>
          </a:p>
          <a:p>
            <a:pPr lvl="1"/>
            <a:r>
              <a:rPr lang="en-US" dirty="0"/>
              <a:t>Yet, this idea is a central element of predictive coding theory</a:t>
            </a:r>
          </a:p>
          <a:p>
            <a:pPr lvl="1"/>
            <a:r>
              <a:rPr lang="en-US" dirty="0"/>
              <a:t>This question gets at a critical point of contention</a:t>
            </a:r>
          </a:p>
          <a:p>
            <a:pPr lvl="2"/>
            <a:r>
              <a:rPr lang="en-US" dirty="0"/>
              <a:t>Opponents of the theory accept that prediction error plays some role in the brain (e.g., in the striatum) but push back against these bolder higher-order claims</a:t>
            </a:r>
          </a:p>
          <a:p>
            <a:r>
              <a:rPr lang="en-US" dirty="0"/>
              <a:t>Multivariate analyses of representations are strong tests of predictive coding theory</a:t>
            </a:r>
          </a:p>
          <a:p>
            <a:pPr lvl="1"/>
            <a:r>
              <a:rPr lang="en-US" dirty="0"/>
              <a:t>Other neural theories, supported by univariate results, broke down when tested via multivariate methods </a:t>
            </a:r>
          </a:p>
          <a:p>
            <a:endParaRPr lang="en-US" dirty="0"/>
          </a:p>
        </p:txBody>
      </p:sp>
    </p:spTree>
    <p:extLst>
      <p:ext uri="{BB962C8B-B14F-4D97-AF65-F5344CB8AC3E}">
        <p14:creationId xmlns:p14="http://schemas.microsoft.com/office/powerpoint/2010/main" val="2524216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B60B6-D308-6B57-292E-427E3DA478DC}"/>
              </a:ext>
            </a:extLst>
          </p:cNvPr>
          <p:cNvSpPr>
            <a:spLocks noGrp="1"/>
          </p:cNvSpPr>
          <p:nvPr>
            <p:ph type="title"/>
          </p:nvPr>
        </p:nvSpPr>
        <p:spPr>
          <a:xfrm>
            <a:off x="838200" y="347133"/>
            <a:ext cx="10515600" cy="1325563"/>
          </a:xfrm>
        </p:spPr>
        <p:txBody>
          <a:bodyPr/>
          <a:lstStyle/>
          <a:p>
            <a:r>
              <a:rPr lang="en-US" dirty="0"/>
              <a:t>Present Study and Hypotheses</a:t>
            </a:r>
          </a:p>
        </p:txBody>
      </p:sp>
      <p:sp>
        <p:nvSpPr>
          <p:cNvPr id="3" name="Content Placeholder 2">
            <a:extLst>
              <a:ext uri="{FF2B5EF4-FFF2-40B4-BE49-F238E27FC236}">
                <a16:creationId xmlns:a16="http://schemas.microsoft.com/office/drawing/2014/main" id="{48383511-B5DF-1D7E-BAA1-FED76B024FA8}"/>
              </a:ext>
            </a:extLst>
          </p:cNvPr>
          <p:cNvSpPr>
            <a:spLocks noGrp="1"/>
          </p:cNvSpPr>
          <p:nvPr>
            <p:ph idx="1"/>
          </p:nvPr>
        </p:nvSpPr>
        <p:spPr>
          <a:xfrm>
            <a:off x="707334" y="1835755"/>
            <a:ext cx="10941000" cy="4926112"/>
          </a:xfrm>
        </p:spPr>
        <p:txBody>
          <a:bodyPr>
            <a:normAutofit/>
          </a:bodyPr>
          <a:lstStyle/>
          <a:p>
            <a:pPr marL="514350" indent="-514350">
              <a:buFont typeface="+mj-lt"/>
              <a:buAutoNum type="arabicPeriod"/>
            </a:pPr>
            <a:r>
              <a:rPr lang="en-US" dirty="0"/>
              <a:t>Identify areas that make </a:t>
            </a:r>
            <a:r>
              <a:rPr lang="en-US" i="1" dirty="0"/>
              <a:t>predictions</a:t>
            </a:r>
          </a:p>
          <a:p>
            <a:pPr lvl="1"/>
            <a:r>
              <a:rPr lang="en-US" dirty="0"/>
              <a:t>Based on schema (scene) presentation, which regions represent the schema?</a:t>
            </a:r>
          </a:p>
          <a:p>
            <a:pPr marL="514350" indent="-514350">
              <a:buFont typeface="+mj-lt"/>
              <a:buAutoNum type="arabicPeriod"/>
            </a:pPr>
            <a:r>
              <a:rPr lang="en-US" dirty="0"/>
              <a:t>Among the regions representing the scene, does any area represent the object as a </a:t>
            </a:r>
            <a:r>
              <a:rPr lang="en-US" i="1" dirty="0"/>
              <a:t>prediction error </a:t>
            </a:r>
            <a:r>
              <a:rPr lang="en-US" dirty="0"/>
              <a:t>relative to the scene?</a:t>
            </a:r>
          </a:p>
          <a:p>
            <a:pPr marL="514350" indent="-514350">
              <a:buFont typeface="+mj-lt"/>
              <a:buAutoNum type="arabicPeriod"/>
            </a:pPr>
            <a:r>
              <a:rPr lang="en-US" dirty="0"/>
              <a:t>Is prediction error used as a computational mechanism?</a:t>
            </a:r>
          </a:p>
          <a:p>
            <a:pPr lvl="1"/>
            <a:r>
              <a:rPr lang="en-US" dirty="0"/>
              <a:t>Specifically, is object information encoded as a prediction error?</a:t>
            </a:r>
          </a:p>
          <a:p>
            <a:pPr lvl="2"/>
            <a:r>
              <a:rPr lang="en-US" dirty="0"/>
              <a:t>Does stronger prediction-error representation predict subsequent memory?</a:t>
            </a:r>
          </a:p>
          <a:p>
            <a:pPr lvl="2"/>
            <a:r>
              <a:rPr lang="en-US" dirty="0"/>
              <a:t>Are there signatures of prediction error during retrieval, even when the original scheme is no longer shown?</a:t>
            </a:r>
          </a:p>
        </p:txBody>
      </p:sp>
    </p:spTree>
    <p:extLst>
      <p:ext uri="{BB962C8B-B14F-4D97-AF65-F5344CB8AC3E}">
        <p14:creationId xmlns:p14="http://schemas.microsoft.com/office/powerpoint/2010/main" val="4275206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Methods</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4603192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8302D1-35A2-0961-5D36-E0E9AA71EAD1}"/>
              </a:ext>
            </a:extLst>
          </p:cNvPr>
          <p:cNvSpPr>
            <a:spLocks noGrp="1"/>
          </p:cNvSpPr>
          <p:nvPr>
            <p:ph type="title"/>
          </p:nvPr>
        </p:nvSpPr>
        <p:spPr>
          <a:xfrm>
            <a:off x="838200" y="156119"/>
            <a:ext cx="10515600" cy="1325563"/>
          </a:xfrm>
        </p:spPr>
        <p:txBody>
          <a:bodyPr/>
          <a:lstStyle/>
          <a:p>
            <a:r>
              <a:rPr lang="en-US" dirty="0"/>
              <a:t>Data</a:t>
            </a:r>
          </a:p>
        </p:txBody>
      </p:sp>
      <p:sp>
        <p:nvSpPr>
          <p:cNvPr id="3" name="Content Placeholder 2">
            <a:extLst>
              <a:ext uri="{FF2B5EF4-FFF2-40B4-BE49-F238E27FC236}">
                <a16:creationId xmlns:a16="http://schemas.microsoft.com/office/drawing/2014/main" id="{6B79C058-A51C-1556-7D96-EBE2AAA3642E}"/>
              </a:ext>
            </a:extLst>
          </p:cNvPr>
          <p:cNvSpPr>
            <a:spLocks noGrp="1"/>
          </p:cNvSpPr>
          <p:nvPr>
            <p:ph idx="1"/>
          </p:nvPr>
        </p:nvSpPr>
        <p:spPr>
          <a:xfrm>
            <a:off x="530267" y="1766262"/>
            <a:ext cx="4991100" cy="2564718"/>
          </a:xfrm>
        </p:spPr>
        <p:txBody>
          <a:bodyPr>
            <a:normAutofit/>
          </a:bodyPr>
          <a:lstStyle/>
          <a:p>
            <a:r>
              <a:rPr lang="en-US" dirty="0"/>
              <a:t>I looked at the encoding data for </a:t>
            </a:r>
            <a:r>
              <a:rPr lang="en-US" dirty="0" err="1"/>
              <a:t>SchemeRep</a:t>
            </a:r>
            <a:endParaRPr lang="en-US" dirty="0"/>
          </a:p>
          <a:p>
            <a:pPr lvl="1"/>
            <a:r>
              <a:rPr lang="en-US" dirty="0"/>
              <a:t>Object presentation screen</a:t>
            </a:r>
          </a:p>
          <a:p>
            <a:pPr lvl="1"/>
            <a:r>
              <a:rPr lang="en-US" dirty="0"/>
              <a:t>Scene presentation screen</a:t>
            </a:r>
          </a:p>
        </p:txBody>
      </p:sp>
      <p:pic>
        <p:nvPicPr>
          <p:cNvPr id="5" name="Picture 4">
            <a:extLst>
              <a:ext uri="{FF2B5EF4-FFF2-40B4-BE49-F238E27FC236}">
                <a16:creationId xmlns:a16="http://schemas.microsoft.com/office/drawing/2014/main" id="{DB52B615-26EA-1DBA-FEFA-63AADAC28403}"/>
              </a:ext>
            </a:extLst>
          </p:cNvPr>
          <p:cNvPicPr>
            <a:picLocks noChangeAspect="1"/>
          </p:cNvPicPr>
          <p:nvPr/>
        </p:nvPicPr>
        <p:blipFill>
          <a:blip r:embed="rId3"/>
          <a:stretch>
            <a:fillRect/>
          </a:stretch>
        </p:blipFill>
        <p:spPr>
          <a:xfrm>
            <a:off x="6096000" y="1767780"/>
            <a:ext cx="5929487" cy="3834245"/>
          </a:xfrm>
          <a:prstGeom prst="rect">
            <a:avLst/>
          </a:prstGeom>
        </p:spPr>
      </p:pic>
      <p:sp>
        <p:nvSpPr>
          <p:cNvPr id="4" name="TextBox 3">
            <a:extLst>
              <a:ext uri="{FF2B5EF4-FFF2-40B4-BE49-F238E27FC236}">
                <a16:creationId xmlns:a16="http://schemas.microsoft.com/office/drawing/2014/main" id="{CBD0B90D-9868-3B52-205D-0F4752E87869}"/>
              </a:ext>
            </a:extLst>
          </p:cNvPr>
          <p:cNvSpPr txBox="1"/>
          <p:nvPr/>
        </p:nvSpPr>
        <p:spPr>
          <a:xfrm>
            <a:off x="8072010" y="5601737"/>
            <a:ext cx="492443"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3 s</a:t>
            </a:r>
          </a:p>
        </p:txBody>
      </p:sp>
      <p:sp>
        <p:nvSpPr>
          <p:cNvPr id="6" name="TextBox 5">
            <a:extLst>
              <a:ext uri="{FF2B5EF4-FFF2-40B4-BE49-F238E27FC236}">
                <a16:creationId xmlns:a16="http://schemas.microsoft.com/office/drawing/2014/main" id="{69723DE0-4791-3361-89F0-78F8E84800FD}"/>
              </a:ext>
            </a:extLst>
          </p:cNvPr>
          <p:cNvSpPr txBox="1"/>
          <p:nvPr/>
        </p:nvSpPr>
        <p:spPr>
          <a:xfrm>
            <a:off x="8674640" y="5601737"/>
            <a:ext cx="620683" cy="646331"/>
          </a:xfrm>
          <a:prstGeom prst="rect">
            <a:avLst/>
          </a:prstGeom>
          <a:noFill/>
        </p:spPr>
        <p:txBody>
          <a:bodyPr wrap="none" rtlCol="0">
            <a:spAutoFit/>
          </a:bodyPr>
          <a:lstStyle/>
          <a:p>
            <a:pPr algn="ctr"/>
            <a:r>
              <a:rPr lang="en-US" dirty="0">
                <a:latin typeface="Arial" panose="020B0604020202020204" pitchFamily="34" charset="0"/>
                <a:cs typeface="Arial" panose="020B0604020202020204" pitchFamily="34" charset="0"/>
              </a:rPr>
              <a:t>3 s </a:t>
            </a:r>
          </a:p>
          <a:p>
            <a:pPr algn="ctr"/>
            <a:r>
              <a:rPr lang="en-US" dirty="0">
                <a:latin typeface="Arial" panose="020B0604020202020204" pitchFamily="34" charset="0"/>
                <a:cs typeface="Arial" panose="020B0604020202020204" pitchFamily="34" charset="0"/>
              </a:rPr>
              <a:t>jitter</a:t>
            </a:r>
          </a:p>
        </p:txBody>
      </p:sp>
      <p:sp>
        <p:nvSpPr>
          <p:cNvPr id="7" name="TextBox 6">
            <a:extLst>
              <a:ext uri="{FF2B5EF4-FFF2-40B4-BE49-F238E27FC236}">
                <a16:creationId xmlns:a16="http://schemas.microsoft.com/office/drawing/2014/main" id="{D23B9B45-5711-97E7-7B90-45543FA7075F}"/>
              </a:ext>
            </a:extLst>
          </p:cNvPr>
          <p:cNvSpPr txBox="1"/>
          <p:nvPr/>
        </p:nvSpPr>
        <p:spPr>
          <a:xfrm>
            <a:off x="9405510" y="5601737"/>
            <a:ext cx="492443"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4 s</a:t>
            </a:r>
          </a:p>
        </p:txBody>
      </p:sp>
    </p:spTree>
    <p:extLst>
      <p:ext uri="{BB962C8B-B14F-4D97-AF65-F5344CB8AC3E}">
        <p14:creationId xmlns:p14="http://schemas.microsoft.com/office/powerpoint/2010/main" val="930529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3-session fMRI study (</a:t>
            </a:r>
            <a:r>
              <a:rPr lang="en-US" altLang="zh-CN" dirty="0" err="1"/>
              <a:t>SchemRep</a:t>
            </a:r>
            <a:r>
              <a:rPr lang="en-US" dirty="0"/>
              <a:t>)</a:t>
            </a:r>
          </a:p>
        </p:txBody>
      </p:sp>
      <p:sp>
        <p:nvSpPr>
          <p:cNvPr id="3" name="Content Placeholder 2"/>
          <p:cNvSpPr>
            <a:spLocks noGrp="1"/>
          </p:cNvSpPr>
          <p:nvPr>
            <p:ph idx="1"/>
          </p:nvPr>
        </p:nvSpPr>
        <p:spPr>
          <a:xfrm>
            <a:off x="635000" y="1954212"/>
            <a:ext cx="4985773" cy="4767263"/>
          </a:xfrm>
        </p:spPr>
        <p:txBody>
          <a:bodyPr>
            <a:normAutofit/>
          </a:bodyPr>
          <a:lstStyle/>
          <a:p>
            <a:pPr marL="514350" indent="-514350">
              <a:buFont typeface="+mj-lt"/>
              <a:buAutoNum type="arabicPeriod"/>
            </a:pPr>
            <a:r>
              <a:rPr lang="en-US" altLang="zh-CN" b="1" dirty="0"/>
              <a:t>Baseline</a:t>
            </a:r>
            <a:r>
              <a:rPr lang="en-US" altLang="zh-CN" dirty="0"/>
              <a:t>: rated image-label typicality for objects</a:t>
            </a:r>
          </a:p>
          <a:p>
            <a:pPr marL="514350" indent="-514350">
              <a:buFont typeface="+mj-lt"/>
              <a:buAutoNum type="arabicPeriod"/>
            </a:pPr>
            <a:r>
              <a:rPr lang="en-US" b="1" dirty="0"/>
              <a:t>Encoding</a:t>
            </a:r>
            <a:r>
              <a:rPr lang="en-US" dirty="0"/>
              <a:t>: Presentation of scene and object. Rated how likely one is to find the object in the scene</a:t>
            </a:r>
          </a:p>
          <a:p>
            <a:pPr marL="514350" indent="-514350">
              <a:buFont typeface="+mj-lt"/>
              <a:buAutoNum type="arabicPeriod"/>
            </a:pPr>
            <a:r>
              <a:rPr lang="en-US" b="1" dirty="0"/>
              <a:t>Retrieval</a:t>
            </a:r>
            <a:r>
              <a:rPr lang="en-US" dirty="0"/>
              <a:t>: conceptual old/new followed by visual old/similar/new</a:t>
            </a:r>
          </a:p>
        </p:txBody>
      </p:sp>
      <p:sp>
        <p:nvSpPr>
          <p:cNvPr id="4" name="Slide Number Placeholder 3">
            <a:extLst>
              <a:ext uri="{FF2B5EF4-FFF2-40B4-BE49-F238E27FC236}">
                <a16:creationId xmlns:a16="http://schemas.microsoft.com/office/drawing/2014/main" id="{1F2383D4-A18D-BBFA-1BDA-099C2F8C8C43}"/>
              </a:ext>
            </a:extLst>
          </p:cNvPr>
          <p:cNvSpPr>
            <a:spLocks noGrp="1"/>
          </p:cNvSpPr>
          <p:nvPr>
            <p:ph type="sldNum" sz="quarter" idx="12"/>
          </p:nvPr>
        </p:nvSpPr>
        <p:spPr/>
        <p:txBody>
          <a:bodyPr/>
          <a:lstStyle/>
          <a:p>
            <a:fld id="{5BC0481F-DE52-414A-8886-8B7F01508184}" type="slidenum">
              <a:rPr lang="en-US" smtClean="0"/>
              <a:t>19</a:t>
            </a:fld>
            <a:endParaRPr lang="en-US"/>
          </a:p>
        </p:txBody>
      </p:sp>
      <p:pic>
        <p:nvPicPr>
          <p:cNvPr id="6" name="Picture 5">
            <a:extLst>
              <a:ext uri="{FF2B5EF4-FFF2-40B4-BE49-F238E27FC236}">
                <a16:creationId xmlns:a16="http://schemas.microsoft.com/office/drawing/2014/main" id="{4A59CECC-3013-1697-DB76-D42854B95E96}"/>
              </a:ext>
            </a:extLst>
          </p:cNvPr>
          <p:cNvPicPr>
            <a:picLocks noChangeAspect="1"/>
          </p:cNvPicPr>
          <p:nvPr/>
        </p:nvPicPr>
        <p:blipFill>
          <a:blip r:embed="rId2"/>
          <a:stretch>
            <a:fillRect/>
          </a:stretch>
        </p:blipFill>
        <p:spPr>
          <a:xfrm>
            <a:off x="5820108" y="2371725"/>
            <a:ext cx="6371892" cy="3614057"/>
          </a:xfrm>
          <a:prstGeom prst="rect">
            <a:avLst/>
          </a:prstGeom>
        </p:spPr>
      </p:pic>
    </p:spTree>
    <p:extLst>
      <p:ext uri="{BB962C8B-B14F-4D97-AF65-F5344CB8AC3E}">
        <p14:creationId xmlns:p14="http://schemas.microsoft.com/office/powerpoint/2010/main" val="3286487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1BFAF-5918-2D50-EFD8-881BF2A35B24}"/>
              </a:ext>
            </a:extLst>
          </p:cNvPr>
          <p:cNvSpPr>
            <a:spLocks noGrp="1"/>
          </p:cNvSpPr>
          <p:nvPr>
            <p:ph type="title"/>
          </p:nvPr>
        </p:nvSpPr>
        <p:spPr>
          <a:xfrm>
            <a:off x="872067" y="187327"/>
            <a:ext cx="10515600" cy="786342"/>
          </a:xfrm>
        </p:spPr>
        <p:txBody>
          <a:bodyPr/>
          <a:lstStyle/>
          <a:p>
            <a:r>
              <a:rPr lang="en-US" dirty="0"/>
              <a:t>Behavioral results</a:t>
            </a:r>
          </a:p>
        </p:txBody>
      </p:sp>
      <p:pic>
        <p:nvPicPr>
          <p:cNvPr id="21" name="Picture 20">
            <a:extLst>
              <a:ext uri="{FF2B5EF4-FFF2-40B4-BE49-F238E27FC236}">
                <a16:creationId xmlns:a16="http://schemas.microsoft.com/office/drawing/2014/main" id="{27916DB2-2281-46CE-1977-3C7B87DC291F}"/>
              </a:ext>
            </a:extLst>
          </p:cNvPr>
          <p:cNvPicPr>
            <a:picLocks noChangeAspect="1"/>
          </p:cNvPicPr>
          <p:nvPr/>
        </p:nvPicPr>
        <p:blipFill>
          <a:blip r:embed="rId2"/>
          <a:stretch>
            <a:fillRect/>
          </a:stretch>
        </p:blipFill>
        <p:spPr>
          <a:xfrm>
            <a:off x="480271" y="980225"/>
            <a:ext cx="3840480" cy="2880360"/>
          </a:xfrm>
          <a:prstGeom prst="rect">
            <a:avLst/>
          </a:prstGeom>
        </p:spPr>
      </p:pic>
      <p:pic>
        <p:nvPicPr>
          <p:cNvPr id="23" name="Picture 22">
            <a:extLst>
              <a:ext uri="{FF2B5EF4-FFF2-40B4-BE49-F238E27FC236}">
                <a16:creationId xmlns:a16="http://schemas.microsoft.com/office/drawing/2014/main" id="{34CA28F7-CB2E-401F-1897-69DB257E57B9}"/>
              </a:ext>
            </a:extLst>
          </p:cNvPr>
          <p:cNvPicPr>
            <a:picLocks noChangeAspect="1"/>
          </p:cNvPicPr>
          <p:nvPr/>
        </p:nvPicPr>
        <p:blipFill>
          <a:blip r:embed="rId3"/>
          <a:stretch>
            <a:fillRect/>
          </a:stretch>
        </p:blipFill>
        <p:spPr>
          <a:xfrm>
            <a:off x="452754" y="3824181"/>
            <a:ext cx="3840480" cy="2880360"/>
          </a:xfrm>
          <a:prstGeom prst="rect">
            <a:avLst/>
          </a:prstGeom>
        </p:spPr>
      </p:pic>
      <p:pic>
        <p:nvPicPr>
          <p:cNvPr id="25" name="Picture 24">
            <a:extLst>
              <a:ext uri="{FF2B5EF4-FFF2-40B4-BE49-F238E27FC236}">
                <a16:creationId xmlns:a16="http://schemas.microsoft.com/office/drawing/2014/main" id="{2E0EA0D1-7436-224E-A259-1FD5321A69F5}"/>
              </a:ext>
            </a:extLst>
          </p:cNvPr>
          <p:cNvPicPr>
            <a:picLocks noChangeAspect="1"/>
          </p:cNvPicPr>
          <p:nvPr/>
        </p:nvPicPr>
        <p:blipFill>
          <a:blip r:embed="rId4"/>
          <a:stretch>
            <a:fillRect/>
          </a:stretch>
        </p:blipFill>
        <p:spPr>
          <a:xfrm>
            <a:off x="4320751" y="980225"/>
            <a:ext cx="3840480" cy="2880360"/>
          </a:xfrm>
          <a:prstGeom prst="rect">
            <a:avLst/>
          </a:prstGeom>
        </p:spPr>
      </p:pic>
      <p:pic>
        <p:nvPicPr>
          <p:cNvPr id="27" name="Picture 26">
            <a:extLst>
              <a:ext uri="{FF2B5EF4-FFF2-40B4-BE49-F238E27FC236}">
                <a16:creationId xmlns:a16="http://schemas.microsoft.com/office/drawing/2014/main" id="{56784443-7A11-3C75-C718-1EFA8EFBBDA7}"/>
              </a:ext>
            </a:extLst>
          </p:cNvPr>
          <p:cNvPicPr>
            <a:picLocks noChangeAspect="1"/>
          </p:cNvPicPr>
          <p:nvPr/>
        </p:nvPicPr>
        <p:blipFill>
          <a:blip r:embed="rId5"/>
          <a:stretch>
            <a:fillRect/>
          </a:stretch>
        </p:blipFill>
        <p:spPr>
          <a:xfrm>
            <a:off x="4263919" y="3824181"/>
            <a:ext cx="3840480" cy="2880360"/>
          </a:xfrm>
          <a:prstGeom prst="rect">
            <a:avLst/>
          </a:prstGeom>
        </p:spPr>
      </p:pic>
      <p:pic>
        <p:nvPicPr>
          <p:cNvPr id="29" name="Picture 28">
            <a:extLst>
              <a:ext uri="{FF2B5EF4-FFF2-40B4-BE49-F238E27FC236}">
                <a16:creationId xmlns:a16="http://schemas.microsoft.com/office/drawing/2014/main" id="{8326F6F7-D1DD-19FE-FBAC-EDC7CC118713}"/>
              </a:ext>
            </a:extLst>
          </p:cNvPr>
          <p:cNvPicPr>
            <a:picLocks noChangeAspect="1"/>
          </p:cNvPicPr>
          <p:nvPr/>
        </p:nvPicPr>
        <p:blipFill>
          <a:blip r:embed="rId6"/>
          <a:stretch>
            <a:fillRect/>
          </a:stretch>
        </p:blipFill>
        <p:spPr>
          <a:xfrm>
            <a:off x="8104399" y="980225"/>
            <a:ext cx="3840480" cy="2880360"/>
          </a:xfrm>
          <a:prstGeom prst="rect">
            <a:avLst/>
          </a:prstGeom>
        </p:spPr>
      </p:pic>
      <p:pic>
        <p:nvPicPr>
          <p:cNvPr id="31" name="Picture 30">
            <a:extLst>
              <a:ext uri="{FF2B5EF4-FFF2-40B4-BE49-F238E27FC236}">
                <a16:creationId xmlns:a16="http://schemas.microsoft.com/office/drawing/2014/main" id="{337B24EA-D0E5-4501-C7BF-CC281A4BAE39}"/>
              </a:ext>
            </a:extLst>
          </p:cNvPr>
          <p:cNvPicPr>
            <a:picLocks noChangeAspect="1"/>
          </p:cNvPicPr>
          <p:nvPr/>
        </p:nvPicPr>
        <p:blipFill>
          <a:blip r:embed="rId7"/>
          <a:stretch>
            <a:fillRect/>
          </a:stretch>
        </p:blipFill>
        <p:spPr>
          <a:xfrm>
            <a:off x="8104399" y="3824181"/>
            <a:ext cx="3840480" cy="2880360"/>
          </a:xfrm>
          <a:prstGeom prst="rect">
            <a:avLst/>
          </a:prstGeom>
        </p:spPr>
      </p:pic>
    </p:spTree>
    <p:extLst>
      <p:ext uri="{BB962C8B-B14F-4D97-AF65-F5344CB8AC3E}">
        <p14:creationId xmlns:p14="http://schemas.microsoft.com/office/powerpoint/2010/main" val="6137652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B3288F-3618-88F3-339F-3554A9A6BD79}"/>
              </a:ext>
            </a:extLst>
          </p:cNvPr>
          <p:cNvSpPr>
            <a:spLocks noGrp="1"/>
          </p:cNvSpPr>
          <p:nvPr>
            <p:ph type="title"/>
          </p:nvPr>
        </p:nvSpPr>
        <p:spPr>
          <a:xfrm>
            <a:off x="438449" y="497367"/>
            <a:ext cx="5054600" cy="1325563"/>
          </a:xfrm>
        </p:spPr>
        <p:txBody>
          <a:bodyPr/>
          <a:lstStyle/>
          <a:p>
            <a:r>
              <a:rPr lang="en-US" dirty="0" err="1"/>
              <a:t>Brainnetome</a:t>
            </a:r>
            <a:r>
              <a:rPr lang="en-US" dirty="0"/>
              <a:t> atlas</a:t>
            </a:r>
          </a:p>
        </p:txBody>
      </p:sp>
      <p:sp>
        <p:nvSpPr>
          <p:cNvPr id="3" name="Content Placeholder 2">
            <a:extLst>
              <a:ext uri="{FF2B5EF4-FFF2-40B4-BE49-F238E27FC236}">
                <a16:creationId xmlns:a16="http://schemas.microsoft.com/office/drawing/2014/main" id="{2AE8E55C-1B9D-9B47-EDE2-4C945C7A47B2}"/>
              </a:ext>
            </a:extLst>
          </p:cNvPr>
          <p:cNvSpPr>
            <a:spLocks noGrp="1"/>
          </p:cNvSpPr>
          <p:nvPr>
            <p:ph idx="1"/>
          </p:nvPr>
        </p:nvSpPr>
        <p:spPr>
          <a:xfrm>
            <a:off x="857549" y="2035702"/>
            <a:ext cx="4216400" cy="2416811"/>
          </a:xfrm>
        </p:spPr>
        <p:txBody>
          <a:bodyPr>
            <a:normAutofit/>
          </a:bodyPr>
          <a:lstStyle/>
          <a:p>
            <a:r>
              <a:rPr lang="en-US" dirty="0"/>
              <a:t>Used by </a:t>
            </a:r>
            <a:r>
              <a:rPr lang="en-US" dirty="0" err="1"/>
              <a:t>Lifu</a:t>
            </a:r>
            <a:r>
              <a:rPr lang="en-US" dirty="0"/>
              <a:t> and Shenyang</a:t>
            </a:r>
          </a:p>
          <a:p>
            <a:r>
              <a:rPr lang="en-US" dirty="0"/>
              <a:t>246 ROIs</a:t>
            </a:r>
          </a:p>
          <a:p>
            <a:pPr lvl="1"/>
            <a:r>
              <a:rPr lang="en-US" dirty="0"/>
              <a:t>Cortical and subcortical</a:t>
            </a:r>
          </a:p>
          <a:p>
            <a:endParaRPr lang="en-US" dirty="0"/>
          </a:p>
        </p:txBody>
      </p:sp>
      <p:pic>
        <p:nvPicPr>
          <p:cNvPr id="4" name="Picture 3">
            <a:extLst>
              <a:ext uri="{FF2B5EF4-FFF2-40B4-BE49-F238E27FC236}">
                <a16:creationId xmlns:a16="http://schemas.microsoft.com/office/drawing/2014/main" id="{8F531BC8-BAB9-F6A9-85AB-86C38A9B4BE8}"/>
              </a:ext>
            </a:extLst>
          </p:cNvPr>
          <p:cNvPicPr>
            <a:picLocks noChangeAspect="1"/>
          </p:cNvPicPr>
          <p:nvPr/>
        </p:nvPicPr>
        <p:blipFill>
          <a:blip r:embed="rId3"/>
          <a:stretch>
            <a:fillRect/>
          </a:stretch>
        </p:blipFill>
        <p:spPr>
          <a:xfrm>
            <a:off x="6096000" y="654320"/>
            <a:ext cx="5892798" cy="5942249"/>
          </a:xfrm>
          <a:prstGeom prst="rect">
            <a:avLst/>
          </a:prstGeom>
        </p:spPr>
      </p:pic>
    </p:spTree>
    <p:extLst>
      <p:ext uri="{BB962C8B-B14F-4D97-AF65-F5344CB8AC3E}">
        <p14:creationId xmlns:p14="http://schemas.microsoft.com/office/powerpoint/2010/main" val="30068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 name="Rectangle 1028">
            <a:extLst>
              <a:ext uri="{FF2B5EF4-FFF2-40B4-BE49-F238E27FC236}">
                <a16:creationId xmlns:a16="http://schemas.microsoft.com/office/drawing/2014/main" id="{71DA3CBB-0E70-024A-EBC2-5261289C45C8}"/>
              </a:ext>
            </a:extLst>
          </p:cNvPr>
          <p:cNvSpPr/>
          <p:nvPr/>
        </p:nvSpPr>
        <p:spPr>
          <a:xfrm>
            <a:off x="499026" y="1280761"/>
            <a:ext cx="5237310" cy="3000375"/>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1F9D74C-FB51-E387-833E-0D917F8C7900}"/>
              </a:ext>
            </a:extLst>
          </p:cNvPr>
          <p:cNvSpPr>
            <a:spLocks noGrp="1"/>
          </p:cNvSpPr>
          <p:nvPr>
            <p:ph type="title"/>
          </p:nvPr>
        </p:nvSpPr>
        <p:spPr>
          <a:xfrm>
            <a:off x="838200" y="18364"/>
            <a:ext cx="10515600" cy="673309"/>
          </a:xfrm>
        </p:spPr>
        <p:txBody>
          <a:bodyPr>
            <a:normAutofit fontScale="90000"/>
          </a:bodyPr>
          <a:lstStyle/>
          <a:p>
            <a:r>
              <a:rPr lang="en-US" dirty="0"/>
              <a:t>Stimulus representations</a:t>
            </a:r>
          </a:p>
        </p:txBody>
      </p:sp>
      <p:sp>
        <p:nvSpPr>
          <p:cNvPr id="3" name="Content Placeholder 2">
            <a:extLst>
              <a:ext uri="{FF2B5EF4-FFF2-40B4-BE49-F238E27FC236}">
                <a16:creationId xmlns:a16="http://schemas.microsoft.com/office/drawing/2014/main" id="{3DEA1933-6C2A-C270-C1C2-01C180E279F1}"/>
              </a:ext>
            </a:extLst>
          </p:cNvPr>
          <p:cNvSpPr>
            <a:spLocks noGrp="1"/>
          </p:cNvSpPr>
          <p:nvPr>
            <p:ph idx="1"/>
          </p:nvPr>
        </p:nvSpPr>
        <p:spPr>
          <a:xfrm>
            <a:off x="6101787" y="969487"/>
            <a:ext cx="5489285" cy="5472839"/>
          </a:xfrm>
        </p:spPr>
        <p:txBody>
          <a:bodyPr>
            <a:normAutofit lnSpcReduction="10000"/>
          </a:bodyPr>
          <a:lstStyle/>
          <a:p>
            <a:r>
              <a:rPr lang="en-US" dirty="0"/>
              <a:t>Presentation of the scheme serves to inform the </a:t>
            </a:r>
            <a:r>
              <a:rPr lang="en-US" i="1" dirty="0"/>
              <a:t>prediction</a:t>
            </a:r>
          </a:p>
          <a:p>
            <a:pPr lvl="1"/>
            <a:r>
              <a:rPr lang="en-US" dirty="0"/>
              <a:t>RSA: scene vector x scene presentation fMRI</a:t>
            </a:r>
          </a:p>
          <a:p>
            <a:pPr lvl="1"/>
            <a:r>
              <a:rPr lang="en-US" dirty="0"/>
              <a:t>Unsigned prediction error</a:t>
            </a:r>
          </a:p>
          <a:p>
            <a:r>
              <a:rPr lang="en-US" dirty="0"/>
              <a:t>Presentation of the object may elicit a </a:t>
            </a:r>
            <a:r>
              <a:rPr lang="en-US" i="1" dirty="0"/>
              <a:t>prediction error</a:t>
            </a:r>
            <a:endParaRPr lang="en-US" dirty="0"/>
          </a:p>
          <a:p>
            <a:pPr lvl="1"/>
            <a:r>
              <a:rPr lang="en-US" dirty="0"/>
              <a:t>RSA with the absolute-difference vector x object presentation fMRI</a:t>
            </a:r>
          </a:p>
          <a:p>
            <a:pPr lvl="1"/>
            <a:r>
              <a:rPr lang="en-US" dirty="0"/>
              <a:t>Confound risk:</a:t>
            </a:r>
          </a:p>
          <a:p>
            <a:pPr lvl="2"/>
            <a:r>
              <a:rPr lang="en-US" dirty="0"/>
              <a:t>Driven by solely the object</a:t>
            </a:r>
          </a:p>
          <a:p>
            <a:pPr lvl="2"/>
            <a:r>
              <a:rPr lang="en-US" dirty="0"/>
              <a:t>Driven by solely the scene</a:t>
            </a:r>
          </a:p>
          <a:p>
            <a:pPr lvl="1"/>
            <a:r>
              <a:rPr lang="en-US" dirty="0"/>
              <a:t>Hence:</a:t>
            </a:r>
          </a:p>
          <a:p>
            <a:pPr lvl="2"/>
            <a:r>
              <a:rPr lang="en-US" dirty="0"/>
              <a:t>Regress out object RSA z-score and scene RSA z-score</a:t>
            </a:r>
          </a:p>
        </p:txBody>
      </p:sp>
      <p:pic>
        <p:nvPicPr>
          <p:cNvPr id="4" name="Picture 3">
            <a:extLst>
              <a:ext uri="{FF2B5EF4-FFF2-40B4-BE49-F238E27FC236}">
                <a16:creationId xmlns:a16="http://schemas.microsoft.com/office/drawing/2014/main" id="{3049168C-F2CD-A5A6-41BF-C317088DB086}"/>
              </a:ext>
            </a:extLst>
          </p:cNvPr>
          <p:cNvPicPr>
            <a:picLocks noChangeAspect="1"/>
          </p:cNvPicPr>
          <p:nvPr/>
        </p:nvPicPr>
        <p:blipFill rotWithShape="1">
          <a:blip r:embed="rId3"/>
          <a:srcRect l="26687" t="54667" r="53475" b="14256"/>
          <a:stretch/>
        </p:blipFill>
        <p:spPr>
          <a:xfrm>
            <a:off x="768702" y="1444863"/>
            <a:ext cx="1176338" cy="1191624"/>
          </a:xfrm>
          <a:prstGeom prst="rect">
            <a:avLst/>
          </a:prstGeom>
        </p:spPr>
      </p:pic>
      <p:pic>
        <p:nvPicPr>
          <p:cNvPr id="5" name="Picture 4">
            <a:extLst>
              <a:ext uri="{FF2B5EF4-FFF2-40B4-BE49-F238E27FC236}">
                <a16:creationId xmlns:a16="http://schemas.microsoft.com/office/drawing/2014/main" id="{2DFCB511-91FB-CF26-1142-F039262BBEB5}"/>
              </a:ext>
            </a:extLst>
          </p:cNvPr>
          <p:cNvPicPr>
            <a:picLocks noChangeAspect="1"/>
          </p:cNvPicPr>
          <p:nvPr/>
        </p:nvPicPr>
        <p:blipFill rotWithShape="1">
          <a:blip r:embed="rId3"/>
          <a:srcRect l="50552" t="54668" r="29609" b="14254"/>
          <a:stretch/>
        </p:blipFill>
        <p:spPr>
          <a:xfrm>
            <a:off x="2520748" y="1444863"/>
            <a:ext cx="1176338" cy="1191624"/>
          </a:xfrm>
          <a:prstGeom prst="rect">
            <a:avLst/>
          </a:prstGeom>
        </p:spPr>
      </p:pic>
      <p:sp>
        <p:nvSpPr>
          <p:cNvPr id="6" name="Rectangle 5">
            <a:extLst>
              <a:ext uri="{FF2B5EF4-FFF2-40B4-BE49-F238E27FC236}">
                <a16:creationId xmlns:a16="http://schemas.microsoft.com/office/drawing/2014/main" id="{5F7C2078-DCA7-B9B3-C174-D7A5D94AA104}"/>
              </a:ext>
            </a:extLst>
          </p:cNvPr>
          <p:cNvSpPr/>
          <p:nvPr/>
        </p:nvSpPr>
        <p:spPr>
          <a:xfrm>
            <a:off x="1274865" y="2747159"/>
            <a:ext cx="189411" cy="189411"/>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31EFDD6-0BFF-9672-8882-CBBD22ED4191}"/>
              </a:ext>
            </a:extLst>
          </p:cNvPr>
          <p:cNvSpPr/>
          <p:nvPr/>
        </p:nvSpPr>
        <p:spPr>
          <a:xfrm>
            <a:off x="1274865" y="2952826"/>
            <a:ext cx="189411" cy="189411"/>
          </a:xfrm>
          <a:prstGeom prst="rect">
            <a:avLst/>
          </a:prstGeom>
          <a:solidFill>
            <a:schemeClr val="bg1">
              <a:lumMod val="6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11870F9-A353-2443-E7B7-5BA5B0C76095}"/>
              </a:ext>
            </a:extLst>
          </p:cNvPr>
          <p:cNvSpPr/>
          <p:nvPr/>
        </p:nvSpPr>
        <p:spPr>
          <a:xfrm>
            <a:off x="1274976" y="3158493"/>
            <a:ext cx="189411" cy="189411"/>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5A0FF4F-E367-2D21-4C5D-8F0913820890}"/>
              </a:ext>
            </a:extLst>
          </p:cNvPr>
          <p:cNvSpPr/>
          <p:nvPr/>
        </p:nvSpPr>
        <p:spPr>
          <a:xfrm>
            <a:off x="1273776" y="3364160"/>
            <a:ext cx="189411" cy="189411"/>
          </a:xfrm>
          <a:prstGeom prst="rect">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3112E56-16E2-217E-858B-BB5B67C9A253}"/>
              </a:ext>
            </a:extLst>
          </p:cNvPr>
          <p:cNvSpPr/>
          <p:nvPr/>
        </p:nvSpPr>
        <p:spPr>
          <a:xfrm>
            <a:off x="1274137" y="3569827"/>
            <a:ext cx="189411" cy="189411"/>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4F959E1-73DA-C99B-710E-D0109BD36B4F}"/>
              </a:ext>
            </a:extLst>
          </p:cNvPr>
          <p:cNvSpPr/>
          <p:nvPr/>
        </p:nvSpPr>
        <p:spPr>
          <a:xfrm>
            <a:off x="1275715" y="3775494"/>
            <a:ext cx="189411" cy="189411"/>
          </a:xfrm>
          <a:prstGeom prst="rect">
            <a:avLst/>
          </a:prstGeom>
          <a:solidFill>
            <a:srgbClr val="A6A6A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6FF82F9-B65A-84C0-6163-5AD1F8432D52}"/>
              </a:ext>
            </a:extLst>
          </p:cNvPr>
          <p:cNvSpPr/>
          <p:nvPr/>
        </p:nvSpPr>
        <p:spPr>
          <a:xfrm>
            <a:off x="3027465" y="2747159"/>
            <a:ext cx="189411" cy="189411"/>
          </a:xfrm>
          <a:prstGeom prst="rect">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AEC8558-E951-512C-DF4A-B3680DE79094}"/>
              </a:ext>
            </a:extLst>
          </p:cNvPr>
          <p:cNvSpPr/>
          <p:nvPr/>
        </p:nvSpPr>
        <p:spPr>
          <a:xfrm>
            <a:off x="3027465" y="2952826"/>
            <a:ext cx="189411" cy="189411"/>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4CA5F9D-2D7C-7A55-06B5-FBFD1C921390}"/>
              </a:ext>
            </a:extLst>
          </p:cNvPr>
          <p:cNvSpPr/>
          <p:nvPr/>
        </p:nvSpPr>
        <p:spPr>
          <a:xfrm>
            <a:off x="3027576" y="3158493"/>
            <a:ext cx="189411" cy="189411"/>
          </a:xfrm>
          <a:prstGeom prst="rect">
            <a:avLst/>
          </a:prstGeom>
          <a:solidFill>
            <a:schemeClr val="bg2">
              <a:lumMod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ACFB69B-D5CC-0859-38FE-A068FB9EE06A}"/>
              </a:ext>
            </a:extLst>
          </p:cNvPr>
          <p:cNvSpPr/>
          <p:nvPr/>
        </p:nvSpPr>
        <p:spPr>
          <a:xfrm>
            <a:off x="3026376" y="3364160"/>
            <a:ext cx="189411" cy="189411"/>
          </a:xfrm>
          <a:prstGeom prst="rect">
            <a:avLst/>
          </a:prstGeom>
          <a:solidFill>
            <a:schemeClr val="bg1">
              <a:lumMod val="6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D46FE7A-2A9D-BE6D-1F65-1710912C1E19}"/>
              </a:ext>
            </a:extLst>
          </p:cNvPr>
          <p:cNvSpPr/>
          <p:nvPr/>
        </p:nvSpPr>
        <p:spPr>
          <a:xfrm>
            <a:off x="3026737" y="3569827"/>
            <a:ext cx="189411" cy="189411"/>
          </a:xfrm>
          <a:prstGeom prst="rect">
            <a:avLst/>
          </a:prstGeom>
          <a:solidFill>
            <a:schemeClr val="bg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CA86753-EA15-6762-D8F3-E8336F7B7C89}"/>
              </a:ext>
            </a:extLst>
          </p:cNvPr>
          <p:cNvSpPr/>
          <p:nvPr/>
        </p:nvSpPr>
        <p:spPr>
          <a:xfrm>
            <a:off x="3028315" y="3775494"/>
            <a:ext cx="189411" cy="189411"/>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88F4B69-202F-9AB7-26AE-DD6AC7A2445B}"/>
              </a:ext>
            </a:extLst>
          </p:cNvPr>
          <p:cNvSpPr/>
          <p:nvPr/>
        </p:nvSpPr>
        <p:spPr>
          <a:xfrm>
            <a:off x="4761015" y="2747159"/>
            <a:ext cx="189411" cy="189411"/>
          </a:xfrm>
          <a:prstGeom prst="rect">
            <a:avLst/>
          </a:prstGeom>
          <a:solidFill>
            <a:schemeClr val="bg2">
              <a:lumMod val="2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9E8ABE5-D1D6-BF19-2959-345CA92737ED}"/>
              </a:ext>
            </a:extLst>
          </p:cNvPr>
          <p:cNvSpPr/>
          <p:nvPr/>
        </p:nvSpPr>
        <p:spPr>
          <a:xfrm>
            <a:off x="4761015" y="2952826"/>
            <a:ext cx="189411" cy="189411"/>
          </a:xfrm>
          <a:prstGeom prst="rect">
            <a:avLst/>
          </a:prstGeom>
          <a:solidFill>
            <a:schemeClr val="bg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1FA26B4-90B3-F263-8479-1EF0FD39EE3E}"/>
              </a:ext>
            </a:extLst>
          </p:cNvPr>
          <p:cNvSpPr/>
          <p:nvPr/>
        </p:nvSpPr>
        <p:spPr>
          <a:xfrm>
            <a:off x="4761126" y="3158493"/>
            <a:ext cx="189411" cy="189411"/>
          </a:xfrm>
          <a:prstGeom prst="rect">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BF775ED-AADF-76DB-09B8-0013050F777F}"/>
              </a:ext>
            </a:extLst>
          </p:cNvPr>
          <p:cNvSpPr/>
          <p:nvPr/>
        </p:nvSpPr>
        <p:spPr>
          <a:xfrm>
            <a:off x="4759926" y="3364160"/>
            <a:ext cx="189411" cy="189411"/>
          </a:xfrm>
          <a:prstGeom prst="rect">
            <a:avLst/>
          </a:prstGeom>
          <a:solidFill>
            <a:schemeClr val="bg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F9064FDE-6490-0529-F195-4BF9BC45D56F}"/>
              </a:ext>
            </a:extLst>
          </p:cNvPr>
          <p:cNvSpPr/>
          <p:nvPr/>
        </p:nvSpPr>
        <p:spPr>
          <a:xfrm>
            <a:off x="4760287" y="3569827"/>
            <a:ext cx="189411" cy="189411"/>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A042064-4BAA-CCBC-219A-EEC672B2DF58}"/>
              </a:ext>
            </a:extLst>
          </p:cNvPr>
          <p:cNvSpPr/>
          <p:nvPr/>
        </p:nvSpPr>
        <p:spPr>
          <a:xfrm>
            <a:off x="4761865" y="3775494"/>
            <a:ext cx="189411" cy="189411"/>
          </a:xfrm>
          <a:prstGeom prst="rect">
            <a:avLst/>
          </a:prstGeom>
          <a:solidFill>
            <a:schemeClr val="bg1">
              <a:lumMod val="6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09D073D8-EA5C-C531-8DB7-B472EB104AC9}"/>
              </a:ext>
            </a:extLst>
          </p:cNvPr>
          <p:cNvSpPr txBox="1"/>
          <p:nvPr/>
        </p:nvSpPr>
        <p:spPr>
          <a:xfrm>
            <a:off x="2068995" y="3018201"/>
            <a:ext cx="338554" cy="646331"/>
          </a:xfrm>
          <a:prstGeom prst="rect">
            <a:avLst/>
          </a:prstGeom>
          <a:noFill/>
        </p:spPr>
        <p:txBody>
          <a:bodyPr wrap="none" rtlCol="0">
            <a:spAutoFit/>
          </a:bodyPr>
          <a:lstStyle/>
          <a:p>
            <a:r>
              <a:rPr lang="en-US" sz="3600" dirty="0">
                <a:latin typeface="Arial" panose="020B0604020202020204" pitchFamily="34" charset="0"/>
                <a:cs typeface="Arial" panose="020B0604020202020204" pitchFamily="34" charset="0"/>
              </a:rPr>
              <a:t>-</a:t>
            </a:r>
          </a:p>
        </p:txBody>
      </p:sp>
      <p:sp>
        <p:nvSpPr>
          <p:cNvPr id="26" name="TextBox 25">
            <a:extLst>
              <a:ext uri="{FF2B5EF4-FFF2-40B4-BE49-F238E27FC236}">
                <a16:creationId xmlns:a16="http://schemas.microsoft.com/office/drawing/2014/main" id="{EEBEE57B-A293-F3C6-750A-33A542D46620}"/>
              </a:ext>
            </a:extLst>
          </p:cNvPr>
          <p:cNvSpPr txBox="1"/>
          <p:nvPr/>
        </p:nvSpPr>
        <p:spPr>
          <a:xfrm>
            <a:off x="3767538" y="3059576"/>
            <a:ext cx="453970" cy="646331"/>
          </a:xfrm>
          <a:prstGeom prst="rect">
            <a:avLst/>
          </a:prstGeom>
          <a:noFill/>
        </p:spPr>
        <p:txBody>
          <a:bodyPr wrap="none" rtlCol="0">
            <a:spAutoFit/>
          </a:bodyPr>
          <a:lstStyle/>
          <a:p>
            <a:r>
              <a:rPr lang="en-US" sz="3600" dirty="0">
                <a:latin typeface="Arial" panose="020B0604020202020204" pitchFamily="34" charset="0"/>
                <a:cs typeface="Arial" panose="020B0604020202020204" pitchFamily="34" charset="0"/>
              </a:rPr>
              <a:t>=</a:t>
            </a:r>
          </a:p>
        </p:txBody>
      </p:sp>
      <p:sp>
        <p:nvSpPr>
          <p:cNvPr id="29" name="TextBox 28">
            <a:extLst>
              <a:ext uri="{FF2B5EF4-FFF2-40B4-BE49-F238E27FC236}">
                <a16:creationId xmlns:a16="http://schemas.microsoft.com/office/drawing/2014/main" id="{A0596581-EA83-24AF-0A07-D37D3129F7C8}"/>
              </a:ext>
            </a:extLst>
          </p:cNvPr>
          <p:cNvSpPr txBox="1"/>
          <p:nvPr/>
        </p:nvSpPr>
        <p:spPr>
          <a:xfrm>
            <a:off x="3523250" y="3628340"/>
            <a:ext cx="966867" cy="523220"/>
          </a:xfrm>
          <a:prstGeom prst="rect">
            <a:avLst/>
          </a:prstGeom>
          <a:noFill/>
        </p:spPr>
        <p:txBody>
          <a:bodyPr wrap="none" rtlCol="0">
            <a:spAutoFit/>
          </a:bodyPr>
          <a:lstStyle/>
          <a:p>
            <a:pPr algn="ctr"/>
            <a:r>
              <a:rPr lang="en-US" sz="1400" dirty="0">
                <a:latin typeface="Arial" panose="020B0604020202020204" pitchFamily="34" charset="0"/>
                <a:cs typeface="Arial" panose="020B0604020202020204" pitchFamily="34" charset="0"/>
              </a:rPr>
              <a:t>absolute</a:t>
            </a:r>
          </a:p>
          <a:p>
            <a:pPr algn="ctr"/>
            <a:r>
              <a:rPr lang="en-US" sz="1400" dirty="0">
                <a:latin typeface="Arial" panose="020B0604020202020204" pitchFamily="34" charset="0"/>
                <a:cs typeface="Arial" panose="020B0604020202020204" pitchFamily="34" charset="0"/>
              </a:rPr>
              <a:t>difference</a:t>
            </a:r>
          </a:p>
        </p:txBody>
      </p:sp>
      <p:pic>
        <p:nvPicPr>
          <p:cNvPr id="1026" name="Picture 2" descr="Squiggly line doodle | Line doodles, Elements of art, Pattern drawing">
            <a:extLst>
              <a:ext uri="{FF2B5EF4-FFF2-40B4-BE49-F238E27FC236}">
                <a16:creationId xmlns:a16="http://schemas.microsoft.com/office/drawing/2014/main" id="{C057F522-E979-18AA-9CBC-2BD88DB512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5400000">
            <a:off x="4470455" y="1489529"/>
            <a:ext cx="768350" cy="1077611"/>
          </a:xfrm>
          <a:prstGeom prst="rect">
            <a:avLst/>
          </a:prstGeom>
          <a:noFill/>
          <a:extLst>
            <a:ext uri="{909E8E84-426E-40DD-AFC4-6F175D3DCCD1}">
              <a14:hiddenFill xmlns:a14="http://schemas.microsoft.com/office/drawing/2010/main">
                <a:solidFill>
                  <a:srgbClr val="FFFFFF"/>
                </a:solidFill>
              </a14:hiddenFill>
            </a:ext>
          </a:extLst>
        </p:spPr>
      </p:pic>
      <p:sp>
        <p:nvSpPr>
          <p:cNvPr id="1030" name="TextBox 1029">
            <a:extLst>
              <a:ext uri="{FF2B5EF4-FFF2-40B4-BE49-F238E27FC236}">
                <a16:creationId xmlns:a16="http://schemas.microsoft.com/office/drawing/2014/main" id="{4D0E3313-A857-EBF1-D8EC-E02A6EDF0F08}"/>
              </a:ext>
            </a:extLst>
          </p:cNvPr>
          <p:cNvSpPr txBox="1"/>
          <p:nvPr/>
        </p:nvSpPr>
        <p:spPr>
          <a:xfrm>
            <a:off x="499026" y="889564"/>
            <a:ext cx="5222324" cy="369332"/>
          </a:xfrm>
          <a:prstGeom prst="rect">
            <a:avLst/>
          </a:prstGeom>
          <a:noFill/>
        </p:spPr>
        <p:txBody>
          <a:bodyPr wrap="square" rtlCol="0">
            <a:spAutoFit/>
          </a:bodyPr>
          <a:lstStyle/>
          <a:p>
            <a:pPr algn="ctr"/>
            <a:r>
              <a:rPr lang="en-US" dirty="0">
                <a:latin typeface="Arial" panose="020B0604020202020204" pitchFamily="34" charset="0"/>
                <a:cs typeface="Arial" panose="020B0604020202020204" pitchFamily="34" charset="0"/>
              </a:rPr>
              <a:t>Single trial</a:t>
            </a:r>
          </a:p>
        </p:txBody>
      </p:sp>
      <p:sp>
        <p:nvSpPr>
          <p:cNvPr id="1031" name="Rectangle 1030">
            <a:extLst>
              <a:ext uri="{FF2B5EF4-FFF2-40B4-BE49-F238E27FC236}">
                <a16:creationId xmlns:a16="http://schemas.microsoft.com/office/drawing/2014/main" id="{961F192B-343B-C4DC-5678-4ACC02F53778}"/>
              </a:ext>
            </a:extLst>
          </p:cNvPr>
          <p:cNvSpPr/>
          <p:nvPr/>
        </p:nvSpPr>
        <p:spPr>
          <a:xfrm>
            <a:off x="875686" y="5324391"/>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Rectangle 1031">
            <a:extLst>
              <a:ext uri="{FF2B5EF4-FFF2-40B4-BE49-F238E27FC236}">
                <a16:creationId xmlns:a16="http://schemas.microsoft.com/office/drawing/2014/main" id="{C8888FC6-35E9-75ED-8200-50A4897D7407}"/>
              </a:ext>
            </a:extLst>
          </p:cNvPr>
          <p:cNvSpPr/>
          <p:nvPr/>
        </p:nvSpPr>
        <p:spPr>
          <a:xfrm>
            <a:off x="882036" y="5530058"/>
            <a:ext cx="189411" cy="189411"/>
          </a:xfrm>
          <a:prstGeom prst="rect">
            <a:avLst/>
          </a:prstGeom>
          <a:solidFill>
            <a:srgbClr val="00B0F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59159CA4-ED9B-CE03-0560-FE6BC93E538D}"/>
              </a:ext>
            </a:extLst>
          </p:cNvPr>
          <p:cNvSpPr/>
          <p:nvPr/>
        </p:nvSpPr>
        <p:spPr>
          <a:xfrm>
            <a:off x="882147" y="5735725"/>
            <a:ext cx="189411" cy="189411"/>
          </a:xfrm>
          <a:prstGeom prst="rect">
            <a:avLst/>
          </a:prstGeom>
          <a:solidFill>
            <a:srgbClr val="33CC3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Rectangle 1033">
            <a:extLst>
              <a:ext uri="{FF2B5EF4-FFF2-40B4-BE49-F238E27FC236}">
                <a16:creationId xmlns:a16="http://schemas.microsoft.com/office/drawing/2014/main" id="{D8EB8E62-49A1-43D5-6180-DC8238187EF2}"/>
              </a:ext>
            </a:extLst>
          </p:cNvPr>
          <p:cNvSpPr/>
          <p:nvPr/>
        </p:nvSpPr>
        <p:spPr>
          <a:xfrm>
            <a:off x="880947" y="5941392"/>
            <a:ext cx="189411" cy="189411"/>
          </a:xfrm>
          <a:prstGeom prst="rect">
            <a:avLst/>
          </a:prstGeom>
          <a:solidFill>
            <a:srgbClr val="00FF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321B294A-21D1-E7C6-88BC-275DCDABBB23}"/>
              </a:ext>
            </a:extLst>
          </p:cNvPr>
          <p:cNvSpPr/>
          <p:nvPr/>
        </p:nvSpPr>
        <p:spPr>
          <a:xfrm>
            <a:off x="881308" y="6147059"/>
            <a:ext cx="189411" cy="189411"/>
          </a:xfrm>
          <a:prstGeom prst="rect">
            <a:avLst/>
          </a:prstGeom>
          <a:solidFill>
            <a:srgbClr val="452A4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7BC6558-DFCB-3345-0095-40E6AC05C306}"/>
              </a:ext>
            </a:extLst>
          </p:cNvPr>
          <p:cNvSpPr/>
          <p:nvPr/>
        </p:nvSpPr>
        <p:spPr>
          <a:xfrm>
            <a:off x="1088624" y="5327019"/>
            <a:ext cx="189411" cy="189411"/>
          </a:xfrm>
          <a:prstGeom prst="rect">
            <a:avLst/>
          </a:prstGeom>
          <a:solidFill>
            <a:srgbClr val="00B0F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Rectangle 1037">
            <a:extLst>
              <a:ext uri="{FF2B5EF4-FFF2-40B4-BE49-F238E27FC236}">
                <a16:creationId xmlns:a16="http://schemas.microsoft.com/office/drawing/2014/main" id="{D061B90B-3B11-0C61-3ECA-29F9F821EF95}"/>
              </a:ext>
            </a:extLst>
          </p:cNvPr>
          <p:cNvSpPr/>
          <p:nvPr/>
        </p:nvSpPr>
        <p:spPr>
          <a:xfrm>
            <a:off x="1085449" y="5532686"/>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BF33B847-6F53-C54D-D496-3F65BC916CCF}"/>
              </a:ext>
            </a:extLst>
          </p:cNvPr>
          <p:cNvSpPr/>
          <p:nvPr/>
        </p:nvSpPr>
        <p:spPr>
          <a:xfrm>
            <a:off x="1088735" y="5738353"/>
            <a:ext cx="189411" cy="189411"/>
          </a:xfrm>
          <a:prstGeom prst="rect">
            <a:avLst/>
          </a:prstGeom>
          <a:solidFill>
            <a:srgbClr val="D2E93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Rectangle 1039">
            <a:extLst>
              <a:ext uri="{FF2B5EF4-FFF2-40B4-BE49-F238E27FC236}">
                <a16:creationId xmlns:a16="http://schemas.microsoft.com/office/drawing/2014/main" id="{41D1C2DE-7816-F7CD-F41C-248F444BEACD}"/>
              </a:ext>
            </a:extLst>
          </p:cNvPr>
          <p:cNvSpPr/>
          <p:nvPr/>
        </p:nvSpPr>
        <p:spPr>
          <a:xfrm>
            <a:off x="1087535" y="5944020"/>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Rectangle 1040">
            <a:extLst>
              <a:ext uri="{FF2B5EF4-FFF2-40B4-BE49-F238E27FC236}">
                <a16:creationId xmlns:a16="http://schemas.microsoft.com/office/drawing/2014/main" id="{36B12E92-0F78-A864-2E89-6DAA636B61D0}"/>
              </a:ext>
            </a:extLst>
          </p:cNvPr>
          <p:cNvSpPr/>
          <p:nvPr/>
        </p:nvSpPr>
        <p:spPr>
          <a:xfrm>
            <a:off x="1087896" y="6149687"/>
            <a:ext cx="189411" cy="189411"/>
          </a:xfrm>
          <a:prstGeom prst="rect">
            <a:avLst/>
          </a:prstGeom>
          <a:solidFill>
            <a:srgbClr val="FDA6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3" name="Rectangle 1042">
            <a:extLst>
              <a:ext uri="{FF2B5EF4-FFF2-40B4-BE49-F238E27FC236}">
                <a16:creationId xmlns:a16="http://schemas.microsoft.com/office/drawing/2014/main" id="{07B6C71C-2374-C1EB-A801-EA0A8E23ABD2}"/>
              </a:ext>
            </a:extLst>
          </p:cNvPr>
          <p:cNvSpPr/>
          <p:nvPr/>
        </p:nvSpPr>
        <p:spPr>
          <a:xfrm>
            <a:off x="1296883" y="5330361"/>
            <a:ext cx="189411" cy="189411"/>
          </a:xfrm>
          <a:prstGeom prst="rect">
            <a:avLst/>
          </a:prstGeom>
          <a:solidFill>
            <a:srgbClr val="33CC3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Rectangle 1043">
            <a:extLst>
              <a:ext uri="{FF2B5EF4-FFF2-40B4-BE49-F238E27FC236}">
                <a16:creationId xmlns:a16="http://schemas.microsoft.com/office/drawing/2014/main" id="{B957C6C8-D85C-99E4-BE8B-BBAB253720DB}"/>
              </a:ext>
            </a:extLst>
          </p:cNvPr>
          <p:cNvSpPr/>
          <p:nvPr/>
        </p:nvSpPr>
        <p:spPr>
          <a:xfrm>
            <a:off x="1296883" y="5536028"/>
            <a:ext cx="189411" cy="189411"/>
          </a:xfrm>
          <a:prstGeom prst="rect">
            <a:avLst/>
          </a:prstGeom>
          <a:solidFill>
            <a:srgbClr val="D2E93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Rectangle 1044">
            <a:extLst>
              <a:ext uri="{FF2B5EF4-FFF2-40B4-BE49-F238E27FC236}">
                <a16:creationId xmlns:a16="http://schemas.microsoft.com/office/drawing/2014/main" id="{7DE68A5D-DCD6-1DDC-805D-F988530D7D9A}"/>
              </a:ext>
            </a:extLst>
          </p:cNvPr>
          <p:cNvSpPr/>
          <p:nvPr/>
        </p:nvSpPr>
        <p:spPr>
          <a:xfrm>
            <a:off x="1296994" y="5741695"/>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Rectangle 1045">
            <a:extLst>
              <a:ext uri="{FF2B5EF4-FFF2-40B4-BE49-F238E27FC236}">
                <a16:creationId xmlns:a16="http://schemas.microsoft.com/office/drawing/2014/main" id="{0D4C95B2-3824-56D8-9747-096D936398FE}"/>
              </a:ext>
            </a:extLst>
          </p:cNvPr>
          <p:cNvSpPr/>
          <p:nvPr/>
        </p:nvSpPr>
        <p:spPr>
          <a:xfrm>
            <a:off x="1295794" y="5947362"/>
            <a:ext cx="189411" cy="189411"/>
          </a:xfrm>
          <a:prstGeom prst="rect">
            <a:avLst/>
          </a:prstGeom>
          <a:solidFill>
            <a:srgbClr val="00FF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Rectangle 1046">
            <a:extLst>
              <a:ext uri="{FF2B5EF4-FFF2-40B4-BE49-F238E27FC236}">
                <a16:creationId xmlns:a16="http://schemas.microsoft.com/office/drawing/2014/main" id="{0637B578-9D37-BF2F-81B9-BEE325B8088C}"/>
              </a:ext>
            </a:extLst>
          </p:cNvPr>
          <p:cNvSpPr/>
          <p:nvPr/>
        </p:nvSpPr>
        <p:spPr>
          <a:xfrm>
            <a:off x="1296155" y="6153029"/>
            <a:ext cx="189411" cy="189411"/>
          </a:xfrm>
          <a:prstGeom prst="rect">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10D886AB-A7A5-8904-928F-49F0B58D09B8}"/>
              </a:ext>
            </a:extLst>
          </p:cNvPr>
          <p:cNvSpPr/>
          <p:nvPr/>
        </p:nvSpPr>
        <p:spPr>
          <a:xfrm>
            <a:off x="1503471" y="5329021"/>
            <a:ext cx="189411" cy="189411"/>
          </a:xfrm>
          <a:prstGeom prst="rect">
            <a:avLst/>
          </a:prstGeom>
          <a:solidFill>
            <a:srgbClr val="00FF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774CA5B2-EB7A-161B-47DB-3C22D977C4E5}"/>
              </a:ext>
            </a:extLst>
          </p:cNvPr>
          <p:cNvSpPr/>
          <p:nvPr/>
        </p:nvSpPr>
        <p:spPr>
          <a:xfrm>
            <a:off x="1503471" y="5534688"/>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8BC4F8D2-E7E1-58EB-4819-98E800A921B9}"/>
              </a:ext>
            </a:extLst>
          </p:cNvPr>
          <p:cNvSpPr/>
          <p:nvPr/>
        </p:nvSpPr>
        <p:spPr>
          <a:xfrm>
            <a:off x="1503582" y="5740355"/>
            <a:ext cx="189411" cy="189411"/>
          </a:xfrm>
          <a:prstGeom prst="rect">
            <a:avLst/>
          </a:prstGeom>
          <a:solidFill>
            <a:srgbClr val="00FF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Rectangle 1051">
            <a:extLst>
              <a:ext uri="{FF2B5EF4-FFF2-40B4-BE49-F238E27FC236}">
                <a16:creationId xmlns:a16="http://schemas.microsoft.com/office/drawing/2014/main" id="{5832DC68-32B9-CC9F-4611-74137F5B732F}"/>
              </a:ext>
            </a:extLst>
          </p:cNvPr>
          <p:cNvSpPr/>
          <p:nvPr/>
        </p:nvSpPr>
        <p:spPr>
          <a:xfrm>
            <a:off x="1502382" y="5953166"/>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090A4416-C4A9-9476-F782-87BC446C9F41}"/>
              </a:ext>
            </a:extLst>
          </p:cNvPr>
          <p:cNvSpPr/>
          <p:nvPr/>
        </p:nvSpPr>
        <p:spPr>
          <a:xfrm>
            <a:off x="1502743" y="6154070"/>
            <a:ext cx="189411" cy="189411"/>
          </a:xfrm>
          <a:prstGeom prst="rect">
            <a:avLst/>
          </a:prstGeom>
          <a:solidFill>
            <a:srgbClr val="00B0F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7867F2BF-232B-FEFF-E579-219384FBEFDB}"/>
              </a:ext>
            </a:extLst>
          </p:cNvPr>
          <p:cNvSpPr/>
          <p:nvPr/>
        </p:nvSpPr>
        <p:spPr>
          <a:xfrm>
            <a:off x="1706530" y="5330363"/>
            <a:ext cx="189411" cy="189411"/>
          </a:xfrm>
          <a:prstGeom prst="rect">
            <a:avLst/>
          </a:prstGeom>
          <a:solidFill>
            <a:srgbClr val="452A4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02938C82-8445-E4DB-0A5B-01D2CF2AA9F9}"/>
              </a:ext>
            </a:extLst>
          </p:cNvPr>
          <p:cNvSpPr/>
          <p:nvPr/>
        </p:nvSpPr>
        <p:spPr>
          <a:xfrm>
            <a:off x="1706530" y="5536030"/>
            <a:ext cx="189411" cy="189411"/>
          </a:xfrm>
          <a:prstGeom prst="rect">
            <a:avLst/>
          </a:prstGeom>
          <a:solidFill>
            <a:srgbClr val="FFC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307AE4D0-FEC8-840D-C404-658644533B29}"/>
              </a:ext>
            </a:extLst>
          </p:cNvPr>
          <p:cNvSpPr/>
          <p:nvPr/>
        </p:nvSpPr>
        <p:spPr>
          <a:xfrm>
            <a:off x="1706641" y="5741697"/>
            <a:ext cx="189411" cy="189411"/>
          </a:xfrm>
          <a:prstGeom prst="rect">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2DFEDA45-B166-9CE8-A686-676938900F01}"/>
              </a:ext>
            </a:extLst>
          </p:cNvPr>
          <p:cNvSpPr/>
          <p:nvPr/>
        </p:nvSpPr>
        <p:spPr>
          <a:xfrm>
            <a:off x="1705441" y="5947364"/>
            <a:ext cx="189411" cy="189411"/>
          </a:xfrm>
          <a:prstGeom prst="rect">
            <a:avLst/>
          </a:prstGeom>
          <a:solidFill>
            <a:srgbClr val="00B0F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1998D44C-CAD7-0292-860C-F410535A3047}"/>
              </a:ext>
            </a:extLst>
          </p:cNvPr>
          <p:cNvSpPr/>
          <p:nvPr/>
        </p:nvSpPr>
        <p:spPr>
          <a:xfrm>
            <a:off x="1708183" y="6157793"/>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7" name="TextBox 1066">
            <a:extLst>
              <a:ext uri="{FF2B5EF4-FFF2-40B4-BE49-F238E27FC236}">
                <a16:creationId xmlns:a16="http://schemas.microsoft.com/office/drawing/2014/main" id="{ED6C1D37-A616-04A6-B51B-9CC389820A8D}"/>
              </a:ext>
            </a:extLst>
          </p:cNvPr>
          <p:cNvSpPr txBox="1"/>
          <p:nvPr/>
        </p:nvSpPr>
        <p:spPr>
          <a:xfrm>
            <a:off x="377894" y="5330741"/>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1</a:t>
            </a:r>
          </a:p>
        </p:txBody>
      </p:sp>
      <p:sp>
        <p:nvSpPr>
          <p:cNvPr id="1068" name="TextBox 1067">
            <a:extLst>
              <a:ext uri="{FF2B5EF4-FFF2-40B4-BE49-F238E27FC236}">
                <a16:creationId xmlns:a16="http://schemas.microsoft.com/office/drawing/2014/main" id="{14E58F4F-027A-2851-DAE8-31E783920643}"/>
              </a:ext>
            </a:extLst>
          </p:cNvPr>
          <p:cNvSpPr txBox="1"/>
          <p:nvPr/>
        </p:nvSpPr>
        <p:spPr>
          <a:xfrm>
            <a:off x="377894" y="5536408"/>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2</a:t>
            </a:r>
          </a:p>
        </p:txBody>
      </p:sp>
      <p:sp>
        <p:nvSpPr>
          <p:cNvPr id="1069" name="TextBox 1068">
            <a:extLst>
              <a:ext uri="{FF2B5EF4-FFF2-40B4-BE49-F238E27FC236}">
                <a16:creationId xmlns:a16="http://schemas.microsoft.com/office/drawing/2014/main" id="{3F54CD22-7939-CB7E-3C6D-78A7B99280CD}"/>
              </a:ext>
            </a:extLst>
          </p:cNvPr>
          <p:cNvSpPr txBox="1"/>
          <p:nvPr/>
        </p:nvSpPr>
        <p:spPr>
          <a:xfrm>
            <a:off x="377894" y="5742075"/>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3</a:t>
            </a:r>
          </a:p>
        </p:txBody>
      </p:sp>
      <p:sp>
        <p:nvSpPr>
          <p:cNvPr id="1070" name="TextBox 1069">
            <a:extLst>
              <a:ext uri="{FF2B5EF4-FFF2-40B4-BE49-F238E27FC236}">
                <a16:creationId xmlns:a16="http://schemas.microsoft.com/office/drawing/2014/main" id="{D36B1B08-FE41-C1B4-F4C4-A030C4B8F65F}"/>
              </a:ext>
            </a:extLst>
          </p:cNvPr>
          <p:cNvSpPr txBox="1"/>
          <p:nvPr/>
        </p:nvSpPr>
        <p:spPr>
          <a:xfrm>
            <a:off x="377894" y="5947742"/>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4</a:t>
            </a:r>
          </a:p>
        </p:txBody>
      </p:sp>
      <p:sp>
        <p:nvSpPr>
          <p:cNvPr id="1071" name="TextBox 1070">
            <a:extLst>
              <a:ext uri="{FF2B5EF4-FFF2-40B4-BE49-F238E27FC236}">
                <a16:creationId xmlns:a16="http://schemas.microsoft.com/office/drawing/2014/main" id="{B255B512-7AD5-739E-AE4B-E4581688137C}"/>
              </a:ext>
            </a:extLst>
          </p:cNvPr>
          <p:cNvSpPr txBox="1"/>
          <p:nvPr/>
        </p:nvSpPr>
        <p:spPr>
          <a:xfrm>
            <a:off x="377894" y="6153409"/>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5</a:t>
            </a:r>
          </a:p>
        </p:txBody>
      </p:sp>
      <p:sp>
        <p:nvSpPr>
          <p:cNvPr id="1072" name="TextBox 1071">
            <a:extLst>
              <a:ext uri="{FF2B5EF4-FFF2-40B4-BE49-F238E27FC236}">
                <a16:creationId xmlns:a16="http://schemas.microsoft.com/office/drawing/2014/main" id="{55168102-463C-5602-3568-6096DF771FB0}"/>
              </a:ext>
            </a:extLst>
          </p:cNvPr>
          <p:cNvSpPr txBox="1"/>
          <p:nvPr/>
        </p:nvSpPr>
        <p:spPr>
          <a:xfrm>
            <a:off x="926822" y="5120977"/>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1</a:t>
            </a:r>
          </a:p>
        </p:txBody>
      </p:sp>
      <p:sp>
        <p:nvSpPr>
          <p:cNvPr id="1077" name="TextBox 1076">
            <a:extLst>
              <a:ext uri="{FF2B5EF4-FFF2-40B4-BE49-F238E27FC236}">
                <a16:creationId xmlns:a16="http://schemas.microsoft.com/office/drawing/2014/main" id="{31F0F18E-56E1-BA72-5CD2-DA8AB4EB13F5}"/>
              </a:ext>
            </a:extLst>
          </p:cNvPr>
          <p:cNvSpPr txBox="1"/>
          <p:nvPr/>
        </p:nvSpPr>
        <p:spPr>
          <a:xfrm>
            <a:off x="1135861" y="5120977"/>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2</a:t>
            </a:r>
          </a:p>
        </p:txBody>
      </p:sp>
      <p:sp>
        <p:nvSpPr>
          <p:cNvPr id="1078" name="TextBox 1077">
            <a:extLst>
              <a:ext uri="{FF2B5EF4-FFF2-40B4-BE49-F238E27FC236}">
                <a16:creationId xmlns:a16="http://schemas.microsoft.com/office/drawing/2014/main" id="{83778C76-A844-0571-C098-5A28B9915D08}"/>
              </a:ext>
            </a:extLst>
          </p:cNvPr>
          <p:cNvSpPr txBox="1"/>
          <p:nvPr/>
        </p:nvSpPr>
        <p:spPr>
          <a:xfrm>
            <a:off x="1344900" y="5120977"/>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3</a:t>
            </a:r>
          </a:p>
        </p:txBody>
      </p:sp>
      <p:sp>
        <p:nvSpPr>
          <p:cNvPr id="1079" name="TextBox 1078">
            <a:extLst>
              <a:ext uri="{FF2B5EF4-FFF2-40B4-BE49-F238E27FC236}">
                <a16:creationId xmlns:a16="http://schemas.microsoft.com/office/drawing/2014/main" id="{E16FDFFF-7934-E91C-FBD2-785AFD8D0D91}"/>
              </a:ext>
            </a:extLst>
          </p:cNvPr>
          <p:cNvSpPr txBox="1"/>
          <p:nvPr/>
        </p:nvSpPr>
        <p:spPr>
          <a:xfrm>
            <a:off x="1553939" y="5120977"/>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4</a:t>
            </a:r>
          </a:p>
        </p:txBody>
      </p:sp>
      <p:sp>
        <p:nvSpPr>
          <p:cNvPr id="1080" name="TextBox 1079">
            <a:extLst>
              <a:ext uri="{FF2B5EF4-FFF2-40B4-BE49-F238E27FC236}">
                <a16:creationId xmlns:a16="http://schemas.microsoft.com/office/drawing/2014/main" id="{AB839C31-A100-3728-8963-A4772A59C260}"/>
              </a:ext>
            </a:extLst>
          </p:cNvPr>
          <p:cNvSpPr txBox="1"/>
          <p:nvPr/>
        </p:nvSpPr>
        <p:spPr>
          <a:xfrm>
            <a:off x="1774115" y="5120977"/>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5</a:t>
            </a:r>
          </a:p>
        </p:txBody>
      </p:sp>
      <p:sp>
        <p:nvSpPr>
          <p:cNvPr id="1081" name="Rectangle 1080">
            <a:extLst>
              <a:ext uri="{FF2B5EF4-FFF2-40B4-BE49-F238E27FC236}">
                <a16:creationId xmlns:a16="http://schemas.microsoft.com/office/drawing/2014/main" id="{4F73087F-4E1C-D838-68BF-B031FB54B02C}"/>
              </a:ext>
            </a:extLst>
          </p:cNvPr>
          <p:cNvSpPr/>
          <p:nvPr/>
        </p:nvSpPr>
        <p:spPr>
          <a:xfrm>
            <a:off x="882036" y="5330360"/>
            <a:ext cx="1015746" cy="100610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Rectangle 1082">
            <a:extLst>
              <a:ext uri="{FF2B5EF4-FFF2-40B4-BE49-F238E27FC236}">
                <a16:creationId xmlns:a16="http://schemas.microsoft.com/office/drawing/2014/main" id="{3308AF80-0B4A-E913-D125-47EAE24BDABE}"/>
              </a:ext>
            </a:extLst>
          </p:cNvPr>
          <p:cNvSpPr/>
          <p:nvPr/>
        </p:nvSpPr>
        <p:spPr>
          <a:xfrm>
            <a:off x="2625006" y="5323636"/>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4" name="Rectangle 1083">
            <a:extLst>
              <a:ext uri="{FF2B5EF4-FFF2-40B4-BE49-F238E27FC236}">
                <a16:creationId xmlns:a16="http://schemas.microsoft.com/office/drawing/2014/main" id="{549B0FC4-B332-DCAC-1C11-6BE1D1D92D89}"/>
              </a:ext>
            </a:extLst>
          </p:cNvPr>
          <p:cNvSpPr/>
          <p:nvPr/>
        </p:nvSpPr>
        <p:spPr>
          <a:xfrm>
            <a:off x="2631356" y="5529303"/>
            <a:ext cx="189411" cy="189411"/>
          </a:xfrm>
          <a:prstGeom prst="rect">
            <a:avLst/>
          </a:prstGeom>
          <a:solidFill>
            <a:srgbClr val="452A4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Rectangle 1084">
            <a:extLst>
              <a:ext uri="{FF2B5EF4-FFF2-40B4-BE49-F238E27FC236}">
                <a16:creationId xmlns:a16="http://schemas.microsoft.com/office/drawing/2014/main" id="{27D89914-F6E7-6490-D0BC-0FF236112D5F}"/>
              </a:ext>
            </a:extLst>
          </p:cNvPr>
          <p:cNvSpPr/>
          <p:nvPr/>
        </p:nvSpPr>
        <p:spPr>
          <a:xfrm>
            <a:off x="2631467" y="5734970"/>
            <a:ext cx="189411" cy="189411"/>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6" name="Rectangle 1085">
            <a:extLst>
              <a:ext uri="{FF2B5EF4-FFF2-40B4-BE49-F238E27FC236}">
                <a16:creationId xmlns:a16="http://schemas.microsoft.com/office/drawing/2014/main" id="{B97F6709-CF41-96F9-3A33-783A7F42BE6A}"/>
              </a:ext>
            </a:extLst>
          </p:cNvPr>
          <p:cNvSpPr/>
          <p:nvPr/>
        </p:nvSpPr>
        <p:spPr>
          <a:xfrm>
            <a:off x="2630267" y="5940637"/>
            <a:ext cx="189411" cy="189411"/>
          </a:xfrm>
          <a:prstGeom prst="rect">
            <a:avLst/>
          </a:prstGeom>
          <a:solidFill>
            <a:srgbClr val="00FF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7" name="Rectangle 1086">
            <a:extLst>
              <a:ext uri="{FF2B5EF4-FFF2-40B4-BE49-F238E27FC236}">
                <a16:creationId xmlns:a16="http://schemas.microsoft.com/office/drawing/2014/main" id="{BFF1AB2A-2828-D83C-4FB7-999C1E2FC2F6}"/>
              </a:ext>
            </a:extLst>
          </p:cNvPr>
          <p:cNvSpPr/>
          <p:nvPr/>
        </p:nvSpPr>
        <p:spPr>
          <a:xfrm>
            <a:off x="2630628" y="6146304"/>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Rectangle 1087">
            <a:extLst>
              <a:ext uri="{FF2B5EF4-FFF2-40B4-BE49-F238E27FC236}">
                <a16:creationId xmlns:a16="http://schemas.microsoft.com/office/drawing/2014/main" id="{F35A1772-6935-32BD-1B25-32C470F788CF}"/>
              </a:ext>
            </a:extLst>
          </p:cNvPr>
          <p:cNvSpPr/>
          <p:nvPr/>
        </p:nvSpPr>
        <p:spPr>
          <a:xfrm>
            <a:off x="2837944" y="5326264"/>
            <a:ext cx="189411" cy="189411"/>
          </a:xfrm>
          <a:prstGeom prst="rect">
            <a:avLst/>
          </a:prstGeom>
          <a:solidFill>
            <a:srgbClr val="452A4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9" name="Rectangle 1088">
            <a:extLst>
              <a:ext uri="{FF2B5EF4-FFF2-40B4-BE49-F238E27FC236}">
                <a16:creationId xmlns:a16="http://schemas.microsoft.com/office/drawing/2014/main" id="{B13B2732-643E-45EC-0DDB-A1F8C99E09FE}"/>
              </a:ext>
            </a:extLst>
          </p:cNvPr>
          <p:cNvSpPr/>
          <p:nvPr/>
        </p:nvSpPr>
        <p:spPr>
          <a:xfrm>
            <a:off x="2834769" y="5531931"/>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0" name="Rectangle 1089">
            <a:extLst>
              <a:ext uri="{FF2B5EF4-FFF2-40B4-BE49-F238E27FC236}">
                <a16:creationId xmlns:a16="http://schemas.microsoft.com/office/drawing/2014/main" id="{D38C898D-25AF-456B-0FE2-0F72636D4950}"/>
              </a:ext>
            </a:extLst>
          </p:cNvPr>
          <p:cNvSpPr/>
          <p:nvPr/>
        </p:nvSpPr>
        <p:spPr>
          <a:xfrm>
            <a:off x="2838055" y="5737598"/>
            <a:ext cx="189411" cy="189411"/>
          </a:xfrm>
          <a:prstGeom prst="rect">
            <a:avLst/>
          </a:prstGeom>
          <a:solidFill>
            <a:srgbClr val="D2E93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Rectangle 1090">
            <a:extLst>
              <a:ext uri="{FF2B5EF4-FFF2-40B4-BE49-F238E27FC236}">
                <a16:creationId xmlns:a16="http://schemas.microsoft.com/office/drawing/2014/main" id="{664AC44A-1B9B-EDFC-981D-F40253EB13A9}"/>
              </a:ext>
            </a:extLst>
          </p:cNvPr>
          <p:cNvSpPr/>
          <p:nvPr/>
        </p:nvSpPr>
        <p:spPr>
          <a:xfrm>
            <a:off x="2836855" y="5943265"/>
            <a:ext cx="189411" cy="189411"/>
          </a:xfrm>
          <a:prstGeom prst="rect">
            <a:avLst/>
          </a:prstGeom>
          <a:solidFill>
            <a:srgbClr val="FFFF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2" name="Rectangle 1091">
            <a:extLst>
              <a:ext uri="{FF2B5EF4-FFF2-40B4-BE49-F238E27FC236}">
                <a16:creationId xmlns:a16="http://schemas.microsoft.com/office/drawing/2014/main" id="{61B38C61-0431-A969-8BCD-E44468010E04}"/>
              </a:ext>
            </a:extLst>
          </p:cNvPr>
          <p:cNvSpPr/>
          <p:nvPr/>
        </p:nvSpPr>
        <p:spPr>
          <a:xfrm>
            <a:off x="2837216" y="6148932"/>
            <a:ext cx="189411" cy="189411"/>
          </a:xfrm>
          <a:prstGeom prst="rect">
            <a:avLst/>
          </a:prstGeom>
          <a:solidFill>
            <a:srgbClr val="FDA6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3" name="Rectangle 1092">
            <a:extLst>
              <a:ext uri="{FF2B5EF4-FFF2-40B4-BE49-F238E27FC236}">
                <a16:creationId xmlns:a16="http://schemas.microsoft.com/office/drawing/2014/main" id="{FD77E336-DDEB-CDD0-572E-6F56D37C78BD}"/>
              </a:ext>
            </a:extLst>
          </p:cNvPr>
          <p:cNvSpPr/>
          <p:nvPr/>
        </p:nvSpPr>
        <p:spPr>
          <a:xfrm>
            <a:off x="3046203" y="5329606"/>
            <a:ext cx="189411" cy="189411"/>
          </a:xfrm>
          <a:prstGeom prst="rect">
            <a:avLst/>
          </a:prstGeom>
          <a:solidFill>
            <a:srgbClr val="FFC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4" name="Rectangle 1093">
            <a:extLst>
              <a:ext uri="{FF2B5EF4-FFF2-40B4-BE49-F238E27FC236}">
                <a16:creationId xmlns:a16="http://schemas.microsoft.com/office/drawing/2014/main" id="{A06B5A45-A323-6269-2D84-F5690D3B00F9}"/>
              </a:ext>
            </a:extLst>
          </p:cNvPr>
          <p:cNvSpPr/>
          <p:nvPr/>
        </p:nvSpPr>
        <p:spPr>
          <a:xfrm>
            <a:off x="3046203" y="5535273"/>
            <a:ext cx="189411" cy="189411"/>
          </a:xfrm>
          <a:prstGeom prst="rect">
            <a:avLst/>
          </a:prstGeom>
          <a:solidFill>
            <a:srgbClr val="D2E93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Rectangle 1094">
            <a:extLst>
              <a:ext uri="{FF2B5EF4-FFF2-40B4-BE49-F238E27FC236}">
                <a16:creationId xmlns:a16="http://schemas.microsoft.com/office/drawing/2014/main" id="{8021AAEC-0F65-C6F0-4913-326F38054739}"/>
              </a:ext>
            </a:extLst>
          </p:cNvPr>
          <p:cNvSpPr/>
          <p:nvPr/>
        </p:nvSpPr>
        <p:spPr>
          <a:xfrm>
            <a:off x="3046314" y="5740940"/>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6" name="Rectangle 1095">
            <a:extLst>
              <a:ext uri="{FF2B5EF4-FFF2-40B4-BE49-F238E27FC236}">
                <a16:creationId xmlns:a16="http://schemas.microsoft.com/office/drawing/2014/main" id="{00E8CADD-2238-34B6-9599-75A7AA780D19}"/>
              </a:ext>
            </a:extLst>
          </p:cNvPr>
          <p:cNvSpPr/>
          <p:nvPr/>
        </p:nvSpPr>
        <p:spPr>
          <a:xfrm>
            <a:off x="3045114" y="5946607"/>
            <a:ext cx="189411" cy="189411"/>
          </a:xfrm>
          <a:prstGeom prst="rect">
            <a:avLst/>
          </a:prstGeom>
          <a:solidFill>
            <a:srgbClr val="33CC3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Rectangle 1096">
            <a:extLst>
              <a:ext uri="{FF2B5EF4-FFF2-40B4-BE49-F238E27FC236}">
                <a16:creationId xmlns:a16="http://schemas.microsoft.com/office/drawing/2014/main" id="{AEF2CCFA-C6E6-24A9-BBBE-223C1E307D3E}"/>
              </a:ext>
            </a:extLst>
          </p:cNvPr>
          <p:cNvSpPr/>
          <p:nvPr/>
        </p:nvSpPr>
        <p:spPr>
          <a:xfrm>
            <a:off x="3045475" y="6152274"/>
            <a:ext cx="189411" cy="189411"/>
          </a:xfrm>
          <a:prstGeom prst="rect">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Rectangle 1097">
            <a:extLst>
              <a:ext uri="{FF2B5EF4-FFF2-40B4-BE49-F238E27FC236}">
                <a16:creationId xmlns:a16="http://schemas.microsoft.com/office/drawing/2014/main" id="{E60D794C-CCA1-D1EA-DA45-0D2033A6C21A}"/>
              </a:ext>
            </a:extLst>
          </p:cNvPr>
          <p:cNvSpPr/>
          <p:nvPr/>
        </p:nvSpPr>
        <p:spPr>
          <a:xfrm>
            <a:off x="3252791" y="5328266"/>
            <a:ext cx="189411" cy="189411"/>
          </a:xfrm>
          <a:prstGeom prst="rect">
            <a:avLst/>
          </a:prstGeom>
          <a:solidFill>
            <a:srgbClr val="00FF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Rectangle 1098">
            <a:extLst>
              <a:ext uri="{FF2B5EF4-FFF2-40B4-BE49-F238E27FC236}">
                <a16:creationId xmlns:a16="http://schemas.microsoft.com/office/drawing/2014/main" id="{0D1C5E17-7FCB-33CC-55A5-755DAD84FEA9}"/>
              </a:ext>
            </a:extLst>
          </p:cNvPr>
          <p:cNvSpPr/>
          <p:nvPr/>
        </p:nvSpPr>
        <p:spPr>
          <a:xfrm>
            <a:off x="3252791" y="5533933"/>
            <a:ext cx="189411" cy="189411"/>
          </a:xfrm>
          <a:prstGeom prst="rect">
            <a:avLst/>
          </a:prstGeom>
          <a:solidFill>
            <a:srgbClr val="FFFF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0" name="Rectangle 1099">
            <a:extLst>
              <a:ext uri="{FF2B5EF4-FFF2-40B4-BE49-F238E27FC236}">
                <a16:creationId xmlns:a16="http://schemas.microsoft.com/office/drawing/2014/main" id="{EB8B2EC3-4CCF-8FFA-4F2E-56B168E4ECF7}"/>
              </a:ext>
            </a:extLst>
          </p:cNvPr>
          <p:cNvSpPr/>
          <p:nvPr/>
        </p:nvSpPr>
        <p:spPr>
          <a:xfrm>
            <a:off x="3252902" y="5739600"/>
            <a:ext cx="189411" cy="189411"/>
          </a:xfrm>
          <a:prstGeom prst="rect">
            <a:avLst/>
          </a:prstGeom>
          <a:solidFill>
            <a:srgbClr val="33CC3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1" name="Rectangle 1100">
            <a:extLst>
              <a:ext uri="{FF2B5EF4-FFF2-40B4-BE49-F238E27FC236}">
                <a16:creationId xmlns:a16="http://schemas.microsoft.com/office/drawing/2014/main" id="{09954724-BE8F-3E96-9A66-29C440E64E3B}"/>
              </a:ext>
            </a:extLst>
          </p:cNvPr>
          <p:cNvSpPr/>
          <p:nvPr/>
        </p:nvSpPr>
        <p:spPr>
          <a:xfrm>
            <a:off x="3251702" y="5952411"/>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2" name="Rectangle 1101">
            <a:extLst>
              <a:ext uri="{FF2B5EF4-FFF2-40B4-BE49-F238E27FC236}">
                <a16:creationId xmlns:a16="http://schemas.microsoft.com/office/drawing/2014/main" id="{6EE58CAA-BBA3-40AD-0C5A-030953AD287F}"/>
              </a:ext>
            </a:extLst>
          </p:cNvPr>
          <p:cNvSpPr/>
          <p:nvPr/>
        </p:nvSpPr>
        <p:spPr>
          <a:xfrm>
            <a:off x="3252063" y="6153315"/>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3" name="Rectangle 1102">
            <a:extLst>
              <a:ext uri="{FF2B5EF4-FFF2-40B4-BE49-F238E27FC236}">
                <a16:creationId xmlns:a16="http://schemas.microsoft.com/office/drawing/2014/main" id="{89009D07-CB1C-5FC7-4F79-D0187AB6706C}"/>
              </a:ext>
            </a:extLst>
          </p:cNvPr>
          <p:cNvSpPr/>
          <p:nvPr/>
        </p:nvSpPr>
        <p:spPr>
          <a:xfrm>
            <a:off x="3458780" y="5329608"/>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4" name="Rectangle 1103">
            <a:extLst>
              <a:ext uri="{FF2B5EF4-FFF2-40B4-BE49-F238E27FC236}">
                <a16:creationId xmlns:a16="http://schemas.microsoft.com/office/drawing/2014/main" id="{05643561-A6D3-2E91-CF96-48CD6E5FFB93}"/>
              </a:ext>
            </a:extLst>
          </p:cNvPr>
          <p:cNvSpPr/>
          <p:nvPr/>
        </p:nvSpPr>
        <p:spPr>
          <a:xfrm>
            <a:off x="3458780" y="5535275"/>
            <a:ext cx="189411" cy="189411"/>
          </a:xfrm>
          <a:prstGeom prst="rect">
            <a:avLst/>
          </a:prstGeom>
          <a:solidFill>
            <a:srgbClr val="FFC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5" name="Rectangle 1104">
            <a:extLst>
              <a:ext uri="{FF2B5EF4-FFF2-40B4-BE49-F238E27FC236}">
                <a16:creationId xmlns:a16="http://schemas.microsoft.com/office/drawing/2014/main" id="{DF2E4C72-2ABC-EA4D-A0F3-5DA04385FA2D}"/>
              </a:ext>
            </a:extLst>
          </p:cNvPr>
          <p:cNvSpPr/>
          <p:nvPr/>
        </p:nvSpPr>
        <p:spPr>
          <a:xfrm>
            <a:off x="3458891" y="5740942"/>
            <a:ext cx="189411" cy="189411"/>
          </a:xfrm>
          <a:prstGeom prst="rect">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6" name="Rectangle 1105">
            <a:extLst>
              <a:ext uri="{FF2B5EF4-FFF2-40B4-BE49-F238E27FC236}">
                <a16:creationId xmlns:a16="http://schemas.microsoft.com/office/drawing/2014/main" id="{1DCDF257-708E-2BE2-6664-A6CD58D909B6}"/>
              </a:ext>
            </a:extLst>
          </p:cNvPr>
          <p:cNvSpPr/>
          <p:nvPr/>
        </p:nvSpPr>
        <p:spPr>
          <a:xfrm>
            <a:off x="3457691" y="5946609"/>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7" name="Rectangle 1106">
            <a:extLst>
              <a:ext uri="{FF2B5EF4-FFF2-40B4-BE49-F238E27FC236}">
                <a16:creationId xmlns:a16="http://schemas.microsoft.com/office/drawing/2014/main" id="{F5DBE20A-542C-FA5C-34C9-1800B043CDA5}"/>
              </a:ext>
            </a:extLst>
          </p:cNvPr>
          <p:cNvSpPr/>
          <p:nvPr/>
        </p:nvSpPr>
        <p:spPr>
          <a:xfrm>
            <a:off x="3460433" y="6157038"/>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8" name="TextBox 1107">
            <a:extLst>
              <a:ext uri="{FF2B5EF4-FFF2-40B4-BE49-F238E27FC236}">
                <a16:creationId xmlns:a16="http://schemas.microsoft.com/office/drawing/2014/main" id="{BF107B2B-1F6A-3EE7-8435-97645B3612AD}"/>
              </a:ext>
            </a:extLst>
          </p:cNvPr>
          <p:cNvSpPr txBox="1"/>
          <p:nvPr/>
        </p:nvSpPr>
        <p:spPr>
          <a:xfrm>
            <a:off x="2127214" y="5329986"/>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1</a:t>
            </a:r>
          </a:p>
        </p:txBody>
      </p:sp>
      <p:sp>
        <p:nvSpPr>
          <p:cNvPr id="1109" name="TextBox 1108">
            <a:extLst>
              <a:ext uri="{FF2B5EF4-FFF2-40B4-BE49-F238E27FC236}">
                <a16:creationId xmlns:a16="http://schemas.microsoft.com/office/drawing/2014/main" id="{AAFBFD53-F569-B34D-C08C-3B900214CC19}"/>
              </a:ext>
            </a:extLst>
          </p:cNvPr>
          <p:cNvSpPr txBox="1"/>
          <p:nvPr/>
        </p:nvSpPr>
        <p:spPr>
          <a:xfrm>
            <a:off x="2127214" y="5535653"/>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2</a:t>
            </a:r>
          </a:p>
        </p:txBody>
      </p:sp>
      <p:sp>
        <p:nvSpPr>
          <p:cNvPr id="1110" name="TextBox 1109">
            <a:extLst>
              <a:ext uri="{FF2B5EF4-FFF2-40B4-BE49-F238E27FC236}">
                <a16:creationId xmlns:a16="http://schemas.microsoft.com/office/drawing/2014/main" id="{61A2D6EE-9E1B-8B42-075E-CD06EEF67FFB}"/>
              </a:ext>
            </a:extLst>
          </p:cNvPr>
          <p:cNvSpPr txBox="1"/>
          <p:nvPr/>
        </p:nvSpPr>
        <p:spPr>
          <a:xfrm>
            <a:off x="2127214" y="5741320"/>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3</a:t>
            </a:r>
          </a:p>
        </p:txBody>
      </p:sp>
      <p:sp>
        <p:nvSpPr>
          <p:cNvPr id="1111" name="TextBox 1110">
            <a:extLst>
              <a:ext uri="{FF2B5EF4-FFF2-40B4-BE49-F238E27FC236}">
                <a16:creationId xmlns:a16="http://schemas.microsoft.com/office/drawing/2014/main" id="{0DD861D0-D2A9-7F63-1878-E362F0A885CC}"/>
              </a:ext>
            </a:extLst>
          </p:cNvPr>
          <p:cNvSpPr txBox="1"/>
          <p:nvPr/>
        </p:nvSpPr>
        <p:spPr>
          <a:xfrm>
            <a:off x="2127214" y="5946987"/>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4</a:t>
            </a:r>
          </a:p>
        </p:txBody>
      </p:sp>
      <p:sp>
        <p:nvSpPr>
          <p:cNvPr id="1112" name="TextBox 1111">
            <a:extLst>
              <a:ext uri="{FF2B5EF4-FFF2-40B4-BE49-F238E27FC236}">
                <a16:creationId xmlns:a16="http://schemas.microsoft.com/office/drawing/2014/main" id="{81CBCE39-A54D-1602-12BE-9F34E91B1A86}"/>
              </a:ext>
            </a:extLst>
          </p:cNvPr>
          <p:cNvSpPr txBox="1"/>
          <p:nvPr/>
        </p:nvSpPr>
        <p:spPr>
          <a:xfrm>
            <a:off x="2127214" y="6152654"/>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5</a:t>
            </a:r>
          </a:p>
        </p:txBody>
      </p:sp>
      <p:sp>
        <p:nvSpPr>
          <p:cNvPr id="1113" name="TextBox 1112">
            <a:extLst>
              <a:ext uri="{FF2B5EF4-FFF2-40B4-BE49-F238E27FC236}">
                <a16:creationId xmlns:a16="http://schemas.microsoft.com/office/drawing/2014/main" id="{60C4CC48-E0FD-04B7-A2A5-BCCBF182BFAA}"/>
              </a:ext>
            </a:extLst>
          </p:cNvPr>
          <p:cNvSpPr txBox="1"/>
          <p:nvPr/>
        </p:nvSpPr>
        <p:spPr>
          <a:xfrm>
            <a:off x="2676142" y="5120222"/>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1</a:t>
            </a:r>
          </a:p>
        </p:txBody>
      </p:sp>
      <p:sp>
        <p:nvSpPr>
          <p:cNvPr id="1114" name="TextBox 1113">
            <a:extLst>
              <a:ext uri="{FF2B5EF4-FFF2-40B4-BE49-F238E27FC236}">
                <a16:creationId xmlns:a16="http://schemas.microsoft.com/office/drawing/2014/main" id="{4DB0D961-2909-4EC6-05B5-AD3BE3F99B6C}"/>
              </a:ext>
            </a:extLst>
          </p:cNvPr>
          <p:cNvSpPr txBox="1"/>
          <p:nvPr/>
        </p:nvSpPr>
        <p:spPr>
          <a:xfrm>
            <a:off x="2885181" y="5120222"/>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2</a:t>
            </a:r>
          </a:p>
        </p:txBody>
      </p:sp>
      <p:sp>
        <p:nvSpPr>
          <p:cNvPr id="1115" name="TextBox 1114">
            <a:extLst>
              <a:ext uri="{FF2B5EF4-FFF2-40B4-BE49-F238E27FC236}">
                <a16:creationId xmlns:a16="http://schemas.microsoft.com/office/drawing/2014/main" id="{8B4DFD2A-2662-F778-9567-E5DCD7A826AC}"/>
              </a:ext>
            </a:extLst>
          </p:cNvPr>
          <p:cNvSpPr txBox="1"/>
          <p:nvPr/>
        </p:nvSpPr>
        <p:spPr>
          <a:xfrm>
            <a:off x="3094220" y="5120222"/>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3</a:t>
            </a:r>
          </a:p>
        </p:txBody>
      </p:sp>
      <p:sp>
        <p:nvSpPr>
          <p:cNvPr id="1116" name="TextBox 1115">
            <a:extLst>
              <a:ext uri="{FF2B5EF4-FFF2-40B4-BE49-F238E27FC236}">
                <a16:creationId xmlns:a16="http://schemas.microsoft.com/office/drawing/2014/main" id="{C811FEDA-2E0C-CC6A-C54D-C3841A794EC5}"/>
              </a:ext>
            </a:extLst>
          </p:cNvPr>
          <p:cNvSpPr txBox="1"/>
          <p:nvPr/>
        </p:nvSpPr>
        <p:spPr>
          <a:xfrm>
            <a:off x="3303259" y="5120222"/>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4</a:t>
            </a:r>
          </a:p>
        </p:txBody>
      </p:sp>
      <p:sp>
        <p:nvSpPr>
          <p:cNvPr id="1117" name="TextBox 1116">
            <a:extLst>
              <a:ext uri="{FF2B5EF4-FFF2-40B4-BE49-F238E27FC236}">
                <a16:creationId xmlns:a16="http://schemas.microsoft.com/office/drawing/2014/main" id="{2F0FDFDA-8DF6-34BA-52A3-FA1F8FC027F2}"/>
              </a:ext>
            </a:extLst>
          </p:cNvPr>
          <p:cNvSpPr txBox="1"/>
          <p:nvPr/>
        </p:nvSpPr>
        <p:spPr>
          <a:xfrm>
            <a:off x="3512297" y="5120222"/>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5</a:t>
            </a:r>
          </a:p>
        </p:txBody>
      </p:sp>
      <p:sp>
        <p:nvSpPr>
          <p:cNvPr id="1118" name="Rectangle 1117">
            <a:extLst>
              <a:ext uri="{FF2B5EF4-FFF2-40B4-BE49-F238E27FC236}">
                <a16:creationId xmlns:a16="http://schemas.microsoft.com/office/drawing/2014/main" id="{1FDAC2F7-95CA-7595-0744-8B0A12E0C00E}"/>
              </a:ext>
            </a:extLst>
          </p:cNvPr>
          <p:cNvSpPr/>
          <p:nvPr/>
        </p:nvSpPr>
        <p:spPr>
          <a:xfrm>
            <a:off x="2631356" y="5329605"/>
            <a:ext cx="1015746" cy="100610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9" name="Rectangle 1118">
            <a:extLst>
              <a:ext uri="{FF2B5EF4-FFF2-40B4-BE49-F238E27FC236}">
                <a16:creationId xmlns:a16="http://schemas.microsoft.com/office/drawing/2014/main" id="{9D3B496F-3B3A-256B-4C8F-685F4EAEF8B1}"/>
              </a:ext>
            </a:extLst>
          </p:cNvPr>
          <p:cNvSpPr/>
          <p:nvPr/>
        </p:nvSpPr>
        <p:spPr>
          <a:xfrm>
            <a:off x="4374446" y="5330648"/>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0" name="Rectangle 1119">
            <a:extLst>
              <a:ext uri="{FF2B5EF4-FFF2-40B4-BE49-F238E27FC236}">
                <a16:creationId xmlns:a16="http://schemas.microsoft.com/office/drawing/2014/main" id="{8795FAF4-C3FF-244F-CBEC-54B1FE92A41B}"/>
              </a:ext>
            </a:extLst>
          </p:cNvPr>
          <p:cNvSpPr/>
          <p:nvPr/>
        </p:nvSpPr>
        <p:spPr>
          <a:xfrm>
            <a:off x="4380796" y="5536315"/>
            <a:ext cx="189411" cy="189411"/>
          </a:xfrm>
          <a:prstGeom prst="rect">
            <a:avLst/>
          </a:prstGeom>
          <a:solidFill>
            <a:srgbClr val="C0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1" name="Rectangle 1120">
            <a:extLst>
              <a:ext uri="{FF2B5EF4-FFF2-40B4-BE49-F238E27FC236}">
                <a16:creationId xmlns:a16="http://schemas.microsoft.com/office/drawing/2014/main" id="{0B0113C9-076B-B6B6-504A-BD4221205190}"/>
              </a:ext>
            </a:extLst>
          </p:cNvPr>
          <p:cNvSpPr/>
          <p:nvPr/>
        </p:nvSpPr>
        <p:spPr>
          <a:xfrm>
            <a:off x="4380907" y="5741982"/>
            <a:ext cx="189411" cy="189411"/>
          </a:xfrm>
          <a:prstGeom prst="rect">
            <a:avLst/>
          </a:prstGeom>
          <a:solidFill>
            <a:srgbClr val="00FF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2" name="Rectangle 1121">
            <a:extLst>
              <a:ext uri="{FF2B5EF4-FFF2-40B4-BE49-F238E27FC236}">
                <a16:creationId xmlns:a16="http://schemas.microsoft.com/office/drawing/2014/main" id="{5BEF87D7-2ADD-4248-7F69-FEC6C56149CA}"/>
              </a:ext>
            </a:extLst>
          </p:cNvPr>
          <p:cNvSpPr/>
          <p:nvPr/>
        </p:nvSpPr>
        <p:spPr>
          <a:xfrm>
            <a:off x="4379707" y="5947649"/>
            <a:ext cx="189411" cy="189411"/>
          </a:xfrm>
          <a:prstGeom prst="rect">
            <a:avLst/>
          </a:prstGeom>
          <a:solidFill>
            <a:srgbClr val="452A4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3" name="Rectangle 1122">
            <a:extLst>
              <a:ext uri="{FF2B5EF4-FFF2-40B4-BE49-F238E27FC236}">
                <a16:creationId xmlns:a16="http://schemas.microsoft.com/office/drawing/2014/main" id="{510C789A-BD49-452F-8233-567441FC32E5}"/>
              </a:ext>
            </a:extLst>
          </p:cNvPr>
          <p:cNvSpPr/>
          <p:nvPr/>
        </p:nvSpPr>
        <p:spPr>
          <a:xfrm>
            <a:off x="4380068" y="6153316"/>
            <a:ext cx="189411" cy="189411"/>
          </a:xfrm>
          <a:prstGeom prst="rect">
            <a:avLst/>
          </a:prstGeom>
          <a:solidFill>
            <a:srgbClr val="FE962B"/>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4" name="Rectangle 1123">
            <a:extLst>
              <a:ext uri="{FF2B5EF4-FFF2-40B4-BE49-F238E27FC236}">
                <a16:creationId xmlns:a16="http://schemas.microsoft.com/office/drawing/2014/main" id="{C78B49DE-D355-AED7-5B43-9A79994B2CD8}"/>
              </a:ext>
            </a:extLst>
          </p:cNvPr>
          <p:cNvSpPr/>
          <p:nvPr/>
        </p:nvSpPr>
        <p:spPr>
          <a:xfrm>
            <a:off x="4587384" y="5333276"/>
            <a:ext cx="189411" cy="189411"/>
          </a:xfrm>
          <a:prstGeom prst="rect">
            <a:avLst/>
          </a:prstGeom>
          <a:solidFill>
            <a:srgbClr val="C0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5" name="Rectangle 1124">
            <a:extLst>
              <a:ext uri="{FF2B5EF4-FFF2-40B4-BE49-F238E27FC236}">
                <a16:creationId xmlns:a16="http://schemas.microsoft.com/office/drawing/2014/main" id="{4B702B5B-EF20-C080-F232-3507952BFA61}"/>
              </a:ext>
            </a:extLst>
          </p:cNvPr>
          <p:cNvSpPr/>
          <p:nvPr/>
        </p:nvSpPr>
        <p:spPr>
          <a:xfrm>
            <a:off x="4584209" y="5538943"/>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 name="Rectangle 1125">
            <a:extLst>
              <a:ext uri="{FF2B5EF4-FFF2-40B4-BE49-F238E27FC236}">
                <a16:creationId xmlns:a16="http://schemas.microsoft.com/office/drawing/2014/main" id="{BD135577-CB3C-DC4E-E12F-0302E8512964}"/>
              </a:ext>
            </a:extLst>
          </p:cNvPr>
          <p:cNvSpPr/>
          <p:nvPr/>
        </p:nvSpPr>
        <p:spPr>
          <a:xfrm>
            <a:off x="4587495" y="5744610"/>
            <a:ext cx="189411" cy="189411"/>
          </a:xfrm>
          <a:prstGeom prst="rect">
            <a:avLst/>
          </a:prstGeom>
          <a:solidFill>
            <a:srgbClr val="D2E93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 name="Rectangle 1126">
            <a:extLst>
              <a:ext uri="{FF2B5EF4-FFF2-40B4-BE49-F238E27FC236}">
                <a16:creationId xmlns:a16="http://schemas.microsoft.com/office/drawing/2014/main" id="{FDF10CE2-EADE-2D76-02DB-4E684E7C2B88}"/>
              </a:ext>
            </a:extLst>
          </p:cNvPr>
          <p:cNvSpPr/>
          <p:nvPr/>
        </p:nvSpPr>
        <p:spPr>
          <a:xfrm>
            <a:off x="4586295" y="5950277"/>
            <a:ext cx="189411" cy="189411"/>
          </a:xfrm>
          <a:prstGeom prst="rect">
            <a:avLst/>
          </a:prstGeom>
          <a:solidFill>
            <a:srgbClr val="FFFF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 name="Rectangle 1127">
            <a:extLst>
              <a:ext uri="{FF2B5EF4-FFF2-40B4-BE49-F238E27FC236}">
                <a16:creationId xmlns:a16="http://schemas.microsoft.com/office/drawing/2014/main" id="{D6C01A9D-44C4-5B49-110A-480C78A9116F}"/>
              </a:ext>
            </a:extLst>
          </p:cNvPr>
          <p:cNvSpPr/>
          <p:nvPr/>
        </p:nvSpPr>
        <p:spPr>
          <a:xfrm>
            <a:off x="4586656" y="6155944"/>
            <a:ext cx="189411" cy="189411"/>
          </a:xfrm>
          <a:prstGeom prst="rect">
            <a:avLst/>
          </a:prstGeom>
          <a:solidFill>
            <a:srgbClr val="00B05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9" name="Rectangle 1128">
            <a:extLst>
              <a:ext uri="{FF2B5EF4-FFF2-40B4-BE49-F238E27FC236}">
                <a16:creationId xmlns:a16="http://schemas.microsoft.com/office/drawing/2014/main" id="{6805282B-5D17-DA74-8A8A-F3A430B02AD1}"/>
              </a:ext>
            </a:extLst>
          </p:cNvPr>
          <p:cNvSpPr/>
          <p:nvPr/>
        </p:nvSpPr>
        <p:spPr>
          <a:xfrm>
            <a:off x="4795643" y="5336618"/>
            <a:ext cx="189411" cy="189411"/>
          </a:xfrm>
          <a:prstGeom prst="rect">
            <a:avLst/>
          </a:prstGeom>
          <a:solidFill>
            <a:srgbClr val="00FF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0" name="Rectangle 1129">
            <a:extLst>
              <a:ext uri="{FF2B5EF4-FFF2-40B4-BE49-F238E27FC236}">
                <a16:creationId xmlns:a16="http://schemas.microsoft.com/office/drawing/2014/main" id="{586B10C5-337A-7DAA-8A38-E85441904862}"/>
              </a:ext>
            </a:extLst>
          </p:cNvPr>
          <p:cNvSpPr/>
          <p:nvPr/>
        </p:nvSpPr>
        <p:spPr>
          <a:xfrm>
            <a:off x="4795643" y="5542285"/>
            <a:ext cx="189411" cy="189411"/>
          </a:xfrm>
          <a:prstGeom prst="rect">
            <a:avLst/>
          </a:prstGeom>
          <a:solidFill>
            <a:srgbClr val="D2E93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1" name="Rectangle 1130">
            <a:extLst>
              <a:ext uri="{FF2B5EF4-FFF2-40B4-BE49-F238E27FC236}">
                <a16:creationId xmlns:a16="http://schemas.microsoft.com/office/drawing/2014/main" id="{1E38908C-60C3-E78F-5D19-C23CD6725C26}"/>
              </a:ext>
            </a:extLst>
          </p:cNvPr>
          <p:cNvSpPr/>
          <p:nvPr/>
        </p:nvSpPr>
        <p:spPr>
          <a:xfrm>
            <a:off x="4795754" y="5747952"/>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2" name="Rectangle 1131">
            <a:extLst>
              <a:ext uri="{FF2B5EF4-FFF2-40B4-BE49-F238E27FC236}">
                <a16:creationId xmlns:a16="http://schemas.microsoft.com/office/drawing/2014/main" id="{5CAD34CB-83B4-7083-F6DF-6A4B1214D9C1}"/>
              </a:ext>
            </a:extLst>
          </p:cNvPr>
          <p:cNvSpPr/>
          <p:nvPr/>
        </p:nvSpPr>
        <p:spPr>
          <a:xfrm>
            <a:off x="4794554" y="5953619"/>
            <a:ext cx="189411" cy="189411"/>
          </a:xfrm>
          <a:prstGeom prst="rect">
            <a:avLst/>
          </a:prstGeom>
          <a:solidFill>
            <a:srgbClr val="00206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3" name="Rectangle 1132">
            <a:extLst>
              <a:ext uri="{FF2B5EF4-FFF2-40B4-BE49-F238E27FC236}">
                <a16:creationId xmlns:a16="http://schemas.microsoft.com/office/drawing/2014/main" id="{8D86693D-B01C-C0AB-5DB1-163652333285}"/>
              </a:ext>
            </a:extLst>
          </p:cNvPr>
          <p:cNvSpPr/>
          <p:nvPr/>
        </p:nvSpPr>
        <p:spPr>
          <a:xfrm>
            <a:off x="4794915" y="6159286"/>
            <a:ext cx="189411" cy="189411"/>
          </a:xfrm>
          <a:prstGeom prst="rect">
            <a:avLst/>
          </a:prstGeom>
          <a:solidFill>
            <a:srgbClr val="D2E93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4" name="Rectangle 1133">
            <a:extLst>
              <a:ext uri="{FF2B5EF4-FFF2-40B4-BE49-F238E27FC236}">
                <a16:creationId xmlns:a16="http://schemas.microsoft.com/office/drawing/2014/main" id="{766694FF-6481-B669-7D04-38FB8EA158D3}"/>
              </a:ext>
            </a:extLst>
          </p:cNvPr>
          <p:cNvSpPr/>
          <p:nvPr/>
        </p:nvSpPr>
        <p:spPr>
          <a:xfrm>
            <a:off x="5002231" y="5335278"/>
            <a:ext cx="189411" cy="189411"/>
          </a:xfrm>
          <a:prstGeom prst="rect">
            <a:avLst/>
          </a:prstGeom>
          <a:solidFill>
            <a:srgbClr val="452A4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5" name="Rectangle 1134">
            <a:extLst>
              <a:ext uri="{FF2B5EF4-FFF2-40B4-BE49-F238E27FC236}">
                <a16:creationId xmlns:a16="http://schemas.microsoft.com/office/drawing/2014/main" id="{8960AFEF-4AA4-1985-6B87-2E89B8773FCE}"/>
              </a:ext>
            </a:extLst>
          </p:cNvPr>
          <p:cNvSpPr/>
          <p:nvPr/>
        </p:nvSpPr>
        <p:spPr>
          <a:xfrm>
            <a:off x="5002231" y="5540945"/>
            <a:ext cx="189411" cy="189411"/>
          </a:xfrm>
          <a:prstGeom prst="rect">
            <a:avLst/>
          </a:prstGeom>
          <a:solidFill>
            <a:srgbClr val="FFFF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6" name="Rectangle 1135">
            <a:extLst>
              <a:ext uri="{FF2B5EF4-FFF2-40B4-BE49-F238E27FC236}">
                <a16:creationId xmlns:a16="http://schemas.microsoft.com/office/drawing/2014/main" id="{766D5F51-EE42-9D94-1D81-1E06A460AA3A}"/>
              </a:ext>
            </a:extLst>
          </p:cNvPr>
          <p:cNvSpPr/>
          <p:nvPr/>
        </p:nvSpPr>
        <p:spPr>
          <a:xfrm>
            <a:off x="5002342" y="5746612"/>
            <a:ext cx="189411" cy="189411"/>
          </a:xfrm>
          <a:prstGeom prst="rect">
            <a:avLst/>
          </a:prstGeom>
          <a:solidFill>
            <a:srgbClr val="00206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7" name="Rectangle 1136">
            <a:extLst>
              <a:ext uri="{FF2B5EF4-FFF2-40B4-BE49-F238E27FC236}">
                <a16:creationId xmlns:a16="http://schemas.microsoft.com/office/drawing/2014/main" id="{B2C65A12-7B9E-7B06-2F64-32E5F25EAAD2}"/>
              </a:ext>
            </a:extLst>
          </p:cNvPr>
          <p:cNvSpPr/>
          <p:nvPr/>
        </p:nvSpPr>
        <p:spPr>
          <a:xfrm>
            <a:off x="5001142" y="5959423"/>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8" name="Rectangle 1137">
            <a:extLst>
              <a:ext uri="{FF2B5EF4-FFF2-40B4-BE49-F238E27FC236}">
                <a16:creationId xmlns:a16="http://schemas.microsoft.com/office/drawing/2014/main" id="{DAF8A47B-302C-E07E-3E72-9A101B28D8BE}"/>
              </a:ext>
            </a:extLst>
          </p:cNvPr>
          <p:cNvSpPr/>
          <p:nvPr/>
        </p:nvSpPr>
        <p:spPr>
          <a:xfrm>
            <a:off x="5001503" y="6160327"/>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9" name="Rectangle 1138">
            <a:extLst>
              <a:ext uri="{FF2B5EF4-FFF2-40B4-BE49-F238E27FC236}">
                <a16:creationId xmlns:a16="http://schemas.microsoft.com/office/drawing/2014/main" id="{6293F2F2-1B97-7D50-62EE-D2C3A88A95C2}"/>
              </a:ext>
            </a:extLst>
          </p:cNvPr>
          <p:cNvSpPr/>
          <p:nvPr/>
        </p:nvSpPr>
        <p:spPr>
          <a:xfrm>
            <a:off x="5208220" y="5336620"/>
            <a:ext cx="189411" cy="189411"/>
          </a:xfrm>
          <a:prstGeom prst="rect">
            <a:avLst/>
          </a:prstGeom>
          <a:solidFill>
            <a:srgbClr val="FE962B"/>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0" name="Rectangle 1139">
            <a:extLst>
              <a:ext uri="{FF2B5EF4-FFF2-40B4-BE49-F238E27FC236}">
                <a16:creationId xmlns:a16="http://schemas.microsoft.com/office/drawing/2014/main" id="{65CD5945-D106-1E98-1844-FD2FE3531C08}"/>
              </a:ext>
            </a:extLst>
          </p:cNvPr>
          <p:cNvSpPr/>
          <p:nvPr/>
        </p:nvSpPr>
        <p:spPr>
          <a:xfrm>
            <a:off x="5208220" y="5542287"/>
            <a:ext cx="189411" cy="189411"/>
          </a:xfrm>
          <a:prstGeom prst="rect">
            <a:avLst/>
          </a:prstGeom>
          <a:solidFill>
            <a:srgbClr val="00B05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1" name="Rectangle 1140">
            <a:extLst>
              <a:ext uri="{FF2B5EF4-FFF2-40B4-BE49-F238E27FC236}">
                <a16:creationId xmlns:a16="http://schemas.microsoft.com/office/drawing/2014/main" id="{837A171E-0DA1-08FE-F2C6-745B75427164}"/>
              </a:ext>
            </a:extLst>
          </p:cNvPr>
          <p:cNvSpPr/>
          <p:nvPr/>
        </p:nvSpPr>
        <p:spPr>
          <a:xfrm>
            <a:off x="5208331" y="5747954"/>
            <a:ext cx="189411" cy="189411"/>
          </a:xfrm>
          <a:prstGeom prst="rect">
            <a:avLst/>
          </a:prstGeom>
          <a:solidFill>
            <a:srgbClr val="D2E93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2" name="Rectangle 1141">
            <a:extLst>
              <a:ext uri="{FF2B5EF4-FFF2-40B4-BE49-F238E27FC236}">
                <a16:creationId xmlns:a16="http://schemas.microsoft.com/office/drawing/2014/main" id="{965D7D6A-1D6B-E429-413D-FE464BCB1526}"/>
              </a:ext>
            </a:extLst>
          </p:cNvPr>
          <p:cNvSpPr/>
          <p:nvPr/>
        </p:nvSpPr>
        <p:spPr>
          <a:xfrm>
            <a:off x="5207131" y="5953621"/>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3" name="Rectangle 1142">
            <a:extLst>
              <a:ext uri="{FF2B5EF4-FFF2-40B4-BE49-F238E27FC236}">
                <a16:creationId xmlns:a16="http://schemas.microsoft.com/office/drawing/2014/main" id="{68D4DF1C-F28F-638C-4FA1-B5DC2FDE48A5}"/>
              </a:ext>
            </a:extLst>
          </p:cNvPr>
          <p:cNvSpPr/>
          <p:nvPr/>
        </p:nvSpPr>
        <p:spPr>
          <a:xfrm>
            <a:off x="5209873" y="6164050"/>
            <a:ext cx="189411" cy="1894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4" name="TextBox 1143">
            <a:extLst>
              <a:ext uri="{FF2B5EF4-FFF2-40B4-BE49-F238E27FC236}">
                <a16:creationId xmlns:a16="http://schemas.microsoft.com/office/drawing/2014/main" id="{D5C65C1A-E2C1-049E-138F-ED6BB55F4A0C}"/>
              </a:ext>
            </a:extLst>
          </p:cNvPr>
          <p:cNvSpPr txBox="1"/>
          <p:nvPr/>
        </p:nvSpPr>
        <p:spPr>
          <a:xfrm>
            <a:off x="3876654" y="5336998"/>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1</a:t>
            </a:r>
          </a:p>
        </p:txBody>
      </p:sp>
      <p:sp>
        <p:nvSpPr>
          <p:cNvPr id="1145" name="TextBox 1144">
            <a:extLst>
              <a:ext uri="{FF2B5EF4-FFF2-40B4-BE49-F238E27FC236}">
                <a16:creationId xmlns:a16="http://schemas.microsoft.com/office/drawing/2014/main" id="{73133EFF-FABA-84F0-EA6F-2C68DC561886}"/>
              </a:ext>
            </a:extLst>
          </p:cNvPr>
          <p:cNvSpPr txBox="1"/>
          <p:nvPr/>
        </p:nvSpPr>
        <p:spPr>
          <a:xfrm>
            <a:off x="3876654" y="5542665"/>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2</a:t>
            </a:r>
          </a:p>
        </p:txBody>
      </p:sp>
      <p:sp>
        <p:nvSpPr>
          <p:cNvPr id="1146" name="TextBox 1145">
            <a:extLst>
              <a:ext uri="{FF2B5EF4-FFF2-40B4-BE49-F238E27FC236}">
                <a16:creationId xmlns:a16="http://schemas.microsoft.com/office/drawing/2014/main" id="{D1F39983-78E8-D156-96FA-13FBE38DEE88}"/>
              </a:ext>
            </a:extLst>
          </p:cNvPr>
          <p:cNvSpPr txBox="1"/>
          <p:nvPr/>
        </p:nvSpPr>
        <p:spPr>
          <a:xfrm>
            <a:off x="3876654" y="5748332"/>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3</a:t>
            </a:r>
          </a:p>
        </p:txBody>
      </p:sp>
      <p:sp>
        <p:nvSpPr>
          <p:cNvPr id="1147" name="TextBox 1146">
            <a:extLst>
              <a:ext uri="{FF2B5EF4-FFF2-40B4-BE49-F238E27FC236}">
                <a16:creationId xmlns:a16="http://schemas.microsoft.com/office/drawing/2014/main" id="{1D878C6B-85CD-6944-3203-3ABA404BDC67}"/>
              </a:ext>
            </a:extLst>
          </p:cNvPr>
          <p:cNvSpPr txBox="1"/>
          <p:nvPr/>
        </p:nvSpPr>
        <p:spPr>
          <a:xfrm>
            <a:off x="3876654" y="5953999"/>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4</a:t>
            </a:r>
          </a:p>
        </p:txBody>
      </p:sp>
      <p:sp>
        <p:nvSpPr>
          <p:cNvPr id="1148" name="TextBox 1147">
            <a:extLst>
              <a:ext uri="{FF2B5EF4-FFF2-40B4-BE49-F238E27FC236}">
                <a16:creationId xmlns:a16="http://schemas.microsoft.com/office/drawing/2014/main" id="{A44BAB99-BBEB-7E74-94E9-5132A3CBEDFB}"/>
              </a:ext>
            </a:extLst>
          </p:cNvPr>
          <p:cNvSpPr txBox="1"/>
          <p:nvPr/>
        </p:nvSpPr>
        <p:spPr>
          <a:xfrm>
            <a:off x="3876654" y="6159666"/>
            <a:ext cx="420693"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Trial 5</a:t>
            </a:r>
          </a:p>
        </p:txBody>
      </p:sp>
      <p:sp>
        <p:nvSpPr>
          <p:cNvPr id="1149" name="TextBox 1148">
            <a:extLst>
              <a:ext uri="{FF2B5EF4-FFF2-40B4-BE49-F238E27FC236}">
                <a16:creationId xmlns:a16="http://schemas.microsoft.com/office/drawing/2014/main" id="{3A470E50-7FA0-F6BE-137E-8D2287B71E14}"/>
              </a:ext>
            </a:extLst>
          </p:cNvPr>
          <p:cNvSpPr txBox="1"/>
          <p:nvPr/>
        </p:nvSpPr>
        <p:spPr>
          <a:xfrm>
            <a:off x="4425582" y="5127234"/>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1</a:t>
            </a:r>
          </a:p>
        </p:txBody>
      </p:sp>
      <p:sp>
        <p:nvSpPr>
          <p:cNvPr id="1150" name="TextBox 1149">
            <a:extLst>
              <a:ext uri="{FF2B5EF4-FFF2-40B4-BE49-F238E27FC236}">
                <a16:creationId xmlns:a16="http://schemas.microsoft.com/office/drawing/2014/main" id="{6A92020D-EE8D-61CA-10C1-508E782031E1}"/>
              </a:ext>
            </a:extLst>
          </p:cNvPr>
          <p:cNvSpPr txBox="1"/>
          <p:nvPr/>
        </p:nvSpPr>
        <p:spPr>
          <a:xfrm>
            <a:off x="4634621" y="5127234"/>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2</a:t>
            </a:r>
          </a:p>
        </p:txBody>
      </p:sp>
      <p:sp>
        <p:nvSpPr>
          <p:cNvPr id="1151" name="TextBox 1150">
            <a:extLst>
              <a:ext uri="{FF2B5EF4-FFF2-40B4-BE49-F238E27FC236}">
                <a16:creationId xmlns:a16="http://schemas.microsoft.com/office/drawing/2014/main" id="{6748257D-6019-66FA-1F49-7EE345B7ED47}"/>
              </a:ext>
            </a:extLst>
          </p:cNvPr>
          <p:cNvSpPr txBox="1"/>
          <p:nvPr/>
        </p:nvSpPr>
        <p:spPr>
          <a:xfrm>
            <a:off x="4843660" y="5127234"/>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3</a:t>
            </a:r>
          </a:p>
        </p:txBody>
      </p:sp>
      <p:sp>
        <p:nvSpPr>
          <p:cNvPr id="1152" name="TextBox 1151">
            <a:extLst>
              <a:ext uri="{FF2B5EF4-FFF2-40B4-BE49-F238E27FC236}">
                <a16:creationId xmlns:a16="http://schemas.microsoft.com/office/drawing/2014/main" id="{771A24CB-80B7-A800-3837-5130E18464B5}"/>
              </a:ext>
            </a:extLst>
          </p:cNvPr>
          <p:cNvSpPr txBox="1"/>
          <p:nvPr/>
        </p:nvSpPr>
        <p:spPr>
          <a:xfrm>
            <a:off x="5052699" y="5127234"/>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4</a:t>
            </a:r>
          </a:p>
        </p:txBody>
      </p:sp>
      <p:sp>
        <p:nvSpPr>
          <p:cNvPr id="1153" name="TextBox 1152">
            <a:extLst>
              <a:ext uri="{FF2B5EF4-FFF2-40B4-BE49-F238E27FC236}">
                <a16:creationId xmlns:a16="http://schemas.microsoft.com/office/drawing/2014/main" id="{A5D44601-7434-E0B7-1FEA-8BF7F882761C}"/>
              </a:ext>
            </a:extLst>
          </p:cNvPr>
          <p:cNvSpPr txBox="1"/>
          <p:nvPr/>
        </p:nvSpPr>
        <p:spPr>
          <a:xfrm>
            <a:off x="5261737" y="5127234"/>
            <a:ext cx="84960" cy="184666"/>
          </a:xfrm>
          <a:prstGeom prst="rect">
            <a:avLst/>
          </a:prstGeom>
          <a:noFill/>
        </p:spPr>
        <p:txBody>
          <a:bodyPr wrap="none" lIns="0" tIns="0" rIns="0" bIns="0" rtlCol="0">
            <a:spAutoFit/>
          </a:bodyPr>
          <a:lstStyle/>
          <a:p>
            <a:r>
              <a:rPr lang="en-US" sz="1200" dirty="0">
                <a:latin typeface="Arial" panose="020B0604020202020204" pitchFamily="34" charset="0"/>
                <a:cs typeface="Arial" panose="020B0604020202020204" pitchFamily="34" charset="0"/>
              </a:rPr>
              <a:t>5</a:t>
            </a:r>
          </a:p>
        </p:txBody>
      </p:sp>
      <p:sp>
        <p:nvSpPr>
          <p:cNvPr id="1154" name="Rectangle 1153">
            <a:extLst>
              <a:ext uri="{FF2B5EF4-FFF2-40B4-BE49-F238E27FC236}">
                <a16:creationId xmlns:a16="http://schemas.microsoft.com/office/drawing/2014/main" id="{052A2336-F9DC-5000-C446-0FE958681CAB}"/>
              </a:ext>
            </a:extLst>
          </p:cNvPr>
          <p:cNvSpPr/>
          <p:nvPr/>
        </p:nvSpPr>
        <p:spPr>
          <a:xfrm>
            <a:off x="4380796" y="5336617"/>
            <a:ext cx="1015746" cy="100610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56" name="Straight Arrow Connector 1155">
            <a:extLst>
              <a:ext uri="{FF2B5EF4-FFF2-40B4-BE49-F238E27FC236}">
                <a16:creationId xmlns:a16="http://schemas.microsoft.com/office/drawing/2014/main" id="{C03238F0-B669-49A9-07DC-F86D46FB25E5}"/>
              </a:ext>
            </a:extLst>
          </p:cNvPr>
          <p:cNvCxnSpPr>
            <a:cxnSpLocks/>
          </p:cNvCxnSpPr>
          <p:nvPr/>
        </p:nvCxnSpPr>
        <p:spPr>
          <a:xfrm>
            <a:off x="1368183" y="4395290"/>
            <a:ext cx="0" cy="60491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9" name="Straight Arrow Connector 1158">
            <a:extLst>
              <a:ext uri="{FF2B5EF4-FFF2-40B4-BE49-F238E27FC236}">
                <a16:creationId xmlns:a16="http://schemas.microsoft.com/office/drawing/2014/main" id="{E619CD30-A62C-A0B8-C019-4C7AF60730C6}"/>
              </a:ext>
            </a:extLst>
          </p:cNvPr>
          <p:cNvCxnSpPr>
            <a:cxnSpLocks/>
          </p:cNvCxnSpPr>
          <p:nvPr/>
        </p:nvCxnSpPr>
        <p:spPr>
          <a:xfrm>
            <a:off x="3131441" y="4395290"/>
            <a:ext cx="0" cy="60491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60" name="Straight Arrow Connector 1159">
            <a:extLst>
              <a:ext uri="{FF2B5EF4-FFF2-40B4-BE49-F238E27FC236}">
                <a16:creationId xmlns:a16="http://schemas.microsoft.com/office/drawing/2014/main" id="{24407AEF-94AF-EF41-C232-A1BE4F2FC62C}"/>
              </a:ext>
            </a:extLst>
          </p:cNvPr>
          <p:cNvCxnSpPr>
            <a:cxnSpLocks/>
          </p:cNvCxnSpPr>
          <p:nvPr/>
        </p:nvCxnSpPr>
        <p:spPr>
          <a:xfrm>
            <a:off x="4865993" y="4395290"/>
            <a:ext cx="0" cy="60491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61" name="TextBox 1160">
            <a:extLst>
              <a:ext uri="{FF2B5EF4-FFF2-40B4-BE49-F238E27FC236}">
                <a16:creationId xmlns:a16="http://schemas.microsoft.com/office/drawing/2014/main" id="{DCBAB425-CE40-100A-B17B-AC722469D973}"/>
              </a:ext>
            </a:extLst>
          </p:cNvPr>
          <p:cNvSpPr txBox="1"/>
          <p:nvPr/>
        </p:nvSpPr>
        <p:spPr>
          <a:xfrm>
            <a:off x="806786" y="6377901"/>
            <a:ext cx="1160895" cy="307777"/>
          </a:xfrm>
          <a:prstGeom prst="rect">
            <a:avLst/>
          </a:prstGeom>
          <a:noFill/>
        </p:spPr>
        <p:txBody>
          <a:bodyPr wrap="none" rtlCol="0">
            <a:spAutoFit/>
          </a:bodyPr>
          <a:lstStyle/>
          <a:p>
            <a:pPr algn="ctr"/>
            <a:r>
              <a:rPr lang="en-US" sz="1400" dirty="0">
                <a:latin typeface="Arial" panose="020B0604020202020204" pitchFamily="34" charset="0"/>
                <a:cs typeface="Arial" panose="020B0604020202020204" pitchFamily="34" charset="0"/>
              </a:rPr>
              <a:t>Object RDM</a:t>
            </a:r>
          </a:p>
        </p:txBody>
      </p:sp>
      <p:sp>
        <p:nvSpPr>
          <p:cNvPr id="1162" name="TextBox 1161">
            <a:extLst>
              <a:ext uri="{FF2B5EF4-FFF2-40B4-BE49-F238E27FC236}">
                <a16:creationId xmlns:a16="http://schemas.microsoft.com/office/drawing/2014/main" id="{952434B0-BB8F-8E95-1484-1C0F663394CC}"/>
              </a:ext>
            </a:extLst>
          </p:cNvPr>
          <p:cNvSpPr txBox="1"/>
          <p:nvPr/>
        </p:nvSpPr>
        <p:spPr>
          <a:xfrm>
            <a:off x="2574855" y="6377901"/>
            <a:ext cx="1151277" cy="307777"/>
          </a:xfrm>
          <a:prstGeom prst="rect">
            <a:avLst/>
          </a:prstGeom>
          <a:noFill/>
        </p:spPr>
        <p:txBody>
          <a:bodyPr wrap="none" rtlCol="0">
            <a:spAutoFit/>
          </a:bodyPr>
          <a:lstStyle/>
          <a:p>
            <a:pPr algn="ctr"/>
            <a:r>
              <a:rPr lang="en-US" sz="1400" dirty="0">
                <a:latin typeface="Arial" panose="020B0604020202020204" pitchFamily="34" charset="0"/>
                <a:cs typeface="Arial" panose="020B0604020202020204" pitchFamily="34" charset="0"/>
              </a:rPr>
              <a:t>Scene RDM</a:t>
            </a:r>
          </a:p>
        </p:txBody>
      </p:sp>
      <p:sp>
        <p:nvSpPr>
          <p:cNvPr id="1163" name="TextBox 1162">
            <a:extLst>
              <a:ext uri="{FF2B5EF4-FFF2-40B4-BE49-F238E27FC236}">
                <a16:creationId xmlns:a16="http://schemas.microsoft.com/office/drawing/2014/main" id="{F457D580-29C4-114A-D4DC-1118A531979E}"/>
              </a:ext>
            </a:extLst>
          </p:cNvPr>
          <p:cNvSpPr txBox="1"/>
          <p:nvPr/>
        </p:nvSpPr>
        <p:spPr>
          <a:xfrm>
            <a:off x="4246473" y="6377901"/>
            <a:ext cx="1274217"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Abs-</a:t>
            </a:r>
            <a:r>
              <a:rPr lang="en-US" sz="1400" dirty="0" err="1">
                <a:latin typeface="Arial" panose="020B0604020202020204" pitchFamily="34" charset="0"/>
                <a:cs typeface="Arial" panose="020B0604020202020204" pitchFamily="34" charset="0"/>
              </a:rPr>
              <a:t>Dif</a:t>
            </a:r>
            <a:r>
              <a:rPr lang="en-US" sz="1400" dirty="0">
                <a:latin typeface="Arial" panose="020B0604020202020204" pitchFamily="34" charset="0"/>
                <a:cs typeface="Arial" panose="020B0604020202020204" pitchFamily="34" charset="0"/>
              </a:rPr>
              <a:t> RDM</a:t>
            </a:r>
          </a:p>
        </p:txBody>
      </p:sp>
    </p:spTree>
    <p:extLst>
      <p:ext uri="{BB962C8B-B14F-4D97-AF65-F5344CB8AC3E}">
        <p14:creationId xmlns:p14="http://schemas.microsoft.com/office/powerpoint/2010/main" val="3734909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0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08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08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08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8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08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08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08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09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09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092"/>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9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9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9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9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9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9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10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101"/>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102"/>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04"/>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05"/>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6"/>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07"/>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08"/>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0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10"/>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1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2"/>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13"/>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1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15"/>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16"/>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17"/>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18"/>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19"/>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20"/>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12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2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2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2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2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2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3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3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3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3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3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3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3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3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4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4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4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4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4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14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14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14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14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14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15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15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15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15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154"/>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1159"/>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1160"/>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16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163"/>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3">
                                            <p:txEl>
                                              <p:pRg st="3" end="3"/>
                                            </p:txEl>
                                          </p:spTgt>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3">
                                            <p:txEl>
                                              <p:pRg st="4" end="4"/>
                                            </p:txEl>
                                          </p:spTgt>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3">
                                            <p:txEl>
                                              <p:pRg st="5" end="5"/>
                                            </p:txEl>
                                          </p:spTgt>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3">
                                            <p:txEl>
                                              <p:pRg st="6" end="6"/>
                                            </p:txEl>
                                          </p:spTgt>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3">
                                            <p:txEl>
                                              <p:pRg st="7" end="7"/>
                                            </p:txEl>
                                          </p:spTgt>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3">
                                            <p:txEl>
                                              <p:pRg st="8" end="8"/>
                                            </p:txEl>
                                          </p:spTgt>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p:bldP spid="26" grpId="0"/>
      <p:bldP spid="29" grpId="0"/>
      <p:bldP spid="1083" grpId="0" animBg="1"/>
      <p:bldP spid="1084" grpId="0" animBg="1"/>
      <p:bldP spid="1085" grpId="0" animBg="1"/>
      <p:bldP spid="1086" grpId="0" animBg="1"/>
      <p:bldP spid="1087" grpId="0" animBg="1"/>
      <p:bldP spid="1088" grpId="0" animBg="1"/>
      <p:bldP spid="1089" grpId="0" animBg="1"/>
      <p:bldP spid="1090" grpId="0" animBg="1"/>
      <p:bldP spid="1091" grpId="0" animBg="1"/>
      <p:bldP spid="1092" grpId="0" animBg="1"/>
      <p:bldP spid="1093" grpId="0" animBg="1"/>
      <p:bldP spid="1094" grpId="0" animBg="1"/>
      <p:bldP spid="1095" grpId="0" animBg="1"/>
      <p:bldP spid="1096" grpId="0" animBg="1"/>
      <p:bldP spid="1097" grpId="0" animBg="1"/>
      <p:bldP spid="1098" grpId="0" animBg="1"/>
      <p:bldP spid="1099" grpId="0" animBg="1"/>
      <p:bldP spid="1100" grpId="0" animBg="1"/>
      <p:bldP spid="1101" grpId="0" animBg="1"/>
      <p:bldP spid="1102" grpId="0" animBg="1"/>
      <p:bldP spid="1103" grpId="0" animBg="1"/>
      <p:bldP spid="1104" grpId="0" animBg="1"/>
      <p:bldP spid="1105" grpId="0" animBg="1"/>
      <p:bldP spid="1106" grpId="0" animBg="1"/>
      <p:bldP spid="1107" grpId="0" animBg="1"/>
      <p:bldP spid="1108" grpId="0"/>
      <p:bldP spid="1109" grpId="0"/>
      <p:bldP spid="1110" grpId="0"/>
      <p:bldP spid="1111" grpId="0"/>
      <p:bldP spid="1112" grpId="0"/>
      <p:bldP spid="1113" grpId="0"/>
      <p:bldP spid="1114" grpId="0"/>
      <p:bldP spid="1115" grpId="0"/>
      <p:bldP spid="1116" grpId="0"/>
      <p:bldP spid="1117" grpId="0"/>
      <p:bldP spid="1118" grpId="0" animBg="1"/>
      <p:bldP spid="1119" grpId="0" animBg="1"/>
      <p:bldP spid="1120" grpId="0" animBg="1"/>
      <p:bldP spid="1121" grpId="0" animBg="1"/>
      <p:bldP spid="1122" grpId="0" animBg="1"/>
      <p:bldP spid="1123" grpId="0" animBg="1"/>
      <p:bldP spid="1124" grpId="0" animBg="1"/>
      <p:bldP spid="1125" grpId="0" animBg="1"/>
      <p:bldP spid="1126" grpId="0" animBg="1"/>
      <p:bldP spid="1127" grpId="0" animBg="1"/>
      <p:bldP spid="1128" grpId="0" animBg="1"/>
      <p:bldP spid="1129" grpId="0" animBg="1"/>
      <p:bldP spid="1130" grpId="0" animBg="1"/>
      <p:bldP spid="1131" grpId="0" animBg="1"/>
      <p:bldP spid="1132" grpId="0" animBg="1"/>
      <p:bldP spid="1133" grpId="0" animBg="1"/>
      <p:bldP spid="1134" grpId="0" animBg="1"/>
      <p:bldP spid="1135" grpId="0" animBg="1"/>
      <p:bldP spid="1136" grpId="0" animBg="1"/>
      <p:bldP spid="1137" grpId="0" animBg="1"/>
      <p:bldP spid="1138" grpId="0" animBg="1"/>
      <p:bldP spid="1139" grpId="0" animBg="1"/>
      <p:bldP spid="1140" grpId="0" animBg="1"/>
      <p:bldP spid="1141" grpId="0" animBg="1"/>
      <p:bldP spid="1142" grpId="0" animBg="1"/>
      <p:bldP spid="1143" grpId="0" animBg="1"/>
      <p:bldP spid="1144" grpId="0"/>
      <p:bldP spid="1145" grpId="0"/>
      <p:bldP spid="1146" grpId="0"/>
      <p:bldP spid="1147" grpId="0"/>
      <p:bldP spid="1148" grpId="0"/>
      <p:bldP spid="1149" grpId="0"/>
      <p:bldP spid="1150" grpId="0"/>
      <p:bldP spid="1151" grpId="0"/>
      <p:bldP spid="1152" grpId="0"/>
      <p:bldP spid="1153" grpId="0"/>
      <p:bldP spid="1154" grpId="0" animBg="1"/>
      <p:bldP spid="1162" grpId="0"/>
      <p:bldP spid="116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9D74C-FB51-E387-833E-0D917F8C7900}"/>
              </a:ext>
            </a:extLst>
          </p:cNvPr>
          <p:cNvSpPr>
            <a:spLocks noGrp="1"/>
          </p:cNvSpPr>
          <p:nvPr>
            <p:ph type="title"/>
          </p:nvPr>
        </p:nvSpPr>
        <p:spPr>
          <a:xfrm>
            <a:off x="838200" y="245490"/>
            <a:ext cx="10515600" cy="876313"/>
          </a:xfrm>
        </p:spPr>
        <p:txBody>
          <a:bodyPr>
            <a:noAutofit/>
          </a:bodyPr>
          <a:lstStyle/>
          <a:p>
            <a:r>
              <a:rPr lang="en-US" sz="3600" dirty="0"/>
              <a:t>Many ways to interpret the abs-difference vector</a:t>
            </a:r>
          </a:p>
        </p:txBody>
      </p:sp>
      <p:sp>
        <p:nvSpPr>
          <p:cNvPr id="3" name="Content Placeholder 2">
            <a:extLst>
              <a:ext uri="{FF2B5EF4-FFF2-40B4-BE49-F238E27FC236}">
                <a16:creationId xmlns:a16="http://schemas.microsoft.com/office/drawing/2014/main" id="{3DEA1933-6C2A-C270-C1C2-01C180E279F1}"/>
              </a:ext>
            </a:extLst>
          </p:cNvPr>
          <p:cNvSpPr>
            <a:spLocks noGrp="1"/>
          </p:cNvSpPr>
          <p:nvPr>
            <p:ph idx="1"/>
          </p:nvPr>
        </p:nvSpPr>
        <p:spPr>
          <a:xfrm>
            <a:off x="424800" y="1360799"/>
            <a:ext cx="11130092" cy="5169601"/>
          </a:xfrm>
        </p:spPr>
        <p:txBody>
          <a:bodyPr>
            <a:normAutofit fontScale="70000" lnSpcReduction="20000"/>
          </a:bodyPr>
          <a:lstStyle/>
          <a:p>
            <a:r>
              <a:rPr lang="en-US" dirty="0"/>
              <a:t>Psychological meaning of the difference vector:</a:t>
            </a:r>
          </a:p>
          <a:p>
            <a:pPr lvl="1"/>
            <a:r>
              <a:rPr lang="en-US" dirty="0"/>
              <a:t>Prediction error: </a:t>
            </a:r>
          </a:p>
          <a:p>
            <a:pPr lvl="2"/>
            <a:r>
              <a:rPr lang="en-US" dirty="0"/>
              <a:t>Scenes establish a “prediction” that may be violated</a:t>
            </a:r>
          </a:p>
          <a:p>
            <a:pPr lvl="2"/>
            <a:r>
              <a:rPr lang="en-US" dirty="0"/>
              <a:t>Predictive coding theory argues that all information is processed as prediction errors</a:t>
            </a:r>
          </a:p>
          <a:p>
            <a:pPr lvl="1"/>
            <a:r>
              <a:rPr lang="en-US" dirty="0"/>
              <a:t>Priming: </a:t>
            </a:r>
          </a:p>
          <a:p>
            <a:pPr lvl="2"/>
            <a:r>
              <a:rPr lang="en-US" dirty="0"/>
              <a:t>Scenes prime some representations, which will show weaker/stronger responses if activated again by the object</a:t>
            </a:r>
          </a:p>
          <a:p>
            <a:pPr lvl="2"/>
            <a:r>
              <a:rPr lang="en-US" dirty="0"/>
              <a:t>Link to repetition suppression</a:t>
            </a:r>
          </a:p>
          <a:p>
            <a:pPr lvl="1"/>
            <a:r>
              <a:rPr lang="en-US" dirty="0"/>
              <a:t>Relational memory:</a:t>
            </a:r>
          </a:p>
          <a:p>
            <a:pPr lvl="2"/>
            <a:r>
              <a:rPr lang="en-US" dirty="0"/>
              <a:t>Broadly: The informational content of items influences how an association is encoded</a:t>
            </a:r>
          </a:p>
          <a:p>
            <a:pPr lvl="2"/>
            <a:r>
              <a:rPr lang="en-US" dirty="0"/>
              <a:t>Specifically: Associative memories do not just blindly connect item representations. Rather, associations should be seen as representations that encode the relationship between the items</a:t>
            </a:r>
          </a:p>
          <a:p>
            <a:r>
              <a:rPr lang="en-US" dirty="0"/>
              <a:t>Speculative:</a:t>
            </a:r>
          </a:p>
          <a:p>
            <a:pPr lvl="1"/>
            <a:r>
              <a:rPr lang="en-US" dirty="0"/>
              <a:t>Unclear meaning yet informative</a:t>
            </a:r>
          </a:p>
          <a:p>
            <a:pPr lvl="2"/>
            <a:r>
              <a:rPr lang="en-US" dirty="0"/>
              <a:t>There is no clear psychological meaning of a “difference vector”</a:t>
            </a:r>
          </a:p>
          <a:p>
            <a:pPr lvl="2"/>
            <a:r>
              <a:rPr lang="en-US" dirty="0"/>
              <a:t>Nonetheless, because this measure combines object and scene information, the findings must reflect some type of interaction between representations</a:t>
            </a:r>
          </a:p>
          <a:p>
            <a:pPr lvl="1"/>
            <a:r>
              <a:rPr lang="en-US" dirty="0"/>
              <a:t>Analogical reasoning</a:t>
            </a:r>
          </a:p>
          <a:p>
            <a:pPr lvl="2"/>
            <a:r>
              <a:rPr lang="en-US" dirty="0"/>
              <a:t>In the analysis, representational similarity entails parallels between trial 1’s scene-object relationship and trial 2’s scene-object relationship (i.e., an analogy)</a:t>
            </a:r>
          </a:p>
          <a:p>
            <a:pPr lvl="2"/>
            <a:r>
              <a:rPr lang="en-US" dirty="0"/>
              <a:t>Because the analysis is looking for analogies, this implies that this is related to how humans process analogies? </a:t>
            </a:r>
          </a:p>
          <a:p>
            <a:r>
              <a:rPr lang="en-US" dirty="0"/>
              <a:t>Framed as possible competing hypotheses?</a:t>
            </a:r>
          </a:p>
        </p:txBody>
      </p:sp>
    </p:spTree>
    <p:extLst>
      <p:ext uri="{BB962C8B-B14F-4D97-AF65-F5344CB8AC3E}">
        <p14:creationId xmlns:p14="http://schemas.microsoft.com/office/powerpoint/2010/main" val="19936647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F6B7C-CD14-6718-A840-E9F7F745DA78}"/>
              </a:ext>
            </a:extLst>
          </p:cNvPr>
          <p:cNvSpPr>
            <a:spLocks noGrp="1"/>
          </p:cNvSpPr>
          <p:nvPr>
            <p:ph type="title"/>
          </p:nvPr>
        </p:nvSpPr>
        <p:spPr>
          <a:xfrm>
            <a:off x="838200" y="131350"/>
            <a:ext cx="10515600" cy="1325563"/>
          </a:xfrm>
        </p:spPr>
        <p:txBody>
          <a:bodyPr/>
          <a:lstStyle/>
          <a:p>
            <a:r>
              <a:rPr lang="en-US" dirty="0"/>
              <a:t>Perceptual vectors</a:t>
            </a:r>
          </a:p>
        </p:txBody>
      </p:sp>
      <p:pic>
        <p:nvPicPr>
          <p:cNvPr id="5" name="Picture 4">
            <a:extLst>
              <a:ext uri="{FF2B5EF4-FFF2-40B4-BE49-F238E27FC236}">
                <a16:creationId xmlns:a16="http://schemas.microsoft.com/office/drawing/2014/main" id="{5E3C0434-B8A9-C66E-2089-3689BEA9B471}"/>
              </a:ext>
            </a:extLst>
          </p:cNvPr>
          <p:cNvPicPr>
            <a:picLocks noChangeAspect="1"/>
          </p:cNvPicPr>
          <p:nvPr/>
        </p:nvPicPr>
        <p:blipFill>
          <a:blip r:embed="rId2"/>
          <a:stretch>
            <a:fillRect/>
          </a:stretch>
        </p:blipFill>
        <p:spPr>
          <a:xfrm>
            <a:off x="6183648" y="2072486"/>
            <a:ext cx="5710152" cy="4282614"/>
          </a:xfrm>
          <a:prstGeom prst="rect">
            <a:avLst/>
          </a:prstGeom>
        </p:spPr>
      </p:pic>
      <p:pic>
        <p:nvPicPr>
          <p:cNvPr id="7" name="Picture 6">
            <a:extLst>
              <a:ext uri="{FF2B5EF4-FFF2-40B4-BE49-F238E27FC236}">
                <a16:creationId xmlns:a16="http://schemas.microsoft.com/office/drawing/2014/main" id="{C4E9A5B7-E80F-D711-F7C3-99E3B4ECDC6C}"/>
              </a:ext>
            </a:extLst>
          </p:cNvPr>
          <p:cNvPicPr>
            <a:picLocks noChangeAspect="1"/>
          </p:cNvPicPr>
          <p:nvPr/>
        </p:nvPicPr>
        <p:blipFill rotWithShape="1">
          <a:blip r:embed="rId3"/>
          <a:srcRect l="20349" t="7884" r="5196" b="16252"/>
          <a:stretch/>
        </p:blipFill>
        <p:spPr>
          <a:xfrm>
            <a:off x="491838" y="2158688"/>
            <a:ext cx="5604162" cy="4282613"/>
          </a:xfrm>
          <a:prstGeom prst="rect">
            <a:avLst/>
          </a:prstGeom>
        </p:spPr>
      </p:pic>
      <p:sp>
        <p:nvSpPr>
          <p:cNvPr id="3" name="Content Placeholder 2">
            <a:extLst>
              <a:ext uri="{FF2B5EF4-FFF2-40B4-BE49-F238E27FC236}">
                <a16:creationId xmlns:a16="http://schemas.microsoft.com/office/drawing/2014/main" id="{330D2E80-770C-7A5E-675F-02064152DEDF}"/>
              </a:ext>
            </a:extLst>
          </p:cNvPr>
          <p:cNvSpPr>
            <a:spLocks noGrp="1"/>
          </p:cNvSpPr>
          <p:nvPr>
            <p:ph idx="1"/>
          </p:nvPr>
        </p:nvSpPr>
        <p:spPr>
          <a:xfrm>
            <a:off x="491838" y="1496288"/>
            <a:ext cx="5604162" cy="662400"/>
          </a:xfrm>
        </p:spPr>
        <p:txBody>
          <a:bodyPr>
            <a:normAutofit/>
          </a:bodyPr>
          <a:lstStyle/>
          <a:p>
            <a:pPr marL="0" indent="0" algn="ctr">
              <a:buNone/>
            </a:pPr>
            <a:r>
              <a:rPr lang="en-US" sz="3600" dirty="0"/>
              <a:t>Scene</a:t>
            </a:r>
            <a:endParaRPr lang="en-US" dirty="0"/>
          </a:p>
        </p:txBody>
      </p:sp>
      <p:sp>
        <p:nvSpPr>
          <p:cNvPr id="4" name="Content Placeholder 2">
            <a:extLst>
              <a:ext uri="{FF2B5EF4-FFF2-40B4-BE49-F238E27FC236}">
                <a16:creationId xmlns:a16="http://schemas.microsoft.com/office/drawing/2014/main" id="{891CCAF9-A782-97AA-7928-D6F0988DFE5B}"/>
              </a:ext>
            </a:extLst>
          </p:cNvPr>
          <p:cNvSpPr txBox="1">
            <a:spLocks/>
          </p:cNvSpPr>
          <p:nvPr/>
        </p:nvSpPr>
        <p:spPr>
          <a:xfrm>
            <a:off x="6314400" y="1496288"/>
            <a:ext cx="5550000" cy="6624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dirty="0"/>
              <a:t>Object</a:t>
            </a:r>
          </a:p>
        </p:txBody>
      </p:sp>
    </p:spTree>
    <p:extLst>
      <p:ext uri="{BB962C8B-B14F-4D97-AF65-F5344CB8AC3E}">
        <p14:creationId xmlns:p14="http://schemas.microsoft.com/office/powerpoint/2010/main" val="3877414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C048B-6995-A536-9102-2C894ADF8C92}"/>
              </a:ext>
            </a:extLst>
          </p:cNvPr>
          <p:cNvSpPr>
            <a:spLocks noGrp="1"/>
          </p:cNvSpPr>
          <p:nvPr>
            <p:ph type="title"/>
          </p:nvPr>
        </p:nvSpPr>
        <p:spPr>
          <a:xfrm>
            <a:off x="838200" y="365125"/>
            <a:ext cx="2200275" cy="1325563"/>
          </a:xfrm>
        </p:spPr>
        <p:txBody>
          <a:bodyPr/>
          <a:lstStyle/>
          <a:p>
            <a:r>
              <a:rPr lang="en-US" dirty="0"/>
              <a:t>Abs-</a:t>
            </a:r>
            <a:r>
              <a:rPr lang="en-US" dirty="0" err="1"/>
              <a:t>dif</a:t>
            </a:r>
            <a:r>
              <a:rPr lang="en-US" dirty="0"/>
              <a:t> vector</a:t>
            </a:r>
          </a:p>
        </p:txBody>
      </p:sp>
      <p:sp>
        <p:nvSpPr>
          <p:cNvPr id="3" name="Content Placeholder 2">
            <a:extLst>
              <a:ext uri="{FF2B5EF4-FFF2-40B4-BE49-F238E27FC236}">
                <a16:creationId xmlns:a16="http://schemas.microsoft.com/office/drawing/2014/main" id="{0C16AFDE-86CA-CD03-1EAC-ED71B92BFCBA}"/>
              </a:ext>
            </a:extLst>
          </p:cNvPr>
          <p:cNvSpPr>
            <a:spLocks noGrp="1"/>
          </p:cNvSpPr>
          <p:nvPr>
            <p:ph idx="1"/>
          </p:nvPr>
        </p:nvSpPr>
        <p:spPr>
          <a:xfrm>
            <a:off x="608750" y="2746375"/>
            <a:ext cx="2422525" cy="428625"/>
          </a:xfrm>
        </p:spPr>
        <p:txBody>
          <a:bodyPr>
            <a:normAutofit fontScale="92500" lnSpcReduction="10000"/>
          </a:bodyPr>
          <a:lstStyle/>
          <a:p>
            <a:pPr marL="0" indent="0">
              <a:buNone/>
            </a:pPr>
            <a:r>
              <a:rPr lang="en-US" dirty="0"/>
              <a:t>Object   Scene</a:t>
            </a:r>
          </a:p>
        </p:txBody>
      </p:sp>
      <p:pic>
        <p:nvPicPr>
          <p:cNvPr id="9" name="Picture 8">
            <a:extLst>
              <a:ext uri="{FF2B5EF4-FFF2-40B4-BE49-F238E27FC236}">
                <a16:creationId xmlns:a16="http://schemas.microsoft.com/office/drawing/2014/main" id="{9D9F5F4F-9A7C-DC80-1400-0138A241EB51}"/>
              </a:ext>
            </a:extLst>
          </p:cNvPr>
          <p:cNvPicPr>
            <a:picLocks noChangeAspect="1"/>
          </p:cNvPicPr>
          <p:nvPr/>
        </p:nvPicPr>
        <p:blipFill>
          <a:blip r:embed="rId2"/>
          <a:stretch>
            <a:fillRect/>
          </a:stretch>
        </p:blipFill>
        <p:spPr>
          <a:xfrm>
            <a:off x="3105151" y="87511"/>
            <a:ext cx="8910637" cy="6682978"/>
          </a:xfrm>
          <a:prstGeom prst="rect">
            <a:avLst/>
          </a:prstGeom>
        </p:spPr>
      </p:pic>
      <p:sp>
        <p:nvSpPr>
          <p:cNvPr id="11" name="Oval 10">
            <a:extLst>
              <a:ext uri="{FF2B5EF4-FFF2-40B4-BE49-F238E27FC236}">
                <a16:creationId xmlns:a16="http://schemas.microsoft.com/office/drawing/2014/main" id="{2C9FF80B-611C-7D23-5040-49E5CD09F6F4}"/>
              </a:ext>
            </a:extLst>
          </p:cNvPr>
          <p:cNvSpPr/>
          <p:nvPr/>
        </p:nvSpPr>
        <p:spPr>
          <a:xfrm>
            <a:off x="8324850" y="3079750"/>
            <a:ext cx="1270000" cy="52070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E7AE2A0-6ADC-AE3A-2C30-B2F18978D3C1}"/>
              </a:ext>
            </a:extLst>
          </p:cNvPr>
          <p:cNvSpPr/>
          <p:nvPr/>
        </p:nvSpPr>
        <p:spPr>
          <a:xfrm>
            <a:off x="6838950" y="4133850"/>
            <a:ext cx="920750" cy="38735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E63E13B-3974-BE57-F5F1-309DAAB2AEAE}"/>
              </a:ext>
            </a:extLst>
          </p:cNvPr>
          <p:cNvSpPr/>
          <p:nvPr/>
        </p:nvSpPr>
        <p:spPr>
          <a:xfrm>
            <a:off x="5787230" y="4572000"/>
            <a:ext cx="1820070" cy="173990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B1F6C56-1EA4-4F91-2677-6E020AB52119}"/>
              </a:ext>
            </a:extLst>
          </p:cNvPr>
          <p:cNvSpPr txBox="1"/>
          <p:nvPr/>
        </p:nvSpPr>
        <p:spPr>
          <a:xfrm>
            <a:off x="5950243" y="6323270"/>
            <a:ext cx="1505540"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Green scene</a:t>
            </a:r>
          </a:p>
        </p:txBody>
      </p:sp>
      <p:sp>
        <p:nvSpPr>
          <p:cNvPr id="15" name="Rectangle 14">
            <a:extLst>
              <a:ext uri="{FF2B5EF4-FFF2-40B4-BE49-F238E27FC236}">
                <a16:creationId xmlns:a16="http://schemas.microsoft.com/office/drawing/2014/main" id="{8E9429E4-F6B0-B625-42C4-6D71DE421A6C}"/>
              </a:ext>
            </a:extLst>
          </p:cNvPr>
          <p:cNvSpPr/>
          <p:nvPr/>
        </p:nvSpPr>
        <p:spPr>
          <a:xfrm>
            <a:off x="565150" y="2559050"/>
            <a:ext cx="2473325" cy="74295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0DDAAAFA-9EA7-FED0-321A-4CA39E7A17BE}"/>
              </a:ext>
            </a:extLst>
          </p:cNvPr>
          <p:cNvCxnSpPr>
            <a:cxnSpLocks/>
          </p:cNvCxnSpPr>
          <p:nvPr/>
        </p:nvCxnSpPr>
        <p:spPr>
          <a:xfrm>
            <a:off x="1792175" y="2559050"/>
            <a:ext cx="0" cy="74295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EAC701AF-8C01-E6B8-094D-C6FD65229E7D}"/>
              </a:ext>
            </a:extLst>
          </p:cNvPr>
          <p:cNvSpPr/>
          <p:nvPr/>
        </p:nvSpPr>
        <p:spPr>
          <a:xfrm>
            <a:off x="8519970" y="3821741"/>
            <a:ext cx="1270000" cy="64378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D730EC3-026F-A399-9B7D-3B87AED9D585}"/>
              </a:ext>
            </a:extLst>
          </p:cNvPr>
          <p:cNvSpPr/>
          <p:nvPr/>
        </p:nvSpPr>
        <p:spPr>
          <a:xfrm>
            <a:off x="7171151" y="1146132"/>
            <a:ext cx="2286000" cy="116492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EAE857B-5274-5E44-36C3-C45A08D4168B}"/>
              </a:ext>
            </a:extLst>
          </p:cNvPr>
          <p:cNvSpPr txBox="1"/>
          <p:nvPr/>
        </p:nvSpPr>
        <p:spPr>
          <a:xfrm>
            <a:off x="3070300" y="3637075"/>
            <a:ext cx="151836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Brown scene</a:t>
            </a:r>
          </a:p>
        </p:txBody>
      </p:sp>
      <p:sp>
        <p:nvSpPr>
          <p:cNvPr id="22" name="Oval 21">
            <a:extLst>
              <a:ext uri="{FF2B5EF4-FFF2-40B4-BE49-F238E27FC236}">
                <a16:creationId xmlns:a16="http://schemas.microsoft.com/office/drawing/2014/main" id="{5CE621DD-AAD6-B534-57BB-71FD7AEF6D66}"/>
              </a:ext>
            </a:extLst>
          </p:cNvPr>
          <p:cNvSpPr/>
          <p:nvPr/>
        </p:nvSpPr>
        <p:spPr>
          <a:xfrm>
            <a:off x="4706214" y="2995808"/>
            <a:ext cx="1542185" cy="1484117"/>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A0CB105E-E5F2-569F-6B73-6ED42D0C74CB}"/>
              </a:ext>
            </a:extLst>
          </p:cNvPr>
          <p:cNvSpPr txBox="1"/>
          <p:nvPr/>
        </p:nvSpPr>
        <p:spPr>
          <a:xfrm>
            <a:off x="7646670" y="790544"/>
            <a:ext cx="1313180"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Pink object</a:t>
            </a:r>
          </a:p>
        </p:txBody>
      </p:sp>
    </p:spTree>
    <p:extLst>
      <p:ext uri="{BB962C8B-B14F-4D97-AF65-F5344CB8AC3E}">
        <p14:creationId xmlns:p14="http://schemas.microsoft.com/office/powerpoint/2010/main" val="15847163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655DD1-DDEB-A70A-82D6-75F14738F70F}"/>
              </a:ext>
            </a:extLst>
          </p:cNvPr>
          <p:cNvSpPr>
            <a:spLocks noGrp="1"/>
          </p:cNvSpPr>
          <p:nvPr>
            <p:ph type="title"/>
          </p:nvPr>
        </p:nvSpPr>
        <p:spPr/>
        <p:txBody>
          <a:bodyPr/>
          <a:lstStyle/>
          <a:p>
            <a:r>
              <a:rPr lang="en-US" dirty="0"/>
              <a:t>Difference vector by condition</a:t>
            </a:r>
          </a:p>
        </p:txBody>
      </p:sp>
      <p:sp>
        <p:nvSpPr>
          <p:cNvPr id="3" name="Content Placeholder 2">
            <a:extLst>
              <a:ext uri="{FF2B5EF4-FFF2-40B4-BE49-F238E27FC236}">
                <a16:creationId xmlns:a16="http://schemas.microsoft.com/office/drawing/2014/main" id="{3A8F6CD2-4D8A-6A53-533D-7C9C597C8F8B}"/>
              </a:ext>
            </a:extLst>
          </p:cNvPr>
          <p:cNvSpPr>
            <a:spLocks noGrp="1"/>
          </p:cNvSpPr>
          <p:nvPr>
            <p:ph idx="1"/>
          </p:nvPr>
        </p:nvSpPr>
        <p:spPr>
          <a:xfrm>
            <a:off x="838199" y="1825625"/>
            <a:ext cx="10371668" cy="663575"/>
          </a:xfrm>
        </p:spPr>
        <p:txBody>
          <a:bodyPr/>
          <a:lstStyle/>
          <a:p>
            <a:endParaRPr lang="en-US" dirty="0"/>
          </a:p>
        </p:txBody>
      </p:sp>
      <p:pic>
        <p:nvPicPr>
          <p:cNvPr id="12" name="Picture 11">
            <a:extLst>
              <a:ext uri="{FF2B5EF4-FFF2-40B4-BE49-F238E27FC236}">
                <a16:creationId xmlns:a16="http://schemas.microsoft.com/office/drawing/2014/main" id="{5550C710-1065-D253-8D18-E84B746D49FE}"/>
              </a:ext>
            </a:extLst>
          </p:cNvPr>
          <p:cNvPicPr>
            <a:picLocks noChangeAspect="1"/>
          </p:cNvPicPr>
          <p:nvPr/>
        </p:nvPicPr>
        <p:blipFill>
          <a:blip r:embed="rId2"/>
          <a:stretch>
            <a:fillRect/>
          </a:stretch>
        </p:blipFill>
        <p:spPr>
          <a:xfrm>
            <a:off x="1430867" y="2674811"/>
            <a:ext cx="4673600" cy="3505200"/>
          </a:xfrm>
          <a:prstGeom prst="rect">
            <a:avLst/>
          </a:prstGeom>
        </p:spPr>
      </p:pic>
      <p:pic>
        <p:nvPicPr>
          <p:cNvPr id="14" name="Picture 13">
            <a:extLst>
              <a:ext uri="{FF2B5EF4-FFF2-40B4-BE49-F238E27FC236}">
                <a16:creationId xmlns:a16="http://schemas.microsoft.com/office/drawing/2014/main" id="{CB139EDB-A48F-0C57-1D47-3368AF956F93}"/>
              </a:ext>
            </a:extLst>
          </p:cNvPr>
          <p:cNvPicPr>
            <a:picLocks noChangeAspect="1"/>
          </p:cNvPicPr>
          <p:nvPr/>
        </p:nvPicPr>
        <p:blipFill>
          <a:blip r:embed="rId3"/>
          <a:stretch>
            <a:fillRect/>
          </a:stretch>
        </p:blipFill>
        <p:spPr>
          <a:xfrm>
            <a:off x="6307667" y="2674811"/>
            <a:ext cx="4669536" cy="3502152"/>
          </a:xfrm>
          <a:prstGeom prst="rect">
            <a:avLst/>
          </a:prstGeom>
        </p:spPr>
      </p:pic>
      <p:cxnSp>
        <p:nvCxnSpPr>
          <p:cNvPr id="16" name="Straight Connector 15">
            <a:extLst>
              <a:ext uri="{FF2B5EF4-FFF2-40B4-BE49-F238E27FC236}">
                <a16:creationId xmlns:a16="http://schemas.microsoft.com/office/drawing/2014/main" id="{30C3C5BA-B2B6-8DE8-BB31-8533542F81DB}"/>
              </a:ext>
            </a:extLst>
          </p:cNvPr>
          <p:cNvCxnSpPr/>
          <p:nvPr/>
        </p:nvCxnSpPr>
        <p:spPr>
          <a:xfrm>
            <a:off x="2785533" y="3022601"/>
            <a:ext cx="2667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F512B4C-B4B6-0770-076F-F98A57081B0A}"/>
              </a:ext>
            </a:extLst>
          </p:cNvPr>
          <p:cNvSpPr txBox="1"/>
          <p:nvPr/>
        </p:nvSpPr>
        <p:spPr>
          <a:xfrm>
            <a:off x="3556000" y="3022601"/>
            <a:ext cx="832279"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t = 1.4</a:t>
            </a:r>
          </a:p>
        </p:txBody>
      </p:sp>
    </p:spTree>
    <p:extLst>
      <p:ext uri="{BB962C8B-B14F-4D97-AF65-F5344CB8AC3E}">
        <p14:creationId xmlns:p14="http://schemas.microsoft.com/office/powerpoint/2010/main" val="24320371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FEB2B-4B13-E382-7A99-CCD991A16716}"/>
              </a:ext>
            </a:extLst>
          </p:cNvPr>
          <p:cNvSpPr>
            <a:spLocks noGrp="1"/>
          </p:cNvSpPr>
          <p:nvPr>
            <p:ph type="title"/>
          </p:nvPr>
        </p:nvSpPr>
        <p:spPr>
          <a:xfrm>
            <a:off x="800100" y="482250"/>
            <a:ext cx="10515600" cy="939800"/>
          </a:xfrm>
        </p:spPr>
        <p:txBody>
          <a:bodyPr/>
          <a:lstStyle/>
          <a:p>
            <a:r>
              <a:rPr lang="en-US" dirty="0"/>
              <a:t>RSA overview</a:t>
            </a:r>
          </a:p>
        </p:txBody>
      </p:sp>
      <p:sp>
        <p:nvSpPr>
          <p:cNvPr id="3" name="Content Placeholder 2">
            <a:extLst>
              <a:ext uri="{FF2B5EF4-FFF2-40B4-BE49-F238E27FC236}">
                <a16:creationId xmlns:a16="http://schemas.microsoft.com/office/drawing/2014/main" id="{1752CEFE-C7F3-5D61-EDFD-7FC4A2DF7324}"/>
              </a:ext>
            </a:extLst>
          </p:cNvPr>
          <p:cNvSpPr>
            <a:spLocks noGrp="1"/>
          </p:cNvSpPr>
          <p:nvPr>
            <p:ph idx="1"/>
          </p:nvPr>
        </p:nvSpPr>
        <p:spPr>
          <a:xfrm>
            <a:off x="476100" y="1693049"/>
            <a:ext cx="8487900" cy="4470151"/>
          </a:xfrm>
        </p:spPr>
        <p:txBody>
          <a:bodyPr>
            <a:normAutofit/>
          </a:bodyPr>
          <a:lstStyle/>
          <a:p>
            <a:r>
              <a:rPr lang="en-US" sz="3600" dirty="0"/>
              <a:t>Stimulus RDM based on:</a:t>
            </a:r>
          </a:p>
          <a:p>
            <a:pPr lvl="1"/>
            <a:r>
              <a:rPr lang="en-US" sz="3200" dirty="0"/>
              <a:t>Object stimulus vector</a:t>
            </a:r>
          </a:p>
          <a:p>
            <a:pPr lvl="1"/>
            <a:r>
              <a:rPr lang="en-US" sz="3200" dirty="0"/>
              <a:t>Scene stimulus vector</a:t>
            </a:r>
          </a:p>
          <a:p>
            <a:pPr lvl="1"/>
            <a:r>
              <a:rPr lang="en-US" sz="3200" dirty="0"/>
              <a:t>Object/scene abs-difference vector</a:t>
            </a:r>
          </a:p>
          <a:p>
            <a:r>
              <a:rPr lang="en-US" sz="3600" dirty="0"/>
              <a:t>fMRI RDM based on:</a:t>
            </a:r>
          </a:p>
          <a:p>
            <a:pPr lvl="1"/>
            <a:r>
              <a:rPr lang="en-US" sz="3200" dirty="0"/>
              <a:t>Scene-presentation single-trial betas</a:t>
            </a:r>
          </a:p>
          <a:p>
            <a:pPr lvl="1"/>
            <a:r>
              <a:rPr lang="en-US" sz="3200" dirty="0"/>
              <a:t>Object-presentation single-trial betas</a:t>
            </a:r>
          </a:p>
          <a:p>
            <a:endParaRPr lang="en-US" sz="3600" dirty="0"/>
          </a:p>
        </p:txBody>
      </p:sp>
      <p:pic>
        <p:nvPicPr>
          <p:cNvPr id="6" name="Picture 5">
            <a:extLst>
              <a:ext uri="{FF2B5EF4-FFF2-40B4-BE49-F238E27FC236}">
                <a16:creationId xmlns:a16="http://schemas.microsoft.com/office/drawing/2014/main" id="{93B288ED-5577-B808-FB91-897C009D32B7}"/>
              </a:ext>
            </a:extLst>
          </p:cNvPr>
          <p:cNvPicPr>
            <a:picLocks noChangeAspect="1"/>
          </p:cNvPicPr>
          <p:nvPr/>
        </p:nvPicPr>
        <p:blipFill rotWithShape="1">
          <a:blip r:embed="rId2"/>
          <a:srcRect l="26687" t="54667" r="53475" b="14256"/>
          <a:stretch/>
        </p:blipFill>
        <p:spPr>
          <a:xfrm>
            <a:off x="9156702" y="1286463"/>
            <a:ext cx="1176338" cy="1191624"/>
          </a:xfrm>
          <a:prstGeom prst="rect">
            <a:avLst/>
          </a:prstGeom>
        </p:spPr>
      </p:pic>
      <p:pic>
        <p:nvPicPr>
          <p:cNvPr id="7" name="Picture 6">
            <a:extLst>
              <a:ext uri="{FF2B5EF4-FFF2-40B4-BE49-F238E27FC236}">
                <a16:creationId xmlns:a16="http://schemas.microsoft.com/office/drawing/2014/main" id="{315DE59D-1DC3-9286-DB82-91F5D131D244}"/>
              </a:ext>
            </a:extLst>
          </p:cNvPr>
          <p:cNvPicPr>
            <a:picLocks noChangeAspect="1"/>
          </p:cNvPicPr>
          <p:nvPr/>
        </p:nvPicPr>
        <p:blipFill rotWithShape="1">
          <a:blip r:embed="rId2"/>
          <a:srcRect l="50552" t="54668" r="29609" b="14254"/>
          <a:stretch/>
        </p:blipFill>
        <p:spPr>
          <a:xfrm>
            <a:off x="10671148" y="1286463"/>
            <a:ext cx="1176338" cy="1191624"/>
          </a:xfrm>
          <a:prstGeom prst="rect">
            <a:avLst/>
          </a:prstGeom>
        </p:spPr>
      </p:pic>
      <p:sp>
        <p:nvSpPr>
          <p:cNvPr id="8" name="Rectangle 7">
            <a:extLst>
              <a:ext uri="{FF2B5EF4-FFF2-40B4-BE49-F238E27FC236}">
                <a16:creationId xmlns:a16="http://schemas.microsoft.com/office/drawing/2014/main" id="{78269657-AD14-6D58-8F52-314B346E40F8}"/>
              </a:ext>
            </a:extLst>
          </p:cNvPr>
          <p:cNvSpPr/>
          <p:nvPr/>
        </p:nvSpPr>
        <p:spPr>
          <a:xfrm>
            <a:off x="9662865" y="2667959"/>
            <a:ext cx="189411" cy="189411"/>
          </a:xfrm>
          <a:prstGeom prst="rect">
            <a:avLst/>
          </a:prstGeom>
          <a:solidFill>
            <a:schemeClr val="accent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E1CD011-FA63-412D-C2CC-8DA88EAE3BE3}"/>
              </a:ext>
            </a:extLst>
          </p:cNvPr>
          <p:cNvSpPr/>
          <p:nvPr/>
        </p:nvSpPr>
        <p:spPr>
          <a:xfrm>
            <a:off x="9662865" y="2873626"/>
            <a:ext cx="189411" cy="189411"/>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F225A0-2531-819A-FD32-99B40E12EA27}"/>
              </a:ext>
            </a:extLst>
          </p:cNvPr>
          <p:cNvSpPr/>
          <p:nvPr/>
        </p:nvSpPr>
        <p:spPr>
          <a:xfrm>
            <a:off x="9662976" y="3079293"/>
            <a:ext cx="189411" cy="189411"/>
          </a:xfrm>
          <a:prstGeom prst="rect">
            <a:avLst/>
          </a:prstGeom>
          <a:solidFill>
            <a:schemeClr val="accent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F486D94-8F41-8D4A-D9E4-D82AD62EE43C}"/>
              </a:ext>
            </a:extLst>
          </p:cNvPr>
          <p:cNvSpPr/>
          <p:nvPr/>
        </p:nvSpPr>
        <p:spPr>
          <a:xfrm>
            <a:off x="9661776" y="3284960"/>
            <a:ext cx="189411" cy="189411"/>
          </a:xfrm>
          <a:prstGeom prst="rect">
            <a:avLst/>
          </a:prstGeom>
          <a:solidFill>
            <a:schemeClr val="accent1">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B99324E-8C3F-F9A1-CADD-8F465DC4C9E8}"/>
              </a:ext>
            </a:extLst>
          </p:cNvPr>
          <p:cNvSpPr/>
          <p:nvPr/>
        </p:nvSpPr>
        <p:spPr>
          <a:xfrm>
            <a:off x="9662137" y="3490627"/>
            <a:ext cx="189411" cy="189411"/>
          </a:xfrm>
          <a:prstGeom prst="rect">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3D3A0DD-8958-175A-60B0-2376E9F47728}"/>
              </a:ext>
            </a:extLst>
          </p:cNvPr>
          <p:cNvSpPr/>
          <p:nvPr/>
        </p:nvSpPr>
        <p:spPr>
          <a:xfrm>
            <a:off x="9663715" y="3696294"/>
            <a:ext cx="189411" cy="189411"/>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09534C-E17A-A77F-9151-CE78D94487B8}"/>
              </a:ext>
            </a:extLst>
          </p:cNvPr>
          <p:cNvSpPr/>
          <p:nvPr/>
        </p:nvSpPr>
        <p:spPr>
          <a:xfrm>
            <a:off x="11177865" y="2667959"/>
            <a:ext cx="189411" cy="189411"/>
          </a:xfrm>
          <a:prstGeom prst="rect">
            <a:avLst/>
          </a:prstGeom>
          <a:solidFill>
            <a:srgbClr val="FF7C8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04F8DE7-62DE-9771-9AA7-A17BEA53EB83}"/>
              </a:ext>
            </a:extLst>
          </p:cNvPr>
          <p:cNvSpPr/>
          <p:nvPr/>
        </p:nvSpPr>
        <p:spPr>
          <a:xfrm>
            <a:off x="11177865" y="2873626"/>
            <a:ext cx="189411" cy="189411"/>
          </a:xfrm>
          <a:prstGeom prst="rect">
            <a:avLst/>
          </a:prstGeom>
          <a:solidFill>
            <a:srgbClr val="C0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4ED019B-0605-2C8F-AD6C-C22171898583}"/>
              </a:ext>
            </a:extLst>
          </p:cNvPr>
          <p:cNvSpPr/>
          <p:nvPr/>
        </p:nvSpPr>
        <p:spPr>
          <a:xfrm>
            <a:off x="11177976" y="3079293"/>
            <a:ext cx="189411" cy="189411"/>
          </a:xfrm>
          <a:prstGeom prst="rect">
            <a:avLst/>
          </a:prstGeom>
          <a:solidFill>
            <a:srgbClr val="FFCC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4A74018-6484-5ABC-50F3-590F76F8783A}"/>
              </a:ext>
            </a:extLst>
          </p:cNvPr>
          <p:cNvSpPr/>
          <p:nvPr/>
        </p:nvSpPr>
        <p:spPr>
          <a:xfrm>
            <a:off x="11176776" y="3284960"/>
            <a:ext cx="189411" cy="189411"/>
          </a:xfrm>
          <a:prstGeom prst="rect">
            <a:avLst/>
          </a:prstGeom>
          <a:solidFill>
            <a:srgbClr val="FF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798845C-F2D4-D98B-25F3-8D208BCF6E72}"/>
              </a:ext>
            </a:extLst>
          </p:cNvPr>
          <p:cNvSpPr/>
          <p:nvPr/>
        </p:nvSpPr>
        <p:spPr>
          <a:xfrm>
            <a:off x="11177137" y="3490627"/>
            <a:ext cx="189411" cy="189411"/>
          </a:xfrm>
          <a:prstGeom prst="rect">
            <a:avLst/>
          </a:prstGeom>
          <a:solidFill>
            <a:srgbClr val="FFCCCC"/>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CA56399-8A5A-CE07-1B8F-F8DEBBB9C86F}"/>
              </a:ext>
            </a:extLst>
          </p:cNvPr>
          <p:cNvSpPr/>
          <p:nvPr/>
        </p:nvSpPr>
        <p:spPr>
          <a:xfrm>
            <a:off x="11178715" y="3696294"/>
            <a:ext cx="189411" cy="189411"/>
          </a:xfrm>
          <a:prstGeom prst="rect">
            <a:avLst/>
          </a:prstGeom>
          <a:solidFill>
            <a:srgbClr val="C0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A45BF95-4961-CBE1-1673-B0798392F337}"/>
              </a:ext>
            </a:extLst>
          </p:cNvPr>
          <p:cNvSpPr txBox="1"/>
          <p:nvPr/>
        </p:nvSpPr>
        <p:spPr>
          <a:xfrm>
            <a:off x="9266400" y="3938178"/>
            <a:ext cx="988193" cy="646331"/>
          </a:xfrm>
          <a:prstGeom prst="rect">
            <a:avLst/>
          </a:prstGeom>
          <a:noFill/>
        </p:spPr>
        <p:txBody>
          <a:bodyPr wrap="square" rtlCol="0">
            <a:spAutoFit/>
          </a:bodyPr>
          <a:lstStyle/>
          <a:p>
            <a:pPr algn="ctr"/>
            <a:r>
              <a:rPr lang="en-US" dirty="0">
                <a:solidFill>
                  <a:srgbClr val="0070C0"/>
                </a:solidFill>
                <a:latin typeface="Arial" panose="020B0604020202020204" pitchFamily="34" charset="0"/>
                <a:cs typeface="Arial" panose="020B0604020202020204" pitchFamily="34" charset="0"/>
              </a:rPr>
              <a:t>Scene</a:t>
            </a:r>
          </a:p>
          <a:p>
            <a:pPr algn="ctr"/>
            <a:r>
              <a:rPr lang="en-US" dirty="0">
                <a:solidFill>
                  <a:srgbClr val="0070C0"/>
                </a:solidFill>
                <a:latin typeface="Arial" panose="020B0604020202020204" pitchFamily="34" charset="0"/>
                <a:cs typeface="Arial" panose="020B0604020202020204" pitchFamily="34" charset="0"/>
              </a:rPr>
              <a:t>fMRI</a:t>
            </a:r>
          </a:p>
        </p:txBody>
      </p:sp>
      <p:sp>
        <p:nvSpPr>
          <p:cNvPr id="22" name="TextBox 21">
            <a:extLst>
              <a:ext uri="{FF2B5EF4-FFF2-40B4-BE49-F238E27FC236}">
                <a16:creationId xmlns:a16="http://schemas.microsoft.com/office/drawing/2014/main" id="{BD34B566-45B6-3974-CC61-8E01BC3F1A35}"/>
              </a:ext>
            </a:extLst>
          </p:cNvPr>
          <p:cNvSpPr txBox="1"/>
          <p:nvPr/>
        </p:nvSpPr>
        <p:spPr>
          <a:xfrm>
            <a:off x="10798814" y="3938178"/>
            <a:ext cx="988193" cy="646331"/>
          </a:xfrm>
          <a:prstGeom prst="rect">
            <a:avLst/>
          </a:prstGeom>
          <a:noFill/>
        </p:spPr>
        <p:txBody>
          <a:bodyPr wrap="square" rtlCol="0">
            <a:spAutoFit/>
          </a:bodyPr>
          <a:lstStyle/>
          <a:p>
            <a:pPr algn="ctr"/>
            <a:r>
              <a:rPr lang="en-US" dirty="0">
                <a:solidFill>
                  <a:srgbClr val="C00000"/>
                </a:solidFill>
                <a:latin typeface="Arial" panose="020B0604020202020204" pitchFamily="34" charset="0"/>
                <a:cs typeface="Arial" panose="020B0604020202020204" pitchFamily="34" charset="0"/>
              </a:rPr>
              <a:t>Object</a:t>
            </a:r>
          </a:p>
          <a:p>
            <a:pPr algn="ctr"/>
            <a:r>
              <a:rPr lang="en-US" dirty="0">
                <a:solidFill>
                  <a:srgbClr val="C00000"/>
                </a:solidFill>
                <a:latin typeface="Arial" panose="020B0604020202020204" pitchFamily="34" charset="0"/>
                <a:cs typeface="Arial" panose="020B0604020202020204" pitchFamily="34" charset="0"/>
              </a:rPr>
              <a:t>fMRI</a:t>
            </a:r>
          </a:p>
        </p:txBody>
      </p:sp>
      <p:cxnSp>
        <p:nvCxnSpPr>
          <p:cNvPr id="23" name="Straight Arrow Connector 22">
            <a:extLst>
              <a:ext uri="{FF2B5EF4-FFF2-40B4-BE49-F238E27FC236}">
                <a16:creationId xmlns:a16="http://schemas.microsoft.com/office/drawing/2014/main" id="{01A344DF-26EF-A5CC-D10F-190B9ABA17F4}"/>
              </a:ext>
            </a:extLst>
          </p:cNvPr>
          <p:cNvCxnSpPr>
            <a:cxnSpLocks/>
          </p:cNvCxnSpPr>
          <p:nvPr/>
        </p:nvCxnSpPr>
        <p:spPr>
          <a:xfrm>
            <a:off x="9748983" y="4663709"/>
            <a:ext cx="0" cy="604911"/>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1060453-1B0A-07A1-D2E2-E7DAF86362A6}"/>
              </a:ext>
            </a:extLst>
          </p:cNvPr>
          <p:cNvCxnSpPr>
            <a:cxnSpLocks/>
          </p:cNvCxnSpPr>
          <p:nvPr/>
        </p:nvCxnSpPr>
        <p:spPr>
          <a:xfrm>
            <a:off x="11292910" y="4663709"/>
            <a:ext cx="0" cy="60491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CA8B32EC-010F-EDED-C91A-AB0FB4A40607}"/>
              </a:ext>
            </a:extLst>
          </p:cNvPr>
          <p:cNvSpPr txBox="1"/>
          <p:nvPr/>
        </p:nvSpPr>
        <p:spPr>
          <a:xfrm>
            <a:off x="9266400" y="5322648"/>
            <a:ext cx="988193" cy="646331"/>
          </a:xfrm>
          <a:prstGeom prst="rect">
            <a:avLst/>
          </a:prstGeom>
          <a:noFill/>
        </p:spPr>
        <p:txBody>
          <a:bodyPr wrap="square" rtlCol="0">
            <a:spAutoFit/>
          </a:bodyPr>
          <a:lstStyle/>
          <a:p>
            <a:pPr algn="ctr"/>
            <a:r>
              <a:rPr lang="en-US" dirty="0">
                <a:solidFill>
                  <a:srgbClr val="0070C0"/>
                </a:solidFill>
                <a:latin typeface="Arial" panose="020B0604020202020204" pitchFamily="34" charset="0"/>
                <a:cs typeface="Arial" panose="020B0604020202020204" pitchFamily="34" charset="0"/>
              </a:rPr>
              <a:t>Scene</a:t>
            </a:r>
          </a:p>
          <a:p>
            <a:pPr algn="ctr"/>
            <a:r>
              <a:rPr lang="en-US" dirty="0">
                <a:solidFill>
                  <a:srgbClr val="0070C0"/>
                </a:solidFill>
                <a:latin typeface="Arial" panose="020B0604020202020204" pitchFamily="34" charset="0"/>
                <a:cs typeface="Arial" panose="020B0604020202020204" pitchFamily="34" charset="0"/>
              </a:rPr>
              <a:t>RDM</a:t>
            </a:r>
          </a:p>
        </p:txBody>
      </p:sp>
      <p:sp>
        <p:nvSpPr>
          <p:cNvPr id="28" name="TextBox 27">
            <a:extLst>
              <a:ext uri="{FF2B5EF4-FFF2-40B4-BE49-F238E27FC236}">
                <a16:creationId xmlns:a16="http://schemas.microsoft.com/office/drawing/2014/main" id="{77EF4FBF-5F57-BE7B-4E97-86BCF7C420CF}"/>
              </a:ext>
            </a:extLst>
          </p:cNvPr>
          <p:cNvSpPr txBox="1"/>
          <p:nvPr/>
        </p:nvSpPr>
        <p:spPr>
          <a:xfrm>
            <a:off x="10798814" y="5322648"/>
            <a:ext cx="988193" cy="646331"/>
          </a:xfrm>
          <a:prstGeom prst="rect">
            <a:avLst/>
          </a:prstGeom>
          <a:noFill/>
        </p:spPr>
        <p:txBody>
          <a:bodyPr wrap="square" rtlCol="0">
            <a:spAutoFit/>
          </a:bodyPr>
          <a:lstStyle/>
          <a:p>
            <a:pPr algn="ctr"/>
            <a:r>
              <a:rPr lang="en-US" dirty="0">
                <a:solidFill>
                  <a:srgbClr val="C00000"/>
                </a:solidFill>
                <a:latin typeface="Arial" panose="020B0604020202020204" pitchFamily="34" charset="0"/>
                <a:cs typeface="Arial" panose="020B0604020202020204" pitchFamily="34" charset="0"/>
              </a:rPr>
              <a:t>Object</a:t>
            </a:r>
          </a:p>
          <a:p>
            <a:pPr algn="ctr"/>
            <a:r>
              <a:rPr lang="en-US" dirty="0">
                <a:solidFill>
                  <a:srgbClr val="C00000"/>
                </a:solidFill>
                <a:latin typeface="Arial" panose="020B0604020202020204" pitchFamily="34" charset="0"/>
                <a:cs typeface="Arial" panose="020B0604020202020204" pitchFamily="34" charset="0"/>
              </a:rPr>
              <a:t>RDM</a:t>
            </a:r>
          </a:p>
        </p:txBody>
      </p:sp>
    </p:spTree>
    <p:extLst>
      <p:ext uri="{BB962C8B-B14F-4D97-AF65-F5344CB8AC3E}">
        <p14:creationId xmlns:p14="http://schemas.microsoft.com/office/powerpoint/2010/main" val="159647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p:bldP spid="22" grpId="0"/>
      <p:bldP spid="27" grpId="0"/>
      <p:bldP spid="28" grpId="0"/>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35657-DA82-192C-4BC7-A11E387C8659}"/>
              </a:ext>
            </a:extLst>
          </p:cNvPr>
          <p:cNvSpPr>
            <a:spLocks noGrp="1"/>
          </p:cNvSpPr>
          <p:nvPr>
            <p:ph type="title"/>
          </p:nvPr>
        </p:nvSpPr>
        <p:spPr/>
        <p:txBody>
          <a:bodyPr/>
          <a:lstStyle/>
          <a:p>
            <a:r>
              <a:rPr lang="en-US" dirty="0"/>
              <a:t>Further temporal trend testing</a:t>
            </a:r>
          </a:p>
        </p:txBody>
      </p:sp>
      <p:sp>
        <p:nvSpPr>
          <p:cNvPr id="3" name="Content Placeholder 2">
            <a:extLst>
              <a:ext uri="{FF2B5EF4-FFF2-40B4-BE49-F238E27FC236}">
                <a16:creationId xmlns:a16="http://schemas.microsoft.com/office/drawing/2014/main" id="{1BDD802F-0399-CC87-099A-CEB06F735A13}"/>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C975BE7F-D06B-A450-7A5E-CC384DB3C9F8}"/>
              </a:ext>
            </a:extLst>
          </p:cNvPr>
          <p:cNvPicPr>
            <a:picLocks noChangeAspect="1"/>
          </p:cNvPicPr>
          <p:nvPr/>
        </p:nvPicPr>
        <p:blipFill rotWithShape="1">
          <a:blip r:embed="rId2"/>
          <a:srcRect t="2598"/>
          <a:stretch/>
        </p:blipFill>
        <p:spPr>
          <a:xfrm>
            <a:off x="279133" y="2614757"/>
            <a:ext cx="12192000" cy="3878118"/>
          </a:xfrm>
          <a:prstGeom prst="rect">
            <a:avLst/>
          </a:prstGeom>
        </p:spPr>
      </p:pic>
    </p:spTree>
    <p:extLst>
      <p:ext uri="{BB962C8B-B14F-4D97-AF65-F5344CB8AC3E}">
        <p14:creationId xmlns:p14="http://schemas.microsoft.com/office/powerpoint/2010/main" val="7556284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3656A-B113-00B4-2C2B-B4E8AF463F90}"/>
              </a:ext>
            </a:extLst>
          </p:cNvPr>
          <p:cNvSpPr>
            <a:spLocks noGrp="1"/>
          </p:cNvSpPr>
          <p:nvPr>
            <p:ph type="title"/>
          </p:nvPr>
        </p:nvSpPr>
        <p:spPr>
          <a:xfrm>
            <a:off x="838200" y="25086"/>
            <a:ext cx="10515600" cy="1325563"/>
          </a:xfrm>
        </p:spPr>
        <p:txBody>
          <a:bodyPr/>
          <a:lstStyle/>
          <a:p>
            <a:r>
              <a:rPr lang="en-US" dirty="0"/>
              <a:t>Stimulus RSM/RDMs</a:t>
            </a:r>
          </a:p>
        </p:txBody>
      </p:sp>
      <p:sp>
        <p:nvSpPr>
          <p:cNvPr id="3" name="Content Placeholder 2">
            <a:extLst>
              <a:ext uri="{FF2B5EF4-FFF2-40B4-BE49-F238E27FC236}">
                <a16:creationId xmlns:a16="http://schemas.microsoft.com/office/drawing/2014/main" id="{5647F4C0-E858-3747-E631-FE1DEA6E8E4A}"/>
              </a:ext>
            </a:extLst>
          </p:cNvPr>
          <p:cNvSpPr>
            <a:spLocks noGrp="1"/>
          </p:cNvSpPr>
          <p:nvPr>
            <p:ph idx="1"/>
          </p:nvPr>
        </p:nvSpPr>
        <p:spPr>
          <a:xfrm>
            <a:off x="947783" y="5878191"/>
            <a:ext cx="10515600" cy="588963"/>
          </a:xfrm>
        </p:spPr>
        <p:txBody>
          <a:bodyPr>
            <a:normAutofit fontScale="77500" lnSpcReduction="20000"/>
          </a:bodyPr>
          <a:lstStyle/>
          <a:p>
            <a:r>
              <a:rPr lang="en-US" dirty="0"/>
              <a:t>Although not visualized here, the congruent/incongruent/neutral conditions don’t have much bearing on the vectors or RSMs</a:t>
            </a:r>
          </a:p>
        </p:txBody>
      </p:sp>
      <p:pic>
        <p:nvPicPr>
          <p:cNvPr id="15" name="Picture 14">
            <a:extLst>
              <a:ext uri="{FF2B5EF4-FFF2-40B4-BE49-F238E27FC236}">
                <a16:creationId xmlns:a16="http://schemas.microsoft.com/office/drawing/2014/main" id="{3953EFF8-37D1-8AD3-84BF-2D1F8081F600}"/>
              </a:ext>
            </a:extLst>
          </p:cNvPr>
          <p:cNvPicPr>
            <a:picLocks noChangeAspect="1"/>
          </p:cNvPicPr>
          <p:nvPr/>
        </p:nvPicPr>
        <p:blipFill rotWithShape="1">
          <a:blip r:embed="rId3"/>
          <a:srcRect l="5953"/>
          <a:stretch/>
        </p:blipFill>
        <p:spPr>
          <a:xfrm>
            <a:off x="147320" y="2387281"/>
            <a:ext cx="4242526" cy="3383280"/>
          </a:xfrm>
          <a:prstGeom prst="rect">
            <a:avLst/>
          </a:prstGeom>
        </p:spPr>
      </p:pic>
      <p:pic>
        <p:nvPicPr>
          <p:cNvPr id="17" name="Picture 16">
            <a:extLst>
              <a:ext uri="{FF2B5EF4-FFF2-40B4-BE49-F238E27FC236}">
                <a16:creationId xmlns:a16="http://schemas.microsoft.com/office/drawing/2014/main" id="{C36135DA-83D9-57DA-3DB1-1658F085BF7D}"/>
              </a:ext>
            </a:extLst>
          </p:cNvPr>
          <p:cNvPicPr>
            <a:picLocks noChangeAspect="1"/>
          </p:cNvPicPr>
          <p:nvPr/>
        </p:nvPicPr>
        <p:blipFill>
          <a:blip r:embed="rId4"/>
          <a:stretch>
            <a:fillRect/>
          </a:stretch>
        </p:blipFill>
        <p:spPr>
          <a:xfrm>
            <a:off x="4011939" y="2387281"/>
            <a:ext cx="4511040" cy="3383280"/>
          </a:xfrm>
          <a:prstGeom prst="rect">
            <a:avLst/>
          </a:prstGeom>
        </p:spPr>
      </p:pic>
      <p:pic>
        <p:nvPicPr>
          <p:cNvPr id="13" name="Picture 12">
            <a:extLst>
              <a:ext uri="{FF2B5EF4-FFF2-40B4-BE49-F238E27FC236}">
                <a16:creationId xmlns:a16="http://schemas.microsoft.com/office/drawing/2014/main" id="{810B223A-2B5E-A9A7-9476-487B8E87A49C}"/>
              </a:ext>
            </a:extLst>
          </p:cNvPr>
          <p:cNvPicPr>
            <a:picLocks noChangeAspect="1"/>
          </p:cNvPicPr>
          <p:nvPr/>
        </p:nvPicPr>
        <p:blipFill rotWithShape="1">
          <a:blip r:embed="rId5"/>
          <a:srcRect r="7143"/>
          <a:stretch/>
        </p:blipFill>
        <p:spPr>
          <a:xfrm>
            <a:off x="7894320" y="2387281"/>
            <a:ext cx="4188823" cy="3383280"/>
          </a:xfrm>
          <a:prstGeom prst="rect">
            <a:avLst/>
          </a:prstGeom>
        </p:spPr>
      </p:pic>
      <p:sp>
        <p:nvSpPr>
          <p:cNvPr id="21" name="Content Placeholder 2">
            <a:extLst>
              <a:ext uri="{FF2B5EF4-FFF2-40B4-BE49-F238E27FC236}">
                <a16:creationId xmlns:a16="http://schemas.microsoft.com/office/drawing/2014/main" id="{F568BBB0-ADDC-25C4-25E9-7AE8BCF39A94}"/>
              </a:ext>
            </a:extLst>
          </p:cNvPr>
          <p:cNvSpPr txBox="1">
            <a:spLocks/>
          </p:cNvSpPr>
          <p:nvPr/>
        </p:nvSpPr>
        <p:spPr>
          <a:xfrm>
            <a:off x="1062083" y="1350649"/>
            <a:ext cx="10515600" cy="10760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Perceptual representations (1</a:t>
            </a:r>
            <a:r>
              <a:rPr lang="en-US" baseline="30000" dirty="0"/>
              <a:t>st</a:t>
            </a:r>
            <a:r>
              <a:rPr lang="en-US" dirty="0"/>
              <a:t> layer of DNN)</a:t>
            </a:r>
          </a:p>
          <a:p>
            <a:r>
              <a:rPr lang="en-US" dirty="0"/>
              <a:t>The difference vector RSM doesn’t look particularly weird</a:t>
            </a:r>
          </a:p>
        </p:txBody>
      </p:sp>
    </p:spTree>
    <p:extLst>
      <p:ext uri="{BB962C8B-B14F-4D97-AF65-F5344CB8AC3E}">
        <p14:creationId xmlns:p14="http://schemas.microsoft.com/office/powerpoint/2010/main" val="24719769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Results</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8809920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04030-CA2D-C7E7-E4C8-0FF6DB28E716}"/>
              </a:ext>
            </a:extLst>
          </p:cNvPr>
          <p:cNvSpPr>
            <a:spLocks noGrp="1"/>
          </p:cNvSpPr>
          <p:nvPr>
            <p:ph type="title"/>
          </p:nvPr>
        </p:nvSpPr>
        <p:spPr/>
        <p:txBody>
          <a:bodyPr/>
          <a:lstStyle/>
          <a:p>
            <a:r>
              <a:rPr lang="en-US" dirty="0"/>
              <a:t>Univariate findings to pad things out?</a:t>
            </a:r>
          </a:p>
        </p:txBody>
      </p:sp>
      <p:sp>
        <p:nvSpPr>
          <p:cNvPr id="3" name="Content Placeholder 2">
            <a:extLst>
              <a:ext uri="{FF2B5EF4-FFF2-40B4-BE49-F238E27FC236}">
                <a16:creationId xmlns:a16="http://schemas.microsoft.com/office/drawing/2014/main" id="{759B19A3-092F-C23C-6BBD-39F359AB48E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0275765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94C0307-ED64-0827-0AC2-8C66081A177A}"/>
              </a:ext>
            </a:extLst>
          </p:cNvPr>
          <p:cNvPicPr>
            <a:picLocks noChangeAspect="1"/>
          </p:cNvPicPr>
          <p:nvPr/>
        </p:nvPicPr>
        <p:blipFill>
          <a:blip r:embed="rId3"/>
          <a:stretch>
            <a:fillRect/>
          </a:stretch>
        </p:blipFill>
        <p:spPr>
          <a:xfrm>
            <a:off x="289181" y="1520751"/>
            <a:ext cx="6096000" cy="4572000"/>
          </a:xfrm>
          <a:prstGeom prst="rect">
            <a:avLst/>
          </a:prstGeom>
        </p:spPr>
      </p:pic>
      <p:sp>
        <p:nvSpPr>
          <p:cNvPr id="2" name="Title 1">
            <a:extLst>
              <a:ext uri="{FF2B5EF4-FFF2-40B4-BE49-F238E27FC236}">
                <a16:creationId xmlns:a16="http://schemas.microsoft.com/office/drawing/2014/main" id="{5B52E04B-B629-C701-6FF7-C3CE963702B1}"/>
              </a:ext>
            </a:extLst>
          </p:cNvPr>
          <p:cNvSpPr>
            <a:spLocks noGrp="1"/>
          </p:cNvSpPr>
          <p:nvPr>
            <p:ph type="title"/>
          </p:nvPr>
        </p:nvSpPr>
        <p:spPr>
          <a:xfrm>
            <a:off x="838199" y="166502"/>
            <a:ext cx="10515600" cy="870155"/>
          </a:xfrm>
        </p:spPr>
        <p:txBody>
          <a:bodyPr/>
          <a:lstStyle/>
          <a:p>
            <a:r>
              <a:rPr lang="en-US" dirty="0"/>
              <a:t>Result 1A: Schema representation</a:t>
            </a:r>
          </a:p>
        </p:txBody>
      </p:sp>
      <p:pic>
        <p:nvPicPr>
          <p:cNvPr id="4" name="Picture 3">
            <a:extLst>
              <a:ext uri="{FF2B5EF4-FFF2-40B4-BE49-F238E27FC236}">
                <a16:creationId xmlns:a16="http://schemas.microsoft.com/office/drawing/2014/main" id="{B5B5C454-0847-D5A3-539E-785DCAA01170}"/>
              </a:ext>
            </a:extLst>
          </p:cNvPr>
          <p:cNvPicPr>
            <a:picLocks noChangeAspect="1"/>
          </p:cNvPicPr>
          <p:nvPr/>
        </p:nvPicPr>
        <p:blipFill rotWithShape="1">
          <a:blip r:embed="rId4"/>
          <a:srcRect l="26687" t="54667" r="53475" b="14256"/>
          <a:stretch/>
        </p:blipFill>
        <p:spPr>
          <a:xfrm>
            <a:off x="60374" y="572830"/>
            <a:ext cx="1176338" cy="1191624"/>
          </a:xfrm>
          <a:prstGeom prst="rect">
            <a:avLst/>
          </a:prstGeom>
        </p:spPr>
      </p:pic>
      <p:pic>
        <p:nvPicPr>
          <p:cNvPr id="10" name="Picture 9">
            <a:extLst>
              <a:ext uri="{FF2B5EF4-FFF2-40B4-BE49-F238E27FC236}">
                <a16:creationId xmlns:a16="http://schemas.microsoft.com/office/drawing/2014/main" id="{9FBEECFC-4E93-B729-18A9-FD7BA45DFF67}"/>
              </a:ext>
            </a:extLst>
          </p:cNvPr>
          <p:cNvPicPr>
            <a:picLocks noChangeAspect="1"/>
          </p:cNvPicPr>
          <p:nvPr/>
        </p:nvPicPr>
        <p:blipFill>
          <a:blip r:embed="rId5"/>
          <a:stretch>
            <a:fillRect/>
          </a:stretch>
        </p:blipFill>
        <p:spPr>
          <a:xfrm>
            <a:off x="5987006" y="1520751"/>
            <a:ext cx="6096000" cy="4572000"/>
          </a:xfrm>
          <a:prstGeom prst="rect">
            <a:avLst/>
          </a:prstGeom>
        </p:spPr>
      </p:pic>
      <p:sp>
        <p:nvSpPr>
          <p:cNvPr id="8" name="Content Placeholder 2">
            <a:extLst>
              <a:ext uri="{FF2B5EF4-FFF2-40B4-BE49-F238E27FC236}">
                <a16:creationId xmlns:a16="http://schemas.microsoft.com/office/drawing/2014/main" id="{8D59F1ED-F06D-0840-2805-1E0D028EFAC8}"/>
              </a:ext>
            </a:extLst>
          </p:cNvPr>
          <p:cNvSpPr txBox="1">
            <a:spLocks/>
          </p:cNvSpPr>
          <p:nvPr/>
        </p:nvSpPr>
        <p:spPr>
          <a:xfrm>
            <a:off x="1272805" y="1168642"/>
            <a:ext cx="4322366" cy="57015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t>Perceptual scene decoding</a:t>
            </a:r>
          </a:p>
        </p:txBody>
      </p:sp>
      <p:sp>
        <p:nvSpPr>
          <p:cNvPr id="3" name="Content Placeholder 2">
            <a:extLst>
              <a:ext uri="{FF2B5EF4-FFF2-40B4-BE49-F238E27FC236}">
                <a16:creationId xmlns:a16="http://schemas.microsoft.com/office/drawing/2014/main" id="{4C6CDAC4-F965-383B-7BB2-7957DB76768B}"/>
              </a:ext>
            </a:extLst>
          </p:cNvPr>
          <p:cNvSpPr>
            <a:spLocks noGrp="1"/>
          </p:cNvSpPr>
          <p:nvPr>
            <p:ph idx="1"/>
          </p:nvPr>
        </p:nvSpPr>
        <p:spPr>
          <a:xfrm>
            <a:off x="6770829" y="1187803"/>
            <a:ext cx="4702356" cy="570156"/>
          </a:xfrm>
        </p:spPr>
        <p:txBody>
          <a:bodyPr>
            <a:normAutofit/>
          </a:bodyPr>
          <a:lstStyle/>
          <a:p>
            <a:pPr marL="0" indent="0" algn="ctr">
              <a:buNone/>
            </a:pPr>
            <a:r>
              <a:rPr lang="en-US" dirty="0"/>
              <a:t>Semantic scene decoding</a:t>
            </a:r>
          </a:p>
        </p:txBody>
      </p:sp>
      <p:sp>
        <p:nvSpPr>
          <p:cNvPr id="12" name="TextBox 11">
            <a:extLst>
              <a:ext uri="{FF2B5EF4-FFF2-40B4-BE49-F238E27FC236}">
                <a16:creationId xmlns:a16="http://schemas.microsoft.com/office/drawing/2014/main" id="{F5E13E75-8F47-C208-EADC-6BDF1ADCEFF0}"/>
              </a:ext>
            </a:extLst>
          </p:cNvPr>
          <p:cNvSpPr txBox="1"/>
          <p:nvPr/>
        </p:nvSpPr>
        <p:spPr>
          <a:xfrm>
            <a:off x="4243408" y="6250435"/>
            <a:ext cx="4283545" cy="523220"/>
          </a:xfrm>
          <a:prstGeom prst="rect">
            <a:avLst/>
          </a:prstGeom>
          <a:noFill/>
        </p:spPr>
        <p:txBody>
          <a:bodyPr wrap="none" rtlCol="0">
            <a:spAutoFit/>
          </a:bodyPr>
          <a:lstStyle/>
          <a:p>
            <a:r>
              <a:rPr lang="en-US" sz="2800" dirty="0">
                <a:latin typeface="Arial" panose="020B0604020202020204" pitchFamily="34" charset="0"/>
                <a:cs typeface="Arial" panose="020B0604020202020204" pitchFamily="34" charset="0"/>
              </a:rPr>
              <a:t>Establishes the prediction</a:t>
            </a:r>
          </a:p>
        </p:txBody>
      </p:sp>
      <p:sp>
        <p:nvSpPr>
          <p:cNvPr id="13" name="Oval 12">
            <a:extLst>
              <a:ext uri="{FF2B5EF4-FFF2-40B4-BE49-F238E27FC236}">
                <a16:creationId xmlns:a16="http://schemas.microsoft.com/office/drawing/2014/main" id="{2728BE08-E5C7-8D5E-EE89-6C88F88B0DE3}"/>
              </a:ext>
            </a:extLst>
          </p:cNvPr>
          <p:cNvSpPr/>
          <p:nvPr/>
        </p:nvSpPr>
        <p:spPr>
          <a:xfrm>
            <a:off x="1049511" y="2628000"/>
            <a:ext cx="858489" cy="176024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FDDB7D3-CEF3-F5C3-8EC1-BCB430634C8C}"/>
              </a:ext>
            </a:extLst>
          </p:cNvPr>
          <p:cNvSpPr txBox="1"/>
          <p:nvPr/>
        </p:nvSpPr>
        <p:spPr>
          <a:xfrm>
            <a:off x="1736697" y="2455886"/>
            <a:ext cx="800219" cy="461665"/>
          </a:xfrm>
          <a:prstGeom prst="rect">
            <a:avLst/>
          </a:prstGeom>
          <a:noFill/>
        </p:spPr>
        <p:txBody>
          <a:bodyPr wrap="none" rtlCol="0">
            <a:spAutoFit/>
          </a:bodyPr>
          <a:lstStyle/>
          <a:p>
            <a:r>
              <a:rPr lang="en-US" sz="2400" dirty="0">
                <a:solidFill>
                  <a:srgbClr val="FF0000"/>
                </a:solidFill>
                <a:latin typeface="Arial" panose="020B0604020202020204" pitchFamily="34" charset="0"/>
                <a:cs typeface="Arial" panose="020B0604020202020204" pitchFamily="34" charset="0"/>
              </a:rPr>
              <a:t>PFC</a:t>
            </a:r>
          </a:p>
        </p:txBody>
      </p:sp>
    </p:spTree>
    <p:extLst>
      <p:ext uri="{BB962C8B-B14F-4D97-AF65-F5344CB8AC3E}">
        <p14:creationId xmlns:p14="http://schemas.microsoft.com/office/powerpoint/2010/main" val="2466956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2E04B-B629-C701-6FF7-C3CE963702B1}"/>
              </a:ext>
            </a:extLst>
          </p:cNvPr>
          <p:cNvSpPr>
            <a:spLocks noGrp="1"/>
          </p:cNvSpPr>
          <p:nvPr>
            <p:ph type="title"/>
          </p:nvPr>
        </p:nvSpPr>
        <p:spPr>
          <a:xfrm>
            <a:off x="838199" y="166502"/>
            <a:ext cx="10515600" cy="870155"/>
          </a:xfrm>
        </p:spPr>
        <p:txBody>
          <a:bodyPr/>
          <a:lstStyle/>
          <a:p>
            <a:r>
              <a:rPr lang="en-US" dirty="0"/>
              <a:t>Result 1C/1D: Object representation</a:t>
            </a:r>
          </a:p>
        </p:txBody>
      </p:sp>
      <p:sp>
        <p:nvSpPr>
          <p:cNvPr id="17" name="Content Placeholder 2">
            <a:extLst>
              <a:ext uri="{FF2B5EF4-FFF2-40B4-BE49-F238E27FC236}">
                <a16:creationId xmlns:a16="http://schemas.microsoft.com/office/drawing/2014/main" id="{0C0A3CD8-10F5-F7CD-247C-4982C4FCD6CF}"/>
              </a:ext>
            </a:extLst>
          </p:cNvPr>
          <p:cNvSpPr txBox="1">
            <a:spLocks/>
          </p:cNvSpPr>
          <p:nvPr/>
        </p:nvSpPr>
        <p:spPr>
          <a:xfrm>
            <a:off x="2448910" y="6271600"/>
            <a:ext cx="7294179" cy="5701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400" dirty="0"/>
              <a:t>Reproducing patterns from </a:t>
            </a:r>
            <a:r>
              <a:rPr lang="en-US" sz="2400" dirty="0" err="1"/>
              <a:t>Lifu’s</a:t>
            </a:r>
            <a:r>
              <a:rPr lang="en-US" sz="2400" dirty="0"/>
              <a:t> thesis</a:t>
            </a:r>
          </a:p>
        </p:txBody>
      </p:sp>
      <p:sp>
        <p:nvSpPr>
          <p:cNvPr id="8" name="Content Placeholder 2">
            <a:extLst>
              <a:ext uri="{FF2B5EF4-FFF2-40B4-BE49-F238E27FC236}">
                <a16:creationId xmlns:a16="http://schemas.microsoft.com/office/drawing/2014/main" id="{8D59F1ED-F06D-0840-2805-1E0D028EFAC8}"/>
              </a:ext>
            </a:extLst>
          </p:cNvPr>
          <p:cNvSpPr txBox="1">
            <a:spLocks/>
          </p:cNvSpPr>
          <p:nvPr/>
        </p:nvSpPr>
        <p:spPr>
          <a:xfrm>
            <a:off x="1397000" y="1168642"/>
            <a:ext cx="4210697" cy="5701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400" dirty="0"/>
              <a:t>Perceptual object decoding</a:t>
            </a:r>
          </a:p>
        </p:txBody>
      </p:sp>
      <p:sp>
        <p:nvSpPr>
          <p:cNvPr id="3" name="Content Placeholder 2">
            <a:extLst>
              <a:ext uri="{FF2B5EF4-FFF2-40B4-BE49-F238E27FC236}">
                <a16:creationId xmlns:a16="http://schemas.microsoft.com/office/drawing/2014/main" id="{4C6CDAC4-F965-383B-7BB2-7957DB76768B}"/>
              </a:ext>
            </a:extLst>
          </p:cNvPr>
          <p:cNvSpPr>
            <a:spLocks noGrp="1"/>
          </p:cNvSpPr>
          <p:nvPr>
            <p:ph idx="1"/>
          </p:nvPr>
        </p:nvSpPr>
        <p:spPr>
          <a:xfrm>
            <a:off x="6680201" y="1187803"/>
            <a:ext cx="4805510" cy="570156"/>
          </a:xfrm>
        </p:spPr>
        <p:txBody>
          <a:bodyPr>
            <a:normAutofit/>
          </a:bodyPr>
          <a:lstStyle/>
          <a:p>
            <a:pPr marL="0" indent="0" algn="ctr">
              <a:buNone/>
            </a:pPr>
            <a:r>
              <a:rPr lang="en-US" sz="2400" dirty="0"/>
              <a:t>Semantic object decoding</a:t>
            </a:r>
          </a:p>
        </p:txBody>
      </p:sp>
      <p:pic>
        <p:nvPicPr>
          <p:cNvPr id="18" name="Picture 17">
            <a:extLst>
              <a:ext uri="{FF2B5EF4-FFF2-40B4-BE49-F238E27FC236}">
                <a16:creationId xmlns:a16="http://schemas.microsoft.com/office/drawing/2014/main" id="{704CAE8B-86A9-C9E3-84F2-7D7EE788E288}"/>
              </a:ext>
            </a:extLst>
          </p:cNvPr>
          <p:cNvPicPr>
            <a:picLocks noChangeAspect="1"/>
          </p:cNvPicPr>
          <p:nvPr/>
        </p:nvPicPr>
        <p:blipFill rotWithShape="1">
          <a:blip r:embed="rId2"/>
          <a:srcRect l="50552" t="54668" r="29609" b="14254"/>
          <a:stretch/>
        </p:blipFill>
        <p:spPr>
          <a:xfrm>
            <a:off x="152400" y="380620"/>
            <a:ext cx="1176338" cy="1191624"/>
          </a:xfrm>
          <a:prstGeom prst="rect">
            <a:avLst/>
          </a:prstGeom>
        </p:spPr>
      </p:pic>
      <p:pic>
        <p:nvPicPr>
          <p:cNvPr id="5" name="Picture 4">
            <a:extLst>
              <a:ext uri="{FF2B5EF4-FFF2-40B4-BE49-F238E27FC236}">
                <a16:creationId xmlns:a16="http://schemas.microsoft.com/office/drawing/2014/main" id="{BAACE3EA-77A5-2739-A6A7-19BBFF2B33DF}"/>
              </a:ext>
            </a:extLst>
          </p:cNvPr>
          <p:cNvPicPr>
            <a:picLocks noChangeAspect="1"/>
          </p:cNvPicPr>
          <p:nvPr/>
        </p:nvPicPr>
        <p:blipFill>
          <a:blip r:embed="rId3"/>
          <a:stretch>
            <a:fillRect/>
          </a:stretch>
        </p:blipFill>
        <p:spPr>
          <a:xfrm>
            <a:off x="152400" y="1614696"/>
            <a:ext cx="6096000" cy="4572000"/>
          </a:xfrm>
          <a:prstGeom prst="rect">
            <a:avLst/>
          </a:prstGeom>
        </p:spPr>
      </p:pic>
      <p:pic>
        <p:nvPicPr>
          <p:cNvPr id="7" name="Picture 6">
            <a:extLst>
              <a:ext uri="{FF2B5EF4-FFF2-40B4-BE49-F238E27FC236}">
                <a16:creationId xmlns:a16="http://schemas.microsoft.com/office/drawing/2014/main" id="{C86E31F0-D5F8-84BD-0947-659B14855498}"/>
              </a:ext>
            </a:extLst>
          </p:cNvPr>
          <p:cNvPicPr>
            <a:picLocks noChangeAspect="1"/>
          </p:cNvPicPr>
          <p:nvPr/>
        </p:nvPicPr>
        <p:blipFill>
          <a:blip r:embed="rId4"/>
          <a:stretch>
            <a:fillRect/>
          </a:stretch>
        </p:blipFill>
        <p:spPr>
          <a:xfrm>
            <a:off x="5808133" y="1529792"/>
            <a:ext cx="6096000" cy="4572000"/>
          </a:xfrm>
          <a:prstGeom prst="rect">
            <a:avLst/>
          </a:prstGeom>
        </p:spPr>
      </p:pic>
      <p:sp>
        <p:nvSpPr>
          <p:cNvPr id="6" name="Oval 5">
            <a:extLst>
              <a:ext uri="{FF2B5EF4-FFF2-40B4-BE49-F238E27FC236}">
                <a16:creationId xmlns:a16="http://schemas.microsoft.com/office/drawing/2014/main" id="{E6B237AD-3B29-504D-A6A7-35343FE29138}"/>
              </a:ext>
            </a:extLst>
          </p:cNvPr>
          <p:cNvSpPr/>
          <p:nvPr/>
        </p:nvSpPr>
        <p:spPr>
          <a:xfrm>
            <a:off x="1077014" y="2542710"/>
            <a:ext cx="895786" cy="164769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C44FB2C-30AC-B6B9-EF9C-DE2CB4E34ABF}"/>
              </a:ext>
            </a:extLst>
          </p:cNvPr>
          <p:cNvSpPr txBox="1"/>
          <p:nvPr/>
        </p:nvSpPr>
        <p:spPr>
          <a:xfrm>
            <a:off x="2109014" y="2542710"/>
            <a:ext cx="1576800" cy="830997"/>
          </a:xfrm>
          <a:prstGeom prst="rect">
            <a:avLst/>
          </a:prstGeom>
          <a:noFill/>
        </p:spPr>
        <p:txBody>
          <a:bodyPr wrap="square" rtlCol="0">
            <a:spAutoFit/>
          </a:bodyPr>
          <a:lstStyle/>
          <a:p>
            <a:r>
              <a:rPr lang="en-US" sz="2400" dirty="0">
                <a:latin typeface="Arial" panose="020B0604020202020204" pitchFamily="34" charset="0"/>
                <a:cs typeface="Arial" panose="020B0604020202020204" pitchFamily="34" charset="0"/>
              </a:rPr>
              <a:t>Weak/Null PFC</a:t>
            </a:r>
          </a:p>
        </p:txBody>
      </p:sp>
    </p:spTree>
    <p:extLst>
      <p:ext uri="{BB962C8B-B14F-4D97-AF65-F5344CB8AC3E}">
        <p14:creationId xmlns:p14="http://schemas.microsoft.com/office/powerpoint/2010/main" val="3840370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Picture 38">
            <a:extLst>
              <a:ext uri="{FF2B5EF4-FFF2-40B4-BE49-F238E27FC236}">
                <a16:creationId xmlns:a16="http://schemas.microsoft.com/office/drawing/2014/main" id="{CD782045-1A11-F3B0-3310-98ADC92F4E5F}"/>
              </a:ext>
            </a:extLst>
          </p:cNvPr>
          <p:cNvPicPr>
            <a:picLocks noChangeAspect="1"/>
          </p:cNvPicPr>
          <p:nvPr/>
        </p:nvPicPr>
        <p:blipFill>
          <a:blip r:embed="rId3"/>
          <a:stretch>
            <a:fillRect/>
          </a:stretch>
        </p:blipFill>
        <p:spPr>
          <a:xfrm>
            <a:off x="238543" y="1392149"/>
            <a:ext cx="6096000" cy="4572000"/>
          </a:xfrm>
          <a:prstGeom prst="rect">
            <a:avLst/>
          </a:prstGeom>
        </p:spPr>
      </p:pic>
      <p:sp>
        <p:nvSpPr>
          <p:cNvPr id="2" name="Title 1">
            <a:extLst>
              <a:ext uri="{FF2B5EF4-FFF2-40B4-BE49-F238E27FC236}">
                <a16:creationId xmlns:a16="http://schemas.microsoft.com/office/drawing/2014/main" id="{AD2BB550-A16C-6A35-B757-97EEF35FBAAF}"/>
              </a:ext>
            </a:extLst>
          </p:cNvPr>
          <p:cNvSpPr>
            <a:spLocks noGrp="1"/>
          </p:cNvSpPr>
          <p:nvPr>
            <p:ph type="title"/>
          </p:nvPr>
        </p:nvSpPr>
        <p:spPr>
          <a:xfrm>
            <a:off x="1515894" y="-37781"/>
            <a:ext cx="10515600" cy="980982"/>
          </a:xfrm>
        </p:spPr>
        <p:txBody>
          <a:bodyPr>
            <a:normAutofit/>
          </a:bodyPr>
          <a:lstStyle/>
          <a:p>
            <a:r>
              <a:rPr lang="en-US" sz="4000" dirty="0"/>
              <a:t>Result 2A/2B: Schema-object prediction error</a:t>
            </a:r>
          </a:p>
        </p:txBody>
      </p:sp>
      <p:sp>
        <p:nvSpPr>
          <p:cNvPr id="10" name="Oval 9">
            <a:extLst>
              <a:ext uri="{FF2B5EF4-FFF2-40B4-BE49-F238E27FC236}">
                <a16:creationId xmlns:a16="http://schemas.microsoft.com/office/drawing/2014/main" id="{D0A40B5E-B11E-4636-4978-77451EFA2F8D}"/>
              </a:ext>
            </a:extLst>
          </p:cNvPr>
          <p:cNvSpPr/>
          <p:nvPr/>
        </p:nvSpPr>
        <p:spPr>
          <a:xfrm>
            <a:off x="1099569" y="1971299"/>
            <a:ext cx="683172" cy="683172"/>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ADFFBA-0D41-F469-9C89-DA39B5F54153}"/>
              </a:ext>
            </a:extLst>
          </p:cNvPr>
          <p:cNvSpPr txBox="1"/>
          <p:nvPr/>
        </p:nvSpPr>
        <p:spPr>
          <a:xfrm>
            <a:off x="1782741" y="2049234"/>
            <a:ext cx="971741"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LPFC</a:t>
            </a:r>
          </a:p>
        </p:txBody>
      </p:sp>
      <p:pic>
        <p:nvPicPr>
          <p:cNvPr id="17" name="Picture 16">
            <a:extLst>
              <a:ext uri="{FF2B5EF4-FFF2-40B4-BE49-F238E27FC236}">
                <a16:creationId xmlns:a16="http://schemas.microsoft.com/office/drawing/2014/main" id="{693B72B5-5973-5D12-0EBC-22A1DF85B360}"/>
              </a:ext>
            </a:extLst>
          </p:cNvPr>
          <p:cNvPicPr>
            <a:picLocks noChangeAspect="1"/>
          </p:cNvPicPr>
          <p:nvPr/>
        </p:nvPicPr>
        <p:blipFill rotWithShape="1">
          <a:blip r:embed="rId4"/>
          <a:srcRect l="50552" t="54668" r="29609" b="14254"/>
          <a:stretch/>
        </p:blipFill>
        <p:spPr>
          <a:xfrm>
            <a:off x="160506" y="329961"/>
            <a:ext cx="1176338" cy="1191624"/>
          </a:xfrm>
          <a:prstGeom prst="rect">
            <a:avLst/>
          </a:prstGeom>
        </p:spPr>
      </p:pic>
      <p:pic>
        <p:nvPicPr>
          <p:cNvPr id="41" name="Picture 40">
            <a:extLst>
              <a:ext uri="{FF2B5EF4-FFF2-40B4-BE49-F238E27FC236}">
                <a16:creationId xmlns:a16="http://schemas.microsoft.com/office/drawing/2014/main" id="{43F5E214-84F7-5DB4-CAC7-277AA064ACEC}"/>
              </a:ext>
            </a:extLst>
          </p:cNvPr>
          <p:cNvPicPr>
            <a:picLocks noChangeAspect="1"/>
          </p:cNvPicPr>
          <p:nvPr/>
        </p:nvPicPr>
        <p:blipFill rotWithShape="1">
          <a:blip r:embed="rId5"/>
          <a:srcRect t="13995" b="10380"/>
          <a:stretch/>
        </p:blipFill>
        <p:spPr>
          <a:xfrm>
            <a:off x="6231466" y="1392149"/>
            <a:ext cx="5249333" cy="4962288"/>
          </a:xfrm>
          <a:prstGeom prst="rect">
            <a:avLst/>
          </a:prstGeom>
        </p:spPr>
      </p:pic>
    </p:spTree>
    <p:extLst>
      <p:ext uri="{BB962C8B-B14F-4D97-AF65-F5344CB8AC3E}">
        <p14:creationId xmlns:p14="http://schemas.microsoft.com/office/powerpoint/2010/main" val="9329892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Picture 38">
            <a:extLst>
              <a:ext uri="{FF2B5EF4-FFF2-40B4-BE49-F238E27FC236}">
                <a16:creationId xmlns:a16="http://schemas.microsoft.com/office/drawing/2014/main" id="{CD782045-1A11-F3B0-3310-98ADC92F4E5F}"/>
              </a:ext>
            </a:extLst>
          </p:cNvPr>
          <p:cNvPicPr>
            <a:picLocks noChangeAspect="1"/>
          </p:cNvPicPr>
          <p:nvPr/>
        </p:nvPicPr>
        <p:blipFill>
          <a:blip r:embed="rId3"/>
          <a:stretch>
            <a:fillRect/>
          </a:stretch>
        </p:blipFill>
        <p:spPr>
          <a:xfrm>
            <a:off x="238543" y="1392149"/>
            <a:ext cx="6096000" cy="4572000"/>
          </a:xfrm>
          <a:prstGeom prst="rect">
            <a:avLst/>
          </a:prstGeom>
        </p:spPr>
      </p:pic>
      <p:sp>
        <p:nvSpPr>
          <p:cNvPr id="2" name="Title 1">
            <a:extLst>
              <a:ext uri="{FF2B5EF4-FFF2-40B4-BE49-F238E27FC236}">
                <a16:creationId xmlns:a16="http://schemas.microsoft.com/office/drawing/2014/main" id="{AD2BB550-A16C-6A35-B757-97EEF35FBAAF}"/>
              </a:ext>
            </a:extLst>
          </p:cNvPr>
          <p:cNvSpPr>
            <a:spLocks noGrp="1"/>
          </p:cNvSpPr>
          <p:nvPr>
            <p:ph type="title"/>
          </p:nvPr>
        </p:nvSpPr>
        <p:spPr>
          <a:xfrm>
            <a:off x="1515894" y="-37781"/>
            <a:ext cx="10515600" cy="980982"/>
          </a:xfrm>
        </p:spPr>
        <p:txBody>
          <a:bodyPr>
            <a:normAutofit/>
          </a:bodyPr>
          <a:lstStyle/>
          <a:p>
            <a:r>
              <a:rPr lang="en-US" sz="4000" dirty="0"/>
              <a:t>Result 2A/2B: Schema-object prediction error</a:t>
            </a:r>
          </a:p>
        </p:txBody>
      </p:sp>
      <p:sp>
        <p:nvSpPr>
          <p:cNvPr id="10" name="Oval 9">
            <a:extLst>
              <a:ext uri="{FF2B5EF4-FFF2-40B4-BE49-F238E27FC236}">
                <a16:creationId xmlns:a16="http://schemas.microsoft.com/office/drawing/2014/main" id="{D0A40B5E-B11E-4636-4978-77451EFA2F8D}"/>
              </a:ext>
            </a:extLst>
          </p:cNvPr>
          <p:cNvSpPr/>
          <p:nvPr/>
        </p:nvSpPr>
        <p:spPr>
          <a:xfrm>
            <a:off x="1099569" y="1971299"/>
            <a:ext cx="683172" cy="683172"/>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ADFFBA-0D41-F469-9C89-DA39B5F54153}"/>
              </a:ext>
            </a:extLst>
          </p:cNvPr>
          <p:cNvSpPr txBox="1"/>
          <p:nvPr/>
        </p:nvSpPr>
        <p:spPr>
          <a:xfrm>
            <a:off x="1782741" y="2049234"/>
            <a:ext cx="971741"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LPFC</a:t>
            </a:r>
          </a:p>
        </p:txBody>
      </p:sp>
      <p:sp>
        <p:nvSpPr>
          <p:cNvPr id="12" name="Content Placeholder 2">
            <a:extLst>
              <a:ext uri="{FF2B5EF4-FFF2-40B4-BE49-F238E27FC236}">
                <a16:creationId xmlns:a16="http://schemas.microsoft.com/office/drawing/2014/main" id="{708F8071-8A66-374A-E2DF-E701505326F3}"/>
              </a:ext>
            </a:extLst>
          </p:cNvPr>
          <p:cNvSpPr>
            <a:spLocks noGrp="1"/>
          </p:cNvSpPr>
          <p:nvPr>
            <p:ph idx="1"/>
          </p:nvPr>
        </p:nvSpPr>
        <p:spPr>
          <a:xfrm>
            <a:off x="6066972" y="1218036"/>
            <a:ext cx="3851176" cy="5479290"/>
          </a:xfrm>
        </p:spPr>
        <p:txBody>
          <a:bodyPr>
            <a:normAutofit/>
          </a:bodyPr>
          <a:lstStyle/>
          <a:p>
            <a:r>
              <a:rPr lang="en-US" dirty="0"/>
              <a:t>Confirmed by an additional “macro-level” analysis focusing on the LPFC overall</a:t>
            </a:r>
          </a:p>
          <a:p>
            <a:pPr lvl="1"/>
            <a:r>
              <a:rPr lang="en-US" dirty="0"/>
              <a:t>Activation averaged by ROI</a:t>
            </a:r>
          </a:p>
          <a:p>
            <a:pPr lvl="2"/>
            <a:r>
              <a:rPr lang="en-US" dirty="0"/>
              <a:t>26 ROIs = 26-length vector</a:t>
            </a:r>
          </a:p>
          <a:p>
            <a:pPr lvl="2"/>
            <a:r>
              <a:rPr lang="en-US" dirty="0"/>
              <a:t>Submitted to RDM</a:t>
            </a:r>
          </a:p>
          <a:p>
            <a:pPr lvl="1"/>
            <a:r>
              <a:rPr lang="en-US" dirty="0"/>
              <a:t>Significant RSA effect </a:t>
            </a:r>
            <a:br>
              <a:rPr lang="en-US" dirty="0"/>
            </a:br>
            <a:r>
              <a:rPr lang="en-US" dirty="0"/>
              <a:t>(</a:t>
            </a:r>
            <a:r>
              <a:rPr lang="en-US" i="1" dirty="0"/>
              <a:t>t</a:t>
            </a:r>
            <a:r>
              <a:rPr lang="en-US" dirty="0"/>
              <a:t> = 2.1, </a:t>
            </a:r>
            <a:r>
              <a:rPr lang="en-US" i="1" dirty="0"/>
              <a:t>p </a:t>
            </a:r>
            <a:r>
              <a:rPr lang="en-US" dirty="0"/>
              <a:t>= .02)</a:t>
            </a:r>
          </a:p>
        </p:txBody>
      </p:sp>
      <p:pic>
        <p:nvPicPr>
          <p:cNvPr id="17" name="Picture 16">
            <a:extLst>
              <a:ext uri="{FF2B5EF4-FFF2-40B4-BE49-F238E27FC236}">
                <a16:creationId xmlns:a16="http://schemas.microsoft.com/office/drawing/2014/main" id="{693B72B5-5973-5D12-0EBC-22A1DF85B360}"/>
              </a:ext>
            </a:extLst>
          </p:cNvPr>
          <p:cNvPicPr>
            <a:picLocks noChangeAspect="1"/>
          </p:cNvPicPr>
          <p:nvPr/>
        </p:nvPicPr>
        <p:blipFill rotWithShape="1">
          <a:blip r:embed="rId4"/>
          <a:srcRect l="50552" t="54668" r="29609" b="14254"/>
          <a:stretch/>
        </p:blipFill>
        <p:spPr>
          <a:xfrm>
            <a:off x="160506" y="329961"/>
            <a:ext cx="1176338" cy="1191624"/>
          </a:xfrm>
          <a:prstGeom prst="rect">
            <a:avLst/>
          </a:prstGeom>
        </p:spPr>
      </p:pic>
      <p:sp>
        <p:nvSpPr>
          <p:cNvPr id="3" name="Rectangle 2">
            <a:extLst>
              <a:ext uri="{FF2B5EF4-FFF2-40B4-BE49-F238E27FC236}">
                <a16:creationId xmlns:a16="http://schemas.microsoft.com/office/drawing/2014/main" id="{3DAA3943-B517-E798-DA43-951207643A12}"/>
              </a:ext>
            </a:extLst>
          </p:cNvPr>
          <p:cNvSpPr/>
          <p:nvPr/>
        </p:nvSpPr>
        <p:spPr>
          <a:xfrm>
            <a:off x="10391030" y="2370188"/>
            <a:ext cx="189411" cy="189411"/>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0EDA4999-7885-FF41-7720-BAF6464B9A64}"/>
              </a:ext>
            </a:extLst>
          </p:cNvPr>
          <p:cNvSpPr/>
          <p:nvPr/>
        </p:nvSpPr>
        <p:spPr>
          <a:xfrm>
            <a:off x="10391030" y="2569914"/>
            <a:ext cx="189411" cy="189411"/>
          </a:xfrm>
          <a:prstGeom prst="rect">
            <a:avLst/>
          </a:prstGeom>
          <a:solidFill>
            <a:schemeClr val="bg1">
              <a:lumMod val="6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3B7B5A0-4AAE-5DB2-AD4C-960553D74DA2}"/>
              </a:ext>
            </a:extLst>
          </p:cNvPr>
          <p:cNvSpPr/>
          <p:nvPr/>
        </p:nvSpPr>
        <p:spPr>
          <a:xfrm>
            <a:off x="10391030" y="2769640"/>
            <a:ext cx="189411" cy="189411"/>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C3E06F8-2A2C-D0B8-0FC8-CD454576B8D9}"/>
              </a:ext>
            </a:extLst>
          </p:cNvPr>
          <p:cNvSpPr/>
          <p:nvPr/>
        </p:nvSpPr>
        <p:spPr>
          <a:xfrm>
            <a:off x="10391030" y="2969366"/>
            <a:ext cx="189411" cy="189411"/>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EF26C97-E041-0C7B-E355-2123F9D0B2E6}"/>
              </a:ext>
            </a:extLst>
          </p:cNvPr>
          <p:cNvSpPr/>
          <p:nvPr/>
        </p:nvSpPr>
        <p:spPr>
          <a:xfrm>
            <a:off x="10391030" y="3169092"/>
            <a:ext cx="189411" cy="189411"/>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2B294CCB-AD28-20F1-421F-79663BCBCCBB}"/>
              </a:ext>
            </a:extLst>
          </p:cNvPr>
          <p:cNvSpPr/>
          <p:nvPr/>
        </p:nvSpPr>
        <p:spPr>
          <a:xfrm>
            <a:off x="10391030" y="3368818"/>
            <a:ext cx="189411" cy="189411"/>
          </a:xfrm>
          <a:prstGeom prst="rect">
            <a:avLst/>
          </a:prstGeom>
          <a:solidFill>
            <a:srgbClr val="A6A6A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C54D1F4-2C80-8365-CD56-C3C22F7F2A87}"/>
              </a:ext>
            </a:extLst>
          </p:cNvPr>
          <p:cNvSpPr/>
          <p:nvPr/>
        </p:nvSpPr>
        <p:spPr>
          <a:xfrm>
            <a:off x="10391030" y="3568544"/>
            <a:ext cx="189411" cy="189411"/>
          </a:xfrm>
          <a:prstGeom prst="rect">
            <a:avLst/>
          </a:prstGeom>
          <a:solidFill>
            <a:schemeClr val="bg1">
              <a:lumMod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428360C-98D8-9519-B6F9-17B7A0E69DC8}"/>
              </a:ext>
            </a:extLst>
          </p:cNvPr>
          <p:cNvSpPr/>
          <p:nvPr/>
        </p:nvSpPr>
        <p:spPr>
          <a:xfrm>
            <a:off x="10391030" y="3768270"/>
            <a:ext cx="189411" cy="189411"/>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2211291-4412-9E28-84B0-9E669BE91AF8}"/>
              </a:ext>
            </a:extLst>
          </p:cNvPr>
          <p:cNvSpPr/>
          <p:nvPr/>
        </p:nvSpPr>
        <p:spPr>
          <a:xfrm>
            <a:off x="10391030" y="3967996"/>
            <a:ext cx="189411" cy="189411"/>
          </a:xfrm>
          <a:prstGeom prst="rect">
            <a:avLst/>
          </a:prstGeom>
          <a:solidFill>
            <a:schemeClr val="bg2">
              <a:lumMod val="2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0060388-B992-6D1D-B1D0-06ACBDDAF1E5}"/>
              </a:ext>
            </a:extLst>
          </p:cNvPr>
          <p:cNvSpPr/>
          <p:nvPr/>
        </p:nvSpPr>
        <p:spPr>
          <a:xfrm>
            <a:off x="10391030" y="4167722"/>
            <a:ext cx="189411" cy="189411"/>
          </a:xfrm>
          <a:prstGeom prst="rect">
            <a:avLst/>
          </a:prstGeom>
          <a:solidFill>
            <a:schemeClr val="bg1">
              <a:lumMod val="6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67BC739-1C77-0A15-A368-C865B3483F69}"/>
              </a:ext>
            </a:extLst>
          </p:cNvPr>
          <p:cNvSpPr/>
          <p:nvPr/>
        </p:nvSpPr>
        <p:spPr>
          <a:xfrm>
            <a:off x="10391030" y="4367448"/>
            <a:ext cx="189411" cy="189411"/>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1DEF091-104B-2B8F-2FEC-8CB21E108C53}"/>
              </a:ext>
            </a:extLst>
          </p:cNvPr>
          <p:cNvSpPr/>
          <p:nvPr/>
        </p:nvSpPr>
        <p:spPr>
          <a:xfrm>
            <a:off x="10391030" y="4567174"/>
            <a:ext cx="189411" cy="189411"/>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7F48757A-4822-9336-8F58-3F7A86CE5303}"/>
              </a:ext>
            </a:extLst>
          </p:cNvPr>
          <p:cNvSpPr/>
          <p:nvPr/>
        </p:nvSpPr>
        <p:spPr>
          <a:xfrm>
            <a:off x="10391030" y="4766900"/>
            <a:ext cx="189411" cy="189411"/>
          </a:xfrm>
          <a:prstGeom prst="rect">
            <a:avLst/>
          </a:prstGeom>
          <a:solidFill>
            <a:schemeClr val="bg1">
              <a:lumMod val="6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BD1C81F0-1437-A4E1-21EE-6EAD1C0266DB}"/>
              </a:ext>
            </a:extLst>
          </p:cNvPr>
          <p:cNvSpPr/>
          <p:nvPr/>
        </p:nvSpPr>
        <p:spPr>
          <a:xfrm>
            <a:off x="10391030" y="4966626"/>
            <a:ext cx="189411" cy="189411"/>
          </a:xfrm>
          <a:prstGeom prst="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1E8190D8-9990-AA84-64C6-FC5E2263AB9C}"/>
              </a:ext>
            </a:extLst>
          </p:cNvPr>
          <p:cNvSpPr/>
          <p:nvPr/>
        </p:nvSpPr>
        <p:spPr>
          <a:xfrm>
            <a:off x="10391030" y="5166352"/>
            <a:ext cx="189411" cy="189411"/>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D357D43-C4FD-5A97-3597-A83982C2535D}"/>
              </a:ext>
            </a:extLst>
          </p:cNvPr>
          <p:cNvSpPr/>
          <p:nvPr/>
        </p:nvSpPr>
        <p:spPr>
          <a:xfrm>
            <a:off x="10391030" y="5366078"/>
            <a:ext cx="189411" cy="189411"/>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B697EE0-0379-6529-A5FF-5DA81BCE46B8}"/>
              </a:ext>
            </a:extLst>
          </p:cNvPr>
          <p:cNvSpPr/>
          <p:nvPr/>
        </p:nvSpPr>
        <p:spPr>
          <a:xfrm>
            <a:off x="10391030" y="5565804"/>
            <a:ext cx="189411" cy="189411"/>
          </a:xfrm>
          <a:prstGeom prst="rect">
            <a:avLst/>
          </a:prstGeom>
          <a:solidFill>
            <a:srgbClr val="A6A6A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816B0DF-5970-D5EC-175F-2C0613730EED}"/>
              </a:ext>
            </a:extLst>
          </p:cNvPr>
          <p:cNvSpPr/>
          <p:nvPr/>
        </p:nvSpPr>
        <p:spPr>
          <a:xfrm>
            <a:off x="10391030" y="5765534"/>
            <a:ext cx="189411" cy="189411"/>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Brace 27">
            <a:extLst>
              <a:ext uri="{FF2B5EF4-FFF2-40B4-BE49-F238E27FC236}">
                <a16:creationId xmlns:a16="http://schemas.microsoft.com/office/drawing/2014/main" id="{4866AC9D-920C-F410-DE1B-BA767E44B525}"/>
              </a:ext>
            </a:extLst>
          </p:cNvPr>
          <p:cNvSpPr/>
          <p:nvPr/>
        </p:nvSpPr>
        <p:spPr>
          <a:xfrm>
            <a:off x="10942065" y="2403192"/>
            <a:ext cx="312792" cy="1167994"/>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Right Brace 28">
            <a:extLst>
              <a:ext uri="{FF2B5EF4-FFF2-40B4-BE49-F238E27FC236}">
                <a16:creationId xmlns:a16="http://schemas.microsoft.com/office/drawing/2014/main" id="{4F636BE4-FC78-DE52-ECE7-B0F7A837C498}"/>
              </a:ext>
            </a:extLst>
          </p:cNvPr>
          <p:cNvSpPr/>
          <p:nvPr/>
        </p:nvSpPr>
        <p:spPr>
          <a:xfrm>
            <a:off x="10942065" y="3595592"/>
            <a:ext cx="312792" cy="1167994"/>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 name="Right Brace 29">
            <a:extLst>
              <a:ext uri="{FF2B5EF4-FFF2-40B4-BE49-F238E27FC236}">
                <a16:creationId xmlns:a16="http://schemas.microsoft.com/office/drawing/2014/main" id="{9E511F93-9368-8305-9D15-BF9FE84D2FEF}"/>
              </a:ext>
            </a:extLst>
          </p:cNvPr>
          <p:cNvSpPr/>
          <p:nvPr/>
        </p:nvSpPr>
        <p:spPr>
          <a:xfrm>
            <a:off x="10942065" y="4782936"/>
            <a:ext cx="312792" cy="1167994"/>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1" name="Rectangle 30">
            <a:extLst>
              <a:ext uri="{FF2B5EF4-FFF2-40B4-BE49-F238E27FC236}">
                <a16:creationId xmlns:a16="http://schemas.microsoft.com/office/drawing/2014/main" id="{BF202A34-B13C-C16B-E528-391968B2EE2C}"/>
              </a:ext>
            </a:extLst>
          </p:cNvPr>
          <p:cNvSpPr/>
          <p:nvPr/>
        </p:nvSpPr>
        <p:spPr>
          <a:xfrm>
            <a:off x="11466704" y="2817373"/>
            <a:ext cx="370640" cy="370640"/>
          </a:xfrm>
          <a:prstGeom prst="rect">
            <a:avLst/>
          </a:prstGeom>
          <a:solidFill>
            <a:schemeClr val="bg2">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432F9CF1-642F-C362-BB78-28A6E2C9A967}"/>
              </a:ext>
            </a:extLst>
          </p:cNvPr>
          <p:cNvSpPr/>
          <p:nvPr/>
        </p:nvSpPr>
        <p:spPr>
          <a:xfrm>
            <a:off x="11466704" y="4018416"/>
            <a:ext cx="370640" cy="37064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AC8F4BC-4DDA-B974-F2C3-6C30046CB7F8}"/>
              </a:ext>
            </a:extLst>
          </p:cNvPr>
          <p:cNvSpPr/>
          <p:nvPr/>
        </p:nvSpPr>
        <p:spPr>
          <a:xfrm>
            <a:off x="11466704" y="5198781"/>
            <a:ext cx="370640" cy="370640"/>
          </a:xfrm>
          <a:prstGeom prst="rect">
            <a:avLst/>
          </a:prstGeom>
          <a:solidFill>
            <a:schemeClr val="bg1">
              <a:lumMod val="8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27ABD2D0-021A-9406-0EBF-DF02F4780444}"/>
              </a:ext>
            </a:extLst>
          </p:cNvPr>
          <p:cNvSpPr txBox="1"/>
          <p:nvPr/>
        </p:nvSpPr>
        <p:spPr>
          <a:xfrm>
            <a:off x="9987381" y="1370480"/>
            <a:ext cx="1120820" cy="646331"/>
          </a:xfrm>
          <a:prstGeom prst="rect">
            <a:avLst/>
          </a:prstGeom>
          <a:noFill/>
        </p:spPr>
        <p:txBody>
          <a:bodyPr wrap="none" rtlCol="0">
            <a:spAutoFit/>
          </a:bodyPr>
          <a:lstStyle/>
          <a:p>
            <a:pPr algn="ctr"/>
            <a:r>
              <a:rPr lang="en-US" sz="2000" dirty="0">
                <a:latin typeface="Arial" panose="020B0604020202020204" pitchFamily="34" charset="0"/>
                <a:cs typeface="Arial" panose="020B0604020202020204" pitchFamily="34" charset="0"/>
              </a:rPr>
              <a:t>“Micro”</a:t>
            </a:r>
          </a:p>
          <a:p>
            <a:pPr algn="ctr"/>
            <a:r>
              <a:rPr lang="en-US" sz="1600" dirty="0">
                <a:latin typeface="Arial" panose="020B0604020202020204" pitchFamily="34" charset="0"/>
                <a:cs typeface="Arial" panose="020B0604020202020204" pitchFamily="34" charset="0"/>
              </a:rPr>
              <a:t>(standard)</a:t>
            </a:r>
          </a:p>
        </p:txBody>
      </p:sp>
      <p:sp>
        <p:nvSpPr>
          <p:cNvPr id="37" name="TextBox 36">
            <a:extLst>
              <a:ext uri="{FF2B5EF4-FFF2-40B4-BE49-F238E27FC236}">
                <a16:creationId xmlns:a16="http://schemas.microsoft.com/office/drawing/2014/main" id="{1CED383B-1366-70A9-0DC1-B52EF1FDD611}"/>
              </a:ext>
            </a:extLst>
          </p:cNvPr>
          <p:cNvSpPr txBox="1"/>
          <p:nvPr/>
        </p:nvSpPr>
        <p:spPr>
          <a:xfrm>
            <a:off x="11026258" y="1370480"/>
            <a:ext cx="1066319" cy="707886"/>
          </a:xfrm>
          <a:prstGeom prst="rect">
            <a:avLst/>
          </a:prstGeom>
          <a:noFill/>
        </p:spPr>
        <p:txBody>
          <a:bodyPr wrap="none" rtlCol="0">
            <a:spAutoFit/>
          </a:bodyPr>
          <a:lstStyle/>
          <a:p>
            <a:pPr algn="ctr"/>
            <a:r>
              <a:rPr lang="en-US" sz="2000" dirty="0">
                <a:latin typeface="Arial" panose="020B0604020202020204" pitchFamily="34" charset="0"/>
                <a:cs typeface="Arial" panose="020B0604020202020204" pitchFamily="34" charset="0"/>
              </a:rPr>
              <a:t>“Macro”</a:t>
            </a:r>
          </a:p>
          <a:p>
            <a:pPr algn="ct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08149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5E760-A46A-F959-E420-A54C3033C857}"/>
              </a:ext>
            </a:extLst>
          </p:cNvPr>
          <p:cNvSpPr>
            <a:spLocks noGrp="1"/>
          </p:cNvSpPr>
          <p:nvPr>
            <p:ph type="title"/>
          </p:nvPr>
        </p:nvSpPr>
        <p:spPr>
          <a:xfrm>
            <a:off x="838200" y="337344"/>
            <a:ext cx="10515600" cy="1325563"/>
          </a:xfrm>
        </p:spPr>
        <p:txBody>
          <a:bodyPr/>
          <a:lstStyle/>
          <a:p>
            <a:r>
              <a:rPr lang="en-US" dirty="0"/>
              <a:t>Result 2C: Connectivity: Activity x IRAF</a:t>
            </a:r>
          </a:p>
        </p:txBody>
      </p:sp>
      <p:sp>
        <p:nvSpPr>
          <p:cNvPr id="3" name="Content Placeholder 2">
            <a:extLst>
              <a:ext uri="{FF2B5EF4-FFF2-40B4-BE49-F238E27FC236}">
                <a16:creationId xmlns:a16="http://schemas.microsoft.com/office/drawing/2014/main" id="{D902870E-25E1-7272-892B-16761148BDB1}"/>
              </a:ext>
            </a:extLst>
          </p:cNvPr>
          <p:cNvSpPr>
            <a:spLocks noGrp="1"/>
          </p:cNvSpPr>
          <p:nvPr>
            <p:ph idx="1"/>
          </p:nvPr>
        </p:nvSpPr>
        <p:spPr>
          <a:xfrm>
            <a:off x="1014412" y="1931245"/>
            <a:ext cx="10163175" cy="3563621"/>
          </a:xfrm>
        </p:spPr>
        <p:txBody>
          <a:bodyPr>
            <a:normAutofit/>
          </a:bodyPr>
          <a:lstStyle/>
          <a:p>
            <a:r>
              <a:rPr lang="en-US" dirty="0"/>
              <a:t>Related to the </a:t>
            </a:r>
            <a:r>
              <a:rPr lang="en-US" u="sng" dirty="0"/>
              <a:t>linking</a:t>
            </a:r>
            <a:r>
              <a:rPr lang="en-US" dirty="0"/>
              <a:t> and </a:t>
            </a:r>
            <a:r>
              <a:rPr lang="en-US" u="sng" dirty="0"/>
              <a:t>boosting</a:t>
            </a:r>
            <a:r>
              <a:rPr lang="en-US" dirty="0"/>
              <a:t> points made in the grant/papers</a:t>
            </a:r>
          </a:p>
          <a:p>
            <a:r>
              <a:rPr lang="en-US" dirty="0"/>
              <a:t>Correlate:</a:t>
            </a:r>
          </a:p>
          <a:p>
            <a:pPr lvl="1"/>
            <a:r>
              <a:rPr lang="en-US" dirty="0"/>
              <a:t>Region A: Mean connectivity across all voxels for a given trial</a:t>
            </a:r>
          </a:p>
          <a:p>
            <a:pPr lvl="1"/>
            <a:r>
              <a:rPr lang="en-US" dirty="0"/>
              <a:t>Region B: IRAF</a:t>
            </a:r>
          </a:p>
          <a:p>
            <a:pPr lvl="1"/>
            <a:r>
              <a:rPr lang="en-US" dirty="0"/>
              <a:t>Note: A x B ≠ B x A</a:t>
            </a:r>
          </a:p>
          <a:p>
            <a:pPr lvl="1"/>
            <a:r>
              <a:rPr lang="en-US" dirty="0"/>
              <a:t>Test if significantly above zero</a:t>
            </a:r>
          </a:p>
          <a:p>
            <a:pPr marL="457200" lvl="1" indent="0">
              <a:buNone/>
            </a:pPr>
            <a:endParaRPr lang="en-US" dirty="0"/>
          </a:p>
          <a:p>
            <a:endParaRPr lang="en-US" dirty="0"/>
          </a:p>
        </p:txBody>
      </p:sp>
    </p:spTree>
    <p:extLst>
      <p:ext uri="{BB962C8B-B14F-4D97-AF65-F5344CB8AC3E}">
        <p14:creationId xmlns:p14="http://schemas.microsoft.com/office/powerpoint/2010/main" val="3208990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B29DEDC-F195-6221-9B64-2635EFD0A247}"/>
              </a:ext>
            </a:extLst>
          </p:cNvPr>
          <p:cNvPicPr>
            <a:picLocks noChangeAspect="1"/>
          </p:cNvPicPr>
          <p:nvPr/>
        </p:nvPicPr>
        <p:blipFill>
          <a:blip r:embed="rId3"/>
          <a:stretch>
            <a:fillRect/>
          </a:stretch>
        </p:blipFill>
        <p:spPr>
          <a:xfrm>
            <a:off x="5581794" y="1125534"/>
            <a:ext cx="5705475" cy="5705475"/>
          </a:xfrm>
          <a:prstGeom prst="rect">
            <a:avLst/>
          </a:prstGeom>
        </p:spPr>
      </p:pic>
      <p:sp>
        <p:nvSpPr>
          <p:cNvPr id="2" name="Title 1">
            <a:extLst>
              <a:ext uri="{FF2B5EF4-FFF2-40B4-BE49-F238E27FC236}">
                <a16:creationId xmlns:a16="http://schemas.microsoft.com/office/drawing/2014/main" id="{F0AD4DE0-0B64-9F84-DFE1-D26E4A71B11F}"/>
              </a:ext>
            </a:extLst>
          </p:cNvPr>
          <p:cNvSpPr>
            <a:spLocks noGrp="1"/>
          </p:cNvSpPr>
          <p:nvPr>
            <p:ph type="title"/>
          </p:nvPr>
        </p:nvSpPr>
        <p:spPr>
          <a:xfrm>
            <a:off x="1317794" y="365126"/>
            <a:ext cx="10732750" cy="917856"/>
          </a:xfrm>
        </p:spPr>
        <p:txBody>
          <a:bodyPr/>
          <a:lstStyle/>
          <a:p>
            <a:r>
              <a:rPr lang="en-US" dirty="0"/>
              <a:t>Result 2C: Difference RSA x connectivity</a:t>
            </a:r>
          </a:p>
        </p:txBody>
      </p:sp>
      <p:sp>
        <p:nvSpPr>
          <p:cNvPr id="3" name="Content Placeholder 2">
            <a:extLst>
              <a:ext uri="{FF2B5EF4-FFF2-40B4-BE49-F238E27FC236}">
                <a16:creationId xmlns:a16="http://schemas.microsoft.com/office/drawing/2014/main" id="{FDD3875F-37A6-A015-3CEF-182AC00EA051}"/>
              </a:ext>
            </a:extLst>
          </p:cNvPr>
          <p:cNvSpPr>
            <a:spLocks noGrp="1"/>
          </p:cNvSpPr>
          <p:nvPr>
            <p:ph idx="1"/>
          </p:nvPr>
        </p:nvSpPr>
        <p:spPr>
          <a:xfrm>
            <a:off x="852343" y="1874841"/>
            <a:ext cx="4410075" cy="4829174"/>
          </a:xfrm>
        </p:spPr>
        <p:txBody>
          <a:bodyPr>
            <a:normAutofit/>
          </a:bodyPr>
          <a:lstStyle/>
          <a:p>
            <a:r>
              <a:rPr lang="en-US" dirty="0"/>
              <a:t>Occipital lobe and fusiform gyrus shows abs-</a:t>
            </a:r>
            <a:r>
              <a:rPr lang="en-US" dirty="0" err="1"/>
              <a:t>dif</a:t>
            </a:r>
            <a:r>
              <a:rPr lang="en-US" dirty="0"/>
              <a:t> effect, if LPFC activity is high</a:t>
            </a:r>
          </a:p>
          <a:p>
            <a:r>
              <a:rPr lang="en-US" dirty="0"/>
              <a:t>Top-down modulation?</a:t>
            </a:r>
          </a:p>
        </p:txBody>
      </p:sp>
      <p:sp>
        <p:nvSpPr>
          <p:cNvPr id="6" name="Oval 5">
            <a:extLst>
              <a:ext uri="{FF2B5EF4-FFF2-40B4-BE49-F238E27FC236}">
                <a16:creationId xmlns:a16="http://schemas.microsoft.com/office/drawing/2014/main" id="{321F282F-4487-41A6-34D1-6A14B4EE86FB}"/>
              </a:ext>
            </a:extLst>
          </p:cNvPr>
          <p:cNvSpPr/>
          <p:nvPr/>
        </p:nvSpPr>
        <p:spPr>
          <a:xfrm>
            <a:off x="6355888" y="2847100"/>
            <a:ext cx="431839" cy="431839"/>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67D4D20B-C54B-1338-D7E9-F541444E673F}"/>
              </a:ext>
            </a:extLst>
          </p:cNvPr>
          <p:cNvPicPr>
            <a:picLocks noChangeAspect="1"/>
          </p:cNvPicPr>
          <p:nvPr/>
        </p:nvPicPr>
        <p:blipFill rotWithShape="1">
          <a:blip r:embed="rId4"/>
          <a:srcRect l="50552" t="54668" r="29609" b="14254"/>
          <a:stretch/>
        </p:blipFill>
        <p:spPr>
          <a:xfrm>
            <a:off x="141456" y="365126"/>
            <a:ext cx="1176338" cy="1191624"/>
          </a:xfrm>
          <a:prstGeom prst="rect">
            <a:avLst/>
          </a:prstGeom>
        </p:spPr>
      </p:pic>
      <p:sp>
        <p:nvSpPr>
          <p:cNvPr id="11" name="Oval 10">
            <a:extLst>
              <a:ext uri="{FF2B5EF4-FFF2-40B4-BE49-F238E27FC236}">
                <a16:creationId xmlns:a16="http://schemas.microsoft.com/office/drawing/2014/main" id="{EA27ECAF-5989-AB68-FE99-B4BDBA95F35B}"/>
              </a:ext>
            </a:extLst>
          </p:cNvPr>
          <p:cNvSpPr/>
          <p:nvPr/>
        </p:nvSpPr>
        <p:spPr>
          <a:xfrm>
            <a:off x="6283259" y="2468407"/>
            <a:ext cx="612841" cy="24621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998050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6F21A-D328-737B-EE4A-CE020E801A6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6B4BAEB-AF6C-95AE-1F60-6A949D1508F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495237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1616F-448C-25B8-3907-B941FB3687B5}"/>
              </a:ext>
            </a:extLst>
          </p:cNvPr>
          <p:cNvSpPr>
            <a:spLocks noGrp="1"/>
          </p:cNvSpPr>
          <p:nvPr>
            <p:ph type="title"/>
          </p:nvPr>
        </p:nvSpPr>
        <p:spPr/>
        <p:txBody>
          <a:bodyPr/>
          <a:lstStyle/>
          <a:p>
            <a:r>
              <a:rPr lang="en-US" dirty="0"/>
              <a:t>Result 3A: Prediction error IRAF predicts subsequent memory</a:t>
            </a:r>
          </a:p>
        </p:txBody>
      </p:sp>
      <p:sp>
        <p:nvSpPr>
          <p:cNvPr id="3" name="Content Placeholder 2">
            <a:extLst>
              <a:ext uri="{FF2B5EF4-FFF2-40B4-BE49-F238E27FC236}">
                <a16:creationId xmlns:a16="http://schemas.microsoft.com/office/drawing/2014/main" id="{13279230-98CE-5856-FBD3-4D47056CE036}"/>
              </a:ext>
            </a:extLst>
          </p:cNvPr>
          <p:cNvSpPr>
            <a:spLocks noGrp="1"/>
          </p:cNvSpPr>
          <p:nvPr>
            <p:ph idx="1"/>
          </p:nvPr>
        </p:nvSpPr>
        <p:spPr/>
        <p:txBody>
          <a:bodyPr/>
          <a:lstStyle/>
          <a:p>
            <a:r>
              <a:rPr lang="en-US" dirty="0"/>
              <a:t>LPFC abs-</a:t>
            </a:r>
            <a:r>
              <a:rPr lang="en-US" dirty="0" err="1"/>
              <a:t>dif</a:t>
            </a:r>
            <a:r>
              <a:rPr lang="en-US" dirty="0"/>
              <a:t> IRAF predicts subsequent memory</a:t>
            </a:r>
          </a:p>
          <a:p>
            <a:endParaRPr lang="en-US" dirty="0"/>
          </a:p>
        </p:txBody>
      </p:sp>
    </p:spTree>
    <p:extLst>
      <p:ext uri="{BB962C8B-B14F-4D97-AF65-F5344CB8AC3E}">
        <p14:creationId xmlns:p14="http://schemas.microsoft.com/office/powerpoint/2010/main" val="23124534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9F17E-1EE9-B525-4301-3DCC345C13A5}"/>
              </a:ext>
            </a:extLst>
          </p:cNvPr>
          <p:cNvSpPr>
            <a:spLocks noGrp="1"/>
          </p:cNvSpPr>
          <p:nvPr>
            <p:ph type="title"/>
          </p:nvPr>
        </p:nvSpPr>
        <p:spPr>
          <a:xfrm>
            <a:off x="747295" y="171322"/>
            <a:ext cx="10515600" cy="1325563"/>
          </a:xfrm>
        </p:spPr>
        <p:txBody>
          <a:bodyPr/>
          <a:lstStyle/>
          <a:p>
            <a:r>
              <a:rPr lang="en-US" dirty="0"/>
              <a:t>Result 3B: Retrieval retrieves scene representation</a:t>
            </a:r>
          </a:p>
        </p:txBody>
      </p:sp>
      <p:sp>
        <p:nvSpPr>
          <p:cNvPr id="3" name="Content Placeholder 2">
            <a:extLst>
              <a:ext uri="{FF2B5EF4-FFF2-40B4-BE49-F238E27FC236}">
                <a16:creationId xmlns:a16="http://schemas.microsoft.com/office/drawing/2014/main" id="{668F6187-0D0D-5642-D562-823A0E31D30B}"/>
              </a:ext>
            </a:extLst>
          </p:cNvPr>
          <p:cNvSpPr>
            <a:spLocks noGrp="1"/>
          </p:cNvSpPr>
          <p:nvPr>
            <p:ph idx="1"/>
          </p:nvPr>
        </p:nvSpPr>
        <p:spPr>
          <a:xfrm>
            <a:off x="853440" y="1570037"/>
            <a:ext cx="5010912" cy="511175"/>
          </a:xfrm>
        </p:spPr>
        <p:txBody>
          <a:bodyPr>
            <a:normAutofit/>
          </a:bodyPr>
          <a:lstStyle/>
          <a:p>
            <a:pPr marL="0" indent="0" algn="ctr">
              <a:buNone/>
            </a:pPr>
            <a:r>
              <a:rPr lang="en-US" dirty="0"/>
              <a:t>Conceptual task: Scene RSA</a:t>
            </a:r>
          </a:p>
        </p:txBody>
      </p:sp>
      <p:pic>
        <p:nvPicPr>
          <p:cNvPr id="5" name="Picture 4">
            <a:extLst>
              <a:ext uri="{FF2B5EF4-FFF2-40B4-BE49-F238E27FC236}">
                <a16:creationId xmlns:a16="http://schemas.microsoft.com/office/drawing/2014/main" id="{00FA69BD-9E42-5222-0C2C-937DB1373C08}"/>
              </a:ext>
            </a:extLst>
          </p:cNvPr>
          <p:cNvPicPr>
            <a:picLocks noChangeAspect="1"/>
          </p:cNvPicPr>
          <p:nvPr/>
        </p:nvPicPr>
        <p:blipFill>
          <a:blip r:embed="rId2"/>
          <a:stretch>
            <a:fillRect/>
          </a:stretch>
        </p:blipFill>
        <p:spPr>
          <a:xfrm>
            <a:off x="255337" y="2081212"/>
            <a:ext cx="6096000" cy="4572000"/>
          </a:xfrm>
          <a:prstGeom prst="rect">
            <a:avLst/>
          </a:prstGeom>
        </p:spPr>
      </p:pic>
      <p:pic>
        <p:nvPicPr>
          <p:cNvPr id="7" name="Picture 6">
            <a:extLst>
              <a:ext uri="{FF2B5EF4-FFF2-40B4-BE49-F238E27FC236}">
                <a16:creationId xmlns:a16="http://schemas.microsoft.com/office/drawing/2014/main" id="{77E18CFB-C6FA-34D4-42FE-130C4593A23A}"/>
              </a:ext>
            </a:extLst>
          </p:cNvPr>
          <p:cNvPicPr>
            <a:picLocks noChangeAspect="1"/>
          </p:cNvPicPr>
          <p:nvPr/>
        </p:nvPicPr>
        <p:blipFill>
          <a:blip r:embed="rId3"/>
          <a:stretch>
            <a:fillRect/>
          </a:stretch>
        </p:blipFill>
        <p:spPr>
          <a:xfrm>
            <a:off x="6132095" y="2081212"/>
            <a:ext cx="6096000" cy="4572000"/>
          </a:xfrm>
          <a:prstGeom prst="rect">
            <a:avLst/>
          </a:prstGeom>
        </p:spPr>
      </p:pic>
      <p:sp>
        <p:nvSpPr>
          <p:cNvPr id="8" name="Content Placeholder 2">
            <a:extLst>
              <a:ext uri="{FF2B5EF4-FFF2-40B4-BE49-F238E27FC236}">
                <a16:creationId xmlns:a16="http://schemas.microsoft.com/office/drawing/2014/main" id="{B2CF343B-3C57-D3F3-CCA6-72F01CB3559D}"/>
              </a:ext>
            </a:extLst>
          </p:cNvPr>
          <p:cNvSpPr txBox="1">
            <a:spLocks/>
          </p:cNvSpPr>
          <p:nvPr/>
        </p:nvSpPr>
        <p:spPr>
          <a:xfrm>
            <a:off x="6843295" y="1570037"/>
            <a:ext cx="4673600" cy="511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t>Visual task: Scene RSA</a:t>
            </a:r>
          </a:p>
        </p:txBody>
      </p:sp>
      <p:sp>
        <p:nvSpPr>
          <p:cNvPr id="4" name="Oval 3">
            <a:extLst>
              <a:ext uri="{FF2B5EF4-FFF2-40B4-BE49-F238E27FC236}">
                <a16:creationId xmlns:a16="http://schemas.microsoft.com/office/drawing/2014/main" id="{A2233BFB-F0F2-E157-60C0-BBDD828C00E8}"/>
              </a:ext>
            </a:extLst>
          </p:cNvPr>
          <p:cNvSpPr/>
          <p:nvPr/>
        </p:nvSpPr>
        <p:spPr>
          <a:xfrm>
            <a:off x="972570" y="2575453"/>
            <a:ext cx="683172" cy="683172"/>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F364ED2-281E-2BD2-0358-380216403FD9}"/>
              </a:ext>
            </a:extLst>
          </p:cNvPr>
          <p:cNvSpPr/>
          <p:nvPr/>
        </p:nvSpPr>
        <p:spPr>
          <a:xfrm>
            <a:off x="6941570" y="2456920"/>
            <a:ext cx="683172" cy="683172"/>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7066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Other things</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365999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7B240-D4F8-A9DA-EFDD-DABDD50629F3}"/>
              </a:ext>
            </a:extLst>
          </p:cNvPr>
          <p:cNvSpPr>
            <a:spLocks noGrp="1"/>
          </p:cNvSpPr>
          <p:nvPr>
            <p:ph type="title"/>
          </p:nvPr>
        </p:nvSpPr>
        <p:spPr/>
        <p:txBody>
          <a:bodyPr/>
          <a:lstStyle/>
          <a:p>
            <a:r>
              <a:rPr lang="en-US" dirty="0"/>
              <a:t>Something cool</a:t>
            </a:r>
          </a:p>
        </p:txBody>
      </p:sp>
      <p:sp>
        <p:nvSpPr>
          <p:cNvPr id="3" name="Content Placeholder 2">
            <a:extLst>
              <a:ext uri="{FF2B5EF4-FFF2-40B4-BE49-F238E27FC236}">
                <a16:creationId xmlns:a16="http://schemas.microsoft.com/office/drawing/2014/main" id="{05AB0A88-0DEA-1F94-A929-BE33CEB048D6}"/>
              </a:ext>
            </a:extLst>
          </p:cNvPr>
          <p:cNvSpPr>
            <a:spLocks noGrp="1"/>
          </p:cNvSpPr>
          <p:nvPr>
            <p:ph idx="1"/>
          </p:nvPr>
        </p:nvSpPr>
        <p:spPr>
          <a:xfrm>
            <a:off x="838200" y="1825625"/>
            <a:ext cx="4784387" cy="4351338"/>
          </a:xfrm>
        </p:spPr>
        <p:txBody>
          <a:bodyPr/>
          <a:lstStyle/>
          <a:p>
            <a:r>
              <a:rPr lang="en-US" dirty="0"/>
              <a:t>Strong hippocampal representation during baseline -&gt; stronger representation during conceptual retrieval</a:t>
            </a:r>
          </a:p>
        </p:txBody>
      </p:sp>
      <p:pic>
        <p:nvPicPr>
          <p:cNvPr id="11" name="Picture 10">
            <a:extLst>
              <a:ext uri="{FF2B5EF4-FFF2-40B4-BE49-F238E27FC236}">
                <a16:creationId xmlns:a16="http://schemas.microsoft.com/office/drawing/2014/main" id="{87CF6E2C-1F7D-045A-FDB0-500846A0EAA4}"/>
              </a:ext>
            </a:extLst>
          </p:cNvPr>
          <p:cNvPicPr>
            <a:picLocks noChangeAspect="1"/>
          </p:cNvPicPr>
          <p:nvPr/>
        </p:nvPicPr>
        <p:blipFill>
          <a:blip r:embed="rId2"/>
          <a:stretch>
            <a:fillRect/>
          </a:stretch>
        </p:blipFill>
        <p:spPr>
          <a:xfrm>
            <a:off x="5835183" y="1531224"/>
            <a:ext cx="5696745" cy="5134692"/>
          </a:xfrm>
          <a:prstGeom prst="rect">
            <a:avLst/>
          </a:prstGeom>
        </p:spPr>
      </p:pic>
    </p:spTree>
    <p:extLst>
      <p:ext uri="{BB962C8B-B14F-4D97-AF65-F5344CB8AC3E}">
        <p14:creationId xmlns:p14="http://schemas.microsoft.com/office/powerpoint/2010/main" val="28223525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4356F6-E6CA-E70B-1743-FFFE221C455C}"/>
              </a:ext>
            </a:extLst>
          </p:cNvPr>
          <p:cNvSpPr>
            <a:spLocks noGrp="1"/>
          </p:cNvSpPr>
          <p:nvPr>
            <p:ph type="title"/>
          </p:nvPr>
        </p:nvSpPr>
        <p:spPr/>
        <p:txBody>
          <a:bodyPr>
            <a:normAutofit/>
          </a:bodyPr>
          <a:lstStyle/>
          <a:p>
            <a:r>
              <a:rPr lang="en-US" sz="4000" dirty="0"/>
              <a:t>Significance testing and permutation testing</a:t>
            </a:r>
          </a:p>
        </p:txBody>
      </p:sp>
      <p:sp>
        <p:nvSpPr>
          <p:cNvPr id="3" name="Content Placeholder 2">
            <a:extLst>
              <a:ext uri="{FF2B5EF4-FFF2-40B4-BE49-F238E27FC236}">
                <a16:creationId xmlns:a16="http://schemas.microsoft.com/office/drawing/2014/main" id="{9E68F6A3-4B31-926E-60B3-368BE35B1E42}"/>
              </a:ext>
            </a:extLst>
          </p:cNvPr>
          <p:cNvSpPr>
            <a:spLocks noGrp="1"/>
          </p:cNvSpPr>
          <p:nvPr>
            <p:ph idx="1"/>
          </p:nvPr>
        </p:nvSpPr>
        <p:spPr/>
        <p:txBody>
          <a:bodyPr/>
          <a:lstStyle/>
          <a:p>
            <a:endParaRPr lang="en-US"/>
          </a:p>
        </p:txBody>
      </p:sp>
      <p:pic>
        <p:nvPicPr>
          <p:cNvPr id="11" name="Picture 10">
            <a:extLst>
              <a:ext uri="{FF2B5EF4-FFF2-40B4-BE49-F238E27FC236}">
                <a16:creationId xmlns:a16="http://schemas.microsoft.com/office/drawing/2014/main" id="{554D1F4C-0CDB-6FFE-345C-70F650D67ED5}"/>
              </a:ext>
            </a:extLst>
          </p:cNvPr>
          <p:cNvPicPr>
            <a:picLocks noChangeAspect="1"/>
          </p:cNvPicPr>
          <p:nvPr/>
        </p:nvPicPr>
        <p:blipFill>
          <a:blip r:embed="rId3"/>
          <a:stretch>
            <a:fillRect/>
          </a:stretch>
        </p:blipFill>
        <p:spPr>
          <a:xfrm>
            <a:off x="6096000" y="1715294"/>
            <a:ext cx="6096000" cy="4572000"/>
          </a:xfrm>
          <a:prstGeom prst="rect">
            <a:avLst/>
          </a:prstGeom>
        </p:spPr>
      </p:pic>
      <p:pic>
        <p:nvPicPr>
          <p:cNvPr id="13" name="Picture 12">
            <a:extLst>
              <a:ext uri="{FF2B5EF4-FFF2-40B4-BE49-F238E27FC236}">
                <a16:creationId xmlns:a16="http://schemas.microsoft.com/office/drawing/2014/main" id="{50879747-886A-C472-F9AF-FCD33BF8602C}"/>
              </a:ext>
            </a:extLst>
          </p:cNvPr>
          <p:cNvPicPr>
            <a:picLocks noChangeAspect="1"/>
          </p:cNvPicPr>
          <p:nvPr/>
        </p:nvPicPr>
        <p:blipFill>
          <a:blip r:embed="rId4"/>
          <a:stretch>
            <a:fillRect/>
          </a:stretch>
        </p:blipFill>
        <p:spPr>
          <a:xfrm>
            <a:off x="119864" y="1741470"/>
            <a:ext cx="6096000" cy="4572000"/>
          </a:xfrm>
          <a:prstGeom prst="rect">
            <a:avLst/>
          </a:prstGeom>
        </p:spPr>
      </p:pic>
    </p:spTree>
    <p:extLst>
      <p:ext uri="{BB962C8B-B14F-4D97-AF65-F5344CB8AC3E}">
        <p14:creationId xmlns:p14="http://schemas.microsoft.com/office/powerpoint/2010/main" val="4424365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F8A30-9097-C6DF-4F19-3F47E35CCC35}"/>
              </a:ext>
            </a:extLst>
          </p:cNvPr>
          <p:cNvSpPr>
            <a:spLocks noGrp="1"/>
          </p:cNvSpPr>
          <p:nvPr>
            <p:ph type="title"/>
          </p:nvPr>
        </p:nvSpPr>
        <p:spPr/>
        <p:txBody>
          <a:bodyPr/>
          <a:lstStyle/>
          <a:p>
            <a:r>
              <a:rPr lang="en-US" dirty="0"/>
              <a:t>Modularity</a:t>
            </a:r>
          </a:p>
        </p:txBody>
      </p:sp>
      <p:pic>
        <p:nvPicPr>
          <p:cNvPr id="7" name="Content Placeholder 6" descr="A diagram of a brain&#10;&#10;Description automatically generated">
            <a:extLst>
              <a:ext uri="{FF2B5EF4-FFF2-40B4-BE49-F238E27FC236}">
                <a16:creationId xmlns:a16="http://schemas.microsoft.com/office/drawing/2014/main" id="{F876F9C2-1A68-4477-18E0-142F7A385BAD}"/>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l="35200" t="10834"/>
          <a:stretch/>
        </p:blipFill>
        <p:spPr>
          <a:xfrm>
            <a:off x="6455028" y="1658919"/>
            <a:ext cx="5323645" cy="2907207"/>
          </a:xfrm>
        </p:spPr>
      </p:pic>
      <p:pic>
        <p:nvPicPr>
          <p:cNvPr id="5" name="Picture 4">
            <a:extLst>
              <a:ext uri="{FF2B5EF4-FFF2-40B4-BE49-F238E27FC236}">
                <a16:creationId xmlns:a16="http://schemas.microsoft.com/office/drawing/2014/main" id="{3A1B3735-50A5-ED6C-FCA7-924BC8814968}"/>
              </a:ext>
            </a:extLst>
          </p:cNvPr>
          <p:cNvPicPr>
            <a:picLocks noChangeAspect="1"/>
          </p:cNvPicPr>
          <p:nvPr/>
        </p:nvPicPr>
        <p:blipFill>
          <a:blip r:embed="rId4"/>
          <a:stretch>
            <a:fillRect/>
          </a:stretch>
        </p:blipFill>
        <p:spPr>
          <a:xfrm>
            <a:off x="615338" y="1658920"/>
            <a:ext cx="5323645" cy="2907206"/>
          </a:xfrm>
          <a:prstGeom prst="rect">
            <a:avLst/>
          </a:prstGeom>
        </p:spPr>
      </p:pic>
      <p:sp>
        <p:nvSpPr>
          <p:cNvPr id="8" name="Content Placeholder 2">
            <a:extLst>
              <a:ext uri="{FF2B5EF4-FFF2-40B4-BE49-F238E27FC236}">
                <a16:creationId xmlns:a16="http://schemas.microsoft.com/office/drawing/2014/main" id="{069D59E4-3E30-5031-69BE-D146CFE67648}"/>
              </a:ext>
            </a:extLst>
          </p:cNvPr>
          <p:cNvSpPr txBox="1">
            <a:spLocks/>
          </p:cNvSpPr>
          <p:nvPr/>
        </p:nvSpPr>
        <p:spPr>
          <a:xfrm>
            <a:off x="838200" y="5199080"/>
            <a:ext cx="10515600" cy="9815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dirty="0"/>
              <a:t>Replicate modules identified by </a:t>
            </a:r>
            <a:r>
              <a:rPr lang="en-US" dirty="0" err="1"/>
              <a:t>Lifu</a:t>
            </a:r>
            <a:endParaRPr lang="en-US" dirty="0"/>
          </a:p>
        </p:txBody>
      </p:sp>
    </p:spTree>
    <p:extLst>
      <p:ext uri="{BB962C8B-B14F-4D97-AF65-F5344CB8AC3E}">
        <p14:creationId xmlns:p14="http://schemas.microsoft.com/office/powerpoint/2010/main" val="2254574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060B0-E6A5-35D9-2E2A-E5CEA68DE85A}"/>
              </a:ext>
            </a:extLst>
          </p:cNvPr>
          <p:cNvSpPr>
            <a:spLocks noGrp="1"/>
          </p:cNvSpPr>
          <p:nvPr>
            <p:ph type="title"/>
          </p:nvPr>
        </p:nvSpPr>
        <p:spPr/>
        <p:txBody>
          <a:bodyPr/>
          <a:lstStyle/>
          <a:p>
            <a:r>
              <a:rPr lang="en-US" dirty="0"/>
              <a:t>Encoding retrieval similarity</a:t>
            </a:r>
          </a:p>
        </p:txBody>
      </p:sp>
      <p:sp>
        <p:nvSpPr>
          <p:cNvPr id="3" name="Content Placeholder 2">
            <a:extLst>
              <a:ext uri="{FF2B5EF4-FFF2-40B4-BE49-F238E27FC236}">
                <a16:creationId xmlns:a16="http://schemas.microsoft.com/office/drawing/2014/main" id="{BD644C49-FBAE-6683-0B29-86BEFC65E4FD}"/>
              </a:ext>
            </a:extLst>
          </p:cNvPr>
          <p:cNvSpPr>
            <a:spLocks noGrp="1"/>
          </p:cNvSpPr>
          <p:nvPr>
            <p:ph idx="1"/>
          </p:nvPr>
        </p:nvSpPr>
        <p:spPr>
          <a:xfrm>
            <a:off x="838200" y="1825625"/>
            <a:ext cx="10515600" cy="4667250"/>
          </a:xfrm>
        </p:spPr>
        <p:txBody>
          <a:bodyPr>
            <a:normAutofit lnSpcReduction="10000"/>
          </a:bodyPr>
          <a:lstStyle/>
          <a:p>
            <a:r>
              <a:rPr lang="en-US" dirty="0"/>
              <a:t>We see correlations:</a:t>
            </a:r>
          </a:p>
          <a:p>
            <a:pPr lvl="1"/>
            <a:r>
              <a:rPr lang="en-US" dirty="0"/>
              <a:t>Baseline x encoding</a:t>
            </a:r>
          </a:p>
          <a:p>
            <a:pPr lvl="1"/>
            <a:r>
              <a:rPr lang="en-US" dirty="0"/>
              <a:t>Baseline x visual (ERS)</a:t>
            </a:r>
          </a:p>
          <a:p>
            <a:pPr lvl="1"/>
            <a:r>
              <a:rPr lang="en-US" dirty="0"/>
              <a:t>Encoding x visual (ERS)</a:t>
            </a:r>
          </a:p>
          <a:p>
            <a:r>
              <a:rPr lang="en-US" dirty="0">
                <a:solidFill>
                  <a:srgbClr val="FF0000"/>
                </a:solidFill>
              </a:rPr>
              <a:t>Possibly interesting further work:</a:t>
            </a:r>
          </a:p>
          <a:p>
            <a:pPr lvl="1"/>
            <a:r>
              <a:rPr lang="en-US" dirty="0"/>
              <a:t>Similarity is, in part, due to the same representation being activated</a:t>
            </a:r>
          </a:p>
          <a:p>
            <a:pPr lvl="1"/>
            <a:r>
              <a:rPr lang="en-US" dirty="0"/>
              <a:t>Hence, we would expect to see an IRAF x ERS correlation</a:t>
            </a:r>
          </a:p>
          <a:p>
            <a:pPr lvl="2"/>
            <a:r>
              <a:rPr lang="en-US" dirty="0"/>
              <a:t>Further, we would expect the correlation to be stronger based on what type of stimulus properties are used to calculate IRAF </a:t>
            </a:r>
          </a:p>
          <a:p>
            <a:pPr lvl="2"/>
            <a:r>
              <a:rPr lang="en-US" dirty="0"/>
              <a:t>(e.g., if using DNN vectors, we would expect stronger IRAF x ERS in occipital, but if using word2vec vectors, we would expect stronger IRAF x ERS in ATL)</a:t>
            </a:r>
          </a:p>
          <a:p>
            <a:pPr lvl="1"/>
            <a:r>
              <a:rPr lang="en-US" dirty="0"/>
              <a:t>Not sure how this could be useful. Maybe this can prove to be a more sensitive measure than RDM x RDM correlations?</a:t>
            </a:r>
          </a:p>
          <a:p>
            <a:pPr lvl="1"/>
            <a:endParaRPr lang="en-US" dirty="0"/>
          </a:p>
          <a:p>
            <a:pPr lvl="1"/>
            <a:endParaRPr lang="en-US" dirty="0"/>
          </a:p>
        </p:txBody>
      </p:sp>
    </p:spTree>
    <p:extLst>
      <p:ext uri="{BB962C8B-B14F-4D97-AF65-F5344CB8AC3E}">
        <p14:creationId xmlns:p14="http://schemas.microsoft.com/office/powerpoint/2010/main" val="1244846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Whiffs </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40026512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B2EF9-B761-D3F7-853D-F40968FFE82E}"/>
              </a:ext>
            </a:extLst>
          </p:cNvPr>
          <p:cNvSpPr>
            <a:spLocks noGrp="1"/>
          </p:cNvSpPr>
          <p:nvPr>
            <p:ph type="title"/>
          </p:nvPr>
        </p:nvSpPr>
        <p:spPr>
          <a:xfrm>
            <a:off x="838200" y="0"/>
            <a:ext cx="10515600" cy="878319"/>
          </a:xfrm>
        </p:spPr>
        <p:txBody>
          <a:bodyPr/>
          <a:lstStyle/>
          <a:p>
            <a:r>
              <a:rPr lang="en-US" dirty="0"/>
              <a:t>Other analyses</a:t>
            </a:r>
          </a:p>
        </p:txBody>
      </p:sp>
      <p:sp>
        <p:nvSpPr>
          <p:cNvPr id="3" name="Content Placeholder 2">
            <a:extLst>
              <a:ext uri="{FF2B5EF4-FFF2-40B4-BE49-F238E27FC236}">
                <a16:creationId xmlns:a16="http://schemas.microsoft.com/office/drawing/2014/main" id="{BBC86783-DCF9-96A2-6BFD-5070AC5843CF}"/>
              </a:ext>
            </a:extLst>
          </p:cNvPr>
          <p:cNvSpPr>
            <a:spLocks noGrp="1"/>
          </p:cNvSpPr>
          <p:nvPr>
            <p:ph idx="1"/>
          </p:nvPr>
        </p:nvSpPr>
        <p:spPr>
          <a:xfrm>
            <a:off x="838200" y="1013688"/>
            <a:ext cx="10877550" cy="5827281"/>
          </a:xfrm>
        </p:spPr>
        <p:txBody>
          <a:bodyPr>
            <a:normAutofit fontScale="92500" lnSpcReduction="20000"/>
          </a:bodyPr>
          <a:lstStyle/>
          <a:p>
            <a:r>
              <a:rPr lang="en-US" dirty="0">
                <a:solidFill>
                  <a:srgbClr val="C00000"/>
                </a:solidFill>
              </a:rPr>
              <a:t>Can you do RSA with respect to the fMRI difference vector?</a:t>
            </a:r>
          </a:p>
          <a:p>
            <a:pPr lvl="1"/>
            <a:r>
              <a:rPr lang="en-US" dirty="0"/>
              <a:t>E.g., examine whether presenting a scene shifts the neural representation of the object between baseline ➜ retrieval</a:t>
            </a:r>
          </a:p>
          <a:p>
            <a:pPr lvl="2"/>
            <a:r>
              <a:rPr lang="en-US" dirty="0"/>
              <a:t>[Scene stimulus vector] x [baseline-fMRI minus visual-fMRI]</a:t>
            </a:r>
          </a:p>
          <a:p>
            <a:pPr lvl="2"/>
            <a:r>
              <a:rPr lang="en-US" dirty="0"/>
              <a:t>Overlapping ideas with that journal club paper we read on semantic shifts after learning</a:t>
            </a:r>
          </a:p>
          <a:p>
            <a:pPr lvl="1"/>
            <a:r>
              <a:rPr lang="en-US" dirty="0"/>
              <a:t>No significant results</a:t>
            </a:r>
          </a:p>
          <a:p>
            <a:pPr lvl="2"/>
            <a:r>
              <a:rPr lang="en-US" dirty="0"/>
              <a:t>This route may have potential, but it may just be too much of a stretch given the present design</a:t>
            </a:r>
          </a:p>
          <a:p>
            <a:r>
              <a:rPr lang="en-US" dirty="0">
                <a:solidFill>
                  <a:srgbClr val="0070C0"/>
                </a:solidFill>
              </a:rPr>
              <a:t>Does congruency lead to connectivity patterns during scene presentation being more correlated with connectivity during object presentation?</a:t>
            </a:r>
          </a:p>
          <a:p>
            <a:pPr lvl="1"/>
            <a:r>
              <a:rPr lang="en-US" dirty="0"/>
              <a:t>No, it doesn’t</a:t>
            </a:r>
          </a:p>
          <a:p>
            <a:r>
              <a:rPr lang="en-US" dirty="0">
                <a:solidFill>
                  <a:schemeClr val="accent6">
                    <a:lumMod val="75000"/>
                  </a:schemeClr>
                </a:solidFill>
              </a:rPr>
              <a:t>If you calculate single-trial connectivity based on the scene x object betas (binary connectivity), and submit the data to RSA, will you find significant results?</a:t>
            </a:r>
          </a:p>
          <a:p>
            <a:pPr lvl="1"/>
            <a:r>
              <a:rPr lang="en-US" dirty="0"/>
              <a:t>No, not really</a:t>
            </a:r>
          </a:p>
          <a:p>
            <a:pPr lvl="1"/>
            <a:r>
              <a:rPr lang="en-US" dirty="0"/>
              <a:t>Found one significant RSA result:</a:t>
            </a:r>
          </a:p>
          <a:p>
            <a:pPr lvl="2"/>
            <a:r>
              <a:rPr lang="en-US" dirty="0"/>
              <a:t>Within-occipital-lobe-connectivity x last-layer-activation-DNN</a:t>
            </a:r>
          </a:p>
          <a:p>
            <a:pPr lvl="2"/>
            <a:r>
              <a:rPr lang="en-US" dirty="0"/>
              <a:t>My guess is that this is spurious</a:t>
            </a:r>
          </a:p>
        </p:txBody>
      </p:sp>
    </p:spTree>
    <p:extLst>
      <p:ext uri="{BB962C8B-B14F-4D97-AF65-F5344CB8AC3E}">
        <p14:creationId xmlns:p14="http://schemas.microsoft.com/office/powerpoint/2010/main" val="394915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a:xfrm>
            <a:off x="1524000" y="1122363"/>
            <a:ext cx="9144000" cy="2133599"/>
          </a:xfrm>
        </p:spPr>
        <p:txBody>
          <a:bodyPr/>
          <a:lstStyle/>
          <a:p>
            <a:r>
              <a:rPr lang="en-US" dirty="0"/>
              <a:t>Study ideas</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a:xfrm>
            <a:off x="1524000" y="3579814"/>
            <a:ext cx="9144000" cy="2227262"/>
          </a:xfrm>
        </p:spPr>
        <p:txBody>
          <a:bodyPr>
            <a:normAutofit/>
          </a:bodyPr>
          <a:lstStyle/>
          <a:p>
            <a:r>
              <a:rPr lang="en-US" sz="3600" dirty="0">
                <a:solidFill>
                  <a:srgbClr val="002060"/>
                </a:solidFill>
              </a:rPr>
              <a:t>How are </a:t>
            </a:r>
            <a:r>
              <a:rPr lang="en-US" sz="3600" u="sng" dirty="0">
                <a:solidFill>
                  <a:srgbClr val="002060"/>
                </a:solidFill>
              </a:rPr>
              <a:t>episodic memories</a:t>
            </a:r>
            <a:r>
              <a:rPr lang="en-US" sz="3600" dirty="0">
                <a:solidFill>
                  <a:srgbClr val="002060"/>
                </a:solidFill>
              </a:rPr>
              <a:t> represented and how are </a:t>
            </a:r>
            <a:r>
              <a:rPr lang="en-US" sz="3600" u="sng" dirty="0">
                <a:solidFill>
                  <a:srgbClr val="002060"/>
                </a:solidFill>
              </a:rPr>
              <a:t>relational memories</a:t>
            </a:r>
            <a:r>
              <a:rPr lang="en-US" sz="3600" dirty="0">
                <a:solidFill>
                  <a:srgbClr val="002060"/>
                </a:solidFill>
              </a:rPr>
              <a:t> encoded? </a:t>
            </a:r>
          </a:p>
        </p:txBody>
      </p:sp>
    </p:spTree>
    <p:extLst>
      <p:ext uri="{BB962C8B-B14F-4D97-AF65-F5344CB8AC3E}">
        <p14:creationId xmlns:p14="http://schemas.microsoft.com/office/powerpoint/2010/main" val="25306703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1F41E-4FDC-4A21-3C05-A8E96B1F2F4C}"/>
              </a:ext>
            </a:extLst>
          </p:cNvPr>
          <p:cNvSpPr>
            <a:spLocks noGrp="1"/>
          </p:cNvSpPr>
          <p:nvPr>
            <p:ph type="title"/>
          </p:nvPr>
        </p:nvSpPr>
        <p:spPr>
          <a:xfrm>
            <a:off x="838200" y="365125"/>
            <a:ext cx="10515600" cy="892175"/>
          </a:xfrm>
        </p:spPr>
        <p:txBody>
          <a:bodyPr/>
          <a:lstStyle/>
          <a:p>
            <a:r>
              <a:rPr lang="en-US" dirty="0">
                <a:solidFill>
                  <a:srgbClr val="002060"/>
                </a:solidFill>
              </a:rPr>
              <a:t>Generalize the past, pinpoint the future</a:t>
            </a:r>
          </a:p>
        </p:txBody>
      </p:sp>
      <p:sp>
        <p:nvSpPr>
          <p:cNvPr id="3" name="Content Placeholder 2">
            <a:extLst>
              <a:ext uri="{FF2B5EF4-FFF2-40B4-BE49-F238E27FC236}">
                <a16:creationId xmlns:a16="http://schemas.microsoft.com/office/drawing/2014/main" id="{07FDD9B7-B465-539B-5376-9F1A7BB450ED}"/>
              </a:ext>
            </a:extLst>
          </p:cNvPr>
          <p:cNvSpPr>
            <a:spLocks noGrp="1"/>
          </p:cNvSpPr>
          <p:nvPr>
            <p:ph idx="1"/>
          </p:nvPr>
        </p:nvSpPr>
        <p:spPr>
          <a:xfrm>
            <a:off x="838200" y="1544638"/>
            <a:ext cx="10515600" cy="4948237"/>
          </a:xfrm>
        </p:spPr>
        <p:txBody>
          <a:bodyPr>
            <a:normAutofit/>
          </a:bodyPr>
          <a:lstStyle/>
          <a:p>
            <a:r>
              <a:rPr lang="en-US" dirty="0"/>
              <a:t>Consistent with the apparent style of this lab’s studies, another feature can be added</a:t>
            </a:r>
          </a:p>
          <a:p>
            <a:pPr lvl="1"/>
            <a:r>
              <a:rPr lang="en-US" dirty="0"/>
              <a:t>Investigation of generalization</a:t>
            </a:r>
          </a:p>
          <a:p>
            <a:pPr lvl="1"/>
            <a:r>
              <a:rPr lang="en-US" dirty="0"/>
              <a:t>Hypothesis: </a:t>
            </a:r>
          </a:p>
          <a:p>
            <a:pPr lvl="2"/>
            <a:r>
              <a:rPr lang="en-US" dirty="0"/>
              <a:t>When people think about an event, they have a broad imagination about what could have led to it</a:t>
            </a:r>
          </a:p>
          <a:p>
            <a:pPr lvl="2"/>
            <a:r>
              <a:rPr lang="en-US" dirty="0"/>
              <a:t>However, people narrowly consider what will follow the event</a:t>
            </a:r>
          </a:p>
          <a:p>
            <a:pPr lvl="1"/>
            <a:r>
              <a:rPr lang="en-US" dirty="0"/>
              <a:t>Forward/backward dissociation</a:t>
            </a:r>
          </a:p>
        </p:txBody>
      </p:sp>
    </p:spTree>
    <p:extLst>
      <p:ext uri="{BB962C8B-B14F-4D97-AF65-F5344CB8AC3E}">
        <p14:creationId xmlns:p14="http://schemas.microsoft.com/office/powerpoint/2010/main" val="36590944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D4D8E77-6EAD-B6D4-6CD2-0C1431F0F6FE}"/>
              </a:ext>
            </a:extLst>
          </p:cNvPr>
          <p:cNvSpPr/>
          <p:nvPr/>
        </p:nvSpPr>
        <p:spPr>
          <a:xfrm>
            <a:off x="8599468" y="203387"/>
            <a:ext cx="1270000" cy="1270000"/>
          </a:xfrm>
          <a:prstGeom prst="rect">
            <a:avLst/>
          </a:prstGeom>
          <a:solidFill>
            <a:schemeClr val="bg1"/>
          </a:solidFill>
          <a:ln w="3810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71EDC384-2A0E-EEB3-78A4-D1F55453A91D}"/>
              </a:ext>
            </a:extLst>
          </p:cNvPr>
          <p:cNvPicPr>
            <a:picLocks noChangeAspect="1"/>
          </p:cNvPicPr>
          <p:nvPr/>
        </p:nvPicPr>
        <p:blipFill>
          <a:blip r:embed="rId3"/>
          <a:stretch>
            <a:fillRect/>
          </a:stretch>
        </p:blipFill>
        <p:spPr>
          <a:xfrm>
            <a:off x="8724900" y="293418"/>
            <a:ext cx="1087801" cy="798639"/>
          </a:xfrm>
          <a:prstGeom prst="rect">
            <a:avLst/>
          </a:prstGeom>
        </p:spPr>
      </p:pic>
      <p:sp>
        <p:nvSpPr>
          <p:cNvPr id="12" name="Rectangle 11">
            <a:extLst>
              <a:ext uri="{FF2B5EF4-FFF2-40B4-BE49-F238E27FC236}">
                <a16:creationId xmlns:a16="http://schemas.microsoft.com/office/drawing/2014/main" id="{552D42D5-B32B-3952-6151-BAAFEDA82D15}"/>
              </a:ext>
            </a:extLst>
          </p:cNvPr>
          <p:cNvSpPr/>
          <p:nvPr/>
        </p:nvSpPr>
        <p:spPr>
          <a:xfrm>
            <a:off x="9193193" y="732888"/>
            <a:ext cx="1270000" cy="1270000"/>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516D461-CEC5-7E2C-9257-E7837FE91182}"/>
              </a:ext>
            </a:extLst>
          </p:cNvPr>
          <p:cNvSpPr txBox="1"/>
          <p:nvPr/>
        </p:nvSpPr>
        <p:spPr>
          <a:xfrm>
            <a:off x="9235042" y="822920"/>
            <a:ext cx="1196441"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Respond</a:t>
            </a:r>
          </a:p>
        </p:txBody>
      </p:sp>
      <p:sp>
        <p:nvSpPr>
          <p:cNvPr id="2" name="Title 1">
            <a:extLst>
              <a:ext uri="{FF2B5EF4-FFF2-40B4-BE49-F238E27FC236}">
                <a16:creationId xmlns:a16="http://schemas.microsoft.com/office/drawing/2014/main" id="{DA357CED-64BC-02CE-76CA-C9E94A9ABB40}"/>
              </a:ext>
            </a:extLst>
          </p:cNvPr>
          <p:cNvSpPr>
            <a:spLocks noGrp="1"/>
          </p:cNvSpPr>
          <p:nvPr>
            <p:ph type="title"/>
          </p:nvPr>
        </p:nvSpPr>
        <p:spPr>
          <a:xfrm>
            <a:off x="755690" y="257125"/>
            <a:ext cx="7250053" cy="424889"/>
          </a:xfrm>
        </p:spPr>
        <p:txBody>
          <a:bodyPr>
            <a:normAutofit fontScale="90000"/>
          </a:bodyPr>
          <a:lstStyle/>
          <a:p>
            <a:r>
              <a:rPr lang="en-US" dirty="0">
                <a:solidFill>
                  <a:srgbClr val="002060"/>
                </a:solidFill>
              </a:rPr>
              <a:t>Task idea 1</a:t>
            </a:r>
          </a:p>
        </p:txBody>
      </p:sp>
      <p:sp>
        <p:nvSpPr>
          <p:cNvPr id="3" name="Content Placeholder 2">
            <a:extLst>
              <a:ext uri="{FF2B5EF4-FFF2-40B4-BE49-F238E27FC236}">
                <a16:creationId xmlns:a16="http://schemas.microsoft.com/office/drawing/2014/main" id="{2857CA20-F434-0246-9F14-8DBD6D441BF0}"/>
              </a:ext>
            </a:extLst>
          </p:cNvPr>
          <p:cNvSpPr>
            <a:spLocks noGrp="1"/>
          </p:cNvSpPr>
          <p:nvPr>
            <p:ph idx="1"/>
          </p:nvPr>
        </p:nvSpPr>
        <p:spPr>
          <a:xfrm>
            <a:off x="269332" y="963738"/>
            <a:ext cx="8534400" cy="5787313"/>
          </a:xfrm>
        </p:spPr>
        <p:txBody>
          <a:bodyPr>
            <a:normAutofit fontScale="92500" lnSpcReduction="10000"/>
          </a:bodyPr>
          <a:lstStyle/>
          <a:p>
            <a:r>
              <a:rPr lang="en-US" dirty="0"/>
              <a:t>Encoding:</a:t>
            </a:r>
          </a:p>
          <a:p>
            <a:pPr lvl="1"/>
            <a:r>
              <a:rPr lang="en-US" dirty="0"/>
              <a:t>Participants perform task loosely related to a 1-back task</a:t>
            </a:r>
          </a:p>
          <a:p>
            <a:pPr lvl="1"/>
            <a:r>
              <a:rPr lang="en-US" dirty="0"/>
              <a:t>In each trial:</a:t>
            </a:r>
          </a:p>
          <a:p>
            <a:pPr lvl="2"/>
            <a:r>
              <a:rPr lang="en-US" dirty="0"/>
              <a:t>Presentation of image</a:t>
            </a:r>
          </a:p>
          <a:p>
            <a:pPr lvl="2"/>
            <a:r>
              <a:rPr lang="en-US" dirty="0"/>
              <a:t>Prompted to indicate some relationship with the previous image (e.g., was it larger/same color/etc.)</a:t>
            </a:r>
          </a:p>
          <a:p>
            <a:pPr lvl="1"/>
            <a:r>
              <a:rPr lang="en-US" dirty="0"/>
              <a:t>Each trial is 6 s, with 3 s presentation/response and 3 s ITI</a:t>
            </a:r>
          </a:p>
          <a:p>
            <a:pPr lvl="2"/>
            <a:r>
              <a:rPr lang="en-US" dirty="0"/>
              <a:t>Longer than a standard 1-back task, to give time to form episodic memories, but still quick enough to pack in many trials</a:t>
            </a:r>
          </a:p>
          <a:p>
            <a:r>
              <a:rPr lang="en-US" dirty="0"/>
              <a:t>Retrieval:</a:t>
            </a:r>
          </a:p>
          <a:p>
            <a:pPr lvl="1"/>
            <a:r>
              <a:rPr lang="en-US" dirty="0"/>
              <a:t>Participants shown cue image and perform R/K task for it</a:t>
            </a:r>
          </a:p>
          <a:p>
            <a:pPr lvl="1"/>
            <a:r>
              <a:rPr lang="en-US" dirty="0"/>
              <a:t>Participants shown target image, asked whether it was:</a:t>
            </a:r>
          </a:p>
          <a:p>
            <a:pPr lvl="2"/>
            <a:r>
              <a:rPr lang="en-US" dirty="0"/>
              <a:t>(1) previously shown just </a:t>
            </a:r>
            <a:r>
              <a:rPr lang="en-US" u="sng" dirty="0"/>
              <a:t>before</a:t>
            </a:r>
            <a:r>
              <a:rPr lang="en-US" dirty="0"/>
              <a:t> the cue</a:t>
            </a:r>
          </a:p>
          <a:p>
            <a:pPr lvl="2"/>
            <a:r>
              <a:rPr lang="en-US" dirty="0"/>
              <a:t>(2) is similar to the image shown just </a:t>
            </a:r>
            <a:r>
              <a:rPr lang="en-US" u="sng" dirty="0"/>
              <a:t>before </a:t>
            </a:r>
            <a:r>
              <a:rPr lang="en-US" dirty="0"/>
              <a:t>X</a:t>
            </a:r>
          </a:p>
          <a:p>
            <a:pPr lvl="2"/>
            <a:r>
              <a:rPr lang="en-US" dirty="0"/>
              <a:t>(3) neither</a:t>
            </a:r>
          </a:p>
          <a:p>
            <a:pPr lvl="1"/>
            <a:r>
              <a:rPr lang="en-US" dirty="0"/>
              <a:t>Participants also respond to a similar question but asking about what image came </a:t>
            </a:r>
            <a:r>
              <a:rPr lang="en-US" u="sng" dirty="0"/>
              <a:t>after</a:t>
            </a:r>
          </a:p>
        </p:txBody>
      </p:sp>
      <p:sp>
        <p:nvSpPr>
          <p:cNvPr id="4" name="Rectangle 3">
            <a:extLst>
              <a:ext uri="{FF2B5EF4-FFF2-40B4-BE49-F238E27FC236}">
                <a16:creationId xmlns:a16="http://schemas.microsoft.com/office/drawing/2014/main" id="{F698540C-7F09-5AF1-5C2A-FE863B18593E}"/>
              </a:ext>
            </a:extLst>
          </p:cNvPr>
          <p:cNvSpPr/>
          <p:nvPr/>
        </p:nvSpPr>
        <p:spPr>
          <a:xfrm>
            <a:off x="9490075" y="1180255"/>
            <a:ext cx="1270000" cy="1270000"/>
          </a:xfrm>
          <a:prstGeom prst="rect">
            <a:avLst/>
          </a:prstGeom>
          <a:solidFill>
            <a:schemeClr val="bg1"/>
          </a:solidFill>
          <a:ln w="38100">
            <a:solidFill>
              <a:srgbClr val="FF7C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33F34C5-300E-EE25-88F5-EF5371FB59E3}"/>
              </a:ext>
            </a:extLst>
          </p:cNvPr>
          <p:cNvPicPr>
            <a:picLocks noChangeAspect="1"/>
          </p:cNvPicPr>
          <p:nvPr/>
        </p:nvPicPr>
        <p:blipFill>
          <a:blip r:embed="rId4"/>
          <a:stretch>
            <a:fillRect/>
          </a:stretch>
        </p:blipFill>
        <p:spPr>
          <a:xfrm>
            <a:off x="9566274" y="1259422"/>
            <a:ext cx="1090613" cy="821501"/>
          </a:xfrm>
          <a:prstGeom prst="rect">
            <a:avLst/>
          </a:prstGeom>
        </p:spPr>
      </p:pic>
      <p:sp>
        <p:nvSpPr>
          <p:cNvPr id="7" name="Rectangle 6">
            <a:extLst>
              <a:ext uri="{FF2B5EF4-FFF2-40B4-BE49-F238E27FC236}">
                <a16:creationId xmlns:a16="http://schemas.microsoft.com/office/drawing/2014/main" id="{94680057-FE45-73DC-B24B-A7AE3561A251}"/>
              </a:ext>
            </a:extLst>
          </p:cNvPr>
          <p:cNvSpPr/>
          <p:nvPr/>
        </p:nvSpPr>
        <p:spPr>
          <a:xfrm>
            <a:off x="10083800" y="1709756"/>
            <a:ext cx="1270000" cy="1270000"/>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C822B0A-F8C7-5886-9E23-0FE0467D0A13}"/>
              </a:ext>
            </a:extLst>
          </p:cNvPr>
          <p:cNvSpPr txBox="1"/>
          <p:nvPr/>
        </p:nvSpPr>
        <p:spPr>
          <a:xfrm>
            <a:off x="10163294" y="1799788"/>
            <a:ext cx="1172116"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Respond</a:t>
            </a:r>
          </a:p>
        </p:txBody>
      </p:sp>
      <p:sp>
        <p:nvSpPr>
          <p:cNvPr id="20" name="Rectangle 19">
            <a:extLst>
              <a:ext uri="{FF2B5EF4-FFF2-40B4-BE49-F238E27FC236}">
                <a16:creationId xmlns:a16="http://schemas.microsoft.com/office/drawing/2014/main" id="{4DEA2FE5-5B33-B7C2-D7DB-5FD73B99C328}"/>
              </a:ext>
            </a:extLst>
          </p:cNvPr>
          <p:cNvSpPr/>
          <p:nvPr/>
        </p:nvSpPr>
        <p:spPr>
          <a:xfrm>
            <a:off x="10566400" y="2230080"/>
            <a:ext cx="1270000" cy="1270000"/>
          </a:xfrm>
          <a:prstGeom prst="rect">
            <a:avLst/>
          </a:prstGeom>
          <a:solidFill>
            <a:schemeClr val="bg1"/>
          </a:solidFill>
          <a:ln w="3810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5F0F0BF4-F7E4-67EB-B3BF-8CECAEDE6CF2}"/>
              </a:ext>
            </a:extLst>
          </p:cNvPr>
          <p:cNvPicPr>
            <a:picLocks noChangeAspect="1"/>
          </p:cNvPicPr>
          <p:nvPr/>
        </p:nvPicPr>
        <p:blipFill>
          <a:blip r:embed="rId5"/>
          <a:stretch>
            <a:fillRect/>
          </a:stretch>
        </p:blipFill>
        <p:spPr>
          <a:xfrm>
            <a:off x="10745797" y="2383371"/>
            <a:ext cx="993755" cy="694267"/>
          </a:xfrm>
          <a:prstGeom prst="rect">
            <a:avLst/>
          </a:prstGeom>
        </p:spPr>
      </p:pic>
      <p:sp>
        <p:nvSpPr>
          <p:cNvPr id="23" name="Rectangle 22">
            <a:extLst>
              <a:ext uri="{FF2B5EF4-FFF2-40B4-BE49-F238E27FC236}">
                <a16:creationId xmlns:a16="http://schemas.microsoft.com/office/drawing/2014/main" id="{1C9EB3B2-BB3D-76F0-ABF7-48BAB99C8A9E}"/>
              </a:ext>
            </a:extLst>
          </p:cNvPr>
          <p:cNvSpPr/>
          <p:nvPr/>
        </p:nvSpPr>
        <p:spPr>
          <a:xfrm>
            <a:off x="8839190" y="3904301"/>
            <a:ext cx="1270000" cy="1270000"/>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a:extLst>
              <a:ext uri="{FF2B5EF4-FFF2-40B4-BE49-F238E27FC236}">
                <a16:creationId xmlns:a16="http://schemas.microsoft.com/office/drawing/2014/main" id="{849FF84E-EB49-7190-5C7B-F519E19D4C4E}"/>
              </a:ext>
            </a:extLst>
          </p:cNvPr>
          <p:cNvPicPr>
            <a:picLocks noChangeAspect="1"/>
          </p:cNvPicPr>
          <p:nvPr/>
        </p:nvPicPr>
        <p:blipFill>
          <a:blip r:embed="rId4"/>
          <a:stretch>
            <a:fillRect/>
          </a:stretch>
        </p:blipFill>
        <p:spPr>
          <a:xfrm>
            <a:off x="8915389" y="3983468"/>
            <a:ext cx="1090613" cy="821501"/>
          </a:xfrm>
          <a:prstGeom prst="rect">
            <a:avLst/>
          </a:prstGeom>
        </p:spPr>
      </p:pic>
      <p:sp>
        <p:nvSpPr>
          <p:cNvPr id="25" name="TextBox 24">
            <a:extLst>
              <a:ext uri="{FF2B5EF4-FFF2-40B4-BE49-F238E27FC236}">
                <a16:creationId xmlns:a16="http://schemas.microsoft.com/office/drawing/2014/main" id="{654CFF3D-E49E-C80D-007D-5D8A340D5606}"/>
              </a:ext>
            </a:extLst>
          </p:cNvPr>
          <p:cNvSpPr txBox="1"/>
          <p:nvPr/>
        </p:nvSpPr>
        <p:spPr>
          <a:xfrm>
            <a:off x="8850856" y="4799737"/>
            <a:ext cx="813043"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R/K/N</a:t>
            </a:r>
          </a:p>
        </p:txBody>
      </p:sp>
      <p:sp>
        <p:nvSpPr>
          <p:cNvPr id="31" name="TextBox 30">
            <a:extLst>
              <a:ext uri="{FF2B5EF4-FFF2-40B4-BE49-F238E27FC236}">
                <a16:creationId xmlns:a16="http://schemas.microsoft.com/office/drawing/2014/main" id="{ADE44483-3F24-A7D7-D3B9-2A8B811BA56B}"/>
              </a:ext>
            </a:extLst>
          </p:cNvPr>
          <p:cNvSpPr txBox="1"/>
          <p:nvPr/>
        </p:nvSpPr>
        <p:spPr>
          <a:xfrm>
            <a:off x="10769026" y="979018"/>
            <a:ext cx="755015" cy="646331"/>
          </a:xfrm>
          <a:prstGeom prst="rect">
            <a:avLst/>
          </a:prstGeom>
          <a:noFill/>
        </p:spPr>
        <p:txBody>
          <a:bodyPr wrap="none" rtlCol="0">
            <a:spAutoFit/>
          </a:bodyPr>
          <a:lstStyle/>
          <a:p>
            <a:r>
              <a:rPr lang="en-US" dirty="0">
                <a:solidFill>
                  <a:srgbClr val="FF7C80"/>
                </a:solidFill>
              </a:rPr>
              <a:t>“Cue”</a:t>
            </a:r>
          </a:p>
          <a:p>
            <a:r>
              <a:rPr lang="en-US" dirty="0">
                <a:solidFill>
                  <a:srgbClr val="FF7C80"/>
                </a:solidFill>
              </a:rPr>
              <a:t>image</a:t>
            </a:r>
          </a:p>
        </p:txBody>
      </p:sp>
      <p:sp>
        <p:nvSpPr>
          <p:cNvPr id="32" name="TextBox 31">
            <a:extLst>
              <a:ext uri="{FF2B5EF4-FFF2-40B4-BE49-F238E27FC236}">
                <a16:creationId xmlns:a16="http://schemas.microsoft.com/office/drawing/2014/main" id="{2383EF82-A258-5C83-27F9-35A773ABB56A}"/>
              </a:ext>
            </a:extLst>
          </p:cNvPr>
          <p:cNvSpPr txBox="1"/>
          <p:nvPr/>
        </p:nvSpPr>
        <p:spPr>
          <a:xfrm>
            <a:off x="9908006" y="35683"/>
            <a:ext cx="1042530" cy="646331"/>
          </a:xfrm>
          <a:prstGeom prst="rect">
            <a:avLst/>
          </a:prstGeom>
          <a:noFill/>
        </p:spPr>
        <p:txBody>
          <a:bodyPr wrap="square" rtlCol="0">
            <a:spAutoFit/>
          </a:bodyPr>
          <a:lstStyle/>
          <a:p>
            <a:r>
              <a:rPr lang="en-US" dirty="0">
                <a:solidFill>
                  <a:srgbClr val="7030A0"/>
                </a:solidFill>
              </a:rPr>
              <a:t>“Target” image</a:t>
            </a:r>
          </a:p>
        </p:txBody>
      </p:sp>
      <p:sp>
        <p:nvSpPr>
          <p:cNvPr id="33" name="TextBox 32">
            <a:extLst>
              <a:ext uri="{FF2B5EF4-FFF2-40B4-BE49-F238E27FC236}">
                <a16:creationId xmlns:a16="http://schemas.microsoft.com/office/drawing/2014/main" id="{A86CFF83-E0D2-28C9-4E7E-C8E7ADD7EA3F}"/>
              </a:ext>
            </a:extLst>
          </p:cNvPr>
          <p:cNvSpPr txBox="1"/>
          <p:nvPr/>
        </p:nvSpPr>
        <p:spPr>
          <a:xfrm>
            <a:off x="11362751" y="1590536"/>
            <a:ext cx="858478" cy="646331"/>
          </a:xfrm>
          <a:prstGeom prst="rect">
            <a:avLst/>
          </a:prstGeom>
          <a:noFill/>
        </p:spPr>
        <p:txBody>
          <a:bodyPr wrap="square" rtlCol="0">
            <a:spAutoFit/>
          </a:bodyPr>
          <a:lstStyle/>
          <a:p>
            <a:r>
              <a:rPr lang="en-US" dirty="0">
                <a:solidFill>
                  <a:srgbClr val="7030A0"/>
                </a:solidFill>
              </a:rPr>
              <a:t>Target image</a:t>
            </a:r>
          </a:p>
        </p:txBody>
      </p:sp>
      <p:sp>
        <p:nvSpPr>
          <p:cNvPr id="34" name="TextBox 33">
            <a:extLst>
              <a:ext uri="{FF2B5EF4-FFF2-40B4-BE49-F238E27FC236}">
                <a16:creationId xmlns:a16="http://schemas.microsoft.com/office/drawing/2014/main" id="{0AF3996B-CE96-42CA-475E-62006AD4280B}"/>
              </a:ext>
            </a:extLst>
          </p:cNvPr>
          <p:cNvSpPr txBox="1"/>
          <p:nvPr/>
        </p:nvSpPr>
        <p:spPr>
          <a:xfrm>
            <a:off x="8810646" y="2629098"/>
            <a:ext cx="1452551" cy="923330"/>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Target images are repeated</a:t>
            </a:r>
          </a:p>
        </p:txBody>
      </p:sp>
      <p:sp>
        <p:nvSpPr>
          <p:cNvPr id="36" name="Rectangle 35">
            <a:extLst>
              <a:ext uri="{FF2B5EF4-FFF2-40B4-BE49-F238E27FC236}">
                <a16:creationId xmlns:a16="http://schemas.microsoft.com/office/drawing/2014/main" id="{86FD238C-2644-A9E0-784C-758BA4A9E54A}"/>
              </a:ext>
            </a:extLst>
          </p:cNvPr>
          <p:cNvSpPr/>
          <p:nvPr/>
        </p:nvSpPr>
        <p:spPr>
          <a:xfrm>
            <a:off x="9637755" y="4574243"/>
            <a:ext cx="1270000" cy="1270000"/>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EAE8501-09CE-462D-44B5-126D13671B56}"/>
              </a:ext>
            </a:extLst>
          </p:cNvPr>
          <p:cNvSpPr txBox="1"/>
          <p:nvPr/>
        </p:nvSpPr>
        <p:spPr>
          <a:xfrm>
            <a:off x="10014021" y="4979082"/>
            <a:ext cx="867545" cy="830997"/>
          </a:xfrm>
          <a:prstGeom prst="rect">
            <a:avLst/>
          </a:prstGeom>
          <a:noFill/>
        </p:spPr>
        <p:txBody>
          <a:bodyPr wrap="square" rtlCol="0">
            <a:spAutoFit/>
          </a:bodyPr>
          <a:lstStyle/>
          <a:p>
            <a:pPr algn="ctr"/>
            <a:r>
              <a:rPr lang="en-US" sz="1600" dirty="0">
                <a:latin typeface="Arial" panose="020B0604020202020204" pitchFamily="34" charset="0"/>
                <a:cs typeface="Arial" panose="020B0604020202020204" pitchFamily="34" charset="0"/>
              </a:rPr>
              <a:t>Old/</a:t>
            </a:r>
          </a:p>
          <a:p>
            <a:pPr algn="ctr"/>
            <a:r>
              <a:rPr lang="en-US" sz="1600" dirty="0">
                <a:latin typeface="Arial" panose="020B0604020202020204" pitchFamily="34" charset="0"/>
                <a:cs typeface="Arial" panose="020B0604020202020204" pitchFamily="34" charset="0"/>
              </a:rPr>
              <a:t>Similar/</a:t>
            </a:r>
          </a:p>
          <a:p>
            <a:pPr algn="ctr"/>
            <a:r>
              <a:rPr lang="en-US" sz="1600" dirty="0">
                <a:latin typeface="Arial" panose="020B0604020202020204" pitchFamily="34" charset="0"/>
                <a:cs typeface="Arial" panose="020B0604020202020204" pitchFamily="34" charset="0"/>
              </a:rPr>
              <a:t>Neither</a:t>
            </a:r>
          </a:p>
        </p:txBody>
      </p:sp>
      <p:pic>
        <p:nvPicPr>
          <p:cNvPr id="41" name="Picture 40">
            <a:extLst>
              <a:ext uri="{FF2B5EF4-FFF2-40B4-BE49-F238E27FC236}">
                <a16:creationId xmlns:a16="http://schemas.microsoft.com/office/drawing/2014/main" id="{F21B8930-D363-F4BE-8B1C-ADA0EA5E0FA6}"/>
              </a:ext>
            </a:extLst>
          </p:cNvPr>
          <p:cNvPicPr>
            <a:picLocks noChangeAspect="1"/>
          </p:cNvPicPr>
          <p:nvPr/>
        </p:nvPicPr>
        <p:blipFill rotWithShape="1">
          <a:blip r:embed="rId6"/>
          <a:srcRect l="18090" t="-3138"/>
          <a:stretch/>
        </p:blipFill>
        <p:spPr>
          <a:xfrm>
            <a:off x="9688141" y="4602253"/>
            <a:ext cx="492431" cy="620057"/>
          </a:xfrm>
          <a:prstGeom prst="rect">
            <a:avLst/>
          </a:prstGeom>
        </p:spPr>
      </p:pic>
      <p:sp>
        <p:nvSpPr>
          <p:cNvPr id="39" name="TextBox 38">
            <a:extLst>
              <a:ext uri="{FF2B5EF4-FFF2-40B4-BE49-F238E27FC236}">
                <a16:creationId xmlns:a16="http://schemas.microsoft.com/office/drawing/2014/main" id="{DB0A6BC5-2ACA-01F4-A29D-3CAB0929328D}"/>
              </a:ext>
            </a:extLst>
          </p:cNvPr>
          <p:cNvSpPr txBox="1"/>
          <p:nvPr/>
        </p:nvSpPr>
        <p:spPr>
          <a:xfrm>
            <a:off x="10076433" y="4602253"/>
            <a:ext cx="867545" cy="307777"/>
          </a:xfrm>
          <a:prstGeom prst="rect">
            <a:avLst/>
          </a:prstGeom>
          <a:noFill/>
        </p:spPr>
        <p:txBody>
          <a:bodyPr wrap="square" rtlCol="0">
            <a:spAutoFit/>
          </a:bodyPr>
          <a:lstStyle/>
          <a:p>
            <a:pPr algn="ctr"/>
            <a:r>
              <a:rPr lang="en-US" sz="1400" b="1" dirty="0">
                <a:latin typeface="Arial" panose="020B0604020202020204" pitchFamily="34" charset="0"/>
                <a:cs typeface="Arial" panose="020B0604020202020204" pitchFamily="34" charset="0"/>
              </a:rPr>
              <a:t>Before?</a:t>
            </a:r>
          </a:p>
        </p:txBody>
      </p:sp>
      <p:sp>
        <p:nvSpPr>
          <p:cNvPr id="26" name="Rectangle 25">
            <a:extLst>
              <a:ext uri="{FF2B5EF4-FFF2-40B4-BE49-F238E27FC236}">
                <a16:creationId xmlns:a16="http://schemas.microsoft.com/office/drawing/2014/main" id="{9DD66A32-33AD-FCF0-994A-B360691226BA}"/>
              </a:ext>
            </a:extLst>
          </p:cNvPr>
          <p:cNvSpPr/>
          <p:nvPr/>
        </p:nvSpPr>
        <p:spPr>
          <a:xfrm>
            <a:off x="10664179" y="5207992"/>
            <a:ext cx="1270000" cy="1270000"/>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a:extLst>
              <a:ext uri="{FF2B5EF4-FFF2-40B4-BE49-F238E27FC236}">
                <a16:creationId xmlns:a16="http://schemas.microsoft.com/office/drawing/2014/main" id="{A4E682BA-0CD2-D6C8-4CD3-314DE8D4D9E3}"/>
              </a:ext>
            </a:extLst>
          </p:cNvPr>
          <p:cNvPicPr>
            <a:picLocks noChangeAspect="1"/>
          </p:cNvPicPr>
          <p:nvPr/>
        </p:nvPicPr>
        <p:blipFill>
          <a:blip r:embed="rId5"/>
          <a:stretch>
            <a:fillRect/>
          </a:stretch>
        </p:blipFill>
        <p:spPr>
          <a:xfrm>
            <a:off x="10711493" y="5433486"/>
            <a:ext cx="625713" cy="437142"/>
          </a:xfrm>
          <a:prstGeom prst="rect">
            <a:avLst/>
          </a:prstGeom>
        </p:spPr>
      </p:pic>
      <p:sp>
        <p:nvSpPr>
          <p:cNvPr id="29" name="TextBox 28">
            <a:extLst>
              <a:ext uri="{FF2B5EF4-FFF2-40B4-BE49-F238E27FC236}">
                <a16:creationId xmlns:a16="http://schemas.microsoft.com/office/drawing/2014/main" id="{A07EF3E8-E74C-2A5B-45C9-5202CE1406BF}"/>
              </a:ext>
            </a:extLst>
          </p:cNvPr>
          <p:cNvSpPr txBox="1"/>
          <p:nvPr/>
        </p:nvSpPr>
        <p:spPr>
          <a:xfrm>
            <a:off x="11068230" y="5639394"/>
            <a:ext cx="867545" cy="830997"/>
          </a:xfrm>
          <a:prstGeom prst="rect">
            <a:avLst/>
          </a:prstGeom>
          <a:noFill/>
        </p:spPr>
        <p:txBody>
          <a:bodyPr wrap="square" rtlCol="0">
            <a:spAutoFit/>
          </a:bodyPr>
          <a:lstStyle/>
          <a:p>
            <a:pPr algn="ctr"/>
            <a:r>
              <a:rPr lang="en-US" sz="1600" dirty="0">
                <a:latin typeface="Arial" panose="020B0604020202020204" pitchFamily="34" charset="0"/>
                <a:cs typeface="Arial" panose="020B0604020202020204" pitchFamily="34" charset="0"/>
              </a:rPr>
              <a:t>Old/</a:t>
            </a:r>
          </a:p>
          <a:p>
            <a:pPr algn="ctr"/>
            <a:r>
              <a:rPr lang="en-US" sz="1600" dirty="0">
                <a:latin typeface="Arial" panose="020B0604020202020204" pitchFamily="34" charset="0"/>
                <a:cs typeface="Arial" panose="020B0604020202020204" pitchFamily="34" charset="0"/>
              </a:rPr>
              <a:t>Similar/</a:t>
            </a:r>
          </a:p>
          <a:p>
            <a:pPr algn="ctr"/>
            <a:r>
              <a:rPr lang="en-US" sz="1600" dirty="0">
                <a:latin typeface="Arial" panose="020B0604020202020204" pitchFamily="34" charset="0"/>
                <a:cs typeface="Arial" panose="020B0604020202020204" pitchFamily="34" charset="0"/>
              </a:rPr>
              <a:t>Neither</a:t>
            </a:r>
          </a:p>
        </p:txBody>
      </p:sp>
      <p:sp>
        <p:nvSpPr>
          <p:cNvPr id="35" name="TextBox 34">
            <a:extLst>
              <a:ext uri="{FF2B5EF4-FFF2-40B4-BE49-F238E27FC236}">
                <a16:creationId xmlns:a16="http://schemas.microsoft.com/office/drawing/2014/main" id="{6BBC7A9F-53B8-C793-8F0F-39B75D1D70C8}"/>
              </a:ext>
            </a:extLst>
          </p:cNvPr>
          <p:cNvSpPr txBox="1"/>
          <p:nvPr/>
        </p:nvSpPr>
        <p:spPr>
          <a:xfrm>
            <a:off x="11102856" y="5236002"/>
            <a:ext cx="867545" cy="338554"/>
          </a:xfrm>
          <a:prstGeom prst="rect">
            <a:avLst/>
          </a:prstGeom>
          <a:noFill/>
        </p:spPr>
        <p:txBody>
          <a:bodyPr wrap="square" rtlCol="0">
            <a:spAutoFit/>
          </a:bodyPr>
          <a:lstStyle/>
          <a:p>
            <a:pPr algn="ctr"/>
            <a:r>
              <a:rPr lang="en-US" sz="1600" b="1" dirty="0">
                <a:latin typeface="Arial" panose="020B0604020202020204" pitchFamily="34" charset="0"/>
                <a:cs typeface="Arial" panose="020B0604020202020204" pitchFamily="34" charset="0"/>
              </a:rPr>
              <a:t>After?</a:t>
            </a:r>
          </a:p>
        </p:txBody>
      </p:sp>
      <p:sp>
        <p:nvSpPr>
          <p:cNvPr id="42" name="TextBox 41">
            <a:extLst>
              <a:ext uri="{FF2B5EF4-FFF2-40B4-BE49-F238E27FC236}">
                <a16:creationId xmlns:a16="http://schemas.microsoft.com/office/drawing/2014/main" id="{3956645C-5AA2-4A17-E829-49056512DC8F}"/>
              </a:ext>
            </a:extLst>
          </p:cNvPr>
          <p:cNvSpPr txBox="1"/>
          <p:nvPr/>
        </p:nvSpPr>
        <p:spPr>
          <a:xfrm>
            <a:off x="8829219" y="5169069"/>
            <a:ext cx="670376" cy="400110"/>
          </a:xfrm>
          <a:prstGeom prst="rect">
            <a:avLst/>
          </a:prstGeom>
          <a:noFill/>
        </p:spPr>
        <p:txBody>
          <a:bodyPr wrap="none" rtlCol="0">
            <a:spAutoFit/>
          </a:bodyPr>
          <a:lstStyle/>
          <a:p>
            <a:r>
              <a:rPr lang="en-US" sz="2000" b="1" dirty="0">
                <a:solidFill>
                  <a:srgbClr val="FF7C80"/>
                </a:solidFill>
                <a:latin typeface="Arial" panose="020B0604020202020204" pitchFamily="34" charset="0"/>
                <a:cs typeface="Arial" panose="020B0604020202020204" pitchFamily="34" charset="0"/>
              </a:rPr>
              <a:t>Cue</a:t>
            </a:r>
          </a:p>
        </p:txBody>
      </p:sp>
      <p:sp>
        <p:nvSpPr>
          <p:cNvPr id="43" name="TextBox 42">
            <a:extLst>
              <a:ext uri="{FF2B5EF4-FFF2-40B4-BE49-F238E27FC236}">
                <a16:creationId xmlns:a16="http://schemas.microsoft.com/office/drawing/2014/main" id="{F00AFF7C-E823-BB1B-8460-CF7EA6BF797E}"/>
              </a:ext>
            </a:extLst>
          </p:cNvPr>
          <p:cNvSpPr txBox="1"/>
          <p:nvPr/>
        </p:nvSpPr>
        <p:spPr>
          <a:xfrm>
            <a:off x="9730807" y="5832641"/>
            <a:ext cx="949491" cy="400110"/>
          </a:xfrm>
          <a:prstGeom prst="rect">
            <a:avLst/>
          </a:prstGeom>
          <a:noFill/>
        </p:spPr>
        <p:txBody>
          <a:bodyPr wrap="none" rtlCol="0">
            <a:spAutoFit/>
          </a:bodyPr>
          <a:lstStyle/>
          <a:p>
            <a:r>
              <a:rPr lang="en-US" sz="2000" b="1" dirty="0">
                <a:solidFill>
                  <a:srgbClr val="7030A0"/>
                </a:solidFill>
                <a:latin typeface="Arial" panose="020B0604020202020204" pitchFamily="34" charset="0"/>
                <a:cs typeface="Arial" panose="020B0604020202020204" pitchFamily="34" charset="0"/>
              </a:rPr>
              <a:t>Target</a:t>
            </a:r>
          </a:p>
        </p:txBody>
      </p:sp>
      <p:sp>
        <p:nvSpPr>
          <p:cNvPr id="44" name="TextBox 43">
            <a:extLst>
              <a:ext uri="{FF2B5EF4-FFF2-40B4-BE49-F238E27FC236}">
                <a16:creationId xmlns:a16="http://schemas.microsoft.com/office/drawing/2014/main" id="{72FC18B9-93FF-D03E-C301-2B6882773575}"/>
              </a:ext>
            </a:extLst>
          </p:cNvPr>
          <p:cNvSpPr txBox="1"/>
          <p:nvPr/>
        </p:nvSpPr>
        <p:spPr>
          <a:xfrm>
            <a:off x="10855199" y="6457965"/>
            <a:ext cx="949491" cy="400110"/>
          </a:xfrm>
          <a:prstGeom prst="rect">
            <a:avLst/>
          </a:prstGeom>
          <a:noFill/>
        </p:spPr>
        <p:txBody>
          <a:bodyPr wrap="none" rtlCol="0">
            <a:spAutoFit/>
          </a:bodyPr>
          <a:lstStyle/>
          <a:p>
            <a:r>
              <a:rPr lang="en-US" sz="2000" b="1" dirty="0">
                <a:solidFill>
                  <a:srgbClr val="7030A0"/>
                </a:solidFill>
                <a:latin typeface="Arial" panose="020B0604020202020204" pitchFamily="34" charset="0"/>
                <a:cs typeface="Arial" panose="020B0604020202020204" pitchFamily="34" charset="0"/>
              </a:rPr>
              <a:t>Target</a:t>
            </a:r>
          </a:p>
        </p:txBody>
      </p:sp>
    </p:spTree>
    <p:extLst>
      <p:ext uri="{BB962C8B-B14F-4D97-AF65-F5344CB8AC3E}">
        <p14:creationId xmlns:p14="http://schemas.microsoft.com/office/powerpoint/2010/main" val="2484213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2" end="1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3" end="1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5" grpId="0"/>
      <p:bldP spid="36" grpId="0" animBg="1"/>
      <p:bldP spid="38" grpId="0"/>
      <p:bldP spid="39" grpId="0"/>
      <p:bldP spid="26" grpId="0" animBg="1"/>
      <p:bldP spid="29" grpId="0"/>
      <p:bldP spid="35" grpId="0"/>
      <p:bldP spid="42" grpId="0"/>
      <p:bldP spid="43" grpId="0"/>
      <p:bldP spid="44"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FBBFF-1273-97A6-DF92-B17FD22C6F46}"/>
              </a:ext>
            </a:extLst>
          </p:cNvPr>
          <p:cNvSpPr>
            <a:spLocks noGrp="1"/>
          </p:cNvSpPr>
          <p:nvPr>
            <p:ph type="title"/>
          </p:nvPr>
        </p:nvSpPr>
        <p:spPr>
          <a:xfrm>
            <a:off x="503767" y="183091"/>
            <a:ext cx="6341533" cy="1325563"/>
          </a:xfrm>
        </p:spPr>
        <p:txBody>
          <a:bodyPr>
            <a:normAutofit/>
          </a:bodyPr>
          <a:lstStyle/>
          <a:p>
            <a:r>
              <a:rPr lang="en-US" sz="3600" dirty="0">
                <a:solidFill>
                  <a:srgbClr val="002060"/>
                </a:solidFill>
              </a:rPr>
              <a:t>Forward/backward generalize/pinpoint results</a:t>
            </a:r>
          </a:p>
        </p:txBody>
      </p:sp>
      <p:sp>
        <p:nvSpPr>
          <p:cNvPr id="3" name="Content Placeholder 2">
            <a:extLst>
              <a:ext uri="{FF2B5EF4-FFF2-40B4-BE49-F238E27FC236}">
                <a16:creationId xmlns:a16="http://schemas.microsoft.com/office/drawing/2014/main" id="{2544EAB5-A4F5-41FE-D509-4D093851AE58}"/>
              </a:ext>
            </a:extLst>
          </p:cNvPr>
          <p:cNvSpPr>
            <a:spLocks noGrp="1"/>
          </p:cNvSpPr>
          <p:nvPr>
            <p:ph idx="1"/>
          </p:nvPr>
        </p:nvSpPr>
        <p:spPr>
          <a:xfrm>
            <a:off x="406398" y="1686455"/>
            <a:ext cx="6739467" cy="4765146"/>
          </a:xfrm>
        </p:spPr>
        <p:txBody>
          <a:bodyPr>
            <a:normAutofit fontScale="92500" lnSpcReduction="20000"/>
          </a:bodyPr>
          <a:lstStyle/>
          <a:p>
            <a:r>
              <a:rPr lang="en-US" dirty="0"/>
              <a:t>For the forward/backward memory question:</a:t>
            </a:r>
          </a:p>
          <a:p>
            <a:pPr lvl="1"/>
            <a:r>
              <a:rPr lang="en-US" dirty="0"/>
              <a:t>“Generalized hit” = “Old” or “similar” response to old or similar trials</a:t>
            </a:r>
          </a:p>
          <a:p>
            <a:pPr lvl="1"/>
            <a:r>
              <a:rPr lang="en-US" dirty="0"/>
              <a:t>“Exact hit” = “Old” response to old, “similar” response to similar</a:t>
            </a:r>
          </a:p>
          <a:p>
            <a:r>
              <a:rPr lang="en-US" dirty="0"/>
              <a:t>Backward:</a:t>
            </a:r>
          </a:p>
          <a:p>
            <a:pPr lvl="1"/>
            <a:r>
              <a:rPr lang="en-US" dirty="0"/>
              <a:t>Enhanced generalized hit rate</a:t>
            </a:r>
          </a:p>
          <a:p>
            <a:r>
              <a:rPr lang="en-US" dirty="0"/>
              <a:t>Forward:</a:t>
            </a:r>
          </a:p>
          <a:p>
            <a:pPr lvl="1"/>
            <a:r>
              <a:rPr lang="en-US" dirty="0"/>
              <a:t>Enhanced exact hit rate</a:t>
            </a:r>
          </a:p>
          <a:p>
            <a:r>
              <a:rPr lang="en-US" dirty="0"/>
              <a:t>Potentially:</a:t>
            </a:r>
          </a:p>
          <a:p>
            <a:pPr lvl="1"/>
            <a:r>
              <a:rPr lang="en-US" dirty="0"/>
              <a:t>Forward/backward distinction only after Remember responses in R/K </a:t>
            </a:r>
          </a:p>
          <a:p>
            <a:pPr lvl="1"/>
            <a:r>
              <a:rPr lang="en-US" dirty="0"/>
              <a:t>Show that these results are linked to episodic memory retrieval</a:t>
            </a:r>
          </a:p>
          <a:p>
            <a:pPr lvl="1"/>
            <a:endParaRPr lang="en-US" dirty="0"/>
          </a:p>
        </p:txBody>
      </p:sp>
      <p:pic>
        <p:nvPicPr>
          <p:cNvPr id="5" name="Picture 4">
            <a:extLst>
              <a:ext uri="{FF2B5EF4-FFF2-40B4-BE49-F238E27FC236}">
                <a16:creationId xmlns:a16="http://schemas.microsoft.com/office/drawing/2014/main" id="{77AF67E9-67C8-C4BC-4D5F-1AE95FA7D139}"/>
              </a:ext>
            </a:extLst>
          </p:cNvPr>
          <p:cNvPicPr>
            <a:picLocks noChangeAspect="1"/>
          </p:cNvPicPr>
          <p:nvPr/>
        </p:nvPicPr>
        <p:blipFill>
          <a:blip r:embed="rId3"/>
          <a:stretch>
            <a:fillRect/>
          </a:stretch>
        </p:blipFill>
        <p:spPr>
          <a:xfrm>
            <a:off x="7861917" y="65087"/>
            <a:ext cx="3459159" cy="2468880"/>
          </a:xfrm>
          <a:prstGeom prst="rect">
            <a:avLst/>
          </a:prstGeom>
        </p:spPr>
      </p:pic>
      <p:pic>
        <p:nvPicPr>
          <p:cNvPr id="6" name="Picture 5">
            <a:extLst>
              <a:ext uri="{FF2B5EF4-FFF2-40B4-BE49-F238E27FC236}">
                <a16:creationId xmlns:a16="http://schemas.microsoft.com/office/drawing/2014/main" id="{729EE6BC-B79E-BCEA-2CE9-FCAB2FF6719C}"/>
              </a:ext>
            </a:extLst>
          </p:cNvPr>
          <p:cNvPicPr>
            <a:picLocks noChangeAspect="1"/>
          </p:cNvPicPr>
          <p:nvPr/>
        </p:nvPicPr>
        <p:blipFill>
          <a:blip r:embed="rId4"/>
          <a:stretch>
            <a:fillRect/>
          </a:stretch>
        </p:blipFill>
        <p:spPr>
          <a:xfrm>
            <a:off x="7868389" y="2194560"/>
            <a:ext cx="3452687" cy="2468880"/>
          </a:xfrm>
          <a:prstGeom prst="rect">
            <a:avLst/>
          </a:prstGeom>
        </p:spPr>
      </p:pic>
      <p:pic>
        <p:nvPicPr>
          <p:cNvPr id="7" name="Picture 6">
            <a:extLst>
              <a:ext uri="{FF2B5EF4-FFF2-40B4-BE49-F238E27FC236}">
                <a16:creationId xmlns:a16="http://schemas.microsoft.com/office/drawing/2014/main" id="{871A4A4C-2D94-BF50-4920-A92713565CAE}"/>
              </a:ext>
            </a:extLst>
          </p:cNvPr>
          <p:cNvPicPr>
            <a:picLocks noChangeAspect="1"/>
          </p:cNvPicPr>
          <p:nvPr/>
        </p:nvPicPr>
        <p:blipFill>
          <a:blip r:embed="rId5"/>
          <a:stretch>
            <a:fillRect/>
          </a:stretch>
        </p:blipFill>
        <p:spPr>
          <a:xfrm>
            <a:off x="7145866" y="4324033"/>
            <a:ext cx="4897734" cy="2468880"/>
          </a:xfrm>
          <a:prstGeom prst="rect">
            <a:avLst/>
          </a:prstGeom>
        </p:spPr>
      </p:pic>
    </p:spTree>
    <p:extLst>
      <p:ext uri="{BB962C8B-B14F-4D97-AF65-F5344CB8AC3E}">
        <p14:creationId xmlns:p14="http://schemas.microsoft.com/office/powerpoint/2010/main" val="94971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Task idea </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r>
              <a:rPr lang="en-US" dirty="0"/>
              <a:t>10/30/2023</a:t>
            </a:r>
          </a:p>
        </p:txBody>
      </p:sp>
    </p:spTree>
    <p:extLst>
      <p:ext uri="{BB962C8B-B14F-4D97-AF65-F5344CB8AC3E}">
        <p14:creationId xmlns:p14="http://schemas.microsoft.com/office/powerpoint/2010/main" val="38046045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137C23-03B7-053C-2693-C9875AF59208}"/>
              </a:ext>
            </a:extLst>
          </p:cNvPr>
          <p:cNvSpPr>
            <a:spLocks noGrp="1"/>
          </p:cNvSpPr>
          <p:nvPr>
            <p:ph type="title"/>
          </p:nvPr>
        </p:nvSpPr>
        <p:spPr>
          <a:xfrm>
            <a:off x="937416" y="11438"/>
            <a:ext cx="10515600" cy="1325563"/>
          </a:xfrm>
        </p:spPr>
        <p:txBody>
          <a:bodyPr/>
          <a:lstStyle/>
          <a:p>
            <a:r>
              <a:rPr lang="en-US" dirty="0"/>
              <a:t>What are we doing?</a:t>
            </a:r>
          </a:p>
        </p:txBody>
      </p:sp>
      <p:sp>
        <p:nvSpPr>
          <p:cNvPr id="3" name="Content Placeholder 2">
            <a:extLst>
              <a:ext uri="{FF2B5EF4-FFF2-40B4-BE49-F238E27FC236}">
                <a16:creationId xmlns:a16="http://schemas.microsoft.com/office/drawing/2014/main" id="{EBA5DF13-D6AC-47BF-42D5-C40899F26B61}"/>
              </a:ext>
            </a:extLst>
          </p:cNvPr>
          <p:cNvSpPr>
            <a:spLocks noGrp="1"/>
          </p:cNvSpPr>
          <p:nvPr>
            <p:ph idx="1"/>
          </p:nvPr>
        </p:nvSpPr>
        <p:spPr>
          <a:xfrm>
            <a:off x="173063" y="1343880"/>
            <a:ext cx="8949218" cy="5502681"/>
          </a:xfrm>
        </p:spPr>
        <p:txBody>
          <a:bodyPr>
            <a:normAutofit fontScale="85000" lnSpcReduction="20000"/>
          </a:bodyPr>
          <a:lstStyle/>
          <a:p>
            <a:r>
              <a:rPr lang="en-US" dirty="0"/>
              <a:t>What memory processes are tested?</a:t>
            </a:r>
          </a:p>
          <a:p>
            <a:pPr lvl="1"/>
            <a:r>
              <a:rPr lang="en-US" dirty="0">
                <a:solidFill>
                  <a:srgbClr val="FF0000"/>
                </a:solidFill>
              </a:rPr>
              <a:t>Participants are not encoding “steaks are made from cows” or “steaks and cows are related”. They already know this</a:t>
            </a:r>
          </a:p>
          <a:p>
            <a:pPr lvl="2"/>
            <a:r>
              <a:rPr lang="en-US" dirty="0"/>
              <a:t>Formally, participants have already formed a relation between their </a:t>
            </a:r>
            <a:r>
              <a:rPr lang="en-US" i="1" dirty="0"/>
              <a:t>cow schema </a:t>
            </a:r>
            <a:r>
              <a:rPr lang="en-US" dirty="0"/>
              <a:t>and </a:t>
            </a:r>
            <a:r>
              <a:rPr lang="en-US" i="1" dirty="0"/>
              <a:t>steak schema </a:t>
            </a:r>
            <a:r>
              <a:rPr lang="en-US" dirty="0"/>
              <a:t>(</a:t>
            </a:r>
            <a:r>
              <a:rPr lang="en-US" dirty="0" err="1"/>
              <a:t>mPFC</a:t>
            </a:r>
            <a:r>
              <a:rPr lang="en-US" dirty="0"/>
              <a:t> process)</a:t>
            </a:r>
          </a:p>
          <a:p>
            <a:pPr lvl="1"/>
            <a:r>
              <a:rPr lang="en-US" dirty="0"/>
              <a:t>Possible mechanism relevant to the retrieval question “What picture was shown near this cow</a:t>
            </a:r>
            <a:r>
              <a:rPr lang="en-US" i="1" dirty="0"/>
              <a:t> in the encoding session</a:t>
            </a:r>
            <a:r>
              <a:rPr lang="en-US" dirty="0"/>
              <a:t>?”</a:t>
            </a:r>
            <a:endParaRPr lang="en-US" i="1" dirty="0"/>
          </a:p>
          <a:p>
            <a:pPr lvl="2"/>
            <a:r>
              <a:rPr lang="en-US" dirty="0"/>
              <a:t>Requires link between </a:t>
            </a:r>
            <a:r>
              <a:rPr lang="en-US" i="1" dirty="0"/>
              <a:t>this instance of a cow </a:t>
            </a:r>
            <a:r>
              <a:rPr lang="en-US" dirty="0"/>
              <a:t>and </a:t>
            </a:r>
            <a:r>
              <a:rPr lang="en-US" i="1" dirty="0"/>
              <a:t>this instance of a steak</a:t>
            </a:r>
            <a:endParaRPr lang="en-US" dirty="0"/>
          </a:p>
          <a:p>
            <a:pPr lvl="3"/>
            <a:r>
              <a:rPr lang="en-US" dirty="0"/>
              <a:t>Represent </a:t>
            </a:r>
            <a:r>
              <a:rPr lang="en-US" i="1" dirty="0"/>
              <a:t>this instance of a cow</a:t>
            </a:r>
            <a:r>
              <a:rPr lang="en-US" dirty="0"/>
              <a:t> in the perirhinal cortex (</a:t>
            </a:r>
            <a:r>
              <a:rPr lang="en-US" dirty="0" err="1"/>
              <a:t>PRc</a:t>
            </a:r>
            <a:r>
              <a:rPr lang="en-US" dirty="0"/>
              <a:t>)</a:t>
            </a:r>
          </a:p>
          <a:p>
            <a:pPr lvl="3"/>
            <a:r>
              <a:rPr lang="en-US" dirty="0"/>
              <a:t>Represent </a:t>
            </a:r>
            <a:r>
              <a:rPr lang="en-US" i="1" dirty="0"/>
              <a:t>this instance of a steak </a:t>
            </a:r>
            <a:r>
              <a:rPr lang="en-US" dirty="0"/>
              <a:t>in the perirhinal cortex (</a:t>
            </a:r>
            <a:r>
              <a:rPr lang="en-US" dirty="0" err="1"/>
              <a:t>PRc</a:t>
            </a:r>
            <a:r>
              <a:rPr lang="en-US" dirty="0"/>
              <a:t>)</a:t>
            </a:r>
          </a:p>
          <a:p>
            <a:pPr lvl="3"/>
            <a:r>
              <a:rPr lang="en-US" dirty="0"/>
              <a:t>Bind the two via the hippocampus</a:t>
            </a:r>
          </a:p>
          <a:p>
            <a:pPr lvl="2"/>
            <a:r>
              <a:rPr lang="en-US" dirty="0"/>
              <a:t>Alternatively, requires participants to update their </a:t>
            </a:r>
            <a:r>
              <a:rPr lang="en-US" i="1" dirty="0"/>
              <a:t>cow schema </a:t>
            </a:r>
            <a:r>
              <a:rPr lang="en-US" dirty="0"/>
              <a:t>and </a:t>
            </a:r>
            <a:r>
              <a:rPr lang="en-US" i="1" dirty="0"/>
              <a:t>steak schema </a:t>
            </a:r>
            <a:r>
              <a:rPr lang="en-US" dirty="0"/>
              <a:t>to include an additional relation: </a:t>
            </a:r>
            <a:r>
              <a:rPr lang="en-US" i="1" dirty="0"/>
              <a:t>“were presented together in the encoding session”</a:t>
            </a:r>
          </a:p>
          <a:p>
            <a:r>
              <a:rPr lang="en-US" dirty="0"/>
              <a:t>What does RSA do?</a:t>
            </a:r>
          </a:p>
          <a:p>
            <a:pPr lvl="1"/>
            <a:r>
              <a:rPr lang="en-US" dirty="0"/>
              <a:t>We are </a:t>
            </a:r>
            <a:r>
              <a:rPr lang="en-US" u="sng" dirty="0"/>
              <a:t>not</a:t>
            </a:r>
            <a:r>
              <a:rPr lang="en-US" dirty="0"/>
              <a:t> measuring the neural correlates of encoding the relation “steaks are made from cows” </a:t>
            </a:r>
          </a:p>
          <a:p>
            <a:pPr lvl="1"/>
            <a:r>
              <a:rPr lang="en-US" dirty="0"/>
              <a:t>Rather, RSA measures the neural correlates of when the relation is:</a:t>
            </a:r>
          </a:p>
          <a:p>
            <a:pPr lvl="2"/>
            <a:r>
              <a:rPr lang="en-US" dirty="0"/>
              <a:t>activated, </a:t>
            </a:r>
          </a:p>
          <a:p>
            <a:pPr lvl="2"/>
            <a:r>
              <a:rPr lang="en-US" dirty="0"/>
              <a:t>used for encoding, </a:t>
            </a:r>
          </a:p>
          <a:p>
            <a:pPr lvl="2"/>
            <a:r>
              <a:rPr lang="en-US" dirty="0"/>
              <a:t>retrieved</a:t>
            </a:r>
          </a:p>
        </p:txBody>
      </p:sp>
      <p:sp>
        <p:nvSpPr>
          <p:cNvPr id="5" name="Rectangle 4">
            <a:extLst>
              <a:ext uri="{FF2B5EF4-FFF2-40B4-BE49-F238E27FC236}">
                <a16:creationId xmlns:a16="http://schemas.microsoft.com/office/drawing/2014/main" id="{7353905C-3AC8-D633-4D1F-DE3BE1C38E13}"/>
              </a:ext>
            </a:extLst>
          </p:cNvPr>
          <p:cNvSpPr/>
          <p:nvPr/>
        </p:nvSpPr>
        <p:spPr>
          <a:xfrm>
            <a:off x="9215270" y="2004758"/>
            <a:ext cx="2896656" cy="1510812"/>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AC1E270-7289-126D-AC55-BECE5A69CEDE}"/>
              </a:ext>
            </a:extLst>
          </p:cNvPr>
          <p:cNvPicPr>
            <a:picLocks noChangeAspect="1"/>
          </p:cNvPicPr>
          <p:nvPr/>
        </p:nvPicPr>
        <p:blipFill>
          <a:blip r:embed="rId3"/>
          <a:stretch>
            <a:fillRect/>
          </a:stretch>
        </p:blipFill>
        <p:spPr>
          <a:xfrm>
            <a:off x="9913417" y="2216165"/>
            <a:ext cx="1218569" cy="1087998"/>
          </a:xfrm>
          <a:prstGeom prst="rect">
            <a:avLst/>
          </a:prstGeom>
        </p:spPr>
      </p:pic>
      <p:pic>
        <p:nvPicPr>
          <p:cNvPr id="7" name="Picture 4" descr="Premium Photo | Roasted beef steaks isolated on white background">
            <a:extLst>
              <a:ext uri="{FF2B5EF4-FFF2-40B4-BE49-F238E27FC236}">
                <a16:creationId xmlns:a16="http://schemas.microsoft.com/office/drawing/2014/main" id="{14112A32-E7E3-12E9-B0B8-E356EEE5C18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453" t="3792" r="18923" b="6739"/>
          <a:stretch/>
        </p:blipFill>
        <p:spPr bwMode="auto">
          <a:xfrm>
            <a:off x="11131986" y="2324460"/>
            <a:ext cx="828038" cy="841793"/>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a:extLst>
              <a:ext uri="{FF2B5EF4-FFF2-40B4-BE49-F238E27FC236}">
                <a16:creationId xmlns:a16="http://schemas.microsoft.com/office/drawing/2014/main" id="{81598C0A-D4E0-7414-F774-175CB8F9CCD2}"/>
              </a:ext>
            </a:extLst>
          </p:cNvPr>
          <p:cNvSpPr txBox="1">
            <a:spLocks/>
          </p:cNvSpPr>
          <p:nvPr/>
        </p:nvSpPr>
        <p:spPr>
          <a:xfrm>
            <a:off x="9215270" y="1358007"/>
            <a:ext cx="2896656" cy="64675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dirty="0"/>
              <a:t>Encoding</a:t>
            </a:r>
            <a:endParaRPr lang="en-US" dirty="0"/>
          </a:p>
        </p:txBody>
      </p:sp>
      <p:sp>
        <p:nvSpPr>
          <p:cNvPr id="9" name="Rectangle 8">
            <a:extLst>
              <a:ext uri="{FF2B5EF4-FFF2-40B4-BE49-F238E27FC236}">
                <a16:creationId xmlns:a16="http://schemas.microsoft.com/office/drawing/2014/main" id="{1E6FB867-610D-C172-D874-CCCC12CE5954}"/>
              </a:ext>
            </a:extLst>
          </p:cNvPr>
          <p:cNvSpPr/>
          <p:nvPr/>
        </p:nvSpPr>
        <p:spPr>
          <a:xfrm>
            <a:off x="9215270" y="4560896"/>
            <a:ext cx="2896656" cy="1510812"/>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96E52A7F-36BA-B95D-7035-77EB7AC16912}"/>
              </a:ext>
            </a:extLst>
          </p:cNvPr>
          <p:cNvPicPr>
            <a:picLocks noChangeAspect="1"/>
          </p:cNvPicPr>
          <p:nvPr/>
        </p:nvPicPr>
        <p:blipFill>
          <a:blip r:embed="rId3"/>
          <a:stretch>
            <a:fillRect/>
          </a:stretch>
        </p:blipFill>
        <p:spPr>
          <a:xfrm>
            <a:off x="9986569" y="4772303"/>
            <a:ext cx="1218569" cy="1087998"/>
          </a:xfrm>
          <a:prstGeom prst="rect">
            <a:avLst/>
          </a:prstGeom>
        </p:spPr>
      </p:pic>
      <p:sp>
        <p:nvSpPr>
          <p:cNvPr id="11" name="Content Placeholder 2">
            <a:extLst>
              <a:ext uri="{FF2B5EF4-FFF2-40B4-BE49-F238E27FC236}">
                <a16:creationId xmlns:a16="http://schemas.microsoft.com/office/drawing/2014/main" id="{FA32F089-C49C-919C-9292-2AD3310188BF}"/>
              </a:ext>
            </a:extLst>
          </p:cNvPr>
          <p:cNvSpPr txBox="1">
            <a:spLocks/>
          </p:cNvSpPr>
          <p:nvPr/>
        </p:nvSpPr>
        <p:spPr>
          <a:xfrm>
            <a:off x="11422043" y="4941783"/>
            <a:ext cx="555731" cy="7965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a:t>
            </a:r>
            <a:endParaRPr lang="en-US" dirty="0"/>
          </a:p>
        </p:txBody>
      </p:sp>
      <p:sp>
        <p:nvSpPr>
          <p:cNvPr id="12" name="Content Placeholder 2">
            <a:extLst>
              <a:ext uri="{FF2B5EF4-FFF2-40B4-BE49-F238E27FC236}">
                <a16:creationId xmlns:a16="http://schemas.microsoft.com/office/drawing/2014/main" id="{38C82417-6FEB-5E39-4267-0F9ACA91F1CD}"/>
              </a:ext>
            </a:extLst>
          </p:cNvPr>
          <p:cNvSpPr txBox="1">
            <a:spLocks/>
          </p:cNvSpPr>
          <p:nvPr/>
        </p:nvSpPr>
        <p:spPr>
          <a:xfrm>
            <a:off x="9215270" y="3904193"/>
            <a:ext cx="2896656" cy="64675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dirty="0"/>
              <a:t>Retrieval</a:t>
            </a:r>
            <a:endParaRPr lang="en-US" dirty="0"/>
          </a:p>
        </p:txBody>
      </p:sp>
    </p:spTree>
    <p:extLst>
      <p:ext uri="{BB962C8B-B14F-4D97-AF65-F5344CB8AC3E}">
        <p14:creationId xmlns:p14="http://schemas.microsoft.com/office/powerpoint/2010/main" val="3881199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Oval 32">
            <a:extLst>
              <a:ext uri="{FF2B5EF4-FFF2-40B4-BE49-F238E27FC236}">
                <a16:creationId xmlns:a16="http://schemas.microsoft.com/office/drawing/2014/main" id="{F620C727-409B-335A-ED26-1A70B6D959D6}"/>
              </a:ext>
            </a:extLst>
          </p:cNvPr>
          <p:cNvSpPr/>
          <p:nvPr/>
        </p:nvSpPr>
        <p:spPr>
          <a:xfrm rot="19892085">
            <a:off x="6481036" y="2201823"/>
            <a:ext cx="4400550" cy="735622"/>
          </a:xfrm>
          <a:prstGeom prst="ellipse">
            <a:avLst/>
          </a:prstGeom>
          <a:solidFill>
            <a:schemeClr val="bg1"/>
          </a:solid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DEB01AF9-D952-2200-FBDD-FAC191283F9D}"/>
              </a:ext>
            </a:extLst>
          </p:cNvPr>
          <p:cNvSpPr/>
          <p:nvPr/>
        </p:nvSpPr>
        <p:spPr>
          <a:xfrm>
            <a:off x="2549121" y="4148679"/>
            <a:ext cx="4022606" cy="2075992"/>
          </a:xfrm>
          <a:prstGeom prst="rect">
            <a:avLst/>
          </a:prstGeom>
          <a:solidFill>
            <a:schemeClr val="bg1"/>
          </a:solid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5497A7A3-5424-E429-14EA-783EC10FFAA8}"/>
              </a:ext>
            </a:extLst>
          </p:cNvPr>
          <p:cNvSpPr/>
          <p:nvPr/>
        </p:nvSpPr>
        <p:spPr>
          <a:xfrm>
            <a:off x="792984" y="1426062"/>
            <a:ext cx="4176713" cy="2271713"/>
          </a:xfrm>
          <a:prstGeom prst="rect">
            <a:avLst/>
          </a:prstGeom>
          <a:solidFill>
            <a:schemeClr val="bg1"/>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CAEE230F-5366-7902-9A5C-5B265232BE5F}"/>
              </a:ext>
            </a:extLst>
          </p:cNvPr>
          <p:cNvSpPr/>
          <p:nvPr/>
        </p:nvSpPr>
        <p:spPr>
          <a:xfrm>
            <a:off x="2690125" y="4274086"/>
            <a:ext cx="1691934" cy="1799855"/>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18D1630F-D43A-5283-662E-4787CA0004A2}"/>
              </a:ext>
            </a:extLst>
          </p:cNvPr>
          <p:cNvSpPr/>
          <p:nvPr/>
        </p:nvSpPr>
        <p:spPr>
          <a:xfrm>
            <a:off x="3054456" y="1762242"/>
            <a:ext cx="1652630" cy="1676073"/>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FAA2E0-F09F-C671-1CC0-1721B407377A}"/>
              </a:ext>
            </a:extLst>
          </p:cNvPr>
          <p:cNvSpPr>
            <a:spLocks noGrp="1"/>
          </p:cNvSpPr>
          <p:nvPr>
            <p:ph type="title"/>
          </p:nvPr>
        </p:nvSpPr>
        <p:spPr>
          <a:xfrm>
            <a:off x="680110" y="224859"/>
            <a:ext cx="10515600" cy="640323"/>
          </a:xfrm>
        </p:spPr>
        <p:txBody>
          <a:bodyPr>
            <a:normAutofit fontScale="90000"/>
          </a:bodyPr>
          <a:lstStyle/>
          <a:p>
            <a:r>
              <a:rPr lang="en-US" dirty="0"/>
              <a:t>Possible Mechanism 1 &amp; RSA</a:t>
            </a:r>
          </a:p>
        </p:txBody>
      </p:sp>
      <p:sp>
        <p:nvSpPr>
          <p:cNvPr id="4" name="Oval 3">
            <a:extLst>
              <a:ext uri="{FF2B5EF4-FFF2-40B4-BE49-F238E27FC236}">
                <a16:creationId xmlns:a16="http://schemas.microsoft.com/office/drawing/2014/main" id="{11B8FDB8-04A6-2B29-4522-79862EC62B93}"/>
              </a:ext>
            </a:extLst>
          </p:cNvPr>
          <p:cNvSpPr/>
          <p:nvPr/>
        </p:nvSpPr>
        <p:spPr>
          <a:xfrm>
            <a:off x="997661" y="1765957"/>
            <a:ext cx="1648968" cy="1672358"/>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C0103C31-043D-8DBD-510A-AB82D4FBFEA2}"/>
              </a:ext>
            </a:extLst>
          </p:cNvPr>
          <p:cNvSpPr/>
          <p:nvPr/>
        </p:nvSpPr>
        <p:spPr>
          <a:xfrm>
            <a:off x="7342825" y="3000636"/>
            <a:ext cx="389256" cy="41408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SVG CLIPART Cute Simple Cow Outline Cute Kids Clipart Farm - Etsy">
            <a:extLst>
              <a:ext uri="{FF2B5EF4-FFF2-40B4-BE49-F238E27FC236}">
                <a16:creationId xmlns:a16="http://schemas.microsoft.com/office/drawing/2014/main" id="{92E28DE4-1722-8D45-B131-DFB22A4A251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4828" t="29276" r="22793" b="27471"/>
          <a:stretch/>
        </p:blipFill>
        <p:spPr bwMode="auto">
          <a:xfrm>
            <a:off x="3293050" y="2094637"/>
            <a:ext cx="1230324" cy="101128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aw meat doodle icon, vector illustration of steak chop, fresh beef slice  in butcher shop, grocery product, isolated outline clipart on white  background Stock Vector | Adobe Stock">
            <a:extLst>
              <a:ext uri="{FF2B5EF4-FFF2-40B4-BE49-F238E27FC236}">
                <a16:creationId xmlns:a16="http://schemas.microsoft.com/office/drawing/2014/main" id="{7AE4AE2B-5D09-FEEF-9416-B649D21A23E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334" t="15289" r="7334" b="13423"/>
          <a:stretch/>
        </p:blipFill>
        <p:spPr bwMode="auto">
          <a:xfrm>
            <a:off x="1268034" y="2139222"/>
            <a:ext cx="1108221" cy="925827"/>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572BEF9D-4873-B5BE-C33E-0F804A121B19}"/>
              </a:ext>
            </a:extLst>
          </p:cNvPr>
          <p:cNvCxnSpPr>
            <a:cxnSpLocks/>
            <a:stCxn id="4" idx="6"/>
            <a:endCxn id="8" idx="2"/>
          </p:cNvCxnSpPr>
          <p:nvPr/>
        </p:nvCxnSpPr>
        <p:spPr>
          <a:xfrm flipV="1">
            <a:off x="2646629" y="2600279"/>
            <a:ext cx="407827" cy="1857"/>
          </a:xfrm>
          <a:prstGeom prst="line">
            <a:avLst/>
          </a:prstGeom>
          <a:ln w="76200">
            <a:solidFill>
              <a:schemeClr val="tx1">
                <a:alpha val="99000"/>
              </a:schemeClr>
            </a:solidFill>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21DDEABD-7646-3A4F-44EE-891F379729C0}"/>
              </a:ext>
            </a:extLst>
          </p:cNvPr>
          <p:cNvSpPr/>
          <p:nvPr/>
        </p:nvSpPr>
        <p:spPr>
          <a:xfrm>
            <a:off x="4765146" y="4274086"/>
            <a:ext cx="1691934" cy="1799855"/>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28F7B0B-A37B-5337-79A7-A0BE493F45D2}"/>
              </a:ext>
            </a:extLst>
          </p:cNvPr>
          <p:cNvPicPr>
            <a:picLocks noChangeAspect="1"/>
          </p:cNvPicPr>
          <p:nvPr/>
        </p:nvPicPr>
        <p:blipFill>
          <a:blip r:embed="rId5"/>
          <a:stretch>
            <a:fillRect/>
          </a:stretch>
        </p:blipFill>
        <p:spPr>
          <a:xfrm>
            <a:off x="5043278" y="4675397"/>
            <a:ext cx="1218569" cy="1087998"/>
          </a:xfrm>
          <a:prstGeom prst="rect">
            <a:avLst/>
          </a:prstGeom>
        </p:spPr>
      </p:pic>
      <p:pic>
        <p:nvPicPr>
          <p:cNvPr id="17" name="Picture 4" descr="Premium Photo | Roasted beef steaks isolated on white background">
            <a:extLst>
              <a:ext uri="{FF2B5EF4-FFF2-40B4-BE49-F238E27FC236}">
                <a16:creationId xmlns:a16="http://schemas.microsoft.com/office/drawing/2014/main" id="{995EF831-0216-42A1-3682-20854661BC6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2453" t="3792" r="18923" b="6739"/>
          <a:stretch/>
        </p:blipFill>
        <p:spPr bwMode="auto">
          <a:xfrm>
            <a:off x="2987485" y="4552512"/>
            <a:ext cx="1097213" cy="1115439"/>
          </a:xfrm>
          <a:prstGeom prst="rect">
            <a:avLst/>
          </a:prstGeom>
          <a:noFill/>
          <a:extLst>
            <a:ext uri="{909E8E84-426E-40DD-AFC4-6F175D3DCCD1}">
              <a14:hiddenFill xmlns:a14="http://schemas.microsoft.com/office/drawing/2010/main">
                <a:solidFill>
                  <a:srgbClr val="FFFFFF"/>
                </a:solidFill>
              </a14:hiddenFill>
            </a:ext>
          </a:extLst>
        </p:spPr>
      </p:pic>
      <p:cxnSp>
        <p:nvCxnSpPr>
          <p:cNvPr id="25" name="Straight Connector 24">
            <a:extLst>
              <a:ext uri="{FF2B5EF4-FFF2-40B4-BE49-F238E27FC236}">
                <a16:creationId xmlns:a16="http://schemas.microsoft.com/office/drawing/2014/main" id="{92D662A7-3AD8-5C8E-1A28-B8032BF46D0E}"/>
              </a:ext>
            </a:extLst>
          </p:cNvPr>
          <p:cNvCxnSpPr>
            <a:cxnSpLocks/>
            <a:stCxn id="19" idx="0"/>
            <a:endCxn id="5" idx="2"/>
          </p:cNvCxnSpPr>
          <p:nvPr/>
        </p:nvCxnSpPr>
        <p:spPr>
          <a:xfrm flipV="1">
            <a:off x="3536092" y="3207679"/>
            <a:ext cx="3806733" cy="10664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53789D1-25E0-082B-3794-3610A8B0F03A}"/>
              </a:ext>
            </a:extLst>
          </p:cNvPr>
          <p:cNvSpPr txBox="1"/>
          <p:nvPr/>
        </p:nvSpPr>
        <p:spPr>
          <a:xfrm>
            <a:off x="2104184" y="795483"/>
            <a:ext cx="1492716" cy="646331"/>
          </a:xfrm>
          <a:prstGeom prst="rect">
            <a:avLst/>
          </a:prstGeom>
          <a:noFill/>
        </p:spPr>
        <p:txBody>
          <a:bodyPr wrap="none" rtlCol="0">
            <a:spAutoFit/>
          </a:bodyPr>
          <a:lstStyle/>
          <a:p>
            <a:r>
              <a:rPr lang="en-US" sz="3600" dirty="0" err="1">
                <a:solidFill>
                  <a:srgbClr val="FF0000"/>
                </a:solidFill>
                <a:latin typeface="Arial" panose="020B0604020202020204" pitchFamily="34" charset="0"/>
                <a:cs typeface="Arial" panose="020B0604020202020204" pitchFamily="34" charset="0"/>
              </a:rPr>
              <a:t>mPFC</a:t>
            </a:r>
            <a:endParaRPr lang="en-US" sz="3600" dirty="0">
              <a:solidFill>
                <a:srgbClr val="FF0000"/>
              </a:solidFill>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2F1D017A-BA09-2007-0722-14B56F5658AC}"/>
              </a:ext>
            </a:extLst>
          </p:cNvPr>
          <p:cNvSpPr txBox="1"/>
          <p:nvPr/>
        </p:nvSpPr>
        <p:spPr>
          <a:xfrm>
            <a:off x="2549121" y="6211669"/>
            <a:ext cx="4022606" cy="646331"/>
          </a:xfrm>
          <a:prstGeom prst="rect">
            <a:avLst/>
          </a:prstGeom>
          <a:noFill/>
        </p:spPr>
        <p:txBody>
          <a:bodyPr wrap="square" rtlCol="0">
            <a:spAutoFit/>
          </a:bodyPr>
          <a:lstStyle/>
          <a:p>
            <a:pPr algn="ctr"/>
            <a:r>
              <a:rPr lang="en-US" sz="3600" dirty="0">
                <a:solidFill>
                  <a:srgbClr val="0070C0"/>
                </a:solidFill>
                <a:latin typeface="Arial" panose="020B0604020202020204" pitchFamily="34" charset="0"/>
                <a:cs typeface="Arial" panose="020B0604020202020204" pitchFamily="34" charset="0"/>
              </a:rPr>
              <a:t>Perirhinal cortex</a:t>
            </a:r>
          </a:p>
        </p:txBody>
      </p:sp>
      <p:sp>
        <p:nvSpPr>
          <p:cNvPr id="34" name="TextBox 33">
            <a:extLst>
              <a:ext uri="{FF2B5EF4-FFF2-40B4-BE49-F238E27FC236}">
                <a16:creationId xmlns:a16="http://schemas.microsoft.com/office/drawing/2014/main" id="{B916BB85-F1D3-4D29-C995-67784A22F55E}"/>
              </a:ext>
            </a:extLst>
          </p:cNvPr>
          <p:cNvSpPr txBox="1"/>
          <p:nvPr/>
        </p:nvSpPr>
        <p:spPr>
          <a:xfrm>
            <a:off x="8301625" y="3183967"/>
            <a:ext cx="2690160" cy="584775"/>
          </a:xfrm>
          <a:prstGeom prst="rect">
            <a:avLst/>
          </a:prstGeom>
          <a:noFill/>
        </p:spPr>
        <p:txBody>
          <a:bodyPr wrap="square" rtlCol="0">
            <a:spAutoFit/>
          </a:bodyPr>
          <a:lstStyle/>
          <a:p>
            <a:r>
              <a:rPr lang="en-US" sz="3200" dirty="0">
                <a:solidFill>
                  <a:srgbClr val="00B050"/>
                </a:solidFill>
                <a:latin typeface="Arial" panose="020B0604020202020204" pitchFamily="34" charset="0"/>
                <a:cs typeface="Arial" panose="020B0604020202020204" pitchFamily="34" charset="0"/>
              </a:rPr>
              <a:t>Hippocampus</a:t>
            </a:r>
          </a:p>
        </p:txBody>
      </p:sp>
      <p:cxnSp>
        <p:nvCxnSpPr>
          <p:cNvPr id="42" name="Straight Connector 41">
            <a:extLst>
              <a:ext uri="{FF2B5EF4-FFF2-40B4-BE49-F238E27FC236}">
                <a16:creationId xmlns:a16="http://schemas.microsoft.com/office/drawing/2014/main" id="{20472716-4877-311F-DF17-E4D78E05DAD3}"/>
              </a:ext>
            </a:extLst>
          </p:cNvPr>
          <p:cNvCxnSpPr>
            <a:cxnSpLocks/>
            <a:stCxn id="11" idx="7"/>
            <a:endCxn id="5" idx="3"/>
          </p:cNvCxnSpPr>
          <p:nvPr/>
        </p:nvCxnSpPr>
        <p:spPr>
          <a:xfrm flipV="1">
            <a:off x="6209302" y="3354080"/>
            <a:ext cx="1190528" cy="118358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555A25E-18BC-C472-EFFE-2E6103764E39}"/>
              </a:ext>
            </a:extLst>
          </p:cNvPr>
          <p:cNvCxnSpPr>
            <a:cxnSpLocks/>
            <a:stCxn id="29" idx="3"/>
          </p:cNvCxnSpPr>
          <p:nvPr/>
        </p:nvCxnSpPr>
        <p:spPr>
          <a:xfrm>
            <a:off x="4969697" y="2561919"/>
            <a:ext cx="2080805" cy="437641"/>
          </a:xfrm>
          <a:prstGeom prst="line">
            <a:avLst/>
          </a:prstGeom>
          <a:ln w="38100">
            <a:solidFill>
              <a:srgbClr val="FF0000"/>
            </a:solidFill>
            <a:tailEnd type="oval" w="lg" len="sm"/>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0D34A351-BA3E-13C1-E292-409148D9D871}"/>
              </a:ext>
            </a:extLst>
          </p:cNvPr>
          <p:cNvSpPr txBox="1"/>
          <p:nvPr/>
        </p:nvSpPr>
        <p:spPr>
          <a:xfrm>
            <a:off x="5114913" y="971191"/>
            <a:ext cx="4029087" cy="1477328"/>
          </a:xfrm>
          <a:prstGeom prst="rect">
            <a:avLst/>
          </a:prstGeom>
          <a:noFill/>
        </p:spPr>
        <p:txBody>
          <a:bodyPr wrap="square" rtlCol="0">
            <a:spAutoFit/>
          </a:bodyPr>
          <a:lstStyle/>
          <a:p>
            <a:r>
              <a:rPr lang="en-US" dirty="0">
                <a:solidFill>
                  <a:srgbClr val="FF0000"/>
                </a:solidFill>
                <a:latin typeface="Arial" panose="020B0604020202020204" pitchFamily="34" charset="0"/>
                <a:cs typeface="Arial" panose="020B0604020202020204" pitchFamily="34" charset="0"/>
              </a:rPr>
              <a:t>Relations encoded within the </a:t>
            </a:r>
            <a:r>
              <a:rPr lang="en-US" dirty="0" err="1">
                <a:solidFill>
                  <a:srgbClr val="FF0000"/>
                </a:solidFill>
                <a:latin typeface="Arial" panose="020B0604020202020204" pitchFamily="34" charset="0"/>
                <a:cs typeface="Arial" panose="020B0604020202020204" pitchFamily="34" charset="0"/>
              </a:rPr>
              <a:t>mPFC</a:t>
            </a:r>
            <a:r>
              <a:rPr lang="en-US" dirty="0">
                <a:solidFill>
                  <a:srgbClr val="FF0000"/>
                </a:solidFill>
                <a:latin typeface="Arial" panose="020B0604020202020204" pitchFamily="34" charset="0"/>
                <a:cs typeface="Arial" panose="020B0604020202020204" pitchFamily="34" charset="0"/>
              </a:rPr>
              <a:t> likely have a meaningful structure. </a:t>
            </a:r>
          </a:p>
          <a:p>
            <a:r>
              <a:rPr lang="en-US" dirty="0">
                <a:solidFill>
                  <a:srgbClr val="FF0000"/>
                </a:solidFill>
                <a:latin typeface="Arial" panose="020B0604020202020204" pitchFamily="34" charset="0"/>
                <a:cs typeface="Arial" panose="020B0604020202020204" pitchFamily="34" charset="0"/>
              </a:rPr>
              <a:t>If our task reactivates these relations, then they can likely be investigated with RSA</a:t>
            </a:r>
          </a:p>
        </p:txBody>
      </p:sp>
      <p:sp>
        <p:nvSpPr>
          <p:cNvPr id="49" name="TextBox 48">
            <a:extLst>
              <a:ext uri="{FF2B5EF4-FFF2-40B4-BE49-F238E27FC236}">
                <a16:creationId xmlns:a16="http://schemas.microsoft.com/office/drawing/2014/main" id="{D9E37001-751F-F66C-5607-B2F10587A822}"/>
              </a:ext>
            </a:extLst>
          </p:cNvPr>
          <p:cNvSpPr txBox="1"/>
          <p:nvPr/>
        </p:nvSpPr>
        <p:spPr>
          <a:xfrm>
            <a:off x="6894988" y="4321293"/>
            <a:ext cx="4022606" cy="1938992"/>
          </a:xfrm>
          <a:prstGeom prst="rect">
            <a:avLst/>
          </a:prstGeom>
          <a:noFill/>
        </p:spPr>
        <p:txBody>
          <a:bodyPr wrap="square" rtlCol="0">
            <a:spAutoFit/>
          </a:bodyPr>
          <a:lstStyle/>
          <a:p>
            <a:r>
              <a:rPr lang="en-US" sz="2400" dirty="0">
                <a:solidFill>
                  <a:srgbClr val="0070C0"/>
                </a:solidFill>
                <a:latin typeface="Arial" panose="020B0604020202020204" pitchFamily="34" charset="0"/>
                <a:cs typeface="Arial" panose="020B0604020202020204" pitchFamily="34" charset="0"/>
              </a:rPr>
              <a:t>However, it’s less clear whether the meaningful structure also arises in these new hippocampal relations</a:t>
            </a:r>
          </a:p>
        </p:txBody>
      </p:sp>
      <p:sp>
        <p:nvSpPr>
          <p:cNvPr id="50" name="TextBox 49">
            <a:extLst>
              <a:ext uri="{FF2B5EF4-FFF2-40B4-BE49-F238E27FC236}">
                <a16:creationId xmlns:a16="http://schemas.microsoft.com/office/drawing/2014/main" id="{9F4D68F1-F49F-56BC-716F-7B7FF2FA7155}"/>
              </a:ext>
            </a:extLst>
          </p:cNvPr>
          <p:cNvSpPr txBox="1"/>
          <p:nvPr/>
        </p:nvSpPr>
        <p:spPr>
          <a:xfrm>
            <a:off x="2211068" y="1490953"/>
            <a:ext cx="1261884" cy="369332"/>
          </a:xfrm>
          <a:prstGeom prst="rect">
            <a:avLst/>
          </a:prstGeom>
          <a:noFill/>
        </p:spPr>
        <p:txBody>
          <a:bodyPr wrap="none" rtlCol="0">
            <a:spAutoFit/>
          </a:bodyPr>
          <a:lstStyle/>
          <a:p>
            <a:r>
              <a:rPr lang="en-US" dirty="0">
                <a:solidFill>
                  <a:srgbClr val="FF0000"/>
                </a:solidFill>
                <a:latin typeface="Arial" panose="020B0604020202020204" pitchFamily="34" charset="0"/>
                <a:cs typeface="Arial" panose="020B0604020202020204" pitchFamily="34" charset="0"/>
              </a:rPr>
              <a:t>(schemas)</a:t>
            </a:r>
          </a:p>
        </p:txBody>
      </p:sp>
      <p:cxnSp>
        <p:nvCxnSpPr>
          <p:cNvPr id="52" name="Straight Arrow Connector 51">
            <a:extLst>
              <a:ext uri="{FF2B5EF4-FFF2-40B4-BE49-F238E27FC236}">
                <a16:creationId xmlns:a16="http://schemas.microsoft.com/office/drawing/2014/main" id="{52E27923-CC05-240B-57CC-2A5F6097716D}"/>
              </a:ext>
            </a:extLst>
          </p:cNvPr>
          <p:cNvCxnSpPr/>
          <p:nvPr/>
        </p:nvCxnSpPr>
        <p:spPr>
          <a:xfrm>
            <a:off x="997661" y="3941687"/>
            <a:ext cx="974014" cy="1273251"/>
          </a:xfrm>
          <a:prstGeom prst="straightConnector1">
            <a:avLst/>
          </a:prstGeom>
          <a:ln w="76200">
            <a:solidFill>
              <a:srgbClr val="FDA631"/>
            </a:solidFill>
            <a:tailEnd type="triangle"/>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FBAB6B83-1AFE-D999-601E-D35FE1D5E112}"/>
              </a:ext>
            </a:extLst>
          </p:cNvPr>
          <p:cNvSpPr txBox="1"/>
          <p:nvPr/>
        </p:nvSpPr>
        <p:spPr>
          <a:xfrm>
            <a:off x="182714" y="5264114"/>
            <a:ext cx="2251760" cy="1200329"/>
          </a:xfrm>
          <a:prstGeom prst="rect">
            <a:avLst/>
          </a:prstGeom>
          <a:noFill/>
        </p:spPr>
        <p:txBody>
          <a:bodyPr wrap="square" rtlCol="0">
            <a:spAutoFit/>
          </a:bodyPr>
          <a:lstStyle/>
          <a:p>
            <a:r>
              <a:rPr lang="en-US" dirty="0">
                <a:solidFill>
                  <a:srgbClr val="FDA631"/>
                </a:solidFill>
              </a:rPr>
              <a:t>Assumption that the </a:t>
            </a:r>
            <a:r>
              <a:rPr lang="en-US" dirty="0" err="1">
                <a:solidFill>
                  <a:srgbClr val="FDA631"/>
                </a:solidFill>
              </a:rPr>
              <a:t>mPFC</a:t>
            </a:r>
            <a:r>
              <a:rPr lang="en-US" dirty="0">
                <a:solidFill>
                  <a:srgbClr val="FDA631"/>
                </a:solidFill>
              </a:rPr>
              <a:t> structure bears relevance to the perirhinal structure</a:t>
            </a:r>
          </a:p>
        </p:txBody>
      </p:sp>
    </p:spTree>
    <p:extLst>
      <p:ext uri="{BB962C8B-B14F-4D97-AF65-F5344CB8AC3E}">
        <p14:creationId xmlns:p14="http://schemas.microsoft.com/office/powerpoint/2010/main" val="2880051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53"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AFF94-F7FC-1CA7-C4BB-83EA56782F85}"/>
              </a:ext>
            </a:extLst>
          </p:cNvPr>
          <p:cNvSpPr>
            <a:spLocks noGrp="1"/>
          </p:cNvSpPr>
          <p:nvPr>
            <p:ph type="title"/>
          </p:nvPr>
        </p:nvSpPr>
        <p:spPr/>
        <p:txBody>
          <a:bodyPr/>
          <a:lstStyle/>
          <a:p>
            <a:r>
              <a:rPr lang="en-US" dirty="0"/>
              <a:t>Three types of relational memory tasks</a:t>
            </a:r>
          </a:p>
        </p:txBody>
      </p:sp>
      <p:sp>
        <p:nvSpPr>
          <p:cNvPr id="3" name="Content Placeholder 2">
            <a:extLst>
              <a:ext uri="{FF2B5EF4-FFF2-40B4-BE49-F238E27FC236}">
                <a16:creationId xmlns:a16="http://schemas.microsoft.com/office/drawing/2014/main" id="{01762B4F-B45C-72E1-C186-C4A151464FB3}"/>
              </a:ext>
            </a:extLst>
          </p:cNvPr>
          <p:cNvSpPr>
            <a:spLocks noGrp="1"/>
          </p:cNvSpPr>
          <p:nvPr>
            <p:ph idx="1"/>
          </p:nvPr>
        </p:nvSpPr>
        <p:spPr>
          <a:xfrm>
            <a:off x="838200" y="1690688"/>
            <a:ext cx="10515600" cy="5032375"/>
          </a:xfrm>
        </p:spPr>
        <p:txBody>
          <a:bodyPr>
            <a:normAutofit/>
          </a:bodyPr>
          <a:lstStyle/>
          <a:p>
            <a:r>
              <a:rPr lang="en-US" dirty="0"/>
              <a:t>Novel items </a:t>
            </a:r>
          </a:p>
          <a:p>
            <a:pPr lvl="1"/>
            <a:r>
              <a:rPr lang="en-US" dirty="0"/>
              <a:t>Pair fractal 1 &amp; fractal 2</a:t>
            </a:r>
          </a:p>
          <a:p>
            <a:pPr lvl="1"/>
            <a:r>
              <a:rPr lang="en-US" dirty="0"/>
              <a:t>Relations must also be novel</a:t>
            </a:r>
          </a:p>
          <a:p>
            <a:r>
              <a:rPr lang="en-US" dirty="0"/>
              <a:t>Known items + novel relations</a:t>
            </a:r>
          </a:p>
          <a:p>
            <a:pPr lvl="1"/>
            <a:r>
              <a:rPr lang="en-US" dirty="0"/>
              <a:t>Pair cow &amp; hat</a:t>
            </a:r>
          </a:p>
          <a:p>
            <a:pPr lvl="1"/>
            <a:r>
              <a:rPr lang="en-US" dirty="0"/>
              <a:t>Memory accuracy can be based on relations formed between item schemas </a:t>
            </a:r>
            <a:r>
              <a:rPr lang="en-US" i="1" dirty="0"/>
              <a:t>or </a:t>
            </a:r>
            <a:r>
              <a:rPr lang="en-US" dirty="0"/>
              <a:t>item instances</a:t>
            </a:r>
          </a:p>
          <a:p>
            <a:r>
              <a:rPr lang="en-US" dirty="0"/>
              <a:t>Known items + known relations</a:t>
            </a:r>
          </a:p>
          <a:p>
            <a:pPr lvl="1"/>
            <a:r>
              <a:rPr lang="en-US" dirty="0"/>
              <a:t>Pair cow &amp; steak</a:t>
            </a:r>
          </a:p>
          <a:p>
            <a:pPr lvl="1"/>
            <a:r>
              <a:rPr lang="en-US" dirty="0"/>
              <a:t>Memory accuracy must be based on relations formed between item instances</a:t>
            </a:r>
          </a:p>
          <a:p>
            <a:pPr lvl="1"/>
            <a:endParaRPr lang="en-US" dirty="0"/>
          </a:p>
          <a:p>
            <a:pPr lvl="1"/>
            <a:endParaRPr lang="en-US" dirty="0"/>
          </a:p>
          <a:p>
            <a:endParaRPr lang="en-US" dirty="0"/>
          </a:p>
        </p:txBody>
      </p:sp>
    </p:spTree>
    <p:extLst>
      <p:ext uri="{BB962C8B-B14F-4D97-AF65-F5344CB8AC3E}">
        <p14:creationId xmlns:p14="http://schemas.microsoft.com/office/powerpoint/2010/main" val="194890842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C7FAE-B40D-7729-878E-A5B6B4E10AFF}"/>
              </a:ext>
            </a:extLst>
          </p:cNvPr>
          <p:cNvSpPr>
            <a:spLocks noGrp="1"/>
          </p:cNvSpPr>
          <p:nvPr>
            <p:ph type="title"/>
          </p:nvPr>
        </p:nvSpPr>
        <p:spPr>
          <a:xfrm>
            <a:off x="3357562" y="70567"/>
            <a:ext cx="8281987" cy="1325563"/>
          </a:xfrm>
        </p:spPr>
        <p:txBody>
          <a:bodyPr/>
          <a:lstStyle/>
          <a:p>
            <a:r>
              <a:rPr lang="en-US" dirty="0"/>
              <a:t>Encoding task</a:t>
            </a:r>
          </a:p>
        </p:txBody>
      </p:sp>
      <p:sp>
        <p:nvSpPr>
          <p:cNvPr id="12" name="Rectangle 11">
            <a:extLst>
              <a:ext uri="{FF2B5EF4-FFF2-40B4-BE49-F238E27FC236}">
                <a16:creationId xmlns:a16="http://schemas.microsoft.com/office/drawing/2014/main" id="{67EF658F-E736-E9D1-141D-6ABB82CAEE4C}"/>
              </a:ext>
            </a:extLst>
          </p:cNvPr>
          <p:cNvSpPr/>
          <p:nvPr/>
        </p:nvSpPr>
        <p:spPr>
          <a:xfrm>
            <a:off x="1643395" y="1146657"/>
            <a:ext cx="2620497" cy="261725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8DFAF88-E656-82EF-A799-16593E7D3A1C}"/>
              </a:ext>
            </a:extLst>
          </p:cNvPr>
          <p:cNvPicPr>
            <a:picLocks noChangeAspect="1"/>
          </p:cNvPicPr>
          <p:nvPr/>
        </p:nvPicPr>
        <p:blipFill>
          <a:blip r:embed="rId3"/>
          <a:stretch>
            <a:fillRect/>
          </a:stretch>
        </p:blipFill>
        <p:spPr>
          <a:xfrm>
            <a:off x="2472946" y="2007144"/>
            <a:ext cx="1041779" cy="930151"/>
          </a:xfrm>
          <a:prstGeom prst="rect">
            <a:avLst/>
          </a:prstGeom>
        </p:spPr>
      </p:pic>
      <p:sp>
        <p:nvSpPr>
          <p:cNvPr id="13" name="Rectangle 12">
            <a:extLst>
              <a:ext uri="{FF2B5EF4-FFF2-40B4-BE49-F238E27FC236}">
                <a16:creationId xmlns:a16="http://schemas.microsoft.com/office/drawing/2014/main" id="{963866F1-8BBE-56A6-BD07-BB840911B0C3}"/>
              </a:ext>
            </a:extLst>
          </p:cNvPr>
          <p:cNvSpPr/>
          <p:nvPr/>
        </p:nvSpPr>
        <p:spPr>
          <a:xfrm>
            <a:off x="3638217" y="2120372"/>
            <a:ext cx="2620497" cy="261725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0CD278E-A689-9EFA-17E2-F7F2E2D7B211}"/>
              </a:ext>
            </a:extLst>
          </p:cNvPr>
          <p:cNvSpPr>
            <a:spLocks noGrp="1"/>
          </p:cNvSpPr>
          <p:nvPr>
            <p:ph idx="1"/>
          </p:nvPr>
        </p:nvSpPr>
        <p:spPr>
          <a:xfrm>
            <a:off x="4671658" y="3095678"/>
            <a:ext cx="553614" cy="622093"/>
          </a:xfrm>
        </p:spPr>
        <p:txBody>
          <a:bodyPr>
            <a:normAutofit lnSpcReduction="10000"/>
          </a:bodyPr>
          <a:lstStyle/>
          <a:p>
            <a:pPr marL="0" indent="0">
              <a:buNone/>
            </a:pPr>
            <a:r>
              <a:rPr lang="en-US" sz="4000" dirty="0"/>
              <a:t>+</a:t>
            </a:r>
            <a:endParaRPr lang="en-US" dirty="0"/>
          </a:p>
        </p:txBody>
      </p:sp>
      <p:sp>
        <p:nvSpPr>
          <p:cNvPr id="14" name="Rectangle 13">
            <a:extLst>
              <a:ext uri="{FF2B5EF4-FFF2-40B4-BE49-F238E27FC236}">
                <a16:creationId xmlns:a16="http://schemas.microsoft.com/office/drawing/2014/main" id="{EF334CC4-1382-4623-262E-A56C1FA676CD}"/>
              </a:ext>
            </a:extLst>
          </p:cNvPr>
          <p:cNvSpPr/>
          <p:nvPr/>
        </p:nvSpPr>
        <p:spPr>
          <a:xfrm>
            <a:off x="5509547" y="2937295"/>
            <a:ext cx="2620497" cy="261725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4" descr="Premium Photo | Roasted beef steaks isolated on white background">
            <a:extLst>
              <a:ext uri="{FF2B5EF4-FFF2-40B4-BE49-F238E27FC236}">
                <a16:creationId xmlns:a16="http://schemas.microsoft.com/office/drawing/2014/main" id="{EBB29267-CEF1-0867-B1B7-1F966292E04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453" t="3792" r="18923" b="6739"/>
          <a:stretch/>
        </p:blipFill>
        <p:spPr bwMode="auto">
          <a:xfrm>
            <a:off x="5569906" y="3763912"/>
            <a:ext cx="828038" cy="841793"/>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084F3FFF-2003-5CB1-B3AA-033BAB9FC717}"/>
              </a:ext>
            </a:extLst>
          </p:cNvPr>
          <p:cNvSpPr/>
          <p:nvPr/>
        </p:nvSpPr>
        <p:spPr>
          <a:xfrm>
            <a:off x="7651432" y="3992535"/>
            <a:ext cx="2620497" cy="261725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ntent Placeholder 2">
            <a:extLst>
              <a:ext uri="{FF2B5EF4-FFF2-40B4-BE49-F238E27FC236}">
                <a16:creationId xmlns:a16="http://schemas.microsoft.com/office/drawing/2014/main" id="{53E8C5C0-6DBC-A182-2D6B-76C1DB6852A2}"/>
              </a:ext>
            </a:extLst>
          </p:cNvPr>
          <p:cNvSpPr txBox="1">
            <a:spLocks/>
          </p:cNvSpPr>
          <p:nvPr/>
        </p:nvSpPr>
        <p:spPr>
          <a:xfrm>
            <a:off x="8115756" y="5018691"/>
            <a:ext cx="1878642" cy="6220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Response</a:t>
            </a:r>
          </a:p>
        </p:txBody>
      </p:sp>
      <p:sp>
        <p:nvSpPr>
          <p:cNvPr id="7" name="Content Placeholder 2">
            <a:extLst>
              <a:ext uri="{FF2B5EF4-FFF2-40B4-BE49-F238E27FC236}">
                <a16:creationId xmlns:a16="http://schemas.microsoft.com/office/drawing/2014/main" id="{ED8C7DA4-0BCB-E93B-B2CE-C4815DD2F45A}"/>
              </a:ext>
            </a:extLst>
          </p:cNvPr>
          <p:cNvSpPr txBox="1">
            <a:spLocks/>
          </p:cNvSpPr>
          <p:nvPr/>
        </p:nvSpPr>
        <p:spPr>
          <a:xfrm>
            <a:off x="4466190" y="1396130"/>
            <a:ext cx="7299131" cy="5418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Some pairs are related, some are unrelated</a:t>
            </a:r>
          </a:p>
        </p:txBody>
      </p:sp>
      <p:sp>
        <p:nvSpPr>
          <p:cNvPr id="8" name="Oval 7">
            <a:extLst>
              <a:ext uri="{FF2B5EF4-FFF2-40B4-BE49-F238E27FC236}">
                <a16:creationId xmlns:a16="http://schemas.microsoft.com/office/drawing/2014/main" id="{2D4C88E0-0318-9C18-3A05-87D83277E5D5}"/>
              </a:ext>
            </a:extLst>
          </p:cNvPr>
          <p:cNvSpPr/>
          <p:nvPr/>
        </p:nvSpPr>
        <p:spPr>
          <a:xfrm>
            <a:off x="5455032" y="3691647"/>
            <a:ext cx="1038529" cy="1038529"/>
          </a:xfrm>
          <a:prstGeom prst="ellipse">
            <a:avLst/>
          </a:prstGeom>
          <a:noFill/>
          <a:ln w="76200">
            <a:solidFill>
              <a:srgbClr val="FF7C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518ABD16-CD6B-9F8F-6D6E-809DCF787A21}"/>
              </a:ext>
            </a:extLst>
          </p:cNvPr>
          <p:cNvSpPr/>
          <p:nvPr/>
        </p:nvSpPr>
        <p:spPr>
          <a:xfrm>
            <a:off x="2402229" y="1842948"/>
            <a:ext cx="1112496" cy="1112496"/>
          </a:xfrm>
          <a:prstGeom prst="ellipse">
            <a:avLst/>
          </a:prstGeom>
          <a:noFill/>
          <a:ln w="7620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E06259B9-CC29-D522-2DA3-D9645E8DF329}"/>
              </a:ext>
            </a:extLst>
          </p:cNvPr>
          <p:cNvSpPr txBox="1">
            <a:spLocks/>
          </p:cNvSpPr>
          <p:nvPr/>
        </p:nvSpPr>
        <p:spPr>
          <a:xfrm>
            <a:off x="2017801" y="1220855"/>
            <a:ext cx="1112497" cy="6220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7030A0"/>
                </a:solidFill>
              </a:rPr>
              <a:t>“Cue”</a:t>
            </a:r>
          </a:p>
        </p:txBody>
      </p:sp>
      <p:sp>
        <p:nvSpPr>
          <p:cNvPr id="17" name="Content Placeholder 2">
            <a:extLst>
              <a:ext uri="{FF2B5EF4-FFF2-40B4-BE49-F238E27FC236}">
                <a16:creationId xmlns:a16="http://schemas.microsoft.com/office/drawing/2014/main" id="{AE11192F-8D5A-AC1F-3799-E8CC8A89AD4E}"/>
              </a:ext>
            </a:extLst>
          </p:cNvPr>
          <p:cNvSpPr txBox="1">
            <a:spLocks/>
          </p:cNvSpPr>
          <p:nvPr/>
        </p:nvSpPr>
        <p:spPr>
          <a:xfrm>
            <a:off x="6188397" y="3359630"/>
            <a:ext cx="1430837" cy="6220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7C80"/>
                </a:solidFill>
              </a:rPr>
              <a:t>“Target”</a:t>
            </a:r>
          </a:p>
        </p:txBody>
      </p:sp>
      <p:sp>
        <p:nvSpPr>
          <p:cNvPr id="18" name="Content Placeholder 2">
            <a:extLst>
              <a:ext uri="{FF2B5EF4-FFF2-40B4-BE49-F238E27FC236}">
                <a16:creationId xmlns:a16="http://schemas.microsoft.com/office/drawing/2014/main" id="{3D07BFE2-DE7F-6FD8-6974-6F53BB7DF597}"/>
              </a:ext>
            </a:extLst>
          </p:cNvPr>
          <p:cNvSpPr txBox="1">
            <a:spLocks/>
          </p:cNvSpPr>
          <p:nvPr/>
        </p:nvSpPr>
        <p:spPr>
          <a:xfrm>
            <a:off x="8277606" y="2191468"/>
            <a:ext cx="3635277" cy="134799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Each</a:t>
            </a:r>
            <a:r>
              <a:rPr lang="en-US" dirty="0">
                <a:solidFill>
                  <a:srgbClr val="7030A0"/>
                </a:solidFill>
              </a:rPr>
              <a:t> cue </a:t>
            </a:r>
            <a:r>
              <a:rPr lang="en-US" dirty="0"/>
              <a:t>appears once</a:t>
            </a:r>
          </a:p>
          <a:p>
            <a:pPr marL="0" indent="0">
              <a:buFont typeface="Arial" panose="020B0604020202020204" pitchFamily="34" charset="0"/>
              <a:buNone/>
            </a:pPr>
            <a:r>
              <a:rPr lang="en-US" dirty="0"/>
              <a:t>Each </a:t>
            </a:r>
            <a:r>
              <a:rPr lang="en-US" dirty="0">
                <a:solidFill>
                  <a:srgbClr val="FF7C80"/>
                </a:solidFill>
              </a:rPr>
              <a:t>target</a:t>
            </a:r>
            <a:r>
              <a:rPr lang="en-US" dirty="0"/>
              <a:t> is paired with three cues</a:t>
            </a:r>
          </a:p>
        </p:txBody>
      </p:sp>
      <p:sp>
        <p:nvSpPr>
          <p:cNvPr id="20" name="TextBox 19">
            <a:extLst>
              <a:ext uri="{FF2B5EF4-FFF2-40B4-BE49-F238E27FC236}">
                <a16:creationId xmlns:a16="http://schemas.microsoft.com/office/drawing/2014/main" id="{D0812B59-8AAA-992A-662C-435FAB5DC449}"/>
              </a:ext>
            </a:extLst>
          </p:cNvPr>
          <p:cNvSpPr txBox="1"/>
          <p:nvPr/>
        </p:nvSpPr>
        <p:spPr>
          <a:xfrm>
            <a:off x="435044" y="4811828"/>
            <a:ext cx="4656151" cy="2031325"/>
          </a:xfrm>
          <a:prstGeom prst="rect">
            <a:avLst/>
          </a:prstGeom>
          <a:noFill/>
        </p:spPr>
        <p:txBody>
          <a:bodyPr wrap="square" rtlCol="0">
            <a:spAutoFit/>
          </a:bodyPr>
          <a:lstStyle/>
          <a:p>
            <a:r>
              <a:rPr lang="en-US" dirty="0"/>
              <a:t>Target position may vary (e.g., left/right). This creates another dimension (spatial relation) that can be tested. </a:t>
            </a:r>
          </a:p>
          <a:p>
            <a:r>
              <a:rPr lang="en-US" dirty="0"/>
              <a:t>Because targets appear multiple times, then the target’s position relative to the cue image must be a relation and “position” can’t just be encoded as a feature of the item</a:t>
            </a:r>
          </a:p>
        </p:txBody>
      </p:sp>
      <p:sp>
        <p:nvSpPr>
          <p:cNvPr id="4" name="TextBox 3">
            <a:extLst>
              <a:ext uri="{FF2B5EF4-FFF2-40B4-BE49-F238E27FC236}">
                <a16:creationId xmlns:a16="http://schemas.microsoft.com/office/drawing/2014/main" id="{4A541466-D8CF-ECC6-FEE5-6D191FB3BD08}"/>
              </a:ext>
            </a:extLst>
          </p:cNvPr>
          <p:cNvSpPr txBox="1"/>
          <p:nvPr/>
        </p:nvSpPr>
        <p:spPr>
          <a:xfrm>
            <a:off x="10273515" y="4400596"/>
            <a:ext cx="1918485" cy="1754326"/>
          </a:xfrm>
          <a:prstGeom prst="rect">
            <a:avLst/>
          </a:prstGeom>
          <a:noFill/>
        </p:spPr>
        <p:txBody>
          <a:bodyPr wrap="square" rtlCol="0">
            <a:spAutoFit/>
          </a:bodyPr>
          <a:lstStyle/>
          <a:p>
            <a:r>
              <a:rPr lang="en-US" dirty="0"/>
              <a:t>Presenting on different screens deters unitization, but does this make the task too hard for OAs?</a:t>
            </a:r>
          </a:p>
        </p:txBody>
      </p:sp>
    </p:spTree>
    <p:extLst>
      <p:ext uri="{BB962C8B-B14F-4D97-AF65-F5344CB8AC3E}">
        <p14:creationId xmlns:p14="http://schemas.microsoft.com/office/powerpoint/2010/main" val="21441637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C7FAE-B40D-7729-878E-A5B6B4E10AFF}"/>
              </a:ext>
            </a:extLst>
          </p:cNvPr>
          <p:cNvSpPr>
            <a:spLocks noGrp="1"/>
          </p:cNvSpPr>
          <p:nvPr>
            <p:ph type="title"/>
          </p:nvPr>
        </p:nvSpPr>
        <p:spPr>
          <a:xfrm>
            <a:off x="5745690" y="-192669"/>
            <a:ext cx="6759931" cy="1325563"/>
          </a:xfrm>
        </p:spPr>
        <p:txBody>
          <a:bodyPr/>
          <a:lstStyle/>
          <a:p>
            <a:r>
              <a:rPr lang="en-US" dirty="0"/>
              <a:t>Retrieval task</a:t>
            </a:r>
          </a:p>
        </p:txBody>
      </p:sp>
      <p:sp>
        <p:nvSpPr>
          <p:cNvPr id="12" name="Rectangle 11">
            <a:extLst>
              <a:ext uri="{FF2B5EF4-FFF2-40B4-BE49-F238E27FC236}">
                <a16:creationId xmlns:a16="http://schemas.microsoft.com/office/drawing/2014/main" id="{67EF658F-E736-E9D1-141D-6ABB82CAEE4C}"/>
              </a:ext>
            </a:extLst>
          </p:cNvPr>
          <p:cNvSpPr/>
          <p:nvPr/>
        </p:nvSpPr>
        <p:spPr>
          <a:xfrm>
            <a:off x="2005347" y="588668"/>
            <a:ext cx="2620497" cy="261725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8DFAF88-E656-82EF-A799-16593E7D3A1C}"/>
              </a:ext>
            </a:extLst>
          </p:cNvPr>
          <p:cNvPicPr>
            <a:picLocks noChangeAspect="1"/>
          </p:cNvPicPr>
          <p:nvPr/>
        </p:nvPicPr>
        <p:blipFill>
          <a:blip r:embed="rId3"/>
          <a:stretch>
            <a:fillRect/>
          </a:stretch>
        </p:blipFill>
        <p:spPr>
          <a:xfrm>
            <a:off x="2711328" y="1449155"/>
            <a:ext cx="1041779" cy="930151"/>
          </a:xfrm>
          <a:prstGeom prst="rect">
            <a:avLst/>
          </a:prstGeom>
        </p:spPr>
      </p:pic>
      <p:sp>
        <p:nvSpPr>
          <p:cNvPr id="19" name="Content Placeholder 2">
            <a:extLst>
              <a:ext uri="{FF2B5EF4-FFF2-40B4-BE49-F238E27FC236}">
                <a16:creationId xmlns:a16="http://schemas.microsoft.com/office/drawing/2014/main" id="{142ABEF4-72E3-2178-448B-BEFF47558F62}"/>
              </a:ext>
            </a:extLst>
          </p:cNvPr>
          <p:cNvSpPr txBox="1">
            <a:spLocks/>
          </p:cNvSpPr>
          <p:nvPr/>
        </p:nvSpPr>
        <p:spPr>
          <a:xfrm>
            <a:off x="281790" y="3820240"/>
            <a:ext cx="6101716" cy="339211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Must avoid participants simply using logic to answer the pair without memory </a:t>
            </a:r>
          </a:p>
          <a:p>
            <a:pPr lvl="1"/>
            <a:r>
              <a:rPr lang="en-US" dirty="0"/>
              <a:t>If participants were previously cued with a </a:t>
            </a:r>
            <a:r>
              <a:rPr lang="en-US" i="1" dirty="0"/>
              <a:t>chicken</a:t>
            </a:r>
            <a:r>
              <a:rPr lang="en-US" dirty="0"/>
              <a:t> and retrieved </a:t>
            </a:r>
            <a:r>
              <a:rPr lang="en-US" i="1" dirty="0"/>
              <a:t>drumstick</a:t>
            </a:r>
            <a:r>
              <a:rPr lang="en-US" dirty="0"/>
              <a:t>, when they are cued with a </a:t>
            </a:r>
            <a:r>
              <a:rPr lang="en-US" i="1" dirty="0"/>
              <a:t>cow</a:t>
            </a:r>
            <a:r>
              <a:rPr lang="en-US" dirty="0"/>
              <a:t>, we want to avoid them reasoning that the pair must be </a:t>
            </a:r>
            <a:r>
              <a:rPr lang="en-US" i="1" dirty="0"/>
              <a:t>steak </a:t>
            </a:r>
            <a:r>
              <a:rPr lang="en-US" dirty="0"/>
              <a:t>(especially if participants know steak was shown at one point during encoding but don’t have memory for its pair)</a:t>
            </a:r>
          </a:p>
          <a:p>
            <a:r>
              <a:rPr lang="en-US" dirty="0"/>
              <a:t>To do this, the encoding task is designed such that the full set of target images includes three options that are related to each cue</a:t>
            </a:r>
          </a:p>
          <a:p>
            <a:pPr lvl="1"/>
            <a:r>
              <a:rPr lang="en-US" dirty="0"/>
              <a:t>E.g., the targets included a barn and a milk container, which can serve as foils in the retrieval test</a:t>
            </a:r>
          </a:p>
        </p:txBody>
      </p:sp>
      <p:sp>
        <p:nvSpPr>
          <p:cNvPr id="20" name="Oval 19">
            <a:extLst>
              <a:ext uri="{FF2B5EF4-FFF2-40B4-BE49-F238E27FC236}">
                <a16:creationId xmlns:a16="http://schemas.microsoft.com/office/drawing/2014/main" id="{BF508DD8-93B6-5DD8-A9E3-F4B09A65C66D}"/>
              </a:ext>
            </a:extLst>
          </p:cNvPr>
          <p:cNvSpPr/>
          <p:nvPr/>
        </p:nvSpPr>
        <p:spPr>
          <a:xfrm>
            <a:off x="2425986" y="1151120"/>
            <a:ext cx="1450613" cy="1450613"/>
          </a:xfrm>
          <a:prstGeom prst="ellipse">
            <a:avLst/>
          </a:prstGeom>
          <a:noFill/>
          <a:ln w="7620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DDD6C80-1D0C-88C2-7BD9-270EF726A0D7}"/>
              </a:ext>
            </a:extLst>
          </p:cNvPr>
          <p:cNvSpPr txBox="1"/>
          <p:nvPr/>
        </p:nvSpPr>
        <p:spPr>
          <a:xfrm>
            <a:off x="2126958" y="618690"/>
            <a:ext cx="845103" cy="523220"/>
          </a:xfrm>
          <a:prstGeom prst="rect">
            <a:avLst/>
          </a:prstGeom>
          <a:noFill/>
        </p:spPr>
        <p:txBody>
          <a:bodyPr wrap="none" rtlCol="0">
            <a:spAutoFit/>
          </a:bodyPr>
          <a:lstStyle/>
          <a:p>
            <a:r>
              <a:rPr lang="en-US" sz="2800" dirty="0">
                <a:solidFill>
                  <a:srgbClr val="7030A0"/>
                </a:solidFill>
                <a:latin typeface="Arial" panose="020B0604020202020204" pitchFamily="34" charset="0"/>
                <a:cs typeface="Arial" panose="020B0604020202020204" pitchFamily="34" charset="0"/>
              </a:rPr>
              <a:t>Cue</a:t>
            </a:r>
          </a:p>
        </p:txBody>
      </p:sp>
      <p:sp>
        <p:nvSpPr>
          <p:cNvPr id="14" name="Rectangle 13">
            <a:extLst>
              <a:ext uri="{FF2B5EF4-FFF2-40B4-BE49-F238E27FC236}">
                <a16:creationId xmlns:a16="http://schemas.microsoft.com/office/drawing/2014/main" id="{EF334CC4-1382-4623-262E-A56C1FA676CD}"/>
              </a:ext>
            </a:extLst>
          </p:cNvPr>
          <p:cNvSpPr/>
          <p:nvPr/>
        </p:nvSpPr>
        <p:spPr>
          <a:xfrm>
            <a:off x="3579588" y="872968"/>
            <a:ext cx="2620497" cy="261725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ntent Placeholder 2">
            <a:extLst>
              <a:ext uri="{FF2B5EF4-FFF2-40B4-BE49-F238E27FC236}">
                <a16:creationId xmlns:a16="http://schemas.microsoft.com/office/drawing/2014/main" id="{53E8C5C0-6DBC-A182-2D6B-76C1DB6852A2}"/>
              </a:ext>
            </a:extLst>
          </p:cNvPr>
          <p:cNvSpPr txBox="1">
            <a:spLocks/>
          </p:cNvSpPr>
          <p:nvPr/>
        </p:nvSpPr>
        <p:spPr>
          <a:xfrm>
            <a:off x="3766775" y="1362925"/>
            <a:ext cx="2246122" cy="4442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t>Is pair related?</a:t>
            </a:r>
          </a:p>
        </p:txBody>
      </p:sp>
      <p:sp>
        <p:nvSpPr>
          <p:cNvPr id="24" name="Content Placeholder 2">
            <a:extLst>
              <a:ext uri="{FF2B5EF4-FFF2-40B4-BE49-F238E27FC236}">
                <a16:creationId xmlns:a16="http://schemas.microsoft.com/office/drawing/2014/main" id="{9CABDC0A-AA5E-DD8A-1DAF-6EC84D2FF11F}"/>
              </a:ext>
            </a:extLst>
          </p:cNvPr>
          <p:cNvSpPr txBox="1">
            <a:spLocks/>
          </p:cNvSpPr>
          <p:nvPr/>
        </p:nvSpPr>
        <p:spPr>
          <a:xfrm>
            <a:off x="4201983" y="2024694"/>
            <a:ext cx="1433181" cy="6220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dirty="0"/>
              <a:t>Yes / No</a:t>
            </a:r>
          </a:p>
        </p:txBody>
      </p:sp>
      <p:sp>
        <p:nvSpPr>
          <p:cNvPr id="13" name="Rectangle 12">
            <a:extLst>
              <a:ext uri="{FF2B5EF4-FFF2-40B4-BE49-F238E27FC236}">
                <a16:creationId xmlns:a16="http://schemas.microsoft.com/office/drawing/2014/main" id="{963866F1-8BBE-56A6-BD07-BB840911B0C3}"/>
              </a:ext>
            </a:extLst>
          </p:cNvPr>
          <p:cNvSpPr/>
          <p:nvPr/>
        </p:nvSpPr>
        <p:spPr>
          <a:xfrm>
            <a:off x="5667923" y="1279454"/>
            <a:ext cx="2620497" cy="261725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60CD278E-A689-9EFA-17E2-F7F2E2D7B211}"/>
              </a:ext>
            </a:extLst>
          </p:cNvPr>
          <p:cNvSpPr>
            <a:spLocks noGrp="1"/>
          </p:cNvSpPr>
          <p:nvPr>
            <p:ph idx="1"/>
          </p:nvPr>
        </p:nvSpPr>
        <p:spPr>
          <a:xfrm>
            <a:off x="5978121" y="1450530"/>
            <a:ext cx="2240112" cy="622093"/>
          </a:xfrm>
        </p:spPr>
        <p:txBody>
          <a:bodyPr>
            <a:normAutofit/>
          </a:bodyPr>
          <a:lstStyle/>
          <a:p>
            <a:pPr marL="0" indent="0">
              <a:buNone/>
            </a:pPr>
            <a:r>
              <a:rPr lang="en-US" dirty="0"/>
              <a:t>Select pair</a:t>
            </a:r>
          </a:p>
        </p:txBody>
      </p:sp>
      <p:pic>
        <p:nvPicPr>
          <p:cNvPr id="9" name="Picture 4" descr="Premium Photo | Roasted beef steaks isolated on white background">
            <a:extLst>
              <a:ext uri="{FF2B5EF4-FFF2-40B4-BE49-F238E27FC236}">
                <a16:creationId xmlns:a16="http://schemas.microsoft.com/office/drawing/2014/main" id="{EBB29267-CEF1-0867-B1B7-1F966292E04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453" t="3792" r="18923" b="6739"/>
          <a:stretch/>
        </p:blipFill>
        <p:spPr bwMode="auto">
          <a:xfrm>
            <a:off x="7318321" y="2268881"/>
            <a:ext cx="828038" cy="841793"/>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3D rendering of a red wooden barn isolated on a white background. AI  Generated 23378910 Stock Photo at Vecteezy">
            <a:extLst>
              <a:ext uri="{FF2B5EF4-FFF2-40B4-BE49-F238E27FC236}">
                <a16:creationId xmlns:a16="http://schemas.microsoft.com/office/drawing/2014/main" id="{CBAE67AB-A3A9-958A-B63E-81A252AE2C5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58442" y="2296888"/>
            <a:ext cx="1067466" cy="71164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2,053 White Milk Carton Stock Photos - Free &amp; Royalty-Free Stock Photos  from Dreamstime">
            <a:extLst>
              <a:ext uri="{FF2B5EF4-FFF2-40B4-BE49-F238E27FC236}">
                <a16:creationId xmlns:a16="http://schemas.microsoft.com/office/drawing/2014/main" id="{2990E7BB-0535-4068-5D6E-85141A6C246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 r="4998" b="11693"/>
          <a:stretch/>
        </p:blipFill>
        <p:spPr bwMode="auto">
          <a:xfrm>
            <a:off x="6701296" y="2177199"/>
            <a:ext cx="553750" cy="942629"/>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084F3FFF-2003-5CB1-B3AA-033BAB9FC717}"/>
              </a:ext>
            </a:extLst>
          </p:cNvPr>
          <p:cNvSpPr/>
          <p:nvPr/>
        </p:nvSpPr>
        <p:spPr>
          <a:xfrm>
            <a:off x="8011544" y="1517839"/>
            <a:ext cx="2620497" cy="261725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ntent Placeholder 2">
            <a:extLst>
              <a:ext uri="{FF2B5EF4-FFF2-40B4-BE49-F238E27FC236}">
                <a16:creationId xmlns:a16="http://schemas.microsoft.com/office/drawing/2014/main" id="{1D8A5972-B8D6-F13E-9DD4-B05C5108135B}"/>
              </a:ext>
            </a:extLst>
          </p:cNvPr>
          <p:cNvSpPr txBox="1">
            <a:spLocks/>
          </p:cNvSpPr>
          <p:nvPr/>
        </p:nvSpPr>
        <p:spPr>
          <a:xfrm>
            <a:off x="8305403" y="1983446"/>
            <a:ext cx="2240112" cy="62209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Pair position?</a:t>
            </a:r>
          </a:p>
        </p:txBody>
      </p:sp>
      <p:sp>
        <p:nvSpPr>
          <p:cNvPr id="26" name="Content Placeholder 2">
            <a:extLst>
              <a:ext uri="{FF2B5EF4-FFF2-40B4-BE49-F238E27FC236}">
                <a16:creationId xmlns:a16="http://schemas.microsoft.com/office/drawing/2014/main" id="{1CAA66EC-3572-FDEB-AEB6-29F48C8A0B4E}"/>
              </a:ext>
            </a:extLst>
          </p:cNvPr>
          <p:cNvSpPr txBox="1">
            <a:spLocks/>
          </p:cNvSpPr>
          <p:nvPr/>
        </p:nvSpPr>
        <p:spPr>
          <a:xfrm>
            <a:off x="8305403" y="2748223"/>
            <a:ext cx="2240112" cy="622093"/>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t>Left / right /</a:t>
            </a:r>
            <a:br>
              <a:rPr lang="en-US" dirty="0"/>
            </a:br>
            <a:r>
              <a:rPr lang="en-US" dirty="0"/>
              <a:t>above / below</a:t>
            </a:r>
          </a:p>
        </p:txBody>
      </p:sp>
      <p:sp>
        <p:nvSpPr>
          <p:cNvPr id="28" name="TextBox 27">
            <a:extLst>
              <a:ext uri="{FF2B5EF4-FFF2-40B4-BE49-F238E27FC236}">
                <a16:creationId xmlns:a16="http://schemas.microsoft.com/office/drawing/2014/main" id="{92B4FFC7-AC36-FB1B-35BB-B5DB8612657E}"/>
              </a:ext>
            </a:extLst>
          </p:cNvPr>
          <p:cNvSpPr txBox="1"/>
          <p:nvPr/>
        </p:nvSpPr>
        <p:spPr>
          <a:xfrm>
            <a:off x="5745690" y="3286576"/>
            <a:ext cx="2178802" cy="338554"/>
          </a:xfrm>
          <a:prstGeom prst="rect">
            <a:avLst/>
          </a:prstGeom>
          <a:noFill/>
        </p:spPr>
        <p:txBody>
          <a:bodyPr wrap="none" rtlCol="0">
            <a:spAutoFit/>
          </a:bodyPr>
          <a:lstStyle/>
          <a:p>
            <a:r>
              <a:rPr lang="en-US" sz="1600" dirty="0">
                <a:solidFill>
                  <a:srgbClr val="FF0000"/>
                </a:solidFill>
                <a:latin typeface="Arial" panose="020B0604020202020204" pitchFamily="34" charset="0"/>
                <a:cs typeface="Arial" panose="020B0604020202020204" pitchFamily="34" charset="0"/>
              </a:rPr>
              <a:t>Foils are related &amp; old</a:t>
            </a:r>
          </a:p>
        </p:txBody>
      </p:sp>
      <p:sp>
        <p:nvSpPr>
          <p:cNvPr id="29" name="TextBox 28">
            <a:extLst>
              <a:ext uri="{FF2B5EF4-FFF2-40B4-BE49-F238E27FC236}">
                <a16:creationId xmlns:a16="http://schemas.microsoft.com/office/drawing/2014/main" id="{2D35A2EE-671A-DE5A-B20F-1530B0EABD37}"/>
              </a:ext>
            </a:extLst>
          </p:cNvPr>
          <p:cNvSpPr txBox="1"/>
          <p:nvPr/>
        </p:nvSpPr>
        <p:spPr>
          <a:xfrm>
            <a:off x="6846071" y="4251376"/>
            <a:ext cx="4919908" cy="2554545"/>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Could also ask about temporal order between cue and target</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However, it is possible that participants encoded this information as a cue feature (i.e., encode “cow appeared first” rather than “cow appeared before steak”). </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This isn’t a problem for the spatial test because the cue is always centered, and the target position varied depending on which cue it was paired with</a:t>
            </a:r>
          </a:p>
        </p:txBody>
      </p:sp>
      <p:sp>
        <p:nvSpPr>
          <p:cNvPr id="8" name="Content Placeholder 2">
            <a:extLst>
              <a:ext uri="{FF2B5EF4-FFF2-40B4-BE49-F238E27FC236}">
                <a16:creationId xmlns:a16="http://schemas.microsoft.com/office/drawing/2014/main" id="{71AC6A2B-DA00-27A2-514C-EEA1ECE391ED}"/>
              </a:ext>
            </a:extLst>
          </p:cNvPr>
          <p:cNvSpPr txBox="1">
            <a:spLocks/>
          </p:cNvSpPr>
          <p:nvPr/>
        </p:nvSpPr>
        <p:spPr>
          <a:xfrm>
            <a:off x="2191634" y="2747660"/>
            <a:ext cx="1123961" cy="481302"/>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dirty="0"/>
              <a:t>R/K/N or Old/New</a:t>
            </a:r>
          </a:p>
        </p:txBody>
      </p:sp>
    </p:spTree>
    <p:extLst>
      <p:ext uri="{BB962C8B-B14F-4D97-AF65-F5344CB8AC3E}">
        <p14:creationId xmlns:p14="http://schemas.microsoft.com/office/powerpoint/2010/main" val="38650447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0BEE-33FB-A5F4-29CF-4F559B33DD6E}"/>
              </a:ext>
            </a:extLst>
          </p:cNvPr>
          <p:cNvSpPr>
            <a:spLocks noGrp="1"/>
          </p:cNvSpPr>
          <p:nvPr>
            <p:ph type="title"/>
          </p:nvPr>
        </p:nvSpPr>
        <p:spPr/>
        <p:txBody>
          <a:bodyPr/>
          <a:lstStyle/>
          <a:p>
            <a:r>
              <a:rPr lang="en-US" dirty="0"/>
              <a:t>Extra test before the main retrieval task</a:t>
            </a:r>
          </a:p>
        </p:txBody>
      </p:sp>
      <p:sp>
        <p:nvSpPr>
          <p:cNvPr id="3" name="Content Placeholder 2">
            <a:extLst>
              <a:ext uri="{FF2B5EF4-FFF2-40B4-BE49-F238E27FC236}">
                <a16:creationId xmlns:a16="http://schemas.microsoft.com/office/drawing/2014/main" id="{F833893A-4A3F-4F96-D69B-7F4E43A86D59}"/>
              </a:ext>
            </a:extLst>
          </p:cNvPr>
          <p:cNvSpPr>
            <a:spLocks noGrp="1"/>
          </p:cNvSpPr>
          <p:nvPr>
            <p:ph idx="1"/>
          </p:nvPr>
        </p:nvSpPr>
        <p:spPr/>
        <p:txBody>
          <a:bodyPr/>
          <a:lstStyle/>
          <a:p>
            <a:r>
              <a:rPr lang="en-US" dirty="0"/>
              <a:t>Before the retrieval scanning, participants complete an Old/New test for the target images</a:t>
            </a:r>
          </a:p>
          <a:p>
            <a:pPr lvl="1"/>
            <a:r>
              <a:rPr lang="en-US" dirty="0"/>
              <a:t>Priming participants with these may improve performance on the relational memory test</a:t>
            </a:r>
          </a:p>
          <a:p>
            <a:pPr lvl="1"/>
            <a:r>
              <a:rPr lang="en-US" dirty="0"/>
              <a:t>Also, given that the targets will be shown three times during the retrieval test, there could be differences between the 1</a:t>
            </a:r>
            <a:r>
              <a:rPr lang="en-US" baseline="30000" dirty="0"/>
              <a:t>st </a:t>
            </a:r>
            <a:r>
              <a:rPr lang="en-US" dirty="0"/>
              <a:t>time they appear vs. 2</a:t>
            </a:r>
            <a:r>
              <a:rPr lang="en-US" baseline="30000" dirty="0"/>
              <a:t>nd</a:t>
            </a:r>
            <a:r>
              <a:rPr lang="en-US" dirty="0"/>
              <a:t>/3</a:t>
            </a:r>
            <a:r>
              <a:rPr lang="en-US" baseline="30000" dirty="0"/>
              <a:t>rd</a:t>
            </a:r>
            <a:r>
              <a:rPr lang="en-US" dirty="0"/>
              <a:t> times</a:t>
            </a:r>
          </a:p>
          <a:p>
            <a:pPr lvl="2"/>
            <a:r>
              <a:rPr lang="en-US" dirty="0"/>
              <a:t>Presenting the images in an Old/New test beforehand mitigates this issue</a:t>
            </a:r>
          </a:p>
        </p:txBody>
      </p:sp>
    </p:spTree>
    <p:extLst>
      <p:ext uri="{BB962C8B-B14F-4D97-AF65-F5344CB8AC3E}">
        <p14:creationId xmlns:p14="http://schemas.microsoft.com/office/powerpoint/2010/main" val="8896270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AE450-34EF-2588-5246-1D8930F3D891}"/>
              </a:ext>
            </a:extLst>
          </p:cNvPr>
          <p:cNvSpPr>
            <a:spLocks noGrp="1"/>
          </p:cNvSpPr>
          <p:nvPr>
            <p:ph type="title"/>
          </p:nvPr>
        </p:nvSpPr>
        <p:spPr>
          <a:xfrm>
            <a:off x="838200" y="104775"/>
            <a:ext cx="10515600" cy="1325563"/>
          </a:xfrm>
        </p:spPr>
        <p:txBody>
          <a:bodyPr/>
          <a:lstStyle/>
          <a:p>
            <a:r>
              <a:rPr lang="en-US" dirty="0"/>
              <a:t>Multiple RDMs</a:t>
            </a:r>
          </a:p>
        </p:txBody>
      </p:sp>
      <p:sp>
        <p:nvSpPr>
          <p:cNvPr id="3" name="Content Placeholder 2">
            <a:extLst>
              <a:ext uri="{FF2B5EF4-FFF2-40B4-BE49-F238E27FC236}">
                <a16:creationId xmlns:a16="http://schemas.microsoft.com/office/drawing/2014/main" id="{3E873500-CBAE-3B91-4A3E-594122AA8853}"/>
              </a:ext>
            </a:extLst>
          </p:cNvPr>
          <p:cNvSpPr>
            <a:spLocks noGrp="1"/>
          </p:cNvSpPr>
          <p:nvPr>
            <p:ph idx="1"/>
          </p:nvPr>
        </p:nvSpPr>
        <p:spPr>
          <a:xfrm>
            <a:off x="787400" y="1501774"/>
            <a:ext cx="10667314" cy="4865108"/>
          </a:xfrm>
        </p:spPr>
        <p:txBody>
          <a:bodyPr>
            <a:normAutofit/>
          </a:bodyPr>
          <a:lstStyle/>
          <a:p>
            <a:r>
              <a:rPr lang="en-US" dirty="0"/>
              <a:t>Type of analogy hierarchy:</a:t>
            </a:r>
          </a:p>
          <a:p>
            <a:pPr lvl="1"/>
            <a:r>
              <a:rPr lang="en-US" dirty="0"/>
              <a:t>Functional</a:t>
            </a:r>
          </a:p>
          <a:p>
            <a:pPr lvl="1"/>
            <a:r>
              <a:rPr lang="en-US" dirty="0"/>
              <a:t>Characteristic</a:t>
            </a:r>
          </a:p>
          <a:p>
            <a:r>
              <a:rPr lang="en-US" dirty="0"/>
              <a:t>Position:</a:t>
            </a:r>
          </a:p>
          <a:p>
            <a:pPr lvl="1"/>
            <a:r>
              <a:rPr lang="en-US" dirty="0"/>
              <a:t>Whether the target appeared below/above/left/right?</a:t>
            </a:r>
          </a:p>
          <a:p>
            <a:r>
              <a:rPr lang="en-US" dirty="0"/>
              <a:t>Target identity</a:t>
            </a:r>
          </a:p>
          <a:p>
            <a:pPr lvl="1"/>
            <a:r>
              <a:rPr lang="en-US" dirty="0"/>
              <a:t>Target similarity (based on the fact each target is presented three times)</a:t>
            </a:r>
          </a:p>
          <a:p>
            <a:pPr lvl="1"/>
            <a:r>
              <a:rPr lang="en-US" dirty="0"/>
              <a:t>Target stimulus vector (perceptual/semantic)</a:t>
            </a:r>
          </a:p>
          <a:p>
            <a:r>
              <a:rPr lang="en-US" dirty="0"/>
              <a:t>Combination vectors </a:t>
            </a:r>
          </a:p>
          <a:p>
            <a:pPr lvl="1"/>
            <a:r>
              <a:rPr lang="en-US" dirty="0"/>
              <a:t>E.g., absolute difference between stimulus vectors</a:t>
            </a:r>
          </a:p>
          <a:p>
            <a:endParaRPr lang="en-US" dirty="0"/>
          </a:p>
        </p:txBody>
      </p:sp>
    </p:spTree>
    <p:extLst>
      <p:ext uri="{BB962C8B-B14F-4D97-AF65-F5344CB8AC3E}">
        <p14:creationId xmlns:p14="http://schemas.microsoft.com/office/powerpoint/2010/main" val="29016538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BDD5B-DB25-21B3-97A8-8EDB16C7FE06}"/>
              </a:ext>
            </a:extLst>
          </p:cNvPr>
          <p:cNvSpPr>
            <a:spLocks noGrp="1"/>
          </p:cNvSpPr>
          <p:nvPr>
            <p:ph type="title"/>
          </p:nvPr>
        </p:nvSpPr>
        <p:spPr/>
        <p:txBody>
          <a:bodyPr/>
          <a:lstStyle/>
          <a:p>
            <a:r>
              <a:rPr lang="en-US" dirty="0"/>
              <a:t>Real-world relevance</a:t>
            </a:r>
          </a:p>
        </p:txBody>
      </p:sp>
      <p:sp>
        <p:nvSpPr>
          <p:cNvPr id="3" name="Content Placeholder 2">
            <a:extLst>
              <a:ext uri="{FF2B5EF4-FFF2-40B4-BE49-F238E27FC236}">
                <a16:creationId xmlns:a16="http://schemas.microsoft.com/office/drawing/2014/main" id="{3A034872-A0D7-461A-38E6-C6ADEDBFBE9E}"/>
              </a:ext>
            </a:extLst>
          </p:cNvPr>
          <p:cNvSpPr>
            <a:spLocks noGrp="1"/>
          </p:cNvSpPr>
          <p:nvPr>
            <p:ph idx="1"/>
          </p:nvPr>
        </p:nvSpPr>
        <p:spPr/>
        <p:txBody>
          <a:bodyPr/>
          <a:lstStyle/>
          <a:p>
            <a:r>
              <a:rPr lang="en-US" dirty="0"/>
              <a:t>Outside the laboratory, memory encoding has a practical purpose</a:t>
            </a:r>
          </a:p>
          <a:p>
            <a:pPr lvl="1"/>
            <a:r>
              <a:rPr lang="en-US" dirty="0"/>
              <a:t>We learn the relations between stimuli so that we can reason about them in the future</a:t>
            </a:r>
          </a:p>
          <a:p>
            <a:pPr lvl="1"/>
            <a:r>
              <a:rPr lang="en-US" dirty="0"/>
              <a:t>The present research gets at that</a:t>
            </a:r>
          </a:p>
        </p:txBody>
      </p:sp>
    </p:spTree>
    <p:extLst>
      <p:ext uri="{BB962C8B-B14F-4D97-AF65-F5344CB8AC3E}">
        <p14:creationId xmlns:p14="http://schemas.microsoft.com/office/powerpoint/2010/main" val="405903053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99F88-BF1B-88E6-1E29-701D519266D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3A46379-B8F4-3E87-73E0-4F526356724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484863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Task idea 2</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r>
              <a:rPr lang="en-US" dirty="0"/>
              <a:t>10/30/2023</a:t>
            </a:r>
          </a:p>
        </p:txBody>
      </p:sp>
    </p:spTree>
    <p:extLst>
      <p:ext uri="{BB962C8B-B14F-4D97-AF65-F5344CB8AC3E}">
        <p14:creationId xmlns:p14="http://schemas.microsoft.com/office/powerpoint/2010/main" val="1767905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97D259-8F40-1A31-E2DC-275CBD6C9B78}"/>
              </a:ext>
            </a:extLst>
          </p:cNvPr>
          <p:cNvSpPr>
            <a:spLocks noGrp="1"/>
          </p:cNvSpPr>
          <p:nvPr>
            <p:ph type="title"/>
          </p:nvPr>
        </p:nvSpPr>
        <p:spPr>
          <a:xfrm>
            <a:off x="838200" y="39580"/>
            <a:ext cx="10515600" cy="1325563"/>
          </a:xfrm>
        </p:spPr>
        <p:txBody>
          <a:bodyPr/>
          <a:lstStyle/>
          <a:p>
            <a:r>
              <a:rPr lang="en-US" dirty="0"/>
              <a:t>Reinforcement learning and states</a:t>
            </a:r>
          </a:p>
        </p:txBody>
      </p:sp>
      <p:sp>
        <p:nvSpPr>
          <p:cNvPr id="3" name="Content Placeholder 2">
            <a:extLst>
              <a:ext uri="{FF2B5EF4-FFF2-40B4-BE49-F238E27FC236}">
                <a16:creationId xmlns:a16="http://schemas.microsoft.com/office/drawing/2014/main" id="{C4C4AC54-FEE1-3BFE-E500-1E5AFF2978FD}"/>
              </a:ext>
            </a:extLst>
          </p:cNvPr>
          <p:cNvSpPr>
            <a:spLocks noGrp="1"/>
          </p:cNvSpPr>
          <p:nvPr>
            <p:ph idx="1"/>
          </p:nvPr>
        </p:nvSpPr>
        <p:spPr>
          <a:xfrm>
            <a:off x="838200" y="1180510"/>
            <a:ext cx="10515600" cy="2657356"/>
          </a:xfrm>
        </p:spPr>
        <p:txBody>
          <a:bodyPr>
            <a:normAutofit/>
          </a:bodyPr>
          <a:lstStyle/>
          <a:p>
            <a:r>
              <a:rPr lang="en-US" dirty="0"/>
              <a:t>Decision-making can be conceptualized as purposeful transitions through different states</a:t>
            </a:r>
          </a:p>
          <a:p>
            <a:pPr lvl="1"/>
            <a:r>
              <a:rPr lang="en-US" dirty="0"/>
              <a:t>Many cognitive processes are abstracted away (e.g., perception, memory)</a:t>
            </a:r>
          </a:p>
          <a:p>
            <a:r>
              <a:rPr lang="en-US" dirty="0"/>
              <a:t>OFC represents state spaces (Schuck et al., 2016)</a:t>
            </a:r>
          </a:p>
          <a:p>
            <a:pPr lvl="1"/>
            <a:r>
              <a:rPr lang="en-US" dirty="0"/>
              <a:t>Yet, this broad view ignores many important mechanisms</a:t>
            </a:r>
          </a:p>
          <a:p>
            <a:pPr lvl="1"/>
            <a:endParaRPr lang="en-US" dirty="0"/>
          </a:p>
          <a:p>
            <a:pPr marL="457200" lvl="1" indent="0">
              <a:buNone/>
            </a:pPr>
            <a:endParaRPr lang="en-US" dirty="0"/>
          </a:p>
        </p:txBody>
      </p:sp>
      <p:sp>
        <p:nvSpPr>
          <p:cNvPr id="4" name="Oval 3">
            <a:extLst>
              <a:ext uri="{FF2B5EF4-FFF2-40B4-BE49-F238E27FC236}">
                <a16:creationId xmlns:a16="http://schemas.microsoft.com/office/drawing/2014/main" id="{7F763BBA-C92D-0FCE-2D78-EA3FE0CE393C}"/>
              </a:ext>
            </a:extLst>
          </p:cNvPr>
          <p:cNvSpPr/>
          <p:nvPr/>
        </p:nvSpPr>
        <p:spPr>
          <a:xfrm>
            <a:off x="7724562" y="4972211"/>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Reinforcement Learning 101. Learn the essentials of Reinforcement… | by  Shweta Bhatt | Towards Data Science">
            <a:extLst>
              <a:ext uri="{FF2B5EF4-FFF2-40B4-BE49-F238E27FC236}">
                <a16:creationId xmlns:a16="http://schemas.microsoft.com/office/drawing/2014/main" id="{2D6A728C-AB7F-71BF-4049-E20B68C0E6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9343" y="4030312"/>
            <a:ext cx="6275369" cy="2418919"/>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a:extLst>
              <a:ext uri="{FF2B5EF4-FFF2-40B4-BE49-F238E27FC236}">
                <a16:creationId xmlns:a16="http://schemas.microsoft.com/office/drawing/2014/main" id="{02DE857F-46E8-C868-AFD9-224126C4C3AA}"/>
              </a:ext>
            </a:extLst>
          </p:cNvPr>
          <p:cNvSpPr/>
          <p:nvPr/>
        </p:nvSpPr>
        <p:spPr>
          <a:xfrm>
            <a:off x="8616464" y="5790406"/>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8AE361E3-D024-4B47-F6EA-B403D32605AB}"/>
              </a:ext>
            </a:extLst>
          </p:cNvPr>
          <p:cNvSpPr/>
          <p:nvPr/>
        </p:nvSpPr>
        <p:spPr>
          <a:xfrm>
            <a:off x="10078680" y="5790406"/>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3ED408B-83EF-2036-128B-52D9F75DCB11}"/>
              </a:ext>
            </a:extLst>
          </p:cNvPr>
          <p:cNvCxnSpPr>
            <a:stCxn id="5" idx="6"/>
            <a:endCxn id="6" idx="2"/>
          </p:cNvCxnSpPr>
          <p:nvPr/>
        </p:nvCxnSpPr>
        <p:spPr>
          <a:xfrm>
            <a:off x="9286904" y="6125626"/>
            <a:ext cx="791776"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F4AB3DA-DE1E-B32B-097F-B1A34D2CC488}"/>
              </a:ext>
            </a:extLst>
          </p:cNvPr>
          <p:cNvCxnSpPr>
            <a:cxnSpLocks/>
            <a:stCxn id="4" idx="5"/>
            <a:endCxn id="5" idx="1"/>
          </p:cNvCxnSpPr>
          <p:nvPr/>
        </p:nvCxnSpPr>
        <p:spPr>
          <a:xfrm>
            <a:off x="8296818" y="5544467"/>
            <a:ext cx="417830" cy="344123"/>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8376974A-BA46-9608-D45B-281CBA7C6338}"/>
              </a:ext>
            </a:extLst>
          </p:cNvPr>
          <p:cNvSpPr/>
          <p:nvPr/>
        </p:nvSpPr>
        <p:spPr>
          <a:xfrm>
            <a:off x="8638665" y="4448616"/>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649C05E-5A95-1261-E685-10322C04AC39}"/>
              </a:ext>
            </a:extLst>
          </p:cNvPr>
          <p:cNvSpPr/>
          <p:nvPr/>
        </p:nvSpPr>
        <p:spPr>
          <a:xfrm>
            <a:off x="10080291" y="4885268"/>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F83B86A1-0957-5120-EBDE-9BD553BA0BF6}"/>
              </a:ext>
            </a:extLst>
          </p:cNvPr>
          <p:cNvCxnSpPr>
            <a:stCxn id="13" idx="6"/>
            <a:endCxn id="14" idx="2"/>
          </p:cNvCxnSpPr>
          <p:nvPr/>
        </p:nvCxnSpPr>
        <p:spPr>
          <a:xfrm>
            <a:off x="9309105" y="4783836"/>
            <a:ext cx="771186" cy="43665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BD70EC7-2184-2DBF-89EA-813F6DF38ABC}"/>
              </a:ext>
            </a:extLst>
          </p:cNvPr>
          <p:cNvCxnSpPr>
            <a:cxnSpLocks/>
            <a:stCxn id="4" idx="7"/>
            <a:endCxn id="13" idx="2"/>
          </p:cNvCxnSpPr>
          <p:nvPr/>
        </p:nvCxnSpPr>
        <p:spPr>
          <a:xfrm flipV="1">
            <a:off x="8296818" y="4783836"/>
            <a:ext cx="341847" cy="28655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4C589C7F-6609-46C8-A184-972045447E0D}"/>
              </a:ext>
            </a:extLst>
          </p:cNvPr>
          <p:cNvSpPr/>
          <p:nvPr/>
        </p:nvSpPr>
        <p:spPr>
          <a:xfrm>
            <a:off x="10078680" y="3924704"/>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14C01A6E-24B5-4AD5-0559-E94DE45C841E}"/>
              </a:ext>
            </a:extLst>
          </p:cNvPr>
          <p:cNvCxnSpPr>
            <a:cxnSpLocks/>
            <a:stCxn id="13" idx="6"/>
            <a:endCxn id="27" idx="2"/>
          </p:cNvCxnSpPr>
          <p:nvPr/>
        </p:nvCxnSpPr>
        <p:spPr>
          <a:xfrm flipV="1">
            <a:off x="9309105" y="4259924"/>
            <a:ext cx="769575" cy="52391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A854A251-D07C-B22D-6B8F-D6E59FAD6D8F}"/>
              </a:ext>
            </a:extLst>
          </p:cNvPr>
          <p:cNvSpPr txBox="1"/>
          <p:nvPr/>
        </p:nvSpPr>
        <p:spPr>
          <a:xfrm>
            <a:off x="7704551" y="5767189"/>
            <a:ext cx="902811" cy="830997"/>
          </a:xfrm>
          <a:prstGeom prst="rect">
            <a:avLst/>
          </a:prstGeom>
          <a:noFill/>
        </p:spPr>
        <p:txBody>
          <a:bodyPr wrap="none" rtlCol="0">
            <a:spAutoFit/>
          </a:bodyPr>
          <a:lstStyle/>
          <a:p>
            <a:pPr algn="ctr"/>
            <a:r>
              <a:rPr lang="en-US" sz="1600" dirty="0">
                <a:latin typeface="Arial" panose="020B0604020202020204" pitchFamily="34" charset="0"/>
                <a:cs typeface="Arial" panose="020B0604020202020204" pitchFamily="34" charset="0"/>
              </a:rPr>
              <a:t>Watch</a:t>
            </a:r>
          </a:p>
          <a:p>
            <a:pPr algn="ctr"/>
            <a:r>
              <a:rPr lang="en-US" sz="1600" dirty="0">
                <a:latin typeface="Arial" panose="020B0604020202020204" pitchFamily="34" charset="0"/>
                <a:cs typeface="Arial" panose="020B0604020202020204" pitchFamily="34" charset="0"/>
              </a:rPr>
              <a:t>TV then</a:t>
            </a:r>
          </a:p>
          <a:p>
            <a:pPr algn="ctr"/>
            <a:r>
              <a:rPr lang="en-US" sz="1600" dirty="0">
                <a:latin typeface="Arial" panose="020B0604020202020204" pitchFamily="34" charset="0"/>
                <a:cs typeface="Arial" panose="020B0604020202020204" pitchFamily="34" charset="0"/>
              </a:rPr>
              <a:t>sleep</a:t>
            </a:r>
            <a:endParaRPr lang="en-US" sz="1400" dirty="0">
              <a:latin typeface="Arial" panose="020B0604020202020204" pitchFamily="34" charset="0"/>
              <a:cs typeface="Arial" panose="020B0604020202020204" pitchFamily="34" charset="0"/>
            </a:endParaRPr>
          </a:p>
        </p:txBody>
      </p:sp>
      <p:sp>
        <p:nvSpPr>
          <p:cNvPr id="37" name="TextBox 36">
            <a:extLst>
              <a:ext uri="{FF2B5EF4-FFF2-40B4-BE49-F238E27FC236}">
                <a16:creationId xmlns:a16="http://schemas.microsoft.com/office/drawing/2014/main" id="{815E65AF-F874-5C0B-0982-653C4EF18BE6}"/>
              </a:ext>
            </a:extLst>
          </p:cNvPr>
          <p:cNvSpPr txBox="1"/>
          <p:nvPr/>
        </p:nvSpPr>
        <p:spPr>
          <a:xfrm>
            <a:off x="7707671" y="5154617"/>
            <a:ext cx="737701" cy="276999"/>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Morning</a:t>
            </a:r>
          </a:p>
        </p:txBody>
      </p:sp>
      <p:sp>
        <p:nvSpPr>
          <p:cNvPr id="40" name="TextBox 39">
            <a:extLst>
              <a:ext uri="{FF2B5EF4-FFF2-40B4-BE49-F238E27FC236}">
                <a16:creationId xmlns:a16="http://schemas.microsoft.com/office/drawing/2014/main" id="{1B3C479C-7488-C57F-1058-1F72A41862CB}"/>
              </a:ext>
            </a:extLst>
          </p:cNvPr>
          <p:cNvSpPr txBox="1"/>
          <p:nvPr/>
        </p:nvSpPr>
        <p:spPr>
          <a:xfrm>
            <a:off x="7687718" y="4415410"/>
            <a:ext cx="936475" cy="338554"/>
          </a:xfrm>
          <a:prstGeom prst="rect">
            <a:avLst/>
          </a:prstGeom>
          <a:noFill/>
        </p:spPr>
        <p:txBody>
          <a:bodyPr wrap="none" rtlCol="0">
            <a:spAutoFit/>
          </a:bodyPr>
          <a:lstStyle/>
          <a:p>
            <a:pPr algn="ctr"/>
            <a:r>
              <a:rPr lang="en-US" sz="1600" dirty="0">
                <a:latin typeface="Arial" panose="020B0604020202020204" pitchFamily="34" charset="0"/>
                <a:cs typeface="Arial" panose="020B0604020202020204" pitchFamily="34" charset="0"/>
              </a:rPr>
              <a:t>Do work</a:t>
            </a:r>
            <a:endParaRPr lang="en-US" sz="1400" dirty="0">
              <a:latin typeface="Arial" panose="020B0604020202020204" pitchFamily="34" charset="0"/>
              <a:cs typeface="Arial" panose="020B0604020202020204" pitchFamily="34" charset="0"/>
            </a:endParaRPr>
          </a:p>
        </p:txBody>
      </p:sp>
      <p:sp>
        <p:nvSpPr>
          <p:cNvPr id="41" name="TextBox 40">
            <a:extLst>
              <a:ext uri="{FF2B5EF4-FFF2-40B4-BE49-F238E27FC236}">
                <a16:creationId xmlns:a16="http://schemas.microsoft.com/office/drawing/2014/main" id="{89B6B50B-A7F9-EC14-0C84-8E8826484D3F}"/>
              </a:ext>
            </a:extLst>
          </p:cNvPr>
          <p:cNvSpPr txBox="1"/>
          <p:nvPr/>
        </p:nvSpPr>
        <p:spPr>
          <a:xfrm>
            <a:off x="8515843" y="4547462"/>
            <a:ext cx="929687" cy="461665"/>
          </a:xfrm>
          <a:prstGeom prst="rect">
            <a:avLst/>
          </a:prstGeom>
          <a:noFill/>
        </p:spPr>
        <p:txBody>
          <a:bodyPr wrap="square" rtlCol="0">
            <a:spAutoFit/>
          </a:bodyPr>
          <a:lstStyle/>
          <a:p>
            <a:pPr algn="ctr"/>
            <a:r>
              <a:rPr lang="en-US" sz="1200" dirty="0">
                <a:latin typeface="Arial" panose="020B0604020202020204" pitchFamily="34" charset="0"/>
                <a:cs typeface="Arial" panose="020B0604020202020204" pitchFamily="34" charset="0"/>
              </a:rPr>
              <a:t>Have</a:t>
            </a:r>
          </a:p>
          <a:p>
            <a:pPr algn="ctr"/>
            <a:r>
              <a:rPr lang="en-US" sz="1200" dirty="0">
                <a:latin typeface="Arial" panose="020B0604020202020204" pitchFamily="34" charset="0"/>
                <a:cs typeface="Arial" panose="020B0604020202020204" pitchFamily="34" charset="0"/>
              </a:rPr>
              <a:t>results</a:t>
            </a:r>
            <a:endParaRPr lang="en-US" sz="1100" dirty="0">
              <a:latin typeface="Arial" panose="020B0604020202020204" pitchFamily="34" charset="0"/>
              <a:cs typeface="Arial" panose="020B0604020202020204" pitchFamily="34" charset="0"/>
            </a:endParaRPr>
          </a:p>
        </p:txBody>
      </p:sp>
      <p:sp>
        <p:nvSpPr>
          <p:cNvPr id="42" name="TextBox 41">
            <a:extLst>
              <a:ext uri="{FF2B5EF4-FFF2-40B4-BE49-F238E27FC236}">
                <a16:creationId xmlns:a16="http://schemas.microsoft.com/office/drawing/2014/main" id="{2809F08F-C9F1-66D1-A9D4-96CCEAF52820}"/>
              </a:ext>
            </a:extLst>
          </p:cNvPr>
          <p:cNvSpPr txBox="1"/>
          <p:nvPr/>
        </p:nvSpPr>
        <p:spPr>
          <a:xfrm>
            <a:off x="8915564" y="3810728"/>
            <a:ext cx="1161505" cy="600164"/>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Prep for individual meeting</a:t>
            </a:r>
          </a:p>
        </p:txBody>
      </p:sp>
      <p:sp>
        <p:nvSpPr>
          <p:cNvPr id="44" name="TextBox 43">
            <a:extLst>
              <a:ext uri="{FF2B5EF4-FFF2-40B4-BE49-F238E27FC236}">
                <a16:creationId xmlns:a16="http://schemas.microsoft.com/office/drawing/2014/main" id="{7C336859-7FDD-EF58-C3B1-CCD98F94A1B8}"/>
              </a:ext>
            </a:extLst>
          </p:cNvPr>
          <p:cNvSpPr txBox="1"/>
          <p:nvPr/>
        </p:nvSpPr>
        <p:spPr>
          <a:xfrm>
            <a:off x="8515843" y="5796193"/>
            <a:ext cx="929687" cy="646331"/>
          </a:xfrm>
          <a:prstGeom prst="rect">
            <a:avLst/>
          </a:prstGeom>
          <a:noFill/>
        </p:spPr>
        <p:txBody>
          <a:bodyPr wrap="square" rtlCol="0">
            <a:spAutoFit/>
          </a:bodyPr>
          <a:lstStyle/>
          <a:p>
            <a:pPr algn="ctr"/>
            <a:r>
              <a:rPr lang="en-US" sz="1200" dirty="0">
                <a:latin typeface="Arial" panose="020B0604020202020204" pitchFamily="34" charset="0"/>
                <a:cs typeface="Arial" panose="020B0604020202020204" pitchFamily="34" charset="0"/>
              </a:rPr>
              <a:t>Have</a:t>
            </a:r>
          </a:p>
          <a:p>
            <a:pPr algn="ctr"/>
            <a:r>
              <a:rPr lang="en-US" sz="1200" dirty="0">
                <a:latin typeface="Arial" panose="020B0604020202020204" pitchFamily="34" charset="0"/>
                <a:cs typeface="Arial" panose="020B0604020202020204" pitchFamily="34" charset="0"/>
              </a:rPr>
              <a:t>no</a:t>
            </a:r>
          </a:p>
          <a:p>
            <a:pPr algn="ctr"/>
            <a:r>
              <a:rPr lang="en-US" sz="1200" dirty="0">
                <a:latin typeface="Arial" panose="020B0604020202020204" pitchFamily="34" charset="0"/>
                <a:cs typeface="Arial" panose="020B0604020202020204" pitchFamily="34" charset="0"/>
              </a:rPr>
              <a:t>results</a:t>
            </a:r>
            <a:endParaRPr lang="en-US" sz="1100" dirty="0">
              <a:latin typeface="Arial" panose="020B0604020202020204" pitchFamily="34" charset="0"/>
              <a:cs typeface="Arial" panose="020B0604020202020204" pitchFamily="34" charset="0"/>
            </a:endParaRPr>
          </a:p>
        </p:txBody>
      </p:sp>
      <p:sp>
        <p:nvSpPr>
          <p:cNvPr id="45" name="TextBox 44">
            <a:extLst>
              <a:ext uri="{FF2B5EF4-FFF2-40B4-BE49-F238E27FC236}">
                <a16:creationId xmlns:a16="http://schemas.microsoft.com/office/drawing/2014/main" id="{9A9A32BE-17F8-9BD0-D3DF-1051A32D704E}"/>
              </a:ext>
            </a:extLst>
          </p:cNvPr>
          <p:cNvSpPr txBox="1"/>
          <p:nvPr/>
        </p:nvSpPr>
        <p:spPr>
          <a:xfrm>
            <a:off x="8964727" y="5088029"/>
            <a:ext cx="1161505" cy="430887"/>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Play</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games</a:t>
            </a:r>
          </a:p>
        </p:txBody>
      </p:sp>
      <p:sp>
        <p:nvSpPr>
          <p:cNvPr id="46" name="TextBox 45">
            <a:extLst>
              <a:ext uri="{FF2B5EF4-FFF2-40B4-BE49-F238E27FC236}">
                <a16:creationId xmlns:a16="http://schemas.microsoft.com/office/drawing/2014/main" id="{4A3AB0D0-13A4-CCC2-ECE8-1BAAE63AAC1B}"/>
              </a:ext>
            </a:extLst>
          </p:cNvPr>
          <p:cNvSpPr txBox="1"/>
          <p:nvPr/>
        </p:nvSpPr>
        <p:spPr>
          <a:xfrm>
            <a:off x="9831537" y="3926380"/>
            <a:ext cx="1161505" cy="600164"/>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Have</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great</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meeting</a:t>
            </a:r>
          </a:p>
        </p:txBody>
      </p:sp>
      <p:sp>
        <p:nvSpPr>
          <p:cNvPr id="47" name="TextBox 46">
            <a:extLst>
              <a:ext uri="{FF2B5EF4-FFF2-40B4-BE49-F238E27FC236}">
                <a16:creationId xmlns:a16="http://schemas.microsoft.com/office/drawing/2014/main" id="{646E1723-EDB5-4A74-A9F0-435211381C35}"/>
              </a:ext>
            </a:extLst>
          </p:cNvPr>
          <p:cNvSpPr txBox="1"/>
          <p:nvPr/>
        </p:nvSpPr>
        <p:spPr>
          <a:xfrm>
            <a:off x="9839677" y="4892693"/>
            <a:ext cx="1161505" cy="600164"/>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Have</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ok</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meeting</a:t>
            </a:r>
          </a:p>
        </p:txBody>
      </p:sp>
      <p:sp>
        <p:nvSpPr>
          <p:cNvPr id="48" name="TextBox 47">
            <a:extLst>
              <a:ext uri="{FF2B5EF4-FFF2-40B4-BE49-F238E27FC236}">
                <a16:creationId xmlns:a16="http://schemas.microsoft.com/office/drawing/2014/main" id="{933FA630-7582-4BC5-7DC2-9ABE56314D6D}"/>
              </a:ext>
            </a:extLst>
          </p:cNvPr>
          <p:cNvSpPr txBox="1"/>
          <p:nvPr/>
        </p:nvSpPr>
        <p:spPr>
          <a:xfrm>
            <a:off x="9825572" y="5793396"/>
            <a:ext cx="1161505" cy="600164"/>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Have</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bad</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meeting</a:t>
            </a:r>
          </a:p>
        </p:txBody>
      </p:sp>
    </p:spTree>
    <p:extLst>
      <p:ext uri="{BB962C8B-B14F-4D97-AF65-F5344CB8AC3E}">
        <p14:creationId xmlns:p14="http://schemas.microsoft.com/office/powerpoint/2010/main" val="27689463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69ADA-B458-7AC4-A1F7-566C7D6C4265}"/>
              </a:ext>
            </a:extLst>
          </p:cNvPr>
          <p:cNvSpPr>
            <a:spLocks noGrp="1"/>
          </p:cNvSpPr>
          <p:nvPr>
            <p:ph type="title"/>
          </p:nvPr>
        </p:nvSpPr>
        <p:spPr/>
        <p:txBody>
          <a:bodyPr/>
          <a:lstStyle/>
          <a:p>
            <a:r>
              <a:rPr lang="en-US" dirty="0"/>
              <a:t>Multi-part states</a:t>
            </a:r>
          </a:p>
        </p:txBody>
      </p:sp>
      <p:sp>
        <p:nvSpPr>
          <p:cNvPr id="3" name="Content Placeholder 2">
            <a:extLst>
              <a:ext uri="{FF2B5EF4-FFF2-40B4-BE49-F238E27FC236}">
                <a16:creationId xmlns:a16="http://schemas.microsoft.com/office/drawing/2014/main" id="{9EFCA276-9AA8-453B-7F52-2DA444E34B71}"/>
              </a:ext>
            </a:extLst>
          </p:cNvPr>
          <p:cNvSpPr>
            <a:spLocks noGrp="1"/>
          </p:cNvSpPr>
          <p:nvPr>
            <p:ph idx="1"/>
          </p:nvPr>
        </p:nvSpPr>
        <p:spPr/>
        <p:txBody>
          <a:bodyPr/>
          <a:lstStyle/>
          <a:p>
            <a:r>
              <a:rPr lang="en-US" dirty="0"/>
              <a:t>In the real world and the brain, states have multiple parts</a:t>
            </a:r>
          </a:p>
          <a:p>
            <a:r>
              <a:rPr lang="en-US" dirty="0"/>
              <a:t>Morning</a:t>
            </a:r>
          </a:p>
          <a:p>
            <a:pPr lvl="1"/>
            <a:r>
              <a:rPr lang="en-US" dirty="0"/>
              <a:t>Have preprocessed data</a:t>
            </a:r>
          </a:p>
          <a:p>
            <a:pPr lvl="1"/>
            <a:r>
              <a:rPr lang="en-US" dirty="0"/>
              <a:t>Have TV</a:t>
            </a:r>
          </a:p>
          <a:p>
            <a:pPr lvl="1"/>
            <a:r>
              <a:rPr lang="en-US" dirty="0"/>
              <a:t>Etc.</a:t>
            </a:r>
          </a:p>
          <a:p>
            <a:r>
              <a:rPr lang="en-US" dirty="0"/>
              <a:t>Where does memory fit in?</a:t>
            </a:r>
          </a:p>
        </p:txBody>
      </p:sp>
      <p:sp>
        <p:nvSpPr>
          <p:cNvPr id="4" name="Oval 3">
            <a:extLst>
              <a:ext uri="{FF2B5EF4-FFF2-40B4-BE49-F238E27FC236}">
                <a16:creationId xmlns:a16="http://schemas.microsoft.com/office/drawing/2014/main" id="{FB5E694C-5068-255A-80AA-02B5B1672AD3}"/>
              </a:ext>
            </a:extLst>
          </p:cNvPr>
          <p:cNvSpPr/>
          <p:nvPr/>
        </p:nvSpPr>
        <p:spPr>
          <a:xfrm>
            <a:off x="7724562" y="4972211"/>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5428C21B-1725-5174-5D2C-BF717600FA35}"/>
              </a:ext>
            </a:extLst>
          </p:cNvPr>
          <p:cNvSpPr/>
          <p:nvPr/>
        </p:nvSpPr>
        <p:spPr>
          <a:xfrm>
            <a:off x="8616464" y="5790406"/>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CE9BFC90-FF53-7743-871C-83CD4912B1BE}"/>
              </a:ext>
            </a:extLst>
          </p:cNvPr>
          <p:cNvSpPr/>
          <p:nvPr/>
        </p:nvSpPr>
        <p:spPr>
          <a:xfrm>
            <a:off x="10078680" y="5790406"/>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6F4198-5198-EC3F-2E20-33E3BDDB1D1F}"/>
              </a:ext>
            </a:extLst>
          </p:cNvPr>
          <p:cNvCxnSpPr>
            <a:stCxn id="5" idx="6"/>
            <a:endCxn id="6" idx="2"/>
          </p:cNvCxnSpPr>
          <p:nvPr/>
        </p:nvCxnSpPr>
        <p:spPr>
          <a:xfrm>
            <a:off x="9286904" y="6125626"/>
            <a:ext cx="791776"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8B2E407-7E89-56D9-8C06-25B74FFC163C}"/>
              </a:ext>
            </a:extLst>
          </p:cNvPr>
          <p:cNvCxnSpPr>
            <a:cxnSpLocks/>
            <a:stCxn id="4" idx="5"/>
            <a:endCxn id="5" idx="1"/>
          </p:cNvCxnSpPr>
          <p:nvPr/>
        </p:nvCxnSpPr>
        <p:spPr>
          <a:xfrm>
            <a:off x="8296818" y="5544467"/>
            <a:ext cx="417830" cy="344123"/>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5ABF9AD2-0CB1-1F03-E2EF-BDDC4ABAAE46}"/>
              </a:ext>
            </a:extLst>
          </p:cNvPr>
          <p:cNvSpPr/>
          <p:nvPr/>
        </p:nvSpPr>
        <p:spPr>
          <a:xfrm>
            <a:off x="8638665" y="4448616"/>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1A157A9-090D-2215-A634-E42DB5296454}"/>
              </a:ext>
            </a:extLst>
          </p:cNvPr>
          <p:cNvSpPr/>
          <p:nvPr/>
        </p:nvSpPr>
        <p:spPr>
          <a:xfrm>
            <a:off x="10080291" y="4885268"/>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0C421230-3C98-EE1C-E179-4A47330A05AD}"/>
              </a:ext>
            </a:extLst>
          </p:cNvPr>
          <p:cNvCxnSpPr>
            <a:stCxn id="9" idx="6"/>
            <a:endCxn id="10" idx="2"/>
          </p:cNvCxnSpPr>
          <p:nvPr/>
        </p:nvCxnSpPr>
        <p:spPr>
          <a:xfrm>
            <a:off x="9309105" y="4783836"/>
            <a:ext cx="771186" cy="43665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113A111-5AF6-FA98-0199-7150A03012BF}"/>
              </a:ext>
            </a:extLst>
          </p:cNvPr>
          <p:cNvCxnSpPr>
            <a:cxnSpLocks/>
            <a:stCxn id="4" idx="7"/>
            <a:endCxn id="9" idx="2"/>
          </p:cNvCxnSpPr>
          <p:nvPr/>
        </p:nvCxnSpPr>
        <p:spPr>
          <a:xfrm flipV="1">
            <a:off x="8296818" y="4783836"/>
            <a:ext cx="341847" cy="28655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CB889F4A-5FE8-B87F-D0E6-DE2D2AA27718}"/>
              </a:ext>
            </a:extLst>
          </p:cNvPr>
          <p:cNvSpPr/>
          <p:nvPr/>
        </p:nvSpPr>
        <p:spPr>
          <a:xfrm>
            <a:off x="10078680" y="3924704"/>
            <a:ext cx="670440" cy="670440"/>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FD218C6B-4A06-150D-91E6-D2126FC3C8DB}"/>
              </a:ext>
            </a:extLst>
          </p:cNvPr>
          <p:cNvCxnSpPr>
            <a:cxnSpLocks/>
            <a:stCxn id="9" idx="6"/>
            <a:endCxn id="13" idx="2"/>
          </p:cNvCxnSpPr>
          <p:nvPr/>
        </p:nvCxnSpPr>
        <p:spPr>
          <a:xfrm flipV="1">
            <a:off x="9309105" y="4259924"/>
            <a:ext cx="769575" cy="52391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1BCC562-9501-833B-7764-00DC225291AC}"/>
              </a:ext>
            </a:extLst>
          </p:cNvPr>
          <p:cNvSpPr txBox="1"/>
          <p:nvPr/>
        </p:nvSpPr>
        <p:spPr>
          <a:xfrm>
            <a:off x="7704551" y="5767189"/>
            <a:ext cx="902811" cy="830997"/>
          </a:xfrm>
          <a:prstGeom prst="rect">
            <a:avLst/>
          </a:prstGeom>
          <a:noFill/>
        </p:spPr>
        <p:txBody>
          <a:bodyPr wrap="none" rtlCol="0">
            <a:spAutoFit/>
          </a:bodyPr>
          <a:lstStyle/>
          <a:p>
            <a:pPr algn="ctr"/>
            <a:r>
              <a:rPr lang="en-US" sz="1600" dirty="0">
                <a:latin typeface="Arial" panose="020B0604020202020204" pitchFamily="34" charset="0"/>
                <a:cs typeface="Arial" panose="020B0604020202020204" pitchFamily="34" charset="0"/>
              </a:rPr>
              <a:t>Watch</a:t>
            </a:r>
          </a:p>
          <a:p>
            <a:pPr algn="ctr"/>
            <a:r>
              <a:rPr lang="en-US" sz="1600" dirty="0">
                <a:latin typeface="Arial" panose="020B0604020202020204" pitchFamily="34" charset="0"/>
                <a:cs typeface="Arial" panose="020B0604020202020204" pitchFamily="34" charset="0"/>
              </a:rPr>
              <a:t>TV then</a:t>
            </a:r>
          </a:p>
          <a:p>
            <a:pPr algn="ctr"/>
            <a:r>
              <a:rPr lang="en-US" sz="1600" dirty="0">
                <a:latin typeface="Arial" panose="020B0604020202020204" pitchFamily="34" charset="0"/>
                <a:cs typeface="Arial" panose="020B0604020202020204" pitchFamily="34" charset="0"/>
              </a:rPr>
              <a:t>sleep</a:t>
            </a:r>
            <a:endParaRPr lang="en-US" sz="1400" dirty="0">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83D79B39-0722-4DE9-D5BE-B199967A01A6}"/>
              </a:ext>
            </a:extLst>
          </p:cNvPr>
          <p:cNvSpPr txBox="1"/>
          <p:nvPr/>
        </p:nvSpPr>
        <p:spPr>
          <a:xfrm>
            <a:off x="7707671" y="5154617"/>
            <a:ext cx="737701" cy="276999"/>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Morning</a:t>
            </a:r>
          </a:p>
        </p:txBody>
      </p:sp>
      <p:sp>
        <p:nvSpPr>
          <p:cNvPr id="17" name="TextBox 16">
            <a:extLst>
              <a:ext uri="{FF2B5EF4-FFF2-40B4-BE49-F238E27FC236}">
                <a16:creationId xmlns:a16="http://schemas.microsoft.com/office/drawing/2014/main" id="{E79852F9-151A-B3F4-A41D-39B3CD63A050}"/>
              </a:ext>
            </a:extLst>
          </p:cNvPr>
          <p:cNvSpPr txBox="1"/>
          <p:nvPr/>
        </p:nvSpPr>
        <p:spPr>
          <a:xfrm>
            <a:off x="7687718" y="4415410"/>
            <a:ext cx="936475" cy="338554"/>
          </a:xfrm>
          <a:prstGeom prst="rect">
            <a:avLst/>
          </a:prstGeom>
          <a:noFill/>
        </p:spPr>
        <p:txBody>
          <a:bodyPr wrap="none" rtlCol="0">
            <a:spAutoFit/>
          </a:bodyPr>
          <a:lstStyle/>
          <a:p>
            <a:pPr algn="ctr"/>
            <a:r>
              <a:rPr lang="en-US" sz="1600" dirty="0">
                <a:latin typeface="Arial" panose="020B0604020202020204" pitchFamily="34" charset="0"/>
                <a:cs typeface="Arial" panose="020B0604020202020204" pitchFamily="34" charset="0"/>
              </a:rPr>
              <a:t>Do work</a:t>
            </a:r>
            <a:endParaRPr lang="en-US" sz="14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4CFBE3BD-0D0D-59E1-0245-1297B313362F}"/>
              </a:ext>
            </a:extLst>
          </p:cNvPr>
          <p:cNvSpPr txBox="1"/>
          <p:nvPr/>
        </p:nvSpPr>
        <p:spPr>
          <a:xfrm>
            <a:off x="8515843" y="4547462"/>
            <a:ext cx="929687" cy="461665"/>
          </a:xfrm>
          <a:prstGeom prst="rect">
            <a:avLst/>
          </a:prstGeom>
          <a:noFill/>
        </p:spPr>
        <p:txBody>
          <a:bodyPr wrap="square" rtlCol="0">
            <a:spAutoFit/>
          </a:bodyPr>
          <a:lstStyle/>
          <a:p>
            <a:pPr algn="ctr"/>
            <a:r>
              <a:rPr lang="en-US" sz="1200" dirty="0">
                <a:latin typeface="Arial" panose="020B0604020202020204" pitchFamily="34" charset="0"/>
                <a:cs typeface="Arial" panose="020B0604020202020204" pitchFamily="34" charset="0"/>
              </a:rPr>
              <a:t>Have</a:t>
            </a:r>
          </a:p>
          <a:p>
            <a:pPr algn="ctr"/>
            <a:r>
              <a:rPr lang="en-US" sz="1200" dirty="0">
                <a:latin typeface="Arial" panose="020B0604020202020204" pitchFamily="34" charset="0"/>
                <a:cs typeface="Arial" panose="020B0604020202020204" pitchFamily="34" charset="0"/>
              </a:rPr>
              <a:t>results</a:t>
            </a:r>
            <a:endParaRPr lang="en-US" sz="11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41CE8973-1273-FAD8-EF33-D6AB16557258}"/>
              </a:ext>
            </a:extLst>
          </p:cNvPr>
          <p:cNvSpPr txBox="1"/>
          <p:nvPr/>
        </p:nvSpPr>
        <p:spPr>
          <a:xfrm>
            <a:off x="8915564" y="3810728"/>
            <a:ext cx="1161505" cy="600164"/>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Prep for individual meeting</a:t>
            </a:r>
          </a:p>
        </p:txBody>
      </p:sp>
      <p:sp>
        <p:nvSpPr>
          <p:cNvPr id="20" name="TextBox 19">
            <a:extLst>
              <a:ext uri="{FF2B5EF4-FFF2-40B4-BE49-F238E27FC236}">
                <a16:creationId xmlns:a16="http://schemas.microsoft.com/office/drawing/2014/main" id="{60A83CF3-EDCB-D4E5-EE6C-A0A5DB534D78}"/>
              </a:ext>
            </a:extLst>
          </p:cNvPr>
          <p:cNvSpPr txBox="1"/>
          <p:nvPr/>
        </p:nvSpPr>
        <p:spPr>
          <a:xfrm>
            <a:off x="8515843" y="5796193"/>
            <a:ext cx="929687" cy="646331"/>
          </a:xfrm>
          <a:prstGeom prst="rect">
            <a:avLst/>
          </a:prstGeom>
          <a:noFill/>
        </p:spPr>
        <p:txBody>
          <a:bodyPr wrap="square" rtlCol="0">
            <a:spAutoFit/>
          </a:bodyPr>
          <a:lstStyle/>
          <a:p>
            <a:pPr algn="ctr"/>
            <a:r>
              <a:rPr lang="en-US" sz="1200" dirty="0">
                <a:latin typeface="Arial" panose="020B0604020202020204" pitchFamily="34" charset="0"/>
                <a:cs typeface="Arial" panose="020B0604020202020204" pitchFamily="34" charset="0"/>
              </a:rPr>
              <a:t>Have</a:t>
            </a:r>
          </a:p>
          <a:p>
            <a:pPr algn="ctr"/>
            <a:r>
              <a:rPr lang="en-US" sz="1200" dirty="0">
                <a:latin typeface="Arial" panose="020B0604020202020204" pitchFamily="34" charset="0"/>
                <a:cs typeface="Arial" panose="020B0604020202020204" pitchFamily="34" charset="0"/>
              </a:rPr>
              <a:t>no</a:t>
            </a:r>
          </a:p>
          <a:p>
            <a:pPr algn="ctr"/>
            <a:r>
              <a:rPr lang="en-US" sz="1200" dirty="0">
                <a:latin typeface="Arial" panose="020B0604020202020204" pitchFamily="34" charset="0"/>
                <a:cs typeface="Arial" panose="020B0604020202020204" pitchFamily="34" charset="0"/>
              </a:rPr>
              <a:t>results</a:t>
            </a:r>
            <a:endParaRPr lang="en-US" sz="11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5389D55C-331A-7D0F-AEC0-C5599E852C1F}"/>
              </a:ext>
            </a:extLst>
          </p:cNvPr>
          <p:cNvSpPr txBox="1"/>
          <p:nvPr/>
        </p:nvSpPr>
        <p:spPr>
          <a:xfrm>
            <a:off x="8964727" y="5088029"/>
            <a:ext cx="1161505" cy="430887"/>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Play</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games</a:t>
            </a:r>
          </a:p>
        </p:txBody>
      </p:sp>
      <p:sp>
        <p:nvSpPr>
          <p:cNvPr id="22" name="TextBox 21">
            <a:extLst>
              <a:ext uri="{FF2B5EF4-FFF2-40B4-BE49-F238E27FC236}">
                <a16:creationId xmlns:a16="http://schemas.microsoft.com/office/drawing/2014/main" id="{F61E1506-4C15-9D0D-01E3-45043ECB75AD}"/>
              </a:ext>
            </a:extLst>
          </p:cNvPr>
          <p:cNvSpPr txBox="1"/>
          <p:nvPr/>
        </p:nvSpPr>
        <p:spPr>
          <a:xfrm>
            <a:off x="9831537" y="3926380"/>
            <a:ext cx="1161505" cy="600164"/>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Have</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great</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meeting</a:t>
            </a:r>
          </a:p>
        </p:txBody>
      </p:sp>
      <p:sp>
        <p:nvSpPr>
          <p:cNvPr id="23" name="TextBox 22">
            <a:extLst>
              <a:ext uri="{FF2B5EF4-FFF2-40B4-BE49-F238E27FC236}">
                <a16:creationId xmlns:a16="http://schemas.microsoft.com/office/drawing/2014/main" id="{770C3B45-144D-5D93-74C0-CF963C24794D}"/>
              </a:ext>
            </a:extLst>
          </p:cNvPr>
          <p:cNvSpPr txBox="1"/>
          <p:nvPr/>
        </p:nvSpPr>
        <p:spPr>
          <a:xfrm>
            <a:off x="9839677" y="4892693"/>
            <a:ext cx="1161505" cy="600164"/>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Have</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ok</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meeting</a:t>
            </a:r>
          </a:p>
        </p:txBody>
      </p:sp>
      <p:sp>
        <p:nvSpPr>
          <p:cNvPr id="24" name="TextBox 23">
            <a:extLst>
              <a:ext uri="{FF2B5EF4-FFF2-40B4-BE49-F238E27FC236}">
                <a16:creationId xmlns:a16="http://schemas.microsoft.com/office/drawing/2014/main" id="{382F12B4-63D2-1623-08A2-D9BDBCE0950F}"/>
              </a:ext>
            </a:extLst>
          </p:cNvPr>
          <p:cNvSpPr txBox="1"/>
          <p:nvPr/>
        </p:nvSpPr>
        <p:spPr>
          <a:xfrm>
            <a:off x="9825572" y="5793396"/>
            <a:ext cx="1161505" cy="600164"/>
          </a:xfrm>
          <a:prstGeom prst="rect">
            <a:avLst/>
          </a:prstGeom>
          <a:noFill/>
        </p:spPr>
        <p:txBody>
          <a:bodyPr wrap="square" rtlCol="0">
            <a:spAutoFit/>
          </a:bodyPr>
          <a:lstStyle/>
          <a:p>
            <a:pPr algn="ctr"/>
            <a:r>
              <a:rPr lang="en-US" sz="1100" dirty="0">
                <a:latin typeface="Arial" panose="020B0604020202020204" pitchFamily="34" charset="0"/>
                <a:cs typeface="Arial" panose="020B0604020202020204" pitchFamily="34" charset="0"/>
              </a:rPr>
              <a:t>Have</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bad</a:t>
            </a:r>
            <a:br>
              <a:rPr lang="en-US" sz="1100" dirty="0">
                <a:latin typeface="Arial" panose="020B0604020202020204" pitchFamily="34" charset="0"/>
                <a:cs typeface="Arial" panose="020B0604020202020204" pitchFamily="34" charset="0"/>
              </a:rPr>
            </a:br>
            <a:r>
              <a:rPr lang="en-US" sz="1100" dirty="0">
                <a:latin typeface="Arial" panose="020B0604020202020204" pitchFamily="34" charset="0"/>
                <a:cs typeface="Arial" panose="020B0604020202020204" pitchFamily="34" charset="0"/>
              </a:rPr>
              <a:t>meeting</a:t>
            </a:r>
          </a:p>
        </p:txBody>
      </p:sp>
      <p:sp>
        <p:nvSpPr>
          <p:cNvPr id="25" name="Oval 24">
            <a:extLst>
              <a:ext uri="{FF2B5EF4-FFF2-40B4-BE49-F238E27FC236}">
                <a16:creationId xmlns:a16="http://schemas.microsoft.com/office/drawing/2014/main" id="{117E3E0F-3C3C-EAD9-C3F2-75A66E456E62}"/>
              </a:ext>
            </a:extLst>
          </p:cNvPr>
          <p:cNvSpPr/>
          <p:nvPr/>
        </p:nvSpPr>
        <p:spPr>
          <a:xfrm>
            <a:off x="5732757" y="2420682"/>
            <a:ext cx="2065825" cy="206582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65132C73-1B0F-A6FF-2992-1E6E1B6D6C8F}"/>
              </a:ext>
            </a:extLst>
          </p:cNvPr>
          <p:cNvSpPr/>
          <p:nvPr/>
        </p:nvSpPr>
        <p:spPr>
          <a:xfrm>
            <a:off x="5963687" y="2819261"/>
            <a:ext cx="715552" cy="715552"/>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AA23DCFF-1A39-F190-1794-3569D1661DA5}"/>
              </a:ext>
            </a:extLst>
          </p:cNvPr>
          <p:cNvSpPr/>
          <p:nvPr/>
        </p:nvSpPr>
        <p:spPr>
          <a:xfrm>
            <a:off x="6889395" y="2845130"/>
            <a:ext cx="715552" cy="715552"/>
          </a:xfrm>
          <a:prstGeom prst="ellipse">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AB5FD0D2-06EA-E5FA-8D1E-6C84B93C88AD}"/>
              </a:ext>
            </a:extLst>
          </p:cNvPr>
          <p:cNvSpPr/>
          <p:nvPr/>
        </p:nvSpPr>
        <p:spPr>
          <a:xfrm>
            <a:off x="6406863" y="3597658"/>
            <a:ext cx="715552" cy="715552"/>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45035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B2818-0ACC-EA91-9931-5DFE299421AB}"/>
              </a:ext>
            </a:extLst>
          </p:cNvPr>
          <p:cNvSpPr>
            <a:spLocks noGrp="1"/>
          </p:cNvSpPr>
          <p:nvPr>
            <p:ph type="title"/>
          </p:nvPr>
        </p:nvSpPr>
        <p:spPr/>
        <p:txBody>
          <a:bodyPr/>
          <a:lstStyle/>
          <a:p>
            <a:r>
              <a:rPr lang="en-US" dirty="0"/>
              <a:t>Affordances</a:t>
            </a:r>
          </a:p>
        </p:txBody>
      </p:sp>
      <p:sp>
        <p:nvSpPr>
          <p:cNvPr id="3" name="Content Placeholder 2">
            <a:extLst>
              <a:ext uri="{FF2B5EF4-FFF2-40B4-BE49-F238E27FC236}">
                <a16:creationId xmlns:a16="http://schemas.microsoft.com/office/drawing/2014/main" id="{2365027E-669A-D5B0-303F-A3BBEB86066C}"/>
              </a:ext>
            </a:extLst>
          </p:cNvPr>
          <p:cNvSpPr>
            <a:spLocks noGrp="1"/>
          </p:cNvSpPr>
          <p:nvPr>
            <p:ph idx="1"/>
          </p:nvPr>
        </p:nvSpPr>
        <p:spPr>
          <a:xfrm>
            <a:off x="838200" y="1825625"/>
            <a:ext cx="8449235" cy="4351338"/>
          </a:xfrm>
        </p:spPr>
        <p:txBody>
          <a:bodyPr>
            <a:normAutofit fontScale="92500" lnSpcReduction="10000"/>
          </a:bodyPr>
          <a:lstStyle/>
          <a:p>
            <a:r>
              <a:rPr lang="en-US" dirty="0"/>
              <a:t>Affordances:</a:t>
            </a:r>
          </a:p>
          <a:p>
            <a:pPr lvl="1"/>
            <a:r>
              <a:rPr lang="en-US" dirty="0"/>
              <a:t>Idea that objects in the world are perceived in terms of what actions they make permissible</a:t>
            </a:r>
          </a:p>
          <a:p>
            <a:pPr lvl="1"/>
            <a:r>
              <a:rPr lang="en-US" dirty="0"/>
              <a:t>For example, this door design is bad because it is meant to be pushed yet the handles allow pulling</a:t>
            </a:r>
          </a:p>
          <a:p>
            <a:r>
              <a:rPr lang="en-US" dirty="0"/>
              <a:t>In the state framing: Affordances are features of a state that define which actions (transitions) are available to go toward another state?</a:t>
            </a:r>
          </a:p>
          <a:p>
            <a:pPr lvl="1"/>
            <a:r>
              <a:rPr lang="en-US" dirty="0"/>
              <a:t>E.g., I need to own a working TV in order to perform the action “watch TV”</a:t>
            </a:r>
          </a:p>
          <a:p>
            <a:r>
              <a:rPr lang="en-US" dirty="0"/>
              <a:t>How does this idea play out in memory encoding?</a:t>
            </a:r>
          </a:p>
          <a:p>
            <a:pPr lvl="1"/>
            <a:r>
              <a:rPr lang="en-US" dirty="0"/>
              <a:t>Link memory + decision-making</a:t>
            </a:r>
          </a:p>
        </p:txBody>
      </p:sp>
      <p:pic>
        <p:nvPicPr>
          <p:cNvPr id="4" name="Picture 3">
            <a:extLst>
              <a:ext uri="{FF2B5EF4-FFF2-40B4-BE49-F238E27FC236}">
                <a16:creationId xmlns:a16="http://schemas.microsoft.com/office/drawing/2014/main" id="{B5C0F37D-2EC5-DA44-2EEE-C3874A5F998D}"/>
              </a:ext>
            </a:extLst>
          </p:cNvPr>
          <p:cNvPicPr>
            <a:picLocks noChangeAspect="1"/>
          </p:cNvPicPr>
          <p:nvPr/>
        </p:nvPicPr>
        <p:blipFill>
          <a:blip r:embed="rId2"/>
          <a:stretch>
            <a:fillRect/>
          </a:stretch>
        </p:blipFill>
        <p:spPr>
          <a:xfrm>
            <a:off x="9287435" y="2465135"/>
            <a:ext cx="2550458" cy="3429926"/>
          </a:xfrm>
          <a:prstGeom prst="rect">
            <a:avLst/>
          </a:prstGeom>
        </p:spPr>
      </p:pic>
    </p:spTree>
    <p:extLst>
      <p:ext uri="{BB962C8B-B14F-4D97-AF65-F5344CB8AC3E}">
        <p14:creationId xmlns:p14="http://schemas.microsoft.com/office/powerpoint/2010/main" val="15870879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DD0A2-FEE6-B66B-A61A-2B7F2045405B}"/>
              </a:ext>
            </a:extLst>
          </p:cNvPr>
          <p:cNvSpPr>
            <a:spLocks noGrp="1"/>
          </p:cNvSpPr>
          <p:nvPr>
            <p:ph type="title"/>
          </p:nvPr>
        </p:nvSpPr>
        <p:spPr/>
        <p:txBody>
          <a:bodyPr/>
          <a:lstStyle/>
          <a:p>
            <a:r>
              <a:rPr lang="en-US" dirty="0"/>
              <a:t>Goals</a:t>
            </a:r>
          </a:p>
        </p:txBody>
      </p:sp>
      <p:sp>
        <p:nvSpPr>
          <p:cNvPr id="3" name="Content Placeholder 2">
            <a:extLst>
              <a:ext uri="{FF2B5EF4-FFF2-40B4-BE49-F238E27FC236}">
                <a16:creationId xmlns:a16="http://schemas.microsoft.com/office/drawing/2014/main" id="{8FD2536C-4AFE-A5EF-CDD9-91BAE3DE350F}"/>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58153949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21409-172B-16D6-8013-BFAA001CD9C1}"/>
              </a:ext>
            </a:extLst>
          </p:cNvPr>
          <p:cNvSpPr>
            <a:spLocks noGrp="1"/>
          </p:cNvSpPr>
          <p:nvPr>
            <p:ph type="title"/>
          </p:nvPr>
        </p:nvSpPr>
        <p:spPr>
          <a:xfrm>
            <a:off x="838200" y="120920"/>
            <a:ext cx="10515600" cy="1325563"/>
          </a:xfrm>
        </p:spPr>
        <p:txBody>
          <a:bodyPr/>
          <a:lstStyle/>
          <a:p>
            <a:r>
              <a:rPr lang="en-US" dirty="0"/>
              <a:t>Episodic memories</a:t>
            </a:r>
          </a:p>
        </p:txBody>
      </p:sp>
      <p:sp>
        <p:nvSpPr>
          <p:cNvPr id="3" name="Content Placeholder 2">
            <a:extLst>
              <a:ext uri="{FF2B5EF4-FFF2-40B4-BE49-F238E27FC236}">
                <a16:creationId xmlns:a16="http://schemas.microsoft.com/office/drawing/2014/main" id="{543456C0-58B0-0CCC-9CBE-3CB25731FDA2}"/>
              </a:ext>
            </a:extLst>
          </p:cNvPr>
          <p:cNvSpPr>
            <a:spLocks noGrp="1"/>
          </p:cNvSpPr>
          <p:nvPr>
            <p:ph idx="1"/>
          </p:nvPr>
        </p:nvSpPr>
        <p:spPr>
          <a:xfrm>
            <a:off x="313766" y="1446483"/>
            <a:ext cx="11421034" cy="4981212"/>
          </a:xfrm>
        </p:spPr>
        <p:txBody>
          <a:bodyPr>
            <a:normAutofit/>
          </a:bodyPr>
          <a:lstStyle/>
          <a:p>
            <a:r>
              <a:rPr lang="en-US" dirty="0"/>
              <a:t>Episodic memories, to me, often feel “active”</a:t>
            </a:r>
          </a:p>
          <a:p>
            <a:pPr lvl="1"/>
            <a:r>
              <a:rPr lang="en-US" dirty="0"/>
              <a:t>When I recollect an experience, I don’t just see a collection of stimuli in my mind’s eye</a:t>
            </a:r>
          </a:p>
          <a:p>
            <a:pPr lvl="1"/>
            <a:r>
              <a:rPr lang="en-US" dirty="0"/>
              <a:t>I also recollect what I was doing and/or what led to the experience</a:t>
            </a:r>
          </a:p>
          <a:p>
            <a:pPr lvl="1"/>
            <a:r>
              <a:rPr lang="en-US" dirty="0"/>
              <a:t>This would suggest that typical research on episodic memory is missing a fundamental element</a:t>
            </a:r>
          </a:p>
          <a:p>
            <a:r>
              <a:rPr lang="en-US" dirty="0"/>
              <a:t>In some way, this feels related to episodic simulation (reasoning/planning)</a:t>
            </a:r>
          </a:p>
          <a:p>
            <a:pPr lvl="1"/>
            <a:r>
              <a:rPr lang="en-US" dirty="0"/>
              <a:t>Inference about how one experience leads to another</a:t>
            </a:r>
          </a:p>
          <a:p>
            <a:r>
              <a:rPr lang="en-US" dirty="0"/>
              <a:t>Do between-experience links differ from within-experience relations?</a:t>
            </a:r>
          </a:p>
        </p:txBody>
      </p:sp>
    </p:spTree>
    <p:extLst>
      <p:ext uri="{BB962C8B-B14F-4D97-AF65-F5344CB8AC3E}">
        <p14:creationId xmlns:p14="http://schemas.microsoft.com/office/powerpoint/2010/main" val="2632657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70CBB35B-936E-0995-4831-CD254C649BA6}"/>
              </a:ext>
            </a:extLst>
          </p:cNvPr>
          <p:cNvSpPr/>
          <p:nvPr/>
        </p:nvSpPr>
        <p:spPr>
          <a:xfrm>
            <a:off x="9521635" y="3604813"/>
            <a:ext cx="1553139" cy="155313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D9B9C5C-9875-6775-8045-34E244FE7B37}"/>
              </a:ext>
            </a:extLst>
          </p:cNvPr>
          <p:cNvSpPr/>
          <p:nvPr/>
        </p:nvSpPr>
        <p:spPr>
          <a:xfrm>
            <a:off x="7627837" y="3604814"/>
            <a:ext cx="1553139" cy="155313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46AEED65-A850-B879-9755-B42BBAD54162}"/>
              </a:ext>
            </a:extLst>
          </p:cNvPr>
          <p:cNvSpPr/>
          <p:nvPr/>
        </p:nvSpPr>
        <p:spPr>
          <a:xfrm>
            <a:off x="8516469" y="1080574"/>
            <a:ext cx="1553139" cy="155313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421409-172B-16D6-8013-BFAA001CD9C1}"/>
              </a:ext>
            </a:extLst>
          </p:cNvPr>
          <p:cNvSpPr>
            <a:spLocks noGrp="1"/>
          </p:cNvSpPr>
          <p:nvPr>
            <p:ph type="title"/>
          </p:nvPr>
        </p:nvSpPr>
        <p:spPr>
          <a:xfrm>
            <a:off x="838200" y="32466"/>
            <a:ext cx="10515600" cy="1325563"/>
          </a:xfrm>
        </p:spPr>
        <p:txBody>
          <a:bodyPr/>
          <a:lstStyle/>
          <a:p>
            <a:r>
              <a:rPr lang="en-US" dirty="0"/>
              <a:t>Other idea</a:t>
            </a:r>
          </a:p>
        </p:txBody>
      </p:sp>
      <p:sp>
        <p:nvSpPr>
          <p:cNvPr id="3" name="Content Placeholder 2">
            <a:extLst>
              <a:ext uri="{FF2B5EF4-FFF2-40B4-BE49-F238E27FC236}">
                <a16:creationId xmlns:a16="http://schemas.microsoft.com/office/drawing/2014/main" id="{543456C0-58B0-0CCC-9CBE-3CB25731FDA2}"/>
              </a:ext>
            </a:extLst>
          </p:cNvPr>
          <p:cNvSpPr>
            <a:spLocks noGrp="1"/>
          </p:cNvSpPr>
          <p:nvPr>
            <p:ph idx="1"/>
          </p:nvPr>
        </p:nvSpPr>
        <p:spPr>
          <a:xfrm>
            <a:off x="313766" y="1446483"/>
            <a:ext cx="6973412" cy="4981212"/>
          </a:xfrm>
        </p:spPr>
        <p:txBody>
          <a:bodyPr>
            <a:normAutofit/>
          </a:bodyPr>
          <a:lstStyle/>
          <a:p>
            <a:r>
              <a:rPr lang="en-US" dirty="0"/>
              <a:t>Can be investigated by incorporating a decision-making element that links scenes</a:t>
            </a:r>
          </a:p>
          <a:p>
            <a:r>
              <a:rPr lang="en-US" dirty="0"/>
              <a:t>Make a link between the current images and the actions afforded</a:t>
            </a:r>
          </a:p>
          <a:p>
            <a:pPr lvl="1"/>
            <a:r>
              <a:rPr lang="en-US" dirty="0"/>
              <a:t>E.g., blue circle being in a scene increases the likelihood of pink square action</a:t>
            </a:r>
          </a:p>
          <a:p>
            <a:r>
              <a:rPr lang="en-US" dirty="0"/>
              <a:t>Assign values to some shapes?</a:t>
            </a:r>
          </a:p>
        </p:txBody>
      </p:sp>
      <p:sp>
        <p:nvSpPr>
          <p:cNvPr id="4" name="Oval 3">
            <a:extLst>
              <a:ext uri="{FF2B5EF4-FFF2-40B4-BE49-F238E27FC236}">
                <a16:creationId xmlns:a16="http://schemas.microsoft.com/office/drawing/2014/main" id="{0B12F8B1-676D-C481-AAA2-C069DAA5FB46}"/>
              </a:ext>
            </a:extLst>
          </p:cNvPr>
          <p:cNvSpPr/>
          <p:nvPr/>
        </p:nvSpPr>
        <p:spPr>
          <a:xfrm>
            <a:off x="8713693" y="1919831"/>
            <a:ext cx="510989" cy="51098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54F6B6F-AEC0-6FC6-CE79-980AEB81F409}"/>
              </a:ext>
            </a:extLst>
          </p:cNvPr>
          <p:cNvSpPr/>
          <p:nvPr/>
        </p:nvSpPr>
        <p:spPr>
          <a:xfrm>
            <a:off x="9377082" y="1919830"/>
            <a:ext cx="510989" cy="510989"/>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D9F4D62-60D4-C083-6F13-3F225CF7AB02}"/>
              </a:ext>
            </a:extLst>
          </p:cNvPr>
          <p:cNvSpPr/>
          <p:nvPr/>
        </p:nvSpPr>
        <p:spPr>
          <a:xfrm>
            <a:off x="9018492" y="1329467"/>
            <a:ext cx="510989" cy="510989"/>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265E412-24BF-37D1-FB8D-9C3E7841D690}"/>
              </a:ext>
            </a:extLst>
          </p:cNvPr>
          <p:cNvSpPr/>
          <p:nvPr/>
        </p:nvSpPr>
        <p:spPr>
          <a:xfrm>
            <a:off x="7844114" y="4389094"/>
            <a:ext cx="510989" cy="51098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4F8C359-3732-5322-9138-5771319B1C62}"/>
              </a:ext>
            </a:extLst>
          </p:cNvPr>
          <p:cNvSpPr/>
          <p:nvPr/>
        </p:nvSpPr>
        <p:spPr>
          <a:xfrm>
            <a:off x="8507503" y="4389093"/>
            <a:ext cx="510989" cy="510989"/>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A7554B55-ADB6-DE82-DCF6-6996887B5108}"/>
              </a:ext>
            </a:extLst>
          </p:cNvPr>
          <p:cNvSpPr/>
          <p:nvPr/>
        </p:nvSpPr>
        <p:spPr>
          <a:xfrm>
            <a:off x="8148913" y="3798730"/>
            <a:ext cx="510989" cy="510989"/>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F650FDC-2B21-8630-B6D3-950812B9D3E8}"/>
              </a:ext>
            </a:extLst>
          </p:cNvPr>
          <p:cNvSpPr/>
          <p:nvPr/>
        </p:nvSpPr>
        <p:spPr>
          <a:xfrm>
            <a:off x="9702052" y="4394370"/>
            <a:ext cx="510989" cy="510989"/>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7C8A370-1328-7997-6B09-C9437D7047E1}"/>
              </a:ext>
            </a:extLst>
          </p:cNvPr>
          <p:cNvSpPr/>
          <p:nvPr/>
        </p:nvSpPr>
        <p:spPr>
          <a:xfrm>
            <a:off x="10365441" y="4394369"/>
            <a:ext cx="510989" cy="510989"/>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97CC6F2-FA22-5776-D352-0E115CE3ABAA}"/>
              </a:ext>
            </a:extLst>
          </p:cNvPr>
          <p:cNvSpPr/>
          <p:nvPr/>
        </p:nvSpPr>
        <p:spPr>
          <a:xfrm>
            <a:off x="10006851" y="3804006"/>
            <a:ext cx="510989" cy="510989"/>
          </a:xfrm>
          <a:prstGeom prst="ellipse">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F5225A39-0596-BD4C-7794-ADD6A38119AF}"/>
              </a:ext>
            </a:extLst>
          </p:cNvPr>
          <p:cNvCxnSpPr/>
          <p:nvPr/>
        </p:nvCxnSpPr>
        <p:spPr>
          <a:xfrm flipH="1">
            <a:off x="8588188" y="2633713"/>
            <a:ext cx="268941" cy="9711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9F50DCF-C298-A85C-0BF6-6FA5D5AF54A4}"/>
              </a:ext>
            </a:extLst>
          </p:cNvPr>
          <p:cNvCxnSpPr>
            <a:cxnSpLocks/>
          </p:cNvCxnSpPr>
          <p:nvPr/>
        </p:nvCxnSpPr>
        <p:spPr>
          <a:xfrm>
            <a:off x="9744634" y="2633713"/>
            <a:ext cx="324974" cy="100266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F7575C34-927E-60B3-E34B-CC1634555A19}"/>
              </a:ext>
            </a:extLst>
          </p:cNvPr>
          <p:cNvSpPr/>
          <p:nvPr/>
        </p:nvSpPr>
        <p:spPr>
          <a:xfrm>
            <a:off x="9753598" y="2991248"/>
            <a:ext cx="268945" cy="268945"/>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4289EF-B08A-EF81-05C6-0ADAE9C11EF3}"/>
              </a:ext>
            </a:extLst>
          </p:cNvPr>
          <p:cNvSpPr/>
          <p:nvPr/>
        </p:nvSpPr>
        <p:spPr>
          <a:xfrm>
            <a:off x="8579220" y="2991248"/>
            <a:ext cx="268945" cy="268945"/>
          </a:xfrm>
          <a:prstGeom prst="rect">
            <a:avLst/>
          </a:prstGeom>
          <a:solidFill>
            <a:srgbClr val="FF7C8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6DCCE981-FA6E-87F0-A026-A4A7D740E522}"/>
              </a:ext>
            </a:extLst>
          </p:cNvPr>
          <p:cNvCxnSpPr>
            <a:cxnSpLocks/>
          </p:cNvCxnSpPr>
          <p:nvPr/>
        </p:nvCxnSpPr>
        <p:spPr>
          <a:xfrm flipH="1">
            <a:off x="7663700" y="5174297"/>
            <a:ext cx="268941" cy="9711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E3DF6D22-586E-BDED-9995-90367F64F814}"/>
              </a:ext>
            </a:extLst>
          </p:cNvPr>
          <p:cNvCxnSpPr>
            <a:cxnSpLocks/>
          </p:cNvCxnSpPr>
          <p:nvPr/>
        </p:nvCxnSpPr>
        <p:spPr>
          <a:xfrm>
            <a:off x="8820146" y="5174297"/>
            <a:ext cx="324974" cy="100266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76AE114B-E6DB-B462-2E92-67CB4B7FBC1A}"/>
              </a:ext>
            </a:extLst>
          </p:cNvPr>
          <p:cNvSpPr/>
          <p:nvPr/>
        </p:nvSpPr>
        <p:spPr>
          <a:xfrm>
            <a:off x="8829110" y="5531832"/>
            <a:ext cx="268945" cy="268945"/>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AD5AD25-6FC4-8DA5-7BBC-8882924D8C5C}"/>
              </a:ext>
            </a:extLst>
          </p:cNvPr>
          <p:cNvSpPr/>
          <p:nvPr/>
        </p:nvSpPr>
        <p:spPr>
          <a:xfrm>
            <a:off x="7654732" y="5531832"/>
            <a:ext cx="268945" cy="268945"/>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C85E8C48-6A7F-9D58-C339-4C2D2D2F4D07}"/>
              </a:ext>
            </a:extLst>
          </p:cNvPr>
          <p:cNvCxnSpPr/>
          <p:nvPr/>
        </p:nvCxnSpPr>
        <p:spPr>
          <a:xfrm flipH="1">
            <a:off x="9640419" y="5171341"/>
            <a:ext cx="268941" cy="9711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B8DFBD5-E5B2-6EC9-5618-425F4811436E}"/>
              </a:ext>
            </a:extLst>
          </p:cNvPr>
          <p:cNvCxnSpPr>
            <a:cxnSpLocks/>
          </p:cNvCxnSpPr>
          <p:nvPr/>
        </p:nvCxnSpPr>
        <p:spPr>
          <a:xfrm>
            <a:off x="10796865" y="5171341"/>
            <a:ext cx="324974" cy="100266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1018D57F-8217-F35A-1F56-0647AD57BBE8}"/>
              </a:ext>
            </a:extLst>
          </p:cNvPr>
          <p:cNvSpPr/>
          <p:nvPr/>
        </p:nvSpPr>
        <p:spPr>
          <a:xfrm>
            <a:off x="10805829" y="5528876"/>
            <a:ext cx="268945" cy="268945"/>
          </a:xfrm>
          <a:prstGeom prst="rect">
            <a:avLst/>
          </a:prstGeom>
          <a:solidFill>
            <a:srgbClr val="D2E93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6751A112-B20F-4F9F-D0E0-9E68F19BFCA7}"/>
              </a:ext>
            </a:extLst>
          </p:cNvPr>
          <p:cNvSpPr/>
          <p:nvPr/>
        </p:nvSpPr>
        <p:spPr>
          <a:xfrm>
            <a:off x="9631451" y="5528876"/>
            <a:ext cx="268945" cy="26894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51545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6406-BE6A-43D1-8823-925981A4EA2E}"/>
              </a:ext>
            </a:extLst>
          </p:cNvPr>
          <p:cNvSpPr>
            <a:spLocks noGrp="1"/>
          </p:cNvSpPr>
          <p:nvPr>
            <p:ph type="ctrTitle"/>
          </p:nvPr>
        </p:nvSpPr>
        <p:spPr/>
        <p:txBody>
          <a:bodyPr/>
          <a:lstStyle/>
          <a:p>
            <a:r>
              <a:rPr lang="en-US" dirty="0"/>
              <a:t>Old</a:t>
            </a:r>
          </a:p>
        </p:txBody>
      </p:sp>
      <p:sp>
        <p:nvSpPr>
          <p:cNvPr id="3" name="Subtitle 2">
            <a:extLst>
              <a:ext uri="{FF2B5EF4-FFF2-40B4-BE49-F238E27FC236}">
                <a16:creationId xmlns:a16="http://schemas.microsoft.com/office/drawing/2014/main" id="{18E9E69C-B0CF-4A44-A6F4-E20B91704211}"/>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200741311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6B539-2AF8-D501-748C-D190CE835AB5}"/>
              </a:ext>
            </a:extLst>
          </p:cNvPr>
          <p:cNvSpPr>
            <a:spLocks noGrp="1"/>
          </p:cNvSpPr>
          <p:nvPr>
            <p:ph type="title"/>
          </p:nvPr>
        </p:nvSpPr>
        <p:spPr>
          <a:xfrm>
            <a:off x="838200" y="221341"/>
            <a:ext cx="10515600" cy="1061360"/>
          </a:xfrm>
        </p:spPr>
        <p:txBody>
          <a:bodyPr>
            <a:noAutofit/>
          </a:bodyPr>
          <a:lstStyle/>
          <a:p>
            <a:r>
              <a:rPr lang="en-US" sz="3200" dirty="0">
                <a:solidFill>
                  <a:srgbClr val="002060"/>
                </a:solidFill>
              </a:rPr>
              <a:t>Episodic memory is intertwined with relational memory</a:t>
            </a:r>
          </a:p>
        </p:txBody>
      </p:sp>
      <p:sp>
        <p:nvSpPr>
          <p:cNvPr id="3" name="Content Placeholder 2">
            <a:extLst>
              <a:ext uri="{FF2B5EF4-FFF2-40B4-BE49-F238E27FC236}">
                <a16:creationId xmlns:a16="http://schemas.microsoft.com/office/drawing/2014/main" id="{DBA5EF3A-B579-1F20-5251-7ADEA05C180E}"/>
              </a:ext>
            </a:extLst>
          </p:cNvPr>
          <p:cNvSpPr>
            <a:spLocks noGrp="1"/>
          </p:cNvSpPr>
          <p:nvPr>
            <p:ph idx="1"/>
          </p:nvPr>
        </p:nvSpPr>
        <p:spPr>
          <a:xfrm>
            <a:off x="451649" y="1314801"/>
            <a:ext cx="11020684" cy="5170666"/>
          </a:xfrm>
        </p:spPr>
        <p:txBody>
          <a:bodyPr>
            <a:normAutofit/>
          </a:bodyPr>
          <a:lstStyle/>
          <a:p>
            <a:r>
              <a:rPr lang="en-US" dirty="0"/>
              <a:t>What does it mean to retrieve an episodic memory?</a:t>
            </a:r>
          </a:p>
          <a:p>
            <a:pPr lvl="1"/>
            <a:r>
              <a:rPr lang="en-US" dirty="0"/>
              <a:t>It entails retrieving a bundle of items, tied together by relational memories</a:t>
            </a:r>
          </a:p>
          <a:p>
            <a:r>
              <a:rPr lang="en-US" dirty="0"/>
              <a:t>In the R/K test:</a:t>
            </a:r>
          </a:p>
          <a:p>
            <a:pPr lvl="1"/>
            <a:r>
              <a:rPr lang="en-US" dirty="0"/>
              <a:t>Remember responses reflect episodic memory and can be conceptualized as familiarity + relational memory</a:t>
            </a:r>
          </a:p>
          <a:p>
            <a:r>
              <a:rPr lang="en-US" dirty="0"/>
              <a:t>The study ideas here focus on episodic memory and relational memory</a:t>
            </a:r>
          </a:p>
          <a:p>
            <a:pPr lvl="1"/>
            <a:r>
              <a:rPr lang="en-US" dirty="0"/>
              <a:t>To investigate how individuals represent episodic memories and how individuals encode relations between items</a:t>
            </a:r>
          </a:p>
          <a:p>
            <a:pPr lvl="1"/>
            <a:r>
              <a:rPr lang="en-US" dirty="0"/>
              <a:t>There has been little RSA research investigating this type of complex neural encoding, which goes beyond item representation</a:t>
            </a:r>
          </a:p>
          <a:p>
            <a:pPr lvl="1"/>
            <a:r>
              <a:rPr lang="en-US" dirty="0"/>
              <a:t>Relational memory is a central focus of aging research</a:t>
            </a:r>
          </a:p>
          <a:p>
            <a:endParaRPr lang="en-US" dirty="0"/>
          </a:p>
          <a:p>
            <a:pPr lvl="1"/>
            <a:endParaRPr lang="en-US" dirty="0"/>
          </a:p>
        </p:txBody>
      </p:sp>
    </p:spTree>
    <p:extLst>
      <p:ext uri="{BB962C8B-B14F-4D97-AF65-F5344CB8AC3E}">
        <p14:creationId xmlns:p14="http://schemas.microsoft.com/office/powerpoint/2010/main" val="3581976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D2025-22BD-5A4D-9AC9-9EDC864D4C8F}"/>
              </a:ext>
            </a:extLst>
          </p:cNvPr>
          <p:cNvSpPr>
            <a:spLocks noGrp="1"/>
          </p:cNvSpPr>
          <p:nvPr>
            <p:ph type="title"/>
          </p:nvPr>
        </p:nvSpPr>
        <p:spPr>
          <a:xfrm>
            <a:off x="838200" y="216005"/>
            <a:ext cx="10515600" cy="1084263"/>
          </a:xfrm>
        </p:spPr>
        <p:txBody>
          <a:bodyPr>
            <a:noAutofit/>
          </a:bodyPr>
          <a:lstStyle/>
          <a:p>
            <a:r>
              <a:rPr lang="en-US" sz="3600" dirty="0">
                <a:solidFill>
                  <a:srgbClr val="002060"/>
                </a:solidFill>
              </a:rPr>
              <a:t>Examining relational memory from multiple levels</a:t>
            </a:r>
          </a:p>
        </p:txBody>
      </p:sp>
      <p:sp>
        <p:nvSpPr>
          <p:cNvPr id="3" name="Content Placeholder 2">
            <a:extLst>
              <a:ext uri="{FF2B5EF4-FFF2-40B4-BE49-F238E27FC236}">
                <a16:creationId xmlns:a16="http://schemas.microsoft.com/office/drawing/2014/main" id="{489A9E8A-319A-AAA0-1F7F-9FEF583D1C15}"/>
              </a:ext>
            </a:extLst>
          </p:cNvPr>
          <p:cNvSpPr>
            <a:spLocks noGrp="1"/>
          </p:cNvSpPr>
          <p:nvPr>
            <p:ph idx="1"/>
          </p:nvPr>
        </p:nvSpPr>
        <p:spPr>
          <a:xfrm>
            <a:off x="838200" y="1374069"/>
            <a:ext cx="10761133" cy="2736085"/>
          </a:xfrm>
        </p:spPr>
        <p:txBody>
          <a:bodyPr>
            <a:normAutofit/>
          </a:bodyPr>
          <a:lstStyle/>
          <a:p>
            <a:r>
              <a:rPr lang="en-US" dirty="0"/>
              <a:t>Spatial and temporal relational memory</a:t>
            </a:r>
          </a:p>
          <a:p>
            <a:pPr lvl="1"/>
            <a:r>
              <a:rPr lang="en-US" dirty="0"/>
              <a:t>Spatial relations exist among items within a scene</a:t>
            </a:r>
          </a:p>
          <a:p>
            <a:pPr lvl="1"/>
            <a:r>
              <a:rPr lang="en-US" dirty="0"/>
              <a:t>Temporal relations exist between scenes</a:t>
            </a:r>
          </a:p>
          <a:p>
            <a:r>
              <a:rPr lang="en-US" dirty="0"/>
              <a:t>Episodic vs. semantic retrieval</a:t>
            </a:r>
          </a:p>
        </p:txBody>
      </p:sp>
      <p:cxnSp>
        <p:nvCxnSpPr>
          <p:cNvPr id="4" name="Straight Arrow Connector 3">
            <a:extLst>
              <a:ext uri="{FF2B5EF4-FFF2-40B4-BE49-F238E27FC236}">
                <a16:creationId xmlns:a16="http://schemas.microsoft.com/office/drawing/2014/main" id="{437580CF-807B-59C4-2BD1-E3793EC680B1}"/>
              </a:ext>
            </a:extLst>
          </p:cNvPr>
          <p:cNvCxnSpPr/>
          <p:nvPr/>
        </p:nvCxnSpPr>
        <p:spPr>
          <a:xfrm>
            <a:off x="4798725" y="5038994"/>
            <a:ext cx="1692000"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709E0A05-D346-7BC1-B318-65310399F820}"/>
              </a:ext>
            </a:extLst>
          </p:cNvPr>
          <p:cNvSpPr/>
          <p:nvPr/>
        </p:nvSpPr>
        <p:spPr>
          <a:xfrm>
            <a:off x="6588821" y="4021888"/>
            <a:ext cx="612000" cy="612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BBCE22A-D190-6587-F8B8-F2FE16B82C28}"/>
              </a:ext>
            </a:extLst>
          </p:cNvPr>
          <p:cNvSpPr/>
          <p:nvPr/>
        </p:nvSpPr>
        <p:spPr>
          <a:xfrm>
            <a:off x="6588821" y="5477875"/>
            <a:ext cx="612000" cy="612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DEE4B647-6802-8349-E542-8B505C87CA87}"/>
              </a:ext>
            </a:extLst>
          </p:cNvPr>
          <p:cNvSpPr/>
          <p:nvPr/>
        </p:nvSpPr>
        <p:spPr>
          <a:xfrm>
            <a:off x="8058858" y="4021888"/>
            <a:ext cx="612000" cy="612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89A6244-DAAA-BE99-2FA0-52966FC4F5AA}"/>
              </a:ext>
            </a:extLst>
          </p:cNvPr>
          <p:cNvSpPr/>
          <p:nvPr/>
        </p:nvSpPr>
        <p:spPr>
          <a:xfrm>
            <a:off x="8058858" y="5477875"/>
            <a:ext cx="612000" cy="612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3472B2FE-78B6-3244-0EFC-C5164B96472C}"/>
              </a:ext>
            </a:extLst>
          </p:cNvPr>
          <p:cNvCxnSpPr>
            <a:cxnSpLocks/>
            <a:stCxn id="5" idx="5"/>
            <a:endCxn id="8" idx="1"/>
          </p:cNvCxnSpPr>
          <p:nvPr/>
        </p:nvCxnSpPr>
        <p:spPr>
          <a:xfrm>
            <a:off x="7111196" y="4544263"/>
            <a:ext cx="1037287" cy="102323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CE9E80D-F97A-65F9-A3B1-29C7DDB54D30}"/>
              </a:ext>
            </a:extLst>
          </p:cNvPr>
          <p:cNvCxnSpPr>
            <a:cxnSpLocks/>
            <a:stCxn id="6" idx="6"/>
            <a:endCxn id="8" idx="2"/>
          </p:cNvCxnSpPr>
          <p:nvPr/>
        </p:nvCxnSpPr>
        <p:spPr>
          <a:xfrm>
            <a:off x="7200821" y="5783875"/>
            <a:ext cx="858037"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8B41E27-BD97-F45F-7031-A7DE9A7EA8CE}"/>
              </a:ext>
            </a:extLst>
          </p:cNvPr>
          <p:cNvCxnSpPr>
            <a:cxnSpLocks/>
            <a:stCxn id="8" idx="0"/>
            <a:endCxn id="7" idx="4"/>
          </p:cNvCxnSpPr>
          <p:nvPr/>
        </p:nvCxnSpPr>
        <p:spPr>
          <a:xfrm flipV="1">
            <a:off x="8364858" y="4633888"/>
            <a:ext cx="0" cy="84398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19F8D9B-BF08-3FAB-BEE8-9D54BB06D534}"/>
              </a:ext>
            </a:extLst>
          </p:cNvPr>
          <p:cNvCxnSpPr>
            <a:cxnSpLocks/>
            <a:stCxn id="5" idx="6"/>
            <a:endCxn id="7" idx="2"/>
          </p:cNvCxnSpPr>
          <p:nvPr/>
        </p:nvCxnSpPr>
        <p:spPr>
          <a:xfrm>
            <a:off x="7200821" y="4327888"/>
            <a:ext cx="858037"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6D6A75-D8FA-D2D3-E1DB-06257A97267E}"/>
              </a:ext>
            </a:extLst>
          </p:cNvPr>
          <p:cNvCxnSpPr>
            <a:cxnSpLocks/>
            <a:stCxn id="6" idx="0"/>
            <a:endCxn id="5" idx="4"/>
          </p:cNvCxnSpPr>
          <p:nvPr/>
        </p:nvCxnSpPr>
        <p:spPr>
          <a:xfrm flipV="1">
            <a:off x="6894821" y="4633888"/>
            <a:ext cx="0" cy="84398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C7B98D-73ED-E1E2-61A8-4158E4473181}"/>
              </a:ext>
            </a:extLst>
          </p:cNvPr>
          <p:cNvCxnSpPr>
            <a:cxnSpLocks/>
            <a:stCxn id="6" idx="7"/>
            <a:endCxn id="7" idx="3"/>
          </p:cNvCxnSpPr>
          <p:nvPr/>
        </p:nvCxnSpPr>
        <p:spPr>
          <a:xfrm flipV="1">
            <a:off x="7111196" y="4544263"/>
            <a:ext cx="1037287" cy="102323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08B49F0F-697D-B487-1007-41403F0A1CA7}"/>
              </a:ext>
            </a:extLst>
          </p:cNvPr>
          <p:cNvSpPr/>
          <p:nvPr/>
        </p:nvSpPr>
        <p:spPr>
          <a:xfrm>
            <a:off x="2651021" y="4021888"/>
            <a:ext cx="612000" cy="612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74FC456B-5178-55C1-F801-6C9A49C7266A}"/>
              </a:ext>
            </a:extLst>
          </p:cNvPr>
          <p:cNvSpPr/>
          <p:nvPr/>
        </p:nvSpPr>
        <p:spPr>
          <a:xfrm>
            <a:off x="2651021" y="5477875"/>
            <a:ext cx="612000" cy="612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37315BE-C5DF-1175-99BE-F4872FFFF4DA}"/>
              </a:ext>
            </a:extLst>
          </p:cNvPr>
          <p:cNvSpPr/>
          <p:nvPr/>
        </p:nvSpPr>
        <p:spPr>
          <a:xfrm>
            <a:off x="4121058" y="4021888"/>
            <a:ext cx="612000" cy="612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17EEAE2-51F1-D44E-A27D-57EC10A0F5F6}"/>
              </a:ext>
            </a:extLst>
          </p:cNvPr>
          <p:cNvSpPr/>
          <p:nvPr/>
        </p:nvSpPr>
        <p:spPr>
          <a:xfrm>
            <a:off x="4121058" y="5477875"/>
            <a:ext cx="612000" cy="612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FC064E44-95A9-0AAC-4DA4-A66C2FD08D59}"/>
              </a:ext>
            </a:extLst>
          </p:cNvPr>
          <p:cNvCxnSpPr>
            <a:cxnSpLocks/>
            <a:stCxn id="15" idx="5"/>
            <a:endCxn id="18" idx="1"/>
          </p:cNvCxnSpPr>
          <p:nvPr/>
        </p:nvCxnSpPr>
        <p:spPr>
          <a:xfrm>
            <a:off x="3173396" y="4544263"/>
            <a:ext cx="1037287" cy="102323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D001CF7-EA77-D826-9DBB-D9D6AA12B8CE}"/>
              </a:ext>
            </a:extLst>
          </p:cNvPr>
          <p:cNvCxnSpPr>
            <a:cxnSpLocks/>
            <a:stCxn id="16" idx="6"/>
            <a:endCxn id="18" idx="2"/>
          </p:cNvCxnSpPr>
          <p:nvPr/>
        </p:nvCxnSpPr>
        <p:spPr>
          <a:xfrm>
            <a:off x="3263021" y="5783875"/>
            <a:ext cx="858037"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243E4CD-8311-446D-E6AC-5231385DD847}"/>
              </a:ext>
            </a:extLst>
          </p:cNvPr>
          <p:cNvCxnSpPr>
            <a:cxnSpLocks/>
            <a:stCxn id="18" idx="0"/>
            <a:endCxn id="17" idx="4"/>
          </p:cNvCxnSpPr>
          <p:nvPr/>
        </p:nvCxnSpPr>
        <p:spPr>
          <a:xfrm flipV="1">
            <a:off x="4427058" y="4633888"/>
            <a:ext cx="0" cy="84398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F0CBC2E-EA65-8756-B5CC-B282984C8A10}"/>
              </a:ext>
            </a:extLst>
          </p:cNvPr>
          <p:cNvCxnSpPr>
            <a:cxnSpLocks/>
            <a:stCxn id="15" idx="6"/>
            <a:endCxn id="17" idx="2"/>
          </p:cNvCxnSpPr>
          <p:nvPr/>
        </p:nvCxnSpPr>
        <p:spPr>
          <a:xfrm>
            <a:off x="3263021" y="4327888"/>
            <a:ext cx="858037"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0642AD6-55AC-EC4B-46B1-0D1CBDA83D2B}"/>
              </a:ext>
            </a:extLst>
          </p:cNvPr>
          <p:cNvCxnSpPr>
            <a:cxnSpLocks/>
            <a:stCxn id="16" idx="0"/>
            <a:endCxn id="15" idx="4"/>
          </p:cNvCxnSpPr>
          <p:nvPr/>
        </p:nvCxnSpPr>
        <p:spPr>
          <a:xfrm flipV="1">
            <a:off x="2957021" y="4633888"/>
            <a:ext cx="0" cy="84398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6D38852-D039-CB56-C8AE-670F1B0CC1E4}"/>
              </a:ext>
            </a:extLst>
          </p:cNvPr>
          <p:cNvCxnSpPr>
            <a:cxnSpLocks/>
            <a:stCxn id="16" idx="7"/>
            <a:endCxn id="17" idx="3"/>
          </p:cNvCxnSpPr>
          <p:nvPr/>
        </p:nvCxnSpPr>
        <p:spPr>
          <a:xfrm flipV="1">
            <a:off x="3173396" y="4544263"/>
            <a:ext cx="1037287" cy="102323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5567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85D89-0549-0C95-0C4E-44910D4AF16B}"/>
              </a:ext>
            </a:extLst>
          </p:cNvPr>
          <p:cNvSpPr>
            <a:spLocks noGrp="1"/>
          </p:cNvSpPr>
          <p:nvPr>
            <p:ph type="title"/>
          </p:nvPr>
        </p:nvSpPr>
        <p:spPr>
          <a:xfrm>
            <a:off x="838200" y="46038"/>
            <a:ext cx="10515600" cy="1229278"/>
          </a:xfrm>
        </p:spPr>
        <p:txBody>
          <a:bodyPr>
            <a:normAutofit/>
          </a:bodyPr>
          <a:lstStyle/>
          <a:p>
            <a:r>
              <a:rPr lang="en-US" sz="3600" dirty="0">
                <a:solidFill>
                  <a:srgbClr val="002060"/>
                </a:solidFill>
              </a:rPr>
              <a:t>Broad aim: Focus on edges and groups not nodes</a:t>
            </a:r>
          </a:p>
        </p:txBody>
      </p:sp>
      <p:sp>
        <p:nvSpPr>
          <p:cNvPr id="3" name="Content Placeholder 2">
            <a:extLst>
              <a:ext uri="{FF2B5EF4-FFF2-40B4-BE49-F238E27FC236}">
                <a16:creationId xmlns:a16="http://schemas.microsoft.com/office/drawing/2014/main" id="{0712C86D-86B7-4BB1-21B2-7E11FEDD18D8}"/>
              </a:ext>
            </a:extLst>
          </p:cNvPr>
          <p:cNvSpPr>
            <a:spLocks noGrp="1"/>
          </p:cNvSpPr>
          <p:nvPr>
            <p:ph idx="1"/>
          </p:nvPr>
        </p:nvSpPr>
        <p:spPr>
          <a:xfrm>
            <a:off x="838200" y="1212897"/>
            <a:ext cx="10515600" cy="5465763"/>
          </a:xfrm>
        </p:spPr>
        <p:txBody>
          <a:bodyPr>
            <a:normAutofit fontScale="92500" lnSpcReduction="10000"/>
          </a:bodyPr>
          <a:lstStyle/>
          <a:p>
            <a:r>
              <a:rPr lang="en-US" dirty="0"/>
              <a:t>We do </a:t>
            </a:r>
            <a:r>
              <a:rPr lang="en-US" u="sng" dirty="0"/>
              <a:t>not</a:t>
            </a:r>
            <a:r>
              <a:rPr lang="en-US" dirty="0"/>
              <a:t> want to only study how multiple items representations may be active at the same time</a:t>
            </a:r>
          </a:p>
          <a:p>
            <a:pPr lvl="1"/>
            <a:r>
              <a:rPr lang="en-US" dirty="0"/>
              <a:t>Nor just study how activating one item representation leads to the activation of another item representation</a:t>
            </a:r>
          </a:p>
          <a:p>
            <a:pPr lvl="1"/>
            <a:r>
              <a:rPr lang="en-US" dirty="0"/>
              <a:t>Not novel enough</a:t>
            </a:r>
          </a:p>
          <a:p>
            <a:r>
              <a:rPr lang="en-US" dirty="0"/>
              <a:t>Rather, we want to investigate the relations themselves</a:t>
            </a:r>
          </a:p>
          <a:p>
            <a:pPr lvl="1"/>
            <a:r>
              <a:rPr lang="en-US" dirty="0"/>
              <a:t>Empirically: </a:t>
            </a:r>
          </a:p>
          <a:p>
            <a:pPr lvl="2"/>
            <a:r>
              <a:rPr lang="en-US" dirty="0"/>
              <a:t>During encoding: Identify the neural correlates of connecting item representations</a:t>
            </a:r>
          </a:p>
          <a:p>
            <a:pPr lvl="2"/>
            <a:r>
              <a:rPr lang="en-US" dirty="0"/>
              <a:t>During retrieval: Identify the neural correlates of activating a relation, which in turn activates an item representation</a:t>
            </a:r>
          </a:p>
          <a:p>
            <a:pPr lvl="1"/>
            <a:r>
              <a:rPr lang="en-US" dirty="0"/>
              <a:t>e.g., if two items are represented in the perirhinal cortex, and their association is implemented as connections from each representation to the hippocampus. </a:t>
            </a:r>
          </a:p>
          <a:p>
            <a:pPr lvl="2"/>
            <a:r>
              <a:rPr lang="en-US" dirty="0"/>
              <a:t>Can we model the hippocampal signatures of the relation being encoded and, later, the relation being activated used during retrieval?</a:t>
            </a:r>
          </a:p>
          <a:p>
            <a:pPr lvl="2"/>
            <a:r>
              <a:rPr lang="en-US" dirty="0"/>
              <a:t>Can we model an episodic memory as the collection of relations and items</a:t>
            </a:r>
          </a:p>
          <a:p>
            <a:pPr lvl="2"/>
            <a:r>
              <a:rPr lang="en-US" dirty="0"/>
              <a:t>Can we model the semantic network of relations that form among multiple stimuli?</a:t>
            </a:r>
          </a:p>
          <a:p>
            <a:r>
              <a:rPr lang="en-US" dirty="0"/>
              <a:t>Central novel design element: presenting some stimuli multiple times</a:t>
            </a:r>
          </a:p>
        </p:txBody>
      </p:sp>
    </p:spTree>
    <p:extLst>
      <p:ext uri="{BB962C8B-B14F-4D97-AF65-F5344CB8AC3E}">
        <p14:creationId xmlns:p14="http://schemas.microsoft.com/office/powerpoint/2010/main" val="12691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855CA-770A-C7A0-4CD1-558C690976E9}"/>
              </a:ext>
            </a:extLst>
          </p:cNvPr>
          <p:cNvSpPr>
            <a:spLocks noGrp="1"/>
          </p:cNvSpPr>
          <p:nvPr>
            <p:ph type="title"/>
          </p:nvPr>
        </p:nvSpPr>
        <p:spPr>
          <a:xfrm>
            <a:off x="838200" y="161925"/>
            <a:ext cx="10515600" cy="828675"/>
          </a:xfrm>
        </p:spPr>
        <p:txBody>
          <a:bodyPr/>
          <a:lstStyle/>
          <a:p>
            <a:r>
              <a:rPr lang="en-US" dirty="0">
                <a:solidFill>
                  <a:srgbClr val="002060"/>
                </a:solidFill>
              </a:rPr>
              <a:t>fMRI analysis</a:t>
            </a:r>
          </a:p>
        </p:txBody>
      </p:sp>
      <p:sp>
        <p:nvSpPr>
          <p:cNvPr id="3" name="Content Placeholder 2">
            <a:extLst>
              <a:ext uri="{FF2B5EF4-FFF2-40B4-BE49-F238E27FC236}">
                <a16:creationId xmlns:a16="http://schemas.microsoft.com/office/drawing/2014/main" id="{30352D74-6257-CA13-52FD-618450492F4C}"/>
              </a:ext>
            </a:extLst>
          </p:cNvPr>
          <p:cNvSpPr>
            <a:spLocks noGrp="1"/>
          </p:cNvSpPr>
          <p:nvPr>
            <p:ph idx="1"/>
          </p:nvPr>
        </p:nvSpPr>
        <p:spPr>
          <a:xfrm>
            <a:off x="838200" y="1079500"/>
            <a:ext cx="10735734" cy="5616575"/>
          </a:xfrm>
        </p:spPr>
        <p:txBody>
          <a:bodyPr>
            <a:normAutofit/>
          </a:bodyPr>
          <a:lstStyle/>
          <a:p>
            <a:r>
              <a:rPr lang="en-US" sz="2400" dirty="0"/>
              <a:t>How do we investigate the neural correlates of relational memory encoding?</a:t>
            </a:r>
          </a:p>
          <a:p>
            <a:r>
              <a:rPr lang="en-US" sz="2400" dirty="0"/>
              <a:t>One possible way is with RSA using combination vectors</a:t>
            </a:r>
          </a:p>
          <a:p>
            <a:pPr lvl="1"/>
            <a:r>
              <a:rPr lang="en-US" sz="2000" dirty="0"/>
              <a:t>Combining stimulus features linked to each items</a:t>
            </a:r>
          </a:p>
          <a:p>
            <a:r>
              <a:rPr lang="en-US" sz="2400" dirty="0"/>
              <a:t>Alternatively, because some stimuli are presented multiple times, we can leverage this and measure similarity between trials involving associations to the same stimulus </a:t>
            </a:r>
          </a:p>
          <a:p>
            <a:pPr lvl="1"/>
            <a:r>
              <a:rPr lang="en-US" sz="2000" dirty="0"/>
              <a:t>Participants encode relations </a:t>
            </a:r>
            <a:r>
              <a:rPr lang="en-US" sz="2000" i="1" dirty="0"/>
              <a:t>Bird-Pizza</a:t>
            </a:r>
            <a:r>
              <a:rPr lang="en-US" sz="2000" dirty="0"/>
              <a:t> and </a:t>
            </a:r>
            <a:r>
              <a:rPr lang="en-US" sz="2000" i="1" dirty="0"/>
              <a:t>Cat-Pizza</a:t>
            </a:r>
          </a:p>
          <a:p>
            <a:pPr lvl="1"/>
            <a:r>
              <a:rPr lang="en-US" sz="2000" dirty="0"/>
              <a:t>Later, during retrieval, we may see similarity between retrieval of </a:t>
            </a:r>
            <a:r>
              <a:rPr lang="en-US" sz="2000" i="1" dirty="0"/>
              <a:t>Bird</a:t>
            </a:r>
            <a:r>
              <a:rPr lang="en-US" sz="2000" dirty="0"/>
              <a:t> and </a:t>
            </a:r>
            <a:r>
              <a:rPr lang="en-US" sz="2000" i="1" dirty="0"/>
              <a:t>Cat</a:t>
            </a:r>
          </a:p>
          <a:p>
            <a:pPr lvl="2"/>
            <a:r>
              <a:rPr lang="en-US" dirty="0"/>
              <a:t>Regions showing similarity indicate areas involved in encoding relations to specific other stimuli </a:t>
            </a:r>
          </a:p>
          <a:p>
            <a:pPr lvl="2"/>
            <a:r>
              <a:rPr lang="en-US" sz="1800" dirty="0"/>
              <a:t>Need to rule out the possibility that the similarity is due to simply retrieval of the A item representation</a:t>
            </a:r>
          </a:p>
          <a:p>
            <a:pPr lvl="1"/>
            <a:r>
              <a:rPr lang="en-US" sz="2200" dirty="0"/>
              <a:t>Through this and additional analyses, we can distinguish:</a:t>
            </a:r>
          </a:p>
          <a:p>
            <a:pPr lvl="2"/>
            <a:r>
              <a:rPr lang="en-US" sz="1800" dirty="0"/>
              <a:t>(1) Regions where specific relations are encoded</a:t>
            </a:r>
          </a:p>
          <a:p>
            <a:pPr lvl="2"/>
            <a:r>
              <a:rPr lang="en-US" sz="1800" dirty="0"/>
              <a:t>(2) Regions that support relational memory encoding yet do not contain the relations</a:t>
            </a:r>
          </a:p>
          <a:p>
            <a:pPr lvl="2"/>
            <a:r>
              <a:rPr lang="en-US" sz="1800" dirty="0"/>
              <a:t>(3) Regions where items are encoded</a:t>
            </a:r>
          </a:p>
        </p:txBody>
      </p:sp>
    </p:spTree>
    <p:extLst>
      <p:ext uri="{BB962C8B-B14F-4D97-AF65-F5344CB8AC3E}">
        <p14:creationId xmlns:p14="http://schemas.microsoft.com/office/powerpoint/2010/main" val="39741708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401E3-C38D-D2F6-896D-9241C4B1D4AB}"/>
              </a:ext>
            </a:extLst>
          </p:cNvPr>
          <p:cNvSpPr>
            <a:spLocks noGrp="1"/>
          </p:cNvSpPr>
          <p:nvPr>
            <p:ph type="title"/>
          </p:nvPr>
        </p:nvSpPr>
        <p:spPr>
          <a:xfrm>
            <a:off x="838200" y="118463"/>
            <a:ext cx="10515600" cy="998729"/>
          </a:xfrm>
        </p:spPr>
        <p:txBody>
          <a:bodyPr/>
          <a:lstStyle/>
          <a:p>
            <a:r>
              <a:rPr lang="en-US" dirty="0">
                <a:solidFill>
                  <a:srgbClr val="002060"/>
                </a:solidFill>
              </a:rPr>
              <a:t>Building on this analytic direction</a:t>
            </a:r>
          </a:p>
        </p:txBody>
      </p:sp>
      <p:sp>
        <p:nvSpPr>
          <p:cNvPr id="3" name="Content Placeholder 2">
            <a:extLst>
              <a:ext uri="{FF2B5EF4-FFF2-40B4-BE49-F238E27FC236}">
                <a16:creationId xmlns:a16="http://schemas.microsoft.com/office/drawing/2014/main" id="{14FB3116-0E3A-7552-55D1-E841923C3B94}"/>
              </a:ext>
            </a:extLst>
          </p:cNvPr>
          <p:cNvSpPr>
            <a:spLocks noGrp="1"/>
          </p:cNvSpPr>
          <p:nvPr>
            <p:ph idx="1"/>
          </p:nvPr>
        </p:nvSpPr>
        <p:spPr>
          <a:xfrm>
            <a:off x="796992" y="1352720"/>
            <a:ext cx="7147586" cy="5386817"/>
          </a:xfrm>
        </p:spPr>
        <p:txBody>
          <a:bodyPr>
            <a:normAutofit fontScale="92500"/>
          </a:bodyPr>
          <a:lstStyle/>
          <a:p>
            <a:r>
              <a:rPr lang="en-US" dirty="0"/>
              <a:t>Suppose participants encode eight relations:</a:t>
            </a:r>
          </a:p>
          <a:p>
            <a:pPr lvl="1"/>
            <a:r>
              <a:rPr lang="en-US" dirty="0"/>
              <a:t>X-A, X-B</a:t>
            </a:r>
          </a:p>
          <a:p>
            <a:pPr lvl="1"/>
            <a:r>
              <a:rPr lang="en-US" dirty="0"/>
              <a:t>Y-A, Y-B</a:t>
            </a:r>
          </a:p>
          <a:p>
            <a:pPr lvl="1"/>
            <a:r>
              <a:rPr lang="en-US" dirty="0"/>
              <a:t>Z-A, Z-C</a:t>
            </a:r>
          </a:p>
          <a:p>
            <a:pPr lvl="1"/>
            <a:r>
              <a:rPr lang="en-US" dirty="0"/>
              <a:t>W-C, W-D</a:t>
            </a:r>
          </a:p>
          <a:p>
            <a:r>
              <a:rPr lang="en-US" dirty="0"/>
              <a:t>In terms of the relations encoded:</a:t>
            </a:r>
          </a:p>
          <a:p>
            <a:pPr lvl="1"/>
            <a:r>
              <a:rPr lang="en-US" dirty="0"/>
              <a:t>X is very similar to Y (both connected to A &amp; B)</a:t>
            </a:r>
          </a:p>
          <a:p>
            <a:pPr lvl="1"/>
            <a:r>
              <a:rPr lang="en-US" dirty="0"/>
              <a:t>X is somewhat similar to Z (both connected to A)</a:t>
            </a:r>
          </a:p>
          <a:p>
            <a:pPr lvl="1"/>
            <a:r>
              <a:rPr lang="en-US" dirty="0"/>
              <a:t>X shows no similarity with W</a:t>
            </a:r>
          </a:p>
          <a:p>
            <a:r>
              <a:rPr lang="en-US" dirty="0"/>
              <a:t>Illustrated as an RSM</a:t>
            </a:r>
          </a:p>
          <a:p>
            <a:pPr lvl="1"/>
            <a:r>
              <a:rPr lang="en-US" dirty="0"/>
              <a:t>Performing RSA using this RSM expands the analysis on the previous slide to work with many stimuli and relations</a:t>
            </a:r>
          </a:p>
          <a:p>
            <a:pPr lvl="1"/>
            <a:endParaRPr lang="en-US" dirty="0"/>
          </a:p>
          <a:p>
            <a:pPr lvl="1"/>
            <a:endParaRPr lang="en-US" dirty="0"/>
          </a:p>
        </p:txBody>
      </p:sp>
      <p:sp>
        <p:nvSpPr>
          <p:cNvPr id="4" name="Rectangle 3">
            <a:extLst>
              <a:ext uri="{FF2B5EF4-FFF2-40B4-BE49-F238E27FC236}">
                <a16:creationId xmlns:a16="http://schemas.microsoft.com/office/drawing/2014/main" id="{FDBF3C6D-B660-C17C-2B5B-795C7A7B7582}"/>
              </a:ext>
            </a:extLst>
          </p:cNvPr>
          <p:cNvSpPr/>
          <p:nvPr/>
        </p:nvSpPr>
        <p:spPr>
          <a:xfrm>
            <a:off x="10553105" y="2257517"/>
            <a:ext cx="279400" cy="279400"/>
          </a:xfrm>
          <a:prstGeom prst="rect">
            <a:avLst/>
          </a:prstGeom>
          <a:solidFill>
            <a:schemeClr val="bg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8A88778-4B6F-9AC2-440C-F530F417C710}"/>
              </a:ext>
            </a:extLst>
          </p:cNvPr>
          <p:cNvSpPr/>
          <p:nvPr/>
        </p:nvSpPr>
        <p:spPr>
          <a:xfrm>
            <a:off x="10553105" y="2602363"/>
            <a:ext cx="279400" cy="279400"/>
          </a:xfrm>
          <a:prstGeom prst="rect">
            <a:avLst/>
          </a:prstGeom>
          <a:solidFill>
            <a:schemeClr val="bg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A9E2092-67CF-8421-3AD9-80A89F553190}"/>
              </a:ext>
            </a:extLst>
          </p:cNvPr>
          <p:cNvSpPr/>
          <p:nvPr/>
        </p:nvSpPr>
        <p:spPr>
          <a:xfrm>
            <a:off x="10553105" y="2947209"/>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22DD7A5-E55C-B1E1-C758-78048607D6C8}"/>
              </a:ext>
            </a:extLst>
          </p:cNvPr>
          <p:cNvSpPr/>
          <p:nvPr/>
        </p:nvSpPr>
        <p:spPr>
          <a:xfrm>
            <a:off x="9875491" y="2257517"/>
            <a:ext cx="279400" cy="279400"/>
          </a:xfrm>
          <a:prstGeom prst="rect">
            <a:avLst/>
          </a:prstGeom>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12D4D7B-0256-D4EE-CAD6-26EEA20F3A70}"/>
              </a:ext>
            </a:extLst>
          </p:cNvPr>
          <p:cNvSpPr/>
          <p:nvPr/>
        </p:nvSpPr>
        <p:spPr>
          <a:xfrm>
            <a:off x="9875491" y="2947209"/>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9BE8971E-8D20-D3DD-C43B-380ECB52CEC0}"/>
              </a:ext>
            </a:extLst>
          </p:cNvPr>
          <p:cNvSpPr/>
          <p:nvPr/>
        </p:nvSpPr>
        <p:spPr>
          <a:xfrm>
            <a:off x="9875491" y="3292055"/>
            <a:ext cx="279400" cy="279400"/>
          </a:xfrm>
          <a:prstGeom prst="rect">
            <a:avLst/>
          </a:prstGeom>
          <a:solidFill>
            <a:schemeClr val="bg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6664B0C-1AD4-A832-0A4A-1445F382F157}"/>
              </a:ext>
            </a:extLst>
          </p:cNvPr>
          <p:cNvSpPr/>
          <p:nvPr/>
        </p:nvSpPr>
        <p:spPr>
          <a:xfrm>
            <a:off x="10214298" y="2257517"/>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64A2850-D63C-440B-75C6-849B097228DA}"/>
              </a:ext>
            </a:extLst>
          </p:cNvPr>
          <p:cNvSpPr/>
          <p:nvPr/>
        </p:nvSpPr>
        <p:spPr>
          <a:xfrm>
            <a:off x="10214298" y="2602363"/>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DF3E3BD-CD80-5FC0-D7CD-A00A709AAD46}"/>
              </a:ext>
            </a:extLst>
          </p:cNvPr>
          <p:cNvSpPr/>
          <p:nvPr/>
        </p:nvSpPr>
        <p:spPr>
          <a:xfrm>
            <a:off x="10214298" y="3292055"/>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A324FBB5-844A-47D3-D0B5-10A22116543B}"/>
              </a:ext>
            </a:extLst>
          </p:cNvPr>
          <p:cNvSpPr/>
          <p:nvPr/>
        </p:nvSpPr>
        <p:spPr>
          <a:xfrm>
            <a:off x="9540777" y="2602363"/>
            <a:ext cx="279400" cy="279400"/>
          </a:xfrm>
          <a:prstGeom prst="rect">
            <a:avLst/>
          </a:prstGeom>
          <a:solidFill>
            <a:schemeClr val="tx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68420B5-7618-A2B4-225B-C7CEFF57EBB5}"/>
              </a:ext>
            </a:extLst>
          </p:cNvPr>
          <p:cNvSpPr/>
          <p:nvPr/>
        </p:nvSpPr>
        <p:spPr>
          <a:xfrm>
            <a:off x="9540777" y="2947209"/>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101E58D-C935-4CA1-77F2-B7022FC8CA9D}"/>
              </a:ext>
            </a:extLst>
          </p:cNvPr>
          <p:cNvSpPr/>
          <p:nvPr/>
        </p:nvSpPr>
        <p:spPr>
          <a:xfrm>
            <a:off x="9540777" y="3292055"/>
            <a:ext cx="279400" cy="279400"/>
          </a:xfrm>
          <a:prstGeom prst="rect">
            <a:avLst/>
          </a:prstGeom>
          <a:solidFill>
            <a:schemeClr val="bg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003C2457-615B-AF87-DCB7-B3F5162D6AD3}"/>
              </a:ext>
            </a:extLst>
          </p:cNvPr>
          <p:cNvSpPr txBox="1"/>
          <p:nvPr/>
        </p:nvSpPr>
        <p:spPr>
          <a:xfrm>
            <a:off x="9157764" y="2215080"/>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X</a:t>
            </a:r>
          </a:p>
        </p:txBody>
      </p:sp>
      <p:sp>
        <p:nvSpPr>
          <p:cNvPr id="79" name="TextBox 78">
            <a:extLst>
              <a:ext uri="{FF2B5EF4-FFF2-40B4-BE49-F238E27FC236}">
                <a16:creationId xmlns:a16="http://schemas.microsoft.com/office/drawing/2014/main" id="{377EB0A3-04A5-DE44-A5D9-DE15F27F28D0}"/>
              </a:ext>
            </a:extLst>
          </p:cNvPr>
          <p:cNvSpPr txBox="1"/>
          <p:nvPr/>
        </p:nvSpPr>
        <p:spPr>
          <a:xfrm>
            <a:off x="9157764" y="2559148"/>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Y</a:t>
            </a:r>
          </a:p>
        </p:txBody>
      </p:sp>
      <p:sp>
        <p:nvSpPr>
          <p:cNvPr id="80" name="TextBox 79">
            <a:extLst>
              <a:ext uri="{FF2B5EF4-FFF2-40B4-BE49-F238E27FC236}">
                <a16:creationId xmlns:a16="http://schemas.microsoft.com/office/drawing/2014/main" id="{803769A3-A6EC-BC2C-D673-400D799E22FC}"/>
              </a:ext>
            </a:extLst>
          </p:cNvPr>
          <p:cNvSpPr txBox="1"/>
          <p:nvPr/>
        </p:nvSpPr>
        <p:spPr>
          <a:xfrm>
            <a:off x="9157764" y="2903216"/>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Z</a:t>
            </a:r>
          </a:p>
        </p:txBody>
      </p:sp>
      <p:sp>
        <p:nvSpPr>
          <p:cNvPr id="81" name="TextBox 80">
            <a:extLst>
              <a:ext uri="{FF2B5EF4-FFF2-40B4-BE49-F238E27FC236}">
                <a16:creationId xmlns:a16="http://schemas.microsoft.com/office/drawing/2014/main" id="{ADEA4B86-F02E-1403-A930-51B0E3F5C7F5}"/>
              </a:ext>
            </a:extLst>
          </p:cNvPr>
          <p:cNvSpPr txBox="1"/>
          <p:nvPr/>
        </p:nvSpPr>
        <p:spPr>
          <a:xfrm>
            <a:off x="9122323" y="3247285"/>
            <a:ext cx="40267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W</a:t>
            </a:r>
          </a:p>
        </p:txBody>
      </p:sp>
      <p:sp>
        <p:nvSpPr>
          <p:cNvPr id="82" name="TextBox 81">
            <a:extLst>
              <a:ext uri="{FF2B5EF4-FFF2-40B4-BE49-F238E27FC236}">
                <a16:creationId xmlns:a16="http://schemas.microsoft.com/office/drawing/2014/main" id="{F5B6834D-C8A0-C636-3059-193EFF59E29D}"/>
              </a:ext>
            </a:extLst>
          </p:cNvPr>
          <p:cNvSpPr txBox="1"/>
          <p:nvPr/>
        </p:nvSpPr>
        <p:spPr>
          <a:xfrm>
            <a:off x="9510494" y="1873061"/>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X</a:t>
            </a:r>
          </a:p>
        </p:txBody>
      </p:sp>
      <p:sp>
        <p:nvSpPr>
          <p:cNvPr id="83" name="TextBox 82">
            <a:extLst>
              <a:ext uri="{FF2B5EF4-FFF2-40B4-BE49-F238E27FC236}">
                <a16:creationId xmlns:a16="http://schemas.microsoft.com/office/drawing/2014/main" id="{332C7A99-C6A8-CA6E-ACC0-7B7B99944B15}"/>
              </a:ext>
            </a:extLst>
          </p:cNvPr>
          <p:cNvSpPr txBox="1"/>
          <p:nvPr/>
        </p:nvSpPr>
        <p:spPr>
          <a:xfrm>
            <a:off x="10488414" y="1873061"/>
            <a:ext cx="40267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W</a:t>
            </a:r>
          </a:p>
        </p:txBody>
      </p:sp>
      <p:sp>
        <p:nvSpPr>
          <p:cNvPr id="84" name="TextBox 83">
            <a:extLst>
              <a:ext uri="{FF2B5EF4-FFF2-40B4-BE49-F238E27FC236}">
                <a16:creationId xmlns:a16="http://schemas.microsoft.com/office/drawing/2014/main" id="{C061AB7A-92A7-7DDE-8026-4EF9237D1092}"/>
              </a:ext>
            </a:extLst>
          </p:cNvPr>
          <p:cNvSpPr txBox="1"/>
          <p:nvPr/>
        </p:nvSpPr>
        <p:spPr>
          <a:xfrm>
            <a:off x="10184032" y="1873061"/>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Z</a:t>
            </a:r>
          </a:p>
        </p:txBody>
      </p:sp>
      <p:sp>
        <p:nvSpPr>
          <p:cNvPr id="85" name="TextBox 84">
            <a:extLst>
              <a:ext uri="{FF2B5EF4-FFF2-40B4-BE49-F238E27FC236}">
                <a16:creationId xmlns:a16="http://schemas.microsoft.com/office/drawing/2014/main" id="{D0F36D53-F16E-9E07-865A-3EAD8453B0D0}"/>
              </a:ext>
            </a:extLst>
          </p:cNvPr>
          <p:cNvSpPr txBox="1"/>
          <p:nvPr/>
        </p:nvSpPr>
        <p:spPr>
          <a:xfrm>
            <a:off x="9847263" y="1873061"/>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Y</a:t>
            </a:r>
          </a:p>
        </p:txBody>
      </p:sp>
    </p:spTree>
    <p:extLst>
      <p:ext uri="{BB962C8B-B14F-4D97-AF65-F5344CB8AC3E}">
        <p14:creationId xmlns:p14="http://schemas.microsoft.com/office/powerpoint/2010/main" val="1505201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21" grpId="0" animBg="1"/>
      <p:bldP spid="23" grpId="0" animBg="1"/>
      <p:bldP spid="24" grpId="0" animBg="1"/>
      <p:bldP spid="26" grpId="0" animBg="1"/>
      <p:bldP spid="27" grpId="0" animBg="1"/>
      <p:bldP spid="29" grpId="0" animBg="1"/>
      <p:bldP spid="32" grpId="0" animBg="1"/>
      <p:bldP spid="33" grpId="0" animBg="1"/>
      <p:bldP spid="34" grpId="0" animBg="1"/>
      <p:bldP spid="78" grpId="0"/>
      <p:bldP spid="79" grpId="0"/>
      <p:bldP spid="80" grpId="0"/>
      <p:bldP spid="81" grpId="0"/>
      <p:bldP spid="82" grpId="0"/>
      <p:bldP spid="83" grpId="0"/>
      <p:bldP spid="84" grpId="0"/>
      <p:bldP spid="85"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401E3-C38D-D2F6-896D-9241C4B1D4AB}"/>
              </a:ext>
            </a:extLst>
          </p:cNvPr>
          <p:cNvSpPr>
            <a:spLocks noGrp="1"/>
          </p:cNvSpPr>
          <p:nvPr>
            <p:ph type="title"/>
          </p:nvPr>
        </p:nvSpPr>
        <p:spPr>
          <a:xfrm>
            <a:off x="838200" y="118463"/>
            <a:ext cx="10515600" cy="998729"/>
          </a:xfrm>
        </p:spPr>
        <p:txBody>
          <a:bodyPr>
            <a:normAutofit fontScale="90000"/>
          </a:bodyPr>
          <a:lstStyle/>
          <a:p>
            <a:r>
              <a:rPr lang="en-US" dirty="0">
                <a:solidFill>
                  <a:srgbClr val="002060"/>
                </a:solidFill>
              </a:rPr>
              <a:t>Ways to extend and interpret these analyses</a:t>
            </a:r>
          </a:p>
        </p:txBody>
      </p:sp>
      <p:sp>
        <p:nvSpPr>
          <p:cNvPr id="3" name="Content Placeholder 2">
            <a:extLst>
              <a:ext uri="{FF2B5EF4-FFF2-40B4-BE49-F238E27FC236}">
                <a16:creationId xmlns:a16="http://schemas.microsoft.com/office/drawing/2014/main" id="{14FB3116-0E3A-7552-55D1-E841923C3B94}"/>
              </a:ext>
            </a:extLst>
          </p:cNvPr>
          <p:cNvSpPr>
            <a:spLocks noGrp="1"/>
          </p:cNvSpPr>
          <p:nvPr>
            <p:ph idx="1"/>
          </p:nvPr>
        </p:nvSpPr>
        <p:spPr>
          <a:xfrm>
            <a:off x="627525" y="1210328"/>
            <a:ext cx="7147586" cy="5386817"/>
          </a:xfrm>
        </p:spPr>
        <p:txBody>
          <a:bodyPr>
            <a:normAutofit fontScale="85000" lnSpcReduction="10000"/>
          </a:bodyPr>
          <a:lstStyle/>
          <a:p>
            <a:r>
              <a:rPr lang="en-US" dirty="0"/>
              <a:t>Participants encode a relational network</a:t>
            </a:r>
          </a:p>
          <a:p>
            <a:pPr lvl="1"/>
            <a:r>
              <a:rPr lang="en-US" dirty="0"/>
              <a:t>Opens the door for graph theory analysis</a:t>
            </a:r>
          </a:p>
          <a:p>
            <a:pPr lvl="1"/>
            <a:r>
              <a:rPr lang="en-US" dirty="0"/>
              <a:t>e.g., effects of retrieving stimuli with high centrality</a:t>
            </a:r>
          </a:p>
          <a:p>
            <a:pPr lvl="1"/>
            <a:r>
              <a:rPr lang="en-US" dirty="0"/>
              <a:t>Parallels that journal club study which involved video clips</a:t>
            </a:r>
          </a:p>
          <a:p>
            <a:r>
              <a:rPr lang="en-US" dirty="0"/>
              <a:t>Participants encode a map</a:t>
            </a:r>
          </a:p>
          <a:p>
            <a:pPr lvl="1"/>
            <a:r>
              <a:rPr lang="en-US" dirty="0"/>
              <a:t>Potential links to research on the PPA and spatial memory</a:t>
            </a:r>
          </a:p>
          <a:p>
            <a:pPr lvl="2"/>
            <a:r>
              <a:rPr lang="en-US" dirty="0"/>
              <a:t>Investigating PPA maps is typically done in rat research, although studying this in humans opens new directions</a:t>
            </a:r>
          </a:p>
          <a:p>
            <a:pPr lvl="1"/>
            <a:r>
              <a:rPr lang="en-US" dirty="0"/>
              <a:t>Can incorporate directionality (before/after) into the analysis</a:t>
            </a:r>
          </a:p>
          <a:p>
            <a:r>
              <a:rPr lang="en-US" dirty="0"/>
              <a:t>Episodic memories are a collection of relations</a:t>
            </a:r>
          </a:p>
          <a:p>
            <a:pPr lvl="1"/>
            <a:r>
              <a:rPr lang="en-US" dirty="0"/>
              <a:t>Hence, these analyses can be thought of as investigating how episodic memories are represented</a:t>
            </a:r>
          </a:p>
          <a:p>
            <a:pPr lvl="1"/>
            <a:r>
              <a:rPr lang="en-US" dirty="0"/>
              <a:t>Next study idea gets at this more directly</a:t>
            </a:r>
          </a:p>
        </p:txBody>
      </p:sp>
      <p:sp>
        <p:nvSpPr>
          <p:cNvPr id="4" name="Rectangle 3">
            <a:extLst>
              <a:ext uri="{FF2B5EF4-FFF2-40B4-BE49-F238E27FC236}">
                <a16:creationId xmlns:a16="http://schemas.microsoft.com/office/drawing/2014/main" id="{FDBF3C6D-B660-C17C-2B5B-795C7A7B7582}"/>
              </a:ext>
            </a:extLst>
          </p:cNvPr>
          <p:cNvSpPr/>
          <p:nvPr/>
        </p:nvSpPr>
        <p:spPr>
          <a:xfrm>
            <a:off x="10553105" y="2257517"/>
            <a:ext cx="279400" cy="279400"/>
          </a:xfrm>
          <a:prstGeom prst="rect">
            <a:avLst/>
          </a:prstGeom>
          <a:solidFill>
            <a:schemeClr val="bg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8A88778-4B6F-9AC2-440C-F530F417C710}"/>
              </a:ext>
            </a:extLst>
          </p:cNvPr>
          <p:cNvSpPr/>
          <p:nvPr/>
        </p:nvSpPr>
        <p:spPr>
          <a:xfrm>
            <a:off x="10553105" y="2602363"/>
            <a:ext cx="279400" cy="279400"/>
          </a:xfrm>
          <a:prstGeom prst="rect">
            <a:avLst/>
          </a:prstGeom>
          <a:solidFill>
            <a:schemeClr val="bg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A9E2092-67CF-8421-3AD9-80A89F553190}"/>
              </a:ext>
            </a:extLst>
          </p:cNvPr>
          <p:cNvSpPr/>
          <p:nvPr/>
        </p:nvSpPr>
        <p:spPr>
          <a:xfrm>
            <a:off x="10553105" y="2947209"/>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22DD7A5-E55C-B1E1-C758-78048607D6C8}"/>
              </a:ext>
            </a:extLst>
          </p:cNvPr>
          <p:cNvSpPr/>
          <p:nvPr/>
        </p:nvSpPr>
        <p:spPr>
          <a:xfrm>
            <a:off x="9875491" y="2257517"/>
            <a:ext cx="279400" cy="279400"/>
          </a:xfrm>
          <a:prstGeom prst="rect">
            <a:avLst/>
          </a:prstGeom>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12D4D7B-0256-D4EE-CAD6-26EEA20F3A70}"/>
              </a:ext>
            </a:extLst>
          </p:cNvPr>
          <p:cNvSpPr/>
          <p:nvPr/>
        </p:nvSpPr>
        <p:spPr>
          <a:xfrm>
            <a:off x="9875491" y="2947209"/>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9BE8971E-8D20-D3DD-C43B-380ECB52CEC0}"/>
              </a:ext>
            </a:extLst>
          </p:cNvPr>
          <p:cNvSpPr/>
          <p:nvPr/>
        </p:nvSpPr>
        <p:spPr>
          <a:xfrm>
            <a:off x="9875491" y="3292055"/>
            <a:ext cx="279400" cy="279400"/>
          </a:xfrm>
          <a:prstGeom prst="rect">
            <a:avLst/>
          </a:prstGeom>
          <a:solidFill>
            <a:schemeClr val="bg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6664B0C-1AD4-A832-0A4A-1445F382F157}"/>
              </a:ext>
            </a:extLst>
          </p:cNvPr>
          <p:cNvSpPr/>
          <p:nvPr/>
        </p:nvSpPr>
        <p:spPr>
          <a:xfrm>
            <a:off x="10214298" y="2257517"/>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64A2850-D63C-440B-75C6-849B097228DA}"/>
              </a:ext>
            </a:extLst>
          </p:cNvPr>
          <p:cNvSpPr/>
          <p:nvPr/>
        </p:nvSpPr>
        <p:spPr>
          <a:xfrm>
            <a:off x="10214298" y="2602363"/>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DF3E3BD-CD80-5FC0-D7CD-A00A709AAD46}"/>
              </a:ext>
            </a:extLst>
          </p:cNvPr>
          <p:cNvSpPr/>
          <p:nvPr/>
        </p:nvSpPr>
        <p:spPr>
          <a:xfrm>
            <a:off x="10214298" y="3292055"/>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A324FBB5-844A-47D3-D0B5-10A22116543B}"/>
              </a:ext>
            </a:extLst>
          </p:cNvPr>
          <p:cNvSpPr/>
          <p:nvPr/>
        </p:nvSpPr>
        <p:spPr>
          <a:xfrm>
            <a:off x="9540777" y="2602363"/>
            <a:ext cx="279400" cy="279400"/>
          </a:xfrm>
          <a:prstGeom prst="rect">
            <a:avLst/>
          </a:prstGeom>
          <a:solidFill>
            <a:schemeClr val="tx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68420B5-7618-A2B4-225B-C7CEFF57EBB5}"/>
              </a:ext>
            </a:extLst>
          </p:cNvPr>
          <p:cNvSpPr/>
          <p:nvPr/>
        </p:nvSpPr>
        <p:spPr>
          <a:xfrm>
            <a:off x="9540777" y="2947209"/>
            <a:ext cx="279400" cy="279400"/>
          </a:xfrm>
          <a:prstGeom prst="rect">
            <a:avLst/>
          </a:prstGeom>
          <a:solidFill>
            <a:schemeClr val="bg1">
              <a:lumMod val="75000"/>
            </a:schemeClr>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101E58D-C935-4CA1-77F2-B7022FC8CA9D}"/>
              </a:ext>
            </a:extLst>
          </p:cNvPr>
          <p:cNvSpPr/>
          <p:nvPr/>
        </p:nvSpPr>
        <p:spPr>
          <a:xfrm>
            <a:off x="9540777" y="3292055"/>
            <a:ext cx="279400" cy="279400"/>
          </a:xfrm>
          <a:prstGeom prst="rect">
            <a:avLst/>
          </a:prstGeom>
          <a:solidFill>
            <a:schemeClr val="bg1"/>
          </a:solidFill>
          <a:ln w="28575">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C8388321-71D9-0DBE-36CB-F05BA1506E6F}"/>
              </a:ext>
            </a:extLst>
          </p:cNvPr>
          <p:cNvSpPr/>
          <p:nvPr/>
        </p:nvSpPr>
        <p:spPr>
          <a:xfrm>
            <a:off x="8607031" y="5029358"/>
            <a:ext cx="536548" cy="536548"/>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705EEE63-8202-28E6-6E72-272FFFA9EB40}"/>
              </a:ext>
            </a:extLst>
          </p:cNvPr>
          <p:cNvSpPr txBox="1"/>
          <p:nvPr/>
        </p:nvSpPr>
        <p:spPr>
          <a:xfrm>
            <a:off x="8680380" y="5066799"/>
            <a:ext cx="389850"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X</a:t>
            </a:r>
          </a:p>
        </p:txBody>
      </p:sp>
      <p:sp>
        <p:nvSpPr>
          <p:cNvPr id="38" name="Oval 37">
            <a:extLst>
              <a:ext uri="{FF2B5EF4-FFF2-40B4-BE49-F238E27FC236}">
                <a16:creationId xmlns:a16="http://schemas.microsoft.com/office/drawing/2014/main" id="{789B1782-EE66-AED0-E92B-BA52A3A6842E}"/>
              </a:ext>
            </a:extLst>
          </p:cNvPr>
          <p:cNvSpPr/>
          <p:nvPr/>
        </p:nvSpPr>
        <p:spPr>
          <a:xfrm>
            <a:off x="9448527" y="5029358"/>
            <a:ext cx="536548" cy="536548"/>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FD1CF775-97D0-072F-2A7A-F9E789B6C6F3}"/>
              </a:ext>
            </a:extLst>
          </p:cNvPr>
          <p:cNvSpPr txBox="1"/>
          <p:nvPr/>
        </p:nvSpPr>
        <p:spPr>
          <a:xfrm>
            <a:off x="9521876" y="5066799"/>
            <a:ext cx="389850"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A</a:t>
            </a:r>
          </a:p>
        </p:txBody>
      </p:sp>
      <p:sp>
        <p:nvSpPr>
          <p:cNvPr id="40" name="Oval 39">
            <a:extLst>
              <a:ext uri="{FF2B5EF4-FFF2-40B4-BE49-F238E27FC236}">
                <a16:creationId xmlns:a16="http://schemas.microsoft.com/office/drawing/2014/main" id="{FC85FC39-DA9D-00FE-4FAA-70B2AA4BAA24}"/>
              </a:ext>
            </a:extLst>
          </p:cNvPr>
          <p:cNvSpPr/>
          <p:nvPr/>
        </p:nvSpPr>
        <p:spPr>
          <a:xfrm>
            <a:off x="9470145" y="5801434"/>
            <a:ext cx="536548" cy="536548"/>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5CC7CDDD-D8E5-F9EF-DF95-90A108F895DD}"/>
              </a:ext>
            </a:extLst>
          </p:cNvPr>
          <p:cNvSpPr txBox="1"/>
          <p:nvPr/>
        </p:nvSpPr>
        <p:spPr>
          <a:xfrm>
            <a:off x="9543494" y="5838875"/>
            <a:ext cx="389850"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B</a:t>
            </a:r>
          </a:p>
        </p:txBody>
      </p:sp>
      <p:sp>
        <p:nvSpPr>
          <p:cNvPr id="42" name="Oval 41">
            <a:extLst>
              <a:ext uri="{FF2B5EF4-FFF2-40B4-BE49-F238E27FC236}">
                <a16:creationId xmlns:a16="http://schemas.microsoft.com/office/drawing/2014/main" id="{89B791A3-31B1-DB90-6526-B9E3C8704323}"/>
              </a:ext>
            </a:extLst>
          </p:cNvPr>
          <p:cNvSpPr/>
          <p:nvPr/>
        </p:nvSpPr>
        <p:spPr>
          <a:xfrm>
            <a:off x="8629702" y="5801434"/>
            <a:ext cx="536548" cy="536548"/>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825D2BD6-DE44-B163-74EF-5028EC303B9E}"/>
              </a:ext>
            </a:extLst>
          </p:cNvPr>
          <p:cNvSpPr txBox="1"/>
          <p:nvPr/>
        </p:nvSpPr>
        <p:spPr>
          <a:xfrm>
            <a:off x="8703051" y="5838875"/>
            <a:ext cx="389850"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Y</a:t>
            </a:r>
          </a:p>
        </p:txBody>
      </p:sp>
      <p:sp>
        <p:nvSpPr>
          <p:cNvPr id="44" name="Oval 43">
            <a:extLst>
              <a:ext uri="{FF2B5EF4-FFF2-40B4-BE49-F238E27FC236}">
                <a16:creationId xmlns:a16="http://schemas.microsoft.com/office/drawing/2014/main" id="{96076ABD-1E63-ED73-8BEB-C53EF3B91F68}"/>
              </a:ext>
            </a:extLst>
          </p:cNvPr>
          <p:cNvSpPr/>
          <p:nvPr/>
        </p:nvSpPr>
        <p:spPr>
          <a:xfrm>
            <a:off x="9849048" y="4205299"/>
            <a:ext cx="536548" cy="536548"/>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7D86D83E-9906-058E-3F12-15C3CF860722}"/>
              </a:ext>
            </a:extLst>
          </p:cNvPr>
          <p:cNvSpPr txBox="1"/>
          <p:nvPr/>
        </p:nvSpPr>
        <p:spPr>
          <a:xfrm>
            <a:off x="9922397" y="4242740"/>
            <a:ext cx="372218"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Z</a:t>
            </a:r>
          </a:p>
        </p:txBody>
      </p:sp>
      <p:sp>
        <p:nvSpPr>
          <p:cNvPr id="46" name="Oval 45">
            <a:extLst>
              <a:ext uri="{FF2B5EF4-FFF2-40B4-BE49-F238E27FC236}">
                <a16:creationId xmlns:a16="http://schemas.microsoft.com/office/drawing/2014/main" id="{600E4950-30D4-AC28-E0D7-DCBA2B5BE491}"/>
              </a:ext>
            </a:extLst>
          </p:cNvPr>
          <p:cNvSpPr/>
          <p:nvPr/>
        </p:nvSpPr>
        <p:spPr>
          <a:xfrm>
            <a:off x="10268877" y="5029358"/>
            <a:ext cx="536548" cy="536548"/>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D58B61A9-7739-7966-ED9C-89D1AF245104}"/>
              </a:ext>
            </a:extLst>
          </p:cNvPr>
          <p:cNvSpPr txBox="1"/>
          <p:nvPr/>
        </p:nvSpPr>
        <p:spPr>
          <a:xfrm>
            <a:off x="10342226" y="5066799"/>
            <a:ext cx="407484"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C</a:t>
            </a:r>
          </a:p>
        </p:txBody>
      </p:sp>
      <p:sp>
        <p:nvSpPr>
          <p:cNvPr id="48" name="Oval 47">
            <a:extLst>
              <a:ext uri="{FF2B5EF4-FFF2-40B4-BE49-F238E27FC236}">
                <a16:creationId xmlns:a16="http://schemas.microsoft.com/office/drawing/2014/main" id="{333888F6-6619-0F88-1CAF-B70F7B2FE31E}"/>
              </a:ext>
            </a:extLst>
          </p:cNvPr>
          <p:cNvSpPr/>
          <p:nvPr/>
        </p:nvSpPr>
        <p:spPr>
          <a:xfrm>
            <a:off x="10274536" y="5801434"/>
            <a:ext cx="536548" cy="536548"/>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11B1BD2B-8C7F-9FC4-B4BD-97747EAAB477}"/>
              </a:ext>
            </a:extLst>
          </p:cNvPr>
          <p:cNvSpPr txBox="1"/>
          <p:nvPr/>
        </p:nvSpPr>
        <p:spPr>
          <a:xfrm>
            <a:off x="10347885" y="5838875"/>
            <a:ext cx="407484"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D</a:t>
            </a:r>
          </a:p>
        </p:txBody>
      </p:sp>
      <p:sp>
        <p:nvSpPr>
          <p:cNvPr id="50" name="Oval 49">
            <a:extLst>
              <a:ext uri="{FF2B5EF4-FFF2-40B4-BE49-F238E27FC236}">
                <a16:creationId xmlns:a16="http://schemas.microsoft.com/office/drawing/2014/main" id="{103DDC47-CED6-F7DE-F25E-8E31A1929F13}"/>
              </a:ext>
            </a:extLst>
          </p:cNvPr>
          <p:cNvSpPr/>
          <p:nvPr/>
        </p:nvSpPr>
        <p:spPr>
          <a:xfrm>
            <a:off x="11027927" y="5395513"/>
            <a:ext cx="536548" cy="536548"/>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37A36E92-D9C3-11FA-5C24-7B4ABBA33867}"/>
              </a:ext>
            </a:extLst>
          </p:cNvPr>
          <p:cNvSpPr txBox="1"/>
          <p:nvPr/>
        </p:nvSpPr>
        <p:spPr>
          <a:xfrm>
            <a:off x="11056032" y="5432954"/>
            <a:ext cx="474810" cy="461665"/>
          </a:xfrm>
          <a:prstGeom prst="rect">
            <a:avLst/>
          </a:prstGeom>
          <a:noFill/>
        </p:spPr>
        <p:txBody>
          <a:bodyPr wrap="none" rtlCol="0">
            <a:spAutoFit/>
          </a:bodyPr>
          <a:lstStyle/>
          <a:p>
            <a:r>
              <a:rPr lang="en-US" sz="2400" dirty="0">
                <a:latin typeface="Arial" panose="020B0604020202020204" pitchFamily="34" charset="0"/>
                <a:cs typeface="Arial" panose="020B0604020202020204" pitchFamily="34" charset="0"/>
              </a:rPr>
              <a:t>W</a:t>
            </a:r>
          </a:p>
        </p:txBody>
      </p:sp>
      <p:cxnSp>
        <p:nvCxnSpPr>
          <p:cNvPr id="53" name="Straight Connector 52">
            <a:extLst>
              <a:ext uri="{FF2B5EF4-FFF2-40B4-BE49-F238E27FC236}">
                <a16:creationId xmlns:a16="http://schemas.microsoft.com/office/drawing/2014/main" id="{144747FC-D0C2-3B16-8166-D411F98FC19B}"/>
              </a:ext>
            </a:extLst>
          </p:cNvPr>
          <p:cNvCxnSpPr>
            <a:stCxn id="36" idx="6"/>
            <a:endCxn id="38" idx="2"/>
          </p:cNvCxnSpPr>
          <p:nvPr/>
        </p:nvCxnSpPr>
        <p:spPr>
          <a:xfrm>
            <a:off x="9143579" y="5297632"/>
            <a:ext cx="3049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B53A3E79-390D-4B5A-B692-95009541C95B}"/>
              </a:ext>
            </a:extLst>
          </p:cNvPr>
          <p:cNvCxnSpPr>
            <a:cxnSpLocks/>
            <a:stCxn id="42" idx="7"/>
            <a:endCxn id="38" idx="3"/>
          </p:cNvCxnSpPr>
          <p:nvPr/>
        </p:nvCxnSpPr>
        <p:spPr>
          <a:xfrm flipV="1">
            <a:off x="9087674" y="5487330"/>
            <a:ext cx="439429" cy="39268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5D56D2D-5E10-ED63-B334-3E85E8184159}"/>
              </a:ext>
            </a:extLst>
          </p:cNvPr>
          <p:cNvCxnSpPr>
            <a:cxnSpLocks/>
            <a:stCxn id="36" idx="5"/>
            <a:endCxn id="40" idx="1"/>
          </p:cNvCxnSpPr>
          <p:nvPr/>
        </p:nvCxnSpPr>
        <p:spPr>
          <a:xfrm>
            <a:off x="9065003" y="5487330"/>
            <a:ext cx="483718" cy="39268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6D9080E0-3EF4-49B3-96E2-02D3BD3962DE}"/>
              </a:ext>
            </a:extLst>
          </p:cNvPr>
          <p:cNvCxnSpPr>
            <a:cxnSpLocks/>
            <a:stCxn id="42" idx="6"/>
            <a:endCxn id="40" idx="2"/>
          </p:cNvCxnSpPr>
          <p:nvPr/>
        </p:nvCxnSpPr>
        <p:spPr>
          <a:xfrm>
            <a:off x="9166250" y="6069708"/>
            <a:ext cx="3038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71064F49-9203-DC6C-8279-E9DD938830F9}"/>
              </a:ext>
            </a:extLst>
          </p:cNvPr>
          <p:cNvCxnSpPr>
            <a:cxnSpLocks/>
            <a:stCxn id="38" idx="0"/>
            <a:endCxn id="44" idx="3"/>
          </p:cNvCxnSpPr>
          <p:nvPr/>
        </p:nvCxnSpPr>
        <p:spPr>
          <a:xfrm flipV="1">
            <a:off x="9716801" y="4663271"/>
            <a:ext cx="210823" cy="366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80E7AEF6-3C0C-E5CA-8978-89FEA273ADA1}"/>
              </a:ext>
            </a:extLst>
          </p:cNvPr>
          <p:cNvCxnSpPr>
            <a:cxnSpLocks/>
            <a:stCxn id="46" idx="0"/>
            <a:endCxn id="44" idx="5"/>
          </p:cNvCxnSpPr>
          <p:nvPr/>
        </p:nvCxnSpPr>
        <p:spPr>
          <a:xfrm flipH="1" flipV="1">
            <a:off x="10307020" y="4663271"/>
            <a:ext cx="230131" cy="366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B1F8FA34-5D35-27C0-0AE1-8324D1CEE3D4}"/>
              </a:ext>
            </a:extLst>
          </p:cNvPr>
          <p:cNvCxnSpPr>
            <a:cxnSpLocks/>
            <a:stCxn id="50" idx="1"/>
            <a:endCxn id="46" idx="6"/>
          </p:cNvCxnSpPr>
          <p:nvPr/>
        </p:nvCxnSpPr>
        <p:spPr>
          <a:xfrm flipH="1" flipV="1">
            <a:off x="10805425" y="5297632"/>
            <a:ext cx="301078" cy="176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88A89B42-EB7C-E614-2774-538101CEAB3B}"/>
              </a:ext>
            </a:extLst>
          </p:cNvPr>
          <p:cNvCxnSpPr>
            <a:cxnSpLocks/>
            <a:stCxn id="50" idx="3"/>
            <a:endCxn id="48" idx="6"/>
          </p:cNvCxnSpPr>
          <p:nvPr/>
        </p:nvCxnSpPr>
        <p:spPr>
          <a:xfrm flipH="1">
            <a:off x="10811084" y="5853485"/>
            <a:ext cx="295419" cy="21622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003C2457-615B-AF87-DCB7-B3F5162D6AD3}"/>
              </a:ext>
            </a:extLst>
          </p:cNvPr>
          <p:cNvSpPr txBox="1"/>
          <p:nvPr/>
        </p:nvSpPr>
        <p:spPr>
          <a:xfrm>
            <a:off x="9157764" y="2215080"/>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X</a:t>
            </a:r>
          </a:p>
        </p:txBody>
      </p:sp>
      <p:sp>
        <p:nvSpPr>
          <p:cNvPr id="79" name="TextBox 78">
            <a:extLst>
              <a:ext uri="{FF2B5EF4-FFF2-40B4-BE49-F238E27FC236}">
                <a16:creationId xmlns:a16="http://schemas.microsoft.com/office/drawing/2014/main" id="{377EB0A3-04A5-DE44-A5D9-DE15F27F28D0}"/>
              </a:ext>
            </a:extLst>
          </p:cNvPr>
          <p:cNvSpPr txBox="1"/>
          <p:nvPr/>
        </p:nvSpPr>
        <p:spPr>
          <a:xfrm>
            <a:off x="9157764" y="2559148"/>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Y</a:t>
            </a:r>
          </a:p>
        </p:txBody>
      </p:sp>
      <p:sp>
        <p:nvSpPr>
          <p:cNvPr id="80" name="TextBox 79">
            <a:extLst>
              <a:ext uri="{FF2B5EF4-FFF2-40B4-BE49-F238E27FC236}">
                <a16:creationId xmlns:a16="http://schemas.microsoft.com/office/drawing/2014/main" id="{803769A3-A6EC-BC2C-D673-400D799E22FC}"/>
              </a:ext>
            </a:extLst>
          </p:cNvPr>
          <p:cNvSpPr txBox="1"/>
          <p:nvPr/>
        </p:nvSpPr>
        <p:spPr>
          <a:xfrm>
            <a:off x="9157764" y="2903216"/>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Z</a:t>
            </a:r>
          </a:p>
        </p:txBody>
      </p:sp>
      <p:sp>
        <p:nvSpPr>
          <p:cNvPr id="81" name="TextBox 80">
            <a:extLst>
              <a:ext uri="{FF2B5EF4-FFF2-40B4-BE49-F238E27FC236}">
                <a16:creationId xmlns:a16="http://schemas.microsoft.com/office/drawing/2014/main" id="{ADEA4B86-F02E-1403-A930-51B0E3F5C7F5}"/>
              </a:ext>
            </a:extLst>
          </p:cNvPr>
          <p:cNvSpPr txBox="1"/>
          <p:nvPr/>
        </p:nvSpPr>
        <p:spPr>
          <a:xfrm>
            <a:off x="9122323" y="3247285"/>
            <a:ext cx="40267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W</a:t>
            </a:r>
          </a:p>
        </p:txBody>
      </p:sp>
      <p:sp>
        <p:nvSpPr>
          <p:cNvPr id="82" name="TextBox 81">
            <a:extLst>
              <a:ext uri="{FF2B5EF4-FFF2-40B4-BE49-F238E27FC236}">
                <a16:creationId xmlns:a16="http://schemas.microsoft.com/office/drawing/2014/main" id="{F5B6834D-C8A0-C636-3059-193EFF59E29D}"/>
              </a:ext>
            </a:extLst>
          </p:cNvPr>
          <p:cNvSpPr txBox="1"/>
          <p:nvPr/>
        </p:nvSpPr>
        <p:spPr>
          <a:xfrm>
            <a:off x="9510494" y="1873061"/>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X</a:t>
            </a:r>
          </a:p>
        </p:txBody>
      </p:sp>
      <p:sp>
        <p:nvSpPr>
          <p:cNvPr id="83" name="TextBox 82">
            <a:extLst>
              <a:ext uri="{FF2B5EF4-FFF2-40B4-BE49-F238E27FC236}">
                <a16:creationId xmlns:a16="http://schemas.microsoft.com/office/drawing/2014/main" id="{332C7A99-C6A8-CA6E-ACC0-7B7B99944B15}"/>
              </a:ext>
            </a:extLst>
          </p:cNvPr>
          <p:cNvSpPr txBox="1"/>
          <p:nvPr/>
        </p:nvSpPr>
        <p:spPr>
          <a:xfrm>
            <a:off x="10488414" y="1873061"/>
            <a:ext cx="40267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W</a:t>
            </a:r>
          </a:p>
        </p:txBody>
      </p:sp>
      <p:sp>
        <p:nvSpPr>
          <p:cNvPr id="84" name="TextBox 83">
            <a:extLst>
              <a:ext uri="{FF2B5EF4-FFF2-40B4-BE49-F238E27FC236}">
                <a16:creationId xmlns:a16="http://schemas.microsoft.com/office/drawing/2014/main" id="{C061AB7A-92A7-7DDE-8026-4EF9237D1092}"/>
              </a:ext>
            </a:extLst>
          </p:cNvPr>
          <p:cNvSpPr txBox="1"/>
          <p:nvPr/>
        </p:nvSpPr>
        <p:spPr>
          <a:xfrm>
            <a:off x="10184032" y="1873061"/>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Z</a:t>
            </a:r>
          </a:p>
        </p:txBody>
      </p:sp>
      <p:sp>
        <p:nvSpPr>
          <p:cNvPr id="85" name="TextBox 84">
            <a:extLst>
              <a:ext uri="{FF2B5EF4-FFF2-40B4-BE49-F238E27FC236}">
                <a16:creationId xmlns:a16="http://schemas.microsoft.com/office/drawing/2014/main" id="{D0F36D53-F16E-9E07-865A-3EAD8453B0D0}"/>
              </a:ext>
            </a:extLst>
          </p:cNvPr>
          <p:cNvSpPr txBox="1"/>
          <p:nvPr/>
        </p:nvSpPr>
        <p:spPr>
          <a:xfrm>
            <a:off x="9847263" y="1873061"/>
            <a:ext cx="338554"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Y</a:t>
            </a:r>
          </a:p>
        </p:txBody>
      </p:sp>
    </p:spTree>
    <p:extLst>
      <p:ext uri="{BB962C8B-B14F-4D97-AF65-F5344CB8AC3E}">
        <p14:creationId xmlns:p14="http://schemas.microsoft.com/office/powerpoint/2010/main" val="269818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22C3-F583-BF77-2450-11AFE2621D30}"/>
              </a:ext>
            </a:extLst>
          </p:cNvPr>
          <p:cNvSpPr>
            <a:spLocks noGrp="1"/>
          </p:cNvSpPr>
          <p:nvPr>
            <p:ph type="title"/>
          </p:nvPr>
        </p:nvSpPr>
        <p:spPr>
          <a:xfrm>
            <a:off x="514713" y="142977"/>
            <a:ext cx="11053173" cy="1325563"/>
          </a:xfrm>
        </p:spPr>
        <p:txBody>
          <a:bodyPr>
            <a:normAutofit/>
          </a:bodyPr>
          <a:lstStyle/>
          <a:p>
            <a:r>
              <a:rPr lang="en-US" sz="4000" dirty="0"/>
              <a:t>(Beyond the task) </a:t>
            </a:r>
            <a:br>
              <a:rPr lang="en-US" sz="4000" dirty="0"/>
            </a:br>
            <a:r>
              <a:rPr lang="en-US" sz="4000" dirty="0"/>
              <a:t>Older adults prototype rather than generalize</a:t>
            </a:r>
          </a:p>
        </p:txBody>
      </p:sp>
      <p:sp>
        <p:nvSpPr>
          <p:cNvPr id="3" name="Content Placeholder 2">
            <a:extLst>
              <a:ext uri="{FF2B5EF4-FFF2-40B4-BE49-F238E27FC236}">
                <a16:creationId xmlns:a16="http://schemas.microsoft.com/office/drawing/2014/main" id="{20DB8345-CF6A-C2AB-94BA-1A4AE2D2E46B}"/>
              </a:ext>
            </a:extLst>
          </p:cNvPr>
          <p:cNvSpPr>
            <a:spLocks noGrp="1"/>
          </p:cNvSpPr>
          <p:nvPr>
            <p:ph idx="1"/>
          </p:nvPr>
        </p:nvSpPr>
        <p:spPr>
          <a:xfrm>
            <a:off x="514713" y="1623321"/>
            <a:ext cx="4790678" cy="2065811"/>
          </a:xfrm>
        </p:spPr>
        <p:txBody>
          <a:bodyPr>
            <a:normAutofit/>
          </a:bodyPr>
          <a:lstStyle/>
          <a:p>
            <a:r>
              <a:rPr lang="en-US" i="1" dirty="0"/>
              <a:t>Prototyping</a:t>
            </a:r>
            <a:r>
              <a:rPr lang="en-US" dirty="0"/>
              <a:t> = link stimuli to a previous similar “prototypical” stimulus</a:t>
            </a:r>
          </a:p>
        </p:txBody>
      </p:sp>
      <p:sp>
        <p:nvSpPr>
          <p:cNvPr id="4" name="Oval 3">
            <a:extLst>
              <a:ext uri="{FF2B5EF4-FFF2-40B4-BE49-F238E27FC236}">
                <a16:creationId xmlns:a16="http://schemas.microsoft.com/office/drawing/2014/main" id="{560AA76F-12E0-9B5C-35A7-E6E8EA1094B7}"/>
              </a:ext>
            </a:extLst>
          </p:cNvPr>
          <p:cNvSpPr/>
          <p:nvPr/>
        </p:nvSpPr>
        <p:spPr>
          <a:xfrm>
            <a:off x="2928308" y="4876698"/>
            <a:ext cx="323850" cy="323850"/>
          </a:xfrm>
          <a:prstGeom prst="ellipse">
            <a:avLst/>
          </a:prstGeom>
          <a:solidFill>
            <a:srgbClr val="FF0000"/>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A5430B2B-2DD5-EEE6-6847-852506D6858E}"/>
              </a:ext>
            </a:extLst>
          </p:cNvPr>
          <p:cNvSpPr/>
          <p:nvPr/>
        </p:nvSpPr>
        <p:spPr>
          <a:xfrm>
            <a:off x="3785558" y="4876698"/>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C7AFF95E-6A3F-CB36-7A75-AEA58DC1B26D}"/>
              </a:ext>
            </a:extLst>
          </p:cNvPr>
          <p:cNvSpPr/>
          <p:nvPr/>
        </p:nvSpPr>
        <p:spPr>
          <a:xfrm>
            <a:off x="2928308" y="5720455"/>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7F8E08E-C0E1-81D7-939E-57AAB82954EA}"/>
              </a:ext>
            </a:extLst>
          </p:cNvPr>
          <p:cNvSpPr/>
          <p:nvPr/>
        </p:nvSpPr>
        <p:spPr>
          <a:xfrm>
            <a:off x="2071058" y="4876698"/>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98FDF158-64A6-9669-501B-3ADD66A32264}"/>
              </a:ext>
            </a:extLst>
          </p:cNvPr>
          <p:cNvSpPr/>
          <p:nvPr/>
        </p:nvSpPr>
        <p:spPr>
          <a:xfrm>
            <a:off x="2928308" y="4038498"/>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4A56725E-D96E-7F5F-73B4-EA3470F0F50A}"/>
              </a:ext>
            </a:extLst>
          </p:cNvPr>
          <p:cNvCxnSpPr>
            <a:stCxn id="8" idx="4"/>
            <a:endCxn id="4" idx="0"/>
          </p:cNvCxnSpPr>
          <p:nvPr/>
        </p:nvCxnSpPr>
        <p:spPr>
          <a:xfrm>
            <a:off x="3090233" y="4362348"/>
            <a:ext cx="0" cy="514350"/>
          </a:xfrm>
          <a:prstGeom prst="line">
            <a:avLst/>
          </a:prstGeom>
          <a:ln w="1270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E33AB7A-28B5-0F0F-F41B-0BBDA8BAA4A4}"/>
              </a:ext>
            </a:extLst>
          </p:cNvPr>
          <p:cNvCxnSpPr>
            <a:cxnSpLocks/>
            <a:stCxn id="5" idx="2"/>
            <a:endCxn id="4" idx="6"/>
          </p:cNvCxnSpPr>
          <p:nvPr/>
        </p:nvCxnSpPr>
        <p:spPr>
          <a:xfrm flipH="1">
            <a:off x="3252158" y="5038623"/>
            <a:ext cx="533400" cy="0"/>
          </a:xfrm>
          <a:prstGeom prst="line">
            <a:avLst/>
          </a:prstGeom>
          <a:ln w="1270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58D9173-BE1D-FE81-5C8A-2108C02B40B5}"/>
              </a:ext>
            </a:extLst>
          </p:cNvPr>
          <p:cNvCxnSpPr>
            <a:cxnSpLocks/>
            <a:stCxn id="4" idx="2"/>
            <a:endCxn id="7" idx="6"/>
          </p:cNvCxnSpPr>
          <p:nvPr/>
        </p:nvCxnSpPr>
        <p:spPr>
          <a:xfrm flipH="1">
            <a:off x="2394908" y="5038623"/>
            <a:ext cx="533400" cy="0"/>
          </a:xfrm>
          <a:prstGeom prst="line">
            <a:avLst/>
          </a:prstGeom>
          <a:ln w="1270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AE00385-7B99-C91B-3639-B3CC96545AC2}"/>
              </a:ext>
            </a:extLst>
          </p:cNvPr>
          <p:cNvCxnSpPr>
            <a:cxnSpLocks/>
            <a:stCxn id="4" idx="4"/>
            <a:endCxn id="6" idx="0"/>
          </p:cNvCxnSpPr>
          <p:nvPr/>
        </p:nvCxnSpPr>
        <p:spPr>
          <a:xfrm>
            <a:off x="3090233" y="5200548"/>
            <a:ext cx="0" cy="519907"/>
          </a:xfrm>
          <a:prstGeom prst="line">
            <a:avLst/>
          </a:prstGeom>
          <a:ln w="1270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B1BA51E1-2FE7-42F1-EF00-C4EB494EAA1C}"/>
              </a:ext>
            </a:extLst>
          </p:cNvPr>
          <p:cNvSpPr/>
          <p:nvPr/>
        </p:nvSpPr>
        <p:spPr>
          <a:xfrm>
            <a:off x="9966190" y="4808991"/>
            <a:ext cx="323850" cy="32385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DB05FDE2-2A45-CF35-46EA-8E17C03246A7}"/>
              </a:ext>
            </a:extLst>
          </p:cNvPr>
          <p:cNvSpPr/>
          <p:nvPr/>
        </p:nvSpPr>
        <p:spPr>
          <a:xfrm>
            <a:off x="8651739" y="5706485"/>
            <a:ext cx="323850" cy="32385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270C5FB1-826B-D5A3-8E75-CCBAE2A45E43}"/>
              </a:ext>
            </a:extLst>
          </p:cNvPr>
          <p:cNvSpPr/>
          <p:nvPr/>
        </p:nvSpPr>
        <p:spPr>
          <a:xfrm>
            <a:off x="8332652" y="4808991"/>
            <a:ext cx="323850" cy="32385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07A143C3-3E5D-442E-2618-C6B0214BC815}"/>
              </a:ext>
            </a:extLst>
          </p:cNvPr>
          <p:cNvSpPr/>
          <p:nvPr/>
        </p:nvSpPr>
        <p:spPr>
          <a:xfrm>
            <a:off x="9642340" y="5706485"/>
            <a:ext cx="323850" cy="32385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9A4740C0-CFFD-1208-DC36-283E29289561}"/>
              </a:ext>
            </a:extLst>
          </p:cNvPr>
          <p:cNvSpPr txBox="1"/>
          <p:nvPr/>
        </p:nvSpPr>
        <p:spPr>
          <a:xfrm>
            <a:off x="4501874" y="4735747"/>
            <a:ext cx="3343967" cy="369332"/>
          </a:xfrm>
          <a:prstGeom prst="rect">
            <a:avLst/>
          </a:prstGeom>
          <a:noFill/>
        </p:spPr>
        <p:txBody>
          <a:bodyPr wrap="square" rtlCol="0">
            <a:spAutoFit/>
          </a:bodyPr>
          <a:lstStyle/>
          <a:p>
            <a:pPr algn="ctr"/>
            <a:r>
              <a:rPr lang="en-US" dirty="0">
                <a:solidFill>
                  <a:srgbClr val="FF0000"/>
                </a:solidFill>
                <a:latin typeface="Arial" panose="020B0604020202020204" pitchFamily="34" charset="0"/>
                <a:cs typeface="Arial" panose="020B0604020202020204" pitchFamily="34" charset="0"/>
              </a:rPr>
              <a:t>Red = first stimulus presented</a:t>
            </a:r>
          </a:p>
        </p:txBody>
      </p:sp>
      <p:cxnSp>
        <p:nvCxnSpPr>
          <p:cNvPr id="43" name="Straight Connector 42">
            <a:extLst>
              <a:ext uri="{FF2B5EF4-FFF2-40B4-BE49-F238E27FC236}">
                <a16:creationId xmlns:a16="http://schemas.microsoft.com/office/drawing/2014/main" id="{4A3DCB2C-3AA2-C4FC-EA8E-7653A4D11D6A}"/>
              </a:ext>
            </a:extLst>
          </p:cNvPr>
          <p:cNvCxnSpPr>
            <a:cxnSpLocks/>
          </p:cNvCxnSpPr>
          <p:nvPr/>
        </p:nvCxnSpPr>
        <p:spPr>
          <a:xfrm flipH="1">
            <a:off x="8494577" y="4368460"/>
            <a:ext cx="766762" cy="602456"/>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7B19E9CA-9419-89B0-1622-B2F5A8270E93}"/>
              </a:ext>
            </a:extLst>
          </p:cNvPr>
          <p:cNvCxnSpPr>
            <a:cxnSpLocks/>
          </p:cNvCxnSpPr>
          <p:nvPr/>
        </p:nvCxnSpPr>
        <p:spPr>
          <a:xfrm>
            <a:off x="9296463" y="4330596"/>
            <a:ext cx="831652" cy="647464"/>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CBB28748-1BE6-0707-0748-500C91B5665A}"/>
              </a:ext>
            </a:extLst>
          </p:cNvPr>
          <p:cNvCxnSpPr>
            <a:cxnSpLocks/>
          </p:cNvCxnSpPr>
          <p:nvPr/>
        </p:nvCxnSpPr>
        <p:spPr>
          <a:xfrm>
            <a:off x="8485053" y="4970916"/>
            <a:ext cx="328611" cy="917576"/>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1268FC1-3684-C7AC-5900-B897E53D511C}"/>
              </a:ext>
            </a:extLst>
          </p:cNvPr>
          <p:cNvCxnSpPr>
            <a:cxnSpLocks/>
          </p:cNvCxnSpPr>
          <p:nvPr/>
        </p:nvCxnSpPr>
        <p:spPr>
          <a:xfrm flipH="1">
            <a:off x="9804265" y="4933372"/>
            <a:ext cx="321469" cy="935038"/>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DE943AF2-7D15-791B-3284-95898DF339F6}"/>
              </a:ext>
            </a:extLst>
          </p:cNvPr>
          <p:cNvCxnSpPr>
            <a:cxnSpLocks/>
            <a:stCxn id="24" idx="6"/>
            <a:endCxn id="26" idx="2"/>
          </p:cNvCxnSpPr>
          <p:nvPr/>
        </p:nvCxnSpPr>
        <p:spPr>
          <a:xfrm>
            <a:off x="8975589" y="5868410"/>
            <a:ext cx="666751" cy="0"/>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2D1044BD-5631-4726-D7E7-DB030A7802CD}"/>
              </a:ext>
            </a:extLst>
          </p:cNvPr>
          <p:cNvCxnSpPr>
            <a:cxnSpLocks/>
          </p:cNvCxnSpPr>
          <p:nvPr/>
        </p:nvCxnSpPr>
        <p:spPr>
          <a:xfrm>
            <a:off x="9285152" y="4217647"/>
            <a:ext cx="516732" cy="1670845"/>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8967B1C-1F8F-BB67-DF92-EB0F6C426BB8}"/>
              </a:ext>
            </a:extLst>
          </p:cNvPr>
          <p:cNvCxnSpPr>
            <a:cxnSpLocks/>
          </p:cNvCxnSpPr>
          <p:nvPr/>
        </p:nvCxnSpPr>
        <p:spPr>
          <a:xfrm flipH="1">
            <a:off x="8844025" y="4220028"/>
            <a:ext cx="431603" cy="1668464"/>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DF80DF87-AA54-0AFE-9745-1D1C092AF1B0}"/>
              </a:ext>
            </a:extLst>
          </p:cNvPr>
          <p:cNvCxnSpPr>
            <a:cxnSpLocks/>
            <a:endCxn id="23" idx="2"/>
          </p:cNvCxnSpPr>
          <p:nvPr/>
        </p:nvCxnSpPr>
        <p:spPr>
          <a:xfrm>
            <a:off x="8494577" y="4970916"/>
            <a:ext cx="1471613" cy="0"/>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4814046D-EFAF-197C-DBF8-94DB575D6DAD}"/>
              </a:ext>
            </a:extLst>
          </p:cNvPr>
          <p:cNvCxnSpPr>
            <a:cxnSpLocks/>
          </p:cNvCxnSpPr>
          <p:nvPr/>
        </p:nvCxnSpPr>
        <p:spPr>
          <a:xfrm>
            <a:off x="8494576" y="4978060"/>
            <a:ext cx="1316832" cy="883206"/>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9A92D04E-757F-6E6F-3DAE-44A9DC4916B0}"/>
              </a:ext>
            </a:extLst>
          </p:cNvPr>
          <p:cNvCxnSpPr>
            <a:cxnSpLocks/>
          </p:cNvCxnSpPr>
          <p:nvPr/>
        </p:nvCxnSpPr>
        <p:spPr>
          <a:xfrm flipV="1">
            <a:off x="8808903" y="4970916"/>
            <a:ext cx="1316831" cy="890350"/>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691D4A58-324F-8BEB-C0B3-373A37098E77}"/>
              </a:ext>
            </a:extLst>
          </p:cNvPr>
          <p:cNvSpPr/>
          <p:nvPr/>
        </p:nvSpPr>
        <p:spPr>
          <a:xfrm>
            <a:off x="9120846" y="4194071"/>
            <a:ext cx="323850" cy="323850"/>
          </a:xfrm>
          <a:prstGeom prst="ellipse">
            <a:avLst/>
          </a:prstGeom>
          <a:solidFill>
            <a:srgbClr val="FF0000"/>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Content Placeholder 2">
            <a:extLst>
              <a:ext uri="{FF2B5EF4-FFF2-40B4-BE49-F238E27FC236}">
                <a16:creationId xmlns:a16="http://schemas.microsoft.com/office/drawing/2014/main" id="{25B69ABD-169E-1AAD-8FE4-3582E5292F64}"/>
              </a:ext>
            </a:extLst>
          </p:cNvPr>
          <p:cNvSpPr txBox="1">
            <a:spLocks/>
          </p:cNvSpPr>
          <p:nvPr/>
        </p:nvSpPr>
        <p:spPr>
          <a:xfrm>
            <a:off x="7171808" y="1623321"/>
            <a:ext cx="4790678" cy="20658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i="1" dirty="0"/>
              <a:t>Generalization</a:t>
            </a:r>
            <a:r>
              <a:rPr lang="en-US" dirty="0"/>
              <a:t> = identifying patterns common across multiple stimuli</a:t>
            </a:r>
          </a:p>
        </p:txBody>
      </p:sp>
      <p:sp>
        <p:nvSpPr>
          <p:cNvPr id="86" name="Content Placeholder 2">
            <a:extLst>
              <a:ext uri="{FF2B5EF4-FFF2-40B4-BE49-F238E27FC236}">
                <a16:creationId xmlns:a16="http://schemas.microsoft.com/office/drawing/2014/main" id="{A87C50B1-363B-2E76-CA36-AB9E083D39E6}"/>
              </a:ext>
            </a:extLst>
          </p:cNvPr>
          <p:cNvSpPr txBox="1">
            <a:spLocks/>
          </p:cNvSpPr>
          <p:nvPr/>
        </p:nvSpPr>
        <p:spPr>
          <a:xfrm>
            <a:off x="496457" y="2958717"/>
            <a:ext cx="4808934" cy="90229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May reflect past knowledge influencing encoding</a:t>
            </a:r>
          </a:p>
        </p:txBody>
      </p:sp>
      <p:sp>
        <p:nvSpPr>
          <p:cNvPr id="104" name="Content Placeholder 2">
            <a:extLst>
              <a:ext uri="{FF2B5EF4-FFF2-40B4-BE49-F238E27FC236}">
                <a16:creationId xmlns:a16="http://schemas.microsoft.com/office/drawing/2014/main" id="{907E7BC7-E67C-516E-8D16-F0A2529C4C29}"/>
              </a:ext>
            </a:extLst>
          </p:cNvPr>
          <p:cNvSpPr txBox="1">
            <a:spLocks/>
          </p:cNvSpPr>
          <p:nvPr/>
        </p:nvSpPr>
        <p:spPr>
          <a:xfrm>
            <a:off x="3090233" y="6209938"/>
            <a:ext cx="6623759" cy="5050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Wingdings" panose="05000000000000000000" pitchFamily="2" charset="2"/>
              <a:buChar char="v"/>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Testable behaviorally and via fMRI</a:t>
            </a:r>
          </a:p>
        </p:txBody>
      </p:sp>
    </p:spTree>
    <p:extLst>
      <p:ext uri="{BB962C8B-B14F-4D97-AF65-F5344CB8AC3E}">
        <p14:creationId xmlns:p14="http://schemas.microsoft.com/office/powerpoint/2010/main" val="900971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F125C-B673-982D-DD9A-F86DB2C74097}"/>
              </a:ext>
            </a:extLst>
          </p:cNvPr>
          <p:cNvSpPr>
            <a:spLocks noGrp="1"/>
          </p:cNvSpPr>
          <p:nvPr>
            <p:ph type="title"/>
          </p:nvPr>
        </p:nvSpPr>
        <p:spPr>
          <a:xfrm>
            <a:off x="838200" y="111125"/>
            <a:ext cx="10515600" cy="1325563"/>
          </a:xfrm>
        </p:spPr>
        <p:txBody>
          <a:bodyPr/>
          <a:lstStyle/>
          <a:p>
            <a:r>
              <a:rPr lang="en-US" dirty="0"/>
              <a:t>Analyzing generalizing and prototyping</a:t>
            </a:r>
          </a:p>
        </p:txBody>
      </p:sp>
      <p:sp>
        <p:nvSpPr>
          <p:cNvPr id="3" name="Content Placeholder 2">
            <a:extLst>
              <a:ext uri="{FF2B5EF4-FFF2-40B4-BE49-F238E27FC236}">
                <a16:creationId xmlns:a16="http://schemas.microsoft.com/office/drawing/2014/main" id="{9E498769-61E6-A918-3D54-08726A4D2C1E}"/>
              </a:ext>
            </a:extLst>
          </p:cNvPr>
          <p:cNvSpPr>
            <a:spLocks noGrp="1"/>
          </p:cNvSpPr>
          <p:nvPr>
            <p:ph idx="1"/>
          </p:nvPr>
        </p:nvSpPr>
        <p:spPr>
          <a:xfrm>
            <a:off x="838200" y="1474788"/>
            <a:ext cx="10515600" cy="2259705"/>
          </a:xfrm>
        </p:spPr>
        <p:txBody>
          <a:bodyPr>
            <a:normAutofit/>
          </a:bodyPr>
          <a:lstStyle/>
          <a:p>
            <a:r>
              <a:rPr lang="en-US" dirty="0"/>
              <a:t>5-stimulus group (u, v, w, x, y)</a:t>
            </a:r>
          </a:p>
          <a:p>
            <a:r>
              <a:rPr lang="en-US" dirty="0"/>
              <a:t>During some experiment phase:</a:t>
            </a:r>
          </a:p>
          <a:p>
            <a:pPr lvl="1"/>
            <a:r>
              <a:rPr lang="en-US" dirty="0"/>
              <a:t>Measure pairwise correlations among </a:t>
            </a:r>
            <a:r>
              <a:rPr lang="en-US" b="1" dirty="0">
                <a:latin typeface="Times New Roman" panose="02020603050405020304" pitchFamily="18" charset="0"/>
                <a:cs typeface="Times New Roman" panose="02020603050405020304" pitchFamily="18" charset="0"/>
              </a:rPr>
              <a:t>u</a:t>
            </a:r>
            <a:r>
              <a:rPr lang="en-US" dirty="0"/>
              <a:t>,</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a:t>
            </a:r>
            <a:r>
              <a:rPr lang="en-US" dirty="0"/>
              <a:t>,</a:t>
            </a:r>
            <a:r>
              <a:rPr lang="en-US" b="1" dirty="0">
                <a:latin typeface="Times New Roman" panose="02020603050405020304" pitchFamily="18" charset="0"/>
                <a:cs typeface="Times New Roman" panose="02020603050405020304" pitchFamily="18" charset="0"/>
              </a:rPr>
              <a:t> w</a:t>
            </a:r>
            <a:r>
              <a:rPr lang="en-US" dirty="0"/>
              <a:t>,</a:t>
            </a:r>
            <a:r>
              <a:rPr lang="en-US" b="1" dirty="0">
                <a:latin typeface="Times New Roman" panose="02020603050405020304" pitchFamily="18" charset="0"/>
                <a:cs typeface="Times New Roman" panose="02020603050405020304" pitchFamily="18" charset="0"/>
              </a:rPr>
              <a:t> x</a:t>
            </a:r>
            <a:r>
              <a:rPr lang="en-US" dirty="0"/>
              <a:t>, and</a:t>
            </a:r>
            <a:r>
              <a:rPr lang="en-US" b="1" dirty="0">
                <a:latin typeface="Times New Roman" panose="02020603050405020304" pitchFamily="18" charset="0"/>
                <a:cs typeface="Times New Roman" panose="02020603050405020304" pitchFamily="18" charset="0"/>
              </a:rPr>
              <a:t> y</a:t>
            </a:r>
          </a:p>
          <a:p>
            <a:pPr lvl="1"/>
            <a:r>
              <a:rPr lang="en-US" dirty="0"/>
              <a:t>Examine whether the correlations are more consistent with the diagram on the left vs. right </a:t>
            </a:r>
          </a:p>
        </p:txBody>
      </p:sp>
      <p:sp>
        <p:nvSpPr>
          <p:cNvPr id="58" name="Oval 57">
            <a:extLst>
              <a:ext uri="{FF2B5EF4-FFF2-40B4-BE49-F238E27FC236}">
                <a16:creationId xmlns:a16="http://schemas.microsoft.com/office/drawing/2014/main" id="{EC65C6F7-DB57-D3EF-87C6-3487973EC713}"/>
              </a:ext>
            </a:extLst>
          </p:cNvPr>
          <p:cNvSpPr/>
          <p:nvPr/>
        </p:nvSpPr>
        <p:spPr>
          <a:xfrm>
            <a:off x="2966408" y="4863998"/>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BE75BD44-8CEB-99B8-7CCD-793D69A1935A}"/>
              </a:ext>
            </a:extLst>
          </p:cNvPr>
          <p:cNvSpPr/>
          <p:nvPr/>
        </p:nvSpPr>
        <p:spPr>
          <a:xfrm>
            <a:off x="3823658" y="4863998"/>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DC45F2BA-01B0-2931-0525-96EB1D7755AC}"/>
              </a:ext>
            </a:extLst>
          </p:cNvPr>
          <p:cNvSpPr/>
          <p:nvPr/>
        </p:nvSpPr>
        <p:spPr>
          <a:xfrm>
            <a:off x="2966408" y="5707755"/>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79E233D-BFE2-A289-47DF-11FC5ED85E55}"/>
              </a:ext>
            </a:extLst>
          </p:cNvPr>
          <p:cNvSpPr/>
          <p:nvPr/>
        </p:nvSpPr>
        <p:spPr>
          <a:xfrm>
            <a:off x="2109158" y="4863998"/>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05F6DFB9-A5BF-D5D2-1BB8-1D6FCB36A2B0}"/>
              </a:ext>
            </a:extLst>
          </p:cNvPr>
          <p:cNvSpPr/>
          <p:nvPr/>
        </p:nvSpPr>
        <p:spPr>
          <a:xfrm>
            <a:off x="2966408" y="4025798"/>
            <a:ext cx="323850" cy="323850"/>
          </a:xfrm>
          <a:prstGeom prst="ellipse">
            <a:avLst/>
          </a:prstGeom>
          <a:solidFill>
            <a:schemeClr val="tx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908CB9C4-F8B7-9C0F-C730-9663AFE76357}"/>
              </a:ext>
            </a:extLst>
          </p:cNvPr>
          <p:cNvCxnSpPr>
            <a:stCxn id="62" idx="4"/>
            <a:endCxn id="58" idx="0"/>
          </p:cNvCxnSpPr>
          <p:nvPr/>
        </p:nvCxnSpPr>
        <p:spPr>
          <a:xfrm>
            <a:off x="3128333" y="4349648"/>
            <a:ext cx="0" cy="514350"/>
          </a:xfrm>
          <a:prstGeom prst="line">
            <a:avLst/>
          </a:prstGeom>
          <a:ln w="1270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A61A38C-3516-99C2-516F-5B9BFC6B7CA6}"/>
              </a:ext>
            </a:extLst>
          </p:cNvPr>
          <p:cNvCxnSpPr>
            <a:cxnSpLocks/>
            <a:stCxn id="59" idx="2"/>
            <a:endCxn id="58" idx="6"/>
          </p:cNvCxnSpPr>
          <p:nvPr/>
        </p:nvCxnSpPr>
        <p:spPr>
          <a:xfrm flipH="1">
            <a:off x="3290258" y="5025923"/>
            <a:ext cx="533400" cy="0"/>
          </a:xfrm>
          <a:prstGeom prst="line">
            <a:avLst/>
          </a:prstGeom>
          <a:ln w="1270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CD38F946-12D8-AFA3-CFCF-5CDC56B95945}"/>
              </a:ext>
            </a:extLst>
          </p:cNvPr>
          <p:cNvCxnSpPr>
            <a:cxnSpLocks/>
            <a:stCxn id="58" idx="2"/>
            <a:endCxn id="61" idx="6"/>
          </p:cNvCxnSpPr>
          <p:nvPr/>
        </p:nvCxnSpPr>
        <p:spPr>
          <a:xfrm flipH="1">
            <a:off x="2433008" y="5025923"/>
            <a:ext cx="533400" cy="0"/>
          </a:xfrm>
          <a:prstGeom prst="line">
            <a:avLst/>
          </a:prstGeom>
          <a:ln w="1270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4C4AF690-7385-9367-BE36-AD46D9FAB915}"/>
              </a:ext>
            </a:extLst>
          </p:cNvPr>
          <p:cNvCxnSpPr>
            <a:cxnSpLocks/>
            <a:stCxn id="58" idx="4"/>
            <a:endCxn id="60" idx="0"/>
          </p:cNvCxnSpPr>
          <p:nvPr/>
        </p:nvCxnSpPr>
        <p:spPr>
          <a:xfrm>
            <a:off x="3128333" y="5187848"/>
            <a:ext cx="0" cy="519907"/>
          </a:xfrm>
          <a:prstGeom prst="line">
            <a:avLst/>
          </a:prstGeom>
          <a:ln w="127000">
            <a:solidFill>
              <a:schemeClr val="tx1"/>
            </a:solidFill>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53D65922-7944-FFFE-D1BB-3268FABF5404}"/>
              </a:ext>
            </a:extLst>
          </p:cNvPr>
          <p:cNvSpPr/>
          <p:nvPr/>
        </p:nvSpPr>
        <p:spPr>
          <a:xfrm>
            <a:off x="10004290" y="4796291"/>
            <a:ext cx="323850" cy="32385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69A02E6D-377E-00F6-3771-05612AB8F0A4}"/>
              </a:ext>
            </a:extLst>
          </p:cNvPr>
          <p:cNvSpPr/>
          <p:nvPr/>
        </p:nvSpPr>
        <p:spPr>
          <a:xfrm>
            <a:off x="8689839" y="5693785"/>
            <a:ext cx="323850" cy="32385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BDE8E9D6-5505-152D-9F41-8A5995058952}"/>
              </a:ext>
            </a:extLst>
          </p:cNvPr>
          <p:cNvSpPr/>
          <p:nvPr/>
        </p:nvSpPr>
        <p:spPr>
          <a:xfrm>
            <a:off x="8370752" y="4796291"/>
            <a:ext cx="323850" cy="32385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B1916BFD-E075-1AA1-E7F6-3A882F4750EB}"/>
              </a:ext>
            </a:extLst>
          </p:cNvPr>
          <p:cNvSpPr/>
          <p:nvPr/>
        </p:nvSpPr>
        <p:spPr>
          <a:xfrm>
            <a:off x="9680440" y="5693785"/>
            <a:ext cx="323850" cy="32385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Connector 71">
            <a:extLst>
              <a:ext uri="{FF2B5EF4-FFF2-40B4-BE49-F238E27FC236}">
                <a16:creationId xmlns:a16="http://schemas.microsoft.com/office/drawing/2014/main" id="{231F800B-F904-FF1D-4120-26A4F48611D5}"/>
              </a:ext>
            </a:extLst>
          </p:cNvPr>
          <p:cNvCxnSpPr>
            <a:cxnSpLocks/>
          </p:cNvCxnSpPr>
          <p:nvPr/>
        </p:nvCxnSpPr>
        <p:spPr>
          <a:xfrm flipH="1">
            <a:off x="8532677" y="4355760"/>
            <a:ext cx="766762" cy="602456"/>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0124F5BC-BD3B-F8C7-EA34-EEB96C4D2D00}"/>
              </a:ext>
            </a:extLst>
          </p:cNvPr>
          <p:cNvCxnSpPr>
            <a:cxnSpLocks/>
          </p:cNvCxnSpPr>
          <p:nvPr/>
        </p:nvCxnSpPr>
        <p:spPr>
          <a:xfrm>
            <a:off x="9334563" y="4317896"/>
            <a:ext cx="831652" cy="647464"/>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78D289F2-362C-531F-46BB-200CA4181D03}"/>
              </a:ext>
            </a:extLst>
          </p:cNvPr>
          <p:cNvCxnSpPr>
            <a:cxnSpLocks/>
          </p:cNvCxnSpPr>
          <p:nvPr/>
        </p:nvCxnSpPr>
        <p:spPr>
          <a:xfrm>
            <a:off x="8523153" y="4958216"/>
            <a:ext cx="328611" cy="917576"/>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966D4DBD-51FD-F917-DCE6-FB1954C4956B}"/>
              </a:ext>
            </a:extLst>
          </p:cNvPr>
          <p:cNvCxnSpPr>
            <a:cxnSpLocks/>
          </p:cNvCxnSpPr>
          <p:nvPr/>
        </p:nvCxnSpPr>
        <p:spPr>
          <a:xfrm flipH="1">
            <a:off x="9842365" y="4920672"/>
            <a:ext cx="321469" cy="935038"/>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E8C46C5A-69F7-989C-BA4A-E0E121F5F598}"/>
              </a:ext>
            </a:extLst>
          </p:cNvPr>
          <p:cNvCxnSpPr>
            <a:cxnSpLocks/>
            <a:stCxn id="68" idx="6"/>
            <a:endCxn id="70" idx="2"/>
          </p:cNvCxnSpPr>
          <p:nvPr/>
        </p:nvCxnSpPr>
        <p:spPr>
          <a:xfrm>
            <a:off x="9013689" y="5855710"/>
            <a:ext cx="666751" cy="0"/>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30E43EC6-1A0D-AA62-2A55-1CC007CCE005}"/>
              </a:ext>
            </a:extLst>
          </p:cNvPr>
          <p:cNvCxnSpPr>
            <a:cxnSpLocks/>
          </p:cNvCxnSpPr>
          <p:nvPr/>
        </p:nvCxnSpPr>
        <p:spPr>
          <a:xfrm>
            <a:off x="9323252" y="4204947"/>
            <a:ext cx="516732" cy="1670845"/>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B112E795-6DFF-E9E3-6CDB-118038306399}"/>
              </a:ext>
            </a:extLst>
          </p:cNvPr>
          <p:cNvCxnSpPr>
            <a:cxnSpLocks/>
          </p:cNvCxnSpPr>
          <p:nvPr/>
        </p:nvCxnSpPr>
        <p:spPr>
          <a:xfrm flipH="1">
            <a:off x="8882125" y="4207328"/>
            <a:ext cx="431603" cy="1668464"/>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F995EFC0-D308-ACEB-9FB9-7D1A0E27504B}"/>
              </a:ext>
            </a:extLst>
          </p:cNvPr>
          <p:cNvCxnSpPr>
            <a:cxnSpLocks/>
            <a:endCxn id="67" idx="2"/>
          </p:cNvCxnSpPr>
          <p:nvPr/>
        </p:nvCxnSpPr>
        <p:spPr>
          <a:xfrm>
            <a:off x="8532677" y="4958216"/>
            <a:ext cx="1471613" cy="0"/>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59F3EEEE-6BDC-DA56-066A-2052620B25DF}"/>
              </a:ext>
            </a:extLst>
          </p:cNvPr>
          <p:cNvCxnSpPr>
            <a:cxnSpLocks/>
          </p:cNvCxnSpPr>
          <p:nvPr/>
        </p:nvCxnSpPr>
        <p:spPr>
          <a:xfrm>
            <a:off x="8532676" y="4965360"/>
            <a:ext cx="1316832" cy="883206"/>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21F68361-7B17-7221-458F-D6D9427FD079}"/>
              </a:ext>
            </a:extLst>
          </p:cNvPr>
          <p:cNvCxnSpPr>
            <a:cxnSpLocks/>
          </p:cNvCxnSpPr>
          <p:nvPr/>
        </p:nvCxnSpPr>
        <p:spPr>
          <a:xfrm flipV="1">
            <a:off x="8847003" y="4958216"/>
            <a:ext cx="1316831" cy="890350"/>
          </a:xfrm>
          <a:prstGeom prst="line">
            <a:avLst/>
          </a:prstGeom>
          <a:ln w="4445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2" name="Oval 81">
            <a:extLst>
              <a:ext uri="{FF2B5EF4-FFF2-40B4-BE49-F238E27FC236}">
                <a16:creationId xmlns:a16="http://schemas.microsoft.com/office/drawing/2014/main" id="{F1CEFC69-AE25-4208-8BC1-433A56E6D797}"/>
              </a:ext>
            </a:extLst>
          </p:cNvPr>
          <p:cNvSpPr/>
          <p:nvPr/>
        </p:nvSpPr>
        <p:spPr>
          <a:xfrm>
            <a:off x="9158946" y="4181371"/>
            <a:ext cx="323850" cy="323850"/>
          </a:xfrm>
          <a:prstGeom prst="ellipse">
            <a:avLst/>
          </a:prstGeom>
          <a:solidFill>
            <a:schemeClr val="tx1"/>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977080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D0D50-3C30-58D7-BF9E-80E04F4669E4}"/>
              </a:ext>
            </a:extLst>
          </p:cNvPr>
          <p:cNvSpPr>
            <a:spLocks noGrp="1"/>
          </p:cNvSpPr>
          <p:nvPr>
            <p:ph type="title"/>
          </p:nvPr>
        </p:nvSpPr>
        <p:spPr>
          <a:xfrm>
            <a:off x="838200" y="102467"/>
            <a:ext cx="10515600" cy="1325563"/>
          </a:xfrm>
        </p:spPr>
        <p:txBody>
          <a:bodyPr/>
          <a:lstStyle/>
          <a:p>
            <a:r>
              <a:rPr lang="en-US" dirty="0">
                <a:solidFill>
                  <a:srgbClr val="002060"/>
                </a:solidFill>
              </a:rPr>
              <a:t>Task: Analogies and relations </a:t>
            </a:r>
            <a:br>
              <a:rPr lang="en-US" dirty="0">
                <a:solidFill>
                  <a:srgbClr val="002060"/>
                </a:solidFill>
              </a:rPr>
            </a:br>
            <a:r>
              <a:rPr lang="en-US" dirty="0">
                <a:solidFill>
                  <a:srgbClr val="002060"/>
                </a:solidFill>
              </a:rPr>
              <a:t>with meaning</a:t>
            </a:r>
          </a:p>
        </p:txBody>
      </p:sp>
      <p:sp>
        <p:nvSpPr>
          <p:cNvPr id="3" name="Content Placeholder 2">
            <a:extLst>
              <a:ext uri="{FF2B5EF4-FFF2-40B4-BE49-F238E27FC236}">
                <a16:creationId xmlns:a16="http://schemas.microsoft.com/office/drawing/2014/main" id="{016A002C-C9B0-4DE6-13F9-22A384759F48}"/>
              </a:ext>
            </a:extLst>
          </p:cNvPr>
          <p:cNvSpPr>
            <a:spLocks noGrp="1"/>
          </p:cNvSpPr>
          <p:nvPr>
            <p:ph idx="1"/>
          </p:nvPr>
        </p:nvSpPr>
        <p:spPr>
          <a:xfrm>
            <a:off x="1009615" y="3376441"/>
            <a:ext cx="10515600" cy="3481559"/>
          </a:xfrm>
        </p:spPr>
        <p:txBody>
          <a:bodyPr>
            <a:normAutofit lnSpcReduction="10000"/>
          </a:bodyPr>
          <a:lstStyle/>
          <a:p>
            <a:r>
              <a:rPr lang="en-US" dirty="0"/>
              <a:t>Difficult to probe analogies while avoiding confounds:</a:t>
            </a:r>
          </a:p>
          <a:p>
            <a:pPr lvl="1"/>
            <a:r>
              <a:rPr lang="en-US" dirty="0"/>
              <a:t>Encoding: </a:t>
            </a:r>
          </a:p>
          <a:p>
            <a:pPr lvl="2"/>
            <a:r>
              <a:rPr lang="en-US" dirty="0"/>
              <a:t>Oven-Cake :: Grill-Steak</a:t>
            </a:r>
          </a:p>
          <a:p>
            <a:pPr lvl="1"/>
            <a:r>
              <a:rPr lang="en-US" dirty="0"/>
              <a:t>Retrieval (different tests, similar problem): </a:t>
            </a:r>
          </a:p>
          <a:p>
            <a:pPr lvl="2"/>
            <a:r>
              <a:rPr lang="en-US" dirty="0"/>
              <a:t>Oven-?A?, Grill-?B?</a:t>
            </a:r>
          </a:p>
          <a:p>
            <a:pPr lvl="1"/>
            <a:r>
              <a:rPr lang="en-US" dirty="0"/>
              <a:t>Retrieval of ?A? = Cake and ?B? = Steak may elicit similar neural correlates simply due to overlapping features in terms of Cake and Steak (e.g., both edible)</a:t>
            </a:r>
          </a:p>
          <a:p>
            <a:pPr lvl="2"/>
            <a:r>
              <a:rPr lang="en-US" dirty="0"/>
              <a:t>To pinpoint relationship effect, subtract similarity between Cake &amp; Steak retrieved by non-analogies (e.g., Egg-Cake &amp; Cow-Steak)</a:t>
            </a:r>
          </a:p>
        </p:txBody>
      </p:sp>
      <p:sp>
        <p:nvSpPr>
          <p:cNvPr id="6" name="TextBox 5">
            <a:extLst>
              <a:ext uri="{FF2B5EF4-FFF2-40B4-BE49-F238E27FC236}">
                <a16:creationId xmlns:a16="http://schemas.microsoft.com/office/drawing/2014/main" id="{E134B397-FC18-F2A0-2D76-513DC148FD72}"/>
              </a:ext>
            </a:extLst>
          </p:cNvPr>
          <p:cNvSpPr txBox="1"/>
          <p:nvPr/>
        </p:nvSpPr>
        <p:spPr>
          <a:xfrm>
            <a:off x="3223953" y="2846182"/>
            <a:ext cx="645690" cy="369332"/>
          </a:xfrm>
          <a:prstGeom prst="rect">
            <a:avLst/>
          </a:prstGeom>
          <a:noFill/>
        </p:spPr>
        <p:txBody>
          <a:bodyPr wrap="none" rtlCol="0">
            <a:spAutoFit/>
          </a:bodyPr>
          <a:lstStyle/>
          <a:p>
            <a:r>
              <a:rPr lang="en-US" dirty="0"/>
              <a:t>Pizza</a:t>
            </a:r>
          </a:p>
        </p:txBody>
      </p:sp>
      <p:sp>
        <p:nvSpPr>
          <p:cNvPr id="7" name="TextBox 6">
            <a:extLst>
              <a:ext uri="{FF2B5EF4-FFF2-40B4-BE49-F238E27FC236}">
                <a16:creationId xmlns:a16="http://schemas.microsoft.com/office/drawing/2014/main" id="{21DBFD71-0D8B-D036-A2A8-E13C30C54AF4}"/>
              </a:ext>
            </a:extLst>
          </p:cNvPr>
          <p:cNvSpPr txBox="1"/>
          <p:nvPr/>
        </p:nvSpPr>
        <p:spPr>
          <a:xfrm>
            <a:off x="4134396" y="2846182"/>
            <a:ext cx="865943" cy="369332"/>
          </a:xfrm>
          <a:prstGeom prst="rect">
            <a:avLst/>
          </a:prstGeom>
          <a:noFill/>
        </p:spPr>
        <p:txBody>
          <a:bodyPr wrap="none" rtlCol="0">
            <a:spAutoFit/>
          </a:bodyPr>
          <a:lstStyle/>
          <a:p>
            <a:r>
              <a:rPr lang="en-US" dirty="0"/>
              <a:t>Cheese</a:t>
            </a:r>
          </a:p>
        </p:txBody>
      </p:sp>
      <p:sp>
        <p:nvSpPr>
          <p:cNvPr id="8" name="TextBox 7">
            <a:extLst>
              <a:ext uri="{FF2B5EF4-FFF2-40B4-BE49-F238E27FC236}">
                <a16:creationId xmlns:a16="http://schemas.microsoft.com/office/drawing/2014/main" id="{FD4333E7-8AB4-33DC-647B-9B3D7FEDF9CA}"/>
              </a:ext>
            </a:extLst>
          </p:cNvPr>
          <p:cNvSpPr txBox="1"/>
          <p:nvPr/>
        </p:nvSpPr>
        <p:spPr>
          <a:xfrm>
            <a:off x="7062556" y="1629824"/>
            <a:ext cx="630878" cy="369332"/>
          </a:xfrm>
          <a:prstGeom prst="rect">
            <a:avLst/>
          </a:prstGeom>
          <a:noFill/>
        </p:spPr>
        <p:txBody>
          <a:bodyPr wrap="none" rtlCol="0">
            <a:spAutoFit/>
          </a:bodyPr>
          <a:lstStyle/>
          <a:p>
            <a:r>
              <a:rPr lang="en-US" dirty="0"/>
              <a:t>Cake</a:t>
            </a:r>
          </a:p>
        </p:txBody>
      </p:sp>
      <p:sp>
        <p:nvSpPr>
          <p:cNvPr id="9" name="TextBox 8">
            <a:extLst>
              <a:ext uri="{FF2B5EF4-FFF2-40B4-BE49-F238E27FC236}">
                <a16:creationId xmlns:a16="http://schemas.microsoft.com/office/drawing/2014/main" id="{40F6AC58-EC01-F9F5-A1A8-29978D758968}"/>
              </a:ext>
            </a:extLst>
          </p:cNvPr>
          <p:cNvSpPr txBox="1"/>
          <p:nvPr/>
        </p:nvSpPr>
        <p:spPr>
          <a:xfrm>
            <a:off x="8105482" y="1620319"/>
            <a:ext cx="936603" cy="369332"/>
          </a:xfrm>
          <a:prstGeom prst="rect">
            <a:avLst/>
          </a:prstGeom>
          <a:noFill/>
        </p:spPr>
        <p:txBody>
          <a:bodyPr wrap="none" rtlCol="0">
            <a:spAutoFit/>
          </a:bodyPr>
          <a:lstStyle/>
          <a:p>
            <a:r>
              <a:rPr lang="en-US" dirty="0"/>
              <a:t>Frosting</a:t>
            </a:r>
          </a:p>
        </p:txBody>
      </p:sp>
      <p:sp>
        <p:nvSpPr>
          <p:cNvPr id="10" name="TextBox 9">
            <a:extLst>
              <a:ext uri="{FF2B5EF4-FFF2-40B4-BE49-F238E27FC236}">
                <a16:creationId xmlns:a16="http://schemas.microsoft.com/office/drawing/2014/main" id="{56076371-FA05-0ACB-40B4-D693C75D8113}"/>
              </a:ext>
            </a:extLst>
          </p:cNvPr>
          <p:cNvSpPr txBox="1"/>
          <p:nvPr/>
        </p:nvSpPr>
        <p:spPr>
          <a:xfrm>
            <a:off x="5333602" y="2846182"/>
            <a:ext cx="591829" cy="369332"/>
          </a:xfrm>
          <a:prstGeom prst="rect">
            <a:avLst/>
          </a:prstGeom>
          <a:noFill/>
        </p:spPr>
        <p:txBody>
          <a:bodyPr wrap="none" rtlCol="0">
            <a:spAutoFit/>
          </a:bodyPr>
          <a:lstStyle/>
          <a:p>
            <a:r>
              <a:rPr lang="en-US" dirty="0"/>
              <a:t>Milk</a:t>
            </a:r>
          </a:p>
        </p:txBody>
      </p:sp>
      <p:sp>
        <p:nvSpPr>
          <p:cNvPr id="11" name="TextBox 10">
            <a:extLst>
              <a:ext uri="{FF2B5EF4-FFF2-40B4-BE49-F238E27FC236}">
                <a16:creationId xmlns:a16="http://schemas.microsoft.com/office/drawing/2014/main" id="{F93EC82C-DA99-9A6E-B641-08E80D382541}"/>
              </a:ext>
            </a:extLst>
          </p:cNvPr>
          <p:cNvSpPr txBox="1"/>
          <p:nvPr/>
        </p:nvSpPr>
        <p:spPr>
          <a:xfrm>
            <a:off x="9406483" y="1620319"/>
            <a:ext cx="707758" cy="369332"/>
          </a:xfrm>
          <a:prstGeom prst="rect">
            <a:avLst/>
          </a:prstGeom>
          <a:noFill/>
        </p:spPr>
        <p:txBody>
          <a:bodyPr wrap="none" rtlCol="0">
            <a:spAutoFit/>
          </a:bodyPr>
          <a:lstStyle/>
          <a:p>
            <a:r>
              <a:rPr lang="en-US" dirty="0"/>
              <a:t>Sugar</a:t>
            </a:r>
          </a:p>
        </p:txBody>
      </p:sp>
      <p:sp>
        <p:nvSpPr>
          <p:cNvPr id="13" name="TextBox 12">
            <a:extLst>
              <a:ext uri="{FF2B5EF4-FFF2-40B4-BE49-F238E27FC236}">
                <a16:creationId xmlns:a16="http://schemas.microsoft.com/office/drawing/2014/main" id="{D3A78E9C-446F-7460-A434-599944470FEA}"/>
              </a:ext>
            </a:extLst>
          </p:cNvPr>
          <p:cNvSpPr txBox="1"/>
          <p:nvPr/>
        </p:nvSpPr>
        <p:spPr>
          <a:xfrm>
            <a:off x="6282405" y="2846182"/>
            <a:ext cx="594137" cy="369332"/>
          </a:xfrm>
          <a:prstGeom prst="rect">
            <a:avLst/>
          </a:prstGeom>
          <a:noFill/>
        </p:spPr>
        <p:txBody>
          <a:bodyPr wrap="none" rtlCol="0">
            <a:spAutoFit/>
          </a:bodyPr>
          <a:lstStyle/>
          <a:p>
            <a:r>
              <a:rPr lang="en-US" dirty="0"/>
              <a:t>Cow</a:t>
            </a:r>
          </a:p>
        </p:txBody>
      </p:sp>
      <p:sp>
        <p:nvSpPr>
          <p:cNvPr id="14" name="TextBox 13">
            <a:extLst>
              <a:ext uri="{FF2B5EF4-FFF2-40B4-BE49-F238E27FC236}">
                <a16:creationId xmlns:a16="http://schemas.microsoft.com/office/drawing/2014/main" id="{01A1B981-5C5E-04BA-4A23-EE24D443C6C6}"/>
              </a:ext>
            </a:extLst>
          </p:cNvPr>
          <p:cNvSpPr txBox="1"/>
          <p:nvPr/>
        </p:nvSpPr>
        <p:spPr>
          <a:xfrm>
            <a:off x="6133507" y="1629824"/>
            <a:ext cx="517001" cy="369332"/>
          </a:xfrm>
          <a:prstGeom prst="rect">
            <a:avLst/>
          </a:prstGeom>
          <a:noFill/>
        </p:spPr>
        <p:txBody>
          <a:bodyPr wrap="none" rtlCol="0">
            <a:spAutoFit/>
          </a:bodyPr>
          <a:lstStyle/>
          <a:p>
            <a:r>
              <a:rPr lang="en-US" dirty="0"/>
              <a:t>Egg</a:t>
            </a:r>
          </a:p>
        </p:txBody>
      </p:sp>
      <p:sp>
        <p:nvSpPr>
          <p:cNvPr id="15" name="TextBox 14">
            <a:extLst>
              <a:ext uri="{FF2B5EF4-FFF2-40B4-BE49-F238E27FC236}">
                <a16:creationId xmlns:a16="http://schemas.microsoft.com/office/drawing/2014/main" id="{412BEAA5-6745-BC50-2762-C96551ECBB42}"/>
              </a:ext>
            </a:extLst>
          </p:cNvPr>
          <p:cNvSpPr txBox="1"/>
          <p:nvPr/>
        </p:nvSpPr>
        <p:spPr>
          <a:xfrm>
            <a:off x="4846946" y="1629824"/>
            <a:ext cx="914609" cy="369332"/>
          </a:xfrm>
          <a:prstGeom prst="rect">
            <a:avLst/>
          </a:prstGeom>
          <a:noFill/>
        </p:spPr>
        <p:txBody>
          <a:bodyPr wrap="none" rtlCol="0">
            <a:spAutoFit/>
          </a:bodyPr>
          <a:lstStyle/>
          <a:p>
            <a:r>
              <a:rPr lang="en-US" dirty="0"/>
              <a:t>Chicken</a:t>
            </a:r>
          </a:p>
        </p:txBody>
      </p:sp>
      <p:cxnSp>
        <p:nvCxnSpPr>
          <p:cNvPr id="17" name="Straight Connector 16">
            <a:extLst>
              <a:ext uri="{FF2B5EF4-FFF2-40B4-BE49-F238E27FC236}">
                <a16:creationId xmlns:a16="http://schemas.microsoft.com/office/drawing/2014/main" id="{4151EF59-133E-9D80-FB68-F4BB6B150E00}"/>
              </a:ext>
            </a:extLst>
          </p:cNvPr>
          <p:cNvCxnSpPr>
            <a:cxnSpLocks/>
            <a:stCxn id="6" idx="3"/>
            <a:endCxn id="7" idx="1"/>
          </p:cNvCxnSpPr>
          <p:nvPr/>
        </p:nvCxnSpPr>
        <p:spPr>
          <a:xfrm>
            <a:off x="3869643" y="3030848"/>
            <a:ext cx="26475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B2F7309-AF4A-28E8-9D92-52FA21FD2C2A}"/>
              </a:ext>
            </a:extLst>
          </p:cNvPr>
          <p:cNvCxnSpPr>
            <a:cxnSpLocks/>
            <a:stCxn id="10" idx="1"/>
            <a:endCxn id="7" idx="3"/>
          </p:cNvCxnSpPr>
          <p:nvPr/>
        </p:nvCxnSpPr>
        <p:spPr>
          <a:xfrm flipH="1">
            <a:off x="5000339" y="3030848"/>
            <a:ext cx="33326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253D158-20EB-0F32-7BE0-91849CC32BC2}"/>
              </a:ext>
            </a:extLst>
          </p:cNvPr>
          <p:cNvCxnSpPr>
            <a:cxnSpLocks/>
            <a:stCxn id="13" idx="1"/>
            <a:endCxn id="10" idx="3"/>
          </p:cNvCxnSpPr>
          <p:nvPr/>
        </p:nvCxnSpPr>
        <p:spPr>
          <a:xfrm flipH="1">
            <a:off x="5925431" y="3030848"/>
            <a:ext cx="35697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BA36259-075B-CD94-3403-771A0EFF30CE}"/>
              </a:ext>
            </a:extLst>
          </p:cNvPr>
          <p:cNvCxnSpPr>
            <a:cxnSpLocks/>
            <a:stCxn id="8" idx="1"/>
            <a:endCxn id="14" idx="3"/>
          </p:cNvCxnSpPr>
          <p:nvPr/>
        </p:nvCxnSpPr>
        <p:spPr>
          <a:xfrm flipH="1">
            <a:off x="6650508" y="1814490"/>
            <a:ext cx="412048"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FCF913B-FB7B-248D-4DC1-9C4050B1716C}"/>
              </a:ext>
            </a:extLst>
          </p:cNvPr>
          <p:cNvCxnSpPr>
            <a:cxnSpLocks/>
            <a:stCxn id="9" idx="1"/>
            <a:endCxn id="8" idx="3"/>
          </p:cNvCxnSpPr>
          <p:nvPr/>
        </p:nvCxnSpPr>
        <p:spPr>
          <a:xfrm flipH="1">
            <a:off x="7693434" y="1804985"/>
            <a:ext cx="412048" cy="950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9A1DCB95-B004-9738-AC94-B97E9D7D60EB}"/>
              </a:ext>
            </a:extLst>
          </p:cNvPr>
          <p:cNvCxnSpPr>
            <a:cxnSpLocks/>
            <a:stCxn id="15" idx="3"/>
            <a:endCxn id="14" idx="1"/>
          </p:cNvCxnSpPr>
          <p:nvPr/>
        </p:nvCxnSpPr>
        <p:spPr>
          <a:xfrm>
            <a:off x="5761555" y="1814490"/>
            <a:ext cx="37195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4570F8A-CFC6-D0D5-D404-97BFBEE0CAE5}"/>
              </a:ext>
            </a:extLst>
          </p:cNvPr>
          <p:cNvCxnSpPr>
            <a:cxnSpLocks/>
            <a:stCxn id="9" idx="3"/>
            <a:endCxn id="11" idx="1"/>
          </p:cNvCxnSpPr>
          <p:nvPr/>
        </p:nvCxnSpPr>
        <p:spPr>
          <a:xfrm>
            <a:off x="9042085" y="1804985"/>
            <a:ext cx="364398"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034F8460-D231-9241-2E72-7637BAF31AA1}"/>
              </a:ext>
            </a:extLst>
          </p:cNvPr>
          <p:cNvSpPr txBox="1"/>
          <p:nvPr/>
        </p:nvSpPr>
        <p:spPr>
          <a:xfrm>
            <a:off x="7061737" y="2846182"/>
            <a:ext cx="695127" cy="369332"/>
          </a:xfrm>
          <a:prstGeom prst="rect">
            <a:avLst/>
          </a:prstGeom>
          <a:noFill/>
        </p:spPr>
        <p:txBody>
          <a:bodyPr wrap="none" rtlCol="0">
            <a:spAutoFit/>
          </a:bodyPr>
          <a:lstStyle/>
          <a:p>
            <a:r>
              <a:rPr lang="en-US" dirty="0"/>
              <a:t>Steak</a:t>
            </a:r>
          </a:p>
        </p:txBody>
      </p:sp>
      <p:cxnSp>
        <p:nvCxnSpPr>
          <p:cNvPr id="80" name="Straight Connector 79">
            <a:extLst>
              <a:ext uri="{FF2B5EF4-FFF2-40B4-BE49-F238E27FC236}">
                <a16:creationId xmlns:a16="http://schemas.microsoft.com/office/drawing/2014/main" id="{232DBAFC-3769-3C6E-DDB1-BE13DFA69F1C}"/>
              </a:ext>
            </a:extLst>
          </p:cNvPr>
          <p:cNvCxnSpPr>
            <a:cxnSpLocks/>
            <a:stCxn id="42" idx="1"/>
            <a:endCxn id="13" idx="3"/>
          </p:cNvCxnSpPr>
          <p:nvPr/>
        </p:nvCxnSpPr>
        <p:spPr>
          <a:xfrm flipH="1">
            <a:off x="6876542" y="3030848"/>
            <a:ext cx="18519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F065D4B2-500C-2991-B8C5-411E3381724A}"/>
              </a:ext>
            </a:extLst>
          </p:cNvPr>
          <p:cNvSpPr txBox="1"/>
          <p:nvPr/>
        </p:nvSpPr>
        <p:spPr>
          <a:xfrm>
            <a:off x="7922364" y="2846182"/>
            <a:ext cx="569387" cy="369332"/>
          </a:xfrm>
          <a:prstGeom prst="rect">
            <a:avLst/>
          </a:prstGeom>
          <a:noFill/>
        </p:spPr>
        <p:txBody>
          <a:bodyPr wrap="none" rtlCol="0">
            <a:spAutoFit/>
          </a:bodyPr>
          <a:lstStyle/>
          <a:p>
            <a:r>
              <a:rPr lang="en-US" dirty="0"/>
              <a:t>Grill</a:t>
            </a:r>
          </a:p>
        </p:txBody>
      </p:sp>
      <p:sp>
        <p:nvSpPr>
          <p:cNvPr id="84" name="TextBox 83">
            <a:extLst>
              <a:ext uri="{FF2B5EF4-FFF2-40B4-BE49-F238E27FC236}">
                <a16:creationId xmlns:a16="http://schemas.microsoft.com/office/drawing/2014/main" id="{0B6A93C6-115E-1C37-F687-7CFE19757EC3}"/>
              </a:ext>
            </a:extLst>
          </p:cNvPr>
          <p:cNvSpPr txBox="1"/>
          <p:nvPr/>
        </p:nvSpPr>
        <p:spPr>
          <a:xfrm>
            <a:off x="7039921" y="2183822"/>
            <a:ext cx="676147" cy="369332"/>
          </a:xfrm>
          <a:prstGeom prst="rect">
            <a:avLst/>
          </a:prstGeom>
          <a:noFill/>
        </p:spPr>
        <p:txBody>
          <a:bodyPr wrap="none" rtlCol="0">
            <a:spAutoFit/>
          </a:bodyPr>
          <a:lstStyle/>
          <a:p>
            <a:r>
              <a:rPr lang="en-US" dirty="0"/>
              <a:t>Oven</a:t>
            </a:r>
          </a:p>
        </p:txBody>
      </p:sp>
      <p:cxnSp>
        <p:nvCxnSpPr>
          <p:cNvPr id="86" name="Straight Connector 85">
            <a:extLst>
              <a:ext uri="{FF2B5EF4-FFF2-40B4-BE49-F238E27FC236}">
                <a16:creationId xmlns:a16="http://schemas.microsoft.com/office/drawing/2014/main" id="{1972C19A-DA4F-C869-BAB7-61B7023C9811}"/>
              </a:ext>
            </a:extLst>
          </p:cNvPr>
          <p:cNvCxnSpPr>
            <a:cxnSpLocks/>
            <a:stCxn id="8" idx="2"/>
            <a:endCxn id="84" idx="0"/>
          </p:cNvCxnSpPr>
          <p:nvPr/>
        </p:nvCxnSpPr>
        <p:spPr>
          <a:xfrm>
            <a:off x="7377995" y="1999156"/>
            <a:ext cx="0" cy="18466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41689FEB-9E59-E555-ED83-7141CEB3FAD2}"/>
              </a:ext>
            </a:extLst>
          </p:cNvPr>
          <p:cNvCxnSpPr>
            <a:cxnSpLocks/>
            <a:stCxn id="83" idx="1"/>
            <a:endCxn id="42" idx="3"/>
          </p:cNvCxnSpPr>
          <p:nvPr/>
        </p:nvCxnSpPr>
        <p:spPr>
          <a:xfrm flipH="1">
            <a:off x="7756864" y="3030848"/>
            <a:ext cx="1655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3D767FCF-670B-751C-EEA7-22CCCF750FF6}"/>
              </a:ext>
            </a:extLst>
          </p:cNvPr>
          <p:cNvSpPr txBox="1"/>
          <p:nvPr/>
        </p:nvSpPr>
        <p:spPr>
          <a:xfrm>
            <a:off x="3455525" y="1491325"/>
            <a:ext cx="1111843" cy="646331"/>
          </a:xfrm>
          <a:prstGeom prst="rect">
            <a:avLst/>
          </a:prstGeom>
          <a:noFill/>
        </p:spPr>
        <p:txBody>
          <a:bodyPr wrap="none" rtlCol="0">
            <a:spAutoFit/>
          </a:bodyPr>
          <a:lstStyle/>
          <a:p>
            <a:pPr algn="ctr"/>
            <a:r>
              <a:rPr lang="en-US" dirty="0"/>
              <a:t>Fried</a:t>
            </a:r>
          </a:p>
          <a:p>
            <a:pPr algn="ctr"/>
            <a:r>
              <a:rPr lang="en-US" dirty="0"/>
              <a:t>drumstick</a:t>
            </a:r>
          </a:p>
        </p:txBody>
      </p:sp>
      <p:cxnSp>
        <p:nvCxnSpPr>
          <p:cNvPr id="94" name="Straight Connector 93">
            <a:extLst>
              <a:ext uri="{FF2B5EF4-FFF2-40B4-BE49-F238E27FC236}">
                <a16:creationId xmlns:a16="http://schemas.microsoft.com/office/drawing/2014/main" id="{EA50E8ED-1B58-C25D-E2B9-0CBA4C5E03D1}"/>
              </a:ext>
            </a:extLst>
          </p:cNvPr>
          <p:cNvCxnSpPr>
            <a:cxnSpLocks/>
            <a:stCxn id="93" idx="3"/>
            <a:endCxn id="15" idx="1"/>
          </p:cNvCxnSpPr>
          <p:nvPr/>
        </p:nvCxnSpPr>
        <p:spPr>
          <a:xfrm flipV="1">
            <a:off x="4567368" y="1814490"/>
            <a:ext cx="279578" cy="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09C3C61B-B632-FF98-7C4D-9FF2DD516EB1}"/>
              </a:ext>
            </a:extLst>
          </p:cNvPr>
          <p:cNvSpPr txBox="1"/>
          <p:nvPr/>
        </p:nvSpPr>
        <p:spPr>
          <a:xfrm>
            <a:off x="2260520" y="2846182"/>
            <a:ext cx="584199" cy="369332"/>
          </a:xfrm>
          <a:prstGeom prst="rect">
            <a:avLst/>
          </a:prstGeom>
          <a:noFill/>
        </p:spPr>
        <p:txBody>
          <a:bodyPr wrap="none" rtlCol="0">
            <a:spAutoFit/>
          </a:bodyPr>
          <a:lstStyle/>
          <a:p>
            <a:r>
              <a:rPr lang="en-US" dirty="0"/>
              <a:t>Italy</a:t>
            </a:r>
          </a:p>
        </p:txBody>
      </p:sp>
      <p:sp>
        <p:nvSpPr>
          <p:cNvPr id="100" name="TextBox 99">
            <a:extLst>
              <a:ext uri="{FF2B5EF4-FFF2-40B4-BE49-F238E27FC236}">
                <a16:creationId xmlns:a16="http://schemas.microsoft.com/office/drawing/2014/main" id="{7731E2D2-1FA1-70F1-4B0C-45E876BB1A88}"/>
              </a:ext>
            </a:extLst>
          </p:cNvPr>
          <p:cNvSpPr txBox="1"/>
          <p:nvPr/>
        </p:nvSpPr>
        <p:spPr>
          <a:xfrm>
            <a:off x="1577319" y="1627483"/>
            <a:ext cx="1420902" cy="369332"/>
          </a:xfrm>
          <a:prstGeom prst="rect">
            <a:avLst/>
          </a:prstGeom>
          <a:noFill/>
        </p:spPr>
        <p:txBody>
          <a:bodyPr wrap="none" rtlCol="0">
            <a:spAutoFit/>
          </a:bodyPr>
          <a:lstStyle/>
          <a:p>
            <a:r>
              <a:rPr lang="en-US" dirty="0"/>
              <a:t>United states</a:t>
            </a:r>
          </a:p>
        </p:txBody>
      </p:sp>
      <p:cxnSp>
        <p:nvCxnSpPr>
          <p:cNvPr id="101" name="Straight Connector 100">
            <a:extLst>
              <a:ext uri="{FF2B5EF4-FFF2-40B4-BE49-F238E27FC236}">
                <a16:creationId xmlns:a16="http://schemas.microsoft.com/office/drawing/2014/main" id="{A853A953-7FAD-3158-2871-A9D778F40833}"/>
              </a:ext>
            </a:extLst>
          </p:cNvPr>
          <p:cNvCxnSpPr>
            <a:cxnSpLocks/>
            <a:stCxn id="93" idx="1"/>
            <a:endCxn id="100" idx="3"/>
          </p:cNvCxnSpPr>
          <p:nvPr/>
        </p:nvCxnSpPr>
        <p:spPr>
          <a:xfrm flipH="1" flipV="1">
            <a:off x="2998221" y="1812149"/>
            <a:ext cx="457304" cy="234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90DAF585-F9BD-F9F3-8A0D-08E7AC362B2C}"/>
              </a:ext>
            </a:extLst>
          </p:cNvPr>
          <p:cNvCxnSpPr>
            <a:cxnSpLocks/>
            <a:stCxn id="6" idx="1"/>
            <a:endCxn id="99" idx="3"/>
          </p:cNvCxnSpPr>
          <p:nvPr/>
        </p:nvCxnSpPr>
        <p:spPr>
          <a:xfrm flipH="1">
            <a:off x="2844719" y="3030848"/>
            <a:ext cx="37923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05094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AAFD6-73CE-73DC-189E-196653B376E6}"/>
              </a:ext>
            </a:extLst>
          </p:cNvPr>
          <p:cNvSpPr>
            <a:spLocks noGrp="1"/>
          </p:cNvSpPr>
          <p:nvPr>
            <p:ph type="title"/>
          </p:nvPr>
        </p:nvSpPr>
        <p:spPr>
          <a:xfrm>
            <a:off x="853190" y="65346"/>
            <a:ext cx="4108554" cy="1325563"/>
          </a:xfrm>
        </p:spPr>
        <p:txBody>
          <a:bodyPr/>
          <a:lstStyle/>
          <a:p>
            <a:r>
              <a:rPr lang="en-US" dirty="0"/>
              <a:t>Task</a:t>
            </a:r>
          </a:p>
        </p:txBody>
      </p:sp>
      <p:sp>
        <p:nvSpPr>
          <p:cNvPr id="3" name="Content Placeholder 2">
            <a:extLst>
              <a:ext uri="{FF2B5EF4-FFF2-40B4-BE49-F238E27FC236}">
                <a16:creationId xmlns:a16="http://schemas.microsoft.com/office/drawing/2014/main" id="{8C16B17E-B527-64CB-6FE9-A36936F9B322}"/>
              </a:ext>
            </a:extLst>
          </p:cNvPr>
          <p:cNvSpPr>
            <a:spLocks noGrp="1"/>
          </p:cNvSpPr>
          <p:nvPr>
            <p:ph idx="1"/>
          </p:nvPr>
        </p:nvSpPr>
        <p:spPr>
          <a:xfrm>
            <a:off x="554636" y="1390909"/>
            <a:ext cx="4991724" cy="4919949"/>
          </a:xfrm>
        </p:spPr>
        <p:txBody>
          <a:bodyPr/>
          <a:lstStyle/>
          <a:p>
            <a:r>
              <a:rPr lang="en-US" dirty="0" err="1"/>
              <a:t>Reagh</a:t>
            </a:r>
            <a:r>
              <a:rPr lang="en-US" dirty="0"/>
              <a:t> &amp; </a:t>
            </a:r>
            <a:r>
              <a:rPr lang="en-US" dirty="0" err="1"/>
              <a:t>Ranganath</a:t>
            </a:r>
            <a:r>
              <a:rPr lang="en-US" dirty="0"/>
              <a:t> (2023) presented eight videos, which overlapped in some dimensions</a:t>
            </a:r>
          </a:p>
          <a:p>
            <a:pPr lvl="1"/>
            <a:r>
              <a:rPr lang="en-US" dirty="0"/>
              <a:t>Character</a:t>
            </a:r>
          </a:p>
          <a:p>
            <a:pPr lvl="1"/>
            <a:r>
              <a:rPr lang="en-US" dirty="0"/>
              <a:t>Specific scene</a:t>
            </a:r>
          </a:p>
          <a:p>
            <a:pPr lvl="1"/>
            <a:r>
              <a:rPr lang="en-US" dirty="0"/>
              <a:t>General schema</a:t>
            </a:r>
          </a:p>
          <a:p>
            <a:r>
              <a:rPr lang="en-US" dirty="0"/>
              <a:t>Could emulate this research</a:t>
            </a:r>
          </a:p>
        </p:txBody>
      </p:sp>
      <p:pic>
        <p:nvPicPr>
          <p:cNvPr id="4" name="Picture 3">
            <a:extLst>
              <a:ext uri="{FF2B5EF4-FFF2-40B4-BE49-F238E27FC236}">
                <a16:creationId xmlns:a16="http://schemas.microsoft.com/office/drawing/2014/main" id="{1A7C109E-970C-42E6-0B20-12A5C0F17D81}"/>
              </a:ext>
            </a:extLst>
          </p:cNvPr>
          <p:cNvPicPr>
            <a:picLocks noChangeAspect="1"/>
          </p:cNvPicPr>
          <p:nvPr/>
        </p:nvPicPr>
        <p:blipFill>
          <a:blip r:embed="rId2"/>
          <a:stretch>
            <a:fillRect/>
          </a:stretch>
        </p:blipFill>
        <p:spPr>
          <a:xfrm>
            <a:off x="5546360" y="262845"/>
            <a:ext cx="6395095" cy="6332310"/>
          </a:xfrm>
          <a:prstGeom prst="rect">
            <a:avLst/>
          </a:prstGeom>
        </p:spPr>
      </p:pic>
    </p:spTree>
    <p:extLst>
      <p:ext uri="{BB962C8B-B14F-4D97-AF65-F5344CB8AC3E}">
        <p14:creationId xmlns:p14="http://schemas.microsoft.com/office/powerpoint/2010/main" val="15295342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lank.potx" id="{9C6B1436-0ACE-4CC3-BC66-C2BCB97D7D52}" vid="{95E57EA4-F55F-474A-9811-FDC52FAD541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65670</TotalTime>
  <Words>5077</Words>
  <Application>Microsoft Office PowerPoint</Application>
  <PresentationFormat>Widescreen</PresentationFormat>
  <Paragraphs>669</Paragraphs>
  <Slides>79</Slides>
  <Notes>35</Notes>
  <HiddenSlides>6</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79</vt:i4>
      </vt:variant>
    </vt:vector>
  </HeadingPairs>
  <TitlesOfParts>
    <vt:vector size="85" baseType="lpstr">
      <vt:lpstr>Arial</vt:lpstr>
      <vt:lpstr>Calibri</vt:lpstr>
      <vt:lpstr>Courier New</vt:lpstr>
      <vt:lpstr>Times New Roman</vt:lpstr>
      <vt:lpstr>Wingdings</vt:lpstr>
      <vt:lpstr>Office Theme</vt:lpstr>
      <vt:lpstr>Paul Update</vt:lpstr>
      <vt:lpstr>Lifu dissertation results</vt:lpstr>
      <vt:lpstr>3-session fMRI study (SchemRep)</vt:lpstr>
      <vt:lpstr>Lifu results 1.1</vt:lpstr>
      <vt:lpstr>Lifu Results 1.2</vt:lpstr>
      <vt:lpstr>Lifu Results 2.1</vt:lpstr>
      <vt:lpstr>Lifu Results 2.2</vt:lpstr>
      <vt:lpstr>Lifu Results 2.3</vt:lpstr>
      <vt:lpstr>Warning: Results may shift</vt:lpstr>
      <vt:lpstr>Preprocessing</vt:lpstr>
      <vt:lpstr>PowerPoint Presentation</vt:lpstr>
      <vt:lpstr>Emerging property</vt:lpstr>
      <vt:lpstr>Proposed direction</vt:lpstr>
      <vt:lpstr>Background</vt:lpstr>
      <vt:lpstr>Primary Question</vt:lpstr>
      <vt:lpstr>Present Study and Hypotheses</vt:lpstr>
      <vt:lpstr>Methods</vt:lpstr>
      <vt:lpstr>Data</vt:lpstr>
      <vt:lpstr>3-session fMRI study (SchemRep)</vt:lpstr>
      <vt:lpstr>Behavioral results</vt:lpstr>
      <vt:lpstr>Brainnetome atlas</vt:lpstr>
      <vt:lpstr>Stimulus representations</vt:lpstr>
      <vt:lpstr>Many ways to interpret the abs-difference vector</vt:lpstr>
      <vt:lpstr>Perceptual vectors</vt:lpstr>
      <vt:lpstr>Abs-dif vector</vt:lpstr>
      <vt:lpstr>Difference vector by condition</vt:lpstr>
      <vt:lpstr>RSA overview</vt:lpstr>
      <vt:lpstr>Further temporal trend testing</vt:lpstr>
      <vt:lpstr>Stimulus RSM/RDMs</vt:lpstr>
      <vt:lpstr>Results</vt:lpstr>
      <vt:lpstr>Univariate findings to pad things out?</vt:lpstr>
      <vt:lpstr>Result 1A: Schema representation</vt:lpstr>
      <vt:lpstr>Result 1C/1D: Object representation</vt:lpstr>
      <vt:lpstr>Result 2A/2B: Schema-object prediction error</vt:lpstr>
      <vt:lpstr>Result 2A/2B: Schema-object prediction error</vt:lpstr>
      <vt:lpstr>Result 2C: Connectivity: Activity x IRAF</vt:lpstr>
      <vt:lpstr>Result 2C: Difference RSA x connectivity</vt:lpstr>
      <vt:lpstr>PowerPoint Presentation</vt:lpstr>
      <vt:lpstr>Result 3A: Prediction error IRAF predicts subsequent memory</vt:lpstr>
      <vt:lpstr>Result 3B: Retrieval retrieves scene representation</vt:lpstr>
      <vt:lpstr>Other things</vt:lpstr>
      <vt:lpstr>Something cool</vt:lpstr>
      <vt:lpstr>Significance testing and permutation testing</vt:lpstr>
      <vt:lpstr>Modularity</vt:lpstr>
      <vt:lpstr>Encoding retrieval similarity</vt:lpstr>
      <vt:lpstr>Whiffs </vt:lpstr>
      <vt:lpstr>Other analyses</vt:lpstr>
      <vt:lpstr>Study ideas</vt:lpstr>
      <vt:lpstr>Generalize the past, pinpoint the future</vt:lpstr>
      <vt:lpstr>Task idea 1</vt:lpstr>
      <vt:lpstr>Forward/backward generalize/pinpoint results</vt:lpstr>
      <vt:lpstr>Task idea </vt:lpstr>
      <vt:lpstr>What are we doing?</vt:lpstr>
      <vt:lpstr>Possible Mechanism 1 &amp; RSA</vt:lpstr>
      <vt:lpstr>Three types of relational memory tasks</vt:lpstr>
      <vt:lpstr>Encoding task</vt:lpstr>
      <vt:lpstr>Retrieval task</vt:lpstr>
      <vt:lpstr>Extra test before the main retrieval task</vt:lpstr>
      <vt:lpstr>Multiple RDMs</vt:lpstr>
      <vt:lpstr>Real-world relevance</vt:lpstr>
      <vt:lpstr>PowerPoint Presentation</vt:lpstr>
      <vt:lpstr>Task idea 2</vt:lpstr>
      <vt:lpstr>Reinforcement learning and states</vt:lpstr>
      <vt:lpstr>Multi-part states</vt:lpstr>
      <vt:lpstr>Affordances</vt:lpstr>
      <vt:lpstr>Goals</vt:lpstr>
      <vt:lpstr>Episodic memories</vt:lpstr>
      <vt:lpstr>Other idea</vt:lpstr>
      <vt:lpstr>Old</vt:lpstr>
      <vt:lpstr>Episodic memory is intertwined with relational memory</vt:lpstr>
      <vt:lpstr>Examining relational memory from multiple levels</vt:lpstr>
      <vt:lpstr>Broad aim: Focus on edges and groups not nodes</vt:lpstr>
      <vt:lpstr>fMRI analysis</vt:lpstr>
      <vt:lpstr>Building on this analytic direction</vt:lpstr>
      <vt:lpstr>Ways to extend and interpret these analyses</vt:lpstr>
      <vt:lpstr>(Beyond the task)  Older adults prototype rather than generalize</vt:lpstr>
      <vt:lpstr>Analyzing generalizing and prototyping</vt:lpstr>
      <vt:lpstr>Task: Analogies and relations  with meaning</vt:lpstr>
      <vt:lpstr>Task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Bogdan, Paul Christian</dc:creator>
  <cp:lastModifiedBy>Bogdan, Paul Christian</cp:lastModifiedBy>
  <cp:revision>153</cp:revision>
  <dcterms:created xsi:type="dcterms:W3CDTF">2023-09-14T13:36:35Z</dcterms:created>
  <dcterms:modified xsi:type="dcterms:W3CDTF">2023-11-14T22:00:29Z</dcterms:modified>
</cp:coreProperties>
</file>