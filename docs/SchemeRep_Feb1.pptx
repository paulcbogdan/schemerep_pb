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0" r:id="rId2"/>
    <p:sldId id="355" r:id="rId3"/>
    <p:sldId id="356" r:id="rId4"/>
    <p:sldId id="357" r:id="rId5"/>
    <p:sldId id="359" r:id="rId6"/>
    <p:sldId id="256" r:id="rId7"/>
    <p:sldId id="365" r:id="rId8"/>
    <p:sldId id="366" r:id="rId9"/>
    <p:sldId id="362" r:id="rId10"/>
    <p:sldId id="363" r:id="rId11"/>
    <p:sldId id="364" r:id="rId12"/>
    <p:sldId id="368" r:id="rId13"/>
    <p:sldId id="367" r:id="rId14"/>
    <p:sldId id="257" r:id="rId15"/>
    <p:sldId id="361" r:id="rId16"/>
    <p:sldId id="317" r:id="rId17"/>
    <p:sldId id="259" r:id="rId18"/>
    <p:sldId id="354" r:id="rId19"/>
    <p:sldId id="358" r:id="rId20"/>
    <p:sldId id="345" r:id="rId21"/>
    <p:sldId id="353" r:id="rId22"/>
    <p:sldId id="258" r:id="rId23"/>
    <p:sldId id="348" r:id="rId24"/>
    <p:sldId id="343" r:id="rId25"/>
    <p:sldId id="346" r:id="rId26"/>
    <p:sldId id="351" r:id="rId27"/>
    <p:sldId id="350" r:id="rId28"/>
    <p:sldId id="347" r:id="rId29"/>
    <p:sldId id="35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70" autoAdjust="0"/>
    <p:restoredTop sz="94660"/>
  </p:normalViewPr>
  <p:slideViewPr>
    <p:cSldViewPr snapToGrid="0">
      <p:cViewPr>
        <p:scale>
          <a:sx n="100" d="100"/>
          <a:sy n="100" d="100"/>
        </p:scale>
        <p:origin x="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00013-5E37-10A0-D388-69009F94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B373BE-EC19-01F2-9797-B4D43EA396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7808" y="1244600"/>
            <a:ext cx="5801784" cy="43513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4B4E3E-6773-8772-EBD2-1DB710BF9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00" y="12446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143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E84B6-C92E-3739-CE6C-8A372BACC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94689E-B898-EFC4-EF27-D53F68129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25" y="1866264"/>
            <a:ext cx="348107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17B7F1-E82E-4F56-C8BE-FF35E35115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545" y="1866264"/>
            <a:ext cx="3657607" cy="4572009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85C201E-67D7-A554-3286-74F1ABA1F046}"/>
              </a:ext>
            </a:extLst>
          </p:cNvPr>
          <p:cNvSpPr/>
          <p:nvPr/>
        </p:nvSpPr>
        <p:spPr>
          <a:xfrm>
            <a:off x="-813732" y="3094162"/>
            <a:ext cx="604520" cy="604520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ECF94A1-6B9B-3D58-AB98-BC1218375108}"/>
              </a:ext>
            </a:extLst>
          </p:cNvPr>
          <p:cNvSpPr/>
          <p:nvPr/>
        </p:nvSpPr>
        <p:spPr>
          <a:xfrm rot="1832355">
            <a:off x="1237180" y="2716164"/>
            <a:ext cx="563877" cy="279304"/>
          </a:xfrm>
          <a:prstGeom prst="right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5957472-2D03-7698-7E2F-F7B64A4DB4F3}"/>
              </a:ext>
            </a:extLst>
          </p:cNvPr>
          <p:cNvSpPr/>
          <p:nvPr/>
        </p:nvSpPr>
        <p:spPr>
          <a:xfrm rot="8129257">
            <a:off x="4126361" y="2657267"/>
            <a:ext cx="563877" cy="279304"/>
          </a:xfrm>
          <a:prstGeom prst="right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19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3FD9E-5BF7-AB5E-D095-46D8CE287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8148BB2-01FF-C66E-1644-FFA2AC86D1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183" y="2336639"/>
            <a:ext cx="3481070" cy="4351338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E88B2C-9CC5-A01D-D2D2-596A09A77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576" y="2226304"/>
            <a:ext cx="3657607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12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843C76CB-4B6E-CEA1-FB52-455504FB5D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125" y="1002664"/>
            <a:ext cx="348107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483DF1-EB42-FD62-6103-87B7BBDF9D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045" y="875664"/>
            <a:ext cx="3657607" cy="4572009"/>
          </a:xfrm>
          <a:prstGeom prst="rect">
            <a:avLst/>
          </a:prstGeom>
        </p:spPr>
      </p:pic>
      <p:pic>
        <p:nvPicPr>
          <p:cNvPr id="8" name="Content Placeholder 10">
            <a:extLst>
              <a:ext uri="{FF2B5EF4-FFF2-40B4-BE49-F238E27FC236}">
                <a16:creationId xmlns:a16="http://schemas.microsoft.com/office/drawing/2014/main" id="{EAC2BFDE-4AFD-FD02-7D41-470CA4FE3F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195" y="5558008"/>
            <a:ext cx="3481070" cy="4351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5A3D86-81DF-3D87-CCF8-7774362F45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88" y="5447673"/>
            <a:ext cx="3657607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85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0E5AB-FDD1-E136-BA07-B25ADDF0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D3C8E-81D6-10FA-A091-E332F7E1E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71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SchemeRep</a:t>
            </a:r>
            <a:r>
              <a:rPr lang="en-US" dirty="0"/>
              <a:t> PB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2/2/2024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E9A87-E324-3773-D3FD-8BB3C097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Incongruency-congruency conn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EE75-698D-9D50-A4D2-6F1FEC87F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6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14FD1-B83F-6147-CF40-48C8D03E5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26CF1-0C00-A4F6-9AC1-DBAE6A4E3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65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Quadrants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78582D8-45AF-6C0F-B362-0EC6507DFD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</p:spTree>
    <p:extLst>
      <p:ext uri="{BB962C8B-B14F-4D97-AF65-F5344CB8AC3E}">
        <p14:creationId xmlns:p14="http://schemas.microsoft.com/office/powerpoint/2010/main" val="797341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476EF0-8A93-7084-7224-96344BD1C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</p:spTree>
    <p:extLst>
      <p:ext uri="{BB962C8B-B14F-4D97-AF65-F5344CB8AC3E}">
        <p14:creationId xmlns:p14="http://schemas.microsoft.com/office/powerpoint/2010/main" val="3209229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7E6D2-D0C8-2963-4267-67194FAB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Scrubbed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14B4675-DC7A-4A03-18FD-69ED842A9D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474" y="2812571"/>
            <a:ext cx="6035052" cy="2377445"/>
          </a:xfrm>
        </p:spPr>
      </p:pic>
    </p:spTree>
    <p:extLst>
      <p:ext uri="{BB962C8B-B14F-4D97-AF65-F5344CB8AC3E}">
        <p14:creationId xmlns:p14="http://schemas.microsoft.com/office/powerpoint/2010/main" val="2074650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E775F-707B-BA6C-2BF8-13D5D8B50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Anatomically defined alternate?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4B062-3F47-EDA6-ABEC-FB3ACEC2C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24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2038B-EA15-32F5-29A7-00CB696BF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Plot blobs based on using each quadrant as a seed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94D03-67F4-73CF-E50E-E16A32C07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 blobs based on using each quadrant as a seed</a:t>
            </a:r>
          </a:p>
        </p:txBody>
      </p:sp>
    </p:spTree>
    <p:extLst>
      <p:ext uri="{BB962C8B-B14F-4D97-AF65-F5344CB8AC3E}">
        <p14:creationId xmlns:p14="http://schemas.microsoft.com/office/powerpoint/2010/main" val="4203132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DA879-656E-48B4-B866-55CD7EBD9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Vendor effect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D244ED-15B1-5F1A-D660-BDF427657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20" y="1985645"/>
            <a:ext cx="6278350" cy="370141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D53DEE-B5FB-6865-5FD5-1C4C6B53C949}"/>
              </a:ext>
            </a:extLst>
          </p:cNvPr>
          <p:cNvSpPr txBox="1"/>
          <p:nvPr/>
        </p:nvSpPr>
        <p:spPr>
          <a:xfrm>
            <a:off x="8573771" y="729890"/>
            <a:ext cx="22717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Effects in OA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4FD8338-C954-4801-13D3-62DCC3074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844" y="1591754"/>
            <a:ext cx="3571004" cy="233019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072F000-6333-3BBF-D6D0-8CAF3E7ED7A8}"/>
              </a:ext>
            </a:extLst>
          </p:cNvPr>
          <p:cNvSpPr txBox="1"/>
          <p:nvPr/>
        </p:nvSpPr>
        <p:spPr>
          <a:xfrm>
            <a:off x="8055547" y="4886969"/>
            <a:ext cx="3555782" cy="523220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Plot VEN &amp; plot DOR</a:t>
            </a:r>
          </a:p>
        </p:txBody>
      </p:sp>
    </p:spTree>
    <p:extLst>
      <p:ext uri="{BB962C8B-B14F-4D97-AF65-F5344CB8AC3E}">
        <p14:creationId xmlns:p14="http://schemas.microsoft.com/office/powerpoint/2010/main" val="1226400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8E89-B5C2-82EF-5A67-46E680AEA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 x DOR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77895-F93D-12D6-985A-7E7BA6858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03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0C06-6EBA-2AE3-54B9-FF25AEFAC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Scene semantic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AA5401-A9BB-72A3-C129-4C98841EA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664" y="2523597"/>
            <a:ext cx="4876799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E8FC5E-106F-7935-D3ED-CB30B6F42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23597"/>
            <a:ext cx="2926080" cy="365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CF496A3-7088-11C1-41C0-B2955E5633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4399" y="2523597"/>
            <a:ext cx="2926080" cy="36576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C39B4D-C9EC-44E3-3AB6-A3A352C9E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3959"/>
            <a:ext cx="10515600" cy="630238"/>
          </a:xfrm>
          <a:solidFill>
            <a:srgbClr val="FFC000"/>
          </a:solidFill>
        </p:spPr>
        <p:txBody>
          <a:bodyPr/>
          <a:lstStyle/>
          <a:p>
            <a:r>
              <a:rPr lang="en-US" dirty="0"/>
              <a:t>Do </a:t>
            </a:r>
            <a:r>
              <a:rPr lang="en-US" dirty="0" err="1"/>
              <a:t>lmer</a:t>
            </a:r>
            <a:r>
              <a:rPr lang="en-US" dirty="0"/>
              <a:t> control for object</a:t>
            </a:r>
          </a:p>
        </p:txBody>
      </p:sp>
    </p:spTree>
    <p:extLst>
      <p:ext uri="{BB962C8B-B14F-4D97-AF65-F5344CB8AC3E}">
        <p14:creationId xmlns:p14="http://schemas.microsoft.com/office/powerpoint/2010/main" val="3074888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971B-D3DD-F7DB-83A4-E01A1985D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920" y="60325"/>
            <a:ext cx="10515600" cy="747395"/>
          </a:xfrm>
        </p:spPr>
        <p:txBody>
          <a:bodyPr/>
          <a:lstStyle/>
          <a:p>
            <a:r>
              <a:rPr lang="en-US" dirty="0"/>
              <a:t>Re-instantiation of the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DB232-C8FF-2FDF-C126-A45E86BF5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2984"/>
            <a:ext cx="10515600" cy="5774691"/>
          </a:xfrm>
        </p:spPr>
        <p:txBody>
          <a:bodyPr/>
          <a:lstStyle/>
          <a:p>
            <a:r>
              <a:rPr lang="en-US" dirty="0"/>
              <a:t>We see substantial ERS between the scene betas and visual retrieval betas</a:t>
            </a:r>
          </a:p>
          <a:p>
            <a:pPr lvl="1"/>
            <a:r>
              <a:rPr lang="en-US" dirty="0"/>
              <a:t>LOC effect (t = 6)</a:t>
            </a:r>
          </a:p>
          <a:p>
            <a:pPr lvl="2"/>
            <a:r>
              <a:rPr lang="en-US" dirty="0"/>
              <a:t>Also other visual stream regions, albeit not so strongly</a:t>
            </a:r>
          </a:p>
          <a:p>
            <a:pPr lvl="1"/>
            <a:r>
              <a:rPr lang="en-US" dirty="0"/>
              <a:t>Much weaker looking at conceptual retrieval but there is some consistency</a:t>
            </a:r>
          </a:p>
          <a:p>
            <a:pPr lvl="1"/>
            <a:r>
              <a:rPr lang="en-US" dirty="0"/>
              <a:t>ERS effect emerges in both YA and OA</a:t>
            </a:r>
          </a:p>
          <a:p>
            <a:pPr lvl="2"/>
            <a:r>
              <a:rPr lang="en-US" dirty="0"/>
              <a:t>Insignificant differences… </a:t>
            </a:r>
          </a:p>
          <a:p>
            <a:pPr lvl="2"/>
            <a:r>
              <a:rPr lang="en-US" i="1" dirty="0"/>
              <a:t>Maybe </a:t>
            </a:r>
            <a:r>
              <a:rPr lang="en-US" dirty="0"/>
              <a:t>OA show stronger re-instantiation in the ATL and MTG, but the between-group comparison is only t = 2.2 and t = 2.7</a:t>
            </a:r>
          </a:p>
        </p:txBody>
      </p:sp>
    </p:spTree>
    <p:extLst>
      <p:ext uri="{BB962C8B-B14F-4D97-AF65-F5344CB8AC3E}">
        <p14:creationId xmlns:p14="http://schemas.microsoft.com/office/powerpoint/2010/main" val="21705598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A8C97-2DDF-4795-D81E-3638FFF90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ERS individual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F8E60-E003-57FB-E677-F2CA8EE92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LOC: ERS effect correlates with RSA effect (r = .38, p = .005)</a:t>
            </a:r>
          </a:p>
          <a:p>
            <a:r>
              <a:rPr lang="en-US" dirty="0"/>
              <a:t>LOC: age effect on RSA</a:t>
            </a:r>
          </a:p>
          <a:p>
            <a:pPr lvl="1"/>
            <a:r>
              <a:rPr lang="en-US" dirty="0"/>
              <a:t>Hence, we may be able to claim that OA processing of the screen has an indirect effect on re-instantiation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425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68E4-3541-6D1B-D82A-02E3BA9FD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 out visual similarity to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78863-B28A-CC86-C508-E5529C5C9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Effect disappears</a:t>
            </a:r>
          </a:p>
        </p:txBody>
      </p:sp>
    </p:spTree>
    <p:extLst>
      <p:ext uri="{BB962C8B-B14F-4D97-AF65-F5344CB8AC3E}">
        <p14:creationId xmlns:p14="http://schemas.microsoft.com/office/powerpoint/2010/main" val="966481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Meeting follow-up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377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4BFC7-1050-AB2D-7119-E5FB0FC9F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Linking vendor to scene IRAF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81A61-5FEA-2E09-8DE2-18BEE39AE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Vendor ~ 1 + </a:t>
            </a:r>
            <a:r>
              <a:rPr lang="en-US" dirty="0" err="1"/>
              <a:t>IRAF</a:t>
            </a:r>
            <a:r>
              <a:rPr lang="en-US" baseline="-25000" dirty="0" err="1"/>
              <a:t>scene</a:t>
            </a:r>
            <a:r>
              <a:rPr lang="en-US" dirty="0"/>
              <a:t> + (1 | subject)</a:t>
            </a:r>
          </a:p>
          <a:p>
            <a:pPr lvl="1"/>
            <a:r>
              <a:rPr lang="en-US" dirty="0"/>
              <a:t>I invested very much effort into exploring this and related ideas</a:t>
            </a:r>
          </a:p>
          <a:p>
            <a:pPr lvl="2"/>
            <a:r>
              <a:rPr lang="en-US" dirty="0"/>
              <a:t>e.g., modeling the dorsal-dorsal part of the vendor response as a multivariate effect rather than just an increase/decrease</a:t>
            </a:r>
          </a:p>
          <a:p>
            <a:pPr lvl="2"/>
            <a:r>
              <a:rPr lang="en-US" dirty="0"/>
              <a:t>Using the single-trial ERS score rather than the IRAF</a:t>
            </a:r>
          </a:p>
          <a:p>
            <a:pPr lvl="1"/>
            <a:r>
              <a:rPr lang="en-US" dirty="0"/>
              <a:t>Just doesn’t yield robust results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372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7C23D-7076-C802-F87B-E1886FFD7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the congruency response similar to the subsequent memory response?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0FC71-9B4D-7A2C-7DD6-ACC39453E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Measure each participants’ connectome for:</a:t>
            </a:r>
          </a:p>
          <a:p>
            <a:pPr lvl="1"/>
            <a:r>
              <a:rPr lang="en-US" dirty="0"/>
              <a:t>Congruent</a:t>
            </a:r>
          </a:p>
          <a:p>
            <a:pPr lvl="1"/>
            <a:r>
              <a:rPr lang="en-US" dirty="0"/>
              <a:t>Incongruent</a:t>
            </a:r>
          </a:p>
          <a:p>
            <a:pPr lvl="1"/>
            <a:r>
              <a:rPr lang="en-US" dirty="0"/>
              <a:t>Memory hit</a:t>
            </a:r>
          </a:p>
          <a:p>
            <a:pPr lvl="1"/>
            <a:r>
              <a:rPr lang="en-US" dirty="0"/>
              <a:t>Memory miss</a:t>
            </a:r>
          </a:p>
          <a:p>
            <a:pPr lvl="1"/>
            <a:r>
              <a:rPr lang="en-US" dirty="0"/>
              <a:t>(By “connectome”, I mean that I am defining a matrix and not just looking for an increase/decrease of a pair of edges)</a:t>
            </a:r>
          </a:p>
          <a:p>
            <a:r>
              <a:rPr lang="en-US" dirty="0"/>
              <a:t>Examine whether each participant’s congruent – incongruent effect is similar to their memory hit – miss effect</a:t>
            </a:r>
          </a:p>
          <a:p>
            <a:r>
              <a:rPr lang="en-US" dirty="0"/>
              <a:t>This got close to yielding robust results </a:t>
            </a:r>
          </a:p>
          <a:p>
            <a:pPr lvl="1"/>
            <a:r>
              <a:rPr lang="en-US" dirty="0"/>
              <a:t>It yields a significant effect if you simply look at the correlations between C – I x hit – miss (p &lt; .005)</a:t>
            </a:r>
          </a:p>
          <a:p>
            <a:pPr lvl="1"/>
            <a:r>
              <a:rPr lang="en-US" dirty="0"/>
              <a:t>However, we need to account for the fact that congruent trials are more likely to be hits, which can create an artificial relationship</a:t>
            </a:r>
          </a:p>
          <a:p>
            <a:pPr lvl="1"/>
            <a:r>
              <a:rPr lang="en-US" dirty="0"/>
              <a:t>When I do this, the results are no longer significant (.05 &lt; p &lt; .20)</a:t>
            </a:r>
          </a:p>
        </p:txBody>
      </p:sp>
    </p:spTree>
    <p:extLst>
      <p:ext uri="{BB962C8B-B14F-4D97-AF65-F5344CB8AC3E}">
        <p14:creationId xmlns:p14="http://schemas.microsoft.com/office/powerpoint/2010/main" val="9080538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AEC73-9545-2C93-ACF6-014C6735F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IRAF x IRAF predicting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33A71-8FEE-323A-E2E6-E28230A07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Hit ~ IPL * MFG + LOC * ATL + (1 | subject)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No coefficient is significant results</a:t>
            </a:r>
          </a:p>
          <a:p>
            <a:r>
              <a:rPr lang="en-US" dirty="0"/>
              <a:t>Tried a likelihood-ratio test to see whether all of the coefficients together are predictive</a:t>
            </a:r>
          </a:p>
          <a:p>
            <a:pPr lvl="1"/>
            <a:r>
              <a:rPr lang="en-US" dirty="0"/>
              <a:t>Analogous to an F-test in ANOVA;</a:t>
            </a:r>
          </a:p>
          <a:p>
            <a:pPr lvl="1"/>
            <a:r>
              <a:rPr lang="en-US" dirty="0"/>
              <a:t>It did not yield anything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35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5F4ED-A8E7-4B21-F5B4-AEF8E334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betas vs. scene betas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7F764C-62D3-9C7D-EF10-5C80237F5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465" y="1825625"/>
            <a:ext cx="3481070" cy="4351338"/>
          </a:xfrm>
        </p:spPr>
      </p:pic>
    </p:spTree>
    <p:extLst>
      <p:ext uri="{BB962C8B-B14F-4D97-AF65-F5344CB8AC3E}">
        <p14:creationId xmlns:p14="http://schemas.microsoft.com/office/powerpoint/2010/main" val="8586275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31D9-1AF7-0036-A0DD-57045113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 x encoding item pattern 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E018A-A9D0-1F3B-15F9-58F97B05A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impacted by congruency</a:t>
            </a:r>
          </a:p>
        </p:txBody>
      </p:sp>
    </p:spTree>
    <p:extLst>
      <p:ext uri="{BB962C8B-B14F-4D97-AF65-F5344CB8AC3E}">
        <p14:creationId xmlns:p14="http://schemas.microsoft.com/office/powerpoint/2010/main" val="41659135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DC3E-4E2D-F91D-8FFE-41ABECFF0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Univariate activation effects: </a:t>
            </a:r>
            <a:br>
              <a:rPr lang="en-US" sz="4000" dirty="0"/>
            </a:br>
            <a:r>
              <a:rPr lang="en-US" sz="4000" dirty="0"/>
              <a:t>Congruent vs Incongruent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238C59-2DD3-EB0F-7048-6AC67F1340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328" y="2051605"/>
            <a:ext cx="3657607" cy="45720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62D0F6-202A-1D14-B9A4-6A8C5D6F58AB}"/>
              </a:ext>
            </a:extLst>
          </p:cNvPr>
          <p:cNvSpPr txBox="1"/>
          <p:nvPr/>
        </p:nvSpPr>
        <p:spPr>
          <a:xfrm>
            <a:off x="2861733" y="1589940"/>
            <a:ext cx="228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Older adults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E5895B-59EF-C371-B47B-A99CA7782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797" y="2051605"/>
            <a:ext cx="3657607" cy="45720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A31770-11FF-23A0-E43A-931C5AB58CB7}"/>
              </a:ext>
            </a:extLst>
          </p:cNvPr>
          <p:cNvSpPr txBox="1"/>
          <p:nvPr/>
        </p:nvSpPr>
        <p:spPr>
          <a:xfrm>
            <a:off x="7442200" y="1500614"/>
            <a:ext cx="2285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Younger adults</a:t>
            </a:r>
          </a:p>
        </p:txBody>
      </p:sp>
    </p:spTree>
    <p:extLst>
      <p:ext uri="{BB962C8B-B14F-4D97-AF65-F5344CB8AC3E}">
        <p14:creationId xmlns:p14="http://schemas.microsoft.com/office/powerpoint/2010/main" val="4063572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DC3E-4E2D-F91D-8FFE-41ABECFF0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Activation MVPA effects: </a:t>
            </a:r>
            <a:br>
              <a:rPr lang="en-US" sz="4000" dirty="0"/>
            </a:br>
            <a:r>
              <a:rPr lang="en-US" sz="4000" dirty="0"/>
              <a:t>Congruent vs Incongruent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FDCDF0-0341-D66C-96AC-BE9CD7800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530" y="1939400"/>
            <a:ext cx="3481070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6DBE78-F019-EB75-3B2B-3C348A674D59}"/>
              </a:ext>
            </a:extLst>
          </p:cNvPr>
          <p:cNvSpPr txBox="1"/>
          <p:nvPr/>
        </p:nvSpPr>
        <p:spPr>
          <a:xfrm>
            <a:off x="2947734" y="6290738"/>
            <a:ext cx="3214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did you mean by “MVPA”?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01E429-F3CB-10A8-10EA-D1901EDB7D6A}"/>
              </a:ext>
            </a:extLst>
          </p:cNvPr>
          <p:cNvSpPr txBox="1"/>
          <p:nvPr/>
        </p:nvSpPr>
        <p:spPr>
          <a:xfrm>
            <a:off x="4107227" y="1570068"/>
            <a:ext cx="120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OA MVPA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3382E8-BAC7-176B-F336-7C86DE0BA3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662" y="1939400"/>
            <a:ext cx="3657607" cy="45720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21A151-8F29-B692-D8DE-1B81BF39D1D9}"/>
              </a:ext>
            </a:extLst>
          </p:cNvPr>
          <p:cNvSpPr txBox="1"/>
          <p:nvPr/>
        </p:nvSpPr>
        <p:spPr>
          <a:xfrm>
            <a:off x="8167632" y="1570068"/>
            <a:ext cx="120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YA MVPA</a:t>
            </a:r>
          </a:p>
        </p:txBody>
      </p:sp>
    </p:spTree>
    <p:extLst>
      <p:ext uri="{BB962C8B-B14F-4D97-AF65-F5344CB8AC3E}">
        <p14:creationId xmlns:p14="http://schemas.microsoft.com/office/powerpoint/2010/main" val="2933470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B0079-376F-1854-4D28-8DF30FD71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Distinguishing congruent vs. incongruent in retrieval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BD600-DE09-EF4A-4D3E-C8510E9A2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univariate effects</a:t>
            </a:r>
          </a:p>
          <a:p>
            <a:r>
              <a:rPr lang="en-US" dirty="0"/>
              <a:t>No MVPA effects</a:t>
            </a:r>
          </a:p>
        </p:txBody>
      </p:sp>
    </p:spTree>
    <p:extLst>
      <p:ext uri="{BB962C8B-B14F-4D97-AF65-F5344CB8AC3E}">
        <p14:creationId xmlns:p14="http://schemas.microsoft.com/office/powerpoint/2010/main" val="2625073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7C9C-EA11-8806-FB78-2612F3F30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RSA of scene information from retrieval betas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0FDA0-C726-2094-3EA4-32EA441AC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90533" cy="4351338"/>
          </a:xfrm>
        </p:spPr>
        <p:txBody>
          <a:bodyPr/>
          <a:lstStyle/>
          <a:p>
            <a:r>
              <a:rPr lang="en-US" dirty="0"/>
              <a:t>Didn’t yield anything</a:t>
            </a:r>
          </a:p>
          <a:p>
            <a:pPr lvl="1"/>
            <a:r>
              <a:rPr lang="en-US" dirty="0"/>
              <a:t>Threshold is quite low in this picture (t = 1.65)</a:t>
            </a:r>
          </a:p>
          <a:p>
            <a:r>
              <a:rPr lang="en-US" dirty="0"/>
              <a:t>In the meeting, I was actually fairly optimistic about this one…</a:t>
            </a:r>
          </a:p>
          <a:p>
            <a:pPr lvl="1"/>
            <a:r>
              <a:rPr lang="en-US" dirty="0"/>
              <a:t>Something like this worked with </a:t>
            </a:r>
            <a:r>
              <a:rPr lang="en-US" dirty="0" err="1"/>
              <a:t>Lifu’s</a:t>
            </a:r>
            <a:r>
              <a:rPr lang="en-US" dirty="0"/>
              <a:t> data</a:t>
            </a:r>
          </a:p>
          <a:p>
            <a:r>
              <a:rPr lang="en-US" dirty="0"/>
              <a:t>Results are similar for YA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B41533-CBA4-2686-48A6-F1A7892BB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417" y="2505340"/>
            <a:ext cx="2937298" cy="36716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7BDEA4-C764-31FE-F42F-13D01537A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399" y="2505340"/>
            <a:ext cx="2734733" cy="341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08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12548</TotalTime>
  <Words>562</Words>
  <Application>Microsoft Office PowerPoint</Application>
  <PresentationFormat>Widescreen</PresentationFormat>
  <Paragraphs>75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SchemeRep PB</vt:lpstr>
      <vt:lpstr>Incongruency-congruency conn matrix</vt:lpstr>
      <vt:lpstr>Modularity algorithm</vt:lpstr>
      <vt:lpstr>Quadrants</vt:lpstr>
      <vt:lpstr>Outliers</vt:lpstr>
      <vt:lpstr>Scrubbed</vt:lpstr>
      <vt:lpstr>Anatomically defined alternate?</vt:lpstr>
      <vt:lpstr>Plot blobs based on using each quadrant as a seed</vt:lpstr>
      <vt:lpstr>Vendor effect</vt:lpstr>
      <vt:lpstr>VEN x DOR</vt:lpstr>
      <vt:lpstr>Scene semantic RSA</vt:lpstr>
      <vt:lpstr>Re-instantiation of the scene</vt:lpstr>
      <vt:lpstr>ERS individual differences</vt:lpstr>
      <vt:lpstr>Regress out visual similarity to object</vt:lpstr>
      <vt:lpstr>Meeting follow-up</vt:lpstr>
      <vt:lpstr>Linking vendor to scene IRAF</vt:lpstr>
      <vt:lpstr>Is the congruency response similar to the subsequent memory response?</vt:lpstr>
      <vt:lpstr>IRAF x IRAF predicting memory</vt:lpstr>
      <vt:lpstr>Object betas vs. scene betas</vt:lpstr>
      <vt:lpstr>BL x encoding item pattern similarity</vt:lpstr>
      <vt:lpstr>Univariate activation effects:  Congruent vs Incongruent</vt:lpstr>
      <vt:lpstr>Activation MVPA effects:  Congruent vs Incongruent</vt:lpstr>
      <vt:lpstr>Distinguishing congruent vs. incongruent in retrieval</vt:lpstr>
      <vt:lpstr>RSA of scene information from retrieval betas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14</cp:revision>
  <dcterms:created xsi:type="dcterms:W3CDTF">2024-02-01T18:50:00Z</dcterms:created>
  <dcterms:modified xsi:type="dcterms:W3CDTF">2024-02-10T11:58:56Z</dcterms:modified>
</cp:coreProperties>
</file>