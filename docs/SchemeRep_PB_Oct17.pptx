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9"/>
  </p:notesMasterIdLst>
  <p:sldIdLst>
    <p:sldId id="256" r:id="rId2"/>
    <p:sldId id="345" r:id="rId3"/>
    <p:sldId id="304" r:id="rId4"/>
    <p:sldId id="337" r:id="rId5"/>
    <p:sldId id="338" r:id="rId6"/>
    <p:sldId id="340" r:id="rId7"/>
    <p:sldId id="341" r:id="rId8"/>
    <p:sldId id="342" r:id="rId9"/>
    <p:sldId id="346" r:id="rId10"/>
    <p:sldId id="321" r:id="rId11"/>
    <p:sldId id="363" r:id="rId12"/>
    <p:sldId id="323" r:id="rId13"/>
    <p:sldId id="344" r:id="rId14"/>
    <p:sldId id="264" r:id="rId15"/>
    <p:sldId id="312" r:id="rId16"/>
    <p:sldId id="313" r:id="rId17"/>
    <p:sldId id="302" r:id="rId18"/>
    <p:sldId id="263" r:id="rId19"/>
    <p:sldId id="343" r:id="rId20"/>
    <p:sldId id="348" r:id="rId21"/>
    <p:sldId id="280" r:id="rId22"/>
    <p:sldId id="306" r:id="rId23"/>
    <p:sldId id="292" r:id="rId24"/>
    <p:sldId id="310" r:id="rId25"/>
    <p:sldId id="309" r:id="rId26"/>
    <p:sldId id="347" r:id="rId27"/>
    <p:sldId id="293" r:id="rId28"/>
    <p:sldId id="322" r:id="rId29"/>
    <p:sldId id="291" r:id="rId30"/>
    <p:sldId id="303" r:id="rId31"/>
    <p:sldId id="362" r:id="rId32"/>
    <p:sldId id="297" r:id="rId33"/>
    <p:sldId id="279" r:id="rId34"/>
    <p:sldId id="324" r:id="rId35"/>
    <p:sldId id="307" r:id="rId36"/>
    <p:sldId id="290" r:id="rId37"/>
    <p:sldId id="284" r:id="rId38"/>
    <p:sldId id="360" r:id="rId39"/>
    <p:sldId id="314" r:id="rId40"/>
    <p:sldId id="311" r:id="rId41"/>
    <p:sldId id="325" r:id="rId42"/>
    <p:sldId id="361" r:id="rId43"/>
    <p:sldId id="364" r:id="rId44"/>
    <p:sldId id="319" r:id="rId45"/>
    <p:sldId id="320" r:id="rId46"/>
    <p:sldId id="316" r:id="rId47"/>
    <p:sldId id="318" r:id="rId48"/>
    <p:sldId id="326" r:id="rId49"/>
    <p:sldId id="327" r:id="rId50"/>
    <p:sldId id="367" r:id="rId51"/>
    <p:sldId id="376" r:id="rId52"/>
    <p:sldId id="368" r:id="rId53"/>
    <p:sldId id="372" r:id="rId54"/>
    <p:sldId id="366" r:id="rId55"/>
    <p:sldId id="350" r:id="rId56"/>
    <p:sldId id="351" r:id="rId57"/>
    <p:sldId id="373" r:id="rId58"/>
    <p:sldId id="374" r:id="rId59"/>
    <p:sldId id="375" r:id="rId60"/>
    <p:sldId id="377" r:id="rId61"/>
    <p:sldId id="358" r:id="rId62"/>
    <p:sldId id="328" r:id="rId63"/>
    <p:sldId id="352" r:id="rId64"/>
    <p:sldId id="353" r:id="rId65"/>
    <p:sldId id="378" r:id="rId66"/>
    <p:sldId id="356" r:id="rId67"/>
    <p:sldId id="354" r:id="rId68"/>
    <p:sldId id="357" r:id="rId69"/>
    <p:sldId id="371" r:id="rId70"/>
    <p:sldId id="336" r:id="rId71"/>
    <p:sldId id="329" r:id="rId72"/>
    <p:sldId id="333" r:id="rId73"/>
    <p:sldId id="339" r:id="rId74"/>
    <p:sldId id="332" r:id="rId75"/>
    <p:sldId id="335" r:id="rId76"/>
    <p:sldId id="334" r:id="rId77"/>
    <p:sldId id="349" r:id="rId7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C80"/>
    <a:srgbClr val="33CC33"/>
    <a:srgbClr val="FFCCCC"/>
    <a:srgbClr val="804710"/>
    <a:srgbClr val="00FFCC"/>
    <a:srgbClr val="D2E935"/>
    <a:srgbClr val="452A4F"/>
    <a:srgbClr val="FE962B"/>
    <a:srgbClr val="FDA631"/>
    <a:srgbClr val="A6A6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265" autoAdjust="0"/>
    <p:restoredTop sz="84848" autoAdjust="0"/>
  </p:normalViewPr>
  <p:slideViewPr>
    <p:cSldViewPr snapToGrid="0">
      <p:cViewPr varScale="1">
        <p:scale>
          <a:sx n="96" d="100"/>
          <a:sy n="96" d="100"/>
        </p:scale>
        <p:origin x="72" y="620"/>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B98493-CA63-4D0A-8042-ED8AF27DCFF3}" type="datetimeFigureOut">
              <a:rPr lang="en-US" smtClean="0"/>
              <a:t>10/16/2023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E3E675-13CA-4196-84E5-E684757DD2A6}" type="slidenum">
              <a:rPr lang="en-US" smtClean="0"/>
              <a:t>‹#›</a:t>
            </a:fld>
            <a:endParaRPr lang="en-US"/>
          </a:p>
        </p:txBody>
      </p:sp>
    </p:spTree>
    <p:extLst>
      <p:ext uri="{BB962C8B-B14F-4D97-AF65-F5344CB8AC3E}">
        <p14:creationId xmlns:p14="http://schemas.microsoft.com/office/powerpoint/2010/main" val="39133210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Prediction error is not just an “outcome” of processing information but rather is a computational mechanism that influences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Example of perceptional prediction error: car honking feels louder in a classroom than on a busy street</a:t>
            </a:r>
          </a:p>
          <a:p>
            <a:endParaRPr lang="en-US" dirty="0"/>
          </a:p>
          <a:p>
            <a:endParaRPr lang="en-US" dirty="0"/>
          </a:p>
          <a:p>
            <a:endParaRPr lang="en-US" dirty="0"/>
          </a:p>
          <a:p>
            <a:r>
              <a:rPr lang="en-US" dirty="0"/>
              <a:t>Meta analysis: </a:t>
            </a:r>
            <a:r>
              <a:rPr lang="en-US" b="0" i="0" dirty="0">
                <a:solidFill>
                  <a:srgbClr val="222222"/>
                </a:solidFill>
                <a:effectLst/>
                <a:latin typeface="Arial" panose="020B0604020202020204" pitchFamily="34" charset="0"/>
              </a:rPr>
              <a:t>Corlett, P. R., </a:t>
            </a:r>
            <a:r>
              <a:rPr lang="en-US" b="0" i="0" dirty="0" err="1">
                <a:solidFill>
                  <a:srgbClr val="222222"/>
                </a:solidFill>
                <a:effectLst/>
                <a:latin typeface="Arial" panose="020B0604020202020204" pitchFamily="34" charset="0"/>
              </a:rPr>
              <a:t>Mollick</a:t>
            </a:r>
            <a:r>
              <a:rPr lang="en-US" b="0" i="0" dirty="0">
                <a:solidFill>
                  <a:srgbClr val="222222"/>
                </a:solidFill>
                <a:effectLst/>
                <a:latin typeface="Arial" panose="020B0604020202020204" pitchFamily="34" charset="0"/>
              </a:rPr>
              <a:t>, J. A., &amp; </a:t>
            </a:r>
            <a:r>
              <a:rPr lang="en-US" b="0" i="0" dirty="0" err="1">
                <a:solidFill>
                  <a:srgbClr val="222222"/>
                </a:solidFill>
                <a:effectLst/>
                <a:latin typeface="Arial" panose="020B0604020202020204" pitchFamily="34" charset="0"/>
              </a:rPr>
              <a:t>Kober</a:t>
            </a:r>
            <a:r>
              <a:rPr lang="en-US" b="0" i="0" dirty="0">
                <a:solidFill>
                  <a:srgbClr val="222222"/>
                </a:solidFill>
                <a:effectLst/>
                <a:latin typeface="Arial" panose="020B0604020202020204" pitchFamily="34" charset="0"/>
              </a:rPr>
              <a:t>, H. (2022). Meta-analysis of human prediction error for incentives, perception, cognition, and action. </a:t>
            </a:r>
            <a:r>
              <a:rPr lang="en-US" b="0" i="1" dirty="0">
                <a:solidFill>
                  <a:srgbClr val="222222"/>
                </a:solidFill>
                <a:effectLst/>
                <a:latin typeface="Arial" panose="020B0604020202020204" pitchFamily="34" charset="0"/>
              </a:rPr>
              <a:t>Neuropsychopharmacology</a:t>
            </a:r>
            <a:r>
              <a:rPr lang="en-US" b="0" i="0" dirty="0">
                <a:solidFill>
                  <a:srgbClr val="222222"/>
                </a:solidFill>
                <a:effectLst/>
                <a:latin typeface="Arial" panose="020B0604020202020204" pitchFamily="34" charset="0"/>
              </a:rPr>
              <a:t>, </a:t>
            </a:r>
            <a:r>
              <a:rPr lang="en-US" b="0" i="1" dirty="0">
                <a:solidFill>
                  <a:srgbClr val="222222"/>
                </a:solidFill>
                <a:effectLst/>
                <a:latin typeface="Arial" panose="020B0604020202020204" pitchFamily="34" charset="0"/>
              </a:rPr>
              <a:t>47</a:t>
            </a:r>
            <a:r>
              <a:rPr lang="en-US" b="0" i="0" dirty="0">
                <a:solidFill>
                  <a:srgbClr val="222222"/>
                </a:solidFill>
                <a:effectLst/>
                <a:latin typeface="Arial" panose="020B0604020202020204" pitchFamily="34" charset="0"/>
              </a:rPr>
              <a:t>(7), 1339-1349.</a:t>
            </a:r>
          </a:p>
          <a:p>
            <a:endParaRPr lang="en-US" b="0" i="0" dirty="0">
              <a:solidFill>
                <a:srgbClr val="222222"/>
              </a:solidFill>
              <a:effectLst/>
              <a:latin typeface="Arial" panose="020B0604020202020204" pitchFamily="34" charset="0"/>
            </a:endParaRPr>
          </a:p>
          <a:p>
            <a:r>
              <a:rPr lang="en-US" b="0" i="0" dirty="0">
                <a:solidFill>
                  <a:srgbClr val="222222"/>
                </a:solidFill>
                <a:effectLst/>
                <a:latin typeface="Arial" panose="020B0604020202020204" pitchFamily="34" charset="0"/>
              </a:rPr>
              <a:t>Perception results: Iglesias, S., </a:t>
            </a:r>
            <a:r>
              <a:rPr lang="en-US" b="0" i="0" dirty="0" err="1">
                <a:solidFill>
                  <a:srgbClr val="222222"/>
                </a:solidFill>
                <a:effectLst/>
                <a:latin typeface="Arial" panose="020B0604020202020204" pitchFamily="34" charset="0"/>
              </a:rPr>
              <a:t>Mathys</a:t>
            </a:r>
            <a:r>
              <a:rPr lang="en-US" b="0" i="0" dirty="0">
                <a:solidFill>
                  <a:srgbClr val="222222"/>
                </a:solidFill>
                <a:effectLst/>
                <a:latin typeface="Arial" panose="020B0604020202020204" pitchFamily="34" charset="0"/>
              </a:rPr>
              <a:t>, C., </a:t>
            </a:r>
            <a:r>
              <a:rPr lang="en-US" b="0" i="0" dirty="0" err="1">
                <a:solidFill>
                  <a:srgbClr val="222222"/>
                </a:solidFill>
                <a:effectLst/>
                <a:latin typeface="Arial" panose="020B0604020202020204" pitchFamily="34" charset="0"/>
              </a:rPr>
              <a:t>Brodersen</a:t>
            </a:r>
            <a:r>
              <a:rPr lang="en-US" b="0" i="0" dirty="0">
                <a:solidFill>
                  <a:srgbClr val="222222"/>
                </a:solidFill>
                <a:effectLst/>
                <a:latin typeface="Arial" panose="020B0604020202020204" pitchFamily="34" charset="0"/>
              </a:rPr>
              <a:t>, K. H., Kasper, L., </a:t>
            </a:r>
            <a:r>
              <a:rPr lang="en-US" b="0" i="0" dirty="0" err="1">
                <a:solidFill>
                  <a:srgbClr val="222222"/>
                </a:solidFill>
                <a:effectLst/>
                <a:latin typeface="Arial" panose="020B0604020202020204" pitchFamily="34" charset="0"/>
              </a:rPr>
              <a:t>Piccirelli</a:t>
            </a:r>
            <a:r>
              <a:rPr lang="en-US" b="0" i="0" dirty="0">
                <a:solidFill>
                  <a:srgbClr val="222222"/>
                </a:solidFill>
                <a:effectLst/>
                <a:latin typeface="Arial" panose="020B0604020202020204" pitchFamily="34" charset="0"/>
              </a:rPr>
              <a:t>, M., den Ouden, H. E., &amp; Stephan, K. E. (2013). Hierarchical prediction errors in midbrain and basal forebrain during sensory learning. </a:t>
            </a:r>
            <a:r>
              <a:rPr lang="en-US" b="0" i="1" dirty="0">
                <a:solidFill>
                  <a:srgbClr val="222222"/>
                </a:solidFill>
                <a:effectLst/>
                <a:latin typeface="Arial" panose="020B0604020202020204" pitchFamily="34" charset="0"/>
              </a:rPr>
              <a:t>Neuron</a:t>
            </a:r>
            <a:r>
              <a:rPr lang="en-US" b="0" i="0" dirty="0">
                <a:solidFill>
                  <a:srgbClr val="222222"/>
                </a:solidFill>
                <a:effectLst/>
                <a:latin typeface="Arial" panose="020B0604020202020204" pitchFamily="34" charset="0"/>
              </a:rPr>
              <a:t>, </a:t>
            </a:r>
            <a:r>
              <a:rPr lang="en-US" b="0" i="1" dirty="0">
                <a:solidFill>
                  <a:srgbClr val="222222"/>
                </a:solidFill>
                <a:effectLst/>
                <a:latin typeface="Arial" panose="020B0604020202020204" pitchFamily="34" charset="0"/>
              </a:rPr>
              <a:t>80</a:t>
            </a:r>
            <a:r>
              <a:rPr lang="en-US" b="0" i="0" dirty="0">
                <a:solidFill>
                  <a:srgbClr val="222222"/>
                </a:solidFill>
                <a:effectLst/>
                <a:latin typeface="Arial" panose="020B0604020202020204" pitchFamily="34" charset="0"/>
              </a:rPr>
              <a:t>(2), 519-530.</a:t>
            </a:r>
          </a:p>
          <a:p>
            <a:pPr marL="171450" indent="-171450">
              <a:buFont typeface="Arial" panose="020B0604020202020204" pitchFamily="34" charset="0"/>
              <a:buChar char="•"/>
            </a:pPr>
            <a:r>
              <a:rPr lang="en-US" b="0" i="0" dirty="0">
                <a:solidFill>
                  <a:srgbClr val="222222"/>
                </a:solidFill>
                <a:effectLst/>
                <a:latin typeface="Arial" panose="020B0604020202020204" pitchFamily="34" charset="0"/>
              </a:rPr>
              <a:t>* </a:t>
            </a:r>
            <a:r>
              <a:rPr lang="en-US" b="0" i="0" dirty="0" err="1">
                <a:solidFill>
                  <a:srgbClr val="222222"/>
                </a:solidFill>
                <a:effectLst/>
                <a:latin typeface="Arial" panose="020B0604020202020204" pitchFamily="34" charset="0"/>
              </a:rPr>
              <a:t>dlPFC</a:t>
            </a:r>
            <a:r>
              <a:rPr lang="en-US" b="0" i="0" dirty="0">
                <a:solidFill>
                  <a:srgbClr val="222222"/>
                </a:solidFill>
                <a:effectLst/>
                <a:latin typeface="Arial" panose="020B0604020202020204" pitchFamily="34" charset="0"/>
              </a:rPr>
              <a:t> result (IFG and MFG)</a:t>
            </a:r>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14</a:t>
            </a:fld>
            <a:endParaRPr lang="en-US"/>
          </a:p>
        </p:txBody>
      </p:sp>
    </p:spTree>
    <p:extLst>
      <p:ext uri="{BB962C8B-B14F-4D97-AF65-F5344CB8AC3E}">
        <p14:creationId xmlns:p14="http://schemas.microsoft.com/office/powerpoint/2010/main" val="40328035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16</a:t>
            </a:fld>
            <a:endParaRPr lang="en-US"/>
          </a:p>
        </p:txBody>
      </p:sp>
    </p:spTree>
    <p:extLst>
      <p:ext uri="{BB962C8B-B14F-4D97-AF65-F5344CB8AC3E}">
        <p14:creationId xmlns:p14="http://schemas.microsoft.com/office/powerpoint/2010/main" val="14542327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learned about how to run Word2Vec + DNNs because </a:t>
            </a:r>
            <a:r>
              <a:rPr lang="en-US" dirty="0" err="1"/>
              <a:t>Lifu</a:t>
            </a:r>
            <a:r>
              <a:rPr lang="en-US" dirty="0"/>
              <a:t> didn’t yet try applying these to the scene images</a:t>
            </a:r>
          </a:p>
          <a:p>
            <a:pPr lvl="1"/>
            <a:r>
              <a:rPr lang="en-US" dirty="0"/>
              <a:t>However, I didn’t do the word2vec properly, so I don’t provide results on that</a:t>
            </a:r>
          </a:p>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18</a:t>
            </a:fld>
            <a:endParaRPr lang="en-US"/>
          </a:p>
        </p:txBody>
      </p:sp>
    </p:spTree>
    <p:extLst>
      <p:ext uri="{BB962C8B-B14F-4D97-AF65-F5344CB8AC3E}">
        <p14:creationId xmlns:p14="http://schemas.microsoft.com/office/powerpoint/2010/main" val="13881497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Notably organized into:</a:t>
            </a:r>
          </a:p>
          <a:p>
            <a:pPr lvl="1"/>
            <a:r>
              <a:rPr lang="en-US" dirty="0"/>
              <a:t>EVC</a:t>
            </a:r>
          </a:p>
          <a:p>
            <a:pPr lvl="1"/>
            <a:r>
              <a:rPr lang="en-US" dirty="0"/>
              <a:t>LOC</a:t>
            </a:r>
          </a:p>
          <a:p>
            <a:pPr lvl="1"/>
            <a:r>
              <a:rPr lang="en-US" dirty="0" err="1"/>
              <a:t>FuG</a:t>
            </a:r>
            <a:endParaRPr lang="en-US" dirty="0"/>
          </a:p>
          <a:p>
            <a:pPr lvl="1"/>
            <a:r>
              <a:rPr lang="en-US" dirty="0"/>
              <a:t>ATL</a:t>
            </a:r>
          </a:p>
          <a:p>
            <a:pPr lvl="1"/>
            <a:r>
              <a:rPr lang="en-US" dirty="0"/>
              <a:t>Hippocampus</a:t>
            </a:r>
          </a:p>
          <a:p>
            <a:pPr lvl="1"/>
            <a:r>
              <a:rPr lang="en-US" dirty="0"/>
              <a:t>IFG</a:t>
            </a:r>
          </a:p>
          <a:p>
            <a:pPr lvl="1"/>
            <a:r>
              <a:rPr lang="en-US" dirty="0"/>
              <a:t>MFG</a:t>
            </a:r>
          </a:p>
          <a:p>
            <a:pPr lvl="1"/>
            <a:r>
              <a:rPr lang="en-US" dirty="0"/>
              <a:t>SFG</a:t>
            </a:r>
          </a:p>
        </p:txBody>
      </p:sp>
      <p:sp>
        <p:nvSpPr>
          <p:cNvPr id="4" name="Slide Number Placeholder 3"/>
          <p:cNvSpPr>
            <a:spLocks noGrp="1"/>
          </p:cNvSpPr>
          <p:nvPr>
            <p:ph type="sldNum" sz="quarter" idx="5"/>
          </p:nvPr>
        </p:nvSpPr>
        <p:spPr/>
        <p:txBody>
          <a:bodyPr/>
          <a:lstStyle/>
          <a:p>
            <a:fld id="{92E3E675-13CA-4196-84E5-E684757DD2A6}" type="slidenum">
              <a:rPr lang="en-US" smtClean="0"/>
              <a:t>21</a:t>
            </a:fld>
            <a:endParaRPr lang="en-US"/>
          </a:p>
        </p:txBody>
      </p:sp>
    </p:spTree>
    <p:extLst>
      <p:ext uri="{BB962C8B-B14F-4D97-AF65-F5344CB8AC3E}">
        <p14:creationId xmlns:p14="http://schemas.microsoft.com/office/powerpoint/2010/main" val="27920933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22</a:t>
            </a:fld>
            <a:endParaRPr lang="en-US"/>
          </a:p>
        </p:txBody>
      </p:sp>
    </p:spTree>
    <p:extLst>
      <p:ext uri="{BB962C8B-B14F-4D97-AF65-F5344CB8AC3E}">
        <p14:creationId xmlns:p14="http://schemas.microsoft.com/office/powerpoint/2010/main" val="2727454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23</a:t>
            </a:fld>
            <a:endParaRPr lang="en-US"/>
          </a:p>
        </p:txBody>
      </p:sp>
    </p:spTree>
    <p:extLst>
      <p:ext uri="{BB962C8B-B14F-4D97-AF65-F5344CB8AC3E}">
        <p14:creationId xmlns:p14="http://schemas.microsoft.com/office/powerpoint/2010/main" val="3110100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29</a:t>
            </a:fld>
            <a:endParaRPr lang="en-US"/>
          </a:p>
        </p:txBody>
      </p:sp>
    </p:spTree>
    <p:extLst>
      <p:ext uri="{BB962C8B-B14F-4D97-AF65-F5344CB8AC3E}">
        <p14:creationId xmlns:p14="http://schemas.microsoft.com/office/powerpoint/2010/main" val="8937340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 hoc tests on bilateral SFG, for the eight </a:t>
            </a:r>
            <a:r>
              <a:rPr lang="en-US" dirty="0" err="1"/>
              <a:t>dmPFC</a:t>
            </a:r>
            <a:r>
              <a:rPr lang="en-US" dirty="0"/>
              <a:t> ROIs, t = 4.14. For the six </a:t>
            </a:r>
            <a:r>
              <a:rPr lang="en-US" dirty="0" err="1"/>
              <a:t>dlPFC</a:t>
            </a:r>
            <a:r>
              <a:rPr lang="en-US" dirty="0"/>
              <a:t> ROIs, t = 2.94. SFG bilateral altogether is 4.17.</a:t>
            </a:r>
          </a:p>
          <a:p>
            <a:r>
              <a:rPr lang="en-US" dirty="0" err="1"/>
              <a:t>mPFC</a:t>
            </a:r>
            <a:r>
              <a:rPr lang="en-US" dirty="0"/>
              <a:t> overall (including some orbital and CG, yields 3.85. Excluding CG, we get 3.6. </a:t>
            </a:r>
          </a:p>
        </p:txBody>
      </p:sp>
      <p:sp>
        <p:nvSpPr>
          <p:cNvPr id="4" name="Slide Number Placeholder 3"/>
          <p:cNvSpPr>
            <a:spLocks noGrp="1"/>
          </p:cNvSpPr>
          <p:nvPr>
            <p:ph type="sldNum" sz="quarter" idx="5"/>
          </p:nvPr>
        </p:nvSpPr>
        <p:spPr/>
        <p:txBody>
          <a:bodyPr/>
          <a:lstStyle/>
          <a:p>
            <a:fld id="{92E3E675-13CA-4196-84E5-E684757DD2A6}" type="slidenum">
              <a:rPr lang="en-US" smtClean="0"/>
              <a:t>32</a:t>
            </a:fld>
            <a:endParaRPr lang="en-US"/>
          </a:p>
        </p:txBody>
      </p:sp>
    </p:spTree>
    <p:extLst>
      <p:ext uri="{BB962C8B-B14F-4D97-AF65-F5344CB8AC3E}">
        <p14:creationId xmlns:p14="http://schemas.microsoft.com/office/powerpoint/2010/main" val="6495636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Downside: Doesn’t pan out for word2vec analysis. </a:t>
            </a:r>
            <a:r>
              <a:rPr lang="en-US" dirty="0" err="1"/>
              <a:t>lPFC</a:t>
            </a:r>
            <a:r>
              <a:rPr lang="en-US" dirty="0"/>
              <a:t> doesn’t pan out for connectivity. Also, doesn’t work if only looking at a single congruent/incongruent/neutral condition</a:t>
            </a:r>
          </a:p>
          <a:p>
            <a:r>
              <a:rPr lang="en-US" dirty="0"/>
              <a:t>HC result a bit less robust</a:t>
            </a:r>
          </a:p>
        </p:txBody>
      </p:sp>
      <p:sp>
        <p:nvSpPr>
          <p:cNvPr id="4" name="Slide Number Placeholder 3"/>
          <p:cNvSpPr>
            <a:spLocks noGrp="1"/>
          </p:cNvSpPr>
          <p:nvPr>
            <p:ph type="sldNum" sz="quarter" idx="5"/>
          </p:nvPr>
        </p:nvSpPr>
        <p:spPr/>
        <p:txBody>
          <a:bodyPr/>
          <a:lstStyle/>
          <a:p>
            <a:fld id="{92E3E675-13CA-4196-84E5-E684757DD2A6}" type="slidenum">
              <a:rPr lang="en-US" smtClean="0"/>
              <a:t>34</a:t>
            </a:fld>
            <a:endParaRPr lang="en-US"/>
          </a:p>
        </p:txBody>
      </p:sp>
    </p:spTree>
    <p:extLst>
      <p:ext uri="{BB962C8B-B14F-4D97-AF65-F5344CB8AC3E}">
        <p14:creationId xmlns:p14="http://schemas.microsoft.com/office/powerpoint/2010/main" val="8847857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Downside: Doesn’t pan out for word2vec analysis. </a:t>
            </a:r>
            <a:r>
              <a:rPr lang="en-US" dirty="0" err="1"/>
              <a:t>lPFC</a:t>
            </a:r>
            <a:r>
              <a:rPr lang="en-US" dirty="0"/>
              <a:t> doesn’t pan out for connectivity. Also, doesn’t work if only looking at a single congruent/incongruent/neutral condition</a:t>
            </a:r>
          </a:p>
          <a:p>
            <a:r>
              <a:rPr lang="en-US" dirty="0"/>
              <a:t>HC result a bit less robust</a:t>
            </a:r>
          </a:p>
        </p:txBody>
      </p:sp>
      <p:sp>
        <p:nvSpPr>
          <p:cNvPr id="4" name="Slide Number Placeholder 3"/>
          <p:cNvSpPr>
            <a:spLocks noGrp="1"/>
          </p:cNvSpPr>
          <p:nvPr>
            <p:ph type="sldNum" sz="quarter" idx="5"/>
          </p:nvPr>
        </p:nvSpPr>
        <p:spPr/>
        <p:txBody>
          <a:bodyPr/>
          <a:lstStyle/>
          <a:p>
            <a:fld id="{92E3E675-13CA-4196-84E5-E684757DD2A6}" type="slidenum">
              <a:rPr lang="en-US" smtClean="0"/>
              <a:t>35</a:t>
            </a:fld>
            <a:endParaRPr lang="en-US"/>
          </a:p>
        </p:txBody>
      </p:sp>
    </p:spTree>
    <p:extLst>
      <p:ext uri="{BB962C8B-B14F-4D97-AF65-F5344CB8AC3E}">
        <p14:creationId xmlns:p14="http://schemas.microsoft.com/office/powerpoint/2010/main" val="21287514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amygdala also shows an interesting pattern</a:t>
            </a:r>
          </a:p>
          <a:p>
            <a:pPr lvl="1"/>
            <a:r>
              <a:rPr lang="en-US" dirty="0"/>
              <a:t>Stronger representation in the </a:t>
            </a:r>
            <a:r>
              <a:rPr lang="en-US" dirty="0" err="1"/>
              <a:t>amgydala</a:t>
            </a:r>
            <a:r>
              <a:rPr lang="en-US" dirty="0"/>
              <a:t> is linked to decreased connectivity with everything else</a:t>
            </a:r>
          </a:p>
          <a:p>
            <a:pPr lvl="1"/>
            <a:r>
              <a:rPr lang="en-US" dirty="0"/>
              <a:t>Beyond the present focus?</a:t>
            </a:r>
          </a:p>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37</a:t>
            </a:fld>
            <a:endParaRPr lang="en-US"/>
          </a:p>
        </p:txBody>
      </p:sp>
    </p:spTree>
    <p:extLst>
      <p:ext uri="{BB962C8B-B14F-4D97-AF65-F5344CB8AC3E}">
        <p14:creationId xmlns:p14="http://schemas.microsoft.com/office/powerpoint/2010/main" val="26197185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may be of general interest: You know how the RSA values (z-scores and IRAFs) between regions seem to be spatially correlated (neighboring regions are similar). This violates assumptions of independence. This violation may mean that multiple hypothesis correction methods may not be appropriate, and FWER corrections will be too strict. I explored this question in the </a:t>
            </a:r>
            <a:r>
              <a:rPr lang="en-US" dirty="0" err="1"/>
              <a:t>SchemeRep</a:t>
            </a:r>
            <a:r>
              <a:rPr lang="en-US" dirty="0"/>
              <a:t> data. The data can be split into either 45 large or 222 smaller ROIs meaning 45 or 222 comparisons*. I did a permutation-testing analysis, where I shuffled every trial, meaning that every trial’s fMRI data is matched with random stimulus data. I only shuffled within-run (e.g., moving Run 2 trial 1’s fMRI data to the Run 2 trial 5 position), to avoid issues related to within/between run RSA. The RSA analysis, for each ROI, entailed doing the </a:t>
            </a:r>
            <a:r>
              <a:rPr lang="en-US" dirty="0" err="1"/>
              <a:t>fMRI_RDM</a:t>
            </a:r>
            <a:r>
              <a:rPr lang="en-US" dirty="0"/>
              <a:t> x </a:t>
            </a:r>
            <a:r>
              <a:rPr lang="en-US" dirty="0" err="1"/>
              <a:t>stim_RDM</a:t>
            </a:r>
            <a:r>
              <a:rPr lang="en-US" dirty="0"/>
              <a:t> correlation, and submitting each participant’s score to a one-sample t-test, examining whether it is significantly above zero. I did this 2000 times for the analysis of 50 ROIs and 760 times for the analysis of 250 ROIs.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I plot here, in red, the maximum t-value seen across any ROI, for a given simulation. For reference, I also plot in green what would be expected if each ROI’s analysis independent from each other ROI’s analysis (this parallels the t-value threshold required after Bonferroni correction). We can see that the red line is slightly lower than the green line but not by very much (e.g., Bonferroni correction would require t = ~3.3, but the simulation suggests that t = ~3.15 is sufficient for FWER correction). In blue, I also tried modeling the red line to gain some intuition for its shape. It basically models the t-values by sampling from a multilevel model using variance settings measured from the simulated data.</a:t>
            </a:r>
          </a:p>
          <a:p>
            <a:endParaRPr lang="en-US" dirty="0"/>
          </a:p>
          <a:p>
            <a:r>
              <a:rPr lang="en-US" b="1" dirty="0"/>
              <a:t>In sum</a:t>
            </a:r>
            <a:r>
              <a:rPr lang="en-US" dirty="0"/>
              <a:t>, standard multiple hypothesis correction techniques are basically fine. However, if your results are just barely falling under a standard FWER threshold, they may end up significant if permutation-testing is used. It’s not clear to mean what implications this would have for FDR correction.</a:t>
            </a:r>
          </a:p>
          <a:p>
            <a:endParaRPr lang="en-US" dirty="0"/>
          </a:p>
          <a:p>
            <a:r>
              <a:rPr lang="en-US" dirty="0"/>
              <a:t>*Note, I’m using the </a:t>
            </a:r>
            <a:r>
              <a:rPr lang="en-US" dirty="0" err="1"/>
              <a:t>brainnetome</a:t>
            </a:r>
            <a:r>
              <a:rPr lang="en-US" dirty="0"/>
              <a:t> atlas and 222 is slightly less than the number of ROIs in the </a:t>
            </a:r>
            <a:r>
              <a:rPr lang="en-US" dirty="0" err="1"/>
              <a:t>brainnetome</a:t>
            </a:r>
            <a:r>
              <a:rPr lang="en-US" dirty="0"/>
              <a:t> atlas. This is lower because I simply discarding ROIs where one or more participants have too many nan values. </a:t>
            </a:r>
          </a:p>
        </p:txBody>
      </p:sp>
      <p:sp>
        <p:nvSpPr>
          <p:cNvPr id="4" name="Slide Number Placeholder 3"/>
          <p:cNvSpPr>
            <a:spLocks noGrp="1"/>
          </p:cNvSpPr>
          <p:nvPr>
            <p:ph type="sldNum" sz="quarter" idx="5"/>
          </p:nvPr>
        </p:nvSpPr>
        <p:spPr/>
        <p:txBody>
          <a:bodyPr/>
          <a:lstStyle/>
          <a:p>
            <a:fld id="{92E3E675-13CA-4196-84E5-E684757DD2A6}" type="slidenum">
              <a:rPr lang="en-US" smtClean="0"/>
              <a:t>43</a:t>
            </a:fld>
            <a:endParaRPr lang="en-US"/>
          </a:p>
        </p:txBody>
      </p:sp>
    </p:spTree>
    <p:extLst>
      <p:ext uri="{BB962C8B-B14F-4D97-AF65-F5344CB8AC3E}">
        <p14:creationId xmlns:p14="http://schemas.microsoft.com/office/powerpoint/2010/main" val="33975254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44</a:t>
            </a:fld>
            <a:endParaRPr lang="en-US"/>
          </a:p>
        </p:txBody>
      </p:sp>
    </p:spTree>
    <p:extLst>
      <p:ext uri="{BB962C8B-B14F-4D97-AF65-F5344CB8AC3E}">
        <p14:creationId xmlns:p14="http://schemas.microsoft.com/office/powerpoint/2010/main" val="42167758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49</a:t>
            </a:fld>
            <a:endParaRPr lang="en-US"/>
          </a:p>
        </p:txBody>
      </p:sp>
    </p:spTree>
    <p:extLst>
      <p:ext uri="{BB962C8B-B14F-4D97-AF65-F5344CB8AC3E}">
        <p14:creationId xmlns:p14="http://schemas.microsoft.com/office/powerpoint/2010/main" val="349295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sz="2400" i="1" dirty="0">
                <a:latin typeface="Arial" panose="020B0604020202020204" pitchFamily="34" charset="0"/>
                <a:cs typeface="Arial" panose="020B0604020202020204" pitchFamily="34" charset="0"/>
              </a:rPr>
              <a:t>Consolidation</a:t>
            </a:r>
          </a:p>
          <a:p>
            <a:pPr marL="742950" lvl="1" indent="-285750">
              <a:buFont typeface="Courier New" panose="02070309020205020404" pitchFamily="49" charset="0"/>
              <a:buChar char="o"/>
            </a:pPr>
            <a:r>
              <a:rPr lang="en-US" sz="2400" dirty="0">
                <a:latin typeface="Arial" panose="020B0604020202020204" pitchFamily="34" charset="0"/>
                <a:cs typeface="Arial" panose="020B0604020202020204" pitchFamily="34" charset="0"/>
              </a:rPr>
              <a:t>Via episodic memory retrieval, a semantic network is built</a:t>
            </a:r>
          </a:p>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50</a:t>
            </a:fld>
            <a:endParaRPr lang="en-US"/>
          </a:p>
        </p:txBody>
      </p:sp>
    </p:spTree>
    <p:extLst>
      <p:ext uri="{BB962C8B-B14F-4D97-AF65-F5344CB8AC3E}">
        <p14:creationId xmlns:p14="http://schemas.microsoft.com/office/powerpoint/2010/main" val="12113377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52</a:t>
            </a:fld>
            <a:endParaRPr lang="en-US"/>
          </a:p>
        </p:txBody>
      </p:sp>
    </p:spTree>
    <p:extLst>
      <p:ext uri="{BB962C8B-B14F-4D97-AF65-F5344CB8AC3E}">
        <p14:creationId xmlns:p14="http://schemas.microsoft.com/office/powerpoint/2010/main" val="32835603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54</a:t>
            </a:fld>
            <a:endParaRPr lang="en-US"/>
          </a:p>
        </p:txBody>
      </p:sp>
    </p:spTree>
    <p:extLst>
      <p:ext uri="{BB962C8B-B14F-4D97-AF65-F5344CB8AC3E}">
        <p14:creationId xmlns:p14="http://schemas.microsoft.com/office/powerpoint/2010/main" val="2876257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55</a:t>
            </a:fld>
            <a:endParaRPr lang="en-US"/>
          </a:p>
        </p:txBody>
      </p:sp>
    </p:spTree>
    <p:extLst>
      <p:ext uri="{BB962C8B-B14F-4D97-AF65-F5344CB8AC3E}">
        <p14:creationId xmlns:p14="http://schemas.microsoft.com/office/powerpoint/2010/main" val="28860592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Maybe include a baseline task where participants just see all the targets. This will also help with encoding</a:t>
            </a:r>
          </a:p>
        </p:txBody>
      </p:sp>
      <p:sp>
        <p:nvSpPr>
          <p:cNvPr id="4" name="Slide Number Placeholder 3"/>
          <p:cNvSpPr>
            <a:spLocks noGrp="1"/>
          </p:cNvSpPr>
          <p:nvPr>
            <p:ph type="sldNum" sz="quarter" idx="5"/>
          </p:nvPr>
        </p:nvSpPr>
        <p:spPr/>
        <p:txBody>
          <a:bodyPr/>
          <a:lstStyle/>
          <a:p>
            <a:fld id="{92E3E675-13CA-4196-84E5-E684757DD2A6}" type="slidenum">
              <a:rPr lang="en-US" smtClean="0"/>
              <a:t>57</a:t>
            </a:fld>
            <a:endParaRPr lang="en-US"/>
          </a:p>
        </p:txBody>
      </p:sp>
    </p:spTree>
    <p:extLst>
      <p:ext uri="{BB962C8B-B14F-4D97-AF65-F5344CB8AC3E}">
        <p14:creationId xmlns:p14="http://schemas.microsoft.com/office/powerpoint/2010/main" val="14911834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task design 2, participants may encode X-A, X-B, and B-A simultaneously as an episodic memory)</a:t>
            </a:r>
          </a:p>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58</a:t>
            </a:fld>
            <a:endParaRPr lang="en-US"/>
          </a:p>
        </p:txBody>
      </p:sp>
    </p:spTree>
    <p:extLst>
      <p:ext uri="{BB962C8B-B14F-4D97-AF65-F5344CB8AC3E}">
        <p14:creationId xmlns:p14="http://schemas.microsoft.com/office/powerpoint/2010/main" val="25785532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59</a:t>
            </a:fld>
            <a:endParaRPr lang="en-US"/>
          </a:p>
        </p:txBody>
      </p:sp>
    </p:spTree>
    <p:extLst>
      <p:ext uri="{BB962C8B-B14F-4D97-AF65-F5344CB8AC3E}">
        <p14:creationId xmlns:p14="http://schemas.microsoft.com/office/powerpoint/2010/main" val="18848158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actually meaningful because participants may simply be retrieving image B upon cue with X and Y? No different from spatial retrieval</a:t>
            </a:r>
          </a:p>
        </p:txBody>
      </p:sp>
      <p:sp>
        <p:nvSpPr>
          <p:cNvPr id="4" name="Slide Number Placeholder 3"/>
          <p:cNvSpPr>
            <a:spLocks noGrp="1"/>
          </p:cNvSpPr>
          <p:nvPr>
            <p:ph type="sldNum" sz="quarter" idx="5"/>
          </p:nvPr>
        </p:nvSpPr>
        <p:spPr/>
        <p:txBody>
          <a:bodyPr/>
          <a:lstStyle/>
          <a:p>
            <a:fld id="{92E3E675-13CA-4196-84E5-E684757DD2A6}" type="slidenum">
              <a:rPr lang="en-US" smtClean="0"/>
              <a:t>62</a:t>
            </a:fld>
            <a:endParaRPr lang="en-US"/>
          </a:p>
        </p:txBody>
      </p:sp>
    </p:spTree>
    <p:extLst>
      <p:ext uri="{BB962C8B-B14F-4D97-AF65-F5344CB8AC3E}">
        <p14:creationId xmlns:p14="http://schemas.microsoft.com/office/powerpoint/2010/main" val="23201377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63</a:t>
            </a:fld>
            <a:endParaRPr lang="en-US"/>
          </a:p>
        </p:txBody>
      </p:sp>
    </p:spTree>
    <p:extLst>
      <p:ext uri="{BB962C8B-B14F-4D97-AF65-F5344CB8AC3E}">
        <p14:creationId xmlns:p14="http://schemas.microsoft.com/office/powerpoint/2010/main" val="37358951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66</a:t>
            </a:fld>
            <a:endParaRPr lang="en-US"/>
          </a:p>
        </p:txBody>
      </p:sp>
    </p:spTree>
    <p:extLst>
      <p:ext uri="{BB962C8B-B14F-4D97-AF65-F5344CB8AC3E}">
        <p14:creationId xmlns:p14="http://schemas.microsoft.com/office/powerpoint/2010/main" val="15455765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71</a:t>
            </a:fld>
            <a:endParaRPr lang="en-US"/>
          </a:p>
        </p:txBody>
      </p:sp>
    </p:spTree>
    <p:extLst>
      <p:ext uri="{BB962C8B-B14F-4D97-AF65-F5344CB8AC3E}">
        <p14:creationId xmlns:p14="http://schemas.microsoft.com/office/powerpoint/2010/main" val="35246942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latin typeface="Times New Roman" panose="02020603050405020304" pitchFamily="18" charset="0"/>
                <a:cs typeface="Times New Roman" panose="02020603050405020304" pitchFamily="18" charset="0"/>
              </a:rPr>
              <a:t>u</a:t>
            </a:r>
            <a:r>
              <a:rPr lang="en-US" dirty="0"/>
              <a:t>,</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v</a:t>
            </a:r>
            <a:r>
              <a:rPr lang="en-US" dirty="0"/>
              <a:t>,</a:t>
            </a:r>
            <a:r>
              <a:rPr lang="en-US" b="1" dirty="0">
                <a:latin typeface="Times New Roman" panose="02020603050405020304" pitchFamily="18" charset="0"/>
                <a:cs typeface="Times New Roman" panose="02020603050405020304" pitchFamily="18" charset="0"/>
              </a:rPr>
              <a:t> w</a:t>
            </a:r>
            <a:r>
              <a:rPr lang="en-US" dirty="0"/>
              <a:t>,</a:t>
            </a:r>
            <a:r>
              <a:rPr lang="en-US" b="1" dirty="0">
                <a:latin typeface="Times New Roman" panose="02020603050405020304" pitchFamily="18" charset="0"/>
                <a:cs typeface="Times New Roman" panose="02020603050405020304" pitchFamily="18" charset="0"/>
              </a:rPr>
              <a:t> x</a:t>
            </a:r>
            <a:r>
              <a:rPr lang="en-US" dirty="0"/>
              <a:t>,</a:t>
            </a:r>
            <a:r>
              <a:rPr lang="en-US" b="1" dirty="0">
                <a:latin typeface="Times New Roman" panose="02020603050405020304" pitchFamily="18" charset="0"/>
                <a:cs typeface="Times New Roman" panose="02020603050405020304" pitchFamily="18" charset="0"/>
              </a:rPr>
              <a:t> y</a:t>
            </a:r>
            <a:endParaRPr lang="en-US" dirty="0"/>
          </a:p>
        </p:txBody>
      </p:sp>
      <p:sp>
        <p:nvSpPr>
          <p:cNvPr id="4" name="Slide Number Placeholder 3"/>
          <p:cNvSpPr>
            <a:spLocks noGrp="1"/>
          </p:cNvSpPr>
          <p:nvPr>
            <p:ph type="sldNum" sz="quarter" idx="5"/>
          </p:nvPr>
        </p:nvSpPr>
        <p:spPr/>
        <p:txBody>
          <a:bodyPr/>
          <a:lstStyle/>
          <a:p>
            <a:fld id="{92E3E675-13CA-4196-84E5-E684757DD2A6}" type="slidenum">
              <a:rPr lang="en-US" smtClean="0"/>
              <a:t>72</a:t>
            </a:fld>
            <a:endParaRPr lang="en-US"/>
          </a:p>
        </p:txBody>
      </p:sp>
    </p:spTree>
    <p:extLst>
      <p:ext uri="{BB962C8B-B14F-4D97-AF65-F5344CB8AC3E}">
        <p14:creationId xmlns:p14="http://schemas.microsoft.com/office/powerpoint/2010/main" val="36134849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AD00B-6584-4BEB-BB07-D320C42443A6}"/>
              </a:ext>
            </a:extLst>
          </p:cNvPr>
          <p:cNvSpPr>
            <a:spLocks noGrp="1"/>
          </p:cNvSpPr>
          <p:nvPr>
            <p:ph type="ctrTitle"/>
          </p:nvPr>
        </p:nvSpPr>
        <p:spPr>
          <a:xfrm>
            <a:off x="1524000" y="1122363"/>
            <a:ext cx="9144000" cy="2387600"/>
          </a:xfrm>
        </p:spPr>
        <p:txBody>
          <a:bodyPr anchor="b"/>
          <a:lstStyle>
            <a:lvl1pPr algn="ctr">
              <a:defRPr sz="600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EE093775-97DA-4F0C-8091-7243A71F5AB9}"/>
              </a:ext>
            </a:extLst>
          </p:cNvPr>
          <p:cNvSpPr>
            <a:spLocks noGrp="1"/>
          </p:cNvSpPr>
          <p:nvPr>
            <p:ph type="subTitle" idx="1"/>
          </p:nvPr>
        </p:nvSpPr>
        <p:spPr>
          <a:xfrm>
            <a:off x="1524000" y="3602038"/>
            <a:ext cx="9144000" cy="1655762"/>
          </a:xfrm>
        </p:spPr>
        <p:txBody>
          <a:bodyPr/>
          <a:lstStyle>
            <a:lvl1pPr marL="0" indent="0" algn="ctr">
              <a:buNone/>
              <a:defRPr sz="24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0C2E7B29-494F-46C3-98E5-9F2CFE6B57A9}"/>
              </a:ext>
            </a:extLst>
          </p:cNvPr>
          <p:cNvSpPr>
            <a:spLocks noGrp="1"/>
          </p:cNvSpPr>
          <p:nvPr>
            <p:ph type="dt" sz="half" idx="10"/>
          </p:nvPr>
        </p:nvSpPr>
        <p:spPr/>
        <p:txBody>
          <a:bodyPr/>
          <a:lstStyle/>
          <a:p>
            <a:fld id="{826B2E29-6454-4170-AF87-B006FFB35D00}" type="datetimeFigureOut">
              <a:rPr lang="en-US" smtClean="0"/>
              <a:t>10/16/2023</a:t>
            </a:fld>
            <a:endParaRPr lang="en-US" dirty="0"/>
          </a:p>
        </p:txBody>
      </p:sp>
      <p:sp>
        <p:nvSpPr>
          <p:cNvPr id="5" name="Footer Placeholder 4">
            <a:extLst>
              <a:ext uri="{FF2B5EF4-FFF2-40B4-BE49-F238E27FC236}">
                <a16:creationId xmlns:a16="http://schemas.microsoft.com/office/drawing/2014/main" id="{1C629F06-03E1-4DE2-98E0-74887BAC9B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FE5F46-6594-4C1E-B5CA-1F1D6F20F0C5}"/>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29217703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18E2B-D6F1-4EA2-8F10-7D5D17974DB8}"/>
              </a:ext>
            </a:extLst>
          </p:cNvPr>
          <p:cNvSpPr>
            <a:spLocks noGrp="1"/>
          </p:cNvSpPr>
          <p:nvPr>
            <p:ph type="title"/>
          </p:nvPr>
        </p:nvSpPr>
        <p:spPr/>
        <p:txBody>
          <a:bodyPr/>
          <a:lstStyle>
            <a:lvl1pPr algn="ctr">
              <a:defRPr>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7AD061B-03B3-4665-AA43-89C80159D0F0}"/>
              </a:ext>
            </a:extLst>
          </p:cNvPr>
          <p:cNvSpPr>
            <a:spLocks noGrp="1"/>
          </p:cNvSpPr>
          <p:nvPr>
            <p:ph idx="1"/>
          </p:nvPr>
        </p:nvSpPr>
        <p:spPr/>
        <p:txBody>
          <a:bodyPr/>
          <a:lstStyle>
            <a:lvl1pPr>
              <a:defRPr>
                <a:latin typeface="Arial" panose="020B0604020202020204" pitchFamily="34" charset="0"/>
                <a:cs typeface="Arial" panose="020B0604020202020204" pitchFamily="34" charset="0"/>
              </a:defRPr>
            </a:lvl1pPr>
            <a:lvl2pPr marL="685800" indent="-228600">
              <a:buFont typeface="Courier New" panose="02070309020205020404" pitchFamily="49" charset="0"/>
              <a:buChar char="o"/>
              <a:defRPr>
                <a:latin typeface="Arial" panose="020B0604020202020204" pitchFamily="34" charset="0"/>
                <a:cs typeface="Arial" panose="020B0604020202020204" pitchFamily="34" charset="0"/>
              </a:defRPr>
            </a:lvl2pPr>
            <a:lvl3pPr marL="1143000" indent="-228600">
              <a:buFont typeface="Wingdings" panose="05000000000000000000" pitchFamily="2" charset="2"/>
              <a:buChar char="§"/>
              <a:defRPr>
                <a:latin typeface="Arial" panose="020B0604020202020204" pitchFamily="34" charset="0"/>
                <a:cs typeface="Arial" panose="020B0604020202020204" pitchFamily="34" charset="0"/>
              </a:defRPr>
            </a:lvl3pPr>
            <a:lvl4pPr marL="1600200" indent="-228600">
              <a:buFont typeface="Wingdings" panose="05000000000000000000" pitchFamily="2" charset="2"/>
              <a:buChar char="v"/>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DE68A43-9AA0-4950-B1EC-6BFB6F75E798}"/>
              </a:ext>
            </a:extLst>
          </p:cNvPr>
          <p:cNvSpPr>
            <a:spLocks noGrp="1"/>
          </p:cNvSpPr>
          <p:nvPr>
            <p:ph type="dt" sz="half" idx="10"/>
          </p:nvPr>
        </p:nvSpPr>
        <p:spPr/>
        <p:txBody>
          <a:bodyPr/>
          <a:lstStyle/>
          <a:p>
            <a:fld id="{826B2E29-6454-4170-AF87-B006FFB35D00}" type="datetimeFigureOut">
              <a:rPr lang="en-US" smtClean="0"/>
              <a:t>10/16/2023</a:t>
            </a:fld>
            <a:endParaRPr lang="en-US"/>
          </a:p>
        </p:txBody>
      </p:sp>
      <p:sp>
        <p:nvSpPr>
          <p:cNvPr id="5" name="Footer Placeholder 4">
            <a:extLst>
              <a:ext uri="{FF2B5EF4-FFF2-40B4-BE49-F238E27FC236}">
                <a16:creationId xmlns:a16="http://schemas.microsoft.com/office/drawing/2014/main" id="{3D1BB70E-48FE-49D7-B925-546DA100FE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8C68AE-EABA-4A35-AFE9-C39F59588379}"/>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60635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9B53F-ED2E-4673-A940-F01A32CB4A3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D9796FD-D16C-4F81-BDA1-928AE471D66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6B1EED-EFC9-4E32-A27E-A04910ABAF18}"/>
              </a:ext>
            </a:extLst>
          </p:cNvPr>
          <p:cNvSpPr>
            <a:spLocks noGrp="1"/>
          </p:cNvSpPr>
          <p:nvPr>
            <p:ph type="dt" sz="half" idx="10"/>
          </p:nvPr>
        </p:nvSpPr>
        <p:spPr/>
        <p:txBody>
          <a:bodyPr/>
          <a:lstStyle/>
          <a:p>
            <a:fld id="{826B2E29-6454-4170-AF87-B006FFB35D00}" type="datetimeFigureOut">
              <a:rPr lang="en-US" smtClean="0"/>
              <a:t>10/16/2023</a:t>
            </a:fld>
            <a:endParaRPr lang="en-US"/>
          </a:p>
        </p:txBody>
      </p:sp>
      <p:sp>
        <p:nvSpPr>
          <p:cNvPr id="5" name="Footer Placeholder 4">
            <a:extLst>
              <a:ext uri="{FF2B5EF4-FFF2-40B4-BE49-F238E27FC236}">
                <a16:creationId xmlns:a16="http://schemas.microsoft.com/office/drawing/2014/main" id="{5930C3AC-D4C3-43A1-B81B-0FE71EF265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1631A4-C8E4-40B1-8060-9CD773F03DB6}"/>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3358247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74271-11DA-4E97-B187-22F01CD292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7AD5DB8-CF97-4315-BD7D-836111B754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FD2452B-E913-4410-8B5A-FEA37D312DB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D060FC7-4A31-4ECB-B9E2-E3F479496C2B}"/>
              </a:ext>
            </a:extLst>
          </p:cNvPr>
          <p:cNvSpPr>
            <a:spLocks noGrp="1"/>
          </p:cNvSpPr>
          <p:nvPr>
            <p:ph type="dt" sz="half" idx="10"/>
          </p:nvPr>
        </p:nvSpPr>
        <p:spPr/>
        <p:txBody>
          <a:bodyPr/>
          <a:lstStyle/>
          <a:p>
            <a:fld id="{826B2E29-6454-4170-AF87-B006FFB35D00}" type="datetimeFigureOut">
              <a:rPr lang="en-US" smtClean="0"/>
              <a:t>10/16/2023</a:t>
            </a:fld>
            <a:endParaRPr lang="en-US"/>
          </a:p>
        </p:txBody>
      </p:sp>
      <p:sp>
        <p:nvSpPr>
          <p:cNvPr id="6" name="Footer Placeholder 5">
            <a:extLst>
              <a:ext uri="{FF2B5EF4-FFF2-40B4-BE49-F238E27FC236}">
                <a16:creationId xmlns:a16="http://schemas.microsoft.com/office/drawing/2014/main" id="{3EF10980-53A5-4B2D-8BF1-430BA182B1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17DF36-9C11-43B0-AFBB-13D8E0BB40F3}"/>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42149018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1C380-5819-47C0-B6DB-1BCA49A315D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6281FCE-3703-4337-967E-C2A5382DEB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6731D9-4835-412C-88CC-3CD3C6FA3E0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628CEF9-828A-4745-997E-A7DBBAD108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D2CBA7-3ACA-46DD-B733-BAC85603BC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35F5A09-EDB5-46E6-893D-EFB70025FE62}"/>
              </a:ext>
            </a:extLst>
          </p:cNvPr>
          <p:cNvSpPr>
            <a:spLocks noGrp="1"/>
          </p:cNvSpPr>
          <p:nvPr>
            <p:ph type="dt" sz="half" idx="10"/>
          </p:nvPr>
        </p:nvSpPr>
        <p:spPr/>
        <p:txBody>
          <a:bodyPr/>
          <a:lstStyle/>
          <a:p>
            <a:fld id="{826B2E29-6454-4170-AF87-B006FFB35D00}" type="datetimeFigureOut">
              <a:rPr lang="en-US" smtClean="0"/>
              <a:t>10/16/2023</a:t>
            </a:fld>
            <a:endParaRPr lang="en-US"/>
          </a:p>
        </p:txBody>
      </p:sp>
      <p:sp>
        <p:nvSpPr>
          <p:cNvPr id="8" name="Footer Placeholder 7">
            <a:extLst>
              <a:ext uri="{FF2B5EF4-FFF2-40B4-BE49-F238E27FC236}">
                <a16:creationId xmlns:a16="http://schemas.microsoft.com/office/drawing/2014/main" id="{01002CA3-1581-43C3-98FC-59A33E3D226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D09075-C4B1-42AC-8C75-4FB488376E15}"/>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2497736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B10F9-1F70-4CC0-A1BC-D1C42C2B756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5B85726-DBEF-4CA3-839B-352075533D1B}"/>
              </a:ext>
            </a:extLst>
          </p:cNvPr>
          <p:cNvSpPr>
            <a:spLocks noGrp="1"/>
          </p:cNvSpPr>
          <p:nvPr>
            <p:ph type="dt" sz="half" idx="10"/>
          </p:nvPr>
        </p:nvSpPr>
        <p:spPr/>
        <p:txBody>
          <a:bodyPr/>
          <a:lstStyle/>
          <a:p>
            <a:fld id="{826B2E29-6454-4170-AF87-B006FFB35D00}" type="datetimeFigureOut">
              <a:rPr lang="en-US" smtClean="0"/>
              <a:t>10/16/2023</a:t>
            </a:fld>
            <a:endParaRPr lang="en-US"/>
          </a:p>
        </p:txBody>
      </p:sp>
      <p:sp>
        <p:nvSpPr>
          <p:cNvPr id="4" name="Footer Placeholder 3">
            <a:extLst>
              <a:ext uri="{FF2B5EF4-FFF2-40B4-BE49-F238E27FC236}">
                <a16:creationId xmlns:a16="http://schemas.microsoft.com/office/drawing/2014/main" id="{05BA00EA-3C23-4588-BF03-F22ABBE80D4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9F3800-C9A5-4235-B574-19A012682222}"/>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36964829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CBCECA6-D996-452B-AD6A-269CA18468B3}"/>
              </a:ext>
            </a:extLst>
          </p:cNvPr>
          <p:cNvSpPr>
            <a:spLocks noGrp="1"/>
          </p:cNvSpPr>
          <p:nvPr>
            <p:ph type="dt" sz="half" idx="10"/>
          </p:nvPr>
        </p:nvSpPr>
        <p:spPr/>
        <p:txBody>
          <a:bodyPr/>
          <a:lstStyle/>
          <a:p>
            <a:fld id="{826B2E29-6454-4170-AF87-B006FFB35D00}" type="datetimeFigureOut">
              <a:rPr lang="en-US" smtClean="0"/>
              <a:t>10/16/2023</a:t>
            </a:fld>
            <a:endParaRPr lang="en-US"/>
          </a:p>
        </p:txBody>
      </p:sp>
      <p:sp>
        <p:nvSpPr>
          <p:cNvPr id="3" name="Footer Placeholder 2">
            <a:extLst>
              <a:ext uri="{FF2B5EF4-FFF2-40B4-BE49-F238E27FC236}">
                <a16:creationId xmlns:a16="http://schemas.microsoft.com/office/drawing/2014/main" id="{F60A0586-0096-41A3-A9AF-EE9CB38C9B4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5777BFA-2216-49F0-AF38-B46C9D82B7E4}"/>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1482853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1C996-C8A9-4FB0-A317-2E7E90812F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F127B42-DBC2-47A8-A40D-BAE97758B67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7521C7B-35CB-4880-A0AC-805BFB5B98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D47D0-2081-45E3-9C7E-BF43B9672EFD}"/>
              </a:ext>
            </a:extLst>
          </p:cNvPr>
          <p:cNvSpPr>
            <a:spLocks noGrp="1"/>
          </p:cNvSpPr>
          <p:nvPr>
            <p:ph type="dt" sz="half" idx="10"/>
          </p:nvPr>
        </p:nvSpPr>
        <p:spPr/>
        <p:txBody>
          <a:bodyPr/>
          <a:lstStyle/>
          <a:p>
            <a:fld id="{826B2E29-6454-4170-AF87-B006FFB35D00}" type="datetimeFigureOut">
              <a:rPr lang="en-US" smtClean="0"/>
              <a:t>10/16/2023</a:t>
            </a:fld>
            <a:endParaRPr lang="en-US"/>
          </a:p>
        </p:txBody>
      </p:sp>
      <p:sp>
        <p:nvSpPr>
          <p:cNvPr id="6" name="Footer Placeholder 5">
            <a:extLst>
              <a:ext uri="{FF2B5EF4-FFF2-40B4-BE49-F238E27FC236}">
                <a16:creationId xmlns:a16="http://schemas.microsoft.com/office/drawing/2014/main" id="{3ABC9F89-7930-49B0-A81E-736C95A736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624FF2-1361-4D73-A914-D03027804B03}"/>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23698733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6A0EA-C4AE-4F36-8754-7F92C6FD49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A581EA3-D358-4C88-8CEE-AF58C0349F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8B9D2496-CC08-4831-A9A9-D5744A808C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3AED85-6938-40CE-A6E8-A23E81056D88}"/>
              </a:ext>
            </a:extLst>
          </p:cNvPr>
          <p:cNvSpPr>
            <a:spLocks noGrp="1"/>
          </p:cNvSpPr>
          <p:nvPr>
            <p:ph type="dt" sz="half" idx="10"/>
          </p:nvPr>
        </p:nvSpPr>
        <p:spPr/>
        <p:txBody>
          <a:bodyPr/>
          <a:lstStyle/>
          <a:p>
            <a:fld id="{826B2E29-6454-4170-AF87-B006FFB35D00}" type="datetimeFigureOut">
              <a:rPr lang="en-US" smtClean="0"/>
              <a:t>10/16/2023</a:t>
            </a:fld>
            <a:endParaRPr lang="en-US"/>
          </a:p>
        </p:txBody>
      </p:sp>
      <p:sp>
        <p:nvSpPr>
          <p:cNvPr id="6" name="Footer Placeholder 5">
            <a:extLst>
              <a:ext uri="{FF2B5EF4-FFF2-40B4-BE49-F238E27FC236}">
                <a16:creationId xmlns:a16="http://schemas.microsoft.com/office/drawing/2014/main" id="{C33890F1-7ABC-438C-86BC-16AABE5A3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A9E24A-6694-40DE-A232-40F924DE7463}"/>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1455701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ED043-E298-4666-8D40-3D14B1C9CB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D9E29ED-D0CE-46BF-BF1D-C444FE7CCF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0FE7BF-BCB2-4C76-9FCF-0BC648695851}"/>
              </a:ext>
            </a:extLst>
          </p:cNvPr>
          <p:cNvSpPr>
            <a:spLocks noGrp="1"/>
          </p:cNvSpPr>
          <p:nvPr>
            <p:ph type="dt" sz="half" idx="10"/>
          </p:nvPr>
        </p:nvSpPr>
        <p:spPr/>
        <p:txBody>
          <a:bodyPr/>
          <a:lstStyle/>
          <a:p>
            <a:fld id="{826B2E29-6454-4170-AF87-B006FFB35D00}" type="datetimeFigureOut">
              <a:rPr lang="en-US" smtClean="0"/>
              <a:t>10/16/2023</a:t>
            </a:fld>
            <a:endParaRPr lang="en-US"/>
          </a:p>
        </p:txBody>
      </p:sp>
      <p:sp>
        <p:nvSpPr>
          <p:cNvPr id="5" name="Footer Placeholder 4">
            <a:extLst>
              <a:ext uri="{FF2B5EF4-FFF2-40B4-BE49-F238E27FC236}">
                <a16:creationId xmlns:a16="http://schemas.microsoft.com/office/drawing/2014/main" id="{68DD8F2D-07AF-4D6E-8EE6-F00A819F29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D59C9D-03F5-4136-A115-2B5FC467ACCE}"/>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3035892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978F8E-91D5-4268-9E68-89B29C78C7B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20A7A88-61E4-488E-96E2-DC43AFC7C5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0A047E-85C8-4E09-8CD6-618AA4BB7918}"/>
              </a:ext>
            </a:extLst>
          </p:cNvPr>
          <p:cNvSpPr>
            <a:spLocks noGrp="1"/>
          </p:cNvSpPr>
          <p:nvPr>
            <p:ph type="dt" sz="half" idx="10"/>
          </p:nvPr>
        </p:nvSpPr>
        <p:spPr/>
        <p:txBody>
          <a:bodyPr/>
          <a:lstStyle/>
          <a:p>
            <a:fld id="{826B2E29-6454-4170-AF87-B006FFB35D00}" type="datetimeFigureOut">
              <a:rPr lang="en-US" smtClean="0"/>
              <a:t>10/16/2023</a:t>
            </a:fld>
            <a:endParaRPr lang="en-US"/>
          </a:p>
        </p:txBody>
      </p:sp>
      <p:sp>
        <p:nvSpPr>
          <p:cNvPr id="5" name="Footer Placeholder 4">
            <a:extLst>
              <a:ext uri="{FF2B5EF4-FFF2-40B4-BE49-F238E27FC236}">
                <a16:creationId xmlns:a16="http://schemas.microsoft.com/office/drawing/2014/main" id="{C91B3190-D85C-4508-A9FB-2F4F4CA9E2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17CC3-2A4A-4F7B-970D-92630A69D12C}"/>
              </a:ext>
            </a:extLst>
          </p:cNvPr>
          <p:cNvSpPr>
            <a:spLocks noGrp="1"/>
          </p:cNvSpPr>
          <p:nvPr>
            <p:ph type="sldNum" sz="quarter" idx="12"/>
          </p:nvPr>
        </p:nvSpPr>
        <p:spPr/>
        <p:txBody>
          <a:bodyPr/>
          <a:lstStyle/>
          <a:p>
            <a:fld id="{608BFAFE-0FA7-4047-BC8F-BE5A17279354}" type="slidenum">
              <a:rPr lang="en-US" smtClean="0"/>
              <a:t>‹#›</a:t>
            </a:fld>
            <a:endParaRPr lang="en-US"/>
          </a:p>
        </p:txBody>
      </p:sp>
    </p:spTree>
    <p:extLst>
      <p:ext uri="{BB962C8B-B14F-4D97-AF65-F5344CB8AC3E}">
        <p14:creationId xmlns:p14="http://schemas.microsoft.com/office/powerpoint/2010/main" val="888836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B8FB9C-8843-415F-A091-7ADDE32AF1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A904287-E011-453F-99FD-D95C1BD669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1C8B418-76C4-4EDB-91EF-C8E4A73B4C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6B2E29-6454-4170-AF87-B006FFB35D00}" type="datetimeFigureOut">
              <a:rPr lang="en-US" smtClean="0"/>
              <a:t>10/16/2023</a:t>
            </a:fld>
            <a:endParaRPr lang="en-US"/>
          </a:p>
        </p:txBody>
      </p:sp>
      <p:sp>
        <p:nvSpPr>
          <p:cNvPr id="5" name="Footer Placeholder 4">
            <a:extLst>
              <a:ext uri="{FF2B5EF4-FFF2-40B4-BE49-F238E27FC236}">
                <a16:creationId xmlns:a16="http://schemas.microsoft.com/office/drawing/2014/main" id="{DDB74509-FFF9-4164-B6C3-46DDB68E46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28F2CDD-6359-4BCA-92D7-C7A8CB3D21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8BFAFE-0FA7-4047-BC8F-BE5A17279354}" type="slidenum">
              <a:rPr lang="en-US" smtClean="0"/>
              <a:t>‹#›</a:t>
            </a:fld>
            <a:endParaRPr lang="en-US"/>
          </a:p>
        </p:txBody>
      </p:sp>
    </p:spTree>
    <p:extLst>
      <p:ext uri="{BB962C8B-B14F-4D97-AF65-F5344CB8AC3E}">
        <p14:creationId xmlns:p14="http://schemas.microsoft.com/office/powerpoint/2010/main" val="42226718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14.png"/></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14.png"/></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4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56.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image" Target="../media/image51.emf"/><Relationship Id="rId1" Type="http://schemas.openxmlformats.org/officeDocument/2006/relationships/slideLayout" Target="../slideLayouts/slideLayout2.xml"/><Relationship Id="rId4" Type="http://schemas.openxmlformats.org/officeDocument/2006/relationships/image" Target="../media/image53.emf"/></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48.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64.xml.rels><?xml version="1.0" encoding="UTF-8" standalone="yes"?>
<Relationships xmlns="http://schemas.openxmlformats.org/package/2006/relationships"><Relationship Id="rId8" Type="http://schemas.openxmlformats.org/officeDocument/2006/relationships/image" Target="../media/image59.emf"/><Relationship Id="rId3" Type="http://schemas.openxmlformats.org/officeDocument/2006/relationships/image" Target="../media/image50.png"/><Relationship Id="rId7" Type="http://schemas.openxmlformats.org/officeDocument/2006/relationships/image" Target="../media/image58.emf"/><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49.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Paul Update</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r>
              <a:rPr lang="en-US" dirty="0"/>
              <a:t>10/3/2023</a:t>
            </a:r>
          </a:p>
        </p:txBody>
      </p:sp>
    </p:spTree>
    <p:extLst>
      <p:ext uri="{BB962C8B-B14F-4D97-AF65-F5344CB8AC3E}">
        <p14:creationId xmlns:p14="http://schemas.microsoft.com/office/powerpoint/2010/main" val="30579078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err="1"/>
              <a:t>Lifu</a:t>
            </a:r>
            <a:r>
              <a:rPr lang="en-US" dirty="0"/>
              <a:t> dissertation results</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213092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3-session fMRI study (</a:t>
            </a:r>
            <a:r>
              <a:rPr lang="en-US" altLang="zh-CN" dirty="0" err="1"/>
              <a:t>SchemRep</a:t>
            </a:r>
            <a:r>
              <a:rPr lang="en-US" dirty="0"/>
              <a:t>)</a:t>
            </a:r>
          </a:p>
        </p:txBody>
      </p:sp>
      <p:sp>
        <p:nvSpPr>
          <p:cNvPr id="3" name="Content Placeholder 2"/>
          <p:cNvSpPr>
            <a:spLocks noGrp="1"/>
          </p:cNvSpPr>
          <p:nvPr>
            <p:ph idx="1"/>
          </p:nvPr>
        </p:nvSpPr>
        <p:spPr>
          <a:xfrm>
            <a:off x="635000" y="1954212"/>
            <a:ext cx="4985773" cy="4767263"/>
          </a:xfrm>
        </p:spPr>
        <p:txBody>
          <a:bodyPr>
            <a:normAutofit/>
          </a:bodyPr>
          <a:lstStyle/>
          <a:p>
            <a:pPr marL="514350" indent="-514350">
              <a:buFont typeface="+mj-lt"/>
              <a:buAutoNum type="arabicPeriod"/>
            </a:pPr>
            <a:r>
              <a:rPr lang="en-US" altLang="zh-CN" b="1" dirty="0"/>
              <a:t>Baseline</a:t>
            </a:r>
            <a:r>
              <a:rPr lang="en-US" altLang="zh-CN" dirty="0"/>
              <a:t>: rated image-label typicality for objects</a:t>
            </a:r>
          </a:p>
          <a:p>
            <a:pPr marL="514350" indent="-514350">
              <a:buFont typeface="+mj-lt"/>
              <a:buAutoNum type="arabicPeriod"/>
            </a:pPr>
            <a:r>
              <a:rPr lang="en-US" b="1" dirty="0"/>
              <a:t>Encoding</a:t>
            </a:r>
            <a:r>
              <a:rPr lang="en-US" dirty="0"/>
              <a:t>: Presentation of scene and object. Rated how likely one is to find the object in the scene</a:t>
            </a:r>
          </a:p>
          <a:p>
            <a:pPr marL="514350" indent="-514350">
              <a:buFont typeface="+mj-lt"/>
              <a:buAutoNum type="arabicPeriod"/>
            </a:pPr>
            <a:r>
              <a:rPr lang="en-US" b="1" dirty="0"/>
              <a:t>Retrieval</a:t>
            </a:r>
            <a:r>
              <a:rPr lang="en-US" dirty="0"/>
              <a:t>: conceptual old/new followed by visual old/similar/new</a:t>
            </a:r>
          </a:p>
        </p:txBody>
      </p:sp>
      <p:sp>
        <p:nvSpPr>
          <p:cNvPr id="4" name="Slide Number Placeholder 3">
            <a:extLst>
              <a:ext uri="{FF2B5EF4-FFF2-40B4-BE49-F238E27FC236}">
                <a16:creationId xmlns:a16="http://schemas.microsoft.com/office/drawing/2014/main" id="{1F2383D4-A18D-BBFA-1BDA-099C2F8C8C43}"/>
              </a:ext>
            </a:extLst>
          </p:cNvPr>
          <p:cNvSpPr>
            <a:spLocks noGrp="1"/>
          </p:cNvSpPr>
          <p:nvPr>
            <p:ph type="sldNum" sz="quarter" idx="12"/>
          </p:nvPr>
        </p:nvSpPr>
        <p:spPr/>
        <p:txBody>
          <a:bodyPr/>
          <a:lstStyle/>
          <a:p>
            <a:fld id="{5BC0481F-DE52-414A-8886-8B7F01508184}" type="slidenum">
              <a:rPr lang="en-US" smtClean="0"/>
              <a:t>3</a:t>
            </a:fld>
            <a:endParaRPr lang="en-US"/>
          </a:p>
        </p:txBody>
      </p:sp>
      <p:pic>
        <p:nvPicPr>
          <p:cNvPr id="6" name="Picture 5">
            <a:extLst>
              <a:ext uri="{FF2B5EF4-FFF2-40B4-BE49-F238E27FC236}">
                <a16:creationId xmlns:a16="http://schemas.microsoft.com/office/drawing/2014/main" id="{4A59CECC-3013-1697-DB76-D42854B95E96}"/>
              </a:ext>
            </a:extLst>
          </p:cNvPr>
          <p:cNvPicPr>
            <a:picLocks noChangeAspect="1"/>
          </p:cNvPicPr>
          <p:nvPr/>
        </p:nvPicPr>
        <p:blipFill>
          <a:blip r:embed="rId2"/>
          <a:stretch>
            <a:fillRect/>
          </a:stretch>
        </p:blipFill>
        <p:spPr>
          <a:xfrm>
            <a:off x="5820108" y="2371725"/>
            <a:ext cx="6371892" cy="3614057"/>
          </a:xfrm>
          <a:prstGeom prst="rect">
            <a:avLst/>
          </a:prstGeom>
        </p:spPr>
      </p:pic>
    </p:spTree>
    <p:extLst>
      <p:ext uri="{BB962C8B-B14F-4D97-AF65-F5344CB8AC3E}">
        <p14:creationId xmlns:p14="http://schemas.microsoft.com/office/powerpoint/2010/main" val="50814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F0860-80A0-A5D8-31FD-5B678ADD9780}"/>
              </a:ext>
            </a:extLst>
          </p:cNvPr>
          <p:cNvSpPr>
            <a:spLocks noGrp="1"/>
          </p:cNvSpPr>
          <p:nvPr>
            <p:ph type="title"/>
          </p:nvPr>
        </p:nvSpPr>
        <p:spPr>
          <a:xfrm>
            <a:off x="838200" y="64028"/>
            <a:ext cx="10515600" cy="1325563"/>
          </a:xfrm>
        </p:spPr>
        <p:txBody>
          <a:bodyPr/>
          <a:lstStyle/>
          <a:p>
            <a:r>
              <a:rPr lang="en-US" dirty="0" err="1"/>
              <a:t>Lifu</a:t>
            </a:r>
            <a:r>
              <a:rPr lang="en-US" dirty="0"/>
              <a:t> results 1.1</a:t>
            </a:r>
          </a:p>
        </p:txBody>
      </p:sp>
      <p:pic>
        <p:nvPicPr>
          <p:cNvPr id="4" name="Picture 3">
            <a:extLst>
              <a:ext uri="{FF2B5EF4-FFF2-40B4-BE49-F238E27FC236}">
                <a16:creationId xmlns:a16="http://schemas.microsoft.com/office/drawing/2014/main" id="{B0E68DB2-12DF-FE7B-2599-AD2C9B0CA7F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32933" y="1389591"/>
            <a:ext cx="9626600" cy="5284259"/>
          </a:xfrm>
          <a:prstGeom prst="rect">
            <a:avLst/>
          </a:prstGeom>
        </p:spPr>
      </p:pic>
    </p:spTree>
    <p:extLst>
      <p:ext uri="{BB962C8B-B14F-4D97-AF65-F5344CB8AC3E}">
        <p14:creationId xmlns:p14="http://schemas.microsoft.com/office/powerpoint/2010/main" val="810174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E9D68-F79D-B51D-788F-4F35332A9836}"/>
              </a:ext>
            </a:extLst>
          </p:cNvPr>
          <p:cNvSpPr>
            <a:spLocks noGrp="1"/>
          </p:cNvSpPr>
          <p:nvPr>
            <p:ph type="title"/>
          </p:nvPr>
        </p:nvSpPr>
        <p:spPr>
          <a:xfrm>
            <a:off x="838200" y="-109008"/>
            <a:ext cx="10515600" cy="1325563"/>
          </a:xfrm>
        </p:spPr>
        <p:txBody>
          <a:bodyPr/>
          <a:lstStyle/>
          <a:p>
            <a:r>
              <a:rPr lang="en-US" dirty="0" err="1"/>
              <a:t>Lifu</a:t>
            </a:r>
            <a:r>
              <a:rPr lang="en-US" dirty="0"/>
              <a:t> Results 1.2</a:t>
            </a:r>
          </a:p>
        </p:txBody>
      </p:sp>
      <p:pic>
        <p:nvPicPr>
          <p:cNvPr id="4" name="Picture 3">
            <a:extLst>
              <a:ext uri="{FF2B5EF4-FFF2-40B4-BE49-F238E27FC236}">
                <a16:creationId xmlns:a16="http://schemas.microsoft.com/office/drawing/2014/main" id="{A88DC341-A9D3-D198-B0CC-9EE3631214D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665641" y="1024466"/>
            <a:ext cx="8657518" cy="5652995"/>
          </a:xfrm>
          <a:prstGeom prst="rect">
            <a:avLst/>
          </a:prstGeom>
        </p:spPr>
      </p:pic>
    </p:spTree>
    <p:extLst>
      <p:ext uri="{BB962C8B-B14F-4D97-AF65-F5344CB8AC3E}">
        <p14:creationId xmlns:p14="http://schemas.microsoft.com/office/powerpoint/2010/main" val="40788641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51A18-F415-5ED1-9132-CF7DEB077D05}"/>
              </a:ext>
            </a:extLst>
          </p:cNvPr>
          <p:cNvSpPr>
            <a:spLocks noGrp="1"/>
          </p:cNvSpPr>
          <p:nvPr>
            <p:ph type="title"/>
          </p:nvPr>
        </p:nvSpPr>
        <p:spPr/>
        <p:txBody>
          <a:bodyPr/>
          <a:lstStyle/>
          <a:p>
            <a:r>
              <a:rPr lang="en-US" dirty="0" err="1"/>
              <a:t>Lifu</a:t>
            </a:r>
            <a:r>
              <a:rPr lang="en-US" dirty="0"/>
              <a:t> Results 2.1</a:t>
            </a:r>
          </a:p>
        </p:txBody>
      </p:sp>
      <p:sp>
        <p:nvSpPr>
          <p:cNvPr id="3" name="Content Placeholder 2">
            <a:extLst>
              <a:ext uri="{FF2B5EF4-FFF2-40B4-BE49-F238E27FC236}">
                <a16:creationId xmlns:a16="http://schemas.microsoft.com/office/drawing/2014/main" id="{4B3EE3A3-2685-9FD4-0629-F08BD0784829}"/>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468065EB-3E6B-DC6B-8FAD-231C96BE68D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82283" y="1630891"/>
            <a:ext cx="10627433" cy="4486275"/>
          </a:xfrm>
          <a:prstGeom prst="rect">
            <a:avLst/>
          </a:prstGeom>
        </p:spPr>
      </p:pic>
    </p:spTree>
    <p:extLst>
      <p:ext uri="{BB962C8B-B14F-4D97-AF65-F5344CB8AC3E}">
        <p14:creationId xmlns:p14="http://schemas.microsoft.com/office/powerpoint/2010/main" val="2856259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97164-22BE-C244-BF7E-2CC91AF6FE3D}"/>
              </a:ext>
            </a:extLst>
          </p:cNvPr>
          <p:cNvSpPr>
            <a:spLocks noGrp="1"/>
          </p:cNvSpPr>
          <p:nvPr>
            <p:ph type="title"/>
          </p:nvPr>
        </p:nvSpPr>
        <p:spPr/>
        <p:txBody>
          <a:bodyPr/>
          <a:lstStyle/>
          <a:p>
            <a:r>
              <a:rPr lang="en-US" dirty="0" err="1"/>
              <a:t>Lifu</a:t>
            </a:r>
            <a:r>
              <a:rPr lang="en-US" dirty="0"/>
              <a:t> Results 2.2</a:t>
            </a:r>
          </a:p>
        </p:txBody>
      </p:sp>
      <p:sp>
        <p:nvSpPr>
          <p:cNvPr id="3" name="Content Placeholder 2">
            <a:extLst>
              <a:ext uri="{FF2B5EF4-FFF2-40B4-BE49-F238E27FC236}">
                <a16:creationId xmlns:a16="http://schemas.microsoft.com/office/drawing/2014/main" id="{215AAF47-1FEB-CE73-2786-BC73614AF840}"/>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F4E777CD-76FA-4D53-3344-629C9632F8F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204349" y="1589088"/>
            <a:ext cx="7783301" cy="5073001"/>
          </a:xfrm>
          <a:prstGeom prst="rect">
            <a:avLst/>
          </a:prstGeom>
        </p:spPr>
      </p:pic>
    </p:spTree>
    <p:extLst>
      <p:ext uri="{BB962C8B-B14F-4D97-AF65-F5344CB8AC3E}">
        <p14:creationId xmlns:p14="http://schemas.microsoft.com/office/powerpoint/2010/main" val="9072559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7724A-15D9-E3AC-8A14-1D336E3839ED}"/>
              </a:ext>
            </a:extLst>
          </p:cNvPr>
          <p:cNvSpPr>
            <a:spLocks noGrp="1"/>
          </p:cNvSpPr>
          <p:nvPr>
            <p:ph type="title"/>
          </p:nvPr>
        </p:nvSpPr>
        <p:spPr/>
        <p:txBody>
          <a:bodyPr/>
          <a:lstStyle/>
          <a:p>
            <a:r>
              <a:rPr lang="en-US" dirty="0" err="1"/>
              <a:t>Lifu</a:t>
            </a:r>
            <a:r>
              <a:rPr lang="en-US" dirty="0"/>
              <a:t> Results 2.3</a:t>
            </a:r>
          </a:p>
        </p:txBody>
      </p:sp>
      <p:sp>
        <p:nvSpPr>
          <p:cNvPr id="3" name="Content Placeholder 2">
            <a:extLst>
              <a:ext uri="{FF2B5EF4-FFF2-40B4-BE49-F238E27FC236}">
                <a16:creationId xmlns:a16="http://schemas.microsoft.com/office/drawing/2014/main" id="{958EDBC8-F1B4-99DA-03A3-4A9439880E53}"/>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BF8A8033-FECC-1A17-76DD-9761D168FD5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93269" y="1825625"/>
            <a:ext cx="11445024" cy="4216664"/>
          </a:xfrm>
          <a:prstGeom prst="rect">
            <a:avLst/>
          </a:prstGeom>
        </p:spPr>
      </p:pic>
    </p:spTree>
    <p:extLst>
      <p:ext uri="{BB962C8B-B14F-4D97-AF65-F5344CB8AC3E}">
        <p14:creationId xmlns:p14="http://schemas.microsoft.com/office/powerpoint/2010/main" val="7427760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normAutofit/>
          </a:bodyPr>
          <a:lstStyle/>
          <a:p>
            <a:r>
              <a:rPr lang="en-US" sz="5400" dirty="0"/>
              <a:t>Warning: Results may shift</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887392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5">
            <a:extLst>
              <a:ext uri="{FF2B5EF4-FFF2-40B4-BE49-F238E27FC236}">
                <a16:creationId xmlns:a16="http://schemas.microsoft.com/office/drawing/2014/main" id="{8B651484-7A4A-6595-D8C4-5E593876A968}"/>
              </a:ext>
            </a:extLst>
          </p:cNvPr>
          <p:cNvPicPr>
            <a:picLocks noChangeAspect="1"/>
          </p:cNvPicPr>
          <p:nvPr/>
        </p:nvPicPr>
        <p:blipFill>
          <a:blip r:embed="rId2"/>
          <a:stretch>
            <a:fillRect/>
          </a:stretch>
        </p:blipFill>
        <p:spPr>
          <a:xfrm>
            <a:off x="7597540" y="2692667"/>
            <a:ext cx="4572000" cy="3429000"/>
          </a:xfrm>
          <a:prstGeom prst="rect">
            <a:avLst/>
          </a:prstGeom>
        </p:spPr>
      </p:pic>
      <p:pic>
        <p:nvPicPr>
          <p:cNvPr id="24" name="Picture 23">
            <a:extLst>
              <a:ext uri="{FF2B5EF4-FFF2-40B4-BE49-F238E27FC236}">
                <a16:creationId xmlns:a16="http://schemas.microsoft.com/office/drawing/2014/main" id="{848884DF-FF34-E897-7836-C70AE094E269}"/>
              </a:ext>
            </a:extLst>
          </p:cNvPr>
          <p:cNvPicPr>
            <a:picLocks noChangeAspect="1"/>
          </p:cNvPicPr>
          <p:nvPr/>
        </p:nvPicPr>
        <p:blipFill>
          <a:blip r:embed="rId3"/>
          <a:stretch>
            <a:fillRect/>
          </a:stretch>
        </p:blipFill>
        <p:spPr>
          <a:xfrm>
            <a:off x="3605166" y="2692667"/>
            <a:ext cx="4572000" cy="3429000"/>
          </a:xfrm>
          <a:prstGeom prst="rect">
            <a:avLst/>
          </a:prstGeom>
        </p:spPr>
      </p:pic>
      <p:sp>
        <p:nvSpPr>
          <p:cNvPr id="2" name="Title 1">
            <a:extLst>
              <a:ext uri="{FF2B5EF4-FFF2-40B4-BE49-F238E27FC236}">
                <a16:creationId xmlns:a16="http://schemas.microsoft.com/office/drawing/2014/main" id="{56B40001-D83E-48BD-85C6-89975C92760A}"/>
              </a:ext>
            </a:extLst>
          </p:cNvPr>
          <p:cNvSpPr>
            <a:spLocks noGrp="1"/>
          </p:cNvSpPr>
          <p:nvPr>
            <p:ph type="title"/>
          </p:nvPr>
        </p:nvSpPr>
        <p:spPr>
          <a:xfrm>
            <a:off x="838200" y="0"/>
            <a:ext cx="10515600" cy="1325563"/>
          </a:xfrm>
        </p:spPr>
        <p:txBody>
          <a:bodyPr/>
          <a:lstStyle/>
          <a:p>
            <a:r>
              <a:rPr lang="en-US" dirty="0"/>
              <a:t>Preprocessing</a:t>
            </a:r>
          </a:p>
        </p:txBody>
      </p:sp>
      <p:sp>
        <p:nvSpPr>
          <p:cNvPr id="3" name="Content Placeholder 2">
            <a:extLst>
              <a:ext uri="{FF2B5EF4-FFF2-40B4-BE49-F238E27FC236}">
                <a16:creationId xmlns:a16="http://schemas.microsoft.com/office/drawing/2014/main" id="{9824CF99-FDDD-8605-DF0C-7277040548AA}"/>
              </a:ext>
            </a:extLst>
          </p:cNvPr>
          <p:cNvSpPr>
            <a:spLocks noGrp="1"/>
          </p:cNvSpPr>
          <p:nvPr>
            <p:ph idx="1"/>
          </p:nvPr>
        </p:nvSpPr>
        <p:spPr>
          <a:xfrm>
            <a:off x="838200" y="1253331"/>
            <a:ext cx="10515600" cy="4351338"/>
          </a:xfrm>
        </p:spPr>
        <p:txBody>
          <a:bodyPr/>
          <a:lstStyle/>
          <a:p>
            <a:r>
              <a:rPr lang="en-US" dirty="0"/>
              <a:t>As Cortney said, the data will be preprocessed again</a:t>
            </a:r>
          </a:p>
          <a:p>
            <a:r>
              <a:rPr lang="en-US" dirty="0"/>
              <a:t>Also, as we discussed in the lab meeting, we will need to discuss exactly what will be done about the within-run point</a:t>
            </a:r>
          </a:p>
          <a:p>
            <a:pPr lvl="1"/>
            <a:endParaRPr lang="en-US" dirty="0"/>
          </a:p>
        </p:txBody>
      </p:sp>
      <p:pic>
        <p:nvPicPr>
          <p:cNvPr id="22" name="Picture 21">
            <a:extLst>
              <a:ext uri="{FF2B5EF4-FFF2-40B4-BE49-F238E27FC236}">
                <a16:creationId xmlns:a16="http://schemas.microsoft.com/office/drawing/2014/main" id="{B1FFB0B6-5883-5045-0BE7-1335802713D9}"/>
              </a:ext>
            </a:extLst>
          </p:cNvPr>
          <p:cNvPicPr>
            <a:picLocks noChangeAspect="1"/>
          </p:cNvPicPr>
          <p:nvPr/>
        </p:nvPicPr>
        <p:blipFill rotWithShape="1">
          <a:blip r:embed="rId4"/>
          <a:srcRect l="9936" r="3889"/>
          <a:stretch/>
        </p:blipFill>
        <p:spPr>
          <a:xfrm>
            <a:off x="174861" y="2692667"/>
            <a:ext cx="3939940" cy="3429000"/>
          </a:xfrm>
          <a:prstGeom prst="rect">
            <a:avLst/>
          </a:prstGeom>
        </p:spPr>
      </p:pic>
      <p:sp>
        <p:nvSpPr>
          <p:cNvPr id="27" name="TextBox 26">
            <a:extLst>
              <a:ext uri="{FF2B5EF4-FFF2-40B4-BE49-F238E27FC236}">
                <a16:creationId xmlns:a16="http://schemas.microsoft.com/office/drawing/2014/main" id="{44DC3259-C257-2A25-AB85-CDC6B498ADD4}"/>
              </a:ext>
            </a:extLst>
          </p:cNvPr>
          <p:cNvSpPr txBox="1"/>
          <p:nvPr/>
        </p:nvSpPr>
        <p:spPr>
          <a:xfrm>
            <a:off x="393121" y="6121667"/>
            <a:ext cx="11271034" cy="369332"/>
          </a:xfrm>
          <a:prstGeom prst="rect">
            <a:avLst/>
          </a:prstGeom>
          <a:noFill/>
        </p:spPr>
        <p:txBody>
          <a:bodyPr wrap="none" rtlCol="0">
            <a:spAutoFit/>
          </a:bodyPr>
          <a:lstStyle/>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There are also questions about what exactly it means to “regress out” (e.g., should it be done run by run?)</a:t>
            </a:r>
          </a:p>
        </p:txBody>
      </p:sp>
    </p:spTree>
    <p:extLst>
      <p:ext uri="{BB962C8B-B14F-4D97-AF65-F5344CB8AC3E}">
        <p14:creationId xmlns:p14="http://schemas.microsoft.com/office/powerpoint/2010/main" val="141430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5EC47-EFFD-F52D-16CF-4B4258AC305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B4122AC-1970-3011-F088-636767DAB897}"/>
              </a:ext>
            </a:extLst>
          </p:cNvPr>
          <p:cNvSpPr>
            <a:spLocks noGrp="1"/>
          </p:cNvSpPr>
          <p:nvPr>
            <p:ph idx="1"/>
          </p:nvPr>
        </p:nvSpPr>
        <p:spPr/>
        <p:txBody>
          <a:bodyPr/>
          <a:lstStyle/>
          <a:p>
            <a:r>
              <a:rPr lang="en-US" dirty="0"/>
              <a:t>L_ATL for 102</a:t>
            </a:r>
          </a:p>
        </p:txBody>
      </p:sp>
      <p:pic>
        <p:nvPicPr>
          <p:cNvPr id="7" name="Picture 6">
            <a:extLst>
              <a:ext uri="{FF2B5EF4-FFF2-40B4-BE49-F238E27FC236}">
                <a16:creationId xmlns:a16="http://schemas.microsoft.com/office/drawing/2014/main" id="{8A0A50D0-526A-49ED-9A55-4346B9254A59}"/>
              </a:ext>
            </a:extLst>
          </p:cNvPr>
          <p:cNvPicPr>
            <a:picLocks noChangeAspect="1"/>
          </p:cNvPicPr>
          <p:nvPr/>
        </p:nvPicPr>
        <p:blipFill>
          <a:blip r:embed="rId2"/>
          <a:stretch>
            <a:fillRect/>
          </a:stretch>
        </p:blipFill>
        <p:spPr>
          <a:xfrm>
            <a:off x="5067300" y="1524000"/>
            <a:ext cx="6096000" cy="4572000"/>
          </a:xfrm>
          <a:prstGeom prst="rect">
            <a:avLst/>
          </a:prstGeom>
        </p:spPr>
      </p:pic>
    </p:spTree>
    <p:extLst>
      <p:ext uri="{BB962C8B-B14F-4D97-AF65-F5344CB8AC3E}">
        <p14:creationId xmlns:p14="http://schemas.microsoft.com/office/powerpoint/2010/main" val="3237001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93E52-1763-99E7-19BE-A4ADDB51E7EE}"/>
              </a:ext>
            </a:extLst>
          </p:cNvPr>
          <p:cNvSpPr>
            <a:spLocks noGrp="1"/>
          </p:cNvSpPr>
          <p:nvPr>
            <p:ph type="title"/>
          </p:nvPr>
        </p:nvSpPr>
        <p:spPr>
          <a:xfrm>
            <a:off x="838200" y="0"/>
            <a:ext cx="10515600" cy="1325563"/>
          </a:xfrm>
        </p:spPr>
        <p:txBody>
          <a:bodyPr/>
          <a:lstStyle/>
          <a:p>
            <a:r>
              <a:rPr lang="en-US" dirty="0"/>
              <a:t>Emerging property</a:t>
            </a:r>
          </a:p>
        </p:txBody>
      </p:sp>
      <p:sp>
        <p:nvSpPr>
          <p:cNvPr id="3" name="Content Placeholder 2">
            <a:extLst>
              <a:ext uri="{FF2B5EF4-FFF2-40B4-BE49-F238E27FC236}">
                <a16:creationId xmlns:a16="http://schemas.microsoft.com/office/drawing/2014/main" id="{136B450B-8CD0-7D7E-BB6E-2C56A686C674}"/>
              </a:ext>
            </a:extLst>
          </p:cNvPr>
          <p:cNvSpPr>
            <a:spLocks noGrp="1"/>
          </p:cNvSpPr>
          <p:nvPr>
            <p:ph idx="1"/>
          </p:nvPr>
        </p:nvSpPr>
        <p:spPr>
          <a:xfrm>
            <a:off x="838200" y="1325563"/>
            <a:ext cx="10515600" cy="1153578"/>
          </a:xfrm>
        </p:spPr>
        <p:txBody>
          <a:bodyPr/>
          <a:lstStyle/>
          <a:p>
            <a:r>
              <a:rPr lang="en-US" dirty="0"/>
              <a:t>If including within-run analysis, then we see similar IRAF across all ROIs for a given trial</a:t>
            </a:r>
          </a:p>
        </p:txBody>
      </p:sp>
      <p:pic>
        <p:nvPicPr>
          <p:cNvPr id="5" name="Picture 4">
            <a:extLst>
              <a:ext uri="{FF2B5EF4-FFF2-40B4-BE49-F238E27FC236}">
                <a16:creationId xmlns:a16="http://schemas.microsoft.com/office/drawing/2014/main" id="{C3571A27-BDCB-B9FB-14A1-F0810137067D}"/>
              </a:ext>
            </a:extLst>
          </p:cNvPr>
          <p:cNvPicPr>
            <a:picLocks noChangeAspect="1"/>
          </p:cNvPicPr>
          <p:nvPr/>
        </p:nvPicPr>
        <p:blipFill rotWithShape="1">
          <a:blip r:embed="rId2"/>
          <a:srcRect l="35895" r="5526"/>
          <a:stretch/>
        </p:blipFill>
        <p:spPr>
          <a:xfrm>
            <a:off x="1294998" y="2331449"/>
            <a:ext cx="3428134" cy="4389120"/>
          </a:xfrm>
          <a:prstGeom prst="rect">
            <a:avLst/>
          </a:prstGeom>
        </p:spPr>
      </p:pic>
      <p:pic>
        <p:nvPicPr>
          <p:cNvPr id="9" name="Picture 8">
            <a:extLst>
              <a:ext uri="{FF2B5EF4-FFF2-40B4-BE49-F238E27FC236}">
                <a16:creationId xmlns:a16="http://schemas.microsoft.com/office/drawing/2014/main" id="{DBCC8610-F2F4-95F1-378A-58A9CB1A2E13}"/>
              </a:ext>
            </a:extLst>
          </p:cNvPr>
          <p:cNvPicPr>
            <a:picLocks noChangeAspect="1"/>
          </p:cNvPicPr>
          <p:nvPr/>
        </p:nvPicPr>
        <p:blipFill rotWithShape="1">
          <a:blip r:embed="rId3"/>
          <a:srcRect l="36525" r="6316"/>
          <a:stretch/>
        </p:blipFill>
        <p:spPr>
          <a:xfrm>
            <a:off x="4593665" y="2339441"/>
            <a:ext cx="3344972" cy="4389120"/>
          </a:xfrm>
          <a:prstGeom prst="rect">
            <a:avLst/>
          </a:prstGeom>
        </p:spPr>
      </p:pic>
      <p:pic>
        <p:nvPicPr>
          <p:cNvPr id="13" name="Picture 12">
            <a:extLst>
              <a:ext uri="{FF2B5EF4-FFF2-40B4-BE49-F238E27FC236}">
                <a16:creationId xmlns:a16="http://schemas.microsoft.com/office/drawing/2014/main" id="{D5DE7C29-91B1-6E67-D58A-429182B787FB}"/>
              </a:ext>
            </a:extLst>
          </p:cNvPr>
          <p:cNvPicPr>
            <a:picLocks noChangeAspect="1"/>
          </p:cNvPicPr>
          <p:nvPr/>
        </p:nvPicPr>
        <p:blipFill rotWithShape="1">
          <a:blip r:embed="rId4"/>
          <a:srcRect l="36368" r="6474"/>
          <a:stretch/>
        </p:blipFill>
        <p:spPr>
          <a:xfrm>
            <a:off x="7784967" y="2352141"/>
            <a:ext cx="3344972" cy="4389120"/>
          </a:xfrm>
          <a:prstGeom prst="rect">
            <a:avLst/>
          </a:prstGeom>
        </p:spPr>
      </p:pic>
    </p:spTree>
    <p:extLst>
      <p:ext uri="{BB962C8B-B14F-4D97-AF65-F5344CB8AC3E}">
        <p14:creationId xmlns:p14="http://schemas.microsoft.com/office/powerpoint/2010/main" val="15091890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Proposed direction</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2881479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4A4B5-A432-541F-65E4-23FD5294701D}"/>
              </a:ext>
            </a:extLst>
          </p:cNvPr>
          <p:cNvSpPr>
            <a:spLocks noGrp="1"/>
          </p:cNvSpPr>
          <p:nvPr>
            <p:ph type="title"/>
          </p:nvPr>
        </p:nvSpPr>
        <p:spPr>
          <a:xfrm>
            <a:off x="838200" y="205200"/>
            <a:ext cx="10515600" cy="974558"/>
          </a:xfrm>
        </p:spPr>
        <p:txBody>
          <a:bodyPr/>
          <a:lstStyle/>
          <a:p>
            <a:r>
              <a:rPr lang="en-US" dirty="0"/>
              <a:t>Background</a:t>
            </a:r>
          </a:p>
        </p:txBody>
      </p:sp>
      <p:sp>
        <p:nvSpPr>
          <p:cNvPr id="3" name="Content Placeholder 2">
            <a:extLst>
              <a:ext uri="{FF2B5EF4-FFF2-40B4-BE49-F238E27FC236}">
                <a16:creationId xmlns:a16="http://schemas.microsoft.com/office/drawing/2014/main" id="{7DAC6084-ED24-0F80-EB4D-A00B47A1B11B}"/>
              </a:ext>
            </a:extLst>
          </p:cNvPr>
          <p:cNvSpPr>
            <a:spLocks noGrp="1"/>
          </p:cNvSpPr>
          <p:nvPr>
            <p:ph idx="1"/>
          </p:nvPr>
        </p:nvSpPr>
        <p:spPr>
          <a:xfrm>
            <a:off x="838200" y="1311922"/>
            <a:ext cx="10689000" cy="5391278"/>
          </a:xfrm>
        </p:spPr>
        <p:txBody>
          <a:bodyPr>
            <a:normAutofit/>
          </a:bodyPr>
          <a:lstStyle/>
          <a:p>
            <a:r>
              <a:rPr lang="en-US" dirty="0"/>
              <a:t>Predictive coding theory argues that all information is processed in terms of prediction errors</a:t>
            </a:r>
          </a:p>
          <a:p>
            <a:pPr lvl="1"/>
            <a:r>
              <a:rPr lang="en-US" dirty="0"/>
              <a:t>Prediction error is a computational mechanism used across the brain</a:t>
            </a:r>
          </a:p>
          <a:p>
            <a:pPr lvl="2"/>
            <a:r>
              <a:rPr lang="en-US" dirty="0"/>
              <a:t>Goes well beyond early theories that </a:t>
            </a:r>
            <a:r>
              <a:rPr lang="en-US" i="1" dirty="0"/>
              <a:t>reward prediction error </a:t>
            </a:r>
            <a:r>
              <a:rPr lang="en-US" dirty="0"/>
              <a:t>underlies behavioral learning and ventral striatum processing</a:t>
            </a:r>
          </a:p>
          <a:p>
            <a:pPr lvl="1"/>
            <a:r>
              <a:rPr lang="en-US" i="1" dirty="0"/>
              <a:t>Perceptual prediction error</a:t>
            </a:r>
          </a:p>
          <a:p>
            <a:pPr lvl="2"/>
            <a:r>
              <a:rPr lang="en-US" dirty="0"/>
              <a:t>Perception depends on the perceived likelihood of encountering a stimulus</a:t>
            </a:r>
          </a:p>
          <a:p>
            <a:pPr lvl="1"/>
            <a:r>
              <a:rPr lang="en-US" i="1" dirty="0"/>
              <a:t>Cognitive prediction error</a:t>
            </a:r>
          </a:p>
          <a:p>
            <a:pPr lvl="2"/>
            <a:r>
              <a:rPr lang="en-US" dirty="0"/>
              <a:t>Information is processed in terms of prior beliefs and updating</a:t>
            </a:r>
          </a:p>
          <a:p>
            <a:r>
              <a:rPr lang="en-US" dirty="0"/>
              <a:t>Predictive coding has been studied with univariate analyses</a:t>
            </a:r>
          </a:p>
          <a:p>
            <a:pPr lvl="1"/>
            <a:r>
              <a:rPr lang="en-US" dirty="0"/>
              <a:t>Perceptual prediction error correlated with activity in both cortical and subcortical regions</a:t>
            </a:r>
          </a:p>
        </p:txBody>
      </p:sp>
    </p:spTree>
    <p:extLst>
      <p:ext uri="{BB962C8B-B14F-4D97-AF65-F5344CB8AC3E}">
        <p14:creationId xmlns:p14="http://schemas.microsoft.com/office/powerpoint/2010/main" val="2397474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02C74-7939-7509-0F4F-EB79CECC20C0}"/>
              </a:ext>
            </a:extLst>
          </p:cNvPr>
          <p:cNvSpPr>
            <a:spLocks noGrp="1"/>
          </p:cNvSpPr>
          <p:nvPr>
            <p:ph type="title"/>
          </p:nvPr>
        </p:nvSpPr>
        <p:spPr>
          <a:xfrm>
            <a:off x="838200" y="235525"/>
            <a:ext cx="10515600" cy="1325563"/>
          </a:xfrm>
        </p:spPr>
        <p:txBody>
          <a:bodyPr/>
          <a:lstStyle/>
          <a:p>
            <a:r>
              <a:rPr lang="en-US" dirty="0"/>
              <a:t>Primary Question</a:t>
            </a:r>
          </a:p>
        </p:txBody>
      </p:sp>
      <p:sp>
        <p:nvSpPr>
          <p:cNvPr id="3" name="Content Placeholder 2">
            <a:extLst>
              <a:ext uri="{FF2B5EF4-FFF2-40B4-BE49-F238E27FC236}">
                <a16:creationId xmlns:a16="http://schemas.microsoft.com/office/drawing/2014/main" id="{093DC41D-33FB-7658-8B99-25CE7E0DACC7}"/>
              </a:ext>
            </a:extLst>
          </p:cNvPr>
          <p:cNvSpPr>
            <a:spLocks noGrp="1"/>
          </p:cNvSpPr>
          <p:nvPr>
            <p:ph idx="1"/>
          </p:nvPr>
        </p:nvSpPr>
        <p:spPr>
          <a:xfrm>
            <a:off x="838200" y="1661889"/>
            <a:ext cx="10515600" cy="4960586"/>
          </a:xfrm>
        </p:spPr>
        <p:txBody>
          <a:bodyPr>
            <a:normAutofit/>
          </a:bodyPr>
          <a:lstStyle/>
          <a:p>
            <a:r>
              <a:rPr lang="en-US" dirty="0"/>
              <a:t>Are stimuli </a:t>
            </a:r>
            <a:r>
              <a:rPr lang="en-US" i="1" dirty="0"/>
              <a:t>represented </a:t>
            </a:r>
            <a:r>
              <a:rPr lang="en-US" dirty="0"/>
              <a:t>as prediction errors?</a:t>
            </a:r>
          </a:p>
          <a:p>
            <a:pPr lvl="1"/>
            <a:r>
              <a:rPr lang="en-US" dirty="0"/>
              <a:t>No study has genuinely investigated this question </a:t>
            </a:r>
          </a:p>
          <a:p>
            <a:pPr lvl="2"/>
            <a:r>
              <a:rPr lang="en-US" dirty="0"/>
              <a:t>“Genuinely” = beyond univariate tests</a:t>
            </a:r>
          </a:p>
          <a:p>
            <a:pPr lvl="1"/>
            <a:r>
              <a:rPr lang="en-US" dirty="0"/>
              <a:t>Yet, this idea is a central element of predictive coding theory</a:t>
            </a:r>
          </a:p>
          <a:p>
            <a:pPr lvl="1"/>
            <a:r>
              <a:rPr lang="en-US" dirty="0"/>
              <a:t>This question gets at a critical point of contention</a:t>
            </a:r>
          </a:p>
          <a:p>
            <a:pPr lvl="2"/>
            <a:r>
              <a:rPr lang="en-US" dirty="0"/>
              <a:t>Opponents of the theory accept that prediction error plays some role in the brain (e.g., in the striatum) but push back against these bolder higher-order claims</a:t>
            </a:r>
          </a:p>
          <a:p>
            <a:r>
              <a:rPr lang="en-US" dirty="0"/>
              <a:t>Multivariate analyses of representations are strong tests of predictive coding theory</a:t>
            </a:r>
          </a:p>
          <a:p>
            <a:pPr lvl="1"/>
            <a:r>
              <a:rPr lang="en-US" dirty="0"/>
              <a:t>Other neural theories, supported by univariate results, broke down when tested via multivariate methods </a:t>
            </a:r>
          </a:p>
          <a:p>
            <a:endParaRPr lang="en-US" dirty="0"/>
          </a:p>
        </p:txBody>
      </p:sp>
    </p:spTree>
    <p:extLst>
      <p:ext uri="{BB962C8B-B14F-4D97-AF65-F5344CB8AC3E}">
        <p14:creationId xmlns:p14="http://schemas.microsoft.com/office/powerpoint/2010/main" val="2524216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B60B6-D308-6B57-292E-427E3DA478DC}"/>
              </a:ext>
            </a:extLst>
          </p:cNvPr>
          <p:cNvSpPr>
            <a:spLocks noGrp="1"/>
          </p:cNvSpPr>
          <p:nvPr>
            <p:ph type="title"/>
          </p:nvPr>
        </p:nvSpPr>
        <p:spPr>
          <a:xfrm>
            <a:off x="838200" y="347133"/>
            <a:ext cx="10515600" cy="1325563"/>
          </a:xfrm>
        </p:spPr>
        <p:txBody>
          <a:bodyPr/>
          <a:lstStyle/>
          <a:p>
            <a:r>
              <a:rPr lang="en-US" dirty="0"/>
              <a:t>Present Study and Hypotheses</a:t>
            </a:r>
          </a:p>
        </p:txBody>
      </p:sp>
      <p:sp>
        <p:nvSpPr>
          <p:cNvPr id="3" name="Content Placeholder 2">
            <a:extLst>
              <a:ext uri="{FF2B5EF4-FFF2-40B4-BE49-F238E27FC236}">
                <a16:creationId xmlns:a16="http://schemas.microsoft.com/office/drawing/2014/main" id="{48383511-B5DF-1D7E-BAA1-FED76B024FA8}"/>
              </a:ext>
            </a:extLst>
          </p:cNvPr>
          <p:cNvSpPr>
            <a:spLocks noGrp="1"/>
          </p:cNvSpPr>
          <p:nvPr>
            <p:ph idx="1"/>
          </p:nvPr>
        </p:nvSpPr>
        <p:spPr>
          <a:xfrm>
            <a:off x="707334" y="1835755"/>
            <a:ext cx="10941000" cy="4926112"/>
          </a:xfrm>
        </p:spPr>
        <p:txBody>
          <a:bodyPr>
            <a:normAutofit/>
          </a:bodyPr>
          <a:lstStyle/>
          <a:p>
            <a:pPr marL="514350" indent="-514350">
              <a:buFont typeface="+mj-lt"/>
              <a:buAutoNum type="arabicPeriod"/>
            </a:pPr>
            <a:r>
              <a:rPr lang="en-US" dirty="0"/>
              <a:t>Identify areas that make </a:t>
            </a:r>
            <a:r>
              <a:rPr lang="en-US" i="1" dirty="0"/>
              <a:t>predictions</a:t>
            </a:r>
          </a:p>
          <a:p>
            <a:pPr lvl="1"/>
            <a:r>
              <a:rPr lang="en-US" dirty="0"/>
              <a:t>Based on schema (scene) presentation, which regions represent the schema?</a:t>
            </a:r>
          </a:p>
          <a:p>
            <a:pPr marL="514350" indent="-514350">
              <a:buFont typeface="+mj-lt"/>
              <a:buAutoNum type="arabicPeriod"/>
            </a:pPr>
            <a:r>
              <a:rPr lang="en-US" dirty="0"/>
              <a:t>Among the regions representing the scene, does any area represent the object as a </a:t>
            </a:r>
            <a:r>
              <a:rPr lang="en-US" i="1" dirty="0"/>
              <a:t>prediction error </a:t>
            </a:r>
            <a:r>
              <a:rPr lang="en-US" dirty="0"/>
              <a:t>relative to the scene?</a:t>
            </a:r>
          </a:p>
          <a:p>
            <a:pPr marL="514350" indent="-514350">
              <a:buFont typeface="+mj-lt"/>
              <a:buAutoNum type="arabicPeriod"/>
            </a:pPr>
            <a:r>
              <a:rPr lang="en-US" dirty="0"/>
              <a:t>Is prediction error used as a computational mechanism?</a:t>
            </a:r>
          </a:p>
          <a:p>
            <a:pPr lvl="1"/>
            <a:r>
              <a:rPr lang="en-US" dirty="0"/>
              <a:t>Specifically, is object information encoded as a prediction error?</a:t>
            </a:r>
          </a:p>
          <a:p>
            <a:pPr lvl="2"/>
            <a:r>
              <a:rPr lang="en-US" dirty="0"/>
              <a:t>Does stronger prediction-error representation predict subsequent memory?</a:t>
            </a:r>
          </a:p>
          <a:p>
            <a:pPr lvl="2"/>
            <a:r>
              <a:rPr lang="en-US" dirty="0"/>
              <a:t>Are there signatures of prediction error during retrieval, even when the original scheme is no longer shown?</a:t>
            </a:r>
          </a:p>
        </p:txBody>
      </p:sp>
    </p:spTree>
    <p:extLst>
      <p:ext uri="{BB962C8B-B14F-4D97-AF65-F5344CB8AC3E}">
        <p14:creationId xmlns:p14="http://schemas.microsoft.com/office/powerpoint/2010/main" val="4275206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Methods</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4603192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302D1-35A2-0961-5D36-E0E9AA71EAD1}"/>
              </a:ext>
            </a:extLst>
          </p:cNvPr>
          <p:cNvSpPr>
            <a:spLocks noGrp="1"/>
          </p:cNvSpPr>
          <p:nvPr>
            <p:ph type="title"/>
          </p:nvPr>
        </p:nvSpPr>
        <p:spPr>
          <a:xfrm>
            <a:off x="838200" y="156119"/>
            <a:ext cx="10515600" cy="1325563"/>
          </a:xfrm>
        </p:spPr>
        <p:txBody>
          <a:bodyPr/>
          <a:lstStyle/>
          <a:p>
            <a:r>
              <a:rPr lang="en-US" dirty="0"/>
              <a:t>Data</a:t>
            </a:r>
          </a:p>
        </p:txBody>
      </p:sp>
      <p:sp>
        <p:nvSpPr>
          <p:cNvPr id="3" name="Content Placeholder 2">
            <a:extLst>
              <a:ext uri="{FF2B5EF4-FFF2-40B4-BE49-F238E27FC236}">
                <a16:creationId xmlns:a16="http://schemas.microsoft.com/office/drawing/2014/main" id="{6B79C058-A51C-1556-7D96-EBE2AAA3642E}"/>
              </a:ext>
            </a:extLst>
          </p:cNvPr>
          <p:cNvSpPr>
            <a:spLocks noGrp="1"/>
          </p:cNvSpPr>
          <p:nvPr>
            <p:ph idx="1"/>
          </p:nvPr>
        </p:nvSpPr>
        <p:spPr>
          <a:xfrm>
            <a:off x="530267" y="1766262"/>
            <a:ext cx="4991100" cy="2564718"/>
          </a:xfrm>
        </p:spPr>
        <p:txBody>
          <a:bodyPr>
            <a:normAutofit/>
          </a:bodyPr>
          <a:lstStyle/>
          <a:p>
            <a:r>
              <a:rPr lang="en-US" dirty="0"/>
              <a:t>I looked at the encoding data for </a:t>
            </a:r>
            <a:r>
              <a:rPr lang="en-US" dirty="0" err="1"/>
              <a:t>SchemeRep</a:t>
            </a:r>
            <a:endParaRPr lang="en-US" dirty="0"/>
          </a:p>
          <a:p>
            <a:pPr lvl="1"/>
            <a:r>
              <a:rPr lang="en-US" dirty="0"/>
              <a:t>Object presentation screen</a:t>
            </a:r>
          </a:p>
          <a:p>
            <a:pPr lvl="1"/>
            <a:r>
              <a:rPr lang="en-US" dirty="0"/>
              <a:t>Scene presentation screen</a:t>
            </a:r>
          </a:p>
        </p:txBody>
      </p:sp>
      <p:pic>
        <p:nvPicPr>
          <p:cNvPr id="5" name="Picture 4">
            <a:extLst>
              <a:ext uri="{FF2B5EF4-FFF2-40B4-BE49-F238E27FC236}">
                <a16:creationId xmlns:a16="http://schemas.microsoft.com/office/drawing/2014/main" id="{DB52B615-26EA-1DBA-FEFA-63AADAC28403}"/>
              </a:ext>
            </a:extLst>
          </p:cNvPr>
          <p:cNvPicPr>
            <a:picLocks noChangeAspect="1"/>
          </p:cNvPicPr>
          <p:nvPr/>
        </p:nvPicPr>
        <p:blipFill>
          <a:blip r:embed="rId3"/>
          <a:stretch>
            <a:fillRect/>
          </a:stretch>
        </p:blipFill>
        <p:spPr>
          <a:xfrm>
            <a:off x="6096000" y="1767780"/>
            <a:ext cx="5929487" cy="3834245"/>
          </a:xfrm>
          <a:prstGeom prst="rect">
            <a:avLst/>
          </a:prstGeom>
        </p:spPr>
      </p:pic>
      <p:sp>
        <p:nvSpPr>
          <p:cNvPr id="4" name="TextBox 3">
            <a:extLst>
              <a:ext uri="{FF2B5EF4-FFF2-40B4-BE49-F238E27FC236}">
                <a16:creationId xmlns:a16="http://schemas.microsoft.com/office/drawing/2014/main" id="{CBD0B90D-9868-3B52-205D-0F4752E87869}"/>
              </a:ext>
            </a:extLst>
          </p:cNvPr>
          <p:cNvSpPr txBox="1"/>
          <p:nvPr/>
        </p:nvSpPr>
        <p:spPr>
          <a:xfrm>
            <a:off x="8072010" y="5601737"/>
            <a:ext cx="492443"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3 s</a:t>
            </a:r>
          </a:p>
        </p:txBody>
      </p:sp>
      <p:sp>
        <p:nvSpPr>
          <p:cNvPr id="6" name="TextBox 5">
            <a:extLst>
              <a:ext uri="{FF2B5EF4-FFF2-40B4-BE49-F238E27FC236}">
                <a16:creationId xmlns:a16="http://schemas.microsoft.com/office/drawing/2014/main" id="{69723DE0-4791-3361-89F0-78F8E84800FD}"/>
              </a:ext>
            </a:extLst>
          </p:cNvPr>
          <p:cNvSpPr txBox="1"/>
          <p:nvPr/>
        </p:nvSpPr>
        <p:spPr>
          <a:xfrm>
            <a:off x="8674640" y="5601737"/>
            <a:ext cx="620683" cy="646331"/>
          </a:xfrm>
          <a:prstGeom prst="rect">
            <a:avLst/>
          </a:prstGeom>
          <a:noFill/>
        </p:spPr>
        <p:txBody>
          <a:bodyPr wrap="none" rtlCol="0">
            <a:spAutoFit/>
          </a:bodyPr>
          <a:lstStyle/>
          <a:p>
            <a:pPr algn="ctr"/>
            <a:r>
              <a:rPr lang="en-US" dirty="0">
                <a:latin typeface="Arial" panose="020B0604020202020204" pitchFamily="34" charset="0"/>
                <a:cs typeface="Arial" panose="020B0604020202020204" pitchFamily="34" charset="0"/>
              </a:rPr>
              <a:t>3 s </a:t>
            </a:r>
          </a:p>
          <a:p>
            <a:pPr algn="ctr"/>
            <a:r>
              <a:rPr lang="en-US" dirty="0">
                <a:latin typeface="Arial" panose="020B0604020202020204" pitchFamily="34" charset="0"/>
                <a:cs typeface="Arial" panose="020B0604020202020204" pitchFamily="34" charset="0"/>
              </a:rPr>
              <a:t>jitter</a:t>
            </a:r>
          </a:p>
        </p:txBody>
      </p:sp>
      <p:sp>
        <p:nvSpPr>
          <p:cNvPr id="7" name="TextBox 6">
            <a:extLst>
              <a:ext uri="{FF2B5EF4-FFF2-40B4-BE49-F238E27FC236}">
                <a16:creationId xmlns:a16="http://schemas.microsoft.com/office/drawing/2014/main" id="{D23B9B45-5711-97E7-7B90-45543FA7075F}"/>
              </a:ext>
            </a:extLst>
          </p:cNvPr>
          <p:cNvSpPr txBox="1"/>
          <p:nvPr/>
        </p:nvSpPr>
        <p:spPr>
          <a:xfrm>
            <a:off x="9405510" y="5601737"/>
            <a:ext cx="492443"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4 s</a:t>
            </a:r>
          </a:p>
        </p:txBody>
      </p:sp>
    </p:spTree>
    <p:extLst>
      <p:ext uri="{BB962C8B-B14F-4D97-AF65-F5344CB8AC3E}">
        <p14:creationId xmlns:p14="http://schemas.microsoft.com/office/powerpoint/2010/main" val="930529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3-session fMRI study (</a:t>
            </a:r>
            <a:r>
              <a:rPr lang="en-US" altLang="zh-CN" dirty="0" err="1"/>
              <a:t>SchemRep</a:t>
            </a:r>
            <a:r>
              <a:rPr lang="en-US" dirty="0"/>
              <a:t>)</a:t>
            </a:r>
          </a:p>
        </p:txBody>
      </p:sp>
      <p:sp>
        <p:nvSpPr>
          <p:cNvPr id="3" name="Content Placeholder 2"/>
          <p:cNvSpPr>
            <a:spLocks noGrp="1"/>
          </p:cNvSpPr>
          <p:nvPr>
            <p:ph idx="1"/>
          </p:nvPr>
        </p:nvSpPr>
        <p:spPr>
          <a:xfrm>
            <a:off x="635000" y="1954212"/>
            <a:ext cx="4985773" cy="4767263"/>
          </a:xfrm>
        </p:spPr>
        <p:txBody>
          <a:bodyPr>
            <a:normAutofit/>
          </a:bodyPr>
          <a:lstStyle/>
          <a:p>
            <a:pPr marL="514350" indent="-514350">
              <a:buFont typeface="+mj-lt"/>
              <a:buAutoNum type="arabicPeriod"/>
            </a:pPr>
            <a:r>
              <a:rPr lang="en-US" altLang="zh-CN" b="1" dirty="0"/>
              <a:t>Baseline</a:t>
            </a:r>
            <a:r>
              <a:rPr lang="en-US" altLang="zh-CN" dirty="0"/>
              <a:t>: rated image-label typicality for objects</a:t>
            </a:r>
          </a:p>
          <a:p>
            <a:pPr marL="514350" indent="-514350">
              <a:buFont typeface="+mj-lt"/>
              <a:buAutoNum type="arabicPeriod"/>
            </a:pPr>
            <a:r>
              <a:rPr lang="en-US" b="1" dirty="0"/>
              <a:t>Encoding</a:t>
            </a:r>
            <a:r>
              <a:rPr lang="en-US" dirty="0"/>
              <a:t>: Presentation of scene and object. Rated how likely one is to find the object in the scene</a:t>
            </a:r>
          </a:p>
          <a:p>
            <a:pPr marL="514350" indent="-514350">
              <a:buFont typeface="+mj-lt"/>
              <a:buAutoNum type="arabicPeriod"/>
            </a:pPr>
            <a:r>
              <a:rPr lang="en-US" b="1" dirty="0"/>
              <a:t>Retrieval</a:t>
            </a:r>
            <a:r>
              <a:rPr lang="en-US" dirty="0"/>
              <a:t>: conceptual old/new followed by visual old/similar/new</a:t>
            </a:r>
          </a:p>
        </p:txBody>
      </p:sp>
      <p:sp>
        <p:nvSpPr>
          <p:cNvPr id="4" name="Slide Number Placeholder 3">
            <a:extLst>
              <a:ext uri="{FF2B5EF4-FFF2-40B4-BE49-F238E27FC236}">
                <a16:creationId xmlns:a16="http://schemas.microsoft.com/office/drawing/2014/main" id="{1F2383D4-A18D-BBFA-1BDA-099C2F8C8C43}"/>
              </a:ext>
            </a:extLst>
          </p:cNvPr>
          <p:cNvSpPr>
            <a:spLocks noGrp="1"/>
          </p:cNvSpPr>
          <p:nvPr>
            <p:ph type="sldNum" sz="quarter" idx="12"/>
          </p:nvPr>
        </p:nvSpPr>
        <p:spPr/>
        <p:txBody>
          <a:bodyPr/>
          <a:lstStyle/>
          <a:p>
            <a:fld id="{5BC0481F-DE52-414A-8886-8B7F01508184}" type="slidenum">
              <a:rPr lang="en-US" smtClean="0"/>
              <a:t>19</a:t>
            </a:fld>
            <a:endParaRPr lang="en-US"/>
          </a:p>
        </p:txBody>
      </p:sp>
      <p:pic>
        <p:nvPicPr>
          <p:cNvPr id="6" name="Picture 5">
            <a:extLst>
              <a:ext uri="{FF2B5EF4-FFF2-40B4-BE49-F238E27FC236}">
                <a16:creationId xmlns:a16="http://schemas.microsoft.com/office/drawing/2014/main" id="{4A59CECC-3013-1697-DB76-D42854B95E96}"/>
              </a:ext>
            </a:extLst>
          </p:cNvPr>
          <p:cNvPicPr>
            <a:picLocks noChangeAspect="1"/>
          </p:cNvPicPr>
          <p:nvPr/>
        </p:nvPicPr>
        <p:blipFill>
          <a:blip r:embed="rId2"/>
          <a:stretch>
            <a:fillRect/>
          </a:stretch>
        </p:blipFill>
        <p:spPr>
          <a:xfrm>
            <a:off x="5820108" y="2371725"/>
            <a:ext cx="6371892" cy="3614057"/>
          </a:xfrm>
          <a:prstGeom prst="rect">
            <a:avLst/>
          </a:prstGeom>
        </p:spPr>
      </p:pic>
    </p:spTree>
    <p:extLst>
      <p:ext uri="{BB962C8B-B14F-4D97-AF65-F5344CB8AC3E}">
        <p14:creationId xmlns:p14="http://schemas.microsoft.com/office/powerpoint/2010/main" val="3286487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1BFAF-5918-2D50-EFD8-881BF2A35B24}"/>
              </a:ext>
            </a:extLst>
          </p:cNvPr>
          <p:cNvSpPr>
            <a:spLocks noGrp="1"/>
          </p:cNvSpPr>
          <p:nvPr>
            <p:ph type="title"/>
          </p:nvPr>
        </p:nvSpPr>
        <p:spPr>
          <a:xfrm>
            <a:off x="872067" y="187327"/>
            <a:ext cx="10515600" cy="786342"/>
          </a:xfrm>
        </p:spPr>
        <p:txBody>
          <a:bodyPr/>
          <a:lstStyle/>
          <a:p>
            <a:r>
              <a:rPr lang="en-US" dirty="0"/>
              <a:t>Behavioral results</a:t>
            </a:r>
          </a:p>
        </p:txBody>
      </p:sp>
      <p:pic>
        <p:nvPicPr>
          <p:cNvPr id="21" name="Picture 20">
            <a:extLst>
              <a:ext uri="{FF2B5EF4-FFF2-40B4-BE49-F238E27FC236}">
                <a16:creationId xmlns:a16="http://schemas.microsoft.com/office/drawing/2014/main" id="{27916DB2-2281-46CE-1977-3C7B87DC291F}"/>
              </a:ext>
            </a:extLst>
          </p:cNvPr>
          <p:cNvPicPr>
            <a:picLocks noChangeAspect="1"/>
          </p:cNvPicPr>
          <p:nvPr/>
        </p:nvPicPr>
        <p:blipFill>
          <a:blip r:embed="rId2"/>
          <a:stretch>
            <a:fillRect/>
          </a:stretch>
        </p:blipFill>
        <p:spPr>
          <a:xfrm>
            <a:off x="480271" y="980225"/>
            <a:ext cx="3840480" cy="2880360"/>
          </a:xfrm>
          <a:prstGeom prst="rect">
            <a:avLst/>
          </a:prstGeom>
        </p:spPr>
      </p:pic>
      <p:pic>
        <p:nvPicPr>
          <p:cNvPr id="23" name="Picture 22">
            <a:extLst>
              <a:ext uri="{FF2B5EF4-FFF2-40B4-BE49-F238E27FC236}">
                <a16:creationId xmlns:a16="http://schemas.microsoft.com/office/drawing/2014/main" id="{34CA28F7-CB2E-401F-1897-69DB257E57B9}"/>
              </a:ext>
            </a:extLst>
          </p:cNvPr>
          <p:cNvPicPr>
            <a:picLocks noChangeAspect="1"/>
          </p:cNvPicPr>
          <p:nvPr/>
        </p:nvPicPr>
        <p:blipFill>
          <a:blip r:embed="rId3"/>
          <a:stretch>
            <a:fillRect/>
          </a:stretch>
        </p:blipFill>
        <p:spPr>
          <a:xfrm>
            <a:off x="452754" y="3824181"/>
            <a:ext cx="3840480" cy="2880360"/>
          </a:xfrm>
          <a:prstGeom prst="rect">
            <a:avLst/>
          </a:prstGeom>
        </p:spPr>
      </p:pic>
      <p:pic>
        <p:nvPicPr>
          <p:cNvPr id="25" name="Picture 24">
            <a:extLst>
              <a:ext uri="{FF2B5EF4-FFF2-40B4-BE49-F238E27FC236}">
                <a16:creationId xmlns:a16="http://schemas.microsoft.com/office/drawing/2014/main" id="{2E0EA0D1-7436-224E-A259-1FD5321A69F5}"/>
              </a:ext>
            </a:extLst>
          </p:cNvPr>
          <p:cNvPicPr>
            <a:picLocks noChangeAspect="1"/>
          </p:cNvPicPr>
          <p:nvPr/>
        </p:nvPicPr>
        <p:blipFill>
          <a:blip r:embed="rId4"/>
          <a:stretch>
            <a:fillRect/>
          </a:stretch>
        </p:blipFill>
        <p:spPr>
          <a:xfrm>
            <a:off x="4320751" y="980225"/>
            <a:ext cx="3840480" cy="2880360"/>
          </a:xfrm>
          <a:prstGeom prst="rect">
            <a:avLst/>
          </a:prstGeom>
        </p:spPr>
      </p:pic>
      <p:pic>
        <p:nvPicPr>
          <p:cNvPr id="27" name="Picture 26">
            <a:extLst>
              <a:ext uri="{FF2B5EF4-FFF2-40B4-BE49-F238E27FC236}">
                <a16:creationId xmlns:a16="http://schemas.microsoft.com/office/drawing/2014/main" id="{56784443-7A11-3C75-C718-1EFA8EFBBDA7}"/>
              </a:ext>
            </a:extLst>
          </p:cNvPr>
          <p:cNvPicPr>
            <a:picLocks noChangeAspect="1"/>
          </p:cNvPicPr>
          <p:nvPr/>
        </p:nvPicPr>
        <p:blipFill>
          <a:blip r:embed="rId5"/>
          <a:stretch>
            <a:fillRect/>
          </a:stretch>
        </p:blipFill>
        <p:spPr>
          <a:xfrm>
            <a:off x="4263919" y="3824181"/>
            <a:ext cx="3840480" cy="2880360"/>
          </a:xfrm>
          <a:prstGeom prst="rect">
            <a:avLst/>
          </a:prstGeom>
        </p:spPr>
      </p:pic>
      <p:pic>
        <p:nvPicPr>
          <p:cNvPr id="29" name="Picture 28">
            <a:extLst>
              <a:ext uri="{FF2B5EF4-FFF2-40B4-BE49-F238E27FC236}">
                <a16:creationId xmlns:a16="http://schemas.microsoft.com/office/drawing/2014/main" id="{8326F6F7-D1DD-19FE-FBAC-EDC7CC118713}"/>
              </a:ext>
            </a:extLst>
          </p:cNvPr>
          <p:cNvPicPr>
            <a:picLocks noChangeAspect="1"/>
          </p:cNvPicPr>
          <p:nvPr/>
        </p:nvPicPr>
        <p:blipFill>
          <a:blip r:embed="rId6"/>
          <a:stretch>
            <a:fillRect/>
          </a:stretch>
        </p:blipFill>
        <p:spPr>
          <a:xfrm>
            <a:off x="8104399" y="980225"/>
            <a:ext cx="3840480" cy="2880360"/>
          </a:xfrm>
          <a:prstGeom prst="rect">
            <a:avLst/>
          </a:prstGeom>
        </p:spPr>
      </p:pic>
      <p:pic>
        <p:nvPicPr>
          <p:cNvPr id="31" name="Picture 30">
            <a:extLst>
              <a:ext uri="{FF2B5EF4-FFF2-40B4-BE49-F238E27FC236}">
                <a16:creationId xmlns:a16="http://schemas.microsoft.com/office/drawing/2014/main" id="{337B24EA-D0E5-4501-C7BF-CC281A4BAE39}"/>
              </a:ext>
            </a:extLst>
          </p:cNvPr>
          <p:cNvPicPr>
            <a:picLocks noChangeAspect="1"/>
          </p:cNvPicPr>
          <p:nvPr/>
        </p:nvPicPr>
        <p:blipFill>
          <a:blip r:embed="rId7"/>
          <a:stretch>
            <a:fillRect/>
          </a:stretch>
        </p:blipFill>
        <p:spPr>
          <a:xfrm>
            <a:off x="8104399" y="3824181"/>
            <a:ext cx="3840480" cy="2880360"/>
          </a:xfrm>
          <a:prstGeom prst="rect">
            <a:avLst/>
          </a:prstGeom>
        </p:spPr>
      </p:pic>
    </p:spTree>
    <p:extLst>
      <p:ext uri="{BB962C8B-B14F-4D97-AF65-F5344CB8AC3E}">
        <p14:creationId xmlns:p14="http://schemas.microsoft.com/office/powerpoint/2010/main" val="6137652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3288F-3618-88F3-339F-3554A9A6BD79}"/>
              </a:ext>
            </a:extLst>
          </p:cNvPr>
          <p:cNvSpPr>
            <a:spLocks noGrp="1"/>
          </p:cNvSpPr>
          <p:nvPr>
            <p:ph type="title"/>
          </p:nvPr>
        </p:nvSpPr>
        <p:spPr>
          <a:xfrm>
            <a:off x="438449" y="497367"/>
            <a:ext cx="5054600" cy="1325563"/>
          </a:xfrm>
        </p:spPr>
        <p:txBody>
          <a:bodyPr/>
          <a:lstStyle/>
          <a:p>
            <a:r>
              <a:rPr lang="en-US" dirty="0" err="1"/>
              <a:t>Brainnetome</a:t>
            </a:r>
            <a:r>
              <a:rPr lang="en-US" dirty="0"/>
              <a:t> atlas</a:t>
            </a:r>
          </a:p>
        </p:txBody>
      </p:sp>
      <p:sp>
        <p:nvSpPr>
          <p:cNvPr id="3" name="Content Placeholder 2">
            <a:extLst>
              <a:ext uri="{FF2B5EF4-FFF2-40B4-BE49-F238E27FC236}">
                <a16:creationId xmlns:a16="http://schemas.microsoft.com/office/drawing/2014/main" id="{2AE8E55C-1B9D-9B47-EDE2-4C945C7A47B2}"/>
              </a:ext>
            </a:extLst>
          </p:cNvPr>
          <p:cNvSpPr>
            <a:spLocks noGrp="1"/>
          </p:cNvSpPr>
          <p:nvPr>
            <p:ph idx="1"/>
          </p:nvPr>
        </p:nvSpPr>
        <p:spPr>
          <a:xfrm>
            <a:off x="857549" y="2035702"/>
            <a:ext cx="4216400" cy="2416811"/>
          </a:xfrm>
        </p:spPr>
        <p:txBody>
          <a:bodyPr>
            <a:normAutofit/>
          </a:bodyPr>
          <a:lstStyle/>
          <a:p>
            <a:r>
              <a:rPr lang="en-US" dirty="0"/>
              <a:t>Used by </a:t>
            </a:r>
            <a:r>
              <a:rPr lang="en-US" dirty="0" err="1"/>
              <a:t>Lifu</a:t>
            </a:r>
            <a:r>
              <a:rPr lang="en-US" dirty="0"/>
              <a:t> and Shenyang</a:t>
            </a:r>
          </a:p>
          <a:p>
            <a:r>
              <a:rPr lang="en-US" dirty="0"/>
              <a:t>246 ROIs</a:t>
            </a:r>
          </a:p>
          <a:p>
            <a:pPr lvl="1"/>
            <a:r>
              <a:rPr lang="en-US" dirty="0"/>
              <a:t>Cortical and subcortical</a:t>
            </a:r>
          </a:p>
          <a:p>
            <a:endParaRPr lang="en-US" dirty="0"/>
          </a:p>
        </p:txBody>
      </p:sp>
      <p:pic>
        <p:nvPicPr>
          <p:cNvPr id="4" name="Picture 3">
            <a:extLst>
              <a:ext uri="{FF2B5EF4-FFF2-40B4-BE49-F238E27FC236}">
                <a16:creationId xmlns:a16="http://schemas.microsoft.com/office/drawing/2014/main" id="{8F531BC8-BAB9-F6A9-85AB-86C38A9B4BE8}"/>
              </a:ext>
            </a:extLst>
          </p:cNvPr>
          <p:cNvPicPr>
            <a:picLocks noChangeAspect="1"/>
          </p:cNvPicPr>
          <p:nvPr/>
        </p:nvPicPr>
        <p:blipFill>
          <a:blip r:embed="rId3"/>
          <a:stretch>
            <a:fillRect/>
          </a:stretch>
        </p:blipFill>
        <p:spPr>
          <a:xfrm>
            <a:off x="6096000" y="654320"/>
            <a:ext cx="5892798" cy="5942249"/>
          </a:xfrm>
          <a:prstGeom prst="rect">
            <a:avLst/>
          </a:prstGeom>
        </p:spPr>
      </p:pic>
    </p:spTree>
    <p:extLst>
      <p:ext uri="{BB962C8B-B14F-4D97-AF65-F5344CB8AC3E}">
        <p14:creationId xmlns:p14="http://schemas.microsoft.com/office/powerpoint/2010/main" val="3006869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Rectangle 1028">
            <a:extLst>
              <a:ext uri="{FF2B5EF4-FFF2-40B4-BE49-F238E27FC236}">
                <a16:creationId xmlns:a16="http://schemas.microsoft.com/office/drawing/2014/main" id="{71DA3CBB-0E70-024A-EBC2-5261289C45C8}"/>
              </a:ext>
            </a:extLst>
          </p:cNvPr>
          <p:cNvSpPr/>
          <p:nvPr/>
        </p:nvSpPr>
        <p:spPr>
          <a:xfrm>
            <a:off x="499026" y="1280761"/>
            <a:ext cx="5237310" cy="3000375"/>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F9D74C-FB51-E387-833E-0D917F8C7900}"/>
              </a:ext>
            </a:extLst>
          </p:cNvPr>
          <p:cNvSpPr>
            <a:spLocks noGrp="1"/>
          </p:cNvSpPr>
          <p:nvPr>
            <p:ph type="title"/>
          </p:nvPr>
        </p:nvSpPr>
        <p:spPr>
          <a:xfrm>
            <a:off x="838200" y="18364"/>
            <a:ext cx="10515600" cy="673309"/>
          </a:xfrm>
        </p:spPr>
        <p:txBody>
          <a:bodyPr>
            <a:normAutofit fontScale="90000"/>
          </a:bodyPr>
          <a:lstStyle/>
          <a:p>
            <a:r>
              <a:rPr lang="en-US" dirty="0"/>
              <a:t>Stimulus representations</a:t>
            </a:r>
          </a:p>
        </p:txBody>
      </p:sp>
      <p:sp>
        <p:nvSpPr>
          <p:cNvPr id="3" name="Content Placeholder 2">
            <a:extLst>
              <a:ext uri="{FF2B5EF4-FFF2-40B4-BE49-F238E27FC236}">
                <a16:creationId xmlns:a16="http://schemas.microsoft.com/office/drawing/2014/main" id="{3DEA1933-6C2A-C270-C1C2-01C180E279F1}"/>
              </a:ext>
            </a:extLst>
          </p:cNvPr>
          <p:cNvSpPr>
            <a:spLocks noGrp="1"/>
          </p:cNvSpPr>
          <p:nvPr>
            <p:ph idx="1"/>
          </p:nvPr>
        </p:nvSpPr>
        <p:spPr>
          <a:xfrm>
            <a:off x="6101787" y="969487"/>
            <a:ext cx="5489285" cy="5472839"/>
          </a:xfrm>
        </p:spPr>
        <p:txBody>
          <a:bodyPr>
            <a:normAutofit lnSpcReduction="10000"/>
          </a:bodyPr>
          <a:lstStyle/>
          <a:p>
            <a:r>
              <a:rPr lang="en-US" dirty="0"/>
              <a:t>Presentation of the scheme serves to inform the </a:t>
            </a:r>
            <a:r>
              <a:rPr lang="en-US" i="1" dirty="0"/>
              <a:t>prediction</a:t>
            </a:r>
          </a:p>
          <a:p>
            <a:pPr lvl="1"/>
            <a:r>
              <a:rPr lang="en-US" dirty="0"/>
              <a:t>RSA: scene vector x scene presentation fMRI</a:t>
            </a:r>
          </a:p>
          <a:p>
            <a:pPr lvl="1"/>
            <a:r>
              <a:rPr lang="en-US" dirty="0"/>
              <a:t>Unsigned prediction error</a:t>
            </a:r>
          </a:p>
          <a:p>
            <a:r>
              <a:rPr lang="en-US" dirty="0"/>
              <a:t>Presentation of the object may elicit a </a:t>
            </a:r>
            <a:r>
              <a:rPr lang="en-US" i="1" dirty="0"/>
              <a:t>prediction error</a:t>
            </a:r>
            <a:endParaRPr lang="en-US" dirty="0"/>
          </a:p>
          <a:p>
            <a:pPr lvl="1"/>
            <a:r>
              <a:rPr lang="en-US" dirty="0"/>
              <a:t>RSA with the absolute-difference vector x object presentation fMRI</a:t>
            </a:r>
          </a:p>
          <a:p>
            <a:pPr lvl="1"/>
            <a:r>
              <a:rPr lang="en-US" dirty="0"/>
              <a:t>Confound risk:</a:t>
            </a:r>
          </a:p>
          <a:p>
            <a:pPr lvl="2"/>
            <a:r>
              <a:rPr lang="en-US" dirty="0"/>
              <a:t>Driven by solely the object</a:t>
            </a:r>
          </a:p>
          <a:p>
            <a:pPr lvl="2"/>
            <a:r>
              <a:rPr lang="en-US" dirty="0"/>
              <a:t>Driven by solely the scene</a:t>
            </a:r>
          </a:p>
          <a:p>
            <a:pPr lvl="1"/>
            <a:r>
              <a:rPr lang="en-US" dirty="0"/>
              <a:t>Hence:</a:t>
            </a:r>
          </a:p>
          <a:p>
            <a:pPr lvl="2"/>
            <a:r>
              <a:rPr lang="en-US" dirty="0"/>
              <a:t>Regress out object RSA z-score and scene RSA z-score</a:t>
            </a:r>
          </a:p>
        </p:txBody>
      </p:sp>
      <p:pic>
        <p:nvPicPr>
          <p:cNvPr id="4" name="Picture 3">
            <a:extLst>
              <a:ext uri="{FF2B5EF4-FFF2-40B4-BE49-F238E27FC236}">
                <a16:creationId xmlns:a16="http://schemas.microsoft.com/office/drawing/2014/main" id="{3049168C-F2CD-A5A6-41BF-C317088DB086}"/>
              </a:ext>
            </a:extLst>
          </p:cNvPr>
          <p:cNvPicPr>
            <a:picLocks noChangeAspect="1"/>
          </p:cNvPicPr>
          <p:nvPr/>
        </p:nvPicPr>
        <p:blipFill rotWithShape="1">
          <a:blip r:embed="rId3"/>
          <a:srcRect l="26687" t="54667" r="53475" b="14256"/>
          <a:stretch/>
        </p:blipFill>
        <p:spPr>
          <a:xfrm>
            <a:off x="768702" y="1444863"/>
            <a:ext cx="1176338" cy="1191624"/>
          </a:xfrm>
          <a:prstGeom prst="rect">
            <a:avLst/>
          </a:prstGeom>
        </p:spPr>
      </p:pic>
      <p:pic>
        <p:nvPicPr>
          <p:cNvPr id="5" name="Picture 4">
            <a:extLst>
              <a:ext uri="{FF2B5EF4-FFF2-40B4-BE49-F238E27FC236}">
                <a16:creationId xmlns:a16="http://schemas.microsoft.com/office/drawing/2014/main" id="{2DFCB511-91FB-CF26-1142-F039262BBEB5}"/>
              </a:ext>
            </a:extLst>
          </p:cNvPr>
          <p:cNvPicPr>
            <a:picLocks noChangeAspect="1"/>
          </p:cNvPicPr>
          <p:nvPr/>
        </p:nvPicPr>
        <p:blipFill rotWithShape="1">
          <a:blip r:embed="rId3"/>
          <a:srcRect l="50552" t="54668" r="29609" b="14254"/>
          <a:stretch/>
        </p:blipFill>
        <p:spPr>
          <a:xfrm>
            <a:off x="2520748" y="1444863"/>
            <a:ext cx="1176338" cy="1191624"/>
          </a:xfrm>
          <a:prstGeom prst="rect">
            <a:avLst/>
          </a:prstGeom>
        </p:spPr>
      </p:pic>
      <p:sp>
        <p:nvSpPr>
          <p:cNvPr id="6" name="Rectangle 5">
            <a:extLst>
              <a:ext uri="{FF2B5EF4-FFF2-40B4-BE49-F238E27FC236}">
                <a16:creationId xmlns:a16="http://schemas.microsoft.com/office/drawing/2014/main" id="{5F7C2078-DCA7-B9B3-C174-D7A5D94AA104}"/>
              </a:ext>
            </a:extLst>
          </p:cNvPr>
          <p:cNvSpPr/>
          <p:nvPr/>
        </p:nvSpPr>
        <p:spPr>
          <a:xfrm>
            <a:off x="1274865" y="2747159"/>
            <a:ext cx="189411" cy="18941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31EFDD6-0BFF-9672-8882-CBBD22ED4191}"/>
              </a:ext>
            </a:extLst>
          </p:cNvPr>
          <p:cNvSpPr/>
          <p:nvPr/>
        </p:nvSpPr>
        <p:spPr>
          <a:xfrm>
            <a:off x="1274865" y="2952826"/>
            <a:ext cx="189411" cy="189411"/>
          </a:xfrm>
          <a:prstGeom prst="rect">
            <a:avLst/>
          </a:prstGeom>
          <a:solidFill>
            <a:schemeClr val="bg1">
              <a:lumMod val="6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11870F9-A353-2443-E7B7-5BA5B0C76095}"/>
              </a:ext>
            </a:extLst>
          </p:cNvPr>
          <p:cNvSpPr/>
          <p:nvPr/>
        </p:nvSpPr>
        <p:spPr>
          <a:xfrm>
            <a:off x="1274976" y="3158493"/>
            <a:ext cx="189411" cy="18941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5A0FF4F-E367-2D21-4C5D-8F0913820890}"/>
              </a:ext>
            </a:extLst>
          </p:cNvPr>
          <p:cNvSpPr/>
          <p:nvPr/>
        </p:nvSpPr>
        <p:spPr>
          <a:xfrm>
            <a:off x="1273776" y="3364160"/>
            <a:ext cx="189411" cy="189411"/>
          </a:xfrm>
          <a:prstGeom prst="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3112E56-16E2-217E-858B-BB5B67C9A253}"/>
              </a:ext>
            </a:extLst>
          </p:cNvPr>
          <p:cNvSpPr/>
          <p:nvPr/>
        </p:nvSpPr>
        <p:spPr>
          <a:xfrm>
            <a:off x="1274137" y="3569827"/>
            <a:ext cx="189411" cy="18941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4F959E1-73DA-C99B-710E-D0109BD36B4F}"/>
              </a:ext>
            </a:extLst>
          </p:cNvPr>
          <p:cNvSpPr/>
          <p:nvPr/>
        </p:nvSpPr>
        <p:spPr>
          <a:xfrm>
            <a:off x="1275715" y="3775494"/>
            <a:ext cx="189411" cy="189411"/>
          </a:xfrm>
          <a:prstGeom prst="rect">
            <a:avLst/>
          </a:prstGeom>
          <a:solidFill>
            <a:srgbClr val="A6A6A6"/>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6FF82F9-B65A-84C0-6163-5AD1F8432D52}"/>
              </a:ext>
            </a:extLst>
          </p:cNvPr>
          <p:cNvSpPr/>
          <p:nvPr/>
        </p:nvSpPr>
        <p:spPr>
          <a:xfrm>
            <a:off x="3027465" y="2747159"/>
            <a:ext cx="189411" cy="189411"/>
          </a:xfrm>
          <a:prstGeom prst="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AEC8558-E951-512C-DF4A-B3680DE79094}"/>
              </a:ext>
            </a:extLst>
          </p:cNvPr>
          <p:cNvSpPr/>
          <p:nvPr/>
        </p:nvSpPr>
        <p:spPr>
          <a:xfrm>
            <a:off x="3027465" y="2952826"/>
            <a:ext cx="189411" cy="18941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4CA5F9D-2D7C-7A55-06B5-FBFD1C921390}"/>
              </a:ext>
            </a:extLst>
          </p:cNvPr>
          <p:cNvSpPr/>
          <p:nvPr/>
        </p:nvSpPr>
        <p:spPr>
          <a:xfrm>
            <a:off x="3027576" y="3158493"/>
            <a:ext cx="189411" cy="189411"/>
          </a:xfrm>
          <a:prstGeom prst="rect">
            <a:avLst/>
          </a:prstGeom>
          <a:solidFill>
            <a:schemeClr val="bg2">
              <a:lumMod val="2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ACFB69B-D5CC-0859-38FE-A068FB9EE06A}"/>
              </a:ext>
            </a:extLst>
          </p:cNvPr>
          <p:cNvSpPr/>
          <p:nvPr/>
        </p:nvSpPr>
        <p:spPr>
          <a:xfrm>
            <a:off x="3026376" y="3364160"/>
            <a:ext cx="189411" cy="189411"/>
          </a:xfrm>
          <a:prstGeom prst="rect">
            <a:avLst/>
          </a:prstGeom>
          <a:solidFill>
            <a:schemeClr val="bg1">
              <a:lumMod val="6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D46FE7A-2A9D-BE6D-1F65-1710912C1E19}"/>
              </a:ext>
            </a:extLst>
          </p:cNvPr>
          <p:cNvSpPr/>
          <p:nvPr/>
        </p:nvSpPr>
        <p:spPr>
          <a:xfrm>
            <a:off x="3026737" y="3569827"/>
            <a:ext cx="189411" cy="189411"/>
          </a:xfrm>
          <a:prstGeom prst="rect">
            <a:avLst/>
          </a:prstGeom>
          <a:solidFill>
            <a:schemeClr val="bg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CA86753-EA15-6762-D8F3-E8336F7B7C89}"/>
              </a:ext>
            </a:extLst>
          </p:cNvPr>
          <p:cNvSpPr/>
          <p:nvPr/>
        </p:nvSpPr>
        <p:spPr>
          <a:xfrm>
            <a:off x="3028315" y="3775494"/>
            <a:ext cx="189411" cy="18941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88F4B69-202F-9AB7-26AE-DD6AC7A2445B}"/>
              </a:ext>
            </a:extLst>
          </p:cNvPr>
          <p:cNvSpPr/>
          <p:nvPr/>
        </p:nvSpPr>
        <p:spPr>
          <a:xfrm>
            <a:off x="4761015" y="2747159"/>
            <a:ext cx="189411" cy="189411"/>
          </a:xfrm>
          <a:prstGeom prst="rect">
            <a:avLst/>
          </a:prstGeom>
          <a:solidFill>
            <a:schemeClr val="bg2">
              <a:lumMod val="2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39E8ABE5-D1D6-BF19-2959-345CA92737ED}"/>
              </a:ext>
            </a:extLst>
          </p:cNvPr>
          <p:cNvSpPr/>
          <p:nvPr/>
        </p:nvSpPr>
        <p:spPr>
          <a:xfrm>
            <a:off x="4761015" y="2952826"/>
            <a:ext cx="189411" cy="189411"/>
          </a:xfrm>
          <a:prstGeom prst="rect">
            <a:avLst/>
          </a:prstGeom>
          <a:solidFill>
            <a:schemeClr val="bg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1FA26B4-90B3-F263-8479-1EF0FD39EE3E}"/>
              </a:ext>
            </a:extLst>
          </p:cNvPr>
          <p:cNvSpPr/>
          <p:nvPr/>
        </p:nvSpPr>
        <p:spPr>
          <a:xfrm>
            <a:off x="4761126" y="3158493"/>
            <a:ext cx="189411" cy="189411"/>
          </a:xfrm>
          <a:prstGeom prst="rect">
            <a:avLst/>
          </a:prstGeom>
          <a:solidFill>
            <a:schemeClr val="bg1">
              <a:lumMod val="8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5BF775ED-AADF-76DB-09B8-0013050F777F}"/>
              </a:ext>
            </a:extLst>
          </p:cNvPr>
          <p:cNvSpPr/>
          <p:nvPr/>
        </p:nvSpPr>
        <p:spPr>
          <a:xfrm>
            <a:off x="4759926" y="3364160"/>
            <a:ext cx="189411" cy="189411"/>
          </a:xfrm>
          <a:prstGeom prst="rect">
            <a:avLst/>
          </a:prstGeom>
          <a:solidFill>
            <a:schemeClr val="bg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F9064FDE-6490-0529-F195-4BF9BC45D56F}"/>
              </a:ext>
            </a:extLst>
          </p:cNvPr>
          <p:cNvSpPr/>
          <p:nvPr/>
        </p:nvSpPr>
        <p:spPr>
          <a:xfrm>
            <a:off x="4760287" y="3569827"/>
            <a:ext cx="189411" cy="189411"/>
          </a:xfrm>
          <a:prstGeom prst="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A042064-4BAA-CCBC-219A-EEC672B2DF58}"/>
              </a:ext>
            </a:extLst>
          </p:cNvPr>
          <p:cNvSpPr/>
          <p:nvPr/>
        </p:nvSpPr>
        <p:spPr>
          <a:xfrm>
            <a:off x="4761865" y="3775494"/>
            <a:ext cx="189411" cy="189411"/>
          </a:xfrm>
          <a:prstGeom prst="rect">
            <a:avLst/>
          </a:prstGeom>
          <a:solidFill>
            <a:schemeClr val="bg1">
              <a:lumMod val="6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09D073D8-EA5C-C531-8DB7-B472EB104AC9}"/>
              </a:ext>
            </a:extLst>
          </p:cNvPr>
          <p:cNvSpPr txBox="1"/>
          <p:nvPr/>
        </p:nvSpPr>
        <p:spPr>
          <a:xfrm>
            <a:off x="2068995" y="3018201"/>
            <a:ext cx="338554" cy="646331"/>
          </a:xfrm>
          <a:prstGeom prst="rect">
            <a:avLst/>
          </a:prstGeom>
          <a:noFill/>
        </p:spPr>
        <p:txBody>
          <a:bodyPr wrap="none" rtlCol="0">
            <a:spAutoFit/>
          </a:bodyPr>
          <a:lstStyle/>
          <a:p>
            <a:r>
              <a:rPr lang="en-US" sz="3600" dirty="0">
                <a:latin typeface="Arial" panose="020B0604020202020204" pitchFamily="34" charset="0"/>
                <a:cs typeface="Arial" panose="020B0604020202020204" pitchFamily="34" charset="0"/>
              </a:rPr>
              <a:t>-</a:t>
            </a:r>
          </a:p>
        </p:txBody>
      </p:sp>
      <p:sp>
        <p:nvSpPr>
          <p:cNvPr id="26" name="TextBox 25">
            <a:extLst>
              <a:ext uri="{FF2B5EF4-FFF2-40B4-BE49-F238E27FC236}">
                <a16:creationId xmlns:a16="http://schemas.microsoft.com/office/drawing/2014/main" id="{EEBEE57B-A293-F3C6-750A-33A542D46620}"/>
              </a:ext>
            </a:extLst>
          </p:cNvPr>
          <p:cNvSpPr txBox="1"/>
          <p:nvPr/>
        </p:nvSpPr>
        <p:spPr>
          <a:xfrm>
            <a:off x="3767538" y="3059576"/>
            <a:ext cx="453970" cy="646331"/>
          </a:xfrm>
          <a:prstGeom prst="rect">
            <a:avLst/>
          </a:prstGeom>
          <a:noFill/>
        </p:spPr>
        <p:txBody>
          <a:bodyPr wrap="none" rtlCol="0">
            <a:spAutoFit/>
          </a:bodyPr>
          <a:lstStyle/>
          <a:p>
            <a:r>
              <a:rPr lang="en-US" sz="3600" dirty="0">
                <a:latin typeface="Arial" panose="020B0604020202020204" pitchFamily="34" charset="0"/>
                <a:cs typeface="Arial" panose="020B0604020202020204" pitchFamily="34" charset="0"/>
              </a:rPr>
              <a:t>=</a:t>
            </a:r>
          </a:p>
        </p:txBody>
      </p:sp>
      <p:sp>
        <p:nvSpPr>
          <p:cNvPr id="29" name="TextBox 28">
            <a:extLst>
              <a:ext uri="{FF2B5EF4-FFF2-40B4-BE49-F238E27FC236}">
                <a16:creationId xmlns:a16="http://schemas.microsoft.com/office/drawing/2014/main" id="{A0596581-EA83-24AF-0A07-D37D3129F7C8}"/>
              </a:ext>
            </a:extLst>
          </p:cNvPr>
          <p:cNvSpPr txBox="1"/>
          <p:nvPr/>
        </p:nvSpPr>
        <p:spPr>
          <a:xfrm>
            <a:off x="3523250" y="3628340"/>
            <a:ext cx="966867" cy="523220"/>
          </a:xfrm>
          <a:prstGeom prst="rect">
            <a:avLst/>
          </a:prstGeom>
          <a:noFill/>
        </p:spPr>
        <p:txBody>
          <a:bodyPr wrap="none" rtlCol="0">
            <a:spAutoFit/>
          </a:bodyPr>
          <a:lstStyle/>
          <a:p>
            <a:pPr algn="ctr"/>
            <a:r>
              <a:rPr lang="en-US" sz="1400" dirty="0">
                <a:latin typeface="Arial" panose="020B0604020202020204" pitchFamily="34" charset="0"/>
                <a:cs typeface="Arial" panose="020B0604020202020204" pitchFamily="34" charset="0"/>
              </a:rPr>
              <a:t>absolute</a:t>
            </a:r>
          </a:p>
          <a:p>
            <a:pPr algn="ctr"/>
            <a:r>
              <a:rPr lang="en-US" sz="1400" dirty="0">
                <a:latin typeface="Arial" panose="020B0604020202020204" pitchFamily="34" charset="0"/>
                <a:cs typeface="Arial" panose="020B0604020202020204" pitchFamily="34" charset="0"/>
              </a:rPr>
              <a:t>difference</a:t>
            </a:r>
          </a:p>
        </p:txBody>
      </p:sp>
      <p:pic>
        <p:nvPicPr>
          <p:cNvPr id="1026" name="Picture 2" descr="Squiggly line doodle | Line doodles, Elements of art, Pattern drawing">
            <a:extLst>
              <a:ext uri="{FF2B5EF4-FFF2-40B4-BE49-F238E27FC236}">
                <a16:creationId xmlns:a16="http://schemas.microsoft.com/office/drawing/2014/main" id="{C057F522-E979-18AA-9CBC-2BD88DB512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4470455" y="1489529"/>
            <a:ext cx="768350" cy="1077611"/>
          </a:xfrm>
          <a:prstGeom prst="rect">
            <a:avLst/>
          </a:prstGeom>
          <a:noFill/>
          <a:extLst>
            <a:ext uri="{909E8E84-426E-40DD-AFC4-6F175D3DCCD1}">
              <a14:hiddenFill xmlns:a14="http://schemas.microsoft.com/office/drawing/2010/main">
                <a:solidFill>
                  <a:srgbClr val="FFFFFF"/>
                </a:solidFill>
              </a14:hiddenFill>
            </a:ext>
          </a:extLst>
        </p:spPr>
      </p:pic>
      <p:sp>
        <p:nvSpPr>
          <p:cNvPr id="1030" name="TextBox 1029">
            <a:extLst>
              <a:ext uri="{FF2B5EF4-FFF2-40B4-BE49-F238E27FC236}">
                <a16:creationId xmlns:a16="http://schemas.microsoft.com/office/drawing/2014/main" id="{4D0E3313-A857-EBF1-D8EC-E02A6EDF0F08}"/>
              </a:ext>
            </a:extLst>
          </p:cNvPr>
          <p:cNvSpPr txBox="1"/>
          <p:nvPr/>
        </p:nvSpPr>
        <p:spPr>
          <a:xfrm>
            <a:off x="499026" y="889564"/>
            <a:ext cx="5222324" cy="369332"/>
          </a:xfrm>
          <a:prstGeom prst="rect">
            <a:avLst/>
          </a:prstGeom>
          <a:noFill/>
        </p:spPr>
        <p:txBody>
          <a:bodyPr wrap="square" rtlCol="0">
            <a:spAutoFit/>
          </a:bodyPr>
          <a:lstStyle/>
          <a:p>
            <a:pPr algn="ctr"/>
            <a:r>
              <a:rPr lang="en-US" dirty="0">
                <a:latin typeface="Arial" panose="020B0604020202020204" pitchFamily="34" charset="0"/>
                <a:cs typeface="Arial" panose="020B0604020202020204" pitchFamily="34" charset="0"/>
              </a:rPr>
              <a:t>Single trial</a:t>
            </a:r>
          </a:p>
        </p:txBody>
      </p:sp>
      <p:sp>
        <p:nvSpPr>
          <p:cNvPr id="1031" name="Rectangle 1030">
            <a:extLst>
              <a:ext uri="{FF2B5EF4-FFF2-40B4-BE49-F238E27FC236}">
                <a16:creationId xmlns:a16="http://schemas.microsoft.com/office/drawing/2014/main" id="{961F192B-343B-C4DC-5678-4ACC02F53778}"/>
              </a:ext>
            </a:extLst>
          </p:cNvPr>
          <p:cNvSpPr/>
          <p:nvPr/>
        </p:nvSpPr>
        <p:spPr>
          <a:xfrm>
            <a:off x="875686" y="5324391"/>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2" name="Rectangle 1031">
            <a:extLst>
              <a:ext uri="{FF2B5EF4-FFF2-40B4-BE49-F238E27FC236}">
                <a16:creationId xmlns:a16="http://schemas.microsoft.com/office/drawing/2014/main" id="{C8888FC6-35E9-75ED-8200-50A4897D7407}"/>
              </a:ext>
            </a:extLst>
          </p:cNvPr>
          <p:cNvSpPr/>
          <p:nvPr/>
        </p:nvSpPr>
        <p:spPr>
          <a:xfrm>
            <a:off x="882036" y="5530058"/>
            <a:ext cx="189411" cy="189411"/>
          </a:xfrm>
          <a:prstGeom prst="rect">
            <a:avLst/>
          </a:prstGeom>
          <a:solidFill>
            <a:srgbClr val="00B0F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59159CA4-ED9B-CE03-0560-FE6BC93E538D}"/>
              </a:ext>
            </a:extLst>
          </p:cNvPr>
          <p:cNvSpPr/>
          <p:nvPr/>
        </p:nvSpPr>
        <p:spPr>
          <a:xfrm>
            <a:off x="882147" y="5735725"/>
            <a:ext cx="189411" cy="189411"/>
          </a:xfrm>
          <a:prstGeom prst="rect">
            <a:avLst/>
          </a:prstGeom>
          <a:solidFill>
            <a:srgbClr val="33CC3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4" name="Rectangle 1033">
            <a:extLst>
              <a:ext uri="{FF2B5EF4-FFF2-40B4-BE49-F238E27FC236}">
                <a16:creationId xmlns:a16="http://schemas.microsoft.com/office/drawing/2014/main" id="{D8EB8E62-49A1-43D5-6180-DC8238187EF2}"/>
              </a:ext>
            </a:extLst>
          </p:cNvPr>
          <p:cNvSpPr/>
          <p:nvPr/>
        </p:nvSpPr>
        <p:spPr>
          <a:xfrm>
            <a:off x="880947" y="5941392"/>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321B294A-21D1-E7C6-88BC-275DCDABBB23}"/>
              </a:ext>
            </a:extLst>
          </p:cNvPr>
          <p:cNvSpPr/>
          <p:nvPr/>
        </p:nvSpPr>
        <p:spPr>
          <a:xfrm>
            <a:off x="881308" y="6147059"/>
            <a:ext cx="189411" cy="189411"/>
          </a:xfrm>
          <a:prstGeom prst="rect">
            <a:avLst/>
          </a:prstGeom>
          <a:solidFill>
            <a:srgbClr val="452A4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E7BC6558-DFCB-3345-0095-40E6AC05C306}"/>
              </a:ext>
            </a:extLst>
          </p:cNvPr>
          <p:cNvSpPr/>
          <p:nvPr/>
        </p:nvSpPr>
        <p:spPr>
          <a:xfrm>
            <a:off x="1088624" y="5327019"/>
            <a:ext cx="189411" cy="189411"/>
          </a:xfrm>
          <a:prstGeom prst="rect">
            <a:avLst/>
          </a:prstGeom>
          <a:solidFill>
            <a:srgbClr val="00B0F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8" name="Rectangle 1037">
            <a:extLst>
              <a:ext uri="{FF2B5EF4-FFF2-40B4-BE49-F238E27FC236}">
                <a16:creationId xmlns:a16="http://schemas.microsoft.com/office/drawing/2014/main" id="{D061B90B-3B11-0C61-3ECA-29F9F821EF95}"/>
              </a:ext>
            </a:extLst>
          </p:cNvPr>
          <p:cNvSpPr/>
          <p:nvPr/>
        </p:nvSpPr>
        <p:spPr>
          <a:xfrm>
            <a:off x="1085449" y="5532686"/>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9" name="Rectangle 1038">
            <a:extLst>
              <a:ext uri="{FF2B5EF4-FFF2-40B4-BE49-F238E27FC236}">
                <a16:creationId xmlns:a16="http://schemas.microsoft.com/office/drawing/2014/main" id="{BF33B847-6F53-C54D-D496-3F65BC916CCF}"/>
              </a:ext>
            </a:extLst>
          </p:cNvPr>
          <p:cNvSpPr/>
          <p:nvPr/>
        </p:nvSpPr>
        <p:spPr>
          <a:xfrm>
            <a:off x="1088735" y="5738353"/>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0" name="Rectangle 1039">
            <a:extLst>
              <a:ext uri="{FF2B5EF4-FFF2-40B4-BE49-F238E27FC236}">
                <a16:creationId xmlns:a16="http://schemas.microsoft.com/office/drawing/2014/main" id="{41D1C2DE-7816-F7CD-F41C-248F444BEACD}"/>
              </a:ext>
            </a:extLst>
          </p:cNvPr>
          <p:cNvSpPr/>
          <p:nvPr/>
        </p:nvSpPr>
        <p:spPr>
          <a:xfrm>
            <a:off x="1087535" y="5944020"/>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1" name="Rectangle 1040">
            <a:extLst>
              <a:ext uri="{FF2B5EF4-FFF2-40B4-BE49-F238E27FC236}">
                <a16:creationId xmlns:a16="http://schemas.microsoft.com/office/drawing/2014/main" id="{36B12E92-0F78-A864-2E89-6DAA636B61D0}"/>
              </a:ext>
            </a:extLst>
          </p:cNvPr>
          <p:cNvSpPr/>
          <p:nvPr/>
        </p:nvSpPr>
        <p:spPr>
          <a:xfrm>
            <a:off x="1087896" y="6149687"/>
            <a:ext cx="189411" cy="189411"/>
          </a:xfrm>
          <a:prstGeom prst="rect">
            <a:avLst/>
          </a:prstGeom>
          <a:solidFill>
            <a:srgbClr val="FDA63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3" name="Rectangle 1042">
            <a:extLst>
              <a:ext uri="{FF2B5EF4-FFF2-40B4-BE49-F238E27FC236}">
                <a16:creationId xmlns:a16="http://schemas.microsoft.com/office/drawing/2014/main" id="{07B6C71C-2374-C1EB-A801-EA0A8E23ABD2}"/>
              </a:ext>
            </a:extLst>
          </p:cNvPr>
          <p:cNvSpPr/>
          <p:nvPr/>
        </p:nvSpPr>
        <p:spPr>
          <a:xfrm>
            <a:off x="1296883" y="5330361"/>
            <a:ext cx="189411" cy="189411"/>
          </a:xfrm>
          <a:prstGeom prst="rect">
            <a:avLst/>
          </a:prstGeom>
          <a:solidFill>
            <a:srgbClr val="33CC3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4" name="Rectangle 1043">
            <a:extLst>
              <a:ext uri="{FF2B5EF4-FFF2-40B4-BE49-F238E27FC236}">
                <a16:creationId xmlns:a16="http://schemas.microsoft.com/office/drawing/2014/main" id="{B957C6C8-D85C-99E4-BE8B-BBAB253720DB}"/>
              </a:ext>
            </a:extLst>
          </p:cNvPr>
          <p:cNvSpPr/>
          <p:nvPr/>
        </p:nvSpPr>
        <p:spPr>
          <a:xfrm>
            <a:off x="1296883" y="5536028"/>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5" name="Rectangle 1044">
            <a:extLst>
              <a:ext uri="{FF2B5EF4-FFF2-40B4-BE49-F238E27FC236}">
                <a16:creationId xmlns:a16="http://schemas.microsoft.com/office/drawing/2014/main" id="{7DE68A5D-DCD6-1DDC-805D-F988530D7D9A}"/>
              </a:ext>
            </a:extLst>
          </p:cNvPr>
          <p:cNvSpPr/>
          <p:nvPr/>
        </p:nvSpPr>
        <p:spPr>
          <a:xfrm>
            <a:off x="1296994" y="5741695"/>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6" name="Rectangle 1045">
            <a:extLst>
              <a:ext uri="{FF2B5EF4-FFF2-40B4-BE49-F238E27FC236}">
                <a16:creationId xmlns:a16="http://schemas.microsoft.com/office/drawing/2014/main" id="{0D4C95B2-3824-56D8-9747-096D936398FE}"/>
              </a:ext>
            </a:extLst>
          </p:cNvPr>
          <p:cNvSpPr/>
          <p:nvPr/>
        </p:nvSpPr>
        <p:spPr>
          <a:xfrm>
            <a:off x="1295794" y="5947362"/>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7" name="Rectangle 1046">
            <a:extLst>
              <a:ext uri="{FF2B5EF4-FFF2-40B4-BE49-F238E27FC236}">
                <a16:creationId xmlns:a16="http://schemas.microsoft.com/office/drawing/2014/main" id="{0637B578-9D37-BF2F-81B9-BEE325B8088C}"/>
              </a:ext>
            </a:extLst>
          </p:cNvPr>
          <p:cNvSpPr/>
          <p:nvPr/>
        </p:nvSpPr>
        <p:spPr>
          <a:xfrm>
            <a:off x="1296155" y="6153029"/>
            <a:ext cx="189411" cy="189411"/>
          </a:xfrm>
          <a:prstGeom prst="rect">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9" name="Rectangle 1048">
            <a:extLst>
              <a:ext uri="{FF2B5EF4-FFF2-40B4-BE49-F238E27FC236}">
                <a16:creationId xmlns:a16="http://schemas.microsoft.com/office/drawing/2014/main" id="{10D886AB-A7A5-8904-928F-49F0B58D09B8}"/>
              </a:ext>
            </a:extLst>
          </p:cNvPr>
          <p:cNvSpPr/>
          <p:nvPr/>
        </p:nvSpPr>
        <p:spPr>
          <a:xfrm>
            <a:off x="1503471" y="5329021"/>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0" name="Rectangle 1049">
            <a:extLst>
              <a:ext uri="{FF2B5EF4-FFF2-40B4-BE49-F238E27FC236}">
                <a16:creationId xmlns:a16="http://schemas.microsoft.com/office/drawing/2014/main" id="{774CA5B2-EB7A-161B-47DB-3C22D977C4E5}"/>
              </a:ext>
            </a:extLst>
          </p:cNvPr>
          <p:cNvSpPr/>
          <p:nvPr/>
        </p:nvSpPr>
        <p:spPr>
          <a:xfrm>
            <a:off x="1503471" y="5534688"/>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1" name="Rectangle 1050">
            <a:extLst>
              <a:ext uri="{FF2B5EF4-FFF2-40B4-BE49-F238E27FC236}">
                <a16:creationId xmlns:a16="http://schemas.microsoft.com/office/drawing/2014/main" id="{8BC4F8D2-E7E1-58EB-4819-98E800A921B9}"/>
              </a:ext>
            </a:extLst>
          </p:cNvPr>
          <p:cNvSpPr/>
          <p:nvPr/>
        </p:nvSpPr>
        <p:spPr>
          <a:xfrm>
            <a:off x="1503582" y="5740355"/>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2" name="Rectangle 1051">
            <a:extLst>
              <a:ext uri="{FF2B5EF4-FFF2-40B4-BE49-F238E27FC236}">
                <a16:creationId xmlns:a16="http://schemas.microsoft.com/office/drawing/2014/main" id="{5832DC68-32B9-CC9F-4611-74137F5B732F}"/>
              </a:ext>
            </a:extLst>
          </p:cNvPr>
          <p:cNvSpPr/>
          <p:nvPr/>
        </p:nvSpPr>
        <p:spPr>
          <a:xfrm>
            <a:off x="1502382" y="5953166"/>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3" name="Rectangle 1052">
            <a:extLst>
              <a:ext uri="{FF2B5EF4-FFF2-40B4-BE49-F238E27FC236}">
                <a16:creationId xmlns:a16="http://schemas.microsoft.com/office/drawing/2014/main" id="{090A4416-C4A9-9476-F782-87BC446C9F41}"/>
              </a:ext>
            </a:extLst>
          </p:cNvPr>
          <p:cNvSpPr/>
          <p:nvPr/>
        </p:nvSpPr>
        <p:spPr>
          <a:xfrm>
            <a:off x="1502743" y="6154070"/>
            <a:ext cx="189411" cy="189411"/>
          </a:xfrm>
          <a:prstGeom prst="rect">
            <a:avLst/>
          </a:prstGeom>
          <a:solidFill>
            <a:srgbClr val="00B0F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5" name="Rectangle 1054">
            <a:extLst>
              <a:ext uri="{FF2B5EF4-FFF2-40B4-BE49-F238E27FC236}">
                <a16:creationId xmlns:a16="http://schemas.microsoft.com/office/drawing/2014/main" id="{7867F2BF-232B-FEFF-E579-219384FBEFDB}"/>
              </a:ext>
            </a:extLst>
          </p:cNvPr>
          <p:cNvSpPr/>
          <p:nvPr/>
        </p:nvSpPr>
        <p:spPr>
          <a:xfrm>
            <a:off x="1706530" y="5330363"/>
            <a:ext cx="189411" cy="189411"/>
          </a:xfrm>
          <a:prstGeom prst="rect">
            <a:avLst/>
          </a:prstGeom>
          <a:solidFill>
            <a:srgbClr val="452A4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6" name="Rectangle 1055">
            <a:extLst>
              <a:ext uri="{FF2B5EF4-FFF2-40B4-BE49-F238E27FC236}">
                <a16:creationId xmlns:a16="http://schemas.microsoft.com/office/drawing/2014/main" id="{02938C82-8445-E4DB-0A5B-01D2CF2AA9F9}"/>
              </a:ext>
            </a:extLst>
          </p:cNvPr>
          <p:cNvSpPr/>
          <p:nvPr/>
        </p:nvSpPr>
        <p:spPr>
          <a:xfrm>
            <a:off x="1706530" y="5536030"/>
            <a:ext cx="189411" cy="189411"/>
          </a:xfrm>
          <a:prstGeom prst="rect">
            <a:avLst/>
          </a:prstGeom>
          <a:solidFill>
            <a:srgbClr val="FFC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7" name="Rectangle 1056">
            <a:extLst>
              <a:ext uri="{FF2B5EF4-FFF2-40B4-BE49-F238E27FC236}">
                <a16:creationId xmlns:a16="http://schemas.microsoft.com/office/drawing/2014/main" id="{307AE4D0-FEC8-840D-C404-658644533B29}"/>
              </a:ext>
            </a:extLst>
          </p:cNvPr>
          <p:cNvSpPr/>
          <p:nvPr/>
        </p:nvSpPr>
        <p:spPr>
          <a:xfrm>
            <a:off x="1706641" y="5741697"/>
            <a:ext cx="189411" cy="189411"/>
          </a:xfrm>
          <a:prstGeom prst="rect">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8" name="Rectangle 1057">
            <a:extLst>
              <a:ext uri="{FF2B5EF4-FFF2-40B4-BE49-F238E27FC236}">
                <a16:creationId xmlns:a16="http://schemas.microsoft.com/office/drawing/2014/main" id="{2DFEDA45-B166-9CE8-A686-676938900F01}"/>
              </a:ext>
            </a:extLst>
          </p:cNvPr>
          <p:cNvSpPr/>
          <p:nvPr/>
        </p:nvSpPr>
        <p:spPr>
          <a:xfrm>
            <a:off x="1705441" y="5947364"/>
            <a:ext cx="189411" cy="189411"/>
          </a:xfrm>
          <a:prstGeom prst="rect">
            <a:avLst/>
          </a:prstGeom>
          <a:solidFill>
            <a:srgbClr val="00B0F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9" name="Rectangle 1058">
            <a:extLst>
              <a:ext uri="{FF2B5EF4-FFF2-40B4-BE49-F238E27FC236}">
                <a16:creationId xmlns:a16="http://schemas.microsoft.com/office/drawing/2014/main" id="{1998D44C-CAD7-0292-860C-F410535A3047}"/>
              </a:ext>
            </a:extLst>
          </p:cNvPr>
          <p:cNvSpPr/>
          <p:nvPr/>
        </p:nvSpPr>
        <p:spPr>
          <a:xfrm>
            <a:off x="1708183" y="6157793"/>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7" name="TextBox 1066">
            <a:extLst>
              <a:ext uri="{FF2B5EF4-FFF2-40B4-BE49-F238E27FC236}">
                <a16:creationId xmlns:a16="http://schemas.microsoft.com/office/drawing/2014/main" id="{ED6C1D37-A616-04A6-B51B-9CC389820A8D}"/>
              </a:ext>
            </a:extLst>
          </p:cNvPr>
          <p:cNvSpPr txBox="1"/>
          <p:nvPr/>
        </p:nvSpPr>
        <p:spPr>
          <a:xfrm>
            <a:off x="377894" y="5330741"/>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1</a:t>
            </a:r>
          </a:p>
        </p:txBody>
      </p:sp>
      <p:sp>
        <p:nvSpPr>
          <p:cNvPr id="1068" name="TextBox 1067">
            <a:extLst>
              <a:ext uri="{FF2B5EF4-FFF2-40B4-BE49-F238E27FC236}">
                <a16:creationId xmlns:a16="http://schemas.microsoft.com/office/drawing/2014/main" id="{14E58F4F-027A-2851-DAE8-31E783920643}"/>
              </a:ext>
            </a:extLst>
          </p:cNvPr>
          <p:cNvSpPr txBox="1"/>
          <p:nvPr/>
        </p:nvSpPr>
        <p:spPr>
          <a:xfrm>
            <a:off x="377894" y="5536408"/>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2</a:t>
            </a:r>
          </a:p>
        </p:txBody>
      </p:sp>
      <p:sp>
        <p:nvSpPr>
          <p:cNvPr id="1069" name="TextBox 1068">
            <a:extLst>
              <a:ext uri="{FF2B5EF4-FFF2-40B4-BE49-F238E27FC236}">
                <a16:creationId xmlns:a16="http://schemas.microsoft.com/office/drawing/2014/main" id="{3F54CD22-7939-CB7E-3C6D-78A7B99280CD}"/>
              </a:ext>
            </a:extLst>
          </p:cNvPr>
          <p:cNvSpPr txBox="1"/>
          <p:nvPr/>
        </p:nvSpPr>
        <p:spPr>
          <a:xfrm>
            <a:off x="377894" y="5742075"/>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3</a:t>
            </a:r>
          </a:p>
        </p:txBody>
      </p:sp>
      <p:sp>
        <p:nvSpPr>
          <p:cNvPr id="1070" name="TextBox 1069">
            <a:extLst>
              <a:ext uri="{FF2B5EF4-FFF2-40B4-BE49-F238E27FC236}">
                <a16:creationId xmlns:a16="http://schemas.microsoft.com/office/drawing/2014/main" id="{D36B1B08-FE41-C1B4-F4C4-A030C4B8F65F}"/>
              </a:ext>
            </a:extLst>
          </p:cNvPr>
          <p:cNvSpPr txBox="1"/>
          <p:nvPr/>
        </p:nvSpPr>
        <p:spPr>
          <a:xfrm>
            <a:off x="377894" y="5947742"/>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4</a:t>
            </a:r>
          </a:p>
        </p:txBody>
      </p:sp>
      <p:sp>
        <p:nvSpPr>
          <p:cNvPr id="1071" name="TextBox 1070">
            <a:extLst>
              <a:ext uri="{FF2B5EF4-FFF2-40B4-BE49-F238E27FC236}">
                <a16:creationId xmlns:a16="http://schemas.microsoft.com/office/drawing/2014/main" id="{B255B512-7AD5-739E-AE4B-E4581688137C}"/>
              </a:ext>
            </a:extLst>
          </p:cNvPr>
          <p:cNvSpPr txBox="1"/>
          <p:nvPr/>
        </p:nvSpPr>
        <p:spPr>
          <a:xfrm>
            <a:off x="377894" y="6153409"/>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5</a:t>
            </a:r>
          </a:p>
        </p:txBody>
      </p:sp>
      <p:sp>
        <p:nvSpPr>
          <p:cNvPr id="1072" name="TextBox 1071">
            <a:extLst>
              <a:ext uri="{FF2B5EF4-FFF2-40B4-BE49-F238E27FC236}">
                <a16:creationId xmlns:a16="http://schemas.microsoft.com/office/drawing/2014/main" id="{55168102-463C-5602-3568-6096DF771FB0}"/>
              </a:ext>
            </a:extLst>
          </p:cNvPr>
          <p:cNvSpPr txBox="1"/>
          <p:nvPr/>
        </p:nvSpPr>
        <p:spPr>
          <a:xfrm>
            <a:off x="926822" y="5120977"/>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1</a:t>
            </a:r>
          </a:p>
        </p:txBody>
      </p:sp>
      <p:sp>
        <p:nvSpPr>
          <p:cNvPr id="1077" name="TextBox 1076">
            <a:extLst>
              <a:ext uri="{FF2B5EF4-FFF2-40B4-BE49-F238E27FC236}">
                <a16:creationId xmlns:a16="http://schemas.microsoft.com/office/drawing/2014/main" id="{31F0F18E-56E1-BA72-5CD2-DA8AB4EB13F5}"/>
              </a:ext>
            </a:extLst>
          </p:cNvPr>
          <p:cNvSpPr txBox="1"/>
          <p:nvPr/>
        </p:nvSpPr>
        <p:spPr>
          <a:xfrm>
            <a:off x="1135861" y="5120977"/>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2</a:t>
            </a:r>
          </a:p>
        </p:txBody>
      </p:sp>
      <p:sp>
        <p:nvSpPr>
          <p:cNvPr id="1078" name="TextBox 1077">
            <a:extLst>
              <a:ext uri="{FF2B5EF4-FFF2-40B4-BE49-F238E27FC236}">
                <a16:creationId xmlns:a16="http://schemas.microsoft.com/office/drawing/2014/main" id="{83778C76-A844-0571-C098-5A28B9915D08}"/>
              </a:ext>
            </a:extLst>
          </p:cNvPr>
          <p:cNvSpPr txBox="1"/>
          <p:nvPr/>
        </p:nvSpPr>
        <p:spPr>
          <a:xfrm>
            <a:off x="1344900" y="5120977"/>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3</a:t>
            </a:r>
          </a:p>
        </p:txBody>
      </p:sp>
      <p:sp>
        <p:nvSpPr>
          <p:cNvPr id="1079" name="TextBox 1078">
            <a:extLst>
              <a:ext uri="{FF2B5EF4-FFF2-40B4-BE49-F238E27FC236}">
                <a16:creationId xmlns:a16="http://schemas.microsoft.com/office/drawing/2014/main" id="{E16FDFFF-7934-E91C-FBD2-785AFD8D0D91}"/>
              </a:ext>
            </a:extLst>
          </p:cNvPr>
          <p:cNvSpPr txBox="1"/>
          <p:nvPr/>
        </p:nvSpPr>
        <p:spPr>
          <a:xfrm>
            <a:off x="1553939" y="5120977"/>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4</a:t>
            </a:r>
          </a:p>
        </p:txBody>
      </p:sp>
      <p:sp>
        <p:nvSpPr>
          <p:cNvPr id="1080" name="TextBox 1079">
            <a:extLst>
              <a:ext uri="{FF2B5EF4-FFF2-40B4-BE49-F238E27FC236}">
                <a16:creationId xmlns:a16="http://schemas.microsoft.com/office/drawing/2014/main" id="{AB839C31-A100-3728-8963-A4772A59C260}"/>
              </a:ext>
            </a:extLst>
          </p:cNvPr>
          <p:cNvSpPr txBox="1"/>
          <p:nvPr/>
        </p:nvSpPr>
        <p:spPr>
          <a:xfrm>
            <a:off x="1774115" y="5120977"/>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5</a:t>
            </a:r>
          </a:p>
        </p:txBody>
      </p:sp>
      <p:sp>
        <p:nvSpPr>
          <p:cNvPr id="1081" name="Rectangle 1080">
            <a:extLst>
              <a:ext uri="{FF2B5EF4-FFF2-40B4-BE49-F238E27FC236}">
                <a16:creationId xmlns:a16="http://schemas.microsoft.com/office/drawing/2014/main" id="{4F73087F-4E1C-D838-68BF-B031FB54B02C}"/>
              </a:ext>
            </a:extLst>
          </p:cNvPr>
          <p:cNvSpPr/>
          <p:nvPr/>
        </p:nvSpPr>
        <p:spPr>
          <a:xfrm>
            <a:off x="882036" y="5330360"/>
            <a:ext cx="1015746" cy="100610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3" name="Rectangle 1082">
            <a:extLst>
              <a:ext uri="{FF2B5EF4-FFF2-40B4-BE49-F238E27FC236}">
                <a16:creationId xmlns:a16="http://schemas.microsoft.com/office/drawing/2014/main" id="{3308AF80-0B4A-E913-D125-47EAE24BDABE}"/>
              </a:ext>
            </a:extLst>
          </p:cNvPr>
          <p:cNvSpPr/>
          <p:nvPr/>
        </p:nvSpPr>
        <p:spPr>
          <a:xfrm>
            <a:off x="2625006" y="5323636"/>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4" name="Rectangle 1083">
            <a:extLst>
              <a:ext uri="{FF2B5EF4-FFF2-40B4-BE49-F238E27FC236}">
                <a16:creationId xmlns:a16="http://schemas.microsoft.com/office/drawing/2014/main" id="{549B0FC4-B332-DCAC-1C11-6BE1D1D92D89}"/>
              </a:ext>
            </a:extLst>
          </p:cNvPr>
          <p:cNvSpPr/>
          <p:nvPr/>
        </p:nvSpPr>
        <p:spPr>
          <a:xfrm>
            <a:off x="2631356" y="5529303"/>
            <a:ext cx="189411" cy="189411"/>
          </a:xfrm>
          <a:prstGeom prst="rect">
            <a:avLst/>
          </a:prstGeom>
          <a:solidFill>
            <a:srgbClr val="452A4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5" name="Rectangle 1084">
            <a:extLst>
              <a:ext uri="{FF2B5EF4-FFF2-40B4-BE49-F238E27FC236}">
                <a16:creationId xmlns:a16="http://schemas.microsoft.com/office/drawing/2014/main" id="{27D89914-F6E7-6490-D0BC-0FF236112D5F}"/>
              </a:ext>
            </a:extLst>
          </p:cNvPr>
          <p:cNvSpPr/>
          <p:nvPr/>
        </p:nvSpPr>
        <p:spPr>
          <a:xfrm>
            <a:off x="2631467" y="5734970"/>
            <a:ext cx="189411" cy="189411"/>
          </a:xfrm>
          <a:prstGeom prst="rect">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6" name="Rectangle 1085">
            <a:extLst>
              <a:ext uri="{FF2B5EF4-FFF2-40B4-BE49-F238E27FC236}">
                <a16:creationId xmlns:a16="http://schemas.microsoft.com/office/drawing/2014/main" id="{B97F6709-CF41-96F9-3A33-783A7F42BE6A}"/>
              </a:ext>
            </a:extLst>
          </p:cNvPr>
          <p:cNvSpPr/>
          <p:nvPr/>
        </p:nvSpPr>
        <p:spPr>
          <a:xfrm>
            <a:off x="2630267" y="5940637"/>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7" name="Rectangle 1086">
            <a:extLst>
              <a:ext uri="{FF2B5EF4-FFF2-40B4-BE49-F238E27FC236}">
                <a16:creationId xmlns:a16="http://schemas.microsoft.com/office/drawing/2014/main" id="{BFF1AB2A-2828-D83C-4FB7-999C1E2FC2F6}"/>
              </a:ext>
            </a:extLst>
          </p:cNvPr>
          <p:cNvSpPr/>
          <p:nvPr/>
        </p:nvSpPr>
        <p:spPr>
          <a:xfrm>
            <a:off x="2630628" y="6146304"/>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8" name="Rectangle 1087">
            <a:extLst>
              <a:ext uri="{FF2B5EF4-FFF2-40B4-BE49-F238E27FC236}">
                <a16:creationId xmlns:a16="http://schemas.microsoft.com/office/drawing/2014/main" id="{F35A1772-6935-32BD-1B25-32C470F788CF}"/>
              </a:ext>
            </a:extLst>
          </p:cNvPr>
          <p:cNvSpPr/>
          <p:nvPr/>
        </p:nvSpPr>
        <p:spPr>
          <a:xfrm>
            <a:off x="2837944" y="5326264"/>
            <a:ext cx="189411" cy="189411"/>
          </a:xfrm>
          <a:prstGeom prst="rect">
            <a:avLst/>
          </a:prstGeom>
          <a:solidFill>
            <a:srgbClr val="452A4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9" name="Rectangle 1088">
            <a:extLst>
              <a:ext uri="{FF2B5EF4-FFF2-40B4-BE49-F238E27FC236}">
                <a16:creationId xmlns:a16="http://schemas.microsoft.com/office/drawing/2014/main" id="{B13B2732-643E-45EC-0DDB-A1F8C99E09FE}"/>
              </a:ext>
            </a:extLst>
          </p:cNvPr>
          <p:cNvSpPr/>
          <p:nvPr/>
        </p:nvSpPr>
        <p:spPr>
          <a:xfrm>
            <a:off x="2834769" y="5531931"/>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0" name="Rectangle 1089">
            <a:extLst>
              <a:ext uri="{FF2B5EF4-FFF2-40B4-BE49-F238E27FC236}">
                <a16:creationId xmlns:a16="http://schemas.microsoft.com/office/drawing/2014/main" id="{D38C898D-25AF-456B-0FE2-0F72636D4950}"/>
              </a:ext>
            </a:extLst>
          </p:cNvPr>
          <p:cNvSpPr/>
          <p:nvPr/>
        </p:nvSpPr>
        <p:spPr>
          <a:xfrm>
            <a:off x="2838055" y="5737598"/>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1" name="Rectangle 1090">
            <a:extLst>
              <a:ext uri="{FF2B5EF4-FFF2-40B4-BE49-F238E27FC236}">
                <a16:creationId xmlns:a16="http://schemas.microsoft.com/office/drawing/2014/main" id="{664AC44A-1B9B-EDFC-981D-F40253EB13A9}"/>
              </a:ext>
            </a:extLst>
          </p:cNvPr>
          <p:cNvSpPr/>
          <p:nvPr/>
        </p:nvSpPr>
        <p:spPr>
          <a:xfrm>
            <a:off x="2836855" y="5943265"/>
            <a:ext cx="189411" cy="189411"/>
          </a:xfrm>
          <a:prstGeom prst="rect">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2" name="Rectangle 1091">
            <a:extLst>
              <a:ext uri="{FF2B5EF4-FFF2-40B4-BE49-F238E27FC236}">
                <a16:creationId xmlns:a16="http://schemas.microsoft.com/office/drawing/2014/main" id="{61B38C61-0431-A969-8BCD-E44468010E04}"/>
              </a:ext>
            </a:extLst>
          </p:cNvPr>
          <p:cNvSpPr/>
          <p:nvPr/>
        </p:nvSpPr>
        <p:spPr>
          <a:xfrm>
            <a:off x="2837216" y="6148932"/>
            <a:ext cx="189411" cy="189411"/>
          </a:xfrm>
          <a:prstGeom prst="rect">
            <a:avLst/>
          </a:prstGeom>
          <a:solidFill>
            <a:srgbClr val="FDA63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3" name="Rectangle 1092">
            <a:extLst>
              <a:ext uri="{FF2B5EF4-FFF2-40B4-BE49-F238E27FC236}">
                <a16:creationId xmlns:a16="http://schemas.microsoft.com/office/drawing/2014/main" id="{FD77E336-DDEB-CDD0-572E-6F56D37C78BD}"/>
              </a:ext>
            </a:extLst>
          </p:cNvPr>
          <p:cNvSpPr/>
          <p:nvPr/>
        </p:nvSpPr>
        <p:spPr>
          <a:xfrm>
            <a:off x="3046203" y="5329606"/>
            <a:ext cx="189411" cy="189411"/>
          </a:xfrm>
          <a:prstGeom prst="rect">
            <a:avLst/>
          </a:prstGeom>
          <a:solidFill>
            <a:srgbClr val="FFC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4" name="Rectangle 1093">
            <a:extLst>
              <a:ext uri="{FF2B5EF4-FFF2-40B4-BE49-F238E27FC236}">
                <a16:creationId xmlns:a16="http://schemas.microsoft.com/office/drawing/2014/main" id="{A06B5A45-A323-6269-2D84-F5690D3B00F9}"/>
              </a:ext>
            </a:extLst>
          </p:cNvPr>
          <p:cNvSpPr/>
          <p:nvPr/>
        </p:nvSpPr>
        <p:spPr>
          <a:xfrm>
            <a:off x="3046203" y="5535273"/>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5" name="Rectangle 1094">
            <a:extLst>
              <a:ext uri="{FF2B5EF4-FFF2-40B4-BE49-F238E27FC236}">
                <a16:creationId xmlns:a16="http://schemas.microsoft.com/office/drawing/2014/main" id="{8021AAEC-0F65-C6F0-4913-326F38054739}"/>
              </a:ext>
            </a:extLst>
          </p:cNvPr>
          <p:cNvSpPr/>
          <p:nvPr/>
        </p:nvSpPr>
        <p:spPr>
          <a:xfrm>
            <a:off x="3046314" y="5740940"/>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6" name="Rectangle 1095">
            <a:extLst>
              <a:ext uri="{FF2B5EF4-FFF2-40B4-BE49-F238E27FC236}">
                <a16:creationId xmlns:a16="http://schemas.microsoft.com/office/drawing/2014/main" id="{00E8CADD-2238-34B6-9599-75A7AA780D19}"/>
              </a:ext>
            </a:extLst>
          </p:cNvPr>
          <p:cNvSpPr/>
          <p:nvPr/>
        </p:nvSpPr>
        <p:spPr>
          <a:xfrm>
            <a:off x="3045114" y="5946607"/>
            <a:ext cx="189411" cy="189411"/>
          </a:xfrm>
          <a:prstGeom prst="rect">
            <a:avLst/>
          </a:prstGeom>
          <a:solidFill>
            <a:srgbClr val="33CC3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7" name="Rectangle 1096">
            <a:extLst>
              <a:ext uri="{FF2B5EF4-FFF2-40B4-BE49-F238E27FC236}">
                <a16:creationId xmlns:a16="http://schemas.microsoft.com/office/drawing/2014/main" id="{AEF2CCFA-C6E6-24A9-BBBE-223C1E307D3E}"/>
              </a:ext>
            </a:extLst>
          </p:cNvPr>
          <p:cNvSpPr/>
          <p:nvPr/>
        </p:nvSpPr>
        <p:spPr>
          <a:xfrm>
            <a:off x="3045475" y="6152274"/>
            <a:ext cx="189411" cy="189411"/>
          </a:xfrm>
          <a:prstGeom prst="rect">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8" name="Rectangle 1097">
            <a:extLst>
              <a:ext uri="{FF2B5EF4-FFF2-40B4-BE49-F238E27FC236}">
                <a16:creationId xmlns:a16="http://schemas.microsoft.com/office/drawing/2014/main" id="{E60D794C-CCA1-D1EA-DA45-0D2033A6C21A}"/>
              </a:ext>
            </a:extLst>
          </p:cNvPr>
          <p:cNvSpPr/>
          <p:nvPr/>
        </p:nvSpPr>
        <p:spPr>
          <a:xfrm>
            <a:off x="3252791" y="5328266"/>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9" name="Rectangle 1098">
            <a:extLst>
              <a:ext uri="{FF2B5EF4-FFF2-40B4-BE49-F238E27FC236}">
                <a16:creationId xmlns:a16="http://schemas.microsoft.com/office/drawing/2014/main" id="{0D1C5E17-7FCB-33CC-55A5-755DAD84FEA9}"/>
              </a:ext>
            </a:extLst>
          </p:cNvPr>
          <p:cNvSpPr/>
          <p:nvPr/>
        </p:nvSpPr>
        <p:spPr>
          <a:xfrm>
            <a:off x="3252791" y="5533933"/>
            <a:ext cx="189411" cy="189411"/>
          </a:xfrm>
          <a:prstGeom prst="rect">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0" name="Rectangle 1099">
            <a:extLst>
              <a:ext uri="{FF2B5EF4-FFF2-40B4-BE49-F238E27FC236}">
                <a16:creationId xmlns:a16="http://schemas.microsoft.com/office/drawing/2014/main" id="{EB8B2EC3-4CCF-8FFA-4F2E-56B168E4ECF7}"/>
              </a:ext>
            </a:extLst>
          </p:cNvPr>
          <p:cNvSpPr/>
          <p:nvPr/>
        </p:nvSpPr>
        <p:spPr>
          <a:xfrm>
            <a:off x="3252902" y="5739600"/>
            <a:ext cx="189411" cy="189411"/>
          </a:xfrm>
          <a:prstGeom prst="rect">
            <a:avLst/>
          </a:prstGeom>
          <a:solidFill>
            <a:srgbClr val="33CC3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1" name="Rectangle 1100">
            <a:extLst>
              <a:ext uri="{FF2B5EF4-FFF2-40B4-BE49-F238E27FC236}">
                <a16:creationId xmlns:a16="http://schemas.microsoft.com/office/drawing/2014/main" id="{09954724-BE8F-3E96-9A66-29C440E64E3B}"/>
              </a:ext>
            </a:extLst>
          </p:cNvPr>
          <p:cNvSpPr/>
          <p:nvPr/>
        </p:nvSpPr>
        <p:spPr>
          <a:xfrm>
            <a:off x="3251702" y="5952411"/>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2" name="Rectangle 1101">
            <a:extLst>
              <a:ext uri="{FF2B5EF4-FFF2-40B4-BE49-F238E27FC236}">
                <a16:creationId xmlns:a16="http://schemas.microsoft.com/office/drawing/2014/main" id="{6EE58CAA-BBA3-40AD-0C5A-030953AD287F}"/>
              </a:ext>
            </a:extLst>
          </p:cNvPr>
          <p:cNvSpPr/>
          <p:nvPr/>
        </p:nvSpPr>
        <p:spPr>
          <a:xfrm>
            <a:off x="3252063" y="6153315"/>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3" name="Rectangle 1102">
            <a:extLst>
              <a:ext uri="{FF2B5EF4-FFF2-40B4-BE49-F238E27FC236}">
                <a16:creationId xmlns:a16="http://schemas.microsoft.com/office/drawing/2014/main" id="{89009D07-CB1C-5FC7-4F79-D0187AB6706C}"/>
              </a:ext>
            </a:extLst>
          </p:cNvPr>
          <p:cNvSpPr/>
          <p:nvPr/>
        </p:nvSpPr>
        <p:spPr>
          <a:xfrm>
            <a:off x="3458780" y="5329608"/>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4" name="Rectangle 1103">
            <a:extLst>
              <a:ext uri="{FF2B5EF4-FFF2-40B4-BE49-F238E27FC236}">
                <a16:creationId xmlns:a16="http://schemas.microsoft.com/office/drawing/2014/main" id="{05643561-A6D3-2E91-CF96-48CD6E5FFB93}"/>
              </a:ext>
            </a:extLst>
          </p:cNvPr>
          <p:cNvSpPr/>
          <p:nvPr/>
        </p:nvSpPr>
        <p:spPr>
          <a:xfrm>
            <a:off x="3458780" y="5535275"/>
            <a:ext cx="189411" cy="189411"/>
          </a:xfrm>
          <a:prstGeom prst="rect">
            <a:avLst/>
          </a:prstGeom>
          <a:solidFill>
            <a:srgbClr val="FFC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5" name="Rectangle 1104">
            <a:extLst>
              <a:ext uri="{FF2B5EF4-FFF2-40B4-BE49-F238E27FC236}">
                <a16:creationId xmlns:a16="http://schemas.microsoft.com/office/drawing/2014/main" id="{DF2E4C72-2ABC-EA4D-A0F3-5DA04385FA2D}"/>
              </a:ext>
            </a:extLst>
          </p:cNvPr>
          <p:cNvSpPr/>
          <p:nvPr/>
        </p:nvSpPr>
        <p:spPr>
          <a:xfrm>
            <a:off x="3458891" y="5740942"/>
            <a:ext cx="189411" cy="189411"/>
          </a:xfrm>
          <a:prstGeom prst="rect">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6" name="Rectangle 1105">
            <a:extLst>
              <a:ext uri="{FF2B5EF4-FFF2-40B4-BE49-F238E27FC236}">
                <a16:creationId xmlns:a16="http://schemas.microsoft.com/office/drawing/2014/main" id="{1DCDF257-708E-2BE2-6664-A6CD58D909B6}"/>
              </a:ext>
            </a:extLst>
          </p:cNvPr>
          <p:cNvSpPr/>
          <p:nvPr/>
        </p:nvSpPr>
        <p:spPr>
          <a:xfrm>
            <a:off x="3457691" y="5946609"/>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7" name="Rectangle 1106">
            <a:extLst>
              <a:ext uri="{FF2B5EF4-FFF2-40B4-BE49-F238E27FC236}">
                <a16:creationId xmlns:a16="http://schemas.microsoft.com/office/drawing/2014/main" id="{F5DBE20A-542C-FA5C-34C9-1800B043CDA5}"/>
              </a:ext>
            </a:extLst>
          </p:cNvPr>
          <p:cNvSpPr/>
          <p:nvPr/>
        </p:nvSpPr>
        <p:spPr>
          <a:xfrm>
            <a:off x="3460433" y="6157038"/>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8" name="TextBox 1107">
            <a:extLst>
              <a:ext uri="{FF2B5EF4-FFF2-40B4-BE49-F238E27FC236}">
                <a16:creationId xmlns:a16="http://schemas.microsoft.com/office/drawing/2014/main" id="{BF107B2B-1F6A-3EE7-8435-97645B3612AD}"/>
              </a:ext>
            </a:extLst>
          </p:cNvPr>
          <p:cNvSpPr txBox="1"/>
          <p:nvPr/>
        </p:nvSpPr>
        <p:spPr>
          <a:xfrm>
            <a:off x="2127214" y="5329986"/>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1</a:t>
            </a:r>
          </a:p>
        </p:txBody>
      </p:sp>
      <p:sp>
        <p:nvSpPr>
          <p:cNvPr id="1109" name="TextBox 1108">
            <a:extLst>
              <a:ext uri="{FF2B5EF4-FFF2-40B4-BE49-F238E27FC236}">
                <a16:creationId xmlns:a16="http://schemas.microsoft.com/office/drawing/2014/main" id="{AAFBFD53-F569-B34D-C08C-3B900214CC19}"/>
              </a:ext>
            </a:extLst>
          </p:cNvPr>
          <p:cNvSpPr txBox="1"/>
          <p:nvPr/>
        </p:nvSpPr>
        <p:spPr>
          <a:xfrm>
            <a:off x="2127214" y="5535653"/>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2</a:t>
            </a:r>
          </a:p>
        </p:txBody>
      </p:sp>
      <p:sp>
        <p:nvSpPr>
          <p:cNvPr id="1110" name="TextBox 1109">
            <a:extLst>
              <a:ext uri="{FF2B5EF4-FFF2-40B4-BE49-F238E27FC236}">
                <a16:creationId xmlns:a16="http://schemas.microsoft.com/office/drawing/2014/main" id="{61A2D6EE-9E1B-8B42-075E-CD06EEF67FFB}"/>
              </a:ext>
            </a:extLst>
          </p:cNvPr>
          <p:cNvSpPr txBox="1"/>
          <p:nvPr/>
        </p:nvSpPr>
        <p:spPr>
          <a:xfrm>
            <a:off x="2127214" y="5741320"/>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3</a:t>
            </a:r>
          </a:p>
        </p:txBody>
      </p:sp>
      <p:sp>
        <p:nvSpPr>
          <p:cNvPr id="1111" name="TextBox 1110">
            <a:extLst>
              <a:ext uri="{FF2B5EF4-FFF2-40B4-BE49-F238E27FC236}">
                <a16:creationId xmlns:a16="http://schemas.microsoft.com/office/drawing/2014/main" id="{0DD861D0-D2A9-7F63-1878-E362F0A885CC}"/>
              </a:ext>
            </a:extLst>
          </p:cNvPr>
          <p:cNvSpPr txBox="1"/>
          <p:nvPr/>
        </p:nvSpPr>
        <p:spPr>
          <a:xfrm>
            <a:off x="2127214" y="5946987"/>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4</a:t>
            </a:r>
          </a:p>
        </p:txBody>
      </p:sp>
      <p:sp>
        <p:nvSpPr>
          <p:cNvPr id="1112" name="TextBox 1111">
            <a:extLst>
              <a:ext uri="{FF2B5EF4-FFF2-40B4-BE49-F238E27FC236}">
                <a16:creationId xmlns:a16="http://schemas.microsoft.com/office/drawing/2014/main" id="{81CBCE39-A54D-1602-12BE-9F34E91B1A86}"/>
              </a:ext>
            </a:extLst>
          </p:cNvPr>
          <p:cNvSpPr txBox="1"/>
          <p:nvPr/>
        </p:nvSpPr>
        <p:spPr>
          <a:xfrm>
            <a:off x="2127214" y="6152654"/>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5</a:t>
            </a:r>
          </a:p>
        </p:txBody>
      </p:sp>
      <p:sp>
        <p:nvSpPr>
          <p:cNvPr id="1113" name="TextBox 1112">
            <a:extLst>
              <a:ext uri="{FF2B5EF4-FFF2-40B4-BE49-F238E27FC236}">
                <a16:creationId xmlns:a16="http://schemas.microsoft.com/office/drawing/2014/main" id="{60C4CC48-E0FD-04B7-A2A5-BCCBF182BFAA}"/>
              </a:ext>
            </a:extLst>
          </p:cNvPr>
          <p:cNvSpPr txBox="1"/>
          <p:nvPr/>
        </p:nvSpPr>
        <p:spPr>
          <a:xfrm>
            <a:off x="2676142" y="5120222"/>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1</a:t>
            </a:r>
          </a:p>
        </p:txBody>
      </p:sp>
      <p:sp>
        <p:nvSpPr>
          <p:cNvPr id="1114" name="TextBox 1113">
            <a:extLst>
              <a:ext uri="{FF2B5EF4-FFF2-40B4-BE49-F238E27FC236}">
                <a16:creationId xmlns:a16="http://schemas.microsoft.com/office/drawing/2014/main" id="{4DB0D961-2909-4EC6-05B5-AD3BE3F99B6C}"/>
              </a:ext>
            </a:extLst>
          </p:cNvPr>
          <p:cNvSpPr txBox="1"/>
          <p:nvPr/>
        </p:nvSpPr>
        <p:spPr>
          <a:xfrm>
            <a:off x="2885181" y="5120222"/>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2</a:t>
            </a:r>
          </a:p>
        </p:txBody>
      </p:sp>
      <p:sp>
        <p:nvSpPr>
          <p:cNvPr id="1115" name="TextBox 1114">
            <a:extLst>
              <a:ext uri="{FF2B5EF4-FFF2-40B4-BE49-F238E27FC236}">
                <a16:creationId xmlns:a16="http://schemas.microsoft.com/office/drawing/2014/main" id="{8B4DFD2A-2662-F778-9567-E5DCD7A826AC}"/>
              </a:ext>
            </a:extLst>
          </p:cNvPr>
          <p:cNvSpPr txBox="1"/>
          <p:nvPr/>
        </p:nvSpPr>
        <p:spPr>
          <a:xfrm>
            <a:off x="3094220" y="5120222"/>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3</a:t>
            </a:r>
          </a:p>
        </p:txBody>
      </p:sp>
      <p:sp>
        <p:nvSpPr>
          <p:cNvPr id="1116" name="TextBox 1115">
            <a:extLst>
              <a:ext uri="{FF2B5EF4-FFF2-40B4-BE49-F238E27FC236}">
                <a16:creationId xmlns:a16="http://schemas.microsoft.com/office/drawing/2014/main" id="{C811FEDA-2E0C-CC6A-C54D-C3841A794EC5}"/>
              </a:ext>
            </a:extLst>
          </p:cNvPr>
          <p:cNvSpPr txBox="1"/>
          <p:nvPr/>
        </p:nvSpPr>
        <p:spPr>
          <a:xfrm>
            <a:off x="3303259" y="5120222"/>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4</a:t>
            </a:r>
          </a:p>
        </p:txBody>
      </p:sp>
      <p:sp>
        <p:nvSpPr>
          <p:cNvPr id="1117" name="TextBox 1116">
            <a:extLst>
              <a:ext uri="{FF2B5EF4-FFF2-40B4-BE49-F238E27FC236}">
                <a16:creationId xmlns:a16="http://schemas.microsoft.com/office/drawing/2014/main" id="{2F0FDFDA-8DF6-34BA-52A3-FA1F8FC027F2}"/>
              </a:ext>
            </a:extLst>
          </p:cNvPr>
          <p:cNvSpPr txBox="1"/>
          <p:nvPr/>
        </p:nvSpPr>
        <p:spPr>
          <a:xfrm>
            <a:off x="3512297" y="5120222"/>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5</a:t>
            </a:r>
          </a:p>
        </p:txBody>
      </p:sp>
      <p:sp>
        <p:nvSpPr>
          <p:cNvPr id="1118" name="Rectangle 1117">
            <a:extLst>
              <a:ext uri="{FF2B5EF4-FFF2-40B4-BE49-F238E27FC236}">
                <a16:creationId xmlns:a16="http://schemas.microsoft.com/office/drawing/2014/main" id="{1FDAC2F7-95CA-7595-0744-8B0A12E0C00E}"/>
              </a:ext>
            </a:extLst>
          </p:cNvPr>
          <p:cNvSpPr/>
          <p:nvPr/>
        </p:nvSpPr>
        <p:spPr>
          <a:xfrm>
            <a:off x="2631356" y="5329605"/>
            <a:ext cx="1015746" cy="100610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9" name="Rectangle 1118">
            <a:extLst>
              <a:ext uri="{FF2B5EF4-FFF2-40B4-BE49-F238E27FC236}">
                <a16:creationId xmlns:a16="http://schemas.microsoft.com/office/drawing/2014/main" id="{9D3B496F-3B3A-256B-4C8F-685F4EAEF8B1}"/>
              </a:ext>
            </a:extLst>
          </p:cNvPr>
          <p:cNvSpPr/>
          <p:nvPr/>
        </p:nvSpPr>
        <p:spPr>
          <a:xfrm>
            <a:off x="4374446" y="5330648"/>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0" name="Rectangle 1119">
            <a:extLst>
              <a:ext uri="{FF2B5EF4-FFF2-40B4-BE49-F238E27FC236}">
                <a16:creationId xmlns:a16="http://schemas.microsoft.com/office/drawing/2014/main" id="{8795FAF4-C3FF-244F-CBEC-54B1FE92A41B}"/>
              </a:ext>
            </a:extLst>
          </p:cNvPr>
          <p:cNvSpPr/>
          <p:nvPr/>
        </p:nvSpPr>
        <p:spPr>
          <a:xfrm>
            <a:off x="4380796" y="5536315"/>
            <a:ext cx="189411" cy="189411"/>
          </a:xfrm>
          <a:prstGeom prst="rect">
            <a:avLst/>
          </a:prstGeom>
          <a:solidFill>
            <a:srgbClr val="C0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1" name="Rectangle 1120">
            <a:extLst>
              <a:ext uri="{FF2B5EF4-FFF2-40B4-BE49-F238E27FC236}">
                <a16:creationId xmlns:a16="http://schemas.microsoft.com/office/drawing/2014/main" id="{0B0113C9-076B-B6B6-504A-BD4221205190}"/>
              </a:ext>
            </a:extLst>
          </p:cNvPr>
          <p:cNvSpPr/>
          <p:nvPr/>
        </p:nvSpPr>
        <p:spPr>
          <a:xfrm>
            <a:off x="4380907" y="5741982"/>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2" name="Rectangle 1121">
            <a:extLst>
              <a:ext uri="{FF2B5EF4-FFF2-40B4-BE49-F238E27FC236}">
                <a16:creationId xmlns:a16="http://schemas.microsoft.com/office/drawing/2014/main" id="{5BEF87D7-2ADD-4248-7F69-FEC6C56149CA}"/>
              </a:ext>
            </a:extLst>
          </p:cNvPr>
          <p:cNvSpPr/>
          <p:nvPr/>
        </p:nvSpPr>
        <p:spPr>
          <a:xfrm>
            <a:off x="4379707" y="5947649"/>
            <a:ext cx="189411" cy="189411"/>
          </a:xfrm>
          <a:prstGeom prst="rect">
            <a:avLst/>
          </a:prstGeom>
          <a:solidFill>
            <a:srgbClr val="452A4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3" name="Rectangle 1122">
            <a:extLst>
              <a:ext uri="{FF2B5EF4-FFF2-40B4-BE49-F238E27FC236}">
                <a16:creationId xmlns:a16="http://schemas.microsoft.com/office/drawing/2014/main" id="{510C789A-BD49-452F-8233-567441FC32E5}"/>
              </a:ext>
            </a:extLst>
          </p:cNvPr>
          <p:cNvSpPr/>
          <p:nvPr/>
        </p:nvSpPr>
        <p:spPr>
          <a:xfrm>
            <a:off x="4380068" y="6153316"/>
            <a:ext cx="189411" cy="189411"/>
          </a:xfrm>
          <a:prstGeom prst="rect">
            <a:avLst/>
          </a:prstGeom>
          <a:solidFill>
            <a:srgbClr val="FE962B"/>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4" name="Rectangle 1123">
            <a:extLst>
              <a:ext uri="{FF2B5EF4-FFF2-40B4-BE49-F238E27FC236}">
                <a16:creationId xmlns:a16="http://schemas.microsoft.com/office/drawing/2014/main" id="{C78B49DE-D355-AED7-5B43-9A79994B2CD8}"/>
              </a:ext>
            </a:extLst>
          </p:cNvPr>
          <p:cNvSpPr/>
          <p:nvPr/>
        </p:nvSpPr>
        <p:spPr>
          <a:xfrm>
            <a:off x="4587384" y="5333276"/>
            <a:ext cx="189411" cy="189411"/>
          </a:xfrm>
          <a:prstGeom prst="rect">
            <a:avLst/>
          </a:prstGeom>
          <a:solidFill>
            <a:srgbClr val="C0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5" name="Rectangle 1124">
            <a:extLst>
              <a:ext uri="{FF2B5EF4-FFF2-40B4-BE49-F238E27FC236}">
                <a16:creationId xmlns:a16="http://schemas.microsoft.com/office/drawing/2014/main" id="{4B702B5B-EF20-C080-F232-3507952BFA61}"/>
              </a:ext>
            </a:extLst>
          </p:cNvPr>
          <p:cNvSpPr/>
          <p:nvPr/>
        </p:nvSpPr>
        <p:spPr>
          <a:xfrm>
            <a:off x="4584209" y="5538943"/>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6" name="Rectangle 1125">
            <a:extLst>
              <a:ext uri="{FF2B5EF4-FFF2-40B4-BE49-F238E27FC236}">
                <a16:creationId xmlns:a16="http://schemas.microsoft.com/office/drawing/2014/main" id="{BD135577-CB3C-DC4E-E12F-0302E8512964}"/>
              </a:ext>
            </a:extLst>
          </p:cNvPr>
          <p:cNvSpPr/>
          <p:nvPr/>
        </p:nvSpPr>
        <p:spPr>
          <a:xfrm>
            <a:off x="4587495" y="5744610"/>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7" name="Rectangle 1126">
            <a:extLst>
              <a:ext uri="{FF2B5EF4-FFF2-40B4-BE49-F238E27FC236}">
                <a16:creationId xmlns:a16="http://schemas.microsoft.com/office/drawing/2014/main" id="{FDF10CE2-EADE-2D76-02DB-4E684E7C2B88}"/>
              </a:ext>
            </a:extLst>
          </p:cNvPr>
          <p:cNvSpPr/>
          <p:nvPr/>
        </p:nvSpPr>
        <p:spPr>
          <a:xfrm>
            <a:off x="4586295" y="5950277"/>
            <a:ext cx="189411" cy="189411"/>
          </a:xfrm>
          <a:prstGeom prst="rect">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8" name="Rectangle 1127">
            <a:extLst>
              <a:ext uri="{FF2B5EF4-FFF2-40B4-BE49-F238E27FC236}">
                <a16:creationId xmlns:a16="http://schemas.microsoft.com/office/drawing/2014/main" id="{D6C01A9D-44C4-5B49-110A-480C78A9116F}"/>
              </a:ext>
            </a:extLst>
          </p:cNvPr>
          <p:cNvSpPr/>
          <p:nvPr/>
        </p:nvSpPr>
        <p:spPr>
          <a:xfrm>
            <a:off x="4586656" y="6155944"/>
            <a:ext cx="189411" cy="189411"/>
          </a:xfrm>
          <a:prstGeom prst="rect">
            <a:avLst/>
          </a:prstGeom>
          <a:solidFill>
            <a:srgbClr val="00B0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9" name="Rectangle 1128">
            <a:extLst>
              <a:ext uri="{FF2B5EF4-FFF2-40B4-BE49-F238E27FC236}">
                <a16:creationId xmlns:a16="http://schemas.microsoft.com/office/drawing/2014/main" id="{6805282B-5D17-DA74-8A8A-F3A430B02AD1}"/>
              </a:ext>
            </a:extLst>
          </p:cNvPr>
          <p:cNvSpPr/>
          <p:nvPr/>
        </p:nvSpPr>
        <p:spPr>
          <a:xfrm>
            <a:off x="4795643" y="5336618"/>
            <a:ext cx="189411" cy="189411"/>
          </a:xfrm>
          <a:prstGeom prst="rect">
            <a:avLst/>
          </a:prstGeom>
          <a:solidFill>
            <a:srgbClr val="00FF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0" name="Rectangle 1129">
            <a:extLst>
              <a:ext uri="{FF2B5EF4-FFF2-40B4-BE49-F238E27FC236}">
                <a16:creationId xmlns:a16="http://schemas.microsoft.com/office/drawing/2014/main" id="{586B10C5-337A-7DAA-8A38-E85441904862}"/>
              </a:ext>
            </a:extLst>
          </p:cNvPr>
          <p:cNvSpPr/>
          <p:nvPr/>
        </p:nvSpPr>
        <p:spPr>
          <a:xfrm>
            <a:off x="4795643" y="5542285"/>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1" name="Rectangle 1130">
            <a:extLst>
              <a:ext uri="{FF2B5EF4-FFF2-40B4-BE49-F238E27FC236}">
                <a16:creationId xmlns:a16="http://schemas.microsoft.com/office/drawing/2014/main" id="{1E38908C-60C3-E78F-5D19-C23CD6725C26}"/>
              </a:ext>
            </a:extLst>
          </p:cNvPr>
          <p:cNvSpPr/>
          <p:nvPr/>
        </p:nvSpPr>
        <p:spPr>
          <a:xfrm>
            <a:off x="4795754" y="5747952"/>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2" name="Rectangle 1131">
            <a:extLst>
              <a:ext uri="{FF2B5EF4-FFF2-40B4-BE49-F238E27FC236}">
                <a16:creationId xmlns:a16="http://schemas.microsoft.com/office/drawing/2014/main" id="{5CAD34CB-83B4-7083-F6DF-6A4B1214D9C1}"/>
              </a:ext>
            </a:extLst>
          </p:cNvPr>
          <p:cNvSpPr/>
          <p:nvPr/>
        </p:nvSpPr>
        <p:spPr>
          <a:xfrm>
            <a:off x="4794554" y="5953619"/>
            <a:ext cx="189411" cy="189411"/>
          </a:xfrm>
          <a:prstGeom prst="rect">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3" name="Rectangle 1132">
            <a:extLst>
              <a:ext uri="{FF2B5EF4-FFF2-40B4-BE49-F238E27FC236}">
                <a16:creationId xmlns:a16="http://schemas.microsoft.com/office/drawing/2014/main" id="{8D86693D-B01C-C0AB-5DB1-163652333285}"/>
              </a:ext>
            </a:extLst>
          </p:cNvPr>
          <p:cNvSpPr/>
          <p:nvPr/>
        </p:nvSpPr>
        <p:spPr>
          <a:xfrm>
            <a:off x="4794915" y="6159286"/>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4" name="Rectangle 1133">
            <a:extLst>
              <a:ext uri="{FF2B5EF4-FFF2-40B4-BE49-F238E27FC236}">
                <a16:creationId xmlns:a16="http://schemas.microsoft.com/office/drawing/2014/main" id="{766694FF-6481-B669-7D04-38FB8EA158D3}"/>
              </a:ext>
            </a:extLst>
          </p:cNvPr>
          <p:cNvSpPr/>
          <p:nvPr/>
        </p:nvSpPr>
        <p:spPr>
          <a:xfrm>
            <a:off x="5002231" y="5335278"/>
            <a:ext cx="189411" cy="189411"/>
          </a:xfrm>
          <a:prstGeom prst="rect">
            <a:avLst/>
          </a:prstGeom>
          <a:solidFill>
            <a:srgbClr val="452A4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5" name="Rectangle 1134">
            <a:extLst>
              <a:ext uri="{FF2B5EF4-FFF2-40B4-BE49-F238E27FC236}">
                <a16:creationId xmlns:a16="http://schemas.microsoft.com/office/drawing/2014/main" id="{8960AFEF-4AA4-1985-6B87-2E89B8773FCE}"/>
              </a:ext>
            </a:extLst>
          </p:cNvPr>
          <p:cNvSpPr/>
          <p:nvPr/>
        </p:nvSpPr>
        <p:spPr>
          <a:xfrm>
            <a:off x="5002231" y="5540945"/>
            <a:ext cx="189411" cy="189411"/>
          </a:xfrm>
          <a:prstGeom prst="rect">
            <a:avLst/>
          </a:prstGeom>
          <a:solidFill>
            <a:srgbClr val="FFFF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6" name="Rectangle 1135">
            <a:extLst>
              <a:ext uri="{FF2B5EF4-FFF2-40B4-BE49-F238E27FC236}">
                <a16:creationId xmlns:a16="http://schemas.microsoft.com/office/drawing/2014/main" id="{766D5F51-EE42-9D94-1D81-1E06A460AA3A}"/>
              </a:ext>
            </a:extLst>
          </p:cNvPr>
          <p:cNvSpPr/>
          <p:nvPr/>
        </p:nvSpPr>
        <p:spPr>
          <a:xfrm>
            <a:off x="5002342" y="5746612"/>
            <a:ext cx="189411" cy="189411"/>
          </a:xfrm>
          <a:prstGeom prst="rect">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7" name="Rectangle 1136">
            <a:extLst>
              <a:ext uri="{FF2B5EF4-FFF2-40B4-BE49-F238E27FC236}">
                <a16:creationId xmlns:a16="http://schemas.microsoft.com/office/drawing/2014/main" id="{B2C65A12-7B9E-7B06-2F64-32E5F25EAAD2}"/>
              </a:ext>
            </a:extLst>
          </p:cNvPr>
          <p:cNvSpPr/>
          <p:nvPr/>
        </p:nvSpPr>
        <p:spPr>
          <a:xfrm>
            <a:off x="5001142" y="5959423"/>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8" name="Rectangle 1137">
            <a:extLst>
              <a:ext uri="{FF2B5EF4-FFF2-40B4-BE49-F238E27FC236}">
                <a16:creationId xmlns:a16="http://schemas.microsoft.com/office/drawing/2014/main" id="{DAF8A47B-302C-E07E-3E72-9A101B28D8BE}"/>
              </a:ext>
            </a:extLst>
          </p:cNvPr>
          <p:cNvSpPr/>
          <p:nvPr/>
        </p:nvSpPr>
        <p:spPr>
          <a:xfrm>
            <a:off x="5001503" y="6160327"/>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9" name="Rectangle 1138">
            <a:extLst>
              <a:ext uri="{FF2B5EF4-FFF2-40B4-BE49-F238E27FC236}">
                <a16:creationId xmlns:a16="http://schemas.microsoft.com/office/drawing/2014/main" id="{6293F2F2-1B97-7D50-62EE-D2C3A88A95C2}"/>
              </a:ext>
            </a:extLst>
          </p:cNvPr>
          <p:cNvSpPr/>
          <p:nvPr/>
        </p:nvSpPr>
        <p:spPr>
          <a:xfrm>
            <a:off x="5208220" y="5336620"/>
            <a:ext cx="189411" cy="189411"/>
          </a:xfrm>
          <a:prstGeom prst="rect">
            <a:avLst/>
          </a:prstGeom>
          <a:solidFill>
            <a:srgbClr val="FE962B"/>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0" name="Rectangle 1139">
            <a:extLst>
              <a:ext uri="{FF2B5EF4-FFF2-40B4-BE49-F238E27FC236}">
                <a16:creationId xmlns:a16="http://schemas.microsoft.com/office/drawing/2014/main" id="{65CD5945-D106-1E98-1844-FD2FE3531C08}"/>
              </a:ext>
            </a:extLst>
          </p:cNvPr>
          <p:cNvSpPr/>
          <p:nvPr/>
        </p:nvSpPr>
        <p:spPr>
          <a:xfrm>
            <a:off x="5208220" y="5542287"/>
            <a:ext cx="189411" cy="189411"/>
          </a:xfrm>
          <a:prstGeom prst="rect">
            <a:avLst/>
          </a:prstGeom>
          <a:solidFill>
            <a:srgbClr val="00B05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1" name="Rectangle 1140">
            <a:extLst>
              <a:ext uri="{FF2B5EF4-FFF2-40B4-BE49-F238E27FC236}">
                <a16:creationId xmlns:a16="http://schemas.microsoft.com/office/drawing/2014/main" id="{837A171E-0DA1-08FE-F2C6-745B75427164}"/>
              </a:ext>
            </a:extLst>
          </p:cNvPr>
          <p:cNvSpPr/>
          <p:nvPr/>
        </p:nvSpPr>
        <p:spPr>
          <a:xfrm>
            <a:off x="5208331" y="5747954"/>
            <a:ext cx="189411" cy="189411"/>
          </a:xfrm>
          <a:prstGeom prst="rect">
            <a:avLst/>
          </a:prstGeom>
          <a:solidFill>
            <a:srgbClr val="D2E93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2" name="Rectangle 1141">
            <a:extLst>
              <a:ext uri="{FF2B5EF4-FFF2-40B4-BE49-F238E27FC236}">
                <a16:creationId xmlns:a16="http://schemas.microsoft.com/office/drawing/2014/main" id="{965D7D6A-1D6B-E429-413D-FE464BCB1526}"/>
              </a:ext>
            </a:extLst>
          </p:cNvPr>
          <p:cNvSpPr/>
          <p:nvPr/>
        </p:nvSpPr>
        <p:spPr>
          <a:xfrm>
            <a:off x="5207131" y="5953621"/>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3" name="Rectangle 1142">
            <a:extLst>
              <a:ext uri="{FF2B5EF4-FFF2-40B4-BE49-F238E27FC236}">
                <a16:creationId xmlns:a16="http://schemas.microsoft.com/office/drawing/2014/main" id="{68D4DF1C-F28F-638C-4FA1-B5DC2FDE48A5}"/>
              </a:ext>
            </a:extLst>
          </p:cNvPr>
          <p:cNvSpPr/>
          <p:nvPr/>
        </p:nvSpPr>
        <p:spPr>
          <a:xfrm>
            <a:off x="5209873" y="6164050"/>
            <a:ext cx="189411" cy="1894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4" name="TextBox 1143">
            <a:extLst>
              <a:ext uri="{FF2B5EF4-FFF2-40B4-BE49-F238E27FC236}">
                <a16:creationId xmlns:a16="http://schemas.microsoft.com/office/drawing/2014/main" id="{D5C65C1A-E2C1-049E-138F-ED6BB55F4A0C}"/>
              </a:ext>
            </a:extLst>
          </p:cNvPr>
          <p:cNvSpPr txBox="1"/>
          <p:nvPr/>
        </p:nvSpPr>
        <p:spPr>
          <a:xfrm>
            <a:off x="3876654" y="5336998"/>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1</a:t>
            </a:r>
          </a:p>
        </p:txBody>
      </p:sp>
      <p:sp>
        <p:nvSpPr>
          <p:cNvPr id="1145" name="TextBox 1144">
            <a:extLst>
              <a:ext uri="{FF2B5EF4-FFF2-40B4-BE49-F238E27FC236}">
                <a16:creationId xmlns:a16="http://schemas.microsoft.com/office/drawing/2014/main" id="{73133EFF-FABA-84F0-EA6F-2C68DC561886}"/>
              </a:ext>
            </a:extLst>
          </p:cNvPr>
          <p:cNvSpPr txBox="1"/>
          <p:nvPr/>
        </p:nvSpPr>
        <p:spPr>
          <a:xfrm>
            <a:off x="3876654" y="5542665"/>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2</a:t>
            </a:r>
          </a:p>
        </p:txBody>
      </p:sp>
      <p:sp>
        <p:nvSpPr>
          <p:cNvPr id="1146" name="TextBox 1145">
            <a:extLst>
              <a:ext uri="{FF2B5EF4-FFF2-40B4-BE49-F238E27FC236}">
                <a16:creationId xmlns:a16="http://schemas.microsoft.com/office/drawing/2014/main" id="{D1F39983-78E8-D156-96FA-13FBE38DEE88}"/>
              </a:ext>
            </a:extLst>
          </p:cNvPr>
          <p:cNvSpPr txBox="1"/>
          <p:nvPr/>
        </p:nvSpPr>
        <p:spPr>
          <a:xfrm>
            <a:off x="3876654" y="5748332"/>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3</a:t>
            </a:r>
          </a:p>
        </p:txBody>
      </p:sp>
      <p:sp>
        <p:nvSpPr>
          <p:cNvPr id="1147" name="TextBox 1146">
            <a:extLst>
              <a:ext uri="{FF2B5EF4-FFF2-40B4-BE49-F238E27FC236}">
                <a16:creationId xmlns:a16="http://schemas.microsoft.com/office/drawing/2014/main" id="{1D878C6B-85CD-6944-3203-3ABA404BDC67}"/>
              </a:ext>
            </a:extLst>
          </p:cNvPr>
          <p:cNvSpPr txBox="1"/>
          <p:nvPr/>
        </p:nvSpPr>
        <p:spPr>
          <a:xfrm>
            <a:off x="3876654" y="5953999"/>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4</a:t>
            </a:r>
          </a:p>
        </p:txBody>
      </p:sp>
      <p:sp>
        <p:nvSpPr>
          <p:cNvPr id="1148" name="TextBox 1147">
            <a:extLst>
              <a:ext uri="{FF2B5EF4-FFF2-40B4-BE49-F238E27FC236}">
                <a16:creationId xmlns:a16="http://schemas.microsoft.com/office/drawing/2014/main" id="{A44BAB99-BBEB-7E74-94E9-5132A3CBEDFB}"/>
              </a:ext>
            </a:extLst>
          </p:cNvPr>
          <p:cNvSpPr txBox="1"/>
          <p:nvPr/>
        </p:nvSpPr>
        <p:spPr>
          <a:xfrm>
            <a:off x="3876654" y="6159666"/>
            <a:ext cx="420693"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Trial 5</a:t>
            </a:r>
          </a:p>
        </p:txBody>
      </p:sp>
      <p:sp>
        <p:nvSpPr>
          <p:cNvPr id="1149" name="TextBox 1148">
            <a:extLst>
              <a:ext uri="{FF2B5EF4-FFF2-40B4-BE49-F238E27FC236}">
                <a16:creationId xmlns:a16="http://schemas.microsoft.com/office/drawing/2014/main" id="{3A470E50-7FA0-F6BE-137E-8D2287B71E14}"/>
              </a:ext>
            </a:extLst>
          </p:cNvPr>
          <p:cNvSpPr txBox="1"/>
          <p:nvPr/>
        </p:nvSpPr>
        <p:spPr>
          <a:xfrm>
            <a:off x="4425582" y="5127234"/>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1</a:t>
            </a:r>
          </a:p>
        </p:txBody>
      </p:sp>
      <p:sp>
        <p:nvSpPr>
          <p:cNvPr id="1150" name="TextBox 1149">
            <a:extLst>
              <a:ext uri="{FF2B5EF4-FFF2-40B4-BE49-F238E27FC236}">
                <a16:creationId xmlns:a16="http://schemas.microsoft.com/office/drawing/2014/main" id="{6A92020D-EE8D-61CA-10C1-508E782031E1}"/>
              </a:ext>
            </a:extLst>
          </p:cNvPr>
          <p:cNvSpPr txBox="1"/>
          <p:nvPr/>
        </p:nvSpPr>
        <p:spPr>
          <a:xfrm>
            <a:off x="4634621" y="5127234"/>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2</a:t>
            </a:r>
          </a:p>
        </p:txBody>
      </p:sp>
      <p:sp>
        <p:nvSpPr>
          <p:cNvPr id="1151" name="TextBox 1150">
            <a:extLst>
              <a:ext uri="{FF2B5EF4-FFF2-40B4-BE49-F238E27FC236}">
                <a16:creationId xmlns:a16="http://schemas.microsoft.com/office/drawing/2014/main" id="{6748257D-6019-66FA-1F49-7EE345B7ED47}"/>
              </a:ext>
            </a:extLst>
          </p:cNvPr>
          <p:cNvSpPr txBox="1"/>
          <p:nvPr/>
        </p:nvSpPr>
        <p:spPr>
          <a:xfrm>
            <a:off x="4843660" y="5127234"/>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3</a:t>
            </a:r>
          </a:p>
        </p:txBody>
      </p:sp>
      <p:sp>
        <p:nvSpPr>
          <p:cNvPr id="1152" name="TextBox 1151">
            <a:extLst>
              <a:ext uri="{FF2B5EF4-FFF2-40B4-BE49-F238E27FC236}">
                <a16:creationId xmlns:a16="http://schemas.microsoft.com/office/drawing/2014/main" id="{771A24CB-80B7-A800-3837-5130E18464B5}"/>
              </a:ext>
            </a:extLst>
          </p:cNvPr>
          <p:cNvSpPr txBox="1"/>
          <p:nvPr/>
        </p:nvSpPr>
        <p:spPr>
          <a:xfrm>
            <a:off x="5052699" y="5127234"/>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4</a:t>
            </a:r>
          </a:p>
        </p:txBody>
      </p:sp>
      <p:sp>
        <p:nvSpPr>
          <p:cNvPr id="1153" name="TextBox 1152">
            <a:extLst>
              <a:ext uri="{FF2B5EF4-FFF2-40B4-BE49-F238E27FC236}">
                <a16:creationId xmlns:a16="http://schemas.microsoft.com/office/drawing/2014/main" id="{A5D44601-7434-E0B7-1FEA-8BF7F882761C}"/>
              </a:ext>
            </a:extLst>
          </p:cNvPr>
          <p:cNvSpPr txBox="1"/>
          <p:nvPr/>
        </p:nvSpPr>
        <p:spPr>
          <a:xfrm>
            <a:off x="5261737" y="5127234"/>
            <a:ext cx="84960" cy="184666"/>
          </a:xfrm>
          <a:prstGeom prst="rect">
            <a:avLst/>
          </a:prstGeom>
          <a:noFill/>
        </p:spPr>
        <p:txBody>
          <a:bodyPr wrap="none" lIns="0" tIns="0" rIns="0" bIns="0" rtlCol="0">
            <a:spAutoFit/>
          </a:bodyPr>
          <a:lstStyle/>
          <a:p>
            <a:r>
              <a:rPr lang="en-US" sz="1200" dirty="0">
                <a:latin typeface="Arial" panose="020B0604020202020204" pitchFamily="34" charset="0"/>
                <a:cs typeface="Arial" panose="020B0604020202020204" pitchFamily="34" charset="0"/>
              </a:rPr>
              <a:t>5</a:t>
            </a:r>
          </a:p>
        </p:txBody>
      </p:sp>
      <p:sp>
        <p:nvSpPr>
          <p:cNvPr id="1154" name="Rectangle 1153">
            <a:extLst>
              <a:ext uri="{FF2B5EF4-FFF2-40B4-BE49-F238E27FC236}">
                <a16:creationId xmlns:a16="http://schemas.microsoft.com/office/drawing/2014/main" id="{052A2336-F9DC-5000-C446-0FE958681CAB}"/>
              </a:ext>
            </a:extLst>
          </p:cNvPr>
          <p:cNvSpPr/>
          <p:nvPr/>
        </p:nvSpPr>
        <p:spPr>
          <a:xfrm>
            <a:off x="4380796" y="5336617"/>
            <a:ext cx="1015746" cy="1006109"/>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56" name="Straight Arrow Connector 1155">
            <a:extLst>
              <a:ext uri="{FF2B5EF4-FFF2-40B4-BE49-F238E27FC236}">
                <a16:creationId xmlns:a16="http://schemas.microsoft.com/office/drawing/2014/main" id="{C03238F0-B669-49A9-07DC-F86D46FB25E5}"/>
              </a:ext>
            </a:extLst>
          </p:cNvPr>
          <p:cNvCxnSpPr>
            <a:cxnSpLocks/>
          </p:cNvCxnSpPr>
          <p:nvPr/>
        </p:nvCxnSpPr>
        <p:spPr>
          <a:xfrm>
            <a:off x="1368183" y="4395290"/>
            <a:ext cx="0" cy="604911"/>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9" name="Straight Arrow Connector 1158">
            <a:extLst>
              <a:ext uri="{FF2B5EF4-FFF2-40B4-BE49-F238E27FC236}">
                <a16:creationId xmlns:a16="http://schemas.microsoft.com/office/drawing/2014/main" id="{E619CD30-A62C-A0B8-C019-4C7AF60730C6}"/>
              </a:ext>
            </a:extLst>
          </p:cNvPr>
          <p:cNvCxnSpPr>
            <a:cxnSpLocks/>
          </p:cNvCxnSpPr>
          <p:nvPr/>
        </p:nvCxnSpPr>
        <p:spPr>
          <a:xfrm>
            <a:off x="3131441" y="4395290"/>
            <a:ext cx="0" cy="604911"/>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0" name="Straight Arrow Connector 1159">
            <a:extLst>
              <a:ext uri="{FF2B5EF4-FFF2-40B4-BE49-F238E27FC236}">
                <a16:creationId xmlns:a16="http://schemas.microsoft.com/office/drawing/2014/main" id="{24407AEF-94AF-EF41-C232-A1BE4F2FC62C}"/>
              </a:ext>
            </a:extLst>
          </p:cNvPr>
          <p:cNvCxnSpPr>
            <a:cxnSpLocks/>
          </p:cNvCxnSpPr>
          <p:nvPr/>
        </p:nvCxnSpPr>
        <p:spPr>
          <a:xfrm>
            <a:off x="4865993" y="4395290"/>
            <a:ext cx="0" cy="604911"/>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61" name="TextBox 1160">
            <a:extLst>
              <a:ext uri="{FF2B5EF4-FFF2-40B4-BE49-F238E27FC236}">
                <a16:creationId xmlns:a16="http://schemas.microsoft.com/office/drawing/2014/main" id="{DCBAB425-CE40-100A-B17B-AC722469D973}"/>
              </a:ext>
            </a:extLst>
          </p:cNvPr>
          <p:cNvSpPr txBox="1"/>
          <p:nvPr/>
        </p:nvSpPr>
        <p:spPr>
          <a:xfrm>
            <a:off x="806786" y="6377901"/>
            <a:ext cx="1160895" cy="307777"/>
          </a:xfrm>
          <a:prstGeom prst="rect">
            <a:avLst/>
          </a:prstGeom>
          <a:noFill/>
        </p:spPr>
        <p:txBody>
          <a:bodyPr wrap="none" rtlCol="0">
            <a:spAutoFit/>
          </a:bodyPr>
          <a:lstStyle/>
          <a:p>
            <a:pPr algn="ctr"/>
            <a:r>
              <a:rPr lang="en-US" sz="1400" dirty="0">
                <a:latin typeface="Arial" panose="020B0604020202020204" pitchFamily="34" charset="0"/>
                <a:cs typeface="Arial" panose="020B0604020202020204" pitchFamily="34" charset="0"/>
              </a:rPr>
              <a:t>Object RDM</a:t>
            </a:r>
          </a:p>
        </p:txBody>
      </p:sp>
      <p:sp>
        <p:nvSpPr>
          <p:cNvPr id="1162" name="TextBox 1161">
            <a:extLst>
              <a:ext uri="{FF2B5EF4-FFF2-40B4-BE49-F238E27FC236}">
                <a16:creationId xmlns:a16="http://schemas.microsoft.com/office/drawing/2014/main" id="{952434B0-BB8F-8E95-1484-1C0F663394CC}"/>
              </a:ext>
            </a:extLst>
          </p:cNvPr>
          <p:cNvSpPr txBox="1"/>
          <p:nvPr/>
        </p:nvSpPr>
        <p:spPr>
          <a:xfrm>
            <a:off x="2574855" y="6377901"/>
            <a:ext cx="1151277" cy="307777"/>
          </a:xfrm>
          <a:prstGeom prst="rect">
            <a:avLst/>
          </a:prstGeom>
          <a:noFill/>
        </p:spPr>
        <p:txBody>
          <a:bodyPr wrap="none" rtlCol="0">
            <a:spAutoFit/>
          </a:bodyPr>
          <a:lstStyle/>
          <a:p>
            <a:pPr algn="ctr"/>
            <a:r>
              <a:rPr lang="en-US" sz="1400" dirty="0">
                <a:latin typeface="Arial" panose="020B0604020202020204" pitchFamily="34" charset="0"/>
                <a:cs typeface="Arial" panose="020B0604020202020204" pitchFamily="34" charset="0"/>
              </a:rPr>
              <a:t>Scene RDM</a:t>
            </a:r>
          </a:p>
        </p:txBody>
      </p:sp>
      <p:sp>
        <p:nvSpPr>
          <p:cNvPr id="1163" name="TextBox 1162">
            <a:extLst>
              <a:ext uri="{FF2B5EF4-FFF2-40B4-BE49-F238E27FC236}">
                <a16:creationId xmlns:a16="http://schemas.microsoft.com/office/drawing/2014/main" id="{F457D580-29C4-114A-D4DC-1118A531979E}"/>
              </a:ext>
            </a:extLst>
          </p:cNvPr>
          <p:cNvSpPr txBox="1"/>
          <p:nvPr/>
        </p:nvSpPr>
        <p:spPr>
          <a:xfrm>
            <a:off x="4246473" y="6377901"/>
            <a:ext cx="1274217" cy="307777"/>
          </a:xfrm>
          <a:prstGeom prst="rect">
            <a:avLst/>
          </a:prstGeom>
          <a:noFill/>
        </p:spPr>
        <p:txBody>
          <a:bodyPr wrap="square" rtlCol="0">
            <a:spAutoFit/>
          </a:bodyPr>
          <a:lstStyle/>
          <a:p>
            <a:pPr algn="ctr"/>
            <a:r>
              <a:rPr lang="en-US" sz="1400" dirty="0">
                <a:latin typeface="Arial" panose="020B0604020202020204" pitchFamily="34" charset="0"/>
                <a:cs typeface="Arial" panose="020B0604020202020204" pitchFamily="34" charset="0"/>
              </a:rPr>
              <a:t>Abs-</a:t>
            </a:r>
            <a:r>
              <a:rPr lang="en-US" sz="1400" dirty="0" err="1">
                <a:latin typeface="Arial" panose="020B0604020202020204" pitchFamily="34" charset="0"/>
                <a:cs typeface="Arial" panose="020B0604020202020204" pitchFamily="34" charset="0"/>
              </a:rPr>
              <a:t>Dif</a:t>
            </a:r>
            <a:r>
              <a:rPr lang="en-US" sz="1400" dirty="0">
                <a:latin typeface="Arial" panose="020B0604020202020204" pitchFamily="34" charset="0"/>
                <a:cs typeface="Arial" panose="020B0604020202020204" pitchFamily="34" charset="0"/>
              </a:rPr>
              <a:t> RDM</a:t>
            </a:r>
          </a:p>
        </p:txBody>
      </p:sp>
    </p:spTree>
    <p:extLst>
      <p:ext uri="{BB962C8B-B14F-4D97-AF65-F5344CB8AC3E}">
        <p14:creationId xmlns:p14="http://schemas.microsoft.com/office/powerpoint/2010/main" val="3734909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02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08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08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08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8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08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08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08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09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09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9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9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094"/>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09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09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9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09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099"/>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100"/>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101"/>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102"/>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103"/>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104"/>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105"/>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106"/>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107"/>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108"/>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109"/>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110"/>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111"/>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112"/>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1113"/>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114"/>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1115"/>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116"/>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1117"/>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118"/>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1119"/>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1120"/>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1121"/>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122"/>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1123"/>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1124"/>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1125"/>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1126"/>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1127"/>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1128"/>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1129"/>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1130"/>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1131"/>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1132"/>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1133"/>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1134"/>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1135"/>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1136"/>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1137"/>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1138"/>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1139"/>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1140"/>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1141"/>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1142"/>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1143"/>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1144"/>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1145"/>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1146"/>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1147"/>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1148"/>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1149"/>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1150"/>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1151"/>
                                        </p:tgtEl>
                                        <p:attrNameLst>
                                          <p:attrName>style.visibility</p:attrName>
                                        </p:attrNameLst>
                                      </p:cBhvr>
                                      <p:to>
                                        <p:strVal val="visible"/>
                                      </p:to>
                                    </p:set>
                                  </p:childTnLst>
                                </p:cTn>
                              </p:par>
                              <p:par>
                                <p:cTn id="177" presetID="1" presetClass="entr" presetSubtype="0" fill="hold" grpId="0" nodeType="withEffect">
                                  <p:stCondLst>
                                    <p:cond delay="0"/>
                                  </p:stCondLst>
                                  <p:childTnLst>
                                    <p:set>
                                      <p:cBhvr>
                                        <p:cTn id="178" dur="1" fill="hold">
                                          <p:stCondLst>
                                            <p:cond delay="0"/>
                                          </p:stCondLst>
                                        </p:cTn>
                                        <p:tgtEl>
                                          <p:spTgt spid="1152"/>
                                        </p:tgtEl>
                                        <p:attrNameLst>
                                          <p:attrName>style.visibility</p:attrName>
                                        </p:attrNameLst>
                                      </p:cBhvr>
                                      <p:to>
                                        <p:strVal val="visible"/>
                                      </p:to>
                                    </p:set>
                                  </p:childTnLst>
                                </p:cTn>
                              </p:par>
                              <p:par>
                                <p:cTn id="179" presetID="1" presetClass="entr" presetSubtype="0" fill="hold" grpId="0" nodeType="withEffect">
                                  <p:stCondLst>
                                    <p:cond delay="0"/>
                                  </p:stCondLst>
                                  <p:childTnLst>
                                    <p:set>
                                      <p:cBhvr>
                                        <p:cTn id="180" dur="1" fill="hold">
                                          <p:stCondLst>
                                            <p:cond delay="0"/>
                                          </p:stCondLst>
                                        </p:cTn>
                                        <p:tgtEl>
                                          <p:spTgt spid="1153"/>
                                        </p:tgtEl>
                                        <p:attrNameLst>
                                          <p:attrName>style.visibility</p:attrName>
                                        </p:attrNameLst>
                                      </p:cBhvr>
                                      <p:to>
                                        <p:strVal val="visible"/>
                                      </p:to>
                                    </p:set>
                                  </p:childTnLst>
                                </p:cTn>
                              </p:par>
                              <p:par>
                                <p:cTn id="181" presetID="1" presetClass="entr" presetSubtype="0" fill="hold" grpId="0" nodeType="withEffect">
                                  <p:stCondLst>
                                    <p:cond delay="0"/>
                                  </p:stCondLst>
                                  <p:childTnLst>
                                    <p:set>
                                      <p:cBhvr>
                                        <p:cTn id="182" dur="1" fill="hold">
                                          <p:stCondLst>
                                            <p:cond delay="0"/>
                                          </p:stCondLst>
                                        </p:cTn>
                                        <p:tgtEl>
                                          <p:spTgt spid="1154"/>
                                        </p:tgtEl>
                                        <p:attrNameLst>
                                          <p:attrName>style.visibility</p:attrName>
                                        </p:attrNameLst>
                                      </p:cBhvr>
                                      <p:to>
                                        <p:strVal val="visible"/>
                                      </p:to>
                                    </p:set>
                                  </p:childTnLst>
                                </p:cTn>
                              </p:par>
                              <p:par>
                                <p:cTn id="183" presetID="1" presetClass="entr" presetSubtype="0" fill="hold" nodeType="withEffect">
                                  <p:stCondLst>
                                    <p:cond delay="0"/>
                                  </p:stCondLst>
                                  <p:childTnLst>
                                    <p:set>
                                      <p:cBhvr>
                                        <p:cTn id="184" dur="1" fill="hold">
                                          <p:stCondLst>
                                            <p:cond delay="0"/>
                                          </p:stCondLst>
                                        </p:cTn>
                                        <p:tgtEl>
                                          <p:spTgt spid="1159"/>
                                        </p:tgtEl>
                                        <p:attrNameLst>
                                          <p:attrName>style.visibility</p:attrName>
                                        </p:attrNameLst>
                                      </p:cBhvr>
                                      <p:to>
                                        <p:strVal val="visible"/>
                                      </p:to>
                                    </p:set>
                                  </p:childTnLst>
                                </p:cTn>
                              </p:par>
                              <p:par>
                                <p:cTn id="185" presetID="1" presetClass="entr" presetSubtype="0" fill="hold" nodeType="withEffect">
                                  <p:stCondLst>
                                    <p:cond delay="0"/>
                                  </p:stCondLst>
                                  <p:childTnLst>
                                    <p:set>
                                      <p:cBhvr>
                                        <p:cTn id="186" dur="1" fill="hold">
                                          <p:stCondLst>
                                            <p:cond delay="0"/>
                                          </p:stCondLst>
                                        </p:cTn>
                                        <p:tgtEl>
                                          <p:spTgt spid="1160"/>
                                        </p:tgtEl>
                                        <p:attrNameLst>
                                          <p:attrName>style.visibility</p:attrName>
                                        </p:attrNameLst>
                                      </p:cBhvr>
                                      <p:to>
                                        <p:strVal val="visible"/>
                                      </p:to>
                                    </p:set>
                                  </p:childTnLst>
                                </p:cTn>
                              </p:par>
                              <p:par>
                                <p:cTn id="187" presetID="1" presetClass="entr" presetSubtype="0" fill="hold" grpId="0" nodeType="withEffect">
                                  <p:stCondLst>
                                    <p:cond delay="0"/>
                                  </p:stCondLst>
                                  <p:childTnLst>
                                    <p:set>
                                      <p:cBhvr>
                                        <p:cTn id="188" dur="1" fill="hold">
                                          <p:stCondLst>
                                            <p:cond delay="0"/>
                                          </p:stCondLst>
                                        </p:cTn>
                                        <p:tgtEl>
                                          <p:spTgt spid="1162"/>
                                        </p:tgtEl>
                                        <p:attrNameLst>
                                          <p:attrName>style.visibility</p:attrName>
                                        </p:attrNameLst>
                                      </p:cBhvr>
                                      <p:to>
                                        <p:strVal val="visible"/>
                                      </p:to>
                                    </p:set>
                                  </p:childTnLst>
                                </p:cTn>
                              </p:par>
                              <p:par>
                                <p:cTn id="189" presetID="1" presetClass="entr" presetSubtype="0" fill="hold" grpId="0" nodeType="withEffect">
                                  <p:stCondLst>
                                    <p:cond delay="0"/>
                                  </p:stCondLst>
                                  <p:childTnLst>
                                    <p:set>
                                      <p:cBhvr>
                                        <p:cTn id="190" dur="1" fill="hold">
                                          <p:stCondLst>
                                            <p:cond delay="0"/>
                                          </p:stCondLst>
                                        </p:cTn>
                                        <p:tgtEl>
                                          <p:spTgt spid="1163"/>
                                        </p:tgtEl>
                                        <p:attrNameLst>
                                          <p:attrName>style.visibility</p:attrName>
                                        </p:attrNameLst>
                                      </p:cBhvr>
                                      <p:to>
                                        <p:strVal val="visible"/>
                                      </p:to>
                                    </p:set>
                                  </p:childTnLst>
                                </p:cTn>
                              </p:par>
                              <p:par>
                                <p:cTn id="191" presetID="1" presetClass="entr" presetSubtype="0" fill="hold" nodeType="withEffect">
                                  <p:stCondLst>
                                    <p:cond delay="0"/>
                                  </p:stCondLst>
                                  <p:childTnLst>
                                    <p:set>
                                      <p:cBhvr>
                                        <p:cTn id="192" dur="1" fill="hold">
                                          <p:stCondLst>
                                            <p:cond delay="0"/>
                                          </p:stCondLst>
                                        </p:cTn>
                                        <p:tgtEl>
                                          <p:spTgt spid="3">
                                            <p:txEl>
                                              <p:pRg st="3" end="3"/>
                                            </p:txEl>
                                          </p:spTgt>
                                        </p:tgtEl>
                                        <p:attrNameLst>
                                          <p:attrName>style.visibility</p:attrName>
                                        </p:attrNameLst>
                                      </p:cBhvr>
                                      <p:to>
                                        <p:strVal val="visible"/>
                                      </p:to>
                                    </p:set>
                                  </p:childTnLst>
                                </p:cTn>
                              </p:par>
                              <p:par>
                                <p:cTn id="193" presetID="1" presetClass="entr" presetSubtype="0" fill="hold" nodeType="withEffect">
                                  <p:stCondLst>
                                    <p:cond delay="0"/>
                                  </p:stCondLst>
                                  <p:childTnLst>
                                    <p:set>
                                      <p:cBhvr>
                                        <p:cTn id="194" dur="1" fill="hold">
                                          <p:stCondLst>
                                            <p:cond delay="0"/>
                                          </p:stCondLst>
                                        </p:cTn>
                                        <p:tgtEl>
                                          <p:spTgt spid="3">
                                            <p:txEl>
                                              <p:pRg st="4" end="4"/>
                                            </p:txEl>
                                          </p:spTgt>
                                        </p:tgtEl>
                                        <p:attrNameLst>
                                          <p:attrName>style.visibility</p:attrName>
                                        </p:attrNameLst>
                                      </p:cBhvr>
                                      <p:to>
                                        <p:strVal val="visible"/>
                                      </p:to>
                                    </p:set>
                                  </p:childTnLst>
                                </p:cTn>
                              </p:par>
                              <p:par>
                                <p:cTn id="195" presetID="1" presetClass="entr" presetSubtype="0" fill="hold" nodeType="withEffect">
                                  <p:stCondLst>
                                    <p:cond delay="0"/>
                                  </p:stCondLst>
                                  <p:childTnLst>
                                    <p:set>
                                      <p:cBhvr>
                                        <p:cTn id="196" dur="1" fill="hold">
                                          <p:stCondLst>
                                            <p:cond delay="0"/>
                                          </p:stCondLst>
                                        </p:cTn>
                                        <p:tgtEl>
                                          <p:spTgt spid="3">
                                            <p:txEl>
                                              <p:pRg st="5" end="5"/>
                                            </p:txEl>
                                          </p:spTgt>
                                        </p:tgtEl>
                                        <p:attrNameLst>
                                          <p:attrName>style.visibility</p:attrName>
                                        </p:attrNameLst>
                                      </p:cBhvr>
                                      <p:to>
                                        <p:strVal val="visible"/>
                                      </p:to>
                                    </p:set>
                                  </p:childTnLst>
                                </p:cTn>
                              </p:par>
                              <p:par>
                                <p:cTn id="197" presetID="1" presetClass="entr" presetSubtype="0" fill="hold" nodeType="withEffect">
                                  <p:stCondLst>
                                    <p:cond delay="0"/>
                                  </p:stCondLst>
                                  <p:childTnLst>
                                    <p:set>
                                      <p:cBhvr>
                                        <p:cTn id="198" dur="1" fill="hold">
                                          <p:stCondLst>
                                            <p:cond delay="0"/>
                                          </p:stCondLst>
                                        </p:cTn>
                                        <p:tgtEl>
                                          <p:spTgt spid="3">
                                            <p:txEl>
                                              <p:pRg st="6" end="6"/>
                                            </p:txEl>
                                          </p:spTgt>
                                        </p:tgtEl>
                                        <p:attrNameLst>
                                          <p:attrName>style.visibility</p:attrName>
                                        </p:attrNameLst>
                                      </p:cBhvr>
                                      <p:to>
                                        <p:strVal val="visible"/>
                                      </p:to>
                                    </p:set>
                                  </p:childTnLst>
                                </p:cTn>
                              </p:par>
                              <p:par>
                                <p:cTn id="199" presetID="1" presetClass="entr" presetSubtype="0" fill="hold" nodeType="withEffect">
                                  <p:stCondLst>
                                    <p:cond delay="0"/>
                                  </p:stCondLst>
                                  <p:childTnLst>
                                    <p:set>
                                      <p:cBhvr>
                                        <p:cTn id="200" dur="1" fill="hold">
                                          <p:stCondLst>
                                            <p:cond delay="0"/>
                                          </p:stCondLst>
                                        </p:cTn>
                                        <p:tgtEl>
                                          <p:spTgt spid="3">
                                            <p:txEl>
                                              <p:pRg st="7" end="7"/>
                                            </p:txEl>
                                          </p:spTgt>
                                        </p:tgtEl>
                                        <p:attrNameLst>
                                          <p:attrName>style.visibility</p:attrName>
                                        </p:attrNameLst>
                                      </p:cBhvr>
                                      <p:to>
                                        <p:strVal val="visible"/>
                                      </p:to>
                                    </p:set>
                                  </p:childTnLst>
                                </p:cTn>
                              </p:par>
                              <p:par>
                                <p:cTn id="201" presetID="1" presetClass="entr" presetSubtype="0" fill="hold" nodeType="withEffect">
                                  <p:stCondLst>
                                    <p:cond delay="0"/>
                                  </p:stCondLst>
                                  <p:childTnLst>
                                    <p:set>
                                      <p:cBhvr>
                                        <p:cTn id="202" dur="1" fill="hold">
                                          <p:stCondLst>
                                            <p:cond delay="0"/>
                                          </p:stCondLst>
                                        </p:cTn>
                                        <p:tgtEl>
                                          <p:spTgt spid="3">
                                            <p:txEl>
                                              <p:pRg st="8" end="8"/>
                                            </p:txEl>
                                          </p:spTgt>
                                        </p:tgtEl>
                                        <p:attrNameLst>
                                          <p:attrName>style.visibility</p:attrName>
                                        </p:attrNameLst>
                                      </p:cBhvr>
                                      <p:to>
                                        <p:strVal val="visible"/>
                                      </p:to>
                                    </p:set>
                                  </p:childTnLst>
                                </p:cTn>
                              </p:par>
                              <p:par>
                                <p:cTn id="203" presetID="1" presetClass="entr" presetSubtype="0" fill="hold" nodeType="withEffect">
                                  <p:stCondLst>
                                    <p:cond delay="0"/>
                                  </p:stCondLst>
                                  <p:childTnLst>
                                    <p:set>
                                      <p:cBhvr>
                                        <p:cTn id="20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p:bldP spid="26" grpId="0"/>
      <p:bldP spid="29" grpId="0"/>
      <p:bldP spid="1083" grpId="0" animBg="1"/>
      <p:bldP spid="1084" grpId="0" animBg="1"/>
      <p:bldP spid="1085" grpId="0" animBg="1"/>
      <p:bldP spid="1086" grpId="0" animBg="1"/>
      <p:bldP spid="1087" grpId="0" animBg="1"/>
      <p:bldP spid="1088" grpId="0" animBg="1"/>
      <p:bldP spid="1089" grpId="0" animBg="1"/>
      <p:bldP spid="1090" grpId="0" animBg="1"/>
      <p:bldP spid="1091" grpId="0" animBg="1"/>
      <p:bldP spid="1092" grpId="0" animBg="1"/>
      <p:bldP spid="1093" grpId="0" animBg="1"/>
      <p:bldP spid="1094" grpId="0" animBg="1"/>
      <p:bldP spid="1095" grpId="0" animBg="1"/>
      <p:bldP spid="1096" grpId="0" animBg="1"/>
      <p:bldP spid="1097" grpId="0" animBg="1"/>
      <p:bldP spid="1098" grpId="0" animBg="1"/>
      <p:bldP spid="1099" grpId="0" animBg="1"/>
      <p:bldP spid="1100" grpId="0" animBg="1"/>
      <p:bldP spid="1101" grpId="0" animBg="1"/>
      <p:bldP spid="1102" grpId="0" animBg="1"/>
      <p:bldP spid="1103" grpId="0" animBg="1"/>
      <p:bldP spid="1104" grpId="0" animBg="1"/>
      <p:bldP spid="1105" grpId="0" animBg="1"/>
      <p:bldP spid="1106" grpId="0" animBg="1"/>
      <p:bldP spid="1107" grpId="0" animBg="1"/>
      <p:bldP spid="1108" grpId="0"/>
      <p:bldP spid="1109" grpId="0"/>
      <p:bldP spid="1110" grpId="0"/>
      <p:bldP spid="1111" grpId="0"/>
      <p:bldP spid="1112" grpId="0"/>
      <p:bldP spid="1113" grpId="0"/>
      <p:bldP spid="1114" grpId="0"/>
      <p:bldP spid="1115" grpId="0"/>
      <p:bldP spid="1116" grpId="0"/>
      <p:bldP spid="1117" grpId="0"/>
      <p:bldP spid="1118" grpId="0" animBg="1"/>
      <p:bldP spid="1119" grpId="0" animBg="1"/>
      <p:bldP spid="1120" grpId="0" animBg="1"/>
      <p:bldP spid="1121" grpId="0" animBg="1"/>
      <p:bldP spid="1122" grpId="0" animBg="1"/>
      <p:bldP spid="1123" grpId="0" animBg="1"/>
      <p:bldP spid="1124" grpId="0" animBg="1"/>
      <p:bldP spid="1125" grpId="0" animBg="1"/>
      <p:bldP spid="1126" grpId="0" animBg="1"/>
      <p:bldP spid="1127" grpId="0" animBg="1"/>
      <p:bldP spid="1128" grpId="0" animBg="1"/>
      <p:bldP spid="1129" grpId="0" animBg="1"/>
      <p:bldP spid="1130" grpId="0" animBg="1"/>
      <p:bldP spid="1131" grpId="0" animBg="1"/>
      <p:bldP spid="1132" grpId="0" animBg="1"/>
      <p:bldP spid="1133" grpId="0" animBg="1"/>
      <p:bldP spid="1134" grpId="0" animBg="1"/>
      <p:bldP spid="1135" grpId="0" animBg="1"/>
      <p:bldP spid="1136" grpId="0" animBg="1"/>
      <p:bldP spid="1137" grpId="0" animBg="1"/>
      <p:bldP spid="1138" grpId="0" animBg="1"/>
      <p:bldP spid="1139" grpId="0" animBg="1"/>
      <p:bldP spid="1140" grpId="0" animBg="1"/>
      <p:bldP spid="1141" grpId="0" animBg="1"/>
      <p:bldP spid="1142" grpId="0" animBg="1"/>
      <p:bldP spid="1143" grpId="0" animBg="1"/>
      <p:bldP spid="1144" grpId="0"/>
      <p:bldP spid="1145" grpId="0"/>
      <p:bldP spid="1146" grpId="0"/>
      <p:bldP spid="1147" grpId="0"/>
      <p:bldP spid="1148" grpId="0"/>
      <p:bldP spid="1149" grpId="0"/>
      <p:bldP spid="1150" grpId="0"/>
      <p:bldP spid="1151" grpId="0"/>
      <p:bldP spid="1152" grpId="0"/>
      <p:bldP spid="1153" grpId="0"/>
      <p:bldP spid="1154" grpId="0" animBg="1"/>
      <p:bldP spid="1162" grpId="0"/>
      <p:bldP spid="116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9D74C-FB51-E387-833E-0D917F8C7900}"/>
              </a:ext>
            </a:extLst>
          </p:cNvPr>
          <p:cNvSpPr>
            <a:spLocks noGrp="1"/>
          </p:cNvSpPr>
          <p:nvPr>
            <p:ph type="title"/>
          </p:nvPr>
        </p:nvSpPr>
        <p:spPr>
          <a:xfrm>
            <a:off x="838200" y="245490"/>
            <a:ext cx="10515600" cy="876313"/>
          </a:xfrm>
        </p:spPr>
        <p:txBody>
          <a:bodyPr>
            <a:noAutofit/>
          </a:bodyPr>
          <a:lstStyle/>
          <a:p>
            <a:r>
              <a:rPr lang="en-US" sz="3600" dirty="0"/>
              <a:t>Many ways to interpret the abs-difference vector</a:t>
            </a:r>
          </a:p>
        </p:txBody>
      </p:sp>
      <p:sp>
        <p:nvSpPr>
          <p:cNvPr id="3" name="Content Placeholder 2">
            <a:extLst>
              <a:ext uri="{FF2B5EF4-FFF2-40B4-BE49-F238E27FC236}">
                <a16:creationId xmlns:a16="http://schemas.microsoft.com/office/drawing/2014/main" id="{3DEA1933-6C2A-C270-C1C2-01C180E279F1}"/>
              </a:ext>
            </a:extLst>
          </p:cNvPr>
          <p:cNvSpPr>
            <a:spLocks noGrp="1"/>
          </p:cNvSpPr>
          <p:nvPr>
            <p:ph idx="1"/>
          </p:nvPr>
        </p:nvSpPr>
        <p:spPr>
          <a:xfrm>
            <a:off x="424800" y="1360799"/>
            <a:ext cx="11130092" cy="5169601"/>
          </a:xfrm>
        </p:spPr>
        <p:txBody>
          <a:bodyPr>
            <a:normAutofit fontScale="70000" lnSpcReduction="20000"/>
          </a:bodyPr>
          <a:lstStyle/>
          <a:p>
            <a:r>
              <a:rPr lang="en-US" dirty="0"/>
              <a:t>Psychological meaning of the difference vector:</a:t>
            </a:r>
          </a:p>
          <a:p>
            <a:pPr lvl="1"/>
            <a:r>
              <a:rPr lang="en-US" dirty="0"/>
              <a:t>Prediction error: </a:t>
            </a:r>
          </a:p>
          <a:p>
            <a:pPr lvl="2"/>
            <a:r>
              <a:rPr lang="en-US" dirty="0"/>
              <a:t>Scenes establish a “prediction” that may be violated</a:t>
            </a:r>
          </a:p>
          <a:p>
            <a:pPr lvl="2"/>
            <a:r>
              <a:rPr lang="en-US" dirty="0"/>
              <a:t>Predictive coding theory argues that all information is processed as prediction errors</a:t>
            </a:r>
          </a:p>
          <a:p>
            <a:pPr lvl="1"/>
            <a:r>
              <a:rPr lang="en-US" dirty="0"/>
              <a:t>Priming: </a:t>
            </a:r>
          </a:p>
          <a:p>
            <a:pPr lvl="2"/>
            <a:r>
              <a:rPr lang="en-US" dirty="0"/>
              <a:t>Scenes prime some representations, which will show weaker/stronger responses if activated again by the object</a:t>
            </a:r>
          </a:p>
          <a:p>
            <a:pPr lvl="2"/>
            <a:r>
              <a:rPr lang="en-US" dirty="0"/>
              <a:t>Link to repetition suppression</a:t>
            </a:r>
          </a:p>
          <a:p>
            <a:pPr lvl="1"/>
            <a:r>
              <a:rPr lang="en-US" dirty="0"/>
              <a:t>Relational memory:</a:t>
            </a:r>
          </a:p>
          <a:p>
            <a:pPr lvl="2"/>
            <a:r>
              <a:rPr lang="en-US" dirty="0"/>
              <a:t>Broadly: The informational content of items influences how an association is encoded</a:t>
            </a:r>
          </a:p>
          <a:p>
            <a:pPr lvl="2"/>
            <a:r>
              <a:rPr lang="en-US" dirty="0"/>
              <a:t>Specifically: Associative memories do not just blindly connect item representations. Rather, associations should be seen as representations that encode the relationship between the items</a:t>
            </a:r>
          </a:p>
          <a:p>
            <a:r>
              <a:rPr lang="en-US" dirty="0"/>
              <a:t>Speculative:</a:t>
            </a:r>
          </a:p>
          <a:p>
            <a:pPr lvl="1"/>
            <a:r>
              <a:rPr lang="en-US" dirty="0"/>
              <a:t>Unclear meaning yet informative</a:t>
            </a:r>
          </a:p>
          <a:p>
            <a:pPr lvl="2"/>
            <a:r>
              <a:rPr lang="en-US" dirty="0"/>
              <a:t>There is no clear psychological meaning of a “difference vector”</a:t>
            </a:r>
          </a:p>
          <a:p>
            <a:pPr lvl="2"/>
            <a:r>
              <a:rPr lang="en-US" dirty="0"/>
              <a:t>Nonetheless, because this measure combines object and scene information, the findings must reflect some type of interaction between representations</a:t>
            </a:r>
          </a:p>
          <a:p>
            <a:pPr lvl="1"/>
            <a:r>
              <a:rPr lang="en-US" dirty="0"/>
              <a:t>Analogical reasoning</a:t>
            </a:r>
          </a:p>
          <a:p>
            <a:pPr lvl="2"/>
            <a:r>
              <a:rPr lang="en-US" dirty="0"/>
              <a:t>In the analysis, representational similarity entails parallels between trial 1’s scene-object relationship and trial 2’s scene-object relationship (i.e., an analogy)</a:t>
            </a:r>
          </a:p>
          <a:p>
            <a:pPr lvl="2"/>
            <a:r>
              <a:rPr lang="en-US" dirty="0"/>
              <a:t>Because the analysis is looking for analogies, this implies that this is related to how humans process analogies? </a:t>
            </a:r>
          </a:p>
          <a:p>
            <a:r>
              <a:rPr lang="en-US" dirty="0"/>
              <a:t>Framed as possible competing hypotheses?</a:t>
            </a:r>
          </a:p>
        </p:txBody>
      </p:sp>
    </p:spTree>
    <p:extLst>
      <p:ext uri="{BB962C8B-B14F-4D97-AF65-F5344CB8AC3E}">
        <p14:creationId xmlns:p14="http://schemas.microsoft.com/office/powerpoint/2010/main" val="19936647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F6B7C-CD14-6718-A840-E9F7F745DA78}"/>
              </a:ext>
            </a:extLst>
          </p:cNvPr>
          <p:cNvSpPr>
            <a:spLocks noGrp="1"/>
          </p:cNvSpPr>
          <p:nvPr>
            <p:ph type="title"/>
          </p:nvPr>
        </p:nvSpPr>
        <p:spPr>
          <a:xfrm>
            <a:off x="838200" y="131350"/>
            <a:ext cx="10515600" cy="1325563"/>
          </a:xfrm>
        </p:spPr>
        <p:txBody>
          <a:bodyPr/>
          <a:lstStyle/>
          <a:p>
            <a:r>
              <a:rPr lang="en-US" dirty="0"/>
              <a:t>Perceptual vectors</a:t>
            </a:r>
          </a:p>
        </p:txBody>
      </p:sp>
      <p:pic>
        <p:nvPicPr>
          <p:cNvPr id="5" name="Picture 4">
            <a:extLst>
              <a:ext uri="{FF2B5EF4-FFF2-40B4-BE49-F238E27FC236}">
                <a16:creationId xmlns:a16="http://schemas.microsoft.com/office/drawing/2014/main" id="{5E3C0434-B8A9-C66E-2089-3689BEA9B471}"/>
              </a:ext>
            </a:extLst>
          </p:cNvPr>
          <p:cNvPicPr>
            <a:picLocks noChangeAspect="1"/>
          </p:cNvPicPr>
          <p:nvPr/>
        </p:nvPicPr>
        <p:blipFill>
          <a:blip r:embed="rId2"/>
          <a:stretch>
            <a:fillRect/>
          </a:stretch>
        </p:blipFill>
        <p:spPr>
          <a:xfrm>
            <a:off x="6183648" y="2072486"/>
            <a:ext cx="5710152" cy="4282614"/>
          </a:xfrm>
          <a:prstGeom prst="rect">
            <a:avLst/>
          </a:prstGeom>
        </p:spPr>
      </p:pic>
      <p:pic>
        <p:nvPicPr>
          <p:cNvPr id="7" name="Picture 6">
            <a:extLst>
              <a:ext uri="{FF2B5EF4-FFF2-40B4-BE49-F238E27FC236}">
                <a16:creationId xmlns:a16="http://schemas.microsoft.com/office/drawing/2014/main" id="{C4E9A5B7-E80F-D711-F7C3-99E3B4ECDC6C}"/>
              </a:ext>
            </a:extLst>
          </p:cNvPr>
          <p:cNvPicPr>
            <a:picLocks noChangeAspect="1"/>
          </p:cNvPicPr>
          <p:nvPr/>
        </p:nvPicPr>
        <p:blipFill rotWithShape="1">
          <a:blip r:embed="rId3"/>
          <a:srcRect l="20349" t="7884" r="5196" b="16252"/>
          <a:stretch/>
        </p:blipFill>
        <p:spPr>
          <a:xfrm>
            <a:off x="491838" y="2158688"/>
            <a:ext cx="5604162" cy="4282613"/>
          </a:xfrm>
          <a:prstGeom prst="rect">
            <a:avLst/>
          </a:prstGeom>
        </p:spPr>
      </p:pic>
      <p:sp>
        <p:nvSpPr>
          <p:cNvPr id="3" name="Content Placeholder 2">
            <a:extLst>
              <a:ext uri="{FF2B5EF4-FFF2-40B4-BE49-F238E27FC236}">
                <a16:creationId xmlns:a16="http://schemas.microsoft.com/office/drawing/2014/main" id="{330D2E80-770C-7A5E-675F-02064152DEDF}"/>
              </a:ext>
            </a:extLst>
          </p:cNvPr>
          <p:cNvSpPr>
            <a:spLocks noGrp="1"/>
          </p:cNvSpPr>
          <p:nvPr>
            <p:ph idx="1"/>
          </p:nvPr>
        </p:nvSpPr>
        <p:spPr>
          <a:xfrm>
            <a:off x="491838" y="1496288"/>
            <a:ext cx="5604162" cy="662400"/>
          </a:xfrm>
        </p:spPr>
        <p:txBody>
          <a:bodyPr>
            <a:normAutofit/>
          </a:bodyPr>
          <a:lstStyle/>
          <a:p>
            <a:pPr marL="0" indent="0" algn="ctr">
              <a:buNone/>
            </a:pPr>
            <a:r>
              <a:rPr lang="en-US" sz="3600" dirty="0"/>
              <a:t>Scene</a:t>
            </a:r>
            <a:endParaRPr lang="en-US" dirty="0"/>
          </a:p>
        </p:txBody>
      </p:sp>
      <p:sp>
        <p:nvSpPr>
          <p:cNvPr id="4" name="Content Placeholder 2">
            <a:extLst>
              <a:ext uri="{FF2B5EF4-FFF2-40B4-BE49-F238E27FC236}">
                <a16:creationId xmlns:a16="http://schemas.microsoft.com/office/drawing/2014/main" id="{891CCAF9-A782-97AA-7928-D6F0988DFE5B}"/>
              </a:ext>
            </a:extLst>
          </p:cNvPr>
          <p:cNvSpPr txBox="1">
            <a:spLocks/>
          </p:cNvSpPr>
          <p:nvPr/>
        </p:nvSpPr>
        <p:spPr>
          <a:xfrm>
            <a:off x="6314400" y="1496288"/>
            <a:ext cx="5550000" cy="6624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3600" dirty="0"/>
              <a:t>Object</a:t>
            </a:r>
          </a:p>
        </p:txBody>
      </p:sp>
    </p:spTree>
    <p:extLst>
      <p:ext uri="{BB962C8B-B14F-4D97-AF65-F5344CB8AC3E}">
        <p14:creationId xmlns:p14="http://schemas.microsoft.com/office/powerpoint/2010/main" val="3877414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C048B-6995-A536-9102-2C894ADF8C92}"/>
              </a:ext>
            </a:extLst>
          </p:cNvPr>
          <p:cNvSpPr>
            <a:spLocks noGrp="1"/>
          </p:cNvSpPr>
          <p:nvPr>
            <p:ph type="title"/>
          </p:nvPr>
        </p:nvSpPr>
        <p:spPr>
          <a:xfrm>
            <a:off x="838200" y="365125"/>
            <a:ext cx="2200275" cy="1325563"/>
          </a:xfrm>
        </p:spPr>
        <p:txBody>
          <a:bodyPr/>
          <a:lstStyle/>
          <a:p>
            <a:r>
              <a:rPr lang="en-US" dirty="0"/>
              <a:t>Abs-</a:t>
            </a:r>
            <a:r>
              <a:rPr lang="en-US" dirty="0" err="1"/>
              <a:t>dif</a:t>
            </a:r>
            <a:r>
              <a:rPr lang="en-US" dirty="0"/>
              <a:t> vector</a:t>
            </a:r>
          </a:p>
        </p:txBody>
      </p:sp>
      <p:sp>
        <p:nvSpPr>
          <p:cNvPr id="3" name="Content Placeholder 2">
            <a:extLst>
              <a:ext uri="{FF2B5EF4-FFF2-40B4-BE49-F238E27FC236}">
                <a16:creationId xmlns:a16="http://schemas.microsoft.com/office/drawing/2014/main" id="{0C16AFDE-86CA-CD03-1EAC-ED71B92BFCBA}"/>
              </a:ext>
            </a:extLst>
          </p:cNvPr>
          <p:cNvSpPr>
            <a:spLocks noGrp="1"/>
          </p:cNvSpPr>
          <p:nvPr>
            <p:ph idx="1"/>
          </p:nvPr>
        </p:nvSpPr>
        <p:spPr>
          <a:xfrm>
            <a:off x="608750" y="2746375"/>
            <a:ext cx="2422525" cy="428625"/>
          </a:xfrm>
        </p:spPr>
        <p:txBody>
          <a:bodyPr>
            <a:normAutofit fontScale="92500" lnSpcReduction="10000"/>
          </a:bodyPr>
          <a:lstStyle/>
          <a:p>
            <a:pPr marL="0" indent="0">
              <a:buNone/>
            </a:pPr>
            <a:r>
              <a:rPr lang="en-US" dirty="0"/>
              <a:t>Object   Scene</a:t>
            </a:r>
          </a:p>
        </p:txBody>
      </p:sp>
      <p:pic>
        <p:nvPicPr>
          <p:cNvPr id="9" name="Picture 8">
            <a:extLst>
              <a:ext uri="{FF2B5EF4-FFF2-40B4-BE49-F238E27FC236}">
                <a16:creationId xmlns:a16="http://schemas.microsoft.com/office/drawing/2014/main" id="{9D9F5F4F-9A7C-DC80-1400-0138A241EB51}"/>
              </a:ext>
            </a:extLst>
          </p:cNvPr>
          <p:cNvPicPr>
            <a:picLocks noChangeAspect="1"/>
          </p:cNvPicPr>
          <p:nvPr/>
        </p:nvPicPr>
        <p:blipFill>
          <a:blip r:embed="rId2"/>
          <a:stretch>
            <a:fillRect/>
          </a:stretch>
        </p:blipFill>
        <p:spPr>
          <a:xfrm>
            <a:off x="3105151" y="87511"/>
            <a:ext cx="8910637" cy="6682978"/>
          </a:xfrm>
          <a:prstGeom prst="rect">
            <a:avLst/>
          </a:prstGeom>
        </p:spPr>
      </p:pic>
      <p:sp>
        <p:nvSpPr>
          <p:cNvPr id="11" name="Oval 10">
            <a:extLst>
              <a:ext uri="{FF2B5EF4-FFF2-40B4-BE49-F238E27FC236}">
                <a16:creationId xmlns:a16="http://schemas.microsoft.com/office/drawing/2014/main" id="{2C9FF80B-611C-7D23-5040-49E5CD09F6F4}"/>
              </a:ext>
            </a:extLst>
          </p:cNvPr>
          <p:cNvSpPr/>
          <p:nvPr/>
        </p:nvSpPr>
        <p:spPr>
          <a:xfrm>
            <a:off x="8324850" y="3079750"/>
            <a:ext cx="1270000" cy="520700"/>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E7AE2A0-6ADC-AE3A-2C30-B2F18978D3C1}"/>
              </a:ext>
            </a:extLst>
          </p:cNvPr>
          <p:cNvSpPr/>
          <p:nvPr/>
        </p:nvSpPr>
        <p:spPr>
          <a:xfrm>
            <a:off x="6838950" y="4133850"/>
            <a:ext cx="920750" cy="387350"/>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9E63E13B-3974-BE57-F5F1-309DAAB2AEAE}"/>
              </a:ext>
            </a:extLst>
          </p:cNvPr>
          <p:cNvSpPr/>
          <p:nvPr/>
        </p:nvSpPr>
        <p:spPr>
          <a:xfrm>
            <a:off x="5787230" y="4572000"/>
            <a:ext cx="1820070" cy="1739900"/>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CB1F6C56-1EA4-4F91-2677-6E020AB52119}"/>
              </a:ext>
            </a:extLst>
          </p:cNvPr>
          <p:cNvSpPr txBox="1"/>
          <p:nvPr/>
        </p:nvSpPr>
        <p:spPr>
          <a:xfrm>
            <a:off x="5950243" y="6323270"/>
            <a:ext cx="1505540"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Green scene</a:t>
            </a:r>
          </a:p>
        </p:txBody>
      </p:sp>
      <p:sp>
        <p:nvSpPr>
          <p:cNvPr id="15" name="Rectangle 14">
            <a:extLst>
              <a:ext uri="{FF2B5EF4-FFF2-40B4-BE49-F238E27FC236}">
                <a16:creationId xmlns:a16="http://schemas.microsoft.com/office/drawing/2014/main" id="{8E9429E4-F6B0-B625-42C4-6D71DE421A6C}"/>
              </a:ext>
            </a:extLst>
          </p:cNvPr>
          <p:cNvSpPr/>
          <p:nvPr/>
        </p:nvSpPr>
        <p:spPr>
          <a:xfrm>
            <a:off x="565150" y="2559050"/>
            <a:ext cx="2473325" cy="742950"/>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0DDAAAFA-9EA7-FED0-321A-4CA39E7A17BE}"/>
              </a:ext>
            </a:extLst>
          </p:cNvPr>
          <p:cNvCxnSpPr>
            <a:cxnSpLocks/>
          </p:cNvCxnSpPr>
          <p:nvPr/>
        </p:nvCxnSpPr>
        <p:spPr>
          <a:xfrm>
            <a:off x="1792175" y="2559050"/>
            <a:ext cx="0" cy="74295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EAC701AF-8C01-E6B8-094D-C6FD65229E7D}"/>
              </a:ext>
            </a:extLst>
          </p:cNvPr>
          <p:cNvSpPr/>
          <p:nvPr/>
        </p:nvSpPr>
        <p:spPr>
          <a:xfrm>
            <a:off x="8519970" y="3821741"/>
            <a:ext cx="1270000" cy="643788"/>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ED730EC3-026F-A399-9B7D-3B87AED9D585}"/>
              </a:ext>
            </a:extLst>
          </p:cNvPr>
          <p:cNvSpPr/>
          <p:nvPr/>
        </p:nvSpPr>
        <p:spPr>
          <a:xfrm>
            <a:off x="7171151" y="1146132"/>
            <a:ext cx="2286000" cy="1164920"/>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3EAE857B-5274-5E44-36C3-C45A08D4168B}"/>
              </a:ext>
            </a:extLst>
          </p:cNvPr>
          <p:cNvSpPr txBox="1"/>
          <p:nvPr/>
        </p:nvSpPr>
        <p:spPr>
          <a:xfrm>
            <a:off x="3070300" y="3637075"/>
            <a:ext cx="151836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Brown scene</a:t>
            </a:r>
          </a:p>
        </p:txBody>
      </p:sp>
      <p:sp>
        <p:nvSpPr>
          <p:cNvPr id="22" name="Oval 21">
            <a:extLst>
              <a:ext uri="{FF2B5EF4-FFF2-40B4-BE49-F238E27FC236}">
                <a16:creationId xmlns:a16="http://schemas.microsoft.com/office/drawing/2014/main" id="{5CE621DD-AAD6-B534-57BB-71FD7AEF6D66}"/>
              </a:ext>
            </a:extLst>
          </p:cNvPr>
          <p:cNvSpPr/>
          <p:nvPr/>
        </p:nvSpPr>
        <p:spPr>
          <a:xfrm>
            <a:off x="4706214" y="2995808"/>
            <a:ext cx="1542185" cy="1484117"/>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A0CB105E-E5F2-569F-6B73-6ED42D0C74CB}"/>
              </a:ext>
            </a:extLst>
          </p:cNvPr>
          <p:cNvSpPr txBox="1"/>
          <p:nvPr/>
        </p:nvSpPr>
        <p:spPr>
          <a:xfrm>
            <a:off x="7646670" y="790544"/>
            <a:ext cx="1313180"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Pink object</a:t>
            </a:r>
          </a:p>
        </p:txBody>
      </p:sp>
    </p:spTree>
    <p:extLst>
      <p:ext uri="{BB962C8B-B14F-4D97-AF65-F5344CB8AC3E}">
        <p14:creationId xmlns:p14="http://schemas.microsoft.com/office/powerpoint/2010/main" val="15847163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55DD1-DDEB-A70A-82D6-75F14738F70F}"/>
              </a:ext>
            </a:extLst>
          </p:cNvPr>
          <p:cNvSpPr>
            <a:spLocks noGrp="1"/>
          </p:cNvSpPr>
          <p:nvPr>
            <p:ph type="title"/>
          </p:nvPr>
        </p:nvSpPr>
        <p:spPr/>
        <p:txBody>
          <a:bodyPr/>
          <a:lstStyle/>
          <a:p>
            <a:r>
              <a:rPr lang="en-US" dirty="0"/>
              <a:t>Difference vector by condition</a:t>
            </a:r>
          </a:p>
        </p:txBody>
      </p:sp>
      <p:sp>
        <p:nvSpPr>
          <p:cNvPr id="3" name="Content Placeholder 2">
            <a:extLst>
              <a:ext uri="{FF2B5EF4-FFF2-40B4-BE49-F238E27FC236}">
                <a16:creationId xmlns:a16="http://schemas.microsoft.com/office/drawing/2014/main" id="{3A8F6CD2-4D8A-6A53-533D-7C9C597C8F8B}"/>
              </a:ext>
            </a:extLst>
          </p:cNvPr>
          <p:cNvSpPr>
            <a:spLocks noGrp="1"/>
          </p:cNvSpPr>
          <p:nvPr>
            <p:ph idx="1"/>
          </p:nvPr>
        </p:nvSpPr>
        <p:spPr>
          <a:xfrm>
            <a:off x="838199" y="1825625"/>
            <a:ext cx="10371668" cy="663575"/>
          </a:xfrm>
        </p:spPr>
        <p:txBody>
          <a:bodyPr/>
          <a:lstStyle/>
          <a:p>
            <a:endParaRPr lang="en-US" dirty="0"/>
          </a:p>
        </p:txBody>
      </p:sp>
      <p:pic>
        <p:nvPicPr>
          <p:cNvPr id="12" name="Picture 11">
            <a:extLst>
              <a:ext uri="{FF2B5EF4-FFF2-40B4-BE49-F238E27FC236}">
                <a16:creationId xmlns:a16="http://schemas.microsoft.com/office/drawing/2014/main" id="{5550C710-1065-D253-8D18-E84B746D49FE}"/>
              </a:ext>
            </a:extLst>
          </p:cNvPr>
          <p:cNvPicPr>
            <a:picLocks noChangeAspect="1"/>
          </p:cNvPicPr>
          <p:nvPr/>
        </p:nvPicPr>
        <p:blipFill>
          <a:blip r:embed="rId2"/>
          <a:stretch>
            <a:fillRect/>
          </a:stretch>
        </p:blipFill>
        <p:spPr>
          <a:xfrm>
            <a:off x="1430867" y="2674811"/>
            <a:ext cx="4673600" cy="3505200"/>
          </a:xfrm>
          <a:prstGeom prst="rect">
            <a:avLst/>
          </a:prstGeom>
        </p:spPr>
      </p:pic>
      <p:pic>
        <p:nvPicPr>
          <p:cNvPr id="14" name="Picture 13">
            <a:extLst>
              <a:ext uri="{FF2B5EF4-FFF2-40B4-BE49-F238E27FC236}">
                <a16:creationId xmlns:a16="http://schemas.microsoft.com/office/drawing/2014/main" id="{CB139EDB-A48F-0C57-1D47-3368AF956F93}"/>
              </a:ext>
            </a:extLst>
          </p:cNvPr>
          <p:cNvPicPr>
            <a:picLocks noChangeAspect="1"/>
          </p:cNvPicPr>
          <p:nvPr/>
        </p:nvPicPr>
        <p:blipFill>
          <a:blip r:embed="rId3"/>
          <a:stretch>
            <a:fillRect/>
          </a:stretch>
        </p:blipFill>
        <p:spPr>
          <a:xfrm>
            <a:off x="6307667" y="2674811"/>
            <a:ext cx="4669536" cy="3502152"/>
          </a:xfrm>
          <a:prstGeom prst="rect">
            <a:avLst/>
          </a:prstGeom>
        </p:spPr>
      </p:pic>
      <p:cxnSp>
        <p:nvCxnSpPr>
          <p:cNvPr id="16" name="Straight Connector 15">
            <a:extLst>
              <a:ext uri="{FF2B5EF4-FFF2-40B4-BE49-F238E27FC236}">
                <a16:creationId xmlns:a16="http://schemas.microsoft.com/office/drawing/2014/main" id="{30C3C5BA-B2B6-8DE8-BB31-8533542F81DB}"/>
              </a:ext>
            </a:extLst>
          </p:cNvPr>
          <p:cNvCxnSpPr/>
          <p:nvPr/>
        </p:nvCxnSpPr>
        <p:spPr>
          <a:xfrm>
            <a:off x="2785533" y="3022601"/>
            <a:ext cx="2667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AF512B4C-B4B6-0770-076F-F98A57081B0A}"/>
              </a:ext>
            </a:extLst>
          </p:cNvPr>
          <p:cNvSpPr txBox="1"/>
          <p:nvPr/>
        </p:nvSpPr>
        <p:spPr>
          <a:xfrm>
            <a:off x="3556000" y="3022601"/>
            <a:ext cx="832279"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t = 1.4</a:t>
            </a:r>
          </a:p>
        </p:txBody>
      </p:sp>
    </p:spTree>
    <p:extLst>
      <p:ext uri="{BB962C8B-B14F-4D97-AF65-F5344CB8AC3E}">
        <p14:creationId xmlns:p14="http://schemas.microsoft.com/office/powerpoint/2010/main" val="24320371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FEB2B-4B13-E382-7A99-CCD991A16716}"/>
              </a:ext>
            </a:extLst>
          </p:cNvPr>
          <p:cNvSpPr>
            <a:spLocks noGrp="1"/>
          </p:cNvSpPr>
          <p:nvPr>
            <p:ph type="title"/>
          </p:nvPr>
        </p:nvSpPr>
        <p:spPr>
          <a:xfrm>
            <a:off x="800100" y="482250"/>
            <a:ext cx="10515600" cy="939800"/>
          </a:xfrm>
        </p:spPr>
        <p:txBody>
          <a:bodyPr/>
          <a:lstStyle/>
          <a:p>
            <a:r>
              <a:rPr lang="en-US" dirty="0"/>
              <a:t>RSA overview</a:t>
            </a:r>
          </a:p>
        </p:txBody>
      </p:sp>
      <p:sp>
        <p:nvSpPr>
          <p:cNvPr id="3" name="Content Placeholder 2">
            <a:extLst>
              <a:ext uri="{FF2B5EF4-FFF2-40B4-BE49-F238E27FC236}">
                <a16:creationId xmlns:a16="http://schemas.microsoft.com/office/drawing/2014/main" id="{1752CEFE-C7F3-5D61-EDFD-7FC4A2DF7324}"/>
              </a:ext>
            </a:extLst>
          </p:cNvPr>
          <p:cNvSpPr>
            <a:spLocks noGrp="1"/>
          </p:cNvSpPr>
          <p:nvPr>
            <p:ph idx="1"/>
          </p:nvPr>
        </p:nvSpPr>
        <p:spPr>
          <a:xfrm>
            <a:off x="476100" y="1693049"/>
            <a:ext cx="8487900" cy="4470151"/>
          </a:xfrm>
        </p:spPr>
        <p:txBody>
          <a:bodyPr>
            <a:normAutofit/>
          </a:bodyPr>
          <a:lstStyle/>
          <a:p>
            <a:r>
              <a:rPr lang="en-US" sz="3600" dirty="0"/>
              <a:t>Stimulus RDM based on:</a:t>
            </a:r>
          </a:p>
          <a:p>
            <a:pPr lvl="1"/>
            <a:r>
              <a:rPr lang="en-US" sz="3200" dirty="0"/>
              <a:t>Object stimulus vector</a:t>
            </a:r>
          </a:p>
          <a:p>
            <a:pPr lvl="1"/>
            <a:r>
              <a:rPr lang="en-US" sz="3200" dirty="0"/>
              <a:t>Scene stimulus vector</a:t>
            </a:r>
          </a:p>
          <a:p>
            <a:pPr lvl="1"/>
            <a:r>
              <a:rPr lang="en-US" sz="3200" dirty="0"/>
              <a:t>Object/scene abs-difference vector</a:t>
            </a:r>
          </a:p>
          <a:p>
            <a:r>
              <a:rPr lang="en-US" sz="3600" dirty="0"/>
              <a:t>fMRI RDM based on:</a:t>
            </a:r>
          </a:p>
          <a:p>
            <a:pPr lvl="1"/>
            <a:r>
              <a:rPr lang="en-US" sz="3200" dirty="0"/>
              <a:t>Scene-presentation single-trial betas</a:t>
            </a:r>
          </a:p>
          <a:p>
            <a:pPr lvl="1"/>
            <a:r>
              <a:rPr lang="en-US" sz="3200" dirty="0"/>
              <a:t>Object-presentation single-trial betas</a:t>
            </a:r>
          </a:p>
          <a:p>
            <a:endParaRPr lang="en-US" sz="3600" dirty="0"/>
          </a:p>
        </p:txBody>
      </p:sp>
      <p:pic>
        <p:nvPicPr>
          <p:cNvPr id="6" name="Picture 5">
            <a:extLst>
              <a:ext uri="{FF2B5EF4-FFF2-40B4-BE49-F238E27FC236}">
                <a16:creationId xmlns:a16="http://schemas.microsoft.com/office/drawing/2014/main" id="{93B288ED-5577-B808-FB91-897C009D32B7}"/>
              </a:ext>
            </a:extLst>
          </p:cNvPr>
          <p:cNvPicPr>
            <a:picLocks noChangeAspect="1"/>
          </p:cNvPicPr>
          <p:nvPr/>
        </p:nvPicPr>
        <p:blipFill rotWithShape="1">
          <a:blip r:embed="rId2"/>
          <a:srcRect l="26687" t="54667" r="53475" b="14256"/>
          <a:stretch/>
        </p:blipFill>
        <p:spPr>
          <a:xfrm>
            <a:off x="9156702" y="1286463"/>
            <a:ext cx="1176338" cy="1191624"/>
          </a:xfrm>
          <a:prstGeom prst="rect">
            <a:avLst/>
          </a:prstGeom>
        </p:spPr>
      </p:pic>
      <p:pic>
        <p:nvPicPr>
          <p:cNvPr id="7" name="Picture 6">
            <a:extLst>
              <a:ext uri="{FF2B5EF4-FFF2-40B4-BE49-F238E27FC236}">
                <a16:creationId xmlns:a16="http://schemas.microsoft.com/office/drawing/2014/main" id="{315DE59D-1DC3-9286-DB82-91F5D131D244}"/>
              </a:ext>
            </a:extLst>
          </p:cNvPr>
          <p:cNvPicPr>
            <a:picLocks noChangeAspect="1"/>
          </p:cNvPicPr>
          <p:nvPr/>
        </p:nvPicPr>
        <p:blipFill rotWithShape="1">
          <a:blip r:embed="rId2"/>
          <a:srcRect l="50552" t="54668" r="29609" b="14254"/>
          <a:stretch/>
        </p:blipFill>
        <p:spPr>
          <a:xfrm>
            <a:off x="10671148" y="1286463"/>
            <a:ext cx="1176338" cy="1191624"/>
          </a:xfrm>
          <a:prstGeom prst="rect">
            <a:avLst/>
          </a:prstGeom>
        </p:spPr>
      </p:pic>
      <p:sp>
        <p:nvSpPr>
          <p:cNvPr id="8" name="Rectangle 7">
            <a:extLst>
              <a:ext uri="{FF2B5EF4-FFF2-40B4-BE49-F238E27FC236}">
                <a16:creationId xmlns:a16="http://schemas.microsoft.com/office/drawing/2014/main" id="{78269657-AD14-6D58-8F52-314B346E40F8}"/>
              </a:ext>
            </a:extLst>
          </p:cNvPr>
          <p:cNvSpPr/>
          <p:nvPr/>
        </p:nvSpPr>
        <p:spPr>
          <a:xfrm>
            <a:off x="9662865" y="2667959"/>
            <a:ext cx="189411" cy="189411"/>
          </a:xfrm>
          <a:prstGeom prst="rect">
            <a:avLst/>
          </a:prstGeom>
          <a:solidFill>
            <a:schemeClr val="accent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E1CD011-FA63-412D-C2CC-8DA88EAE3BE3}"/>
              </a:ext>
            </a:extLst>
          </p:cNvPr>
          <p:cNvSpPr/>
          <p:nvPr/>
        </p:nvSpPr>
        <p:spPr>
          <a:xfrm>
            <a:off x="9662865" y="2873626"/>
            <a:ext cx="189411" cy="189411"/>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EF225A0-2531-819A-FD32-99B40E12EA27}"/>
              </a:ext>
            </a:extLst>
          </p:cNvPr>
          <p:cNvSpPr/>
          <p:nvPr/>
        </p:nvSpPr>
        <p:spPr>
          <a:xfrm>
            <a:off x="9662976" y="3079293"/>
            <a:ext cx="189411" cy="189411"/>
          </a:xfrm>
          <a:prstGeom prst="rect">
            <a:avLst/>
          </a:prstGeom>
          <a:solidFill>
            <a:schemeClr val="accent1">
              <a:lumMod val="7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F486D94-8F41-8D4A-D9E4-D82AD62EE43C}"/>
              </a:ext>
            </a:extLst>
          </p:cNvPr>
          <p:cNvSpPr/>
          <p:nvPr/>
        </p:nvSpPr>
        <p:spPr>
          <a:xfrm>
            <a:off x="9661776" y="3284960"/>
            <a:ext cx="189411" cy="189411"/>
          </a:xfrm>
          <a:prstGeom prst="rect">
            <a:avLst/>
          </a:prstGeom>
          <a:solidFill>
            <a:schemeClr val="accent1">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B99324E-8C3F-F9A1-CADD-8F465DC4C9E8}"/>
              </a:ext>
            </a:extLst>
          </p:cNvPr>
          <p:cNvSpPr/>
          <p:nvPr/>
        </p:nvSpPr>
        <p:spPr>
          <a:xfrm>
            <a:off x="9662137" y="3490627"/>
            <a:ext cx="189411" cy="189411"/>
          </a:xfrm>
          <a:prstGeom prst="rect">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3D3A0DD-8958-175A-60B0-2376E9F47728}"/>
              </a:ext>
            </a:extLst>
          </p:cNvPr>
          <p:cNvSpPr/>
          <p:nvPr/>
        </p:nvSpPr>
        <p:spPr>
          <a:xfrm>
            <a:off x="9663715" y="3696294"/>
            <a:ext cx="189411" cy="189411"/>
          </a:xfrm>
          <a:prstGeom prst="rect">
            <a:avLst/>
          </a:prstGeom>
          <a:solidFill>
            <a:schemeClr val="accent1">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E09534C-E17A-A77F-9151-CE78D94487B8}"/>
              </a:ext>
            </a:extLst>
          </p:cNvPr>
          <p:cNvSpPr/>
          <p:nvPr/>
        </p:nvSpPr>
        <p:spPr>
          <a:xfrm>
            <a:off x="11177865" y="2667959"/>
            <a:ext cx="189411" cy="189411"/>
          </a:xfrm>
          <a:prstGeom prst="rect">
            <a:avLst/>
          </a:prstGeom>
          <a:solidFill>
            <a:srgbClr val="FF7C8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04F8DE7-62DE-9771-9AA7-A17BEA53EB83}"/>
              </a:ext>
            </a:extLst>
          </p:cNvPr>
          <p:cNvSpPr/>
          <p:nvPr/>
        </p:nvSpPr>
        <p:spPr>
          <a:xfrm>
            <a:off x="11177865" y="2873626"/>
            <a:ext cx="189411" cy="189411"/>
          </a:xfrm>
          <a:prstGeom prst="rect">
            <a:avLst/>
          </a:prstGeom>
          <a:solidFill>
            <a:srgbClr val="C0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4ED019B-0605-2C8F-AD6C-C22171898583}"/>
              </a:ext>
            </a:extLst>
          </p:cNvPr>
          <p:cNvSpPr/>
          <p:nvPr/>
        </p:nvSpPr>
        <p:spPr>
          <a:xfrm>
            <a:off x="11177976" y="3079293"/>
            <a:ext cx="189411" cy="189411"/>
          </a:xfrm>
          <a:prstGeom prst="rect">
            <a:avLst/>
          </a:prstGeom>
          <a:solidFill>
            <a:srgbClr val="FFCC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4A74018-6484-5ABC-50F3-590F76F8783A}"/>
              </a:ext>
            </a:extLst>
          </p:cNvPr>
          <p:cNvSpPr/>
          <p:nvPr/>
        </p:nvSpPr>
        <p:spPr>
          <a:xfrm>
            <a:off x="11176776" y="3284960"/>
            <a:ext cx="189411" cy="189411"/>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798845C-F2D4-D98B-25F3-8D208BCF6E72}"/>
              </a:ext>
            </a:extLst>
          </p:cNvPr>
          <p:cNvSpPr/>
          <p:nvPr/>
        </p:nvSpPr>
        <p:spPr>
          <a:xfrm>
            <a:off x="11177137" y="3490627"/>
            <a:ext cx="189411" cy="189411"/>
          </a:xfrm>
          <a:prstGeom prst="rect">
            <a:avLst/>
          </a:prstGeom>
          <a:solidFill>
            <a:srgbClr val="FFCCC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CA56399-8A5A-CE07-1B8F-F8DEBBB9C86F}"/>
              </a:ext>
            </a:extLst>
          </p:cNvPr>
          <p:cNvSpPr/>
          <p:nvPr/>
        </p:nvSpPr>
        <p:spPr>
          <a:xfrm>
            <a:off x="11178715" y="3696294"/>
            <a:ext cx="189411" cy="189411"/>
          </a:xfrm>
          <a:prstGeom prst="rect">
            <a:avLst/>
          </a:prstGeom>
          <a:solidFill>
            <a:srgbClr val="C0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3A45BF95-4961-CBE1-1673-B0798392F337}"/>
              </a:ext>
            </a:extLst>
          </p:cNvPr>
          <p:cNvSpPr txBox="1"/>
          <p:nvPr/>
        </p:nvSpPr>
        <p:spPr>
          <a:xfrm>
            <a:off x="9266400" y="3938178"/>
            <a:ext cx="988193" cy="646331"/>
          </a:xfrm>
          <a:prstGeom prst="rect">
            <a:avLst/>
          </a:prstGeom>
          <a:noFill/>
        </p:spPr>
        <p:txBody>
          <a:bodyPr wrap="square" rtlCol="0">
            <a:spAutoFit/>
          </a:bodyPr>
          <a:lstStyle/>
          <a:p>
            <a:pPr algn="ctr"/>
            <a:r>
              <a:rPr lang="en-US" dirty="0">
                <a:solidFill>
                  <a:srgbClr val="0070C0"/>
                </a:solidFill>
                <a:latin typeface="Arial" panose="020B0604020202020204" pitchFamily="34" charset="0"/>
                <a:cs typeface="Arial" panose="020B0604020202020204" pitchFamily="34" charset="0"/>
              </a:rPr>
              <a:t>Scene</a:t>
            </a:r>
          </a:p>
          <a:p>
            <a:pPr algn="ctr"/>
            <a:r>
              <a:rPr lang="en-US" dirty="0">
                <a:solidFill>
                  <a:srgbClr val="0070C0"/>
                </a:solidFill>
                <a:latin typeface="Arial" panose="020B0604020202020204" pitchFamily="34" charset="0"/>
                <a:cs typeface="Arial" panose="020B0604020202020204" pitchFamily="34" charset="0"/>
              </a:rPr>
              <a:t>fMRI</a:t>
            </a:r>
          </a:p>
        </p:txBody>
      </p:sp>
      <p:sp>
        <p:nvSpPr>
          <p:cNvPr id="22" name="TextBox 21">
            <a:extLst>
              <a:ext uri="{FF2B5EF4-FFF2-40B4-BE49-F238E27FC236}">
                <a16:creationId xmlns:a16="http://schemas.microsoft.com/office/drawing/2014/main" id="{BD34B566-45B6-3974-CC61-8E01BC3F1A35}"/>
              </a:ext>
            </a:extLst>
          </p:cNvPr>
          <p:cNvSpPr txBox="1"/>
          <p:nvPr/>
        </p:nvSpPr>
        <p:spPr>
          <a:xfrm>
            <a:off x="10798814" y="3938178"/>
            <a:ext cx="988193" cy="646331"/>
          </a:xfrm>
          <a:prstGeom prst="rect">
            <a:avLst/>
          </a:prstGeom>
          <a:noFill/>
        </p:spPr>
        <p:txBody>
          <a:bodyPr wrap="square" rtlCol="0">
            <a:spAutoFit/>
          </a:bodyPr>
          <a:lstStyle/>
          <a:p>
            <a:pPr algn="ctr"/>
            <a:r>
              <a:rPr lang="en-US" dirty="0">
                <a:solidFill>
                  <a:srgbClr val="C00000"/>
                </a:solidFill>
                <a:latin typeface="Arial" panose="020B0604020202020204" pitchFamily="34" charset="0"/>
                <a:cs typeface="Arial" panose="020B0604020202020204" pitchFamily="34" charset="0"/>
              </a:rPr>
              <a:t>Object</a:t>
            </a:r>
          </a:p>
          <a:p>
            <a:pPr algn="ctr"/>
            <a:r>
              <a:rPr lang="en-US" dirty="0">
                <a:solidFill>
                  <a:srgbClr val="C00000"/>
                </a:solidFill>
                <a:latin typeface="Arial" panose="020B0604020202020204" pitchFamily="34" charset="0"/>
                <a:cs typeface="Arial" panose="020B0604020202020204" pitchFamily="34" charset="0"/>
              </a:rPr>
              <a:t>fMRI</a:t>
            </a:r>
          </a:p>
        </p:txBody>
      </p:sp>
      <p:cxnSp>
        <p:nvCxnSpPr>
          <p:cNvPr id="23" name="Straight Arrow Connector 22">
            <a:extLst>
              <a:ext uri="{FF2B5EF4-FFF2-40B4-BE49-F238E27FC236}">
                <a16:creationId xmlns:a16="http://schemas.microsoft.com/office/drawing/2014/main" id="{01A344DF-26EF-A5CC-D10F-190B9ABA17F4}"/>
              </a:ext>
            </a:extLst>
          </p:cNvPr>
          <p:cNvCxnSpPr>
            <a:cxnSpLocks/>
          </p:cNvCxnSpPr>
          <p:nvPr/>
        </p:nvCxnSpPr>
        <p:spPr>
          <a:xfrm>
            <a:off x="9748983" y="4663709"/>
            <a:ext cx="0" cy="604911"/>
          </a:xfrm>
          <a:prstGeom prst="straightConnector1">
            <a:avLst/>
          </a:prstGeom>
          <a:ln w="762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81060453-1B0A-07A1-D2E2-E7DAF86362A6}"/>
              </a:ext>
            </a:extLst>
          </p:cNvPr>
          <p:cNvCxnSpPr>
            <a:cxnSpLocks/>
          </p:cNvCxnSpPr>
          <p:nvPr/>
        </p:nvCxnSpPr>
        <p:spPr>
          <a:xfrm>
            <a:off x="11292910" y="4663709"/>
            <a:ext cx="0" cy="604911"/>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CA8B32EC-010F-EDED-C91A-AB0FB4A40607}"/>
              </a:ext>
            </a:extLst>
          </p:cNvPr>
          <p:cNvSpPr txBox="1"/>
          <p:nvPr/>
        </p:nvSpPr>
        <p:spPr>
          <a:xfrm>
            <a:off x="9266400" y="5322648"/>
            <a:ext cx="988193" cy="646331"/>
          </a:xfrm>
          <a:prstGeom prst="rect">
            <a:avLst/>
          </a:prstGeom>
          <a:noFill/>
        </p:spPr>
        <p:txBody>
          <a:bodyPr wrap="square" rtlCol="0">
            <a:spAutoFit/>
          </a:bodyPr>
          <a:lstStyle/>
          <a:p>
            <a:pPr algn="ctr"/>
            <a:r>
              <a:rPr lang="en-US" dirty="0">
                <a:solidFill>
                  <a:srgbClr val="0070C0"/>
                </a:solidFill>
                <a:latin typeface="Arial" panose="020B0604020202020204" pitchFamily="34" charset="0"/>
                <a:cs typeface="Arial" panose="020B0604020202020204" pitchFamily="34" charset="0"/>
              </a:rPr>
              <a:t>Scene</a:t>
            </a:r>
          </a:p>
          <a:p>
            <a:pPr algn="ctr"/>
            <a:r>
              <a:rPr lang="en-US" dirty="0">
                <a:solidFill>
                  <a:srgbClr val="0070C0"/>
                </a:solidFill>
                <a:latin typeface="Arial" panose="020B0604020202020204" pitchFamily="34" charset="0"/>
                <a:cs typeface="Arial" panose="020B0604020202020204" pitchFamily="34" charset="0"/>
              </a:rPr>
              <a:t>RDM</a:t>
            </a:r>
          </a:p>
        </p:txBody>
      </p:sp>
      <p:sp>
        <p:nvSpPr>
          <p:cNvPr id="28" name="TextBox 27">
            <a:extLst>
              <a:ext uri="{FF2B5EF4-FFF2-40B4-BE49-F238E27FC236}">
                <a16:creationId xmlns:a16="http://schemas.microsoft.com/office/drawing/2014/main" id="{77EF4FBF-5F57-BE7B-4E97-86BCF7C420CF}"/>
              </a:ext>
            </a:extLst>
          </p:cNvPr>
          <p:cNvSpPr txBox="1"/>
          <p:nvPr/>
        </p:nvSpPr>
        <p:spPr>
          <a:xfrm>
            <a:off x="10798814" y="5322648"/>
            <a:ext cx="988193" cy="646331"/>
          </a:xfrm>
          <a:prstGeom prst="rect">
            <a:avLst/>
          </a:prstGeom>
          <a:noFill/>
        </p:spPr>
        <p:txBody>
          <a:bodyPr wrap="square" rtlCol="0">
            <a:spAutoFit/>
          </a:bodyPr>
          <a:lstStyle/>
          <a:p>
            <a:pPr algn="ctr"/>
            <a:r>
              <a:rPr lang="en-US" dirty="0">
                <a:solidFill>
                  <a:srgbClr val="C00000"/>
                </a:solidFill>
                <a:latin typeface="Arial" panose="020B0604020202020204" pitchFamily="34" charset="0"/>
                <a:cs typeface="Arial" panose="020B0604020202020204" pitchFamily="34" charset="0"/>
              </a:rPr>
              <a:t>Object</a:t>
            </a:r>
          </a:p>
          <a:p>
            <a:pPr algn="ctr"/>
            <a:r>
              <a:rPr lang="en-US" dirty="0">
                <a:solidFill>
                  <a:srgbClr val="C00000"/>
                </a:solidFill>
                <a:latin typeface="Arial" panose="020B0604020202020204" pitchFamily="34" charset="0"/>
                <a:cs typeface="Arial" panose="020B0604020202020204" pitchFamily="34" charset="0"/>
              </a:rPr>
              <a:t>RDM</a:t>
            </a:r>
          </a:p>
        </p:txBody>
      </p:sp>
    </p:spTree>
    <p:extLst>
      <p:ext uri="{BB962C8B-B14F-4D97-AF65-F5344CB8AC3E}">
        <p14:creationId xmlns:p14="http://schemas.microsoft.com/office/powerpoint/2010/main" val="159647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1" grpId="0"/>
      <p:bldP spid="22" grpId="0"/>
      <p:bldP spid="27" grpId="0"/>
      <p:bldP spid="28" grpId="0"/>
    </p:bld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35657-DA82-192C-4BC7-A11E387C8659}"/>
              </a:ext>
            </a:extLst>
          </p:cNvPr>
          <p:cNvSpPr>
            <a:spLocks noGrp="1"/>
          </p:cNvSpPr>
          <p:nvPr>
            <p:ph type="title"/>
          </p:nvPr>
        </p:nvSpPr>
        <p:spPr/>
        <p:txBody>
          <a:bodyPr/>
          <a:lstStyle/>
          <a:p>
            <a:r>
              <a:rPr lang="en-US" dirty="0"/>
              <a:t>Further temporal trend testing</a:t>
            </a:r>
          </a:p>
        </p:txBody>
      </p:sp>
      <p:sp>
        <p:nvSpPr>
          <p:cNvPr id="3" name="Content Placeholder 2">
            <a:extLst>
              <a:ext uri="{FF2B5EF4-FFF2-40B4-BE49-F238E27FC236}">
                <a16:creationId xmlns:a16="http://schemas.microsoft.com/office/drawing/2014/main" id="{1BDD802F-0399-CC87-099A-CEB06F735A13}"/>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C975BE7F-D06B-A450-7A5E-CC384DB3C9F8}"/>
              </a:ext>
            </a:extLst>
          </p:cNvPr>
          <p:cNvPicPr>
            <a:picLocks noChangeAspect="1"/>
          </p:cNvPicPr>
          <p:nvPr/>
        </p:nvPicPr>
        <p:blipFill rotWithShape="1">
          <a:blip r:embed="rId2"/>
          <a:srcRect t="2598"/>
          <a:stretch/>
        </p:blipFill>
        <p:spPr>
          <a:xfrm>
            <a:off x="279133" y="2614757"/>
            <a:ext cx="12192000" cy="3878118"/>
          </a:xfrm>
          <a:prstGeom prst="rect">
            <a:avLst/>
          </a:prstGeom>
        </p:spPr>
      </p:pic>
    </p:spTree>
    <p:extLst>
      <p:ext uri="{BB962C8B-B14F-4D97-AF65-F5344CB8AC3E}">
        <p14:creationId xmlns:p14="http://schemas.microsoft.com/office/powerpoint/2010/main" val="7556284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3656A-B113-00B4-2C2B-B4E8AF463F90}"/>
              </a:ext>
            </a:extLst>
          </p:cNvPr>
          <p:cNvSpPr>
            <a:spLocks noGrp="1"/>
          </p:cNvSpPr>
          <p:nvPr>
            <p:ph type="title"/>
          </p:nvPr>
        </p:nvSpPr>
        <p:spPr>
          <a:xfrm>
            <a:off x="838200" y="25086"/>
            <a:ext cx="10515600" cy="1325563"/>
          </a:xfrm>
        </p:spPr>
        <p:txBody>
          <a:bodyPr/>
          <a:lstStyle/>
          <a:p>
            <a:r>
              <a:rPr lang="en-US" dirty="0"/>
              <a:t>Stimulus RSM/RDMs</a:t>
            </a:r>
          </a:p>
        </p:txBody>
      </p:sp>
      <p:sp>
        <p:nvSpPr>
          <p:cNvPr id="3" name="Content Placeholder 2">
            <a:extLst>
              <a:ext uri="{FF2B5EF4-FFF2-40B4-BE49-F238E27FC236}">
                <a16:creationId xmlns:a16="http://schemas.microsoft.com/office/drawing/2014/main" id="{5647F4C0-E858-3747-E631-FE1DEA6E8E4A}"/>
              </a:ext>
            </a:extLst>
          </p:cNvPr>
          <p:cNvSpPr>
            <a:spLocks noGrp="1"/>
          </p:cNvSpPr>
          <p:nvPr>
            <p:ph idx="1"/>
          </p:nvPr>
        </p:nvSpPr>
        <p:spPr>
          <a:xfrm>
            <a:off x="947783" y="5878191"/>
            <a:ext cx="10515600" cy="588963"/>
          </a:xfrm>
        </p:spPr>
        <p:txBody>
          <a:bodyPr>
            <a:normAutofit fontScale="77500" lnSpcReduction="20000"/>
          </a:bodyPr>
          <a:lstStyle/>
          <a:p>
            <a:r>
              <a:rPr lang="en-US" dirty="0"/>
              <a:t>Although not visualized here, the congruent/incongruent/neutral conditions don’t have much bearing on the vectors or RSMs</a:t>
            </a:r>
          </a:p>
        </p:txBody>
      </p:sp>
      <p:pic>
        <p:nvPicPr>
          <p:cNvPr id="15" name="Picture 14">
            <a:extLst>
              <a:ext uri="{FF2B5EF4-FFF2-40B4-BE49-F238E27FC236}">
                <a16:creationId xmlns:a16="http://schemas.microsoft.com/office/drawing/2014/main" id="{3953EFF8-37D1-8AD3-84BF-2D1F8081F600}"/>
              </a:ext>
            </a:extLst>
          </p:cNvPr>
          <p:cNvPicPr>
            <a:picLocks noChangeAspect="1"/>
          </p:cNvPicPr>
          <p:nvPr/>
        </p:nvPicPr>
        <p:blipFill rotWithShape="1">
          <a:blip r:embed="rId3"/>
          <a:srcRect l="5953"/>
          <a:stretch/>
        </p:blipFill>
        <p:spPr>
          <a:xfrm>
            <a:off x="147320" y="2387281"/>
            <a:ext cx="4242526" cy="3383280"/>
          </a:xfrm>
          <a:prstGeom prst="rect">
            <a:avLst/>
          </a:prstGeom>
        </p:spPr>
      </p:pic>
      <p:pic>
        <p:nvPicPr>
          <p:cNvPr id="17" name="Picture 16">
            <a:extLst>
              <a:ext uri="{FF2B5EF4-FFF2-40B4-BE49-F238E27FC236}">
                <a16:creationId xmlns:a16="http://schemas.microsoft.com/office/drawing/2014/main" id="{C36135DA-83D9-57DA-3DB1-1658F085BF7D}"/>
              </a:ext>
            </a:extLst>
          </p:cNvPr>
          <p:cNvPicPr>
            <a:picLocks noChangeAspect="1"/>
          </p:cNvPicPr>
          <p:nvPr/>
        </p:nvPicPr>
        <p:blipFill>
          <a:blip r:embed="rId4"/>
          <a:stretch>
            <a:fillRect/>
          </a:stretch>
        </p:blipFill>
        <p:spPr>
          <a:xfrm>
            <a:off x="4011939" y="2387281"/>
            <a:ext cx="4511040" cy="3383280"/>
          </a:xfrm>
          <a:prstGeom prst="rect">
            <a:avLst/>
          </a:prstGeom>
        </p:spPr>
      </p:pic>
      <p:pic>
        <p:nvPicPr>
          <p:cNvPr id="13" name="Picture 12">
            <a:extLst>
              <a:ext uri="{FF2B5EF4-FFF2-40B4-BE49-F238E27FC236}">
                <a16:creationId xmlns:a16="http://schemas.microsoft.com/office/drawing/2014/main" id="{810B223A-2B5E-A9A7-9476-487B8E87A49C}"/>
              </a:ext>
            </a:extLst>
          </p:cNvPr>
          <p:cNvPicPr>
            <a:picLocks noChangeAspect="1"/>
          </p:cNvPicPr>
          <p:nvPr/>
        </p:nvPicPr>
        <p:blipFill rotWithShape="1">
          <a:blip r:embed="rId5"/>
          <a:srcRect r="7143"/>
          <a:stretch/>
        </p:blipFill>
        <p:spPr>
          <a:xfrm>
            <a:off x="7894320" y="2387281"/>
            <a:ext cx="4188823" cy="3383280"/>
          </a:xfrm>
          <a:prstGeom prst="rect">
            <a:avLst/>
          </a:prstGeom>
        </p:spPr>
      </p:pic>
      <p:sp>
        <p:nvSpPr>
          <p:cNvPr id="21" name="Content Placeholder 2">
            <a:extLst>
              <a:ext uri="{FF2B5EF4-FFF2-40B4-BE49-F238E27FC236}">
                <a16:creationId xmlns:a16="http://schemas.microsoft.com/office/drawing/2014/main" id="{F568BBB0-ADDC-25C4-25E9-7AE8BCF39A94}"/>
              </a:ext>
            </a:extLst>
          </p:cNvPr>
          <p:cNvSpPr txBox="1">
            <a:spLocks/>
          </p:cNvSpPr>
          <p:nvPr/>
        </p:nvSpPr>
        <p:spPr>
          <a:xfrm>
            <a:off x="1062083" y="1350649"/>
            <a:ext cx="10515600" cy="107600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Perceptual representations (1</a:t>
            </a:r>
            <a:r>
              <a:rPr lang="en-US" baseline="30000" dirty="0"/>
              <a:t>st</a:t>
            </a:r>
            <a:r>
              <a:rPr lang="en-US" dirty="0"/>
              <a:t> layer of DNN)</a:t>
            </a:r>
          </a:p>
          <a:p>
            <a:r>
              <a:rPr lang="en-US" dirty="0"/>
              <a:t>The difference vector RSM doesn’t look particularly weird</a:t>
            </a:r>
          </a:p>
        </p:txBody>
      </p:sp>
    </p:spTree>
    <p:extLst>
      <p:ext uri="{BB962C8B-B14F-4D97-AF65-F5344CB8AC3E}">
        <p14:creationId xmlns:p14="http://schemas.microsoft.com/office/powerpoint/2010/main" val="24719769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Results</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8809920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04030-CA2D-C7E7-E4C8-0FF6DB28E716}"/>
              </a:ext>
            </a:extLst>
          </p:cNvPr>
          <p:cNvSpPr>
            <a:spLocks noGrp="1"/>
          </p:cNvSpPr>
          <p:nvPr>
            <p:ph type="title"/>
          </p:nvPr>
        </p:nvSpPr>
        <p:spPr/>
        <p:txBody>
          <a:bodyPr/>
          <a:lstStyle/>
          <a:p>
            <a:r>
              <a:rPr lang="en-US" dirty="0"/>
              <a:t>Univariate findings to pad things out?</a:t>
            </a:r>
          </a:p>
        </p:txBody>
      </p:sp>
      <p:sp>
        <p:nvSpPr>
          <p:cNvPr id="3" name="Content Placeholder 2">
            <a:extLst>
              <a:ext uri="{FF2B5EF4-FFF2-40B4-BE49-F238E27FC236}">
                <a16:creationId xmlns:a16="http://schemas.microsoft.com/office/drawing/2014/main" id="{759B19A3-092F-C23C-6BBD-39F359AB48E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0275765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F94C0307-ED64-0827-0AC2-8C66081A177A}"/>
              </a:ext>
            </a:extLst>
          </p:cNvPr>
          <p:cNvPicPr>
            <a:picLocks noChangeAspect="1"/>
          </p:cNvPicPr>
          <p:nvPr/>
        </p:nvPicPr>
        <p:blipFill>
          <a:blip r:embed="rId3"/>
          <a:stretch>
            <a:fillRect/>
          </a:stretch>
        </p:blipFill>
        <p:spPr>
          <a:xfrm>
            <a:off x="289181" y="1520751"/>
            <a:ext cx="6096000" cy="4572000"/>
          </a:xfrm>
          <a:prstGeom prst="rect">
            <a:avLst/>
          </a:prstGeom>
        </p:spPr>
      </p:pic>
      <p:sp>
        <p:nvSpPr>
          <p:cNvPr id="2" name="Title 1">
            <a:extLst>
              <a:ext uri="{FF2B5EF4-FFF2-40B4-BE49-F238E27FC236}">
                <a16:creationId xmlns:a16="http://schemas.microsoft.com/office/drawing/2014/main" id="{5B52E04B-B629-C701-6FF7-C3CE963702B1}"/>
              </a:ext>
            </a:extLst>
          </p:cNvPr>
          <p:cNvSpPr>
            <a:spLocks noGrp="1"/>
          </p:cNvSpPr>
          <p:nvPr>
            <p:ph type="title"/>
          </p:nvPr>
        </p:nvSpPr>
        <p:spPr>
          <a:xfrm>
            <a:off x="838199" y="166502"/>
            <a:ext cx="10515600" cy="870155"/>
          </a:xfrm>
        </p:spPr>
        <p:txBody>
          <a:bodyPr/>
          <a:lstStyle/>
          <a:p>
            <a:r>
              <a:rPr lang="en-US" dirty="0"/>
              <a:t>Result 1A: Schema representation</a:t>
            </a:r>
          </a:p>
        </p:txBody>
      </p:sp>
      <p:pic>
        <p:nvPicPr>
          <p:cNvPr id="4" name="Picture 3">
            <a:extLst>
              <a:ext uri="{FF2B5EF4-FFF2-40B4-BE49-F238E27FC236}">
                <a16:creationId xmlns:a16="http://schemas.microsoft.com/office/drawing/2014/main" id="{B5B5C454-0847-D5A3-539E-785DCAA01170}"/>
              </a:ext>
            </a:extLst>
          </p:cNvPr>
          <p:cNvPicPr>
            <a:picLocks noChangeAspect="1"/>
          </p:cNvPicPr>
          <p:nvPr/>
        </p:nvPicPr>
        <p:blipFill rotWithShape="1">
          <a:blip r:embed="rId4"/>
          <a:srcRect l="26687" t="54667" r="53475" b="14256"/>
          <a:stretch/>
        </p:blipFill>
        <p:spPr>
          <a:xfrm>
            <a:off x="60374" y="572830"/>
            <a:ext cx="1176338" cy="1191624"/>
          </a:xfrm>
          <a:prstGeom prst="rect">
            <a:avLst/>
          </a:prstGeom>
        </p:spPr>
      </p:pic>
      <p:pic>
        <p:nvPicPr>
          <p:cNvPr id="10" name="Picture 9">
            <a:extLst>
              <a:ext uri="{FF2B5EF4-FFF2-40B4-BE49-F238E27FC236}">
                <a16:creationId xmlns:a16="http://schemas.microsoft.com/office/drawing/2014/main" id="{9FBEECFC-4E93-B729-18A9-FD7BA45DFF67}"/>
              </a:ext>
            </a:extLst>
          </p:cNvPr>
          <p:cNvPicPr>
            <a:picLocks noChangeAspect="1"/>
          </p:cNvPicPr>
          <p:nvPr/>
        </p:nvPicPr>
        <p:blipFill>
          <a:blip r:embed="rId5"/>
          <a:stretch>
            <a:fillRect/>
          </a:stretch>
        </p:blipFill>
        <p:spPr>
          <a:xfrm>
            <a:off x="5987006" y="1520751"/>
            <a:ext cx="6096000" cy="4572000"/>
          </a:xfrm>
          <a:prstGeom prst="rect">
            <a:avLst/>
          </a:prstGeom>
        </p:spPr>
      </p:pic>
      <p:sp>
        <p:nvSpPr>
          <p:cNvPr id="8" name="Content Placeholder 2">
            <a:extLst>
              <a:ext uri="{FF2B5EF4-FFF2-40B4-BE49-F238E27FC236}">
                <a16:creationId xmlns:a16="http://schemas.microsoft.com/office/drawing/2014/main" id="{8D59F1ED-F06D-0840-2805-1E0D028EFAC8}"/>
              </a:ext>
            </a:extLst>
          </p:cNvPr>
          <p:cNvSpPr txBox="1">
            <a:spLocks/>
          </p:cNvSpPr>
          <p:nvPr/>
        </p:nvSpPr>
        <p:spPr>
          <a:xfrm>
            <a:off x="1272805" y="1168642"/>
            <a:ext cx="4322366" cy="570156"/>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t>Perceptual scene decoding</a:t>
            </a:r>
          </a:p>
        </p:txBody>
      </p:sp>
      <p:sp>
        <p:nvSpPr>
          <p:cNvPr id="3" name="Content Placeholder 2">
            <a:extLst>
              <a:ext uri="{FF2B5EF4-FFF2-40B4-BE49-F238E27FC236}">
                <a16:creationId xmlns:a16="http://schemas.microsoft.com/office/drawing/2014/main" id="{4C6CDAC4-F965-383B-7BB2-7957DB76768B}"/>
              </a:ext>
            </a:extLst>
          </p:cNvPr>
          <p:cNvSpPr>
            <a:spLocks noGrp="1"/>
          </p:cNvSpPr>
          <p:nvPr>
            <p:ph idx="1"/>
          </p:nvPr>
        </p:nvSpPr>
        <p:spPr>
          <a:xfrm>
            <a:off x="6770829" y="1187803"/>
            <a:ext cx="4702356" cy="570156"/>
          </a:xfrm>
        </p:spPr>
        <p:txBody>
          <a:bodyPr>
            <a:normAutofit/>
          </a:bodyPr>
          <a:lstStyle/>
          <a:p>
            <a:pPr marL="0" indent="0" algn="ctr">
              <a:buNone/>
            </a:pPr>
            <a:r>
              <a:rPr lang="en-US" dirty="0"/>
              <a:t>Semantic scene decoding</a:t>
            </a:r>
          </a:p>
        </p:txBody>
      </p:sp>
      <p:sp>
        <p:nvSpPr>
          <p:cNvPr id="12" name="TextBox 11">
            <a:extLst>
              <a:ext uri="{FF2B5EF4-FFF2-40B4-BE49-F238E27FC236}">
                <a16:creationId xmlns:a16="http://schemas.microsoft.com/office/drawing/2014/main" id="{F5E13E75-8F47-C208-EADC-6BDF1ADCEFF0}"/>
              </a:ext>
            </a:extLst>
          </p:cNvPr>
          <p:cNvSpPr txBox="1"/>
          <p:nvPr/>
        </p:nvSpPr>
        <p:spPr>
          <a:xfrm>
            <a:off x="4243408" y="6250435"/>
            <a:ext cx="4283545" cy="523220"/>
          </a:xfrm>
          <a:prstGeom prst="rect">
            <a:avLst/>
          </a:prstGeom>
          <a:noFill/>
        </p:spPr>
        <p:txBody>
          <a:bodyPr wrap="none" rtlCol="0">
            <a:spAutoFit/>
          </a:bodyPr>
          <a:lstStyle/>
          <a:p>
            <a:r>
              <a:rPr lang="en-US" sz="2800" dirty="0">
                <a:latin typeface="Arial" panose="020B0604020202020204" pitchFamily="34" charset="0"/>
                <a:cs typeface="Arial" panose="020B0604020202020204" pitchFamily="34" charset="0"/>
              </a:rPr>
              <a:t>Establishes the prediction</a:t>
            </a:r>
          </a:p>
        </p:txBody>
      </p:sp>
      <p:sp>
        <p:nvSpPr>
          <p:cNvPr id="13" name="Oval 12">
            <a:extLst>
              <a:ext uri="{FF2B5EF4-FFF2-40B4-BE49-F238E27FC236}">
                <a16:creationId xmlns:a16="http://schemas.microsoft.com/office/drawing/2014/main" id="{2728BE08-E5C7-8D5E-EE89-6C88F88B0DE3}"/>
              </a:ext>
            </a:extLst>
          </p:cNvPr>
          <p:cNvSpPr/>
          <p:nvPr/>
        </p:nvSpPr>
        <p:spPr>
          <a:xfrm>
            <a:off x="1049511" y="2628000"/>
            <a:ext cx="858489" cy="1760247"/>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5FDDB7D3-CEF3-F5C3-8EC1-BCB430634C8C}"/>
              </a:ext>
            </a:extLst>
          </p:cNvPr>
          <p:cNvSpPr txBox="1"/>
          <p:nvPr/>
        </p:nvSpPr>
        <p:spPr>
          <a:xfrm>
            <a:off x="1736697" y="2455886"/>
            <a:ext cx="800219" cy="461665"/>
          </a:xfrm>
          <a:prstGeom prst="rect">
            <a:avLst/>
          </a:prstGeom>
          <a:noFill/>
        </p:spPr>
        <p:txBody>
          <a:bodyPr wrap="none" rtlCol="0">
            <a:spAutoFit/>
          </a:bodyPr>
          <a:lstStyle/>
          <a:p>
            <a:r>
              <a:rPr lang="en-US" sz="2400" dirty="0">
                <a:solidFill>
                  <a:srgbClr val="FF0000"/>
                </a:solidFill>
                <a:latin typeface="Arial" panose="020B0604020202020204" pitchFamily="34" charset="0"/>
                <a:cs typeface="Arial" panose="020B0604020202020204" pitchFamily="34" charset="0"/>
              </a:rPr>
              <a:t>PFC</a:t>
            </a:r>
          </a:p>
        </p:txBody>
      </p:sp>
    </p:spTree>
    <p:extLst>
      <p:ext uri="{BB962C8B-B14F-4D97-AF65-F5344CB8AC3E}">
        <p14:creationId xmlns:p14="http://schemas.microsoft.com/office/powerpoint/2010/main" val="2466956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2E04B-B629-C701-6FF7-C3CE963702B1}"/>
              </a:ext>
            </a:extLst>
          </p:cNvPr>
          <p:cNvSpPr>
            <a:spLocks noGrp="1"/>
          </p:cNvSpPr>
          <p:nvPr>
            <p:ph type="title"/>
          </p:nvPr>
        </p:nvSpPr>
        <p:spPr>
          <a:xfrm>
            <a:off x="838199" y="166502"/>
            <a:ext cx="10515600" cy="870155"/>
          </a:xfrm>
        </p:spPr>
        <p:txBody>
          <a:bodyPr/>
          <a:lstStyle/>
          <a:p>
            <a:r>
              <a:rPr lang="en-US" dirty="0"/>
              <a:t>Result 1C/1D: Object representation</a:t>
            </a:r>
          </a:p>
        </p:txBody>
      </p:sp>
      <p:sp>
        <p:nvSpPr>
          <p:cNvPr id="17" name="Content Placeholder 2">
            <a:extLst>
              <a:ext uri="{FF2B5EF4-FFF2-40B4-BE49-F238E27FC236}">
                <a16:creationId xmlns:a16="http://schemas.microsoft.com/office/drawing/2014/main" id="{0C0A3CD8-10F5-F7CD-247C-4982C4FCD6CF}"/>
              </a:ext>
            </a:extLst>
          </p:cNvPr>
          <p:cNvSpPr txBox="1">
            <a:spLocks/>
          </p:cNvSpPr>
          <p:nvPr/>
        </p:nvSpPr>
        <p:spPr>
          <a:xfrm>
            <a:off x="2448910" y="6271600"/>
            <a:ext cx="7294179" cy="5701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400" dirty="0"/>
              <a:t>Reproducing patterns from </a:t>
            </a:r>
            <a:r>
              <a:rPr lang="en-US" sz="2400" dirty="0" err="1"/>
              <a:t>Lifu’s</a:t>
            </a:r>
            <a:r>
              <a:rPr lang="en-US" sz="2400" dirty="0"/>
              <a:t> thesis</a:t>
            </a:r>
          </a:p>
        </p:txBody>
      </p:sp>
      <p:sp>
        <p:nvSpPr>
          <p:cNvPr id="8" name="Content Placeholder 2">
            <a:extLst>
              <a:ext uri="{FF2B5EF4-FFF2-40B4-BE49-F238E27FC236}">
                <a16:creationId xmlns:a16="http://schemas.microsoft.com/office/drawing/2014/main" id="{8D59F1ED-F06D-0840-2805-1E0D028EFAC8}"/>
              </a:ext>
            </a:extLst>
          </p:cNvPr>
          <p:cNvSpPr txBox="1">
            <a:spLocks/>
          </p:cNvSpPr>
          <p:nvPr/>
        </p:nvSpPr>
        <p:spPr>
          <a:xfrm>
            <a:off x="1397000" y="1168642"/>
            <a:ext cx="4210697" cy="5701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400" dirty="0"/>
              <a:t>Perceptual object decoding</a:t>
            </a:r>
          </a:p>
        </p:txBody>
      </p:sp>
      <p:sp>
        <p:nvSpPr>
          <p:cNvPr id="3" name="Content Placeholder 2">
            <a:extLst>
              <a:ext uri="{FF2B5EF4-FFF2-40B4-BE49-F238E27FC236}">
                <a16:creationId xmlns:a16="http://schemas.microsoft.com/office/drawing/2014/main" id="{4C6CDAC4-F965-383B-7BB2-7957DB76768B}"/>
              </a:ext>
            </a:extLst>
          </p:cNvPr>
          <p:cNvSpPr>
            <a:spLocks noGrp="1"/>
          </p:cNvSpPr>
          <p:nvPr>
            <p:ph idx="1"/>
          </p:nvPr>
        </p:nvSpPr>
        <p:spPr>
          <a:xfrm>
            <a:off x="6680201" y="1187803"/>
            <a:ext cx="4805510" cy="570156"/>
          </a:xfrm>
        </p:spPr>
        <p:txBody>
          <a:bodyPr>
            <a:normAutofit/>
          </a:bodyPr>
          <a:lstStyle/>
          <a:p>
            <a:pPr marL="0" indent="0" algn="ctr">
              <a:buNone/>
            </a:pPr>
            <a:r>
              <a:rPr lang="en-US" sz="2400" dirty="0"/>
              <a:t>Semantic object decoding</a:t>
            </a:r>
          </a:p>
        </p:txBody>
      </p:sp>
      <p:pic>
        <p:nvPicPr>
          <p:cNvPr id="18" name="Picture 17">
            <a:extLst>
              <a:ext uri="{FF2B5EF4-FFF2-40B4-BE49-F238E27FC236}">
                <a16:creationId xmlns:a16="http://schemas.microsoft.com/office/drawing/2014/main" id="{704CAE8B-86A9-C9E3-84F2-7D7EE788E288}"/>
              </a:ext>
            </a:extLst>
          </p:cNvPr>
          <p:cNvPicPr>
            <a:picLocks noChangeAspect="1"/>
          </p:cNvPicPr>
          <p:nvPr/>
        </p:nvPicPr>
        <p:blipFill rotWithShape="1">
          <a:blip r:embed="rId2"/>
          <a:srcRect l="50552" t="54668" r="29609" b="14254"/>
          <a:stretch/>
        </p:blipFill>
        <p:spPr>
          <a:xfrm>
            <a:off x="152400" y="380620"/>
            <a:ext cx="1176338" cy="1191624"/>
          </a:xfrm>
          <a:prstGeom prst="rect">
            <a:avLst/>
          </a:prstGeom>
        </p:spPr>
      </p:pic>
      <p:pic>
        <p:nvPicPr>
          <p:cNvPr id="5" name="Picture 4">
            <a:extLst>
              <a:ext uri="{FF2B5EF4-FFF2-40B4-BE49-F238E27FC236}">
                <a16:creationId xmlns:a16="http://schemas.microsoft.com/office/drawing/2014/main" id="{BAACE3EA-77A5-2739-A6A7-19BBFF2B33DF}"/>
              </a:ext>
            </a:extLst>
          </p:cNvPr>
          <p:cNvPicPr>
            <a:picLocks noChangeAspect="1"/>
          </p:cNvPicPr>
          <p:nvPr/>
        </p:nvPicPr>
        <p:blipFill>
          <a:blip r:embed="rId3"/>
          <a:stretch>
            <a:fillRect/>
          </a:stretch>
        </p:blipFill>
        <p:spPr>
          <a:xfrm>
            <a:off x="152400" y="1614696"/>
            <a:ext cx="6096000" cy="4572000"/>
          </a:xfrm>
          <a:prstGeom prst="rect">
            <a:avLst/>
          </a:prstGeom>
        </p:spPr>
      </p:pic>
      <p:pic>
        <p:nvPicPr>
          <p:cNvPr id="7" name="Picture 6">
            <a:extLst>
              <a:ext uri="{FF2B5EF4-FFF2-40B4-BE49-F238E27FC236}">
                <a16:creationId xmlns:a16="http://schemas.microsoft.com/office/drawing/2014/main" id="{C86E31F0-D5F8-84BD-0947-659B14855498}"/>
              </a:ext>
            </a:extLst>
          </p:cNvPr>
          <p:cNvPicPr>
            <a:picLocks noChangeAspect="1"/>
          </p:cNvPicPr>
          <p:nvPr/>
        </p:nvPicPr>
        <p:blipFill>
          <a:blip r:embed="rId4"/>
          <a:stretch>
            <a:fillRect/>
          </a:stretch>
        </p:blipFill>
        <p:spPr>
          <a:xfrm>
            <a:off x="5808133" y="1529792"/>
            <a:ext cx="6096000" cy="4572000"/>
          </a:xfrm>
          <a:prstGeom prst="rect">
            <a:avLst/>
          </a:prstGeom>
        </p:spPr>
      </p:pic>
      <p:sp>
        <p:nvSpPr>
          <p:cNvPr id="6" name="Oval 5">
            <a:extLst>
              <a:ext uri="{FF2B5EF4-FFF2-40B4-BE49-F238E27FC236}">
                <a16:creationId xmlns:a16="http://schemas.microsoft.com/office/drawing/2014/main" id="{E6B237AD-3B29-504D-A6A7-35343FE29138}"/>
              </a:ext>
            </a:extLst>
          </p:cNvPr>
          <p:cNvSpPr/>
          <p:nvPr/>
        </p:nvSpPr>
        <p:spPr>
          <a:xfrm>
            <a:off x="1077014" y="2542710"/>
            <a:ext cx="895786" cy="1647690"/>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C44FB2C-30AC-B6B9-EF9C-DE2CB4E34ABF}"/>
              </a:ext>
            </a:extLst>
          </p:cNvPr>
          <p:cNvSpPr txBox="1"/>
          <p:nvPr/>
        </p:nvSpPr>
        <p:spPr>
          <a:xfrm>
            <a:off x="2109014" y="2542710"/>
            <a:ext cx="1576800" cy="830997"/>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Weak/Null PFC</a:t>
            </a:r>
          </a:p>
        </p:txBody>
      </p:sp>
    </p:spTree>
    <p:extLst>
      <p:ext uri="{BB962C8B-B14F-4D97-AF65-F5344CB8AC3E}">
        <p14:creationId xmlns:p14="http://schemas.microsoft.com/office/powerpoint/2010/main" val="3840370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38">
            <a:extLst>
              <a:ext uri="{FF2B5EF4-FFF2-40B4-BE49-F238E27FC236}">
                <a16:creationId xmlns:a16="http://schemas.microsoft.com/office/drawing/2014/main" id="{CD782045-1A11-F3B0-3310-98ADC92F4E5F}"/>
              </a:ext>
            </a:extLst>
          </p:cNvPr>
          <p:cNvPicPr>
            <a:picLocks noChangeAspect="1"/>
          </p:cNvPicPr>
          <p:nvPr/>
        </p:nvPicPr>
        <p:blipFill>
          <a:blip r:embed="rId3"/>
          <a:stretch>
            <a:fillRect/>
          </a:stretch>
        </p:blipFill>
        <p:spPr>
          <a:xfrm>
            <a:off x="238543" y="1392149"/>
            <a:ext cx="6096000" cy="4572000"/>
          </a:xfrm>
          <a:prstGeom prst="rect">
            <a:avLst/>
          </a:prstGeom>
        </p:spPr>
      </p:pic>
      <p:sp>
        <p:nvSpPr>
          <p:cNvPr id="2" name="Title 1">
            <a:extLst>
              <a:ext uri="{FF2B5EF4-FFF2-40B4-BE49-F238E27FC236}">
                <a16:creationId xmlns:a16="http://schemas.microsoft.com/office/drawing/2014/main" id="{AD2BB550-A16C-6A35-B757-97EEF35FBAAF}"/>
              </a:ext>
            </a:extLst>
          </p:cNvPr>
          <p:cNvSpPr>
            <a:spLocks noGrp="1"/>
          </p:cNvSpPr>
          <p:nvPr>
            <p:ph type="title"/>
          </p:nvPr>
        </p:nvSpPr>
        <p:spPr>
          <a:xfrm>
            <a:off x="1515894" y="-37781"/>
            <a:ext cx="10515600" cy="980982"/>
          </a:xfrm>
        </p:spPr>
        <p:txBody>
          <a:bodyPr>
            <a:normAutofit/>
          </a:bodyPr>
          <a:lstStyle/>
          <a:p>
            <a:r>
              <a:rPr lang="en-US" sz="4000" dirty="0"/>
              <a:t>Result 2A/2B: Schema-object prediction error</a:t>
            </a:r>
          </a:p>
        </p:txBody>
      </p:sp>
      <p:sp>
        <p:nvSpPr>
          <p:cNvPr id="10" name="Oval 9">
            <a:extLst>
              <a:ext uri="{FF2B5EF4-FFF2-40B4-BE49-F238E27FC236}">
                <a16:creationId xmlns:a16="http://schemas.microsoft.com/office/drawing/2014/main" id="{D0A40B5E-B11E-4636-4978-77451EFA2F8D}"/>
              </a:ext>
            </a:extLst>
          </p:cNvPr>
          <p:cNvSpPr/>
          <p:nvPr/>
        </p:nvSpPr>
        <p:spPr>
          <a:xfrm>
            <a:off x="1099569" y="1971299"/>
            <a:ext cx="683172" cy="683172"/>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6ADFFBA-0D41-F469-9C89-DA39B5F54153}"/>
              </a:ext>
            </a:extLst>
          </p:cNvPr>
          <p:cNvSpPr txBox="1"/>
          <p:nvPr/>
        </p:nvSpPr>
        <p:spPr>
          <a:xfrm>
            <a:off x="1782741" y="2049234"/>
            <a:ext cx="971741"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LPFC</a:t>
            </a:r>
          </a:p>
        </p:txBody>
      </p:sp>
      <p:pic>
        <p:nvPicPr>
          <p:cNvPr id="17" name="Picture 16">
            <a:extLst>
              <a:ext uri="{FF2B5EF4-FFF2-40B4-BE49-F238E27FC236}">
                <a16:creationId xmlns:a16="http://schemas.microsoft.com/office/drawing/2014/main" id="{693B72B5-5973-5D12-0EBC-22A1DF85B360}"/>
              </a:ext>
            </a:extLst>
          </p:cNvPr>
          <p:cNvPicPr>
            <a:picLocks noChangeAspect="1"/>
          </p:cNvPicPr>
          <p:nvPr/>
        </p:nvPicPr>
        <p:blipFill rotWithShape="1">
          <a:blip r:embed="rId4"/>
          <a:srcRect l="50552" t="54668" r="29609" b="14254"/>
          <a:stretch/>
        </p:blipFill>
        <p:spPr>
          <a:xfrm>
            <a:off x="160506" y="329961"/>
            <a:ext cx="1176338" cy="1191624"/>
          </a:xfrm>
          <a:prstGeom prst="rect">
            <a:avLst/>
          </a:prstGeom>
        </p:spPr>
      </p:pic>
      <p:pic>
        <p:nvPicPr>
          <p:cNvPr id="41" name="Picture 40">
            <a:extLst>
              <a:ext uri="{FF2B5EF4-FFF2-40B4-BE49-F238E27FC236}">
                <a16:creationId xmlns:a16="http://schemas.microsoft.com/office/drawing/2014/main" id="{43F5E214-84F7-5DB4-CAC7-277AA064ACEC}"/>
              </a:ext>
            </a:extLst>
          </p:cNvPr>
          <p:cNvPicPr>
            <a:picLocks noChangeAspect="1"/>
          </p:cNvPicPr>
          <p:nvPr/>
        </p:nvPicPr>
        <p:blipFill rotWithShape="1">
          <a:blip r:embed="rId5"/>
          <a:srcRect t="13995" b="10380"/>
          <a:stretch/>
        </p:blipFill>
        <p:spPr>
          <a:xfrm>
            <a:off x="6231466" y="1392149"/>
            <a:ext cx="5249333" cy="4962288"/>
          </a:xfrm>
          <a:prstGeom prst="rect">
            <a:avLst/>
          </a:prstGeom>
        </p:spPr>
      </p:pic>
    </p:spTree>
    <p:extLst>
      <p:ext uri="{BB962C8B-B14F-4D97-AF65-F5344CB8AC3E}">
        <p14:creationId xmlns:p14="http://schemas.microsoft.com/office/powerpoint/2010/main" val="9329892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Picture 38">
            <a:extLst>
              <a:ext uri="{FF2B5EF4-FFF2-40B4-BE49-F238E27FC236}">
                <a16:creationId xmlns:a16="http://schemas.microsoft.com/office/drawing/2014/main" id="{CD782045-1A11-F3B0-3310-98ADC92F4E5F}"/>
              </a:ext>
            </a:extLst>
          </p:cNvPr>
          <p:cNvPicPr>
            <a:picLocks noChangeAspect="1"/>
          </p:cNvPicPr>
          <p:nvPr/>
        </p:nvPicPr>
        <p:blipFill>
          <a:blip r:embed="rId3"/>
          <a:stretch>
            <a:fillRect/>
          </a:stretch>
        </p:blipFill>
        <p:spPr>
          <a:xfrm>
            <a:off x="238543" y="1392149"/>
            <a:ext cx="6096000" cy="4572000"/>
          </a:xfrm>
          <a:prstGeom prst="rect">
            <a:avLst/>
          </a:prstGeom>
        </p:spPr>
      </p:pic>
      <p:sp>
        <p:nvSpPr>
          <p:cNvPr id="2" name="Title 1">
            <a:extLst>
              <a:ext uri="{FF2B5EF4-FFF2-40B4-BE49-F238E27FC236}">
                <a16:creationId xmlns:a16="http://schemas.microsoft.com/office/drawing/2014/main" id="{AD2BB550-A16C-6A35-B757-97EEF35FBAAF}"/>
              </a:ext>
            </a:extLst>
          </p:cNvPr>
          <p:cNvSpPr>
            <a:spLocks noGrp="1"/>
          </p:cNvSpPr>
          <p:nvPr>
            <p:ph type="title"/>
          </p:nvPr>
        </p:nvSpPr>
        <p:spPr>
          <a:xfrm>
            <a:off x="1515894" y="-37781"/>
            <a:ext cx="10515600" cy="980982"/>
          </a:xfrm>
        </p:spPr>
        <p:txBody>
          <a:bodyPr>
            <a:normAutofit/>
          </a:bodyPr>
          <a:lstStyle/>
          <a:p>
            <a:r>
              <a:rPr lang="en-US" sz="4000" dirty="0"/>
              <a:t>Result 2A/2B: Schema-object prediction error</a:t>
            </a:r>
          </a:p>
        </p:txBody>
      </p:sp>
      <p:sp>
        <p:nvSpPr>
          <p:cNvPr id="10" name="Oval 9">
            <a:extLst>
              <a:ext uri="{FF2B5EF4-FFF2-40B4-BE49-F238E27FC236}">
                <a16:creationId xmlns:a16="http://schemas.microsoft.com/office/drawing/2014/main" id="{D0A40B5E-B11E-4636-4978-77451EFA2F8D}"/>
              </a:ext>
            </a:extLst>
          </p:cNvPr>
          <p:cNvSpPr/>
          <p:nvPr/>
        </p:nvSpPr>
        <p:spPr>
          <a:xfrm>
            <a:off x="1099569" y="1971299"/>
            <a:ext cx="683172" cy="683172"/>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6ADFFBA-0D41-F469-9C89-DA39B5F54153}"/>
              </a:ext>
            </a:extLst>
          </p:cNvPr>
          <p:cNvSpPr txBox="1"/>
          <p:nvPr/>
        </p:nvSpPr>
        <p:spPr>
          <a:xfrm>
            <a:off x="1782741" y="2049234"/>
            <a:ext cx="971741"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LPFC</a:t>
            </a:r>
          </a:p>
        </p:txBody>
      </p:sp>
      <p:sp>
        <p:nvSpPr>
          <p:cNvPr id="12" name="Content Placeholder 2">
            <a:extLst>
              <a:ext uri="{FF2B5EF4-FFF2-40B4-BE49-F238E27FC236}">
                <a16:creationId xmlns:a16="http://schemas.microsoft.com/office/drawing/2014/main" id="{708F8071-8A66-374A-E2DF-E701505326F3}"/>
              </a:ext>
            </a:extLst>
          </p:cNvPr>
          <p:cNvSpPr>
            <a:spLocks noGrp="1"/>
          </p:cNvSpPr>
          <p:nvPr>
            <p:ph idx="1"/>
          </p:nvPr>
        </p:nvSpPr>
        <p:spPr>
          <a:xfrm>
            <a:off x="6066972" y="1218036"/>
            <a:ext cx="3851176" cy="5479290"/>
          </a:xfrm>
        </p:spPr>
        <p:txBody>
          <a:bodyPr>
            <a:normAutofit/>
          </a:bodyPr>
          <a:lstStyle/>
          <a:p>
            <a:r>
              <a:rPr lang="en-US" dirty="0"/>
              <a:t>Confirmed by an additional “macro-level” analysis focusing on the LPFC overall</a:t>
            </a:r>
          </a:p>
          <a:p>
            <a:pPr lvl="1"/>
            <a:r>
              <a:rPr lang="en-US" dirty="0"/>
              <a:t>Activation averaged by ROI</a:t>
            </a:r>
          </a:p>
          <a:p>
            <a:pPr lvl="2"/>
            <a:r>
              <a:rPr lang="en-US" dirty="0"/>
              <a:t>26 ROIs = 26-length vector</a:t>
            </a:r>
          </a:p>
          <a:p>
            <a:pPr lvl="2"/>
            <a:r>
              <a:rPr lang="en-US" dirty="0"/>
              <a:t>Submitted to RDM</a:t>
            </a:r>
          </a:p>
          <a:p>
            <a:pPr lvl="1"/>
            <a:r>
              <a:rPr lang="en-US" dirty="0"/>
              <a:t>Significant RSA effect </a:t>
            </a:r>
            <a:br>
              <a:rPr lang="en-US" dirty="0"/>
            </a:br>
            <a:r>
              <a:rPr lang="en-US" dirty="0"/>
              <a:t>(</a:t>
            </a:r>
            <a:r>
              <a:rPr lang="en-US" i="1" dirty="0"/>
              <a:t>t</a:t>
            </a:r>
            <a:r>
              <a:rPr lang="en-US" dirty="0"/>
              <a:t> = 2.1, </a:t>
            </a:r>
            <a:r>
              <a:rPr lang="en-US" i="1" dirty="0"/>
              <a:t>p </a:t>
            </a:r>
            <a:r>
              <a:rPr lang="en-US" dirty="0"/>
              <a:t>= .02)</a:t>
            </a:r>
          </a:p>
        </p:txBody>
      </p:sp>
      <p:pic>
        <p:nvPicPr>
          <p:cNvPr id="17" name="Picture 16">
            <a:extLst>
              <a:ext uri="{FF2B5EF4-FFF2-40B4-BE49-F238E27FC236}">
                <a16:creationId xmlns:a16="http://schemas.microsoft.com/office/drawing/2014/main" id="{693B72B5-5973-5D12-0EBC-22A1DF85B360}"/>
              </a:ext>
            </a:extLst>
          </p:cNvPr>
          <p:cNvPicPr>
            <a:picLocks noChangeAspect="1"/>
          </p:cNvPicPr>
          <p:nvPr/>
        </p:nvPicPr>
        <p:blipFill rotWithShape="1">
          <a:blip r:embed="rId4"/>
          <a:srcRect l="50552" t="54668" r="29609" b="14254"/>
          <a:stretch/>
        </p:blipFill>
        <p:spPr>
          <a:xfrm>
            <a:off x="160506" y="329961"/>
            <a:ext cx="1176338" cy="1191624"/>
          </a:xfrm>
          <a:prstGeom prst="rect">
            <a:avLst/>
          </a:prstGeom>
        </p:spPr>
      </p:pic>
      <p:sp>
        <p:nvSpPr>
          <p:cNvPr id="3" name="Rectangle 2">
            <a:extLst>
              <a:ext uri="{FF2B5EF4-FFF2-40B4-BE49-F238E27FC236}">
                <a16:creationId xmlns:a16="http://schemas.microsoft.com/office/drawing/2014/main" id="{3DAA3943-B517-E798-DA43-951207643A12}"/>
              </a:ext>
            </a:extLst>
          </p:cNvPr>
          <p:cNvSpPr/>
          <p:nvPr/>
        </p:nvSpPr>
        <p:spPr>
          <a:xfrm>
            <a:off x="10391030" y="2370188"/>
            <a:ext cx="189411" cy="18941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0EDA4999-7885-FF41-7720-BAF6464B9A64}"/>
              </a:ext>
            </a:extLst>
          </p:cNvPr>
          <p:cNvSpPr/>
          <p:nvPr/>
        </p:nvSpPr>
        <p:spPr>
          <a:xfrm>
            <a:off x="10391030" y="2569914"/>
            <a:ext cx="189411" cy="189411"/>
          </a:xfrm>
          <a:prstGeom prst="rect">
            <a:avLst/>
          </a:prstGeom>
          <a:solidFill>
            <a:schemeClr val="bg1">
              <a:lumMod val="6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3B7B5A0-4AAE-5DB2-AD4C-960553D74DA2}"/>
              </a:ext>
            </a:extLst>
          </p:cNvPr>
          <p:cNvSpPr/>
          <p:nvPr/>
        </p:nvSpPr>
        <p:spPr>
          <a:xfrm>
            <a:off x="10391030" y="2769640"/>
            <a:ext cx="189411" cy="18941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C3E06F8-2A2C-D0B8-0FC8-CD454576B8D9}"/>
              </a:ext>
            </a:extLst>
          </p:cNvPr>
          <p:cNvSpPr/>
          <p:nvPr/>
        </p:nvSpPr>
        <p:spPr>
          <a:xfrm>
            <a:off x="10391030" y="2969366"/>
            <a:ext cx="189411" cy="189411"/>
          </a:xfrm>
          <a:prstGeom prst="rect">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EF26C97-E041-0C7B-E355-2123F9D0B2E6}"/>
              </a:ext>
            </a:extLst>
          </p:cNvPr>
          <p:cNvSpPr/>
          <p:nvPr/>
        </p:nvSpPr>
        <p:spPr>
          <a:xfrm>
            <a:off x="10391030" y="3169092"/>
            <a:ext cx="189411" cy="18941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B294CCB-AD28-20F1-421F-79663BCBCCBB}"/>
              </a:ext>
            </a:extLst>
          </p:cNvPr>
          <p:cNvSpPr/>
          <p:nvPr/>
        </p:nvSpPr>
        <p:spPr>
          <a:xfrm>
            <a:off x="10391030" y="3368818"/>
            <a:ext cx="189411" cy="189411"/>
          </a:xfrm>
          <a:prstGeom prst="rect">
            <a:avLst/>
          </a:prstGeom>
          <a:solidFill>
            <a:srgbClr val="A6A6A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C54D1F4-2C80-8365-CD56-C3C22F7F2A87}"/>
              </a:ext>
            </a:extLst>
          </p:cNvPr>
          <p:cNvSpPr/>
          <p:nvPr/>
        </p:nvSpPr>
        <p:spPr>
          <a:xfrm>
            <a:off x="10391030" y="3568544"/>
            <a:ext cx="189411" cy="189411"/>
          </a:xfrm>
          <a:prstGeom prst="rect">
            <a:avLst/>
          </a:prstGeom>
          <a:solidFill>
            <a:schemeClr val="bg1">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428360C-98D8-9519-B6F9-17B7A0E69DC8}"/>
              </a:ext>
            </a:extLst>
          </p:cNvPr>
          <p:cNvSpPr/>
          <p:nvPr/>
        </p:nvSpPr>
        <p:spPr>
          <a:xfrm>
            <a:off x="10391030" y="3768270"/>
            <a:ext cx="189411" cy="18941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2211291-4412-9E28-84B0-9E669BE91AF8}"/>
              </a:ext>
            </a:extLst>
          </p:cNvPr>
          <p:cNvSpPr/>
          <p:nvPr/>
        </p:nvSpPr>
        <p:spPr>
          <a:xfrm>
            <a:off x="10391030" y="3967996"/>
            <a:ext cx="189411" cy="189411"/>
          </a:xfrm>
          <a:prstGeom prst="rect">
            <a:avLst/>
          </a:prstGeom>
          <a:solidFill>
            <a:schemeClr val="bg2">
              <a:lumMod val="2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60060388-B992-6D1D-B1D0-06ACBDDAF1E5}"/>
              </a:ext>
            </a:extLst>
          </p:cNvPr>
          <p:cNvSpPr/>
          <p:nvPr/>
        </p:nvSpPr>
        <p:spPr>
          <a:xfrm>
            <a:off x="10391030" y="4167722"/>
            <a:ext cx="189411" cy="189411"/>
          </a:xfrm>
          <a:prstGeom prst="rect">
            <a:avLst/>
          </a:prstGeom>
          <a:solidFill>
            <a:schemeClr val="bg1">
              <a:lumMod val="6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67BC739-1C77-0A15-A368-C865B3483F69}"/>
              </a:ext>
            </a:extLst>
          </p:cNvPr>
          <p:cNvSpPr/>
          <p:nvPr/>
        </p:nvSpPr>
        <p:spPr>
          <a:xfrm>
            <a:off x="10391030" y="4367448"/>
            <a:ext cx="189411" cy="18941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1DEF091-104B-2B8F-2FEC-8CB21E108C53}"/>
              </a:ext>
            </a:extLst>
          </p:cNvPr>
          <p:cNvSpPr/>
          <p:nvPr/>
        </p:nvSpPr>
        <p:spPr>
          <a:xfrm>
            <a:off x="10391030" y="4567174"/>
            <a:ext cx="189411" cy="18941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7F48757A-4822-9336-8F58-3F7A86CE5303}"/>
              </a:ext>
            </a:extLst>
          </p:cNvPr>
          <p:cNvSpPr/>
          <p:nvPr/>
        </p:nvSpPr>
        <p:spPr>
          <a:xfrm>
            <a:off x="10391030" y="4766900"/>
            <a:ext cx="189411" cy="189411"/>
          </a:xfrm>
          <a:prstGeom prst="rect">
            <a:avLst/>
          </a:prstGeom>
          <a:solidFill>
            <a:schemeClr val="bg1">
              <a:lumMod val="6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BD1C81F0-1437-A4E1-21EE-6EAD1C0266DB}"/>
              </a:ext>
            </a:extLst>
          </p:cNvPr>
          <p:cNvSpPr/>
          <p:nvPr/>
        </p:nvSpPr>
        <p:spPr>
          <a:xfrm>
            <a:off x="10391030" y="4966626"/>
            <a:ext cx="189411" cy="189411"/>
          </a:xfrm>
          <a:prstGeom prst="rect">
            <a:avLst/>
          </a:pr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E8190D8-9990-AA84-64C6-FC5E2263AB9C}"/>
              </a:ext>
            </a:extLst>
          </p:cNvPr>
          <p:cNvSpPr/>
          <p:nvPr/>
        </p:nvSpPr>
        <p:spPr>
          <a:xfrm>
            <a:off x="10391030" y="5166352"/>
            <a:ext cx="189411" cy="189411"/>
          </a:xfrm>
          <a:prstGeom prst="rect">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6D357D43-C4FD-5A97-3597-A83982C2535D}"/>
              </a:ext>
            </a:extLst>
          </p:cNvPr>
          <p:cNvSpPr/>
          <p:nvPr/>
        </p:nvSpPr>
        <p:spPr>
          <a:xfrm>
            <a:off x="10391030" y="5366078"/>
            <a:ext cx="189411" cy="189411"/>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B697EE0-0379-6529-A5FF-5DA81BCE46B8}"/>
              </a:ext>
            </a:extLst>
          </p:cNvPr>
          <p:cNvSpPr/>
          <p:nvPr/>
        </p:nvSpPr>
        <p:spPr>
          <a:xfrm>
            <a:off x="10391030" y="5565804"/>
            <a:ext cx="189411" cy="189411"/>
          </a:xfrm>
          <a:prstGeom prst="rect">
            <a:avLst/>
          </a:prstGeom>
          <a:solidFill>
            <a:srgbClr val="A6A6A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8816B0DF-5970-D5EC-175F-2C0613730EED}"/>
              </a:ext>
            </a:extLst>
          </p:cNvPr>
          <p:cNvSpPr/>
          <p:nvPr/>
        </p:nvSpPr>
        <p:spPr>
          <a:xfrm>
            <a:off x="10391030" y="5765534"/>
            <a:ext cx="189411" cy="189411"/>
          </a:xfrm>
          <a:prstGeom prst="rect">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ight Brace 27">
            <a:extLst>
              <a:ext uri="{FF2B5EF4-FFF2-40B4-BE49-F238E27FC236}">
                <a16:creationId xmlns:a16="http://schemas.microsoft.com/office/drawing/2014/main" id="{4866AC9D-920C-F410-DE1B-BA767E44B525}"/>
              </a:ext>
            </a:extLst>
          </p:cNvPr>
          <p:cNvSpPr/>
          <p:nvPr/>
        </p:nvSpPr>
        <p:spPr>
          <a:xfrm>
            <a:off x="10942065" y="2403192"/>
            <a:ext cx="312792" cy="1167994"/>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Right Brace 28">
            <a:extLst>
              <a:ext uri="{FF2B5EF4-FFF2-40B4-BE49-F238E27FC236}">
                <a16:creationId xmlns:a16="http://schemas.microsoft.com/office/drawing/2014/main" id="{4F636BE4-FC78-DE52-ECE7-B0F7A837C498}"/>
              </a:ext>
            </a:extLst>
          </p:cNvPr>
          <p:cNvSpPr/>
          <p:nvPr/>
        </p:nvSpPr>
        <p:spPr>
          <a:xfrm>
            <a:off x="10942065" y="3595592"/>
            <a:ext cx="312792" cy="1167994"/>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0" name="Right Brace 29">
            <a:extLst>
              <a:ext uri="{FF2B5EF4-FFF2-40B4-BE49-F238E27FC236}">
                <a16:creationId xmlns:a16="http://schemas.microsoft.com/office/drawing/2014/main" id="{9E511F93-9368-8305-9D15-BF9FE84D2FEF}"/>
              </a:ext>
            </a:extLst>
          </p:cNvPr>
          <p:cNvSpPr/>
          <p:nvPr/>
        </p:nvSpPr>
        <p:spPr>
          <a:xfrm>
            <a:off x="10942065" y="4782936"/>
            <a:ext cx="312792" cy="1167994"/>
          </a:xfrm>
          <a:prstGeom prst="righ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1" name="Rectangle 30">
            <a:extLst>
              <a:ext uri="{FF2B5EF4-FFF2-40B4-BE49-F238E27FC236}">
                <a16:creationId xmlns:a16="http://schemas.microsoft.com/office/drawing/2014/main" id="{BF202A34-B13C-C16B-E528-391968B2EE2C}"/>
              </a:ext>
            </a:extLst>
          </p:cNvPr>
          <p:cNvSpPr/>
          <p:nvPr/>
        </p:nvSpPr>
        <p:spPr>
          <a:xfrm>
            <a:off x="11466704" y="2817373"/>
            <a:ext cx="370640" cy="370640"/>
          </a:xfrm>
          <a:prstGeom prst="rect">
            <a:avLst/>
          </a:prstGeom>
          <a:solidFill>
            <a:schemeClr val="bg2">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432F9CF1-642F-C362-BB78-28A6E2C9A967}"/>
              </a:ext>
            </a:extLst>
          </p:cNvPr>
          <p:cNvSpPr/>
          <p:nvPr/>
        </p:nvSpPr>
        <p:spPr>
          <a:xfrm>
            <a:off x="11466704" y="4018416"/>
            <a:ext cx="370640" cy="37064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1AC8F4BC-4DDA-B974-F2C3-6C30046CB7F8}"/>
              </a:ext>
            </a:extLst>
          </p:cNvPr>
          <p:cNvSpPr/>
          <p:nvPr/>
        </p:nvSpPr>
        <p:spPr>
          <a:xfrm>
            <a:off x="11466704" y="5198781"/>
            <a:ext cx="370640" cy="370640"/>
          </a:xfrm>
          <a:prstGeom prst="rect">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27ABD2D0-021A-9406-0EBF-DF02F4780444}"/>
              </a:ext>
            </a:extLst>
          </p:cNvPr>
          <p:cNvSpPr txBox="1"/>
          <p:nvPr/>
        </p:nvSpPr>
        <p:spPr>
          <a:xfrm>
            <a:off x="9987381" y="1370480"/>
            <a:ext cx="1120820" cy="646331"/>
          </a:xfrm>
          <a:prstGeom prst="rect">
            <a:avLst/>
          </a:prstGeom>
          <a:noFill/>
        </p:spPr>
        <p:txBody>
          <a:bodyPr wrap="none" rtlCol="0">
            <a:spAutoFit/>
          </a:bodyPr>
          <a:lstStyle/>
          <a:p>
            <a:pPr algn="ctr"/>
            <a:r>
              <a:rPr lang="en-US" sz="2000" dirty="0">
                <a:latin typeface="Arial" panose="020B0604020202020204" pitchFamily="34" charset="0"/>
                <a:cs typeface="Arial" panose="020B0604020202020204" pitchFamily="34" charset="0"/>
              </a:rPr>
              <a:t>“Micro”</a:t>
            </a:r>
          </a:p>
          <a:p>
            <a:pPr algn="ctr"/>
            <a:r>
              <a:rPr lang="en-US" sz="1600" dirty="0">
                <a:latin typeface="Arial" panose="020B0604020202020204" pitchFamily="34" charset="0"/>
                <a:cs typeface="Arial" panose="020B0604020202020204" pitchFamily="34" charset="0"/>
              </a:rPr>
              <a:t>(standard)</a:t>
            </a:r>
          </a:p>
        </p:txBody>
      </p:sp>
      <p:sp>
        <p:nvSpPr>
          <p:cNvPr id="37" name="TextBox 36">
            <a:extLst>
              <a:ext uri="{FF2B5EF4-FFF2-40B4-BE49-F238E27FC236}">
                <a16:creationId xmlns:a16="http://schemas.microsoft.com/office/drawing/2014/main" id="{1CED383B-1366-70A9-0DC1-B52EF1FDD611}"/>
              </a:ext>
            </a:extLst>
          </p:cNvPr>
          <p:cNvSpPr txBox="1"/>
          <p:nvPr/>
        </p:nvSpPr>
        <p:spPr>
          <a:xfrm>
            <a:off x="11026258" y="1370480"/>
            <a:ext cx="1066319" cy="707886"/>
          </a:xfrm>
          <a:prstGeom prst="rect">
            <a:avLst/>
          </a:prstGeom>
          <a:noFill/>
        </p:spPr>
        <p:txBody>
          <a:bodyPr wrap="none" rtlCol="0">
            <a:spAutoFit/>
          </a:bodyPr>
          <a:lstStyle/>
          <a:p>
            <a:pPr algn="ctr"/>
            <a:r>
              <a:rPr lang="en-US" sz="2000" dirty="0">
                <a:latin typeface="Arial" panose="020B0604020202020204" pitchFamily="34" charset="0"/>
                <a:cs typeface="Arial" panose="020B0604020202020204" pitchFamily="34" charset="0"/>
              </a:rPr>
              <a:t>“Macro”</a:t>
            </a:r>
          </a:p>
          <a:p>
            <a:pPr algn="ct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08149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5E760-A46A-F959-E420-A54C3033C857}"/>
              </a:ext>
            </a:extLst>
          </p:cNvPr>
          <p:cNvSpPr>
            <a:spLocks noGrp="1"/>
          </p:cNvSpPr>
          <p:nvPr>
            <p:ph type="title"/>
          </p:nvPr>
        </p:nvSpPr>
        <p:spPr>
          <a:xfrm>
            <a:off x="838200" y="337344"/>
            <a:ext cx="10515600" cy="1325563"/>
          </a:xfrm>
        </p:spPr>
        <p:txBody>
          <a:bodyPr/>
          <a:lstStyle/>
          <a:p>
            <a:r>
              <a:rPr lang="en-US" dirty="0"/>
              <a:t>Result 2C: Connectivity: Activity x IRAF</a:t>
            </a:r>
          </a:p>
        </p:txBody>
      </p:sp>
      <p:sp>
        <p:nvSpPr>
          <p:cNvPr id="3" name="Content Placeholder 2">
            <a:extLst>
              <a:ext uri="{FF2B5EF4-FFF2-40B4-BE49-F238E27FC236}">
                <a16:creationId xmlns:a16="http://schemas.microsoft.com/office/drawing/2014/main" id="{D902870E-25E1-7272-892B-16761148BDB1}"/>
              </a:ext>
            </a:extLst>
          </p:cNvPr>
          <p:cNvSpPr>
            <a:spLocks noGrp="1"/>
          </p:cNvSpPr>
          <p:nvPr>
            <p:ph idx="1"/>
          </p:nvPr>
        </p:nvSpPr>
        <p:spPr>
          <a:xfrm>
            <a:off x="1014412" y="1931245"/>
            <a:ext cx="10163175" cy="3563621"/>
          </a:xfrm>
        </p:spPr>
        <p:txBody>
          <a:bodyPr>
            <a:normAutofit/>
          </a:bodyPr>
          <a:lstStyle/>
          <a:p>
            <a:r>
              <a:rPr lang="en-US" dirty="0"/>
              <a:t>Related to the </a:t>
            </a:r>
            <a:r>
              <a:rPr lang="en-US" u="sng" dirty="0"/>
              <a:t>linking</a:t>
            </a:r>
            <a:r>
              <a:rPr lang="en-US" dirty="0"/>
              <a:t> and </a:t>
            </a:r>
            <a:r>
              <a:rPr lang="en-US" u="sng" dirty="0"/>
              <a:t>boosting</a:t>
            </a:r>
            <a:r>
              <a:rPr lang="en-US" dirty="0"/>
              <a:t> points made in the grant/papers</a:t>
            </a:r>
          </a:p>
          <a:p>
            <a:r>
              <a:rPr lang="en-US" dirty="0"/>
              <a:t>Correlate:</a:t>
            </a:r>
          </a:p>
          <a:p>
            <a:pPr lvl="1"/>
            <a:r>
              <a:rPr lang="en-US" dirty="0"/>
              <a:t>Region A: Mean connectivity across all voxels for a given trial</a:t>
            </a:r>
          </a:p>
          <a:p>
            <a:pPr lvl="1"/>
            <a:r>
              <a:rPr lang="en-US" dirty="0"/>
              <a:t>Region B: IRAF</a:t>
            </a:r>
          </a:p>
          <a:p>
            <a:pPr lvl="1"/>
            <a:r>
              <a:rPr lang="en-US" dirty="0"/>
              <a:t>Note: A x B ≠ B x A</a:t>
            </a:r>
          </a:p>
          <a:p>
            <a:pPr lvl="1"/>
            <a:r>
              <a:rPr lang="en-US" dirty="0"/>
              <a:t>Test if significantly above zero</a:t>
            </a:r>
          </a:p>
          <a:p>
            <a:pPr marL="457200" lvl="1" indent="0">
              <a:buNone/>
            </a:pPr>
            <a:endParaRPr lang="en-US" dirty="0"/>
          </a:p>
          <a:p>
            <a:endParaRPr lang="en-US" dirty="0"/>
          </a:p>
        </p:txBody>
      </p:sp>
    </p:spTree>
    <p:extLst>
      <p:ext uri="{BB962C8B-B14F-4D97-AF65-F5344CB8AC3E}">
        <p14:creationId xmlns:p14="http://schemas.microsoft.com/office/powerpoint/2010/main" val="32089903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B29DEDC-F195-6221-9B64-2635EFD0A247}"/>
              </a:ext>
            </a:extLst>
          </p:cNvPr>
          <p:cNvPicPr>
            <a:picLocks noChangeAspect="1"/>
          </p:cNvPicPr>
          <p:nvPr/>
        </p:nvPicPr>
        <p:blipFill>
          <a:blip r:embed="rId3"/>
          <a:stretch>
            <a:fillRect/>
          </a:stretch>
        </p:blipFill>
        <p:spPr>
          <a:xfrm>
            <a:off x="5581794" y="1125534"/>
            <a:ext cx="5705475" cy="5705475"/>
          </a:xfrm>
          <a:prstGeom prst="rect">
            <a:avLst/>
          </a:prstGeom>
        </p:spPr>
      </p:pic>
      <p:sp>
        <p:nvSpPr>
          <p:cNvPr id="2" name="Title 1">
            <a:extLst>
              <a:ext uri="{FF2B5EF4-FFF2-40B4-BE49-F238E27FC236}">
                <a16:creationId xmlns:a16="http://schemas.microsoft.com/office/drawing/2014/main" id="{F0AD4DE0-0B64-9F84-DFE1-D26E4A71B11F}"/>
              </a:ext>
            </a:extLst>
          </p:cNvPr>
          <p:cNvSpPr>
            <a:spLocks noGrp="1"/>
          </p:cNvSpPr>
          <p:nvPr>
            <p:ph type="title"/>
          </p:nvPr>
        </p:nvSpPr>
        <p:spPr>
          <a:xfrm>
            <a:off x="1317794" y="365126"/>
            <a:ext cx="10732750" cy="917856"/>
          </a:xfrm>
        </p:spPr>
        <p:txBody>
          <a:bodyPr/>
          <a:lstStyle/>
          <a:p>
            <a:r>
              <a:rPr lang="en-US" dirty="0"/>
              <a:t>Result 2C: Difference RSA x connectivity</a:t>
            </a:r>
          </a:p>
        </p:txBody>
      </p:sp>
      <p:sp>
        <p:nvSpPr>
          <p:cNvPr id="3" name="Content Placeholder 2">
            <a:extLst>
              <a:ext uri="{FF2B5EF4-FFF2-40B4-BE49-F238E27FC236}">
                <a16:creationId xmlns:a16="http://schemas.microsoft.com/office/drawing/2014/main" id="{FDD3875F-37A6-A015-3CEF-182AC00EA051}"/>
              </a:ext>
            </a:extLst>
          </p:cNvPr>
          <p:cNvSpPr>
            <a:spLocks noGrp="1"/>
          </p:cNvSpPr>
          <p:nvPr>
            <p:ph idx="1"/>
          </p:nvPr>
        </p:nvSpPr>
        <p:spPr>
          <a:xfrm>
            <a:off x="852343" y="1874841"/>
            <a:ext cx="4410075" cy="4829174"/>
          </a:xfrm>
        </p:spPr>
        <p:txBody>
          <a:bodyPr>
            <a:normAutofit/>
          </a:bodyPr>
          <a:lstStyle/>
          <a:p>
            <a:r>
              <a:rPr lang="en-US" dirty="0"/>
              <a:t>Occipital lobe and fusiform gyrus shows abs-</a:t>
            </a:r>
            <a:r>
              <a:rPr lang="en-US" dirty="0" err="1"/>
              <a:t>dif</a:t>
            </a:r>
            <a:r>
              <a:rPr lang="en-US" dirty="0"/>
              <a:t> effect, if LPFC activity is high</a:t>
            </a:r>
          </a:p>
          <a:p>
            <a:r>
              <a:rPr lang="en-US" dirty="0"/>
              <a:t>Top-down modulation?</a:t>
            </a:r>
          </a:p>
        </p:txBody>
      </p:sp>
      <p:sp>
        <p:nvSpPr>
          <p:cNvPr id="6" name="Oval 5">
            <a:extLst>
              <a:ext uri="{FF2B5EF4-FFF2-40B4-BE49-F238E27FC236}">
                <a16:creationId xmlns:a16="http://schemas.microsoft.com/office/drawing/2014/main" id="{321F282F-4487-41A6-34D1-6A14B4EE86FB}"/>
              </a:ext>
            </a:extLst>
          </p:cNvPr>
          <p:cNvSpPr/>
          <p:nvPr/>
        </p:nvSpPr>
        <p:spPr>
          <a:xfrm>
            <a:off x="6355888" y="2847100"/>
            <a:ext cx="431839" cy="431839"/>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67D4D20B-C54B-1338-D7E9-F541444E673F}"/>
              </a:ext>
            </a:extLst>
          </p:cNvPr>
          <p:cNvPicPr>
            <a:picLocks noChangeAspect="1"/>
          </p:cNvPicPr>
          <p:nvPr/>
        </p:nvPicPr>
        <p:blipFill rotWithShape="1">
          <a:blip r:embed="rId4"/>
          <a:srcRect l="50552" t="54668" r="29609" b="14254"/>
          <a:stretch/>
        </p:blipFill>
        <p:spPr>
          <a:xfrm>
            <a:off x="141456" y="365126"/>
            <a:ext cx="1176338" cy="1191624"/>
          </a:xfrm>
          <a:prstGeom prst="rect">
            <a:avLst/>
          </a:prstGeom>
        </p:spPr>
      </p:pic>
      <p:sp>
        <p:nvSpPr>
          <p:cNvPr id="11" name="Oval 10">
            <a:extLst>
              <a:ext uri="{FF2B5EF4-FFF2-40B4-BE49-F238E27FC236}">
                <a16:creationId xmlns:a16="http://schemas.microsoft.com/office/drawing/2014/main" id="{EA27ECAF-5989-AB68-FE99-B4BDBA95F35B}"/>
              </a:ext>
            </a:extLst>
          </p:cNvPr>
          <p:cNvSpPr/>
          <p:nvPr/>
        </p:nvSpPr>
        <p:spPr>
          <a:xfrm>
            <a:off x="6283259" y="2468407"/>
            <a:ext cx="612841" cy="246218"/>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998050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6F21A-D328-737B-EE4A-CE020E801A6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6B4BAEB-AF6C-95AE-1F60-6A949D1508F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9495237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1616F-448C-25B8-3907-B941FB3687B5}"/>
              </a:ext>
            </a:extLst>
          </p:cNvPr>
          <p:cNvSpPr>
            <a:spLocks noGrp="1"/>
          </p:cNvSpPr>
          <p:nvPr>
            <p:ph type="title"/>
          </p:nvPr>
        </p:nvSpPr>
        <p:spPr/>
        <p:txBody>
          <a:bodyPr/>
          <a:lstStyle/>
          <a:p>
            <a:r>
              <a:rPr lang="en-US" dirty="0"/>
              <a:t>Result 3A: Prediction error IRAF predicts subsequent memory</a:t>
            </a:r>
          </a:p>
        </p:txBody>
      </p:sp>
      <p:sp>
        <p:nvSpPr>
          <p:cNvPr id="3" name="Content Placeholder 2">
            <a:extLst>
              <a:ext uri="{FF2B5EF4-FFF2-40B4-BE49-F238E27FC236}">
                <a16:creationId xmlns:a16="http://schemas.microsoft.com/office/drawing/2014/main" id="{13279230-98CE-5856-FBD3-4D47056CE036}"/>
              </a:ext>
            </a:extLst>
          </p:cNvPr>
          <p:cNvSpPr>
            <a:spLocks noGrp="1"/>
          </p:cNvSpPr>
          <p:nvPr>
            <p:ph idx="1"/>
          </p:nvPr>
        </p:nvSpPr>
        <p:spPr/>
        <p:txBody>
          <a:bodyPr/>
          <a:lstStyle/>
          <a:p>
            <a:r>
              <a:rPr lang="en-US" dirty="0"/>
              <a:t>LPFC abs-</a:t>
            </a:r>
            <a:r>
              <a:rPr lang="en-US" dirty="0" err="1"/>
              <a:t>dif</a:t>
            </a:r>
            <a:r>
              <a:rPr lang="en-US" dirty="0"/>
              <a:t> IRAF predicts subsequent memory</a:t>
            </a:r>
          </a:p>
          <a:p>
            <a:endParaRPr lang="en-US" dirty="0"/>
          </a:p>
        </p:txBody>
      </p:sp>
    </p:spTree>
    <p:extLst>
      <p:ext uri="{BB962C8B-B14F-4D97-AF65-F5344CB8AC3E}">
        <p14:creationId xmlns:p14="http://schemas.microsoft.com/office/powerpoint/2010/main" val="23124534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9F17E-1EE9-B525-4301-3DCC345C13A5}"/>
              </a:ext>
            </a:extLst>
          </p:cNvPr>
          <p:cNvSpPr>
            <a:spLocks noGrp="1"/>
          </p:cNvSpPr>
          <p:nvPr>
            <p:ph type="title"/>
          </p:nvPr>
        </p:nvSpPr>
        <p:spPr>
          <a:xfrm>
            <a:off x="747295" y="171322"/>
            <a:ext cx="10515600" cy="1325563"/>
          </a:xfrm>
        </p:spPr>
        <p:txBody>
          <a:bodyPr/>
          <a:lstStyle/>
          <a:p>
            <a:r>
              <a:rPr lang="en-US" dirty="0"/>
              <a:t>Result 3B: Retrieval retrieves scene representation</a:t>
            </a:r>
          </a:p>
        </p:txBody>
      </p:sp>
      <p:sp>
        <p:nvSpPr>
          <p:cNvPr id="3" name="Content Placeholder 2">
            <a:extLst>
              <a:ext uri="{FF2B5EF4-FFF2-40B4-BE49-F238E27FC236}">
                <a16:creationId xmlns:a16="http://schemas.microsoft.com/office/drawing/2014/main" id="{668F6187-0D0D-5642-D562-823A0E31D30B}"/>
              </a:ext>
            </a:extLst>
          </p:cNvPr>
          <p:cNvSpPr>
            <a:spLocks noGrp="1"/>
          </p:cNvSpPr>
          <p:nvPr>
            <p:ph idx="1"/>
          </p:nvPr>
        </p:nvSpPr>
        <p:spPr>
          <a:xfrm>
            <a:off x="853440" y="1570037"/>
            <a:ext cx="5010912" cy="511175"/>
          </a:xfrm>
        </p:spPr>
        <p:txBody>
          <a:bodyPr>
            <a:normAutofit/>
          </a:bodyPr>
          <a:lstStyle/>
          <a:p>
            <a:pPr marL="0" indent="0" algn="ctr">
              <a:buNone/>
            </a:pPr>
            <a:r>
              <a:rPr lang="en-US" dirty="0"/>
              <a:t>Conceptual task: Scene RSA</a:t>
            </a:r>
          </a:p>
        </p:txBody>
      </p:sp>
      <p:pic>
        <p:nvPicPr>
          <p:cNvPr id="5" name="Picture 4">
            <a:extLst>
              <a:ext uri="{FF2B5EF4-FFF2-40B4-BE49-F238E27FC236}">
                <a16:creationId xmlns:a16="http://schemas.microsoft.com/office/drawing/2014/main" id="{00FA69BD-9E42-5222-0C2C-937DB1373C08}"/>
              </a:ext>
            </a:extLst>
          </p:cNvPr>
          <p:cNvPicPr>
            <a:picLocks noChangeAspect="1"/>
          </p:cNvPicPr>
          <p:nvPr/>
        </p:nvPicPr>
        <p:blipFill>
          <a:blip r:embed="rId2"/>
          <a:stretch>
            <a:fillRect/>
          </a:stretch>
        </p:blipFill>
        <p:spPr>
          <a:xfrm>
            <a:off x="255337" y="2081212"/>
            <a:ext cx="6096000" cy="4572000"/>
          </a:xfrm>
          <a:prstGeom prst="rect">
            <a:avLst/>
          </a:prstGeom>
        </p:spPr>
      </p:pic>
      <p:pic>
        <p:nvPicPr>
          <p:cNvPr id="7" name="Picture 6">
            <a:extLst>
              <a:ext uri="{FF2B5EF4-FFF2-40B4-BE49-F238E27FC236}">
                <a16:creationId xmlns:a16="http://schemas.microsoft.com/office/drawing/2014/main" id="{77E18CFB-C6FA-34D4-42FE-130C4593A23A}"/>
              </a:ext>
            </a:extLst>
          </p:cNvPr>
          <p:cNvPicPr>
            <a:picLocks noChangeAspect="1"/>
          </p:cNvPicPr>
          <p:nvPr/>
        </p:nvPicPr>
        <p:blipFill>
          <a:blip r:embed="rId3"/>
          <a:stretch>
            <a:fillRect/>
          </a:stretch>
        </p:blipFill>
        <p:spPr>
          <a:xfrm>
            <a:off x="6132095" y="2081212"/>
            <a:ext cx="6096000" cy="4572000"/>
          </a:xfrm>
          <a:prstGeom prst="rect">
            <a:avLst/>
          </a:prstGeom>
        </p:spPr>
      </p:pic>
      <p:sp>
        <p:nvSpPr>
          <p:cNvPr id="8" name="Content Placeholder 2">
            <a:extLst>
              <a:ext uri="{FF2B5EF4-FFF2-40B4-BE49-F238E27FC236}">
                <a16:creationId xmlns:a16="http://schemas.microsoft.com/office/drawing/2014/main" id="{B2CF343B-3C57-D3F3-CCA6-72F01CB3559D}"/>
              </a:ext>
            </a:extLst>
          </p:cNvPr>
          <p:cNvSpPr txBox="1">
            <a:spLocks/>
          </p:cNvSpPr>
          <p:nvPr/>
        </p:nvSpPr>
        <p:spPr>
          <a:xfrm>
            <a:off x="6843295" y="1570037"/>
            <a:ext cx="4673600" cy="5111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t>Visual task: Scene RSA</a:t>
            </a:r>
          </a:p>
        </p:txBody>
      </p:sp>
      <p:sp>
        <p:nvSpPr>
          <p:cNvPr id="4" name="Oval 3">
            <a:extLst>
              <a:ext uri="{FF2B5EF4-FFF2-40B4-BE49-F238E27FC236}">
                <a16:creationId xmlns:a16="http://schemas.microsoft.com/office/drawing/2014/main" id="{A2233BFB-F0F2-E157-60C0-BBDD828C00E8}"/>
              </a:ext>
            </a:extLst>
          </p:cNvPr>
          <p:cNvSpPr/>
          <p:nvPr/>
        </p:nvSpPr>
        <p:spPr>
          <a:xfrm>
            <a:off x="972570" y="2575453"/>
            <a:ext cx="683172" cy="683172"/>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F364ED2-281E-2BD2-0358-380216403FD9}"/>
              </a:ext>
            </a:extLst>
          </p:cNvPr>
          <p:cNvSpPr/>
          <p:nvPr/>
        </p:nvSpPr>
        <p:spPr>
          <a:xfrm>
            <a:off x="6941570" y="2456920"/>
            <a:ext cx="683172" cy="683172"/>
          </a:xfrm>
          <a:prstGeom prst="ellips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77066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Other things</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3365999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7B240-D4F8-A9DA-EFDD-DABDD50629F3}"/>
              </a:ext>
            </a:extLst>
          </p:cNvPr>
          <p:cNvSpPr>
            <a:spLocks noGrp="1"/>
          </p:cNvSpPr>
          <p:nvPr>
            <p:ph type="title"/>
          </p:nvPr>
        </p:nvSpPr>
        <p:spPr/>
        <p:txBody>
          <a:bodyPr/>
          <a:lstStyle/>
          <a:p>
            <a:r>
              <a:rPr lang="en-US" dirty="0"/>
              <a:t>Something cool</a:t>
            </a:r>
          </a:p>
        </p:txBody>
      </p:sp>
      <p:sp>
        <p:nvSpPr>
          <p:cNvPr id="3" name="Content Placeholder 2">
            <a:extLst>
              <a:ext uri="{FF2B5EF4-FFF2-40B4-BE49-F238E27FC236}">
                <a16:creationId xmlns:a16="http://schemas.microsoft.com/office/drawing/2014/main" id="{05AB0A88-0DEA-1F94-A929-BE33CEB048D6}"/>
              </a:ext>
            </a:extLst>
          </p:cNvPr>
          <p:cNvSpPr>
            <a:spLocks noGrp="1"/>
          </p:cNvSpPr>
          <p:nvPr>
            <p:ph idx="1"/>
          </p:nvPr>
        </p:nvSpPr>
        <p:spPr>
          <a:xfrm>
            <a:off x="838200" y="1825625"/>
            <a:ext cx="4784387" cy="4351338"/>
          </a:xfrm>
        </p:spPr>
        <p:txBody>
          <a:bodyPr/>
          <a:lstStyle/>
          <a:p>
            <a:r>
              <a:rPr lang="en-US" dirty="0"/>
              <a:t>Strong hippocampal representation during baseline -&gt; stronger representation during conceptual retrieval</a:t>
            </a:r>
          </a:p>
        </p:txBody>
      </p:sp>
      <p:pic>
        <p:nvPicPr>
          <p:cNvPr id="11" name="Picture 10">
            <a:extLst>
              <a:ext uri="{FF2B5EF4-FFF2-40B4-BE49-F238E27FC236}">
                <a16:creationId xmlns:a16="http://schemas.microsoft.com/office/drawing/2014/main" id="{87CF6E2C-1F7D-045A-FDB0-500846A0EAA4}"/>
              </a:ext>
            </a:extLst>
          </p:cNvPr>
          <p:cNvPicPr>
            <a:picLocks noChangeAspect="1"/>
          </p:cNvPicPr>
          <p:nvPr/>
        </p:nvPicPr>
        <p:blipFill>
          <a:blip r:embed="rId2"/>
          <a:stretch>
            <a:fillRect/>
          </a:stretch>
        </p:blipFill>
        <p:spPr>
          <a:xfrm>
            <a:off x="5835183" y="1531224"/>
            <a:ext cx="5696745" cy="5134692"/>
          </a:xfrm>
          <a:prstGeom prst="rect">
            <a:avLst/>
          </a:prstGeom>
        </p:spPr>
      </p:pic>
    </p:spTree>
    <p:extLst>
      <p:ext uri="{BB962C8B-B14F-4D97-AF65-F5344CB8AC3E}">
        <p14:creationId xmlns:p14="http://schemas.microsoft.com/office/powerpoint/2010/main" val="28223525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356F6-E6CA-E70B-1743-FFFE221C455C}"/>
              </a:ext>
            </a:extLst>
          </p:cNvPr>
          <p:cNvSpPr>
            <a:spLocks noGrp="1"/>
          </p:cNvSpPr>
          <p:nvPr>
            <p:ph type="title"/>
          </p:nvPr>
        </p:nvSpPr>
        <p:spPr/>
        <p:txBody>
          <a:bodyPr>
            <a:normAutofit/>
          </a:bodyPr>
          <a:lstStyle/>
          <a:p>
            <a:r>
              <a:rPr lang="en-US" sz="4000" dirty="0"/>
              <a:t>Significance testing and permutation testing</a:t>
            </a:r>
          </a:p>
        </p:txBody>
      </p:sp>
      <p:sp>
        <p:nvSpPr>
          <p:cNvPr id="3" name="Content Placeholder 2">
            <a:extLst>
              <a:ext uri="{FF2B5EF4-FFF2-40B4-BE49-F238E27FC236}">
                <a16:creationId xmlns:a16="http://schemas.microsoft.com/office/drawing/2014/main" id="{9E68F6A3-4B31-926E-60B3-368BE35B1E42}"/>
              </a:ext>
            </a:extLst>
          </p:cNvPr>
          <p:cNvSpPr>
            <a:spLocks noGrp="1"/>
          </p:cNvSpPr>
          <p:nvPr>
            <p:ph idx="1"/>
          </p:nvPr>
        </p:nvSpPr>
        <p:spPr/>
        <p:txBody>
          <a:bodyPr/>
          <a:lstStyle/>
          <a:p>
            <a:endParaRPr lang="en-US"/>
          </a:p>
        </p:txBody>
      </p:sp>
      <p:pic>
        <p:nvPicPr>
          <p:cNvPr id="11" name="Picture 10">
            <a:extLst>
              <a:ext uri="{FF2B5EF4-FFF2-40B4-BE49-F238E27FC236}">
                <a16:creationId xmlns:a16="http://schemas.microsoft.com/office/drawing/2014/main" id="{554D1F4C-0CDB-6FFE-345C-70F650D67ED5}"/>
              </a:ext>
            </a:extLst>
          </p:cNvPr>
          <p:cNvPicPr>
            <a:picLocks noChangeAspect="1"/>
          </p:cNvPicPr>
          <p:nvPr/>
        </p:nvPicPr>
        <p:blipFill>
          <a:blip r:embed="rId3"/>
          <a:stretch>
            <a:fillRect/>
          </a:stretch>
        </p:blipFill>
        <p:spPr>
          <a:xfrm>
            <a:off x="6096000" y="1715294"/>
            <a:ext cx="6096000" cy="4572000"/>
          </a:xfrm>
          <a:prstGeom prst="rect">
            <a:avLst/>
          </a:prstGeom>
        </p:spPr>
      </p:pic>
      <p:pic>
        <p:nvPicPr>
          <p:cNvPr id="13" name="Picture 12">
            <a:extLst>
              <a:ext uri="{FF2B5EF4-FFF2-40B4-BE49-F238E27FC236}">
                <a16:creationId xmlns:a16="http://schemas.microsoft.com/office/drawing/2014/main" id="{50879747-886A-C472-F9AF-FCD33BF8602C}"/>
              </a:ext>
            </a:extLst>
          </p:cNvPr>
          <p:cNvPicPr>
            <a:picLocks noChangeAspect="1"/>
          </p:cNvPicPr>
          <p:nvPr/>
        </p:nvPicPr>
        <p:blipFill>
          <a:blip r:embed="rId4"/>
          <a:stretch>
            <a:fillRect/>
          </a:stretch>
        </p:blipFill>
        <p:spPr>
          <a:xfrm>
            <a:off x="119864" y="1741470"/>
            <a:ext cx="6096000" cy="4572000"/>
          </a:xfrm>
          <a:prstGeom prst="rect">
            <a:avLst/>
          </a:prstGeom>
        </p:spPr>
      </p:pic>
    </p:spTree>
    <p:extLst>
      <p:ext uri="{BB962C8B-B14F-4D97-AF65-F5344CB8AC3E}">
        <p14:creationId xmlns:p14="http://schemas.microsoft.com/office/powerpoint/2010/main" val="4424365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F8A30-9097-C6DF-4F19-3F47E35CCC35}"/>
              </a:ext>
            </a:extLst>
          </p:cNvPr>
          <p:cNvSpPr>
            <a:spLocks noGrp="1"/>
          </p:cNvSpPr>
          <p:nvPr>
            <p:ph type="title"/>
          </p:nvPr>
        </p:nvSpPr>
        <p:spPr/>
        <p:txBody>
          <a:bodyPr/>
          <a:lstStyle/>
          <a:p>
            <a:r>
              <a:rPr lang="en-US" dirty="0"/>
              <a:t>Modularity</a:t>
            </a:r>
          </a:p>
        </p:txBody>
      </p:sp>
      <p:pic>
        <p:nvPicPr>
          <p:cNvPr id="7" name="Content Placeholder 6" descr="A diagram of a brain&#10;&#10;Description automatically generated">
            <a:extLst>
              <a:ext uri="{FF2B5EF4-FFF2-40B4-BE49-F238E27FC236}">
                <a16:creationId xmlns:a16="http://schemas.microsoft.com/office/drawing/2014/main" id="{F876F9C2-1A68-4477-18E0-142F7A385BAD}"/>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l="35200" t="10834"/>
          <a:stretch/>
        </p:blipFill>
        <p:spPr>
          <a:xfrm>
            <a:off x="6455028" y="1658919"/>
            <a:ext cx="5323645" cy="2907207"/>
          </a:xfrm>
        </p:spPr>
      </p:pic>
      <p:pic>
        <p:nvPicPr>
          <p:cNvPr id="5" name="Picture 4">
            <a:extLst>
              <a:ext uri="{FF2B5EF4-FFF2-40B4-BE49-F238E27FC236}">
                <a16:creationId xmlns:a16="http://schemas.microsoft.com/office/drawing/2014/main" id="{3A1B3735-50A5-ED6C-FCA7-924BC8814968}"/>
              </a:ext>
            </a:extLst>
          </p:cNvPr>
          <p:cNvPicPr>
            <a:picLocks noChangeAspect="1"/>
          </p:cNvPicPr>
          <p:nvPr/>
        </p:nvPicPr>
        <p:blipFill>
          <a:blip r:embed="rId4"/>
          <a:stretch>
            <a:fillRect/>
          </a:stretch>
        </p:blipFill>
        <p:spPr>
          <a:xfrm>
            <a:off x="615338" y="1658920"/>
            <a:ext cx="5323645" cy="2907206"/>
          </a:xfrm>
          <a:prstGeom prst="rect">
            <a:avLst/>
          </a:prstGeom>
        </p:spPr>
      </p:pic>
      <p:sp>
        <p:nvSpPr>
          <p:cNvPr id="8" name="Content Placeholder 2">
            <a:extLst>
              <a:ext uri="{FF2B5EF4-FFF2-40B4-BE49-F238E27FC236}">
                <a16:creationId xmlns:a16="http://schemas.microsoft.com/office/drawing/2014/main" id="{069D59E4-3E30-5031-69BE-D146CFE67648}"/>
              </a:ext>
            </a:extLst>
          </p:cNvPr>
          <p:cNvSpPr txBox="1">
            <a:spLocks/>
          </p:cNvSpPr>
          <p:nvPr/>
        </p:nvSpPr>
        <p:spPr>
          <a:xfrm>
            <a:off x="838200" y="5199080"/>
            <a:ext cx="10515600" cy="9815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dirty="0"/>
              <a:t>Replicate modules identified by </a:t>
            </a:r>
            <a:r>
              <a:rPr lang="en-US" dirty="0" err="1"/>
              <a:t>Lifu</a:t>
            </a:r>
            <a:endParaRPr lang="en-US" dirty="0"/>
          </a:p>
        </p:txBody>
      </p:sp>
    </p:spTree>
    <p:extLst>
      <p:ext uri="{BB962C8B-B14F-4D97-AF65-F5344CB8AC3E}">
        <p14:creationId xmlns:p14="http://schemas.microsoft.com/office/powerpoint/2010/main" val="22545744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060B0-E6A5-35D9-2E2A-E5CEA68DE85A}"/>
              </a:ext>
            </a:extLst>
          </p:cNvPr>
          <p:cNvSpPr>
            <a:spLocks noGrp="1"/>
          </p:cNvSpPr>
          <p:nvPr>
            <p:ph type="title"/>
          </p:nvPr>
        </p:nvSpPr>
        <p:spPr/>
        <p:txBody>
          <a:bodyPr/>
          <a:lstStyle/>
          <a:p>
            <a:r>
              <a:rPr lang="en-US" dirty="0"/>
              <a:t>Encoding retrieval similarity</a:t>
            </a:r>
          </a:p>
        </p:txBody>
      </p:sp>
      <p:sp>
        <p:nvSpPr>
          <p:cNvPr id="3" name="Content Placeholder 2">
            <a:extLst>
              <a:ext uri="{FF2B5EF4-FFF2-40B4-BE49-F238E27FC236}">
                <a16:creationId xmlns:a16="http://schemas.microsoft.com/office/drawing/2014/main" id="{BD644C49-FBAE-6683-0B29-86BEFC65E4FD}"/>
              </a:ext>
            </a:extLst>
          </p:cNvPr>
          <p:cNvSpPr>
            <a:spLocks noGrp="1"/>
          </p:cNvSpPr>
          <p:nvPr>
            <p:ph idx="1"/>
          </p:nvPr>
        </p:nvSpPr>
        <p:spPr>
          <a:xfrm>
            <a:off x="838200" y="1825625"/>
            <a:ext cx="10515600" cy="4667250"/>
          </a:xfrm>
        </p:spPr>
        <p:txBody>
          <a:bodyPr>
            <a:normAutofit lnSpcReduction="10000"/>
          </a:bodyPr>
          <a:lstStyle/>
          <a:p>
            <a:r>
              <a:rPr lang="en-US" dirty="0"/>
              <a:t>We see correlations:</a:t>
            </a:r>
          </a:p>
          <a:p>
            <a:pPr lvl="1"/>
            <a:r>
              <a:rPr lang="en-US" dirty="0"/>
              <a:t>Baseline x encoding</a:t>
            </a:r>
          </a:p>
          <a:p>
            <a:pPr lvl="1"/>
            <a:r>
              <a:rPr lang="en-US" dirty="0"/>
              <a:t>Baseline x visual (ERS)</a:t>
            </a:r>
          </a:p>
          <a:p>
            <a:pPr lvl="1"/>
            <a:r>
              <a:rPr lang="en-US" dirty="0"/>
              <a:t>Encoding x visual (ERS)</a:t>
            </a:r>
          </a:p>
          <a:p>
            <a:r>
              <a:rPr lang="en-US" dirty="0">
                <a:solidFill>
                  <a:srgbClr val="FF0000"/>
                </a:solidFill>
              </a:rPr>
              <a:t>Possibly interesting further work:</a:t>
            </a:r>
          </a:p>
          <a:p>
            <a:pPr lvl="1"/>
            <a:r>
              <a:rPr lang="en-US" dirty="0"/>
              <a:t>Similarity is, in part, due to the same representation being activated</a:t>
            </a:r>
          </a:p>
          <a:p>
            <a:pPr lvl="1"/>
            <a:r>
              <a:rPr lang="en-US" dirty="0"/>
              <a:t>Hence, we would expect to see an IRAF x ERS correlation</a:t>
            </a:r>
          </a:p>
          <a:p>
            <a:pPr lvl="2"/>
            <a:r>
              <a:rPr lang="en-US" dirty="0"/>
              <a:t>Further, we would expect the correlation to be stronger based on what type of stimulus properties are used to calculate IRAF </a:t>
            </a:r>
          </a:p>
          <a:p>
            <a:pPr lvl="2"/>
            <a:r>
              <a:rPr lang="en-US" dirty="0"/>
              <a:t>(e.g., if using DNN vectors, we would expect stronger IRAF x ERS in occipital, but if using word2vec vectors, we would expect stronger IRAF x ERS in ATL)</a:t>
            </a:r>
          </a:p>
          <a:p>
            <a:pPr lvl="1"/>
            <a:r>
              <a:rPr lang="en-US" dirty="0"/>
              <a:t>Not sure how this could be useful. Maybe this can prove to be a more sensitive measure than RDM x RDM correlations?</a:t>
            </a:r>
          </a:p>
          <a:p>
            <a:pPr lvl="1"/>
            <a:endParaRPr lang="en-US" dirty="0"/>
          </a:p>
          <a:p>
            <a:pPr lvl="1"/>
            <a:endParaRPr lang="en-US" dirty="0"/>
          </a:p>
        </p:txBody>
      </p:sp>
    </p:spTree>
    <p:extLst>
      <p:ext uri="{BB962C8B-B14F-4D97-AF65-F5344CB8AC3E}">
        <p14:creationId xmlns:p14="http://schemas.microsoft.com/office/powerpoint/2010/main" val="1244846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p:txBody>
          <a:bodyPr/>
          <a:lstStyle/>
          <a:p>
            <a:r>
              <a:rPr lang="en-US" dirty="0"/>
              <a:t>Whiffs </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40026512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B2EF9-B761-D3F7-853D-F40968FFE82E}"/>
              </a:ext>
            </a:extLst>
          </p:cNvPr>
          <p:cNvSpPr>
            <a:spLocks noGrp="1"/>
          </p:cNvSpPr>
          <p:nvPr>
            <p:ph type="title"/>
          </p:nvPr>
        </p:nvSpPr>
        <p:spPr>
          <a:xfrm>
            <a:off x="838200" y="0"/>
            <a:ext cx="10515600" cy="878319"/>
          </a:xfrm>
        </p:spPr>
        <p:txBody>
          <a:bodyPr/>
          <a:lstStyle/>
          <a:p>
            <a:r>
              <a:rPr lang="en-US" dirty="0"/>
              <a:t>Other analyses</a:t>
            </a:r>
          </a:p>
        </p:txBody>
      </p:sp>
      <p:sp>
        <p:nvSpPr>
          <p:cNvPr id="3" name="Content Placeholder 2">
            <a:extLst>
              <a:ext uri="{FF2B5EF4-FFF2-40B4-BE49-F238E27FC236}">
                <a16:creationId xmlns:a16="http://schemas.microsoft.com/office/drawing/2014/main" id="{BBC86783-DCF9-96A2-6BFD-5070AC5843CF}"/>
              </a:ext>
            </a:extLst>
          </p:cNvPr>
          <p:cNvSpPr>
            <a:spLocks noGrp="1"/>
          </p:cNvSpPr>
          <p:nvPr>
            <p:ph idx="1"/>
          </p:nvPr>
        </p:nvSpPr>
        <p:spPr>
          <a:xfrm>
            <a:off x="838200" y="1013688"/>
            <a:ext cx="10877550" cy="5827281"/>
          </a:xfrm>
        </p:spPr>
        <p:txBody>
          <a:bodyPr>
            <a:normAutofit fontScale="92500" lnSpcReduction="20000"/>
          </a:bodyPr>
          <a:lstStyle/>
          <a:p>
            <a:r>
              <a:rPr lang="en-US" dirty="0">
                <a:solidFill>
                  <a:srgbClr val="C00000"/>
                </a:solidFill>
              </a:rPr>
              <a:t>Can you do RSA with respect to the fMRI difference vector?</a:t>
            </a:r>
          </a:p>
          <a:p>
            <a:pPr lvl="1"/>
            <a:r>
              <a:rPr lang="en-US" dirty="0"/>
              <a:t>E.g., examine whether presenting a scene shifts the neural representation of the object between baseline ➜ retrieval</a:t>
            </a:r>
          </a:p>
          <a:p>
            <a:pPr lvl="2"/>
            <a:r>
              <a:rPr lang="en-US" dirty="0"/>
              <a:t>[Scene stimulus vector] x [baseline-fMRI minus visual-fMRI]</a:t>
            </a:r>
          </a:p>
          <a:p>
            <a:pPr lvl="2"/>
            <a:r>
              <a:rPr lang="en-US" dirty="0"/>
              <a:t>Overlapping ideas with that journal club paper we read on semantic shifts after learning</a:t>
            </a:r>
          </a:p>
          <a:p>
            <a:pPr lvl="1"/>
            <a:r>
              <a:rPr lang="en-US" dirty="0"/>
              <a:t>No significant results</a:t>
            </a:r>
          </a:p>
          <a:p>
            <a:pPr lvl="2"/>
            <a:r>
              <a:rPr lang="en-US" dirty="0"/>
              <a:t>This route may have potential, but it may just be too much of a stretch given the present design</a:t>
            </a:r>
          </a:p>
          <a:p>
            <a:r>
              <a:rPr lang="en-US" dirty="0">
                <a:solidFill>
                  <a:srgbClr val="0070C0"/>
                </a:solidFill>
              </a:rPr>
              <a:t>Does congruency lead to connectivity patterns during scene presentation being more correlated with connectivity during object presentation?</a:t>
            </a:r>
          </a:p>
          <a:p>
            <a:pPr lvl="1"/>
            <a:r>
              <a:rPr lang="en-US" dirty="0"/>
              <a:t>No, it doesn’t</a:t>
            </a:r>
          </a:p>
          <a:p>
            <a:r>
              <a:rPr lang="en-US" dirty="0">
                <a:solidFill>
                  <a:schemeClr val="accent6">
                    <a:lumMod val="75000"/>
                  </a:schemeClr>
                </a:solidFill>
              </a:rPr>
              <a:t>If you calculate single-trial connectivity based on the scene x object betas (binary connectivity), and submit the data to RSA, will you find significant results?</a:t>
            </a:r>
          </a:p>
          <a:p>
            <a:pPr lvl="1"/>
            <a:r>
              <a:rPr lang="en-US" dirty="0"/>
              <a:t>No, not really</a:t>
            </a:r>
          </a:p>
          <a:p>
            <a:pPr lvl="1"/>
            <a:r>
              <a:rPr lang="en-US" dirty="0"/>
              <a:t>Found one significant RSA result:</a:t>
            </a:r>
          </a:p>
          <a:p>
            <a:pPr lvl="2"/>
            <a:r>
              <a:rPr lang="en-US" dirty="0"/>
              <a:t>Within-occipital-lobe-connectivity x last-layer-activation-DNN</a:t>
            </a:r>
          </a:p>
          <a:p>
            <a:pPr lvl="2"/>
            <a:r>
              <a:rPr lang="en-US" dirty="0"/>
              <a:t>My guess is that this is spurious</a:t>
            </a:r>
          </a:p>
        </p:txBody>
      </p:sp>
    </p:spTree>
    <p:extLst>
      <p:ext uri="{BB962C8B-B14F-4D97-AF65-F5344CB8AC3E}">
        <p14:creationId xmlns:p14="http://schemas.microsoft.com/office/powerpoint/2010/main" val="3949150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36406-BE6A-43D1-8823-925981A4EA2E}"/>
              </a:ext>
            </a:extLst>
          </p:cNvPr>
          <p:cNvSpPr>
            <a:spLocks noGrp="1"/>
          </p:cNvSpPr>
          <p:nvPr>
            <p:ph type="ctrTitle"/>
          </p:nvPr>
        </p:nvSpPr>
        <p:spPr>
          <a:xfrm>
            <a:off x="1524000" y="1122363"/>
            <a:ext cx="9144000" cy="2133599"/>
          </a:xfrm>
        </p:spPr>
        <p:txBody>
          <a:bodyPr/>
          <a:lstStyle/>
          <a:p>
            <a:r>
              <a:rPr lang="en-US" dirty="0"/>
              <a:t>Study ideas</a:t>
            </a:r>
          </a:p>
        </p:txBody>
      </p:sp>
      <p:sp>
        <p:nvSpPr>
          <p:cNvPr id="3" name="Subtitle 2">
            <a:extLst>
              <a:ext uri="{FF2B5EF4-FFF2-40B4-BE49-F238E27FC236}">
                <a16:creationId xmlns:a16="http://schemas.microsoft.com/office/drawing/2014/main" id="{18E9E69C-B0CF-4A44-A6F4-E20B91704211}"/>
              </a:ext>
            </a:extLst>
          </p:cNvPr>
          <p:cNvSpPr>
            <a:spLocks noGrp="1"/>
          </p:cNvSpPr>
          <p:nvPr>
            <p:ph type="subTitle" idx="1"/>
          </p:nvPr>
        </p:nvSpPr>
        <p:spPr>
          <a:xfrm>
            <a:off x="1524000" y="3579814"/>
            <a:ext cx="9144000" cy="2227262"/>
          </a:xfrm>
        </p:spPr>
        <p:txBody>
          <a:bodyPr>
            <a:normAutofit/>
          </a:bodyPr>
          <a:lstStyle/>
          <a:p>
            <a:r>
              <a:rPr lang="en-US" sz="3600" dirty="0">
                <a:solidFill>
                  <a:srgbClr val="002060"/>
                </a:solidFill>
              </a:rPr>
              <a:t>How are </a:t>
            </a:r>
            <a:r>
              <a:rPr lang="en-US" sz="3600" u="sng" dirty="0">
                <a:solidFill>
                  <a:srgbClr val="002060"/>
                </a:solidFill>
              </a:rPr>
              <a:t>episodic memories</a:t>
            </a:r>
            <a:r>
              <a:rPr lang="en-US" sz="3600" dirty="0">
                <a:solidFill>
                  <a:srgbClr val="002060"/>
                </a:solidFill>
              </a:rPr>
              <a:t> represented and how are </a:t>
            </a:r>
            <a:r>
              <a:rPr lang="en-US" sz="3600" u="sng" dirty="0">
                <a:solidFill>
                  <a:srgbClr val="002060"/>
                </a:solidFill>
              </a:rPr>
              <a:t>relational memories</a:t>
            </a:r>
            <a:r>
              <a:rPr lang="en-US" sz="3600" dirty="0">
                <a:solidFill>
                  <a:srgbClr val="002060"/>
                </a:solidFill>
              </a:rPr>
              <a:t> encoded? </a:t>
            </a:r>
          </a:p>
        </p:txBody>
      </p:sp>
    </p:spTree>
    <p:extLst>
      <p:ext uri="{BB962C8B-B14F-4D97-AF65-F5344CB8AC3E}">
        <p14:creationId xmlns:p14="http://schemas.microsoft.com/office/powerpoint/2010/main" val="25306703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1F41E-4FDC-4A21-3C05-A8E96B1F2F4C}"/>
              </a:ext>
            </a:extLst>
          </p:cNvPr>
          <p:cNvSpPr>
            <a:spLocks noGrp="1"/>
          </p:cNvSpPr>
          <p:nvPr>
            <p:ph type="title"/>
          </p:nvPr>
        </p:nvSpPr>
        <p:spPr>
          <a:xfrm>
            <a:off x="838200" y="365125"/>
            <a:ext cx="10515600" cy="892175"/>
          </a:xfrm>
        </p:spPr>
        <p:txBody>
          <a:bodyPr/>
          <a:lstStyle/>
          <a:p>
            <a:r>
              <a:rPr lang="en-US" dirty="0">
                <a:solidFill>
                  <a:srgbClr val="002060"/>
                </a:solidFill>
              </a:rPr>
              <a:t>Generalize the past, pinpoint the future</a:t>
            </a:r>
          </a:p>
        </p:txBody>
      </p:sp>
      <p:sp>
        <p:nvSpPr>
          <p:cNvPr id="3" name="Content Placeholder 2">
            <a:extLst>
              <a:ext uri="{FF2B5EF4-FFF2-40B4-BE49-F238E27FC236}">
                <a16:creationId xmlns:a16="http://schemas.microsoft.com/office/drawing/2014/main" id="{07FDD9B7-B465-539B-5376-9F1A7BB450ED}"/>
              </a:ext>
            </a:extLst>
          </p:cNvPr>
          <p:cNvSpPr>
            <a:spLocks noGrp="1"/>
          </p:cNvSpPr>
          <p:nvPr>
            <p:ph idx="1"/>
          </p:nvPr>
        </p:nvSpPr>
        <p:spPr>
          <a:xfrm>
            <a:off x="838200" y="1544638"/>
            <a:ext cx="10515600" cy="4948237"/>
          </a:xfrm>
        </p:spPr>
        <p:txBody>
          <a:bodyPr/>
          <a:lstStyle/>
          <a:p>
            <a:r>
              <a:rPr lang="en-US" dirty="0"/>
              <a:t>Hypothesis: When people think about an event, they have a broad imagination about what could have led to it, but narrowly consider what will follow the event.</a:t>
            </a:r>
          </a:p>
          <a:p>
            <a:r>
              <a:rPr lang="en-US" dirty="0"/>
              <a:t>Encoding task (roughly):</a:t>
            </a:r>
          </a:p>
          <a:p>
            <a:pPr lvl="1"/>
            <a:r>
              <a:rPr lang="en-US" dirty="0"/>
              <a:t>Participants view a series of images, linked together sequentially (e.g., by telling participants that they’re traveling between locations)</a:t>
            </a:r>
          </a:p>
          <a:p>
            <a:pPr lvl="1"/>
            <a:r>
              <a:rPr lang="en-US" dirty="0"/>
              <a:t>Same images are shown repeatedly</a:t>
            </a:r>
          </a:p>
          <a:p>
            <a:r>
              <a:rPr lang="en-US" dirty="0"/>
              <a:t>Retrieval (roughly):</a:t>
            </a:r>
          </a:p>
          <a:p>
            <a:pPr lvl="1"/>
            <a:r>
              <a:rPr lang="en-US" dirty="0"/>
              <a:t>Cue participants with an image, and ask them to freely recall “all the images that may have preceded/followed” the cue</a:t>
            </a:r>
          </a:p>
          <a:p>
            <a:pPr lvl="1"/>
            <a:r>
              <a:rPr lang="en-US" dirty="0"/>
              <a:t>Different further design elements can be included to test hypothesis</a:t>
            </a:r>
          </a:p>
          <a:p>
            <a:pPr lvl="1"/>
            <a:endParaRPr lang="en-US" dirty="0"/>
          </a:p>
        </p:txBody>
      </p:sp>
    </p:spTree>
    <p:extLst>
      <p:ext uri="{BB962C8B-B14F-4D97-AF65-F5344CB8AC3E}">
        <p14:creationId xmlns:p14="http://schemas.microsoft.com/office/powerpoint/2010/main" val="3659094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6B539-2AF8-D501-748C-D190CE835AB5}"/>
              </a:ext>
            </a:extLst>
          </p:cNvPr>
          <p:cNvSpPr>
            <a:spLocks noGrp="1"/>
          </p:cNvSpPr>
          <p:nvPr>
            <p:ph type="title"/>
          </p:nvPr>
        </p:nvSpPr>
        <p:spPr>
          <a:xfrm>
            <a:off x="838200" y="221341"/>
            <a:ext cx="10515600" cy="1061360"/>
          </a:xfrm>
        </p:spPr>
        <p:txBody>
          <a:bodyPr>
            <a:noAutofit/>
          </a:bodyPr>
          <a:lstStyle/>
          <a:p>
            <a:r>
              <a:rPr lang="en-US" sz="3200" dirty="0">
                <a:solidFill>
                  <a:srgbClr val="002060"/>
                </a:solidFill>
              </a:rPr>
              <a:t>Episodic memory is intertwined with relational memory</a:t>
            </a:r>
          </a:p>
        </p:txBody>
      </p:sp>
      <p:sp>
        <p:nvSpPr>
          <p:cNvPr id="3" name="Content Placeholder 2">
            <a:extLst>
              <a:ext uri="{FF2B5EF4-FFF2-40B4-BE49-F238E27FC236}">
                <a16:creationId xmlns:a16="http://schemas.microsoft.com/office/drawing/2014/main" id="{DBA5EF3A-B579-1F20-5251-7ADEA05C180E}"/>
              </a:ext>
            </a:extLst>
          </p:cNvPr>
          <p:cNvSpPr>
            <a:spLocks noGrp="1"/>
          </p:cNvSpPr>
          <p:nvPr>
            <p:ph idx="1"/>
          </p:nvPr>
        </p:nvSpPr>
        <p:spPr>
          <a:xfrm>
            <a:off x="451649" y="1314801"/>
            <a:ext cx="5701763" cy="5165059"/>
          </a:xfrm>
        </p:spPr>
        <p:txBody>
          <a:bodyPr>
            <a:normAutofit fontScale="92500" lnSpcReduction="10000"/>
          </a:bodyPr>
          <a:lstStyle/>
          <a:p>
            <a:r>
              <a:rPr lang="en-US" dirty="0"/>
              <a:t>What does “memory for an experience” mean?</a:t>
            </a:r>
          </a:p>
          <a:p>
            <a:r>
              <a:rPr lang="en-US" dirty="0"/>
              <a:t>Episodic memory:</a:t>
            </a:r>
          </a:p>
          <a:p>
            <a:pPr lvl="1"/>
            <a:r>
              <a:rPr lang="en-US" b="1" i="1" dirty="0">
                <a:solidFill>
                  <a:srgbClr val="0070C0"/>
                </a:solidFill>
              </a:rPr>
              <a:t>Familiarity</a:t>
            </a:r>
            <a:r>
              <a:rPr lang="en-US" dirty="0"/>
              <a:t> + </a:t>
            </a:r>
            <a:r>
              <a:rPr lang="en-US" b="1" i="1" dirty="0">
                <a:solidFill>
                  <a:srgbClr val="33CC33"/>
                </a:solidFill>
              </a:rPr>
              <a:t>relations</a:t>
            </a:r>
          </a:p>
          <a:p>
            <a:r>
              <a:rPr lang="en-US" i="1" dirty="0"/>
              <a:t>Familiarity</a:t>
            </a:r>
            <a:r>
              <a:rPr lang="en-US" dirty="0"/>
              <a:t>:</a:t>
            </a:r>
          </a:p>
          <a:p>
            <a:pPr lvl="1"/>
            <a:r>
              <a:rPr lang="en-US" dirty="0"/>
              <a:t>Activation of an item representation</a:t>
            </a:r>
          </a:p>
          <a:p>
            <a:pPr lvl="1"/>
            <a:r>
              <a:rPr lang="en-US" dirty="0"/>
              <a:t>Some pattern completion (i.e., retrieve the item upon only being shown some features of the item) </a:t>
            </a:r>
          </a:p>
          <a:p>
            <a:pPr marL="285750" indent="-285750">
              <a:buFont typeface="Arial" panose="020B0604020202020204" pitchFamily="34" charset="0"/>
              <a:buChar char="•"/>
            </a:pPr>
            <a:r>
              <a:rPr lang="en-US" sz="2800" i="1" dirty="0">
                <a:latin typeface="Arial" panose="020B0604020202020204" pitchFamily="34" charset="0"/>
                <a:cs typeface="Arial" panose="020B0604020202020204" pitchFamily="34" charset="0"/>
              </a:rPr>
              <a:t>Recollection</a:t>
            </a:r>
            <a:r>
              <a:rPr lang="en-US" sz="2800" dirty="0">
                <a:latin typeface="Arial" panose="020B0604020202020204" pitchFamily="34" charset="0"/>
                <a:cs typeface="Arial" panose="020B0604020202020204" pitchFamily="34" charset="0"/>
              </a:rPr>
              <a:t>:</a:t>
            </a:r>
          </a:p>
          <a:p>
            <a:pPr marL="742950" lvl="1" indent="-285750">
              <a:buFont typeface="Courier New" panose="02070309020205020404" pitchFamily="49" charset="0"/>
              <a:buChar char="o"/>
            </a:pPr>
            <a:r>
              <a:rPr lang="en-US" sz="2400" dirty="0">
                <a:latin typeface="Arial" panose="020B0604020202020204" pitchFamily="34" charset="0"/>
                <a:cs typeface="Arial" panose="020B0604020202020204" pitchFamily="34" charset="0"/>
              </a:rPr>
              <a:t>Retrieval of (1) yourself performing an action and (2) the scene following the action</a:t>
            </a:r>
          </a:p>
          <a:p>
            <a:pPr marL="742950" lvl="1" indent="-285750">
              <a:buFont typeface="Courier New" panose="02070309020205020404" pitchFamily="49" charset="0"/>
              <a:buChar char="o"/>
            </a:pPr>
            <a:r>
              <a:rPr lang="en-US" sz="2400" dirty="0">
                <a:latin typeface="Arial" panose="020B0604020202020204" pitchFamily="34" charset="0"/>
                <a:cs typeface="Arial" panose="020B0604020202020204" pitchFamily="34" charset="0"/>
              </a:rPr>
              <a:t>Recollection is a video clip, not an image</a:t>
            </a:r>
          </a:p>
          <a:p>
            <a:endParaRPr lang="en-US" dirty="0"/>
          </a:p>
          <a:p>
            <a:pPr lvl="1"/>
            <a:endParaRPr lang="en-US" dirty="0"/>
          </a:p>
        </p:txBody>
      </p:sp>
      <p:sp>
        <p:nvSpPr>
          <p:cNvPr id="53" name="TextBox 52">
            <a:extLst>
              <a:ext uri="{FF2B5EF4-FFF2-40B4-BE49-F238E27FC236}">
                <a16:creationId xmlns:a16="http://schemas.microsoft.com/office/drawing/2014/main" id="{CCE0AC59-9ECD-4EB4-EA25-864EF18A59E9}"/>
              </a:ext>
            </a:extLst>
          </p:cNvPr>
          <p:cNvSpPr txBox="1"/>
          <p:nvPr/>
        </p:nvSpPr>
        <p:spPr>
          <a:xfrm>
            <a:off x="6523162" y="1319851"/>
            <a:ext cx="5217189" cy="1261884"/>
          </a:xfrm>
          <a:prstGeom prst="rect">
            <a:avLst/>
          </a:prstGeom>
          <a:noFill/>
        </p:spPr>
        <p:txBody>
          <a:bodyPr wrap="square">
            <a:spAutoFit/>
          </a:bodyPr>
          <a:lstStyle/>
          <a:p>
            <a:pPr marL="285750" indent="-285750">
              <a:buFont typeface="Arial" panose="020B0604020202020204" pitchFamily="34" charset="0"/>
              <a:buChar char="•"/>
            </a:pPr>
            <a:r>
              <a:rPr lang="en-US" sz="2800" i="1" dirty="0">
                <a:latin typeface="Arial" panose="020B0604020202020204" pitchFamily="34" charset="0"/>
                <a:cs typeface="Arial" panose="020B0604020202020204" pitchFamily="34" charset="0"/>
              </a:rPr>
              <a:t>Scene</a:t>
            </a:r>
            <a:r>
              <a:rPr lang="en-US" sz="2800" dirty="0">
                <a:latin typeface="Arial" panose="020B0604020202020204" pitchFamily="34" charset="0"/>
                <a:cs typeface="Arial" panose="020B0604020202020204" pitchFamily="34" charset="0"/>
              </a:rPr>
              <a:t>:</a:t>
            </a:r>
          </a:p>
          <a:p>
            <a:pPr marL="742950" lvl="1" indent="-285750">
              <a:buFont typeface="Courier New" panose="02070309020205020404" pitchFamily="49" charset="0"/>
              <a:buChar char="o"/>
            </a:pPr>
            <a:r>
              <a:rPr lang="en-US" sz="2400" dirty="0">
                <a:latin typeface="Arial" panose="020B0604020202020204" pitchFamily="34" charset="0"/>
                <a:cs typeface="Arial" panose="020B0604020202020204" pitchFamily="34" charset="0"/>
              </a:rPr>
              <a:t>Collection of items encountered together</a:t>
            </a:r>
          </a:p>
        </p:txBody>
      </p:sp>
      <p:pic>
        <p:nvPicPr>
          <p:cNvPr id="75" name="Picture 74">
            <a:extLst>
              <a:ext uri="{FF2B5EF4-FFF2-40B4-BE49-F238E27FC236}">
                <a16:creationId xmlns:a16="http://schemas.microsoft.com/office/drawing/2014/main" id="{0191DF1F-9BB5-A67F-F59C-CDE74C176822}"/>
              </a:ext>
            </a:extLst>
          </p:cNvPr>
          <p:cNvPicPr>
            <a:picLocks noChangeAspect="1"/>
          </p:cNvPicPr>
          <p:nvPr/>
        </p:nvPicPr>
        <p:blipFill>
          <a:blip r:embed="rId3"/>
          <a:stretch>
            <a:fillRect/>
          </a:stretch>
        </p:blipFill>
        <p:spPr>
          <a:xfrm>
            <a:off x="6607260" y="4276265"/>
            <a:ext cx="5133091" cy="1932702"/>
          </a:xfrm>
          <a:prstGeom prst="rect">
            <a:avLst/>
          </a:prstGeom>
        </p:spPr>
      </p:pic>
    </p:spTree>
    <p:extLst>
      <p:ext uri="{BB962C8B-B14F-4D97-AF65-F5344CB8AC3E}">
        <p14:creationId xmlns:p14="http://schemas.microsoft.com/office/powerpoint/2010/main" val="21534577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95F3C-15BE-4A8E-1312-CD5F3E5BCFB5}"/>
              </a:ext>
            </a:extLst>
          </p:cNvPr>
          <p:cNvSpPr>
            <a:spLocks noGrp="1"/>
          </p:cNvSpPr>
          <p:nvPr>
            <p:ph type="title"/>
          </p:nvPr>
        </p:nvSpPr>
        <p:spPr/>
        <p:txBody>
          <a:bodyPr/>
          <a:lstStyle/>
          <a:p>
            <a:r>
              <a:rPr lang="en-US" dirty="0">
                <a:solidFill>
                  <a:srgbClr val="002060"/>
                </a:solidFill>
              </a:rPr>
              <a:t>Broad design theme</a:t>
            </a:r>
          </a:p>
        </p:txBody>
      </p:sp>
      <p:sp>
        <p:nvSpPr>
          <p:cNvPr id="3" name="Content Placeholder 2">
            <a:extLst>
              <a:ext uri="{FF2B5EF4-FFF2-40B4-BE49-F238E27FC236}">
                <a16:creationId xmlns:a16="http://schemas.microsoft.com/office/drawing/2014/main" id="{3BB86C71-D030-5F79-19DF-48D95BBFAB0E}"/>
              </a:ext>
            </a:extLst>
          </p:cNvPr>
          <p:cNvSpPr>
            <a:spLocks noGrp="1"/>
          </p:cNvSpPr>
          <p:nvPr>
            <p:ph idx="1"/>
          </p:nvPr>
        </p:nvSpPr>
        <p:spPr/>
        <p:txBody>
          <a:bodyPr/>
          <a:lstStyle/>
          <a:p>
            <a:r>
              <a:rPr lang="en-US" dirty="0"/>
              <a:t>If we present the same stimulus multiple times during encoding, this opens the door to many interesting analyses related to relational memory</a:t>
            </a:r>
          </a:p>
          <a:p>
            <a:r>
              <a:rPr lang="en-US" dirty="0"/>
              <a:t>Relational memory is a central focus of aging research</a:t>
            </a:r>
          </a:p>
        </p:txBody>
      </p:sp>
    </p:spTree>
    <p:extLst>
      <p:ext uri="{BB962C8B-B14F-4D97-AF65-F5344CB8AC3E}">
        <p14:creationId xmlns:p14="http://schemas.microsoft.com/office/powerpoint/2010/main" val="15135827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D2025-22BD-5A4D-9AC9-9EDC864D4C8F}"/>
              </a:ext>
            </a:extLst>
          </p:cNvPr>
          <p:cNvSpPr>
            <a:spLocks noGrp="1"/>
          </p:cNvSpPr>
          <p:nvPr>
            <p:ph type="title"/>
          </p:nvPr>
        </p:nvSpPr>
        <p:spPr>
          <a:xfrm>
            <a:off x="838200" y="297655"/>
            <a:ext cx="10515600" cy="1084263"/>
          </a:xfrm>
        </p:spPr>
        <p:txBody>
          <a:bodyPr/>
          <a:lstStyle/>
          <a:p>
            <a:r>
              <a:rPr lang="en-US" dirty="0">
                <a:solidFill>
                  <a:srgbClr val="002060"/>
                </a:solidFill>
              </a:rPr>
              <a:t>Research goal</a:t>
            </a:r>
          </a:p>
        </p:txBody>
      </p:sp>
      <p:sp>
        <p:nvSpPr>
          <p:cNvPr id="3" name="Content Placeholder 2">
            <a:extLst>
              <a:ext uri="{FF2B5EF4-FFF2-40B4-BE49-F238E27FC236}">
                <a16:creationId xmlns:a16="http://schemas.microsoft.com/office/drawing/2014/main" id="{489A9E8A-319A-AAA0-1F7F-9FEF583D1C15}"/>
              </a:ext>
            </a:extLst>
          </p:cNvPr>
          <p:cNvSpPr>
            <a:spLocks noGrp="1"/>
          </p:cNvSpPr>
          <p:nvPr>
            <p:ph idx="1"/>
          </p:nvPr>
        </p:nvSpPr>
        <p:spPr>
          <a:xfrm>
            <a:off x="838200" y="1674017"/>
            <a:ext cx="11112500" cy="4574383"/>
          </a:xfrm>
        </p:spPr>
        <p:txBody>
          <a:bodyPr>
            <a:normAutofit/>
          </a:bodyPr>
          <a:lstStyle/>
          <a:p>
            <a:r>
              <a:rPr lang="en-US" dirty="0"/>
              <a:t>Investigate how individuals represent episodic memories and encode relations between items</a:t>
            </a:r>
          </a:p>
          <a:p>
            <a:r>
              <a:rPr lang="en-US" dirty="0"/>
              <a:t>Understand episodic memory by investigating relational memory at multiple levels:</a:t>
            </a:r>
          </a:p>
          <a:p>
            <a:pPr lvl="1"/>
            <a:r>
              <a:rPr lang="en-US" dirty="0"/>
              <a:t>Relations (e.g., spatial) exist among items within a scene</a:t>
            </a:r>
          </a:p>
          <a:p>
            <a:pPr lvl="1"/>
            <a:r>
              <a:rPr lang="en-US" dirty="0"/>
              <a:t>Temporal relations exist between scenes. Recalling a story involves repeated retrieval of episodic memories</a:t>
            </a:r>
          </a:p>
          <a:p>
            <a:r>
              <a:rPr lang="en-US" dirty="0"/>
              <a:t>Distinguish between the retrieval of relations involving episodic memory retrieval vs. semantic memory retrieval</a:t>
            </a:r>
          </a:p>
        </p:txBody>
      </p:sp>
    </p:spTree>
    <p:extLst>
      <p:ext uri="{BB962C8B-B14F-4D97-AF65-F5344CB8AC3E}">
        <p14:creationId xmlns:p14="http://schemas.microsoft.com/office/powerpoint/2010/main" val="40885588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85D89-0549-0C95-0C4E-44910D4AF16B}"/>
              </a:ext>
            </a:extLst>
          </p:cNvPr>
          <p:cNvSpPr>
            <a:spLocks noGrp="1"/>
          </p:cNvSpPr>
          <p:nvPr>
            <p:ph type="title"/>
          </p:nvPr>
        </p:nvSpPr>
        <p:spPr>
          <a:xfrm>
            <a:off x="838200" y="46037"/>
            <a:ext cx="10515600" cy="1325563"/>
          </a:xfrm>
        </p:spPr>
        <p:txBody>
          <a:bodyPr/>
          <a:lstStyle/>
          <a:p>
            <a:r>
              <a:rPr lang="en-US" dirty="0">
                <a:solidFill>
                  <a:srgbClr val="002060"/>
                </a:solidFill>
              </a:rPr>
              <a:t>Research goal</a:t>
            </a:r>
          </a:p>
        </p:txBody>
      </p:sp>
      <p:sp>
        <p:nvSpPr>
          <p:cNvPr id="3" name="Content Placeholder 2">
            <a:extLst>
              <a:ext uri="{FF2B5EF4-FFF2-40B4-BE49-F238E27FC236}">
                <a16:creationId xmlns:a16="http://schemas.microsoft.com/office/drawing/2014/main" id="{0712C86D-86B7-4BB1-21B2-7E11FEDD18D8}"/>
              </a:ext>
            </a:extLst>
          </p:cNvPr>
          <p:cNvSpPr>
            <a:spLocks noGrp="1"/>
          </p:cNvSpPr>
          <p:nvPr>
            <p:ph idx="1"/>
          </p:nvPr>
        </p:nvSpPr>
        <p:spPr>
          <a:xfrm>
            <a:off x="838200" y="1275315"/>
            <a:ext cx="10515600" cy="5465763"/>
          </a:xfrm>
        </p:spPr>
        <p:txBody>
          <a:bodyPr>
            <a:normAutofit fontScale="92500" lnSpcReduction="10000"/>
          </a:bodyPr>
          <a:lstStyle/>
          <a:p>
            <a:r>
              <a:rPr lang="en-US" dirty="0"/>
              <a:t>We do </a:t>
            </a:r>
            <a:r>
              <a:rPr lang="en-US" u="sng" dirty="0"/>
              <a:t>not</a:t>
            </a:r>
            <a:r>
              <a:rPr lang="en-US" dirty="0"/>
              <a:t> want to only study how multiple items representations may be active at the same time</a:t>
            </a:r>
          </a:p>
          <a:p>
            <a:pPr lvl="1"/>
            <a:r>
              <a:rPr lang="en-US" dirty="0"/>
              <a:t>Nor just study how activating one item representation leads to the activation of another item representation</a:t>
            </a:r>
          </a:p>
          <a:p>
            <a:pPr lvl="1"/>
            <a:r>
              <a:rPr lang="en-US" dirty="0"/>
              <a:t>Not novel enough</a:t>
            </a:r>
          </a:p>
          <a:p>
            <a:r>
              <a:rPr lang="en-US" dirty="0"/>
              <a:t>Rather, we want to investigate the relations themselves</a:t>
            </a:r>
          </a:p>
          <a:p>
            <a:pPr lvl="1"/>
            <a:r>
              <a:rPr lang="en-US" dirty="0"/>
              <a:t>Thinking of memory as a graph: </a:t>
            </a:r>
            <a:r>
              <a:rPr lang="en-US" i="1" dirty="0"/>
              <a:t>We want to study the edges not the nodes</a:t>
            </a:r>
          </a:p>
          <a:p>
            <a:pPr lvl="1"/>
            <a:r>
              <a:rPr lang="en-US" dirty="0"/>
              <a:t>Empirically: </a:t>
            </a:r>
          </a:p>
          <a:p>
            <a:pPr lvl="2"/>
            <a:r>
              <a:rPr lang="en-US" dirty="0"/>
              <a:t>During encoding: Identify the correlates of the brain connecting two item representations</a:t>
            </a:r>
          </a:p>
          <a:p>
            <a:pPr lvl="2"/>
            <a:r>
              <a:rPr lang="en-US" dirty="0"/>
              <a:t>During retrieval: Identify the neural correlates that reflect the activation of a relation and the correlates of neural communication via relations </a:t>
            </a:r>
          </a:p>
          <a:p>
            <a:pPr lvl="1"/>
            <a:r>
              <a:rPr lang="en-US" dirty="0"/>
              <a:t>e.g., if two items are represented in the perirhinal cortex, and their association is implemented as connections from each representation to the hippocampus. </a:t>
            </a:r>
          </a:p>
          <a:p>
            <a:pPr lvl="2"/>
            <a:r>
              <a:rPr lang="en-US" dirty="0"/>
              <a:t>Can we model the hippocampal signatures of the relation being encoded and, later, the relation being activated used during retrieval?</a:t>
            </a:r>
          </a:p>
          <a:p>
            <a:pPr lvl="2"/>
            <a:r>
              <a:rPr lang="en-US" dirty="0"/>
              <a:t>More complex: Can we model network of relations that form among multiple stimuli?</a:t>
            </a:r>
          </a:p>
          <a:p>
            <a:endParaRPr lang="en-US" dirty="0"/>
          </a:p>
        </p:txBody>
      </p:sp>
    </p:spTree>
    <p:extLst>
      <p:ext uri="{BB962C8B-B14F-4D97-AF65-F5344CB8AC3E}">
        <p14:creationId xmlns:p14="http://schemas.microsoft.com/office/powerpoint/2010/main" val="12113977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6B539-2AF8-D501-748C-D190CE835AB5}"/>
              </a:ext>
            </a:extLst>
          </p:cNvPr>
          <p:cNvSpPr>
            <a:spLocks noGrp="1"/>
          </p:cNvSpPr>
          <p:nvPr>
            <p:ph type="title"/>
          </p:nvPr>
        </p:nvSpPr>
        <p:spPr>
          <a:xfrm>
            <a:off x="838200" y="221340"/>
            <a:ext cx="10515600" cy="1325563"/>
          </a:xfrm>
        </p:spPr>
        <p:txBody>
          <a:bodyPr/>
          <a:lstStyle/>
          <a:p>
            <a:r>
              <a:rPr lang="en-US" dirty="0"/>
              <a:t>What is an episodic memory?</a:t>
            </a:r>
          </a:p>
        </p:txBody>
      </p:sp>
      <p:sp>
        <p:nvSpPr>
          <p:cNvPr id="3" name="Content Placeholder 2">
            <a:extLst>
              <a:ext uri="{FF2B5EF4-FFF2-40B4-BE49-F238E27FC236}">
                <a16:creationId xmlns:a16="http://schemas.microsoft.com/office/drawing/2014/main" id="{DBA5EF3A-B579-1F20-5251-7ADEA05C180E}"/>
              </a:ext>
            </a:extLst>
          </p:cNvPr>
          <p:cNvSpPr>
            <a:spLocks noGrp="1"/>
          </p:cNvSpPr>
          <p:nvPr>
            <p:ph idx="1"/>
          </p:nvPr>
        </p:nvSpPr>
        <p:spPr>
          <a:xfrm>
            <a:off x="451649" y="1471600"/>
            <a:ext cx="5701763" cy="3327754"/>
          </a:xfrm>
        </p:spPr>
        <p:txBody>
          <a:bodyPr>
            <a:normAutofit lnSpcReduction="10000"/>
          </a:bodyPr>
          <a:lstStyle/>
          <a:p>
            <a:r>
              <a:rPr lang="en-US" dirty="0"/>
              <a:t>Memory for an experience</a:t>
            </a:r>
          </a:p>
          <a:p>
            <a:r>
              <a:rPr lang="en-US" dirty="0"/>
              <a:t>Episodic memory:</a:t>
            </a:r>
          </a:p>
          <a:p>
            <a:pPr lvl="1"/>
            <a:r>
              <a:rPr lang="en-US" i="1" dirty="0"/>
              <a:t>Familiarity</a:t>
            </a:r>
            <a:r>
              <a:rPr lang="en-US" dirty="0"/>
              <a:t> + </a:t>
            </a:r>
            <a:r>
              <a:rPr lang="en-US" i="1" dirty="0"/>
              <a:t>relation</a:t>
            </a:r>
          </a:p>
          <a:p>
            <a:r>
              <a:rPr lang="en-US" i="1" dirty="0"/>
              <a:t>Familiarity</a:t>
            </a:r>
            <a:r>
              <a:rPr lang="en-US" dirty="0"/>
              <a:t>:</a:t>
            </a:r>
          </a:p>
          <a:p>
            <a:pPr lvl="1"/>
            <a:r>
              <a:rPr lang="en-US" dirty="0"/>
              <a:t>Activation of an item representation</a:t>
            </a:r>
          </a:p>
          <a:p>
            <a:pPr lvl="1"/>
            <a:r>
              <a:rPr lang="en-US" dirty="0"/>
              <a:t>Some pattern completion (i.e., retrieve the item upon only being shown some features of the item) </a:t>
            </a:r>
          </a:p>
          <a:p>
            <a:pPr lvl="1"/>
            <a:endParaRPr lang="en-US" dirty="0"/>
          </a:p>
        </p:txBody>
      </p:sp>
      <p:cxnSp>
        <p:nvCxnSpPr>
          <p:cNvPr id="5" name="Straight Arrow Connector 4">
            <a:extLst>
              <a:ext uri="{FF2B5EF4-FFF2-40B4-BE49-F238E27FC236}">
                <a16:creationId xmlns:a16="http://schemas.microsoft.com/office/drawing/2014/main" id="{20A0E67D-AE82-B199-25FD-DDAC7BDC2A31}"/>
              </a:ext>
            </a:extLst>
          </p:cNvPr>
          <p:cNvCxnSpPr/>
          <p:nvPr/>
        </p:nvCxnSpPr>
        <p:spPr>
          <a:xfrm>
            <a:off x="8761124" y="5515880"/>
            <a:ext cx="1692000"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A44A7448-ECD3-4860-3FD3-5FBF8221721E}"/>
              </a:ext>
            </a:extLst>
          </p:cNvPr>
          <p:cNvSpPr/>
          <p:nvPr/>
        </p:nvSpPr>
        <p:spPr>
          <a:xfrm>
            <a:off x="10508887" y="4498774"/>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6D98ACDC-9307-746E-DBF4-08A42948DACE}"/>
              </a:ext>
            </a:extLst>
          </p:cNvPr>
          <p:cNvSpPr/>
          <p:nvPr/>
        </p:nvSpPr>
        <p:spPr>
          <a:xfrm>
            <a:off x="10508887" y="5954761"/>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2FC9323-A3DD-D44D-7C27-8D7D89C603B7}"/>
              </a:ext>
            </a:extLst>
          </p:cNvPr>
          <p:cNvSpPr/>
          <p:nvPr/>
        </p:nvSpPr>
        <p:spPr>
          <a:xfrm>
            <a:off x="11978924" y="4498774"/>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2B6035B-8A2D-1495-EC9C-A97825A9E45B}"/>
              </a:ext>
            </a:extLst>
          </p:cNvPr>
          <p:cNvSpPr/>
          <p:nvPr/>
        </p:nvSpPr>
        <p:spPr>
          <a:xfrm>
            <a:off x="11978924" y="5954761"/>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19F762CD-2966-CA2B-7069-CB86F697A5D7}"/>
              </a:ext>
            </a:extLst>
          </p:cNvPr>
          <p:cNvCxnSpPr>
            <a:cxnSpLocks/>
            <a:stCxn id="6" idx="5"/>
            <a:endCxn id="10" idx="1"/>
          </p:cNvCxnSpPr>
          <p:nvPr/>
        </p:nvCxnSpPr>
        <p:spPr>
          <a:xfrm>
            <a:off x="11031262" y="5021149"/>
            <a:ext cx="1037287" cy="102323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FFDA81A-DF0A-E571-43A1-07DD3E897AA5}"/>
              </a:ext>
            </a:extLst>
          </p:cNvPr>
          <p:cNvCxnSpPr>
            <a:cxnSpLocks/>
            <a:stCxn id="8" idx="6"/>
            <a:endCxn id="10" idx="2"/>
          </p:cNvCxnSpPr>
          <p:nvPr/>
        </p:nvCxnSpPr>
        <p:spPr>
          <a:xfrm>
            <a:off x="11120887" y="6260761"/>
            <a:ext cx="858037"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F675D90-262B-75B4-A9AD-B9770F6F0C00}"/>
              </a:ext>
            </a:extLst>
          </p:cNvPr>
          <p:cNvCxnSpPr>
            <a:cxnSpLocks/>
            <a:stCxn id="10" idx="0"/>
            <a:endCxn id="9" idx="4"/>
          </p:cNvCxnSpPr>
          <p:nvPr/>
        </p:nvCxnSpPr>
        <p:spPr>
          <a:xfrm flipV="1">
            <a:off x="12284924" y="5110774"/>
            <a:ext cx="0" cy="84398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C96F079E-6D92-A9ED-0C5D-502F1356372D}"/>
              </a:ext>
            </a:extLst>
          </p:cNvPr>
          <p:cNvCxnSpPr>
            <a:cxnSpLocks/>
            <a:stCxn id="6" idx="6"/>
            <a:endCxn id="9" idx="2"/>
          </p:cNvCxnSpPr>
          <p:nvPr/>
        </p:nvCxnSpPr>
        <p:spPr>
          <a:xfrm>
            <a:off x="11120887" y="4804774"/>
            <a:ext cx="858037"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263B9CF-2AFA-4F7C-4295-9408E899DB87}"/>
              </a:ext>
            </a:extLst>
          </p:cNvPr>
          <p:cNvCxnSpPr>
            <a:cxnSpLocks/>
            <a:stCxn id="8" idx="0"/>
            <a:endCxn id="6" idx="4"/>
          </p:cNvCxnSpPr>
          <p:nvPr/>
        </p:nvCxnSpPr>
        <p:spPr>
          <a:xfrm flipV="1">
            <a:off x="10814887" y="5110774"/>
            <a:ext cx="0" cy="84398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4596974-85A8-88FA-4532-98080734066F}"/>
              </a:ext>
            </a:extLst>
          </p:cNvPr>
          <p:cNvCxnSpPr>
            <a:cxnSpLocks/>
            <a:stCxn id="8" idx="7"/>
            <a:endCxn id="9" idx="3"/>
          </p:cNvCxnSpPr>
          <p:nvPr/>
        </p:nvCxnSpPr>
        <p:spPr>
          <a:xfrm flipV="1">
            <a:off x="11031262" y="5021149"/>
            <a:ext cx="1037287" cy="102323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8CF15DC5-EA00-8F38-F56B-B9124AC58B75}"/>
              </a:ext>
            </a:extLst>
          </p:cNvPr>
          <p:cNvSpPr/>
          <p:nvPr/>
        </p:nvSpPr>
        <p:spPr>
          <a:xfrm>
            <a:off x="6493124" y="4356601"/>
            <a:ext cx="6228000" cy="231855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1E799DC4-8A76-BC1F-5C20-16F1081BB933}"/>
              </a:ext>
            </a:extLst>
          </p:cNvPr>
          <p:cNvSpPr/>
          <p:nvPr/>
        </p:nvSpPr>
        <p:spPr>
          <a:xfrm>
            <a:off x="6571087" y="4498774"/>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BF61576D-2235-0C00-B08A-F2D26B27C0ED}"/>
              </a:ext>
            </a:extLst>
          </p:cNvPr>
          <p:cNvSpPr/>
          <p:nvPr/>
        </p:nvSpPr>
        <p:spPr>
          <a:xfrm>
            <a:off x="6571087" y="5954761"/>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66701528-C27C-2616-8085-397F2B0F33B9}"/>
              </a:ext>
            </a:extLst>
          </p:cNvPr>
          <p:cNvSpPr/>
          <p:nvPr/>
        </p:nvSpPr>
        <p:spPr>
          <a:xfrm>
            <a:off x="8041124" y="4498774"/>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CF368C55-A444-C8FE-AE3B-89DDA4D6121D}"/>
              </a:ext>
            </a:extLst>
          </p:cNvPr>
          <p:cNvSpPr/>
          <p:nvPr/>
        </p:nvSpPr>
        <p:spPr>
          <a:xfrm>
            <a:off x="8041124" y="5954761"/>
            <a:ext cx="612000" cy="612000"/>
          </a:xfrm>
          <a:prstGeom prst="ellipse">
            <a:avLst/>
          </a:prstGeom>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a:extLst>
              <a:ext uri="{FF2B5EF4-FFF2-40B4-BE49-F238E27FC236}">
                <a16:creationId xmlns:a16="http://schemas.microsoft.com/office/drawing/2014/main" id="{C7E9A6EA-6D52-250E-E172-7833E37ECBE4}"/>
              </a:ext>
            </a:extLst>
          </p:cNvPr>
          <p:cNvCxnSpPr>
            <a:cxnSpLocks/>
            <a:stCxn id="40" idx="5"/>
            <a:endCxn id="43" idx="1"/>
          </p:cNvCxnSpPr>
          <p:nvPr/>
        </p:nvCxnSpPr>
        <p:spPr>
          <a:xfrm>
            <a:off x="7093462" y="5021149"/>
            <a:ext cx="1037287" cy="102323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9B51093A-1CB2-6411-C44D-8519EC989A0F}"/>
              </a:ext>
            </a:extLst>
          </p:cNvPr>
          <p:cNvCxnSpPr>
            <a:cxnSpLocks/>
            <a:stCxn id="41" idx="6"/>
            <a:endCxn id="43" idx="2"/>
          </p:cNvCxnSpPr>
          <p:nvPr/>
        </p:nvCxnSpPr>
        <p:spPr>
          <a:xfrm>
            <a:off x="7183087" y="6260761"/>
            <a:ext cx="858037"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1577701F-A8C9-B08C-5694-52A134CFD95E}"/>
              </a:ext>
            </a:extLst>
          </p:cNvPr>
          <p:cNvCxnSpPr>
            <a:cxnSpLocks/>
            <a:stCxn id="43" idx="0"/>
            <a:endCxn id="42" idx="4"/>
          </p:cNvCxnSpPr>
          <p:nvPr/>
        </p:nvCxnSpPr>
        <p:spPr>
          <a:xfrm flipV="1">
            <a:off x="8347124" y="5110774"/>
            <a:ext cx="0" cy="84398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8287CA55-D412-0907-49DD-3C6C06A27C6E}"/>
              </a:ext>
            </a:extLst>
          </p:cNvPr>
          <p:cNvCxnSpPr>
            <a:cxnSpLocks/>
            <a:stCxn id="40" idx="6"/>
            <a:endCxn id="42" idx="2"/>
          </p:cNvCxnSpPr>
          <p:nvPr/>
        </p:nvCxnSpPr>
        <p:spPr>
          <a:xfrm>
            <a:off x="7183087" y="4804774"/>
            <a:ext cx="858037"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8178512A-FB82-153C-3110-5C518946915B}"/>
              </a:ext>
            </a:extLst>
          </p:cNvPr>
          <p:cNvCxnSpPr>
            <a:cxnSpLocks/>
            <a:stCxn id="41" idx="0"/>
            <a:endCxn id="40" idx="4"/>
          </p:cNvCxnSpPr>
          <p:nvPr/>
        </p:nvCxnSpPr>
        <p:spPr>
          <a:xfrm flipV="1">
            <a:off x="6877087" y="5110774"/>
            <a:ext cx="0" cy="84398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C81A4F4D-0742-77B6-4216-A3C019AD9538}"/>
              </a:ext>
            </a:extLst>
          </p:cNvPr>
          <p:cNvCxnSpPr>
            <a:cxnSpLocks/>
            <a:stCxn id="41" idx="7"/>
            <a:endCxn id="42" idx="3"/>
          </p:cNvCxnSpPr>
          <p:nvPr/>
        </p:nvCxnSpPr>
        <p:spPr>
          <a:xfrm flipV="1">
            <a:off x="7093462" y="5021149"/>
            <a:ext cx="1037287" cy="1023237"/>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B3635516-F84C-3CC8-92B9-5E7C561602D8}"/>
              </a:ext>
            </a:extLst>
          </p:cNvPr>
          <p:cNvSpPr/>
          <p:nvPr/>
        </p:nvSpPr>
        <p:spPr>
          <a:xfrm>
            <a:off x="8706748" y="4430101"/>
            <a:ext cx="3949573" cy="2187060"/>
          </a:xfrm>
          <a:prstGeom prst="rect">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B25FB231-ED13-BC5F-6E5A-DDDBB90D1B2A}"/>
              </a:ext>
            </a:extLst>
          </p:cNvPr>
          <p:cNvSpPr txBox="1"/>
          <p:nvPr/>
        </p:nvSpPr>
        <p:spPr>
          <a:xfrm>
            <a:off x="245792" y="4394071"/>
            <a:ext cx="5918437" cy="2369880"/>
          </a:xfrm>
          <a:prstGeom prst="rect">
            <a:avLst/>
          </a:prstGeom>
          <a:noFill/>
        </p:spPr>
        <p:txBody>
          <a:bodyPr wrap="square">
            <a:spAutoFit/>
          </a:bodyPr>
          <a:lstStyle/>
          <a:p>
            <a:pPr marL="285750" indent="-285750">
              <a:buFont typeface="Arial" panose="020B0604020202020204" pitchFamily="34" charset="0"/>
              <a:buChar char="•"/>
            </a:pPr>
            <a:r>
              <a:rPr lang="en-US" sz="2800" i="1" dirty="0">
                <a:latin typeface="Arial" panose="020B0604020202020204" pitchFamily="34" charset="0"/>
                <a:cs typeface="Arial" panose="020B0604020202020204" pitchFamily="34" charset="0"/>
              </a:rPr>
              <a:t>Recollection</a:t>
            </a:r>
            <a:r>
              <a:rPr lang="en-US" sz="2800" dirty="0">
                <a:latin typeface="Arial" panose="020B0604020202020204" pitchFamily="34" charset="0"/>
                <a:cs typeface="Arial" panose="020B0604020202020204" pitchFamily="34" charset="0"/>
              </a:rPr>
              <a:t>:</a:t>
            </a:r>
          </a:p>
          <a:p>
            <a:pPr marL="742950" lvl="1" indent="-285750">
              <a:buFont typeface="Courier New" panose="02070309020205020404" pitchFamily="49" charset="0"/>
              <a:buChar char="o"/>
            </a:pPr>
            <a:r>
              <a:rPr lang="en-US" sz="2400" dirty="0">
                <a:latin typeface="Arial" panose="020B0604020202020204" pitchFamily="34" charset="0"/>
                <a:cs typeface="Arial" panose="020B0604020202020204" pitchFamily="34" charset="0"/>
              </a:rPr>
              <a:t>Retrieval of (1) yourself performing an action and (2) the scene following the action</a:t>
            </a:r>
          </a:p>
          <a:p>
            <a:pPr marL="742950" lvl="1" indent="-285750">
              <a:buFont typeface="Courier New" panose="02070309020205020404" pitchFamily="49" charset="0"/>
              <a:buChar char="o"/>
            </a:pPr>
            <a:r>
              <a:rPr lang="en-US" sz="2400" dirty="0">
                <a:latin typeface="Arial" panose="020B0604020202020204" pitchFamily="34" charset="0"/>
                <a:cs typeface="Arial" panose="020B0604020202020204" pitchFamily="34" charset="0"/>
              </a:rPr>
              <a:t>Recollection is a video clip, not an image</a:t>
            </a:r>
          </a:p>
        </p:txBody>
      </p:sp>
      <p:sp>
        <p:nvSpPr>
          <p:cNvPr id="53" name="TextBox 52">
            <a:extLst>
              <a:ext uri="{FF2B5EF4-FFF2-40B4-BE49-F238E27FC236}">
                <a16:creationId xmlns:a16="http://schemas.microsoft.com/office/drawing/2014/main" id="{CCE0AC59-9ECD-4EB4-EA25-864EF18A59E9}"/>
              </a:ext>
            </a:extLst>
          </p:cNvPr>
          <p:cNvSpPr txBox="1"/>
          <p:nvPr/>
        </p:nvSpPr>
        <p:spPr>
          <a:xfrm>
            <a:off x="6684411" y="1466675"/>
            <a:ext cx="5023873" cy="892552"/>
          </a:xfrm>
          <a:prstGeom prst="rect">
            <a:avLst/>
          </a:prstGeom>
          <a:noFill/>
        </p:spPr>
        <p:txBody>
          <a:bodyPr wrap="square">
            <a:spAutoFit/>
          </a:bodyPr>
          <a:lstStyle/>
          <a:p>
            <a:pPr marL="285750" indent="-285750">
              <a:buFont typeface="Arial" panose="020B0604020202020204" pitchFamily="34" charset="0"/>
              <a:buChar char="•"/>
            </a:pPr>
            <a:r>
              <a:rPr lang="en-US" sz="2800" i="1" dirty="0">
                <a:latin typeface="Arial" panose="020B0604020202020204" pitchFamily="34" charset="0"/>
                <a:cs typeface="Arial" panose="020B0604020202020204" pitchFamily="34" charset="0"/>
              </a:rPr>
              <a:t>Scene</a:t>
            </a:r>
            <a:r>
              <a:rPr lang="en-US" sz="2800" dirty="0">
                <a:latin typeface="Arial" panose="020B0604020202020204" pitchFamily="34" charset="0"/>
                <a:cs typeface="Arial" panose="020B0604020202020204" pitchFamily="34" charset="0"/>
              </a:rPr>
              <a:t>:</a:t>
            </a:r>
          </a:p>
          <a:p>
            <a:pPr marL="742950" lvl="1" indent="-285750">
              <a:buFont typeface="Courier New" panose="02070309020205020404" pitchFamily="49" charset="0"/>
              <a:buChar char="o"/>
            </a:pPr>
            <a:r>
              <a:rPr lang="en-US" sz="2400" dirty="0">
                <a:latin typeface="Arial" panose="020B0604020202020204" pitchFamily="34" charset="0"/>
                <a:cs typeface="Arial" panose="020B0604020202020204" pitchFamily="34" charset="0"/>
              </a:rPr>
              <a:t>Collection of related items</a:t>
            </a:r>
          </a:p>
        </p:txBody>
      </p:sp>
    </p:spTree>
    <p:extLst>
      <p:ext uri="{BB962C8B-B14F-4D97-AF65-F5344CB8AC3E}">
        <p14:creationId xmlns:p14="http://schemas.microsoft.com/office/powerpoint/2010/main" val="17866233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D4D8E77-6EAD-B6D4-6CD2-0C1431F0F6FE}"/>
              </a:ext>
            </a:extLst>
          </p:cNvPr>
          <p:cNvSpPr/>
          <p:nvPr/>
        </p:nvSpPr>
        <p:spPr>
          <a:xfrm>
            <a:off x="8599468" y="203387"/>
            <a:ext cx="1270000" cy="1270000"/>
          </a:xfrm>
          <a:prstGeom prst="rect">
            <a:avLst/>
          </a:prstGeom>
          <a:solidFill>
            <a:schemeClr val="bg1"/>
          </a:solid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71EDC384-2A0E-EEB3-78A4-D1F55453A91D}"/>
              </a:ext>
            </a:extLst>
          </p:cNvPr>
          <p:cNvPicPr>
            <a:picLocks noChangeAspect="1"/>
          </p:cNvPicPr>
          <p:nvPr/>
        </p:nvPicPr>
        <p:blipFill>
          <a:blip r:embed="rId3"/>
          <a:stretch>
            <a:fillRect/>
          </a:stretch>
        </p:blipFill>
        <p:spPr>
          <a:xfrm>
            <a:off x="8724900" y="293418"/>
            <a:ext cx="1087801" cy="798639"/>
          </a:xfrm>
          <a:prstGeom prst="rect">
            <a:avLst/>
          </a:prstGeom>
        </p:spPr>
      </p:pic>
      <p:sp>
        <p:nvSpPr>
          <p:cNvPr id="12" name="Rectangle 11">
            <a:extLst>
              <a:ext uri="{FF2B5EF4-FFF2-40B4-BE49-F238E27FC236}">
                <a16:creationId xmlns:a16="http://schemas.microsoft.com/office/drawing/2014/main" id="{552D42D5-B32B-3952-6151-BAAFEDA82D15}"/>
              </a:ext>
            </a:extLst>
          </p:cNvPr>
          <p:cNvSpPr/>
          <p:nvPr/>
        </p:nvSpPr>
        <p:spPr>
          <a:xfrm>
            <a:off x="9193193" y="732888"/>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6516D461-CEC5-7E2C-9257-E7837FE91182}"/>
              </a:ext>
            </a:extLst>
          </p:cNvPr>
          <p:cNvSpPr txBox="1"/>
          <p:nvPr/>
        </p:nvSpPr>
        <p:spPr>
          <a:xfrm>
            <a:off x="9235042" y="822920"/>
            <a:ext cx="1196441"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Respond</a:t>
            </a:r>
          </a:p>
        </p:txBody>
      </p:sp>
      <p:sp>
        <p:nvSpPr>
          <p:cNvPr id="2" name="Title 1">
            <a:extLst>
              <a:ext uri="{FF2B5EF4-FFF2-40B4-BE49-F238E27FC236}">
                <a16:creationId xmlns:a16="http://schemas.microsoft.com/office/drawing/2014/main" id="{DA357CED-64BC-02CE-76CA-C9E94A9ABB40}"/>
              </a:ext>
            </a:extLst>
          </p:cNvPr>
          <p:cNvSpPr>
            <a:spLocks noGrp="1"/>
          </p:cNvSpPr>
          <p:nvPr>
            <p:ph type="title"/>
          </p:nvPr>
        </p:nvSpPr>
        <p:spPr>
          <a:xfrm>
            <a:off x="838200" y="257125"/>
            <a:ext cx="7250053" cy="424889"/>
          </a:xfrm>
        </p:spPr>
        <p:txBody>
          <a:bodyPr>
            <a:normAutofit fontScale="90000"/>
          </a:bodyPr>
          <a:lstStyle/>
          <a:p>
            <a:r>
              <a:rPr lang="en-US" dirty="0">
                <a:solidFill>
                  <a:srgbClr val="002060"/>
                </a:solidFill>
              </a:rPr>
              <a:t>Task idea 1</a:t>
            </a:r>
          </a:p>
        </p:txBody>
      </p:sp>
      <p:sp>
        <p:nvSpPr>
          <p:cNvPr id="3" name="Content Placeholder 2">
            <a:extLst>
              <a:ext uri="{FF2B5EF4-FFF2-40B4-BE49-F238E27FC236}">
                <a16:creationId xmlns:a16="http://schemas.microsoft.com/office/drawing/2014/main" id="{2857CA20-F434-0246-9F14-8DBD6D441BF0}"/>
              </a:ext>
            </a:extLst>
          </p:cNvPr>
          <p:cNvSpPr>
            <a:spLocks noGrp="1"/>
          </p:cNvSpPr>
          <p:nvPr>
            <p:ph idx="1"/>
          </p:nvPr>
        </p:nvSpPr>
        <p:spPr>
          <a:xfrm>
            <a:off x="355600" y="867300"/>
            <a:ext cx="8534400" cy="5787313"/>
          </a:xfrm>
        </p:spPr>
        <p:txBody>
          <a:bodyPr>
            <a:normAutofit fontScale="77500" lnSpcReduction="20000"/>
          </a:bodyPr>
          <a:lstStyle/>
          <a:p>
            <a:r>
              <a:rPr lang="en-US" dirty="0"/>
              <a:t>Encoding:</a:t>
            </a:r>
          </a:p>
          <a:p>
            <a:pPr lvl="1"/>
            <a:r>
              <a:rPr lang="en-US" dirty="0"/>
              <a:t>Participants perform task loosely related to a 1-back task</a:t>
            </a:r>
          </a:p>
          <a:p>
            <a:pPr lvl="1"/>
            <a:r>
              <a:rPr lang="en-US" dirty="0"/>
              <a:t>In each trial:</a:t>
            </a:r>
          </a:p>
          <a:p>
            <a:pPr lvl="2"/>
            <a:r>
              <a:rPr lang="en-US" dirty="0"/>
              <a:t>Presentation of image</a:t>
            </a:r>
          </a:p>
          <a:p>
            <a:pPr lvl="2"/>
            <a:r>
              <a:rPr lang="en-US" dirty="0"/>
              <a:t>Prompted to indicate some relationship with the previous image (e.g., was it larger/same color/etc.)</a:t>
            </a:r>
          </a:p>
          <a:p>
            <a:pPr lvl="1"/>
            <a:r>
              <a:rPr lang="en-US" dirty="0"/>
              <a:t>Each trial is 6 s, with 3 s presentation + response and ~3 s jitter</a:t>
            </a:r>
          </a:p>
          <a:p>
            <a:pPr lvl="1"/>
            <a:r>
              <a:rPr lang="en-US" dirty="0"/>
              <a:t>This is a longer presentation than a standard 1-back.</a:t>
            </a:r>
          </a:p>
          <a:p>
            <a:pPr lvl="2"/>
            <a:r>
              <a:rPr lang="en-US" dirty="0"/>
              <a:t>Encourage formation of episodic memories rather than just semantic memories</a:t>
            </a:r>
          </a:p>
          <a:p>
            <a:r>
              <a:rPr lang="en-US" dirty="0"/>
              <a:t>Retrieval:</a:t>
            </a:r>
          </a:p>
          <a:p>
            <a:pPr lvl="1"/>
            <a:r>
              <a:rPr lang="en-US" dirty="0"/>
              <a:t>In a single trial:</a:t>
            </a:r>
          </a:p>
          <a:p>
            <a:pPr lvl="2"/>
            <a:r>
              <a:rPr lang="en-US" dirty="0"/>
              <a:t>Participants shown image X and perform R/K task for it</a:t>
            </a:r>
          </a:p>
          <a:p>
            <a:pPr lvl="2"/>
            <a:r>
              <a:rPr lang="en-US" dirty="0"/>
              <a:t>Participants shown image B, asked whether it was (1) previously shown just before X, (2) is similar to the image shown just before X, or (3) neither</a:t>
            </a:r>
          </a:p>
          <a:p>
            <a:pPr lvl="2"/>
            <a:r>
              <a:rPr lang="en-US" dirty="0"/>
              <a:t>Participants shown image A, asked whether it was (1) previously shown just after X, (2) is similar to the image shown just after X, or (3) neither</a:t>
            </a:r>
          </a:p>
          <a:p>
            <a:r>
              <a:rPr lang="en-US" dirty="0"/>
              <a:t>Note:</a:t>
            </a:r>
          </a:p>
          <a:p>
            <a:pPr lvl="1"/>
            <a:r>
              <a:rPr lang="en-US" dirty="0"/>
              <a:t>Must be in a single session or else memory will degrade too much</a:t>
            </a:r>
          </a:p>
          <a:p>
            <a:pPr lvl="1"/>
            <a:r>
              <a:rPr lang="en-US" dirty="0"/>
              <a:t>Could vary the encoding question to be about different stimulus properties (e.g., Corish/k-crops perceptual vs. conceptual question)</a:t>
            </a:r>
          </a:p>
          <a:p>
            <a:pPr lvl="1"/>
            <a:r>
              <a:rPr lang="en-US" dirty="0"/>
              <a:t>Using the cue in an R/K test means it shouldn’t be repeated?</a:t>
            </a:r>
          </a:p>
          <a:p>
            <a:pPr lvl="1"/>
            <a:r>
              <a:rPr lang="en-US" dirty="0"/>
              <a:t>Could investigate memory for directionality accuracy, but I’m not sure how interesting that is</a:t>
            </a:r>
          </a:p>
        </p:txBody>
      </p:sp>
      <p:sp>
        <p:nvSpPr>
          <p:cNvPr id="4" name="Rectangle 3">
            <a:extLst>
              <a:ext uri="{FF2B5EF4-FFF2-40B4-BE49-F238E27FC236}">
                <a16:creationId xmlns:a16="http://schemas.microsoft.com/office/drawing/2014/main" id="{F698540C-7F09-5AF1-5C2A-FE863B18593E}"/>
              </a:ext>
            </a:extLst>
          </p:cNvPr>
          <p:cNvSpPr/>
          <p:nvPr/>
        </p:nvSpPr>
        <p:spPr>
          <a:xfrm>
            <a:off x="9490075" y="1180255"/>
            <a:ext cx="1270000" cy="1270000"/>
          </a:xfrm>
          <a:prstGeom prst="rect">
            <a:avLst/>
          </a:prstGeom>
          <a:solidFill>
            <a:schemeClr val="bg1"/>
          </a:solidFill>
          <a:ln w="38100">
            <a:solidFill>
              <a:srgbClr val="FF7C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633F34C5-300E-EE25-88F5-EF5371FB59E3}"/>
              </a:ext>
            </a:extLst>
          </p:cNvPr>
          <p:cNvPicPr>
            <a:picLocks noChangeAspect="1"/>
          </p:cNvPicPr>
          <p:nvPr/>
        </p:nvPicPr>
        <p:blipFill>
          <a:blip r:embed="rId4"/>
          <a:stretch>
            <a:fillRect/>
          </a:stretch>
        </p:blipFill>
        <p:spPr>
          <a:xfrm>
            <a:off x="9566274" y="1259422"/>
            <a:ext cx="1090613" cy="821501"/>
          </a:xfrm>
          <a:prstGeom prst="rect">
            <a:avLst/>
          </a:prstGeom>
        </p:spPr>
      </p:pic>
      <p:sp>
        <p:nvSpPr>
          <p:cNvPr id="7" name="Rectangle 6">
            <a:extLst>
              <a:ext uri="{FF2B5EF4-FFF2-40B4-BE49-F238E27FC236}">
                <a16:creationId xmlns:a16="http://schemas.microsoft.com/office/drawing/2014/main" id="{94680057-FE45-73DC-B24B-A7AE3561A251}"/>
              </a:ext>
            </a:extLst>
          </p:cNvPr>
          <p:cNvSpPr/>
          <p:nvPr/>
        </p:nvSpPr>
        <p:spPr>
          <a:xfrm>
            <a:off x="10083800" y="1709756"/>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C822B0A-F8C7-5886-9E23-0FE0467D0A13}"/>
              </a:ext>
            </a:extLst>
          </p:cNvPr>
          <p:cNvSpPr txBox="1"/>
          <p:nvPr/>
        </p:nvSpPr>
        <p:spPr>
          <a:xfrm>
            <a:off x="10163294" y="1799788"/>
            <a:ext cx="1172116" cy="369332"/>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Respond</a:t>
            </a:r>
          </a:p>
        </p:txBody>
      </p:sp>
      <p:sp>
        <p:nvSpPr>
          <p:cNvPr id="20" name="Rectangle 19">
            <a:extLst>
              <a:ext uri="{FF2B5EF4-FFF2-40B4-BE49-F238E27FC236}">
                <a16:creationId xmlns:a16="http://schemas.microsoft.com/office/drawing/2014/main" id="{4DEA2FE5-5B33-B7C2-D7DB-5FD73B99C328}"/>
              </a:ext>
            </a:extLst>
          </p:cNvPr>
          <p:cNvSpPr/>
          <p:nvPr/>
        </p:nvSpPr>
        <p:spPr>
          <a:xfrm>
            <a:off x="10566400" y="2230080"/>
            <a:ext cx="1270000" cy="1270000"/>
          </a:xfrm>
          <a:prstGeom prst="rect">
            <a:avLst/>
          </a:prstGeom>
          <a:solidFill>
            <a:schemeClr val="bg1"/>
          </a:solidFill>
          <a:ln w="381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5F0F0BF4-F7E4-67EB-B3BF-8CECAEDE6CF2}"/>
              </a:ext>
            </a:extLst>
          </p:cNvPr>
          <p:cNvPicPr>
            <a:picLocks noChangeAspect="1"/>
          </p:cNvPicPr>
          <p:nvPr/>
        </p:nvPicPr>
        <p:blipFill>
          <a:blip r:embed="rId5"/>
          <a:stretch>
            <a:fillRect/>
          </a:stretch>
        </p:blipFill>
        <p:spPr>
          <a:xfrm>
            <a:off x="10745797" y="2383371"/>
            <a:ext cx="993755" cy="694267"/>
          </a:xfrm>
          <a:prstGeom prst="rect">
            <a:avLst/>
          </a:prstGeom>
        </p:spPr>
      </p:pic>
      <p:sp>
        <p:nvSpPr>
          <p:cNvPr id="23" name="Rectangle 22">
            <a:extLst>
              <a:ext uri="{FF2B5EF4-FFF2-40B4-BE49-F238E27FC236}">
                <a16:creationId xmlns:a16="http://schemas.microsoft.com/office/drawing/2014/main" id="{1C9EB3B2-BB3D-76F0-ABF7-48BAB99C8A9E}"/>
              </a:ext>
            </a:extLst>
          </p:cNvPr>
          <p:cNvSpPr/>
          <p:nvPr/>
        </p:nvSpPr>
        <p:spPr>
          <a:xfrm>
            <a:off x="8839190" y="3904301"/>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849FF84E-EB49-7190-5C7B-F519E19D4C4E}"/>
              </a:ext>
            </a:extLst>
          </p:cNvPr>
          <p:cNvPicPr>
            <a:picLocks noChangeAspect="1"/>
          </p:cNvPicPr>
          <p:nvPr/>
        </p:nvPicPr>
        <p:blipFill>
          <a:blip r:embed="rId4"/>
          <a:stretch>
            <a:fillRect/>
          </a:stretch>
        </p:blipFill>
        <p:spPr>
          <a:xfrm>
            <a:off x="8915389" y="3983468"/>
            <a:ext cx="1090613" cy="821501"/>
          </a:xfrm>
          <a:prstGeom prst="rect">
            <a:avLst/>
          </a:prstGeom>
        </p:spPr>
      </p:pic>
      <p:sp>
        <p:nvSpPr>
          <p:cNvPr id="25" name="TextBox 24">
            <a:extLst>
              <a:ext uri="{FF2B5EF4-FFF2-40B4-BE49-F238E27FC236}">
                <a16:creationId xmlns:a16="http://schemas.microsoft.com/office/drawing/2014/main" id="{654CFF3D-E49E-C80D-007D-5D8A340D5606}"/>
              </a:ext>
            </a:extLst>
          </p:cNvPr>
          <p:cNvSpPr txBox="1"/>
          <p:nvPr/>
        </p:nvSpPr>
        <p:spPr>
          <a:xfrm>
            <a:off x="8850856" y="4799737"/>
            <a:ext cx="813043" cy="369332"/>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R/K/N</a:t>
            </a:r>
          </a:p>
        </p:txBody>
      </p:sp>
      <p:sp>
        <p:nvSpPr>
          <p:cNvPr id="31" name="TextBox 30">
            <a:extLst>
              <a:ext uri="{FF2B5EF4-FFF2-40B4-BE49-F238E27FC236}">
                <a16:creationId xmlns:a16="http://schemas.microsoft.com/office/drawing/2014/main" id="{ADE44483-3F24-A7D7-D3B9-2A8B811BA56B}"/>
              </a:ext>
            </a:extLst>
          </p:cNvPr>
          <p:cNvSpPr txBox="1"/>
          <p:nvPr/>
        </p:nvSpPr>
        <p:spPr>
          <a:xfrm>
            <a:off x="10769026" y="979018"/>
            <a:ext cx="755015" cy="646331"/>
          </a:xfrm>
          <a:prstGeom prst="rect">
            <a:avLst/>
          </a:prstGeom>
          <a:noFill/>
        </p:spPr>
        <p:txBody>
          <a:bodyPr wrap="none" rtlCol="0">
            <a:spAutoFit/>
          </a:bodyPr>
          <a:lstStyle/>
          <a:p>
            <a:r>
              <a:rPr lang="en-US" dirty="0">
                <a:solidFill>
                  <a:srgbClr val="FF7C80"/>
                </a:solidFill>
              </a:rPr>
              <a:t>“Cue”</a:t>
            </a:r>
          </a:p>
          <a:p>
            <a:r>
              <a:rPr lang="en-US" dirty="0">
                <a:solidFill>
                  <a:srgbClr val="FF7C80"/>
                </a:solidFill>
              </a:rPr>
              <a:t>image</a:t>
            </a:r>
          </a:p>
        </p:txBody>
      </p:sp>
      <p:sp>
        <p:nvSpPr>
          <p:cNvPr id="32" name="TextBox 31">
            <a:extLst>
              <a:ext uri="{FF2B5EF4-FFF2-40B4-BE49-F238E27FC236}">
                <a16:creationId xmlns:a16="http://schemas.microsoft.com/office/drawing/2014/main" id="{2383EF82-A258-5C83-27F9-35A773ABB56A}"/>
              </a:ext>
            </a:extLst>
          </p:cNvPr>
          <p:cNvSpPr txBox="1"/>
          <p:nvPr/>
        </p:nvSpPr>
        <p:spPr>
          <a:xfrm>
            <a:off x="9908006" y="35683"/>
            <a:ext cx="1042530" cy="646331"/>
          </a:xfrm>
          <a:prstGeom prst="rect">
            <a:avLst/>
          </a:prstGeom>
          <a:noFill/>
        </p:spPr>
        <p:txBody>
          <a:bodyPr wrap="square" rtlCol="0">
            <a:spAutoFit/>
          </a:bodyPr>
          <a:lstStyle/>
          <a:p>
            <a:r>
              <a:rPr lang="en-US" dirty="0">
                <a:solidFill>
                  <a:srgbClr val="7030A0"/>
                </a:solidFill>
              </a:rPr>
              <a:t>“Target” image</a:t>
            </a:r>
          </a:p>
        </p:txBody>
      </p:sp>
      <p:sp>
        <p:nvSpPr>
          <p:cNvPr id="33" name="TextBox 32">
            <a:extLst>
              <a:ext uri="{FF2B5EF4-FFF2-40B4-BE49-F238E27FC236}">
                <a16:creationId xmlns:a16="http://schemas.microsoft.com/office/drawing/2014/main" id="{A86CFF83-E0D2-28C9-4E7E-C8E7ADD7EA3F}"/>
              </a:ext>
            </a:extLst>
          </p:cNvPr>
          <p:cNvSpPr txBox="1"/>
          <p:nvPr/>
        </p:nvSpPr>
        <p:spPr>
          <a:xfrm>
            <a:off x="11362751" y="1590536"/>
            <a:ext cx="858478" cy="646331"/>
          </a:xfrm>
          <a:prstGeom prst="rect">
            <a:avLst/>
          </a:prstGeom>
          <a:noFill/>
        </p:spPr>
        <p:txBody>
          <a:bodyPr wrap="square" rtlCol="0">
            <a:spAutoFit/>
          </a:bodyPr>
          <a:lstStyle/>
          <a:p>
            <a:r>
              <a:rPr lang="en-US" dirty="0">
                <a:solidFill>
                  <a:srgbClr val="7030A0"/>
                </a:solidFill>
              </a:rPr>
              <a:t>Target image</a:t>
            </a:r>
          </a:p>
        </p:txBody>
      </p:sp>
      <p:sp>
        <p:nvSpPr>
          <p:cNvPr id="34" name="TextBox 33">
            <a:extLst>
              <a:ext uri="{FF2B5EF4-FFF2-40B4-BE49-F238E27FC236}">
                <a16:creationId xmlns:a16="http://schemas.microsoft.com/office/drawing/2014/main" id="{0AF3996B-CE96-42CA-475E-62006AD4280B}"/>
              </a:ext>
            </a:extLst>
          </p:cNvPr>
          <p:cNvSpPr txBox="1"/>
          <p:nvPr/>
        </p:nvSpPr>
        <p:spPr>
          <a:xfrm>
            <a:off x="8724900" y="2626117"/>
            <a:ext cx="1452551" cy="923330"/>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Target images are repeated</a:t>
            </a:r>
          </a:p>
        </p:txBody>
      </p:sp>
      <p:sp>
        <p:nvSpPr>
          <p:cNvPr id="36" name="Rectangle 35">
            <a:extLst>
              <a:ext uri="{FF2B5EF4-FFF2-40B4-BE49-F238E27FC236}">
                <a16:creationId xmlns:a16="http://schemas.microsoft.com/office/drawing/2014/main" id="{86FD238C-2644-A9E0-784C-758BA4A9E54A}"/>
              </a:ext>
            </a:extLst>
          </p:cNvPr>
          <p:cNvSpPr/>
          <p:nvPr/>
        </p:nvSpPr>
        <p:spPr>
          <a:xfrm>
            <a:off x="9637755" y="4574243"/>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3EAE8501-09CE-462D-44B5-126D13671B56}"/>
              </a:ext>
            </a:extLst>
          </p:cNvPr>
          <p:cNvSpPr txBox="1"/>
          <p:nvPr/>
        </p:nvSpPr>
        <p:spPr>
          <a:xfrm>
            <a:off x="10014021" y="4979082"/>
            <a:ext cx="867545" cy="830997"/>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Old/</a:t>
            </a:r>
          </a:p>
          <a:p>
            <a:pPr algn="ctr"/>
            <a:r>
              <a:rPr lang="en-US" sz="1600" dirty="0">
                <a:latin typeface="Arial" panose="020B0604020202020204" pitchFamily="34" charset="0"/>
                <a:cs typeface="Arial" panose="020B0604020202020204" pitchFamily="34" charset="0"/>
              </a:rPr>
              <a:t>Similar/</a:t>
            </a:r>
          </a:p>
          <a:p>
            <a:pPr algn="ctr"/>
            <a:r>
              <a:rPr lang="en-US" sz="1600" dirty="0">
                <a:latin typeface="Arial" panose="020B0604020202020204" pitchFamily="34" charset="0"/>
                <a:cs typeface="Arial" panose="020B0604020202020204" pitchFamily="34" charset="0"/>
              </a:rPr>
              <a:t>Neither</a:t>
            </a:r>
          </a:p>
        </p:txBody>
      </p:sp>
      <p:pic>
        <p:nvPicPr>
          <p:cNvPr id="41" name="Picture 40">
            <a:extLst>
              <a:ext uri="{FF2B5EF4-FFF2-40B4-BE49-F238E27FC236}">
                <a16:creationId xmlns:a16="http://schemas.microsoft.com/office/drawing/2014/main" id="{F21B8930-D363-F4BE-8B1C-ADA0EA5E0FA6}"/>
              </a:ext>
            </a:extLst>
          </p:cNvPr>
          <p:cNvPicPr>
            <a:picLocks noChangeAspect="1"/>
          </p:cNvPicPr>
          <p:nvPr/>
        </p:nvPicPr>
        <p:blipFill rotWithShape="1">
          <a:blip r:embed="rId6"/>
          <a:srcRect l="18090" t="-3138"/>
          <a:stretch/>
        </p:blipFill>
        <p:spPr>
          <a:xfrm>
            <a:off x="9688141" y="4602253"/>
            <a:ext cx="492431" cy="620057"/>
          </a:xfrm>
          <a:prstGeom prst="rect">
            <a:avLst/>
          </a:prstGeom>
        </p:spPr>
      </p:pic>
      <p:sp>
        <p:nvSpPr>
          <p:cNvPr id="39" name="TextBox 38">
            <a:extLst>
              <a:ext uri="{FF2B5EF4-FFF2-40B4-BE49-F238E27FC236}">
                <a16:creationId xmlns:a16="http://schemas.microsoft.com/office/drawing/2014/main" id="{DB0A6BC5-2ACA-01F4-A29D-3CAB0929328D}"/>
              </a:ext>
            </a:extLst>
          </p:cNvPr>
          <p:cNvSpPr txBox="1"/>
          <p:nvPr/>
        </p:nvSpPr>
        <p:spPr>
          <a:xfrm>
            <a:off x="10076433" y="4602253"/>
            <a:ext cx="867545" cy="307777"/>
          </a:xfrm>
          <a:prstGeom prst="rect">
            <a:avLst/>
          </a:prstGeom>
          <a:noFill/>
        </p:spPr>
        <p:txBody>
          <a:bodyPr wrap="square" rtlCol="0">
            <a:spAutoFit/>
          </a:bodyPr>
          <a:lstStyle/>
          <a:p>
            <a:pPr algn="ctr"/>
            <a:r>
              <a:rPr lang="en-US" sz="1400" b="1" dirty="0">
                <a:latin typeface="Arial" panose="020B0604020202020204" pitchFamily="34" charset="0"/>
                <a:cs typeface="Arial" panose="020B0604020202020204" pitchFamily="34" charset="0"/>
              </a:rPr>
              <a:t>Before?</a:t>
            </a:r>
          </a:p>
        </p:txBody>
      </p:sp>
      <p:sp>
        <p:nvSpPr>
          <p:cNvPr id="26" name="Rectangle 25">
            <a:extLst>
              <a:ext uri="{FF2B5EF4-FFF2-40B4-BE49-F238E27FC236}">
                <a16:creationId xmlns:a16="http://schemas.microsoft.com/office/drawing/2014/main" id="{9DD66A32-33AD-FCF0-994A-B360691226BA}"/>
              </a:ext>
            </a:extLst>
          </p:cNvPr>
          <p:cNvSpPr/>
          <p:nvPr/>
        </p:nvSpPr>
        <p:spPr>
          <a:xfrm>
            <a:off x="10664179" y="5207992"/>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a:extLst>
              <a:ext uri="{FF2B5EF4-FFF2-40B4-BE49-F238E27FC236}">
                <a16:creationId xmlns:a16="http://schemas.microsoft.com/office/drawing/2014/main" id="{A4E682BA-0CD2-D6C8-4CD3-314DE8D4D9E3}"/>
              </a:ext>
            </a:extLst>
          </p:cNvPr>
          <p:cNvPicPr>
            <a:picLocks noChangeAspect="1"/>
          </p:cNvPicPr>
          <p:nvPr/>
        </p:nvPicPr>
        <p:blipFill>
          <a:blip r:embed="rId5"/>
          <a:stretch>
            <a:fillRect/>
          </a:stretch>
        </p:blipFill>
        <p:spPr>
          <a:xfrm>
            <a:off x="10711493" y="5433486"/>
            <a:ext cx="625713" cy="437142"/>
          </a:xfrm>
          <a:prstGeom prst="rect">
            <a:avLst/>
          </a:prstGeom>
        </p:spPr>
      </p:pic>
      <p:sp>
        <p:nvSpPr>
          <p:cNvPr id="29" name="TextBox 28">
            <a:extLst>
              <a:ext uri="{FF2B5EF4-FFF2-40B4-BE49-F238E27FC236}">
                <a16:creationId xmlns:a16="http://schemas.microsoft.com/office/drawing/2014/main" id="{A07EF3E8-E74C-2A5B-45C9-5202CE1406BF}"/>
              </a:ext>
            </a:extLst>
          </p:cNvPr>
          <p:cNvSpPr txBox="1"/>
          <p:nvPr/>
        </p:nvSpPr>
        <p:spPr>
          <a:xfrm>
            <a:off x="11068230" y="5639394"/>
            <a:ext cx="867545" cy="830997"/>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Old/</a:t>
            </a:r>
          </a:p>
          <a:p>
            <a:pPr algn="ctr"/>
            <a:r>
              <a:rPr lang="en-US" sz="1600" dirty="0">
                <a:latin typeface="Arial" panose="020B0604020202020204" pitchFamily="34" charset="0"/>
                <a:cs typeface="Arial" panose="020B0604020202020204" pitchFamily="34" charset="0"/>
              </a:rPr>
              <a:t>Similar/</a:t>
            </a:r>
          </a:p>
          <a:p>
            <a:pPr algn="ctr"/>
            <a:r>
              <a:rPr lang="en-US" sz="1600" dirty="0">
                <a:latin typeface="Arial" panose="020B0604020202020204" pitchFamily="34" charset="0"/>
                <a:cs typeface="Arial" panose="020B0604020202020204" pitchFamily="34" charset="0"/>
              </a:rPr>
              <a:t>Neither</a:t>
            </a:r>
          </a:p>
        </p:txBody>
      </p:sp>
      <p:sp>
        <p:nvSpPr>
          <p:cNvPr id="35" name="TextBox 34">
            <a:extLst>
              <a:ext uri="{FF2B5EF4-FFF2-40B4-BE49-F238E27FC236}">
                <a16:creationId xmlns:a16="http://schemas.microsoft.com/office/drawing/2014/main" id="{6BBC7A9F-53B8-C793-8F0F-39B75D1D70C8}"/>
              </a:ext>
            </a:extLst>
          </p:cNvPr>
          <p:cNvSpPr txBox="1"/>
          <p:nvPr/>
        </p:nvSpPr>
        <p:spPr>
          <a:xfrm>
            <a:off x="11102856" y="5236002"/>
            <a:ext cx="867545" cy="338554"/>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After?</a:t>
            </a:r>
          </a:p>
        </p:txBody>
      </p:sp>
      <p:sp>
        <p:nvSpPr>
          <p:cNvPr id="42" name="TextBox 41">
            <a:extLst>
              <a:ext uri="{FF2B5EF4-FFF2-40B4-BE49-F238E27FC236}">
                <a16:creationId xmlns:a16="http://schemas.microsoft.com/office/drawing/2014/main" id="{3956645C-5AA2-4A17-E829-49056512DC8F}"/>
              </a:ext>
            </a:extLst>
          </p:cNvPr>
          <p:cNvSpPr txBox="1"/>
          <p:nvPr/>
        </p:nvSpPr>
        <p:spPr>
          <a:xfrm>
            <a:off x="8829219" y="5169069"/>
            <a:ext cx="670376" cy="400110"/>
          </a:xfrm>
          <a:prstGeom prst="rect">
            <a:avLst/>
          </a:prstGeom>
          <a:noFill/>
        </p:spPr>
        <p:txBody>
          <a:bodyPr wrap="none" rtlCol="0">
            <a:spAutoFit/>
          </a:bodyPr>
          <a:lstStyle/>
          <a:p>
            <a:r>
              <a:rPr lang="en-US" sz="2000" b="1" dirty="0">
                <a:solidFill>
                  <a:srgbClr val="FF7C80"/>
                </a:solidFill>
                <a:latin typeface="Arial" panose="020B0604020202020204" pitchFamily="34" charset="0"/>
                <a:cs typeface="Arial" panose="020B0604020202020204" pitchFamily="34" charset="0"/>
              </a:rPr>
              <a:t>Cue</a:t>
            </a:r>
          </a:p>
        </p:txBody>
      </p:sp>
      <p:sp>
        <p:nvSpPr>
          <p:cNvPr id="43" name="TextBox 42">
            <a:extLst>
              <a:ext uri="{FF2B5EF4-FFF2-40B4-BE49-F238E27FC236}">
                <a16:creationId xmlns:a16="http://schemas.microsoft.com/office/drawing/2014/main" id="{F00AFF7C-E823-BB1B-8460-CF7EA6BF797E}"/>
              </a:ext>
            </a:extLst>
          </p:cNvPr>
          <p:cNvSpPr txBox="1"/>
          <p:nvPr/>
        </p:nvSpPr>
        <p:spPr>
          <a:xfrm>
            <a:off x="9730807" y="5832641"/>
            <a:ext cx="949491" cy="400110"/>
          </a:xfrm>
          <a:prstGeom prst="rect">
            <a:avLst/>
          </a:prstGeom>
          <a:noFill/>
        </p:spPr>
        <p:txBody>
          <a:bodyPr wrap="none" rtlCol="0">
            <a:spAutoFit/>
          </a:bodyPr>
          <a:lstStyle/>
          <a:p>
            <a:r>
              <a:rPr lang="en-US" sz="2000" b="1" dirty="0">
                <a:solidFill>
                  <a:srgbClr val="7030A0"/>
                </a:solidFill>
                <a:latin typeface="Arial" panose="020B0604020202020204" pitchFamily="34" charset="0"/>
                <a:cs typeface="Arial" panose="020B0604020202020204" pitchFamily="34" charset="0"/>
              </a:rPr>
              <a:t>Target</a:t>
            </a:r>
          </a:p>
        </p:txBody>
      </p:sp>
      <p:sp>
        <p:nvSpPr>
          <p:cNvPr id="44" name="TextBox 43">
            <a:extLst>
              <a:ext uri="{FF2B5EF4-FFF2-40B4-BE49-F238E27FC236}">
                <a16:creationId xmlns:a16="http://schemas.microsoft.com/office/drawing/2014/main" id="{72FC18B9-93FF-D03E-C301-2B6882773575}"/>
              </a:ext>
            </a:extLst>
          </p:cNvPr>
          <p:cNvSpPr txBox="1"/>
          <p:nvPr/>
        </p:nvSpPr>
        <p:spPr>
          <a:xfrm>
            <a:off x="10855199" y="6457965"/>
            <a:ext cx="949491" cy="400110"/>
          </a:xfrm>
          <a:prstGeom prst="rect">
            <a:avLst/>
          </a:prstGeom>
          <a:noFill/>
        </p:spPr>
        <p:txBody>
          <a:bodyPr wrap="none" rtlCol="0">
            <a:spAutoFit/>
          </a:bodyPr>
          <a:lstStyle/>
          <a:p>
            <a:r>
              <a:rPr lang="en-US" sz="2000" b="1" dirty="0">
                <a:solidFill>
                  <a:srgbClr val="7030A0"/>
                </a:solidFill>
                <a:latin typeface="Arial" panose="020B0604020202020204" pitchFamily="34" charset="0"/>
                <a:cs typeface="Arial" panose="020B0604020202020204" pitchFamily="34" charset="0"/>
              </a:rPr>
              <a:t>Target</a:t>
            </a:r>
          </a:p>
        </p:txBody>
      </p:sp>
    </p:spTree>
    <p:extLst>
      <p:ext uri="{BB962C8B-B14F-4D97-AF65-F5344CB8AC3E}">
        <p14:creationId xmlns:p14="http://schemas.microsoft.com/office/powerpoint/2010/main" val="248421316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FBBFF-1273-97A6-DF92-B17FD22C6F46}"/>
              </a:ext>
            </a:extLst>
          </p:cNvPr>
          <p:cNvSpPr>
            <a:spLocks noGrp="1"/>
          </p:cNvSpPr>
          <p:nvPr>
            <p:ph type="title"/>
          </p:nvPr>
        </p:nvSpPr>
        <p:spPr>
          <a:xfrm>
            <a:off x="503767" y="183091"/>
            <a:ext cx="6341533" cy="1325563"/>
          </a:xfrm>
        </p:spPr>
        <p:txBody>
          <a:bodyPr>
            <a:normAutofit/>
          </a:bodyPr>
          <a:lstStyle/>
          <a:p>
            <a:r>
              <a:rPr lang="en-US" sz="3600" dirty="0">
                <a:solidFill>
                  <a:srgbClr val="002060"/>
                </a:solidFill>
              </a:rPr>
              <a:t>Forward/backward dissociation behavioral results</a:t>
            </a:r>
          </a:p>
        </p:txBody>
      </p:sp>
      <p:sp>
        <p:nvSpPr>
          <p:cNvPr id="3" name="Content Placeholder 2">
            <a:extLst>
              <a:ext uri="{FF2B5EF4-FFF2-40B4-BE49-F238E27FC236}">
                <a16:creationId xmlns:a16="http://schemas.microsoft.com/office/drawing/2014/main" id="{2544EAB5-A4F5-41FE-D509-4D093851AE58}"/>
              </a:ext>
            </a:extLst>
          </p:cNvPr>
          <p:cNvSpPr>
            <a:spLocks noGrp="1"/>
          </p:cNvSpPr>
          <p:nvPr>
            <p:ph idx="1"/>
          </p:nvPr>
        </p:nvSpPr>
        <p:spPr>
          <a:xfrm>
            <a:off x="406398" y="1686455"/>
            <a:ext cx="6739467" cy="4765146"/>
          </a:xfrm>
        </p:spPr>
        <p:txBody>
          <a:bodyPr>
            <a:normAutofit fontScale="92500" lnSpcReduction="20000"/>
          </a:bodyPr>
          <a:lstStyle/>
          <a:p>
            <a:r>
              <a:rPr lang="en-US" dirty="0"/>
              <a:t>For the forward/backward memory question:</a:t>
            </a:r>
          </a:p>
          <a:p>
            <a:pPr lvl="1"/>
            <a:r>
              <a:rPr lang="en-US" dirty="0"/>
              <a:t>“Generalized hit” = “Old” or “similar” response to old or similar trials</a:t>
            </a:r>
          </a:p>
          <a:p>
            <a:pPr lvl="1"/>
            <a:r>
              <a:rPr lang="en-US" dirty="0"/>
              <a:t>“Exact hit” = “Old” response to old, “similar” response to similar</a:t>
            </a:r>
          </a:p>
          <a:p>
            <a:r>
              <a:rPr lang="en-US" dirty="0"/>
              <a:t>Backward:</a:t>
            </a:r>
          </a:p>
          <a:p>
            <a:pPr lvl="1"/>
            <a:r>
              <a:rPr lang="en-US" dirty="0"/>
              <a:t>Enhanced generalized hit rate</a:t>
            </a:r>
          </a:p>
          <a:p>
            <a:r>
              <a:rPr lang="en-US" dirty="0"/>
              <a:t>Forward:</a:t>
            </a:r>
          </a:p>
          <a:p>
            <a:pPr lvl="1"/>
            <a:r>
              <a:rPr lang="en-US" dirty="0"/>
              <a:t>Enhanced exact hit rate</a:t>
            </a:r>
          </a:p>
          <a:p>
            <a:r>
              <a:rPr lang="en-US" dirty="0"/>
              <a:t>Potentially:</a:t>
            </a:r>
          </a:p>
          <a:p>
            <a:pPr lvl="1"/>
            <a:r>
              <a:rPr lang="en-US" dirty="0"/>
              <a:t>Forward/backward distinction only after Remember responses in R/K </a:t>
            </a:r>
          </a:p>
          <a:p>
            <a:pPr lvl="1"/>
            <a:r>
              <a:rPr lang="en-US" dirty="0"/>
              <a:t>Show that these results are linked to episodic memory retrieval</a:t>
            </a:r>
          </a:p>
          <a:p>
            <a:pPr lvl="1"/>
            <a:endParaRPr lang="en-US" dirty="0"/>
          </a:p>
        </p:txBody>
      </p:sp>
      <p:pic>
        <p:nvPicPr>
          <p:cNvPr id="5" name="Picture 4">
            <a:extLst>
              <a:ext uri="{FF2B5EF4-FFF2-40B4-BE49-F238E27FC236}">
                <a16:creationId xmlns:a16="http://schemas.microsoft.com/office/drawing/2014/main" id="{77AF67E9-67C8-C4BC-4D5F-1AE95FA7D139}"/>
              </a:ext>
            </a:extLst>
          </p:cNvPr>
          <p:cNvPicPr>
            <a:picLocks noChangeAspect="1"/>
          </p:cNvPicPr>
          <p:nvPr/>
        </p:nvPicPr>
        <p:blipFill>
          <a:blip r:embed="rId2"/>
          <a:stretch>
            <a:fillRect/>
          </a:stretch>
        </p:blipFill>
        <p:spPr>
          <a:xfrm>
            <a:off x="7861917" y="65087"/>
            <a:ext cx="3459159" cy="2468880"/>
          </a:xfrm>
          <a:prstGeom prst="rect">
            <a:avLst/>
          </a:prstGeom>
        </p:spPr>
      </p:pic>
      <p:pic>
        <p:nvPicPr>
          <p:cNvPr id="6" name="Picture 5">
            <a:extLst>
              <a:ext uri="{FF2B5EF4-FFF2-40B4-BE49-F238E27FC236}">
                <a16:creationId xmlns:a16="http://schemas.microsoft.com/office/drawing/2014/main" id="{729EE6BC-B79E-BCEA-2CE9-FCAB2FF6719C}"/>
              </a:ext>
            </a:extLst>
          </p:cNvPr>
          <p:cNvPicPr>
            <a:picLocks noChangeAspect="1"/>
          </p:cNvPicPr>
          <p:nvPr/>
        </p:nvPicPr>
        <p:blipFill>
          <a:blip r:embed="rId3"/>
          <a:stretch>
            <a:fillRect/>
          </a:stretch>
        </p:blipFill>
        <p:spPr>
          <a:xfrm>
            <a:off x="7868389" y="2194560"/>
            <a:ext cx="3452687" cy="2468880"/>
          </a:xfrm>
          <a:prstGeom prst="rect">
            <a:avLst/>
          </a:prstGeom>
        </p:spPr>
      </p:pic>
      <p:pic>
        <p:nvPicPr>
          <p:cNvPr id="7" name="Picture 6">
            <a:extLst>
              <a:ext uri="{FF2B5EF4-FFF2-40B4-BE49-F238E27FC236}">
                <a16:creationId xmlns:a16="http://schemas.microsoft.com/office/drawing/2014/main" id="{871A4A4C-2D94-BF50-4920-A92713565CAE}"/>
              </a:ext>
            </a:extLst>
          </p:cNvPr>
          <p:cNvPicPr>
            <a:picLocks noChangeAspect="1"/>
          </p:cNvPicPr>
          <p:nvPr/>
        </p:nvPicPr>
        <p:blipFill>
          <a:blip r:embed="rId4"/>
          <a:stretch>
            <a:fillRect/>
          </a:stretch>
        </p:blipFill>
        <p:spPr>
          <a:xfrm>
            <a:off x="7145866" y="4324033"/>
            <a:ext cx="4897734" cy="2468880"/>
          </a:xfrm>
          <a:prstGeom prst="rect">
            <a:avLst/>
          </a:prstGeom>
        </p:spPr>
      </p:pic>
    </p:spTree>
    <p:extLst>
      <p:ext uri="{BB962C8B-B14F-4D97-AF65-F5344CB8AC3E}">
        <p14:creationId xmlns:p14="http://schemas.microsoft.com/office/powerpoint/2010/main" val="949719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855CA-770A-C7A0-4CD1-558C690976E9}"/>
              </a:ext>
            </a:extLst>
          </p:cNvPr>
          <p:cNvSpPr>
            <a:spLocks noGrp="1"/>
          </p:cNvSpPr>
          <p:nvPr>
            <p:ph type="title"/>
          </p:nvPr>
        </p:nvSpPr>
        <p:spPr>
          <a:xfrm>
            <a:off x="838200" y="161925"/>
            <a:ext cx="10515600" cy="828675"/>
          </a:xfrm>
        </p:spPr>
        <p:txBody>
          <a:bodyPr/>
          <a:lstStyle/>
          <a:p>
            <a:r>
              <a:rPr lang="en-US" dirty="0">
                <a:solidFill>
                  <a:srgbClr val="002060"/>
                </a:solidFill>
              </a:rPr>
              <a:t>fMRI analysis</a:t>
            </a:r>
          </a:p>
        </p:txBody>
      </p:sp>
      <p:sp>
        <p:nvSpPr>
          <p:cNvPr id="3" name="Content Placeholder 2">
            <a:extLst>
              <a:ext uri="{FF2B5EF4-FFF2-40B4-BE49-F238E27FC236}">
                <a16:creationId xmlns:a16="http://schemas.microsoft.com/office/drawing/2014/main" id="{30352D74-6257-CA13-52FD-618450492F4C}"/>
              </a:ext>
            </a:extLst>
          </p:cNvPr>
          <p:cNvSpPr>
            <a:spLocks noGrp="1"/>
          </p:cNvSpPr>
          <p:nvPr>
            <p:ph idx="1"/>
          </p:nvPr>
        </p:nvSpPr>
        <p:spPr>
          <a:xfrm>
            <a:off x="838200" y="1079500"/>
            <a:ext cx="10668000" cy="5426075"/>
          </a:xfrm>
        </p:spPr>
        <p:txBody>
          <a:bodyPr>
            <a:normAutofit/>
          </a:bodyPr>
          <a:lstStyle/>
          <a:p>
            <a:r>
              <a:rPr lang="en-US" sz="2400" dirty="0"/>
              <a:t>How do we investigate the neural correlates of relational memories?</a:t>
            </a:r>
          </a:p>
          <a:p>
            <a:r>
              <a:rPr lang="en-US" sz="2400" dirty="0"/>
              <a:t>One possible way is with RSA using combination vectors</a:t>
            </a:r>
          </a:p>
          <a:p>
            <a:pPr lvl="1"/>
            <a:r>
              <a:rPr lang="en-US" sz="2000" dirty="0"/>
              <a:t>This analysis is premised on the idea that (1) how relations are encoded depends on the information being encoded and (2) this contingency is captured by the stimulus features we can model, e.g., with a DNN or word2vec</a:t>
            </a:r>
          </a:p>
          <a:p>
            <a:pPr lvl="1"/>
            <a:r>
              <a:rPr lang="en-US" sz="2000" dirty="0"/>
              <a:t>However, what if relational memory encoding isn’t tracked by our stimulus features</a:t>
            </a:r>
          </a:p>
          <a:p>
            <a:r>
              <a:rPr lang="en-US" sz="2400" dirty="0">
                <a:solidFill>
                  <a:srgbClr val="002060"/>
                </a:solidFill>
              </a:rPr>
              <a:t>Alternatively, we can measure pattern similarity between trials involving similar stimuli</a:t>
            </a:r>
          </a:p>
          <a:p>
            <a:pPr lvl="1"/>
            <a:r>
              <a:rPr lang="en-US" sz="2000" dirty="0"/>
              <a:t>Participants encode relations X-A and Y-A</a:t>
            </a:r>
          </a:p>
          <a:p>
            <a:pPr lvl="1"/>
            <a:r>
              <a:rPr lang="en-US" sz="2000" dirty="0"/>
              <a:t>Later, during retrieval, we may see similarity between retrieval of X and Y</a:t>
            </a:r>
          </a:p>
          <a:p>
            <a:pPr lvl="2"/>
            <a:r>
              <a:rPr lang="en-US" sz="1800" dirty="0"/>
              <a:t>Need to rule out the possibility that the similarity is due to simply retrieval of the A item representation</a:t>
            </a:r>
          </a:p>
          <a:p>
            <a:pPr lvl="1"/>
            <a:r>
              <a:rPr lang="en-US" sz="2200" dirty="0"/>
              <a:t>Regions showing X and Y similarity indicate areas involved in encoding the relation to stimuli A</a:t>
            </a:r>
          </a:p>
          <a:p>
            <a:pPr lvl="2"/>
            <a:r>
              <a:rPr lang="en-US" sz="1800" dirty="0"/>
              <a:t>IRAF x activity correlations can be used to investigate connectivity and how other regions support encoding</a:t>
            </a:r>
          </a:p>
        </p:txBody>
      </p:sp>
    </p:spTree>
    <p:extLst>
      <p:ext uri="{BB962C8B-B14F-4D97-AF65-F5344CB8AC3E}">
        <p14:creationId xmlns:p14="http://schemas.microsoft.com/office/powerpoint/2010/main" val="200665430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01E3-C38D-D2F6-896D-9241C4B1D4AB}"/>
              </a:ext>
            </a:extLst>
          </p:cNvPr>
          <p:cNvSpPr>
            <a:spLocks noGrp="1"/>
          </p:cNvSpPr>
          <p:nvPr>
            <p:ph type="title"/>
          </p:nvPr>
        </p:nvSpPr>
        <p:spPr>
          <a:xfrm>
            <a:off x="838200" y="118463"/>
            <a:ext cx="10515600" cy="998729"/>
          </a:xfrm>
        </p:spPr>
        <p:txBody>
          <a:bodyPr/>
          <a:lstStyle/>
          <a:p>
            <a:r>
              <a:rPr lang="en-US" dirty="0">
                <a:solidFill>
                  <a:srgbClr val="002060"/>
                </a:solidFill>
              </a:rPr>
              <a:t>Building on this analytic direction</a:t>
            </a:r>
          </a:p>
        </p:txBody>
      </p:sp>
      <p:sp>
        <p:nvSpPr>
          <p:cNvPr id="3" name="Content Placeholder 2">
            <a:extLst>
              <a:ext uri="{FF2B5EF4-FFF2-40B4-BE49-F238E27FC236}">
                <a16:creationId xmlns:a16="http://schemas.microsoft.com/office/drawing/2014/main" id="{14FB3116-0E3A-7552-55D1-E841923C3B94}"/>
              </a:ext>
            </a:extLst>
          </p:cNvPr>
          <p:cNvSpPr>
            <a:spLocks noGrp="1"/>
          </p:cNvSpPr>
          <p:nvPr>
            <p:ph idx="1"/>
          </p:nvPr>
        </p:nvSpPr>
        <p:spPr>
          <a:xfrm>
            <a:off x="796992" y="1352720"/>
            <a:ext cx="7147586" cy="5386817"/>
          </a:xfrm>
        </p:spPr>
        <p:txBody>
          <a:bodyPr>
            <a:normAutofit fontScale="92500"/>
          </a:bodyPr>
          <a:lstStyle/>
          <a:p>
            <a:r>
              <a:rPr lang="en-US" dirty="0"/>
              <a:t>Suppose participants encode eight relations:</a:t>
            </a:r>
          </a:p>
          <a:p>
            <a:pPr lvl="1"/>
            <a:r>
              <a:rPr lang="en-US" dirty="0"/>
              <a:t>X-A, X-B</a:t>
            </a:r>
          </a:p>
          <a:p>
            <a:pPr lvl="1"/>
            <a:r>
              <a:rPr lang="en-US" dirty="0"/>
              <a:t>Y-A, Y-B</a:t>
            </a:r>
          </a:p>
          <a:p>
            <a:pPr lvl="1"/>
            <a:r>
              <a:rPr lang="en-US" dirty="0"/>
              <a:t>Z-A, Z-C</a:t>
            </a:r>
          </a:p>
          <a:p>
            <a:pPr lvl="1"/>
            <a:r>
              <a:rPr lang="en-US" dirty="0"/>
              <a:t>W-C, W-D</a:t>
            </a:r>
          </a:p>
          <a:p>
            <a:r>
              <a:rPr lang="en-US" dirty="0"/>
              <a:t>In terms of the relations encoded, X is very similar to Y (both connected to A &amp; B), X is somewhat similar to Z (both connected to A), and X shows no similarity with W</a:t>
            </a:r>
          </a:p>
          <a:p>
            <a:pPr lvl="1"/>
            <a:r>
              <a:rPr lang="en-US" dirty="0"/>
              <a:t>Can be represented as the RSM on the right side</a:t>
            </a:r>
          </a:p>
          <a:p>
            <a:pPr lvl="1"/>
            <a:r>
              <a:rPr lang="en-US" dirty="0"/>
              <a:t>Performing RSA using this RSM expands the analysis on the previous slide to work with many stimuli and relations</a:t>
            </a:r>
          </a:p>
          <a:p>
            <a:pPr lvl="1"/>
            <a:endParaRPr lang="en-US" dirty="0"/>
          </a:p>
          <a:p>
            <a:pPr lvl="1"/>
            <a:endParaRPr lang="en-US" dirty="0"/>
          </a:p>
        </p:txBody>
      </p:sp>
      <p:sp>
        <p:nvSpPr>
          <p:cNvPr id="4" name="Rectangle 3">
            <a:extLst>
              <a:ext uri="{FF2B5EF4-FFF2-40B4-BE49-F238E27FC236}">
                <a16:creationId xmlns:a16="http://schemas.microsoft.com/office/drawing/2014/main" id="{FDBF3C6D-B660-C17C-2B5B-795C7A7B7582}"/>
              </a:ext>
            </a:extLst>
          </p:cNvPr>
          <p:cNvSpPr/>
          <p:nvPr/>
        </p:nvSpPr>
        <p:spPr>
          <a:xfrm>
            <a:off x="10553105" y="2257517"/>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8A88778-4B6F-9AC2-440C-F530F417C710}"/>
              </a:ext>
            </a:extLst>
          </p:cNvPr>
          <p:cNvSpPr/>
          <p:nvPr/>
        </p:nvSpPr>
        <p:spPr>
          <a:xfrm>
            <a:off x="10553105" y="2602363"/>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A9E2092-67CF-8421-3AD9-80A89F553190}"/>
              </a:ext>
            </a:extLst>
          </p:cNvPr>
          <p:cNvSpPr/>
          <p:nvPr/>
        </p:nvSpPr>
        <p:spPr>
          <a:xfrm>
            <a:off x="10553105" y="2947209"/>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22DD7A5-E55C-B1E1-C758-78048607D6C8}"/>
              </a:ext>
            </a:extLst>
          </p:cNvPr>
          <p:cNvSpPr/>
          <p:nvPr/>
        </p:nvSpPr>
        <p:spPr>
          <a:xfrm>
            <a:off x="9875491" y="2257517"/>
            <a:ext cx="279400" cy="279400"/>
          </a:xfrm>
          <a:prstGeom prst="rect">
            <a:avLst/>
          </a:prstGeom>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12D4D7B-0256-D4EE-CAD6-26EEA20F3A70}"/>
              </a:ext>
            </a:extLst>
          </p:cNvPr>
          <p:cNvSpPr/>
          <p:nvPr/>
        </p:nvSpPr>
        <p:spPr>
          <a:xfrm>
            <a:off x="9875491" y="2947209"/>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BE8971E-8D20-D3DD-C43B-380ECB52CEC0}"/>
              </a:ext>
            </a:extLst>
          </p:cNvPr>
          <p:cNvSpPr/>
          <p:nvPr/>
        </p:nvSpPr>
        <p:spPr>
          <a:xfrm>
            <a:off x="9875491" y="3292055"/>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6664B0C-1AD4-A832-0A4A-1445F382F157}"/>
              </a:ext>
            </a:extLst>
          </p:cNvPr>
          <p:cNvSpPr/>
          <p:nvPr/>
        </p:nvSpPr>
        <p:spPr>
          <a:xfrm>
            <a:off x="10214298" y="2257517"/>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64A2850-D63C-440B-75C6-849B097228DA}"/>
              </a:ext>
            </a:extLst>
          </p:cNvPr>
          <p:cNvSpPr/>
          <p:nvPr/>
        </p:nvSpPr>
        <p:spPr>
          <a:xfrm>
            <a:off x="10214298" y="2602363"/>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DF3E3BD-CD80-5FC0-D7CD-A00A709AAD46}"/>
              </a:ext>
            </a:extLst>
          </p:cNvPr>
          <p:cNvSpPr/>
          <p:nvPr/>
        </p:nvSpPr>
        <p:spPr>
          <a:xfrm>
            <a:off x="10214298" y="3292055"/>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A324FBB5-844A-47D3-D0B5-10A22116543B}"/>
              </a:ext>
            </a:extLst>
          </p:cNvPr>
          <p:cNvSpPr/>
          <p:nvPr/>
        </p:nvSpPr>
        <p:spPr>
          <a:xfrm>
            <a:off x="9540777" y="2602363"/>
            <a:ext cx="279400" cy="279400"/>
          </a:xfrm>
          <a:prstGeom prst="rect">
            <a:avLst/>
          </a:prstGeom>
          <a:solidFill>
            <a:schemeClr val="tx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68420B5-7618-A2B4-225B-C7CEFF57EBB5}"/>
              </a:ext>
            </a:extLst>
          </p:cNvPr>
          <p:cNvSpPr/>
          <p:nvPr/>
        </p:nvSpPr>
        <p:spPr>
          <a:xfrm>
            <a:off x="9540777" y="2947209"/>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3101E58D-C935-4CA1-77F2-B7022FC8CA9D}"/>
              </a:ext>
            </a:extLst>
          </p:cNvPr>
          <p:cNvSpPr/>
          <p:nvPr/>
        </p:nvSpPr>
        <p:spPr>
          <a:xfrm>
            <a:off x="9540777" y="3292055"/>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8" name="TextBox 77">
            <a:extLst>
              <a:ext uri="{FF2B5EF4-FFF2-40B4-BE49-F238E27FC236}">
                <a16:creationId xmlns:a16="http://schemas.microsoft.com/office/drawing/2014/main" id="{003C2457-615B-AF87-DCB7-B3F5162D6AD3}"/>
              </a:ext>
            </a:extLst>
          </p:cNvPr>
          <p:cNvSpPr txBox="1"/>
          <p:nvPr/>
        </p:nvSpPr>
        <p:spPr>
          <a:xfrm>
            <a:off x="9157764" y="2215080"/>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X</a:t>
            </a:r>
          </a:p>
        </p:txBody>
      </p:sp>
      <p:sp>
        <p:nvSpPr>
          <p:cNvPr id="79" name="TextBox 78">
            <a:extLst>
              <a:ext uri="{FF2B5EF4-FFF2-40B4-BE49-F238E27FC236}">
                <a16:creationId xmlns:a16="http://schemas.microsoft.com/office/drawing/2014/main" id="{377EB0A3-04A5-DE44-A5D9-DE15F27F28D0}"/>
              </a:ext>
            </a:extLst>
          </p:cNvPr>
          <p:cNvSpPr txBox="1"/>
          <p:nvPr/>
        </p:nvSpPr>
        <p:spPr>
          <a:xfrm>
            <a:off x="9157764" y="2559148"/>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Y</a:t>
            </a:r>
          </a:p>
        </p:txBody>
      </p:sp>
      <p:sp>
        <p:nvSpPr>
          <p:cNvPr id="80" name="TextBox 79">
            <a:extLst>
              <a:ext uri="{FF2B5EF4-FFF2-40B4-BE49-F238E27FC236}">
                <a16:creationId xmlns:a16="http://schemas.microsoft.com/office/drawing/2014/main" id="{803769A3-A6EC-BC2C-D673-400D799E22FC}"/>
              </a:ext>
            </a:extLst>
          </p:cNvPr>
          <p:cNvSpPr txBox="1"/>
          <p:nvPr/>
        </p:nvSpPr>
        <p:spPr>
          <a:xfrm>
            <a:off x="9157764" y="2903216"/>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Z</a:t>
            </a:r>
          </a:p>
        </p:txBody>
      </p:sp>
      <p:sp>
        <p:nvSpPr>
          <p:cNvPr id="81" name="TextBox 80">
            <a:extLst>
              <a:ext uri="{FF2B5EF4-FFF2-40B4-BE49-F238E27FC236}">
                <a16:creationId xmlns:a16="http://schemas.microsoft.com/office/drawing/2014/main" id="{ADEA4B86-F02E-1403-A930-51B0E3F5C7F5}"/>
              </a:ext>
            </a:extLst>
          </p:cNvPr>
          <p:cNvSpPr txBox="1"/>
          <p:nvPr/>
        </p:nvSpPr>
        <p:spPr>
          <a:xfrm>
            <a:off x="9122323" y="3247285"/>
            <a:ext cx="40267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W</a:t>
            </a:r>
          </a:p>
        </p:txBody>
      </p:sp>
      <p:sp>
        <p:nvSpPr>
          <p:cNvPr id="82" name="TextBox 81">
            <a:extLst>
              <a:ext uri="{FF2B5EF4-FFF2-40B4-BE49-F238E27FC236}">
                <a16:creationId xmlns:a16="http://schemas.microsoft.com/office/drawing/2014/main" id="{F5B6834D-C8A0-C636-3059-193EFF59E29D}"/>
              </a:ext>
            </a:extLst>
          </p:cNvPr>
          <p:cNvSpPr txBox="1"/>
          <p:nvPr/>
        </p:nvSpPr>
        <p:spPr>
          <a:xfrm>
            <a:off x="9510494" y="1873061"/>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X</a:t>
            </a:r>
          </a:p>
        </p:txBody>
      </p:sp>
      <p:sp>
        <p:nvSpPr>
          <p:cNvPr id="83" name="TextBox 82">
            <a:extLst>
              <a:ext uri="{FF2B5EF4-FFF2-40B4-BE49-F238E27FC236}">
                <a16:creationId xmlns:a16="http://schemas.microsoft.com/office/drawing/2014/main" id="{332C7A99-C6A8-CA6E-ACC0-7B7B99944B15}"/>
              </a:ext>
            </a:extLst>
          </p:cNvPr>
          <p:cNvSpPr txBox="1"/>
          <p:nvPr/>
        </p:nvSpPr>
        <p:spPr>
          <a:xfrm>
            <a:off x="10488414" y="1873061"/>
            <a:ext cx="40267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W</a:t>
            </a:r>
          </a:p>
        </p:txBody>
      </p:sp>
      <p:sp>
        <p:nvSpPr>
          <p:cNvPr id="84" name="TextBox 83">
            <a:extLst>
              <a:ext uri="{FF2B5EF4-FFF2-40B4-BE49-F238E27FC236}">
                <a16:creationId xmlns:a16="http://schemas.microsoft.com/office/drawing/2014/main" id="{C061AB7A-92A7-7DDE-8026-4EF9237D1092}"/>
              </a:ext>
            </a:extLst>
          </p:cNvPr>
          <p:cNvSpPr txBox="1"/>
          <p:nvPr/>
        </p:nvSpPr>
        <p:spPr>
          <a:xfrm>
            <a:off x="10184032" y="1873061"/>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Z</a:t>
            </a:r>
          </a:p>
        </p:txBody>
      </p:sp>
      <p:sp>
        <p:nvSpPr>
          <p:cNvPr id="85" name="TextBox 84">
            <a:extLst>
              <a:ext uri="{FF2B5EF4-FFF2-40B4-BE49-F238E27FC236}">
                <a16:creationId xmlns:a16="http://schemas.microsoft.com/office/drawing/2014/main" id="{D0F36D53-F16E-9E07-865A-3EAD8453B0D0}"/>
              </a:ext>
            </a:extLst>
          </p:cNvPr>
          <p:cNvSpPr txBox="1"/>
          <p:nvPr/>
        </p:nvSpPr>
        <p:spPr>
          <a:xfrm>
            <a:off x="9847263" y="1873061"/>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Y</a:t>
            </a:r>
          </a:p>
        </p:txBody>
      </p:sp>
    </p:spTree>
    <p:extLst>
      <p:ext uri="{BB962C8B-B14F-4D97-AF65-F5344CB8AC3E}">
        <p14:creationId xmlns:p14="http://schemas.microsoft.com/office/powerpoint/2010/main" val="150520143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01E3-C38D-D2F6-896D-9241C4B1D4AB}"/>
              </a:ext>
            </a:extLst>
          </p:cNvPr>
          <p:cNvSpPr>
            <a:spLocks noGrp="1"/>
          </p:cNvSpPr>
          <p:nvPr>
            <p:ph type="title"/>
          </p:nvPr>
        </p:nvSpPr>
        <p:spPr>
          <a:xfrm>
            <a:off x="838200" y="118463"/>
            <a:ext cx="10515600" cy="998729"/>
          </a:xfrm>
        </p:spPr>
        <p:txBody>
          <a:bodyPr>
            <a:normAutofit fontScale="90000"/>
          </a:bodyPr>
          <a:lstStyle/>
          <a:p>
            <a:r>
              <a:rPr lang="en-US" dirty="0">
                <a:solidFill>
                  <a:srgbClr val="002060"/>
                </a:solidFill>
              </a:rPr>
              <a:t>Ways to extend and interpret these analyses</a:t>
            </a:r>
          </a:p>
        </p:txBody>
      </p:sp>
      <p:sp>
        <p:nvSpPr>
          <p:cNvPr id="3" name="Content Placeholder 2">
            <a:extLst>
              <a:ext uri="{FF2B5EF4-FFF2-40B4-BE49-F238E27FC236}">
                <a16:creationId xmlns:a16="http://schemas.microsoft.com/office/drawing/2014/main" id="{14FB3116-0E3A-7552-55D1-E841923C3B94}"/>
              </a:ext>
            </a:extLst>
          </p:cNvPr>
          <p:cNvSpPr>
            <a:spLocks noGrp="1"/>
          </p:cNvSpPr>
          <p:nvPr>
            <p:ph idx="1"/>
          </p:nvPr>
        </p:nvSpPr>
        <p:spPr>
          <a:xfrm>
            <a:off x="627525" y="1117192"/>
            <a:ext cx="7147586" cy="5386817"/>
          </a:xfrm>
        </p:spPr>
        <p:txBody>
          <a:bodyPr>
            <a:normAutofit fontScale="85000" lnSpcReduction="10000"/>
          </a:bodyPr>
          <a:lstStyle/>
          <a:p>
            <a:r>
              <a:rPr lang="en-US" dirty="0"/>
              <a:t>Participants encode a relational network</a:t>
            </a:r>
          </a:p>
          <a:p>
            <a:pPr lvl="1"/>
            <a:r>
              <a:rPr lang="en-US" dirty="0"/>
              <a:t>Opens the door for graph theory analysis</a:t>
            </a:r>
          </a:p>
          <a:p>
            <a:pPr lvl="1"/>
            <a:r>
              <a:rPr lang="en-US" dirty="0"/>
              <a:t>e.g., effects of retrieving stimuli with high centrality</a:t>
            </a:r>
          </a:p>
          <a:p>
            <a:pPr lvl="1"/>
            <a:r>
              <a:rPr lang="en-US" dirty="0"/>
              <a:t>Parallels that journal club study which involved video clips</a:t>
            </a:r>
          </a:p>
          <a:p>
            <a:r>
              <a:rPr lang="en-US" dirty="0"/>
              <a:t>Participants encode a map</a:t>
            </a:r>
          </a:p>
          <a:p>
            <a:pPr lvl="1"/>
            <a:r>
              <a:rPr lang="en-US" dirty="0"/>
              <a:t>Potential links to research on the PPA and spatial memory</a:t>
            </a:r>
          </a:p>
          <a:p>
            <a:pPr lvl="2"/>
            <a:r>
              <a:rPr lang="en-US" dirty="0"/>
              <a:t>Investigating PPA maps is typically done in rat research, although studying this in humans opens new directions</a:t>
            </a:r>
          </a:p>
          <a:p>
            <a:pPr lvl="1"/>
            <a:r>
              <a:rPr lang="en-US" dirty="0"/>
              <a:t>Can incorporate directionality (before/after) into the analysis</a:t>
            </a:r>
          </a:p>
          <a:p>
            <a:r>
              <a:rPr lang="en-US" dirty="0"/>
              <a:t>Episodic memories are a collection of relations</a:t>
            </a:r>
          </a:p>
          <a:p>
            <a:pPr lvl="1"/>
            <a:r>
              <a:rPr lang="en-US" dirty="0"/>
              <a:t>Hence, these analyses can be thought of as investigating how episodic memories are represented</a:t>
            </a:r>
          </a:p>
          <a:p>
            <a:pPr lvl="1"/>
            <a:r>
              <a:rPr lang="en-US" dirty="0"/>
              <a:t>Next study idea gets at this more directly</a:t>
            </a:r>
          </a:p>
        </p:txBody>
      </p:sp>
      <p:sp>
        <p:nvSpPr>
          <p:cNvPr id="4" name="Rectangle 3">
            <a:extLst>
              <a:ext uri="{FF2B5EF4-FFF2-40B4-BE49-F238E27FC236}">
                <a16:creationId xmlns:a16="http://schemas.microsoft.com/office/drawing/2014/main" id="{FDBF3C6D-B660-C17C-2B5B-795C7A7B7582}"/>
              </a:ext>
            </a:extLst>
          </p:cNvPr>
          <p:cNvSpPr/>
          <p:nvPr/>
        </p:nvSpPr>
        <p:spPr>
          <a:xfrm>
            <a:off x="10553105" y="2257517"/>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8A88778-4B6F-9AC2-440C-F530F417C710}"/>
              </a:ext>
            </a:extLst>
          </p:cNvPr>
          <p:cNvSpPr/>
          <p:nvPr/>
        </p:nvSpPr>
        <p:spPr>
          <a:xfrm>
            <a:off x="10553105" y="2602363"/>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A9E2092-67CF-8421-3AD9-80A89F553190}"/>
              </a:ext>
            </a:extLst>
          </p:cNvPr>
          <p:cNvSpPr/>
          <p:nvPr/>
        </p:nvSpPr>
        <p:spPr>
          <a:xfrm>
            <a:off x="10553105" y="2947209"/>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22DD7A5-E55C-B1E1-C758-78048607D6C8}"/>
              </a:ext>
            </a:extLst>
          </p:cNvPr>
          <p:cNvSpPr/>
          <p:nvPr/>
        </p:nvSpPr>
        <p:spPr>
          <a:xfrm>
            <a:off x="9875491" y="2257517"/>
            <a:ext cx="279400" cy="279400"/>
          </a:xfrm>
          <a:prstGeom prst="rect">
            <a:avLst/>
          </a:prstGeom>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12D4D7B-0256-D4EE-CAD6-26EEA20F3A70}"/>
              </a:ext>
            </a:extLst>
          </p:cNvPr>
          <p:cNvSpPr/>
          <p:nvPr/>
        </p:nvSpPr>
        <p:spPr>
          <a:xfrm>
            <a:off x="9875491" y="2947209"/>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BE8971E-8D20-D3DD-C43B-380ECB52CEC0}"/>
              </a:ext>
            </a:extLst>
          </p:cNvPr>
          <p:cNvSpPr/>
          <p:nvPr/>
        </p:nvSpPr>
        <p:spPr>
          <a:xfrm>
            <a:off x="9875491" y="3292055"/>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86664B0C-1AD4-A832-0A4A-1445F382F157}"/>
              </a:ext>
            </a:extLst>
          </p:cNvPr>
          <p:cNvSpPr/>
          <p:nvPr/>
        </p:nvSpPr>
        <p:spPr>
          <a:xfrm>
            <a:off x="10214298" y="2257517"/>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64A2850-D63C-440B-75C6-849B097228DA}"/>
              </a:ext>
            </a:extLst>
          </p:cNvPr>
          <p:cNvSpPr/>
          <p:nvPr/>
        </p:nvSpPr>
        <p:spPr>
          <a:xfrm>
            <a:off x="10214298" y="2602363"/>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DF3E3BD-CD80-5FC0-D7CD-A00A709AAD46}"/>
              </a:ext>
            </a:extLst>
          </p:cNvPr>
          <p:cNvSpPr/>
          <p:nvPr/>
        </p:nvSpPr>
        <p:spPr>
          <a:xfrm>
            <a:off x="10214298" y="3292055"/>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A324FBB5-844A-47D3-D0B5-10A22116543B}"/>
              </a:ext>
            </a:extLst>
          </p:cNvPr>
          <p:cNvSpPr/>
          <p:nvPr/>
        </p:nvSpPr>
        <p:spPr>
          <a:xfrm>
            <a:off x="9540777" y="2602363"/>
            <a:ext cx="279400" cy="279400"/>
          </a:xfrm>
          <a:prstGeom prst="rect">
            <a:avLst/>
          </a:prstGeom>
          <a:solidFill>
            <a:schemeClr val="tx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68420B5-7618-A2B4-225B-C7CEFF57EBB5}"/>
              </a:ext>
            </a:extLst>
          </p:cNvPr>
          <p:cNvSpPr/>
          <p:nvPr/>
        </p:nvSpPr>
        <p:spPr>
          <a:xfrm>
            <a:off x="9540777" y="2947209"/>
            <a:ext cx="279400" cy="279400"/>
          </a:xfrm>
          <a:prstGeom prst="rect">
            <a:avLst/>
          </a:prstGeom>
          <a:solidFill>
            <a:schemeClr val="bg1">
              <a:lumMod val="75000"/>
            </a:schemeClr>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3101E58D-C935-4CA1-77F2-B7022FC8CA9D}"/>
              </a:ext>
            </a:extLst>
          </p:cNvPr>
          <p:cNvSpPr/>
          <p:nvPr/>
        </p:nvSpPr>
        <p:spPr>
          <a:xfrm>
            <a:off x="9540777" y="3292055"/>
            <a:ext cx="279400" cy="279400"/>
          </a:xfrm>
          <a:prstGeom prst="rect">
            <a:avLst/>
          </a:prstGeom>
          <a:solidFill>
            <a:schemeClr val="bg1"/>
          </a:solidFill>
          <a:ln w="28575">
            <a:solidFill>
              <a:schemeClr val="tx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C8388321-71D9-0DBE-36CB-F05BA1506E6F}"/>
              </a:ext>
            </a:extLst>
          </p:cNvPr>
          <p:cNvSpPr/>
          <p:nvPr/>
        </p:nvSpPr>
        <p:spPr>
          <a:xfrm>
            <a:off x="8607031" y="5029358"/>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705EEE63-8202-28E6-6E72-272FFFA9EB40}"/>
              </a:ext>
            </a:extLst>
          </p:cNvPr>
          <p:cNvSpPr txBox="1"/>
          <p:nvPr/>
        </p:nvSpPr>
        <p:spPr>
          <a:xfrm>
            <a:off x="8680380" y="5066799"/>
            <a:ext cx="389850"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X</a:t>
            </a:r>
          </a:p>
        </p:txBody>
      </p:sp>
      <p:sp>
        <p:nvSpPr>
          <p:cNvPr id="38" name="Oval 37">
            <a:extLst>
              <a:ext uri="{FF2B5EF4-FFF2-40B4-BE49-F238E27FC236}">
                <a16:creationId xmlns:a16="http://schemas.microsoft.com/office/drawing/2014/main" id="{789B1782-EE66-AED0-E92B-BA52A3A6842E}"/>
              </a:ext>
            </a:extLst>
          </p:cNvPr>
          <p:cNvSpPr/>
          <p:nvPr/>
        </p:nvSpPr>
        <p:spPr>
          <a:xfrm>
            <a:off x="9448527" y="5029358"/>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FD1CF775-97D0-072F-2A7A-F9E789B6C6F3}"/>
              </a:ext>
            </a:extLst>
          </p:cNvPr>
          <p:cNvSpPr txBox="1"/>
          <p:nvPr/>
        </p:nvSpPr>
        <p:spPr>
          <a:xfrm>
            <a:off x="9521876" y="5066799"/>
            <a:ext cx="389850"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A</a:t>
            </a:r>
          </a:p>
        </p:txBody>
      </p:sp>
      <p:sp>
        <p:nvSpPr>
          <p:cNvPr id="40" name="Oval 39">
            <a:extLst>
              <a:ext uri="{FF2B5EF4-FFF2-40B4-BE49-F238E27FC236}">
                <a16:creationId xmlns:a16="http://schemas.microsoft.com/office/drawing/2014/main" id="{FC85FC39-DA9D-00FE-4FAA-70B2AA4BAA24}"/>
              </a:ext>
            </a:extLst>
          </p:cNvPr>
          <p:cNvSpPr/>
          <p:nvPr/>
        </p:nvSpPr>
        <p:spPr>
          <a:xfrm>
            <a:off x="9470145" y="5801434"/>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5CC7CDDD-D8E5-F9EF-DF95-90A108F895DD}"/>
              </a:ext>
            </a:extLst>
          </p:cNvPr>
          <p:cNvSpPr txBox="1"/>
          <p:nvPr/>
        </p:nvSpPr>
        <p:spPr>
          <a:xfrm>
            <a:off x="9543494" y="5838875"/>
            <a:ext cx="389850"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B</a:t>
            </a:r>
          </a:p>
        </p:txBody>
      </p:sp>
      <p:sp>
        <p:nvSpPr>
          <p:cNvPr id="42" name="Oval 41">
            <a:extLst>
              <a:ext uri="{FF2B5EF4-FFF2-40B4-BE49-F238E27FC236}">
                <a16:creationId xmlns:a16="http://schemas.microsoft.com/office/drawing/2014/main" id="{89B791A3-31B1-DB90-6526-B9E3C8704323}"/>
              </a:ext>
            </a:extLst>
          </p:cNvPr>
          <p:cNvSpPr/>
          <p:nvPr/>
        </p:nvSpPr>
        <p:spPr>
          <a:xfrm>
            <a:off x="8629702" y="5801434"/>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825D2BD6-DE44-B163-74EF-5028EC303B9E}"/>
              </a:ext>
            </a:extLst>
          </p:cNvPr>
          <p:cNvSpPr txBox="1"/>
          <p:nvPr/>
        </p:nvSpPr>
        <p:spPr>
          <a:xfrm>
            <a:off x="8703051" y="5838875"/>
            <a:ext cx="389850"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Y</a:t>
            </a:r>
          </a:p>
        </p:txBody>
      </p:sp>
      <p:sp>
        <p:nvSpPr>
          <p:cNvPr id="44" name="Oval 43">
            <a:extLst>
              <a:ext uri="{FF2B5EF4-FFF2-40B4-BE49-F238E27FC236}">
                <a16:creationId xmlns:a16="http://schemas.microsoft.com/office/drawing/2014/main" id="{96076ABD-1E63-ED73-8BEB-C53EF3B91F68}"/>
              </a:ext>
            </a:extLst>
          </p:cNvPr>
          <p:cNvSpPr/>
          <p:nvPr/>
        </p:nvSpPr>
        <p:spPr>
          <a:xfrm>
            <a:off x="9849048" y="4205299"/>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7D86D83E-9906-058E-3F12-15C3CF860722}"/>
              </a:ext>
            </a:extLst>
          </p:cNvPr>
          <p:cNvSpPr txBox="1"/>
          <p:nvPr/>
        </p:nvSpPr>
        <p:spPr>
          <a:xfrm>
            <a:off x="9922397" y="4242740"/>
            <a:ext cx="372218"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Z</a:t>
            </a:r>
          </a:p>
        </p:txBody>
      </p:sp>
      <p:sp>
        <p:nvSpPr>
          <p:cNvPr id="46" name="Oval 45">
            <a:extLst>
              <a:ext uri="{FF2B5EF4-FFF2-40B4-BE49-F238E27FC236}">
                <a16:creationId xmlns:a16="http://schemas.microsoft.com/office/drawing/2014/main" id="{600E4950-30D4-AC28-E0D7-DCBA2B5BE491}"/>
              </a:ext>
            </a:extLst>
          </p:cNvPr>
          <p:cNvSpPr/>
          <p:nvPr/>
        </p:nvSpPr>
        <p:spPr>
          <a:xfrm>
            <a:off x="10268877" y="5029358"/>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D58B61A9-7739-7966-ED9C-89D1AF245104}"/>
              </a:ext>
            </a:extLst>
          </p:cNvPr>
          <p:cNvSpPr txBox="1"/>
          <p:nvPr/>
        </p:nvSpPr>
        <p:spPr>
          <a:xfrm>
            <a:off x="10342226" y="5066799"/>
            <a:ext cx="407484"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C</a:t>
            </a:r>
          </a:p>
        </p:txBody>
      </p:sp>
      <p:sp>
        <p:nvSpPr>
          <p:cNvPr id="48" name="Oval 47">
            <a:extLst>
              <a:ext uri="{FF2B5EF4-FFF2-40B4-BE49-F238E27FC236}">
                <a16:creationId xmlns:a16="http://schemas.microsoft.com/office/drawing/2014/main" id="{333888F6-6619-0F88-1CAF-B70F7B2FE31E}"/>
              </a:ext>
            </a:extLst>
          </p:cNvPr>
          <p:cNvSpPr/>
          <p:nvPr/>
        </p:nvSpPr>
        <p:spPr>
          <a:xfrm>
            <a:off x="10274536" y="5801434"/>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11B1BD2B-8C7F-9FC4-B4BD-97747EAAB477}"/>
              </a:ext>
            </a:extLst>
          </p:cNvPr>
          <p:cNvSpPr txBox="1"/>
          <p:nvPr/>
        </p:nvSpPr>
        <p:spPr>
          <a:xfrm>
            <a:off x="10347885" y="5838875"/>
            <a:ext cx="407484"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D</a:t>
            </a:r>
          </a:p>
        </p:txBody>
      </p:sp>
      <p:sp>
        <p:nvSpPr>
          <p:cNvPr id="50" name="Oval 49">
            <a:extLst>
              <a:ext uri="{FF2B5EF4-FFF2-40B4-BE49-F238E27FC236}">
                <a16:creationId xmlns:a16="http://schemas.microsoft.com/office/drawing/2014/main" id="{103DDC47-CED6-F7DE-F25E-8E31A1929F13}"/>
              </a:ext>
            </a:extLst>
          </p:cNvPr>
          <p:cNvSpPr/>
          <p:nvPr/>
        </p:nvSpPr>
        <p:spPr>
          <a:xfrm>
            <a:off x="11027927" y="5395513"/>
            <a:ext cx="536548" cy="536548"/>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37A36E92-D9C3-11FA-5C24-7B4ABBA33867}"/>
              </a:ext>
            </a:extLst>
          </p:cNvPr>
          <p:cNvSpPr txBox="1"/>
          <p:nvPr/>
        </p:nvSpPr>
        <p:spPr>
          <a:xfrm>
            <a:off x="11056032" y="5432954"/>
            <a:ext cx="474810"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W</a:t>
            </a:r>
          </a:p>
        </p:txBody>
      </p:sp>
      <p:cxnSp>
        <p:nvCxnSpPr>
          <p:cNvPr id="53" name="Straight Connector 52">
            <a:extLst>
              <a:ext uri="{FF2B5EF4-FFF2-40B4-BE49-F238E27FC236}">
                <a16:creationId xmlns:a16="http://schemas.microsoft.com/office/drawing/2014/main" id="{144747FC-D0C2-3B16-8166-D411F98FC19B}"/>
              </a:ext>
            </a:extLst>
          </p:cNvPr>
          <p:cNvCxnSpPr>
            <a:stCxn id="36" idx="6"/>
            <a:endCxn id="38" idx="2"/>
          </p:cNvCxnSpPr>
          <p:nvPr/>
        </p:nvCxnSpPr>
        <p:spPr>
          <a:xfrm>
            <a:off x="9143579" y="5297632"/>
            <a:ext cx="30494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B53A3E79-390D-4B5A-B692-95009541C95B}"/>
              </a:ext>
            </a:extLst>
          </p:cNvPr>
          <p:cNvCxnSpPr>
            <a:cxnSpLocks/>
            <a:stCxn id="42" idx="7"/>
            <a:endCxn id="38" idx="3"/>
          </p:cNvCxnSpPr>
          <p:nvPr/>
        </p:nvCxnSpPr>
        <p:spPr>
          <a:xfrm flipV="1">
            <a:off x="9087674" y="5487330"/>
            <a:ext cx="439429" cy="39268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45D56D2D-5E10-ED63-B334-3E85E8184159}"/>
              </a:ext>
            </a:extLst>
          </p:cNvPr>
          <p:cNvCxnSpPr>
            <a:cxnSpLocks/>
            <a:stCxn id="36" idx="5"/>
            <a:endCxn id="40" idx="1"/>
          </p:cNvCxnSpPr>
          <p:nvPr/>
        </p:nvCxnSpPr>
        <p:spPr>
          <a:xfrm>
            <a:off x="9065003" y="5487330"/>
            <a:ext cx="483718" cy="39268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6D9080E0-3EF4-49B3-96E2-02D3BD3962DE}"/>
              </a:ext>
            </a:extLst>
          </p:cNvPr>
          <p:cNvCxnSpPr>
            <a:cxnSpLocks/>
            <a:stCxn id="42" idx="6"/>
            <a:endCxn id="40" idx="2"/>
          </p:cNvCxnSpPr>
          <p:nvPr/>
        </p:nvCxnSpPr>
        <p:spPr>
          <a:xfrm>
            <a:off x="9166250" y="6069708"/>
            <a:ext cx="303895"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71064F49-9203-DC6C-8279-E9DD938830F9}"/>
              </a:ext>
            </a:extLst>
          </p:cNvPr>
          <p:cNvCxnSpPr>
            <a:cxnSpLocks/>
            <a:stCxn id="38" idx="0"/>
            <a:endCxn id="44" idx="3"/>
          </p:cNvCxnSpPr>
          <p:nvPr/>
        </p:nvCxnSpPr>
        <p:spPr>
          <a:xfrm flipV="1">
            <a:off x="9716801" y="4663271"/>
            <a:ext cx="210823" cy="3660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80E7AEF6-3C0C-E5CA-8978-89FEA273ADA1}"/>
              </a:ext>
            </a:extLst>
          </p:cNvPr>
          <p:cNvCxnSpPr>
            <a:cxnSpLocks/>
            <a:stCxn id="46" idx="0"/>
            <a:endCxn id="44" idx="5"/>
          </p:cNvCxnSpPr>
          <p:nvPr/>
        </p:nvCxnSpPr>
        <p:spPr>
          <a:xfrm flipH="1" flipV="1">
            <a:off x="10307020" y="4663271"/>
            <a:ext cx="230131" cy="3660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B1F8FA34-5D35-27C0-0AE1-8324D1CEE3D4}"/>
              </a:ext>
            </a:extLst>
          </p:cNvPr>
          <p:cNvCxnSpPr>
            <a:cxnSpLocks/>
            <a:stCxn id="50" idx="1"/>
            <a:endCxn id="46" idx="6"/>
          </p:cNvCxnSpPr>
          <p:nvPr/>
        </p:nvCxnSpPr>
        <p:spPr>
          <a:xfrm flipH="1" flipV="1">
            <a:off x="10805425" y="5297632"/>
            <a:ext cx="301078" cy="17645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88A89B42-EB7C-E614-2774-538101CEAB3B}"/>
              </a:ext>
            </a:extLst>
          </p:cNvPr>
          <p:cNvCxnSpPr>
            <a:cxnSpLocks/>
            <a:stCxn id="50" idx="3"/>
            <a:endCxn id="48" idx="6"/>
          </p:cNvCxnSpPr>
          <p:nvPr/>
        </p:nvCxnSpPr>
        <p:spPr>
          <a:xfrm flipH="1">
            <a:off x="10811084" y="5853485"/>
            <a:ext cx="295419" cy="21622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003C2457-615B-AF87-DCB7-B3F5162D6AD3}"/>
              </a:ext>
            </a:extLst>
          </p:cNvPr>
          <p:cNvSpPr txBox="1"/>
          <p:nvPr/>
        </p:nvSpPr>
        <p:spPr>
          <a:xfrm>
            <a:off x="9157764" y="2215080"/>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X</a:t>
            </a:r>
          </a:p>
        </p:txBody>
      </p:sp>
      <p:sp>
        <p:nvSpPr>
          <p:cNvPr id="79" name="TextBox 78">
            <a:extLst>
              <a:ext uri="{FF2B5EF4-FFF2-40B4-BE49-F238E27FC236}">
                <a16:creationId xmlns:a16="http://schemas.microsoft.com/office/drawing/2014/main" id="{377EB0A3-04A5-DE44-A5D9-DE15F27F28D0}"/>
              </a:ext>
            </a:extLst>
          </p:cNvPr>
          <p:cNvSpPr txBox="1"/>
          <p:nvPr/>
        </p:nvSpPr>
        <p:spPr>
          <a:xfrm>
            <a:off x="9157764" y="2559148"/>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Y</a:t>
            </a:r>
          </a:p>
        </p:txBody>
      </p:sp>
      <p:sp>
        <p:nvSpPr>
          <p:cNvPr id="80" name="TextBox 79">
            <a:extLst>
              <a:ext uri="{FF2B5EF4-FFF2-40B4-BE49-F238E27FC236}">
                <a16:creationId xmlns:a16="http://schemas.microsoft.com/office/drawing/2014/main" id="{803769A3-A6EC-BC2C-D673-400D799E22FC}"/>
              </a:ext>
            </a:extLst>
          </p:cNvPr>
          <p:cNvSpPr txBox="1"/>
          <p:nvPr/>
        </p:nvSpPr>
        <p:spPr>
          <a:xfrm>
            <a:off x="9157764" y="2903216"/>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Z</a:t>
            </a:r>
          </a:p>
        </p:txBody>
      </p:sp>
      <p:sp>
        <p:nvSpPr>
          <p:cNvPr id="81" name="TextBox 80">
            <a:extLst>
              <a:ext uri="{FF2B5EF4-FFF2-40B4-BE49-F238E27FC236}">
                <a16:creationId xmlns:a16="http://schemas.microsoft.com/office/drawing/2014/main" id="{ADEA4B86-F02E-1403-A930-51B0E3F5C7F5}"/>
              </a:ext>
            </a:extLst>
          </p:cNvPr>
          <p:cNvSpPr txBox="1"/>
          <p:nvPr/>
        </p:nvSpPr>
        <p:spPr>
          <a:xfrm>
            <a:off x="9122323" y="3247285"/>
            <a:ext cx="40267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W</a:t>
            </a:r>
          </a:p>
        </p:txBody>
      </p:sp>
      <p:sp>
        <p:nvSpPr>
          <p:cNvPr id="82" name="TextBox 81">
            <a:extLst>
              <a:ext uri="{FF2B5EF4-FFF2-40B4-BE49-F238E27FC236}">
                <a16:creationId xmlns:a16="http://schemas.microsoft.com/office/drawing/2014/main" id="{F5B6834D-C8A0-C636-3059-193EFF59E29D}"/>
              </a:ext>
            </a:extLst>
          </p:cNvPr>
          <p:cNvSpPr txBox="1"/>
          <p:nvPr/>
        </p:nvSpPr>
        <p:spPr>
          <a:xfrm>
            <a:off x="9510494" y="1873061"/>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X</a:t>
            </a:r>
          </a:p>
        </p:txBody>
      </p:sp>
      <p:sp>
        <p:nvSpPr>
          <p:cNvPr id="83" name="TextBox 82">
            <a:extLst>
              <a:ext uri="{FF2B5EF4-FFF2-40B4-BE49-F238E27FC236}">
                <a16:creationId xmlns:a16="http://schemas.microsoft.com/office/drawing/2014/main" id="{332C7A99-C6A8-CA6E-ACC0-7B7B99944B15}"/>
              </a:ext>
            </a:extLst>
          </p:cNvPr>
          <p:cNvSpPr txBox="1"/>
          <p:nvPr/>
        </p:nvSpPr>
        <p:spPr>
          <a:xfrm>
            <a:off x="10488414" y="1873061"/>
            <a:ext cx="40267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W</a:t>
            </a:r>
          </a:p>
        </p:txBody>
      </p:sp>
      <p:sp>
        <p:nvSpPr>
          <p:cNvPr id="84" name="TextBox 83">
            <a:extLst>
              <a:ext uri="{FF2B5EF4-FFF2-40B4-BE49-F238E27FC236}">
                <a16:creationId xmlns:a16="http://schemas.microsoft.com/office/drawing/2014/main" id="{C061AB7A-92A7-7DDE-8026-4EF9237D1092}"/>
              </a:ext>
            </a:extLst>
          </p:cNvPr>
          <p:cNvSpPr txBox="1"/>
          <p:nvPr/>
        </p:nvSpPr>
        <p:spPr>
          <a:xfrm>
            <a:off x="10184032" y="1873061"/>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Z</a:t>
            </a:r>
          </a:p>
        </p:txBody>
      </p:sp>
      <p:sp>
        <p:nvSpPr>
          <p:cNvPr id="85" name="TextBox 84">
            <a:extLst>
              <a:ext uri="{FF2B5EF4-FFF2-40B4-BE49-F238E27FC236}">
                <a16:creationId xmlns:a16="http://schemas.microsoft.com/office/drawing/2014/main" id="{D0F36D53-F16E-9E07-865A-3EAD8453B0D0}"/>
              </a:ext>
            </a:extLst>
          </p:cNvPr>
          <p:cNvSpPr txBox="1"/>
          <p:nvPr/>
        </p:nvSpPr>
        <p:spPr>
          <a:xfrm>
            <a:off x="9847263" y="1873061"/>
            <a:ext cx="33855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Y</a:t>
            </a:r>
          </a:p>
        </p:txBody>
      </p:sp>
    </p:spTree>
    <p:extLst>
      <p:ext uri="{BB962C8B-B14F-4D97-AF65-F5344CB8AC3E}">
        <p14:creationId xmlns:p14="http://schemas.microsoft.com/office/powerpoint/2010/main" val="26981895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828D5-380E-889D-0910-C64BAA2694F2}"/>
              </a:ext>
            </a:extLst>
          </p:cNvPr>
          <p:cNvSpPr>
            <a:spLocks noGrp="1"/>
          </p:cNvSpPr>
          <p:nvPr>
            <p:ph type="title"/>
          </p:nvPr>
        </p:nvSpPr>
        <p:spPr>
          <a:xfrm>
            <a:off x="838200" y="0"/>
            <a:ext cx="10515600" cy="1325563"/>
          </a:xfrm>
        </p:spPr>
        <p:txBody>
          <a:bodyPr/>
          <a:lstStyle/>
          <a:p>
            <a:r>
              <a:rPr lang="en-US" dirty="0">
                <a:solidFill>
                  <a:srgbClr val="002060"/>
                </a:solidFill>
              </a:rPr>
              <a:t>More traditional RSA analyses</a:t>
            </a:r>
          </a:p>
        </p:txBody>
      </p:sp>
      <p:sp>
        <p:nvSpPr>
          <p:cNvPr id="3" name="Content Placeholder 2">
            <a:extLst>
              <a:ext uri="{FF2B5EF4-FFF2-40B4-BE49-F238E27FC236}">
                <a16:creationId xmlns:a16="http://schemas.microsoft.com/office/drawing/2014/main" id="{9F742AE8-72D2-5E92-086A-403A2B475FBB}"/>
              </a:ext>
            </a:extLst>
          </p:cNvPr>
          <p:cNvSpPr>
            <a:spLocks noGrp="1"/>
          </p:cNvSpPr>
          <p:nvPr>
            <p:ph idx="1"/>
          </p:nvPr>
        </p:nvSpPr>
        <p:spPr>
          <a:xfrm>
            <a:off x="838200" y="1231899"/>
            <a:ext cx="10515600" cy="5464175"/>
          </a:xfrm>
        </p:spPr>
        <p:txBody>
          <a:bodyPr>
            <a:normAutofit fontScale="92500"/>
          </a:bodyPr>
          <a:lstStyle/>
          <a:p>
            <a:r>
              <a:rPr lang="en-US" dirty="0"/>
              <a:t>Investigate how the retrieving a cue stimulus will activate the target stimulus’ item representation</a:t>
            </a:r>
          </a:p>
          <a:p>
            <a:pPr lvl="1"/>
            <a:r>
              <a:rPr lang="en-US" dirty="0"/>
              <a:t>e.g., if participants encode relation X-A, then cueing with stimulus X will lead to the activation of the stimulus A representation as well</a:t>
            </a:r>
          </a:p>
          <a:p>
            <a:pPr lvl="1"/>
            <a:r>
              <a:rPr lang="en-US" dirty="0"/>
              <a:t>What activation patterns predict stronger reactivation of the A representation?</a:t>
            </a:r>
          </a:p>
          <a:p>
            <a:r>
              <a:rPr lang="en-US" dirty="0"/>
              <a:t>Analysis strategy</a:t>
            </a:r>
          </a:p>
          <a:p>
            <a:pPr lvl="1"/>
            <a:r>
              <a:rPr lang="en-US" dirty="0"/>
              <a:t>Measure representational strength as IRAF (e.g., in a PFC region)</a:t>
            </a:r>
          </a:p>
          <a:p>
            <a:pPr lvl="1"/>
            <a:r>
              <a:rPr lang="en-US" dirty="0"/>
              <a:t>The strength the stimulus X representation may predict the strength of the stimulus A representation</a:t>
            </a:r>
          </a:p>
          <a:p>
            <a:pPr lvl="2"/>
            <a:r>
              <a:rPr lang="en-US" dirty="0"/>
              <a:t>PFC</a:t>
            </a:r>
            <a:r>
              <a:rPr lang="en-US" baseline="-25000" dirty="0"/>
              <a:t>A-IRAF </a:t>
            </a:r>
            <a:r>
              <a:rPr lang="en-US" dirty="0"/>
              <a:t>~ PFC</a:t>
            </a:r>
            <a:r>
              <a:rPr lang="en-US" baseline="-25000" dirty="0"/>
              <a:t>X-IRAF</a:t>
            </a:r>
            <a:endParaRPr lang="en-US" dirty="0"/>
          </a:p>
          <a:p>
            <a:pPr lvl="1"/>
            <a:r>
              <a:rPr lang="en-US" dirty="0"/>
              <a:t>Activity in other regions, such as the hippocampus, may support the associations between X and Y</a:t>
            </a:r>
          </a:p>
          <a:p>
            <a:pPr lvl="2"/>
            <a:r>
              <a:rPr lang="en-US" dirty="0"/>
              <a:t>PFC</a:t>
            </a:r>
            <a:r>
              <a:rPr lang="en-US" baseline="-25000" dirty="0"/>
              <a:t>A-IRAF </a:t>
            </a:r>
            <a:r>
              <a:rPr lang="en-US" dirty="0"/>
              <a:t>~ PFC</a:t>
            </a:r>
            <a:r>
              <a:rPr lang="en-US" baseline="-25000" dirty="0"/>
              <a:t>X-IRAF </a:t>
            </a:r>
            <a:r>
              <a:rPr lang="en-US" dirty="0"/>
              <a:t>× HC</a:t>
            </a:r>
            <a:r>
              <a:rPr lang="en-US" baseline="-25000" dirty="0"/>
              <a:t>BOLD</a:t>
            </a:r>
          </a:p>
          <a:p>
            <a:pPr lvl="1"/>
            <a:r>
              <a:rPr lang="en-US" dirty="0"/>
              <a:t>Predict memory encoding:</a:t>
            </a:r>
          </a:p>
          <a:p>
            <a:pPr lvl="2"/>
            <a:r>
              <a:rPr lang="en-US" dirty="0"/>
              <a:t>Accuracy ~ PFC</a:t>
            </a:r>
            <a:r>
              <a:rPr lang="en-US" baseline="-25000" dirty="0"/>
              <a:t>X-IRAF </a:t>
            </a:r>
            <a:r>
              <a:rPr lang="en-US" dirty="0"/>
              <a:t>× PFC</a:t>
            </a:r>
            <a:r>
              <a:rPr lang="en-US" baseline="-25000" dirty="0"/>
              <a:t>Y-IRAF  </a:t>
            </a:r>
            <a:r>
              <a:rPr lang="en-US" dirty="0"/>
              <a:t>× HC</a:t>
            </a:r>
            <a:r>
              <a:rPr lang="en-US" baseline="-25000" dirty="0"/>
              <a:t>BOLD</a:t>
            </a:r>
          </a:p>
          <a:p>
            <a:pPr lvl="2"/>
            <a:endParaRPr lang="en-US" baseline="-25000" dirty="0"/>
          </a:p>
          <a:p>
            <a:pPr lvl="2"/>
            <a:endParaRPr lang="en-US" dirty="0"/>
          </a:p>
          <a:p>
            <a:pPr lvl="1"/>
            <a:endParaRPr lang="en-US" dirty="0"/>
          </a:p>
        </p:txBody>
      </p:sp>
    </p:spTree>
    <p:extLst>
      <p:ext uri="{BB962C8B-B14F-4D97-AF65-F5344CB8AC3E}">
        <p14:creationId xmlns:p14="http://schemas.microsoft.com/office/powerpoint/2010/main" val="44332970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6907A-CA29-CAEF-72C7-60730B85E847}"/>
              </a:ext>
            </a:extLst>
          </p:cNvPr>
          <p:cNvSpPr>
            <a:spLocks noGrp="1"/>
          </p:cNvSpPr>
          <p:nvPr>
            <p:ph type="title"/>
          </p:nvPr>
        </p:nvSpPr>
        <p:spPr/>
        <p:txBody>
          <a:bodyPr>
            <a:normAutofit/>
          </a:bodyPr>
          <a:lstStyle/>
          <a:p>
            <a:r>
              <a:rPr lang="en-US" sz="4000" dirty="0">
                <a:solidFill>
                  <a:srgbClr val="FF0000"/>
                </a:solidFill>
              </a:rPr>
              <a:t>Analysis 2A. flow through semantic network</a:t>
            </a:r>
          </a:p>
        </p:txBody>
      </p:sp>
      <p:sp>
        <p:nvSpPr>
          <p:cNvPr id="3" name="Content Placeholder 2">
            <a:extLst>
              <a:ext uri="{FF2B5EF4-FFF2-40B4-BE49-F238E27FC236}">
                <a16:creationId xmlns:a16="http://schemas.microsoft.com/office/drawing/2014/main" id="{FEAB21B3-D1BC-5164-2F22-4EB1E2A2F13D}"/>
              </a:ext>
            </a:extLst>
          </p:cNvPr>
          <p:cNvSpPr>
            <a:spLocks noGrp="1"/>
          </p:cNvSpPr>
          <p:nvPr>
            <p:ph idx="1"/>
          </p:nvPr>
        </p:nvSpPr>
        <p:spPr/>
        <p:txBody>
          <a:bodyPr/>
          <a:lstStyle/>
          <a:p>
            <a:r>
              <a:rPr lang="en-US" dirty="0"/>
              <a:t>During the presentation of cue:</a:t>
            </a:r>
          </a:p>
          <a:p>
            <a:pPr lvl="1"/>
            <a:r>
              <a:rPr lang="en-US" dirty="0"/>
              <a:t>RSA between </a:t>
            </a:r>
            <a:r>
              <a:rPr lang="en-US" dirty="0" err="1"/>
              <a:t>RDM</a:t>
            </a:r>
            <a:r>
              <a:rPr lang="en-US" baseline="-25000" dirty="0" err="1"/>
              <a:t>fMRI</a:t>
            </a:r>
            <a:r>
              <a:rPr lang="en-US" baseline="-25000" dirty="0"/>
              <a:t>-cue</a:t>
            </a:r>
            <a:r>
              <a:rPr lang="en-US" dirty="0"/>
              <a:t> x </a:t>
            </a:r>
            <a:r>
              <a:rPr lang="en-US" dirty="0" err="1"/>
              <a:t>RDM</a:t>
            </a:r>
            <a:r>
              <a:rPr lang="en-US" baseline="-25000" dirty="0" err="1"/>
              <a:t>Stim</a:t>
            </a:r>
            <a:r>
              <a:rPr lang="en-US" baseline="-25000" dirty="0"/>
              <a:t>-cue</a:t>
            </a:r>
            <a:r>
              <a:rPr lang="en-US" dirty="0"/>
              <a:t> indicates activation of the cue’s representation</a:t>
            </a:r>
          </a:p>
          <a:p>
            <a:pPr lvl="1"/>
            <a:r>
              <a:rPr lang="en-US" dirty="0"/>
              <a:t>RSA between </a:t>
            </a:r>
            <a:r>
              <a:rPr lang="en-US" dirty="0" err="1"/>
              <a:t>RDM</a:t>
            </a:r>
            <a:r>
              <a:rPr lang="en-US" baseline="-25000" dirty="0" err="1"/>
              <a:t>fMRI</a:t>
            </a:r>
            <a:r>
              <a:rPr lang="en-US" baseline="-25000" dirty="0"/>
              <a:t>-cue</a:t>
            </a:r>
            <a:r>
              <a:rPr lang="en-US" dirty="0"/>
              <a:t> x </a:t>
            </a:r>
            <a:r>
              <a:rPr lang="en-US" dirty="0" err="1"/>
              <a:t>RDM</a:t>
            </a:r>
            <a:r>
              <a:rPr lang="en-US" baseline="-25000" dirty="0" err="1"/>
              <a:t>Stim</a:t>
            </a:r>
            <a:r>
              <a:rPr lang="en-US" baseline="-25000" dirty="0"/>
              <a:t>-target </a:t>
            </a:r>
            <a:r>
              <a:rPr lang="en-US" dirty="0"/>
              <a:t>may indicate either: </a:t>
            </a:r>
          </a:p>
          <a:p>
            <a:pPr lvl="2"/>
            <a:r>
              <a:rPr lang="en-US" dirty="0"/>
              <a:t>(1) information traveling through episodic retrieval or semantic network</a:t>
            </a:r>
          </a:p>
          <a:p>
            <a:pPr lvl="2"/>
            <a:r>
              <a:rPr lang="en-US" dirty="0"/>
              <a:t>(2) the activation of the target’s representation</a:t>
            </a:r>
          </a:p>
          <a:p>
            <a:pPr lvl="1"/>
            <a:r>
              <a:rPr lang="en-US" dirty="0"/>
              <a:t>May find divergence between the regions that activate to represent a cue vs. those involved in information traveling</a:t>
            </a:r>
          </a:p>
        </p:txBody>
      </p:sp>
    </p:spTree>
    <p:extLst>
      <p:ext uri="{BB962C8B-B14F-4D97-AF65-F5344CB8AC3E}">
        <p14:creationId xmlns:p14="http://schemas.microsoft.com/office/powerpoint/2010/main" val="46379867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9B922-5678-3004-A3A4-42AE323432EB}"/>
              </a:ext>
            </a:extLst>
          </p:cNvPr>
          <p:cNvSpPr>
            <a:spLocks noGrp="1"/>
          </p:cNvSpPr>
          <p:nvPr>
            <p:ph type="title"/>
          </p:nvPr>
        </p:nvSpPr>
        <p:spPr>
          <a:xfrm>
            <a:off x="838200" y="107950"/>
            <a:ext cx="10515600" cy="1325563"/>
          </a:xfrm>
        </p:spPr>
        <p:txBody>
          <a:bodyPr/>
          <a:lstStyle/>
          <a:p>
            <a:r>
              <a:rPr lang="en-US" dirty="0"/>
              <a:t>Episodic memories as state transitions</a:t>
            </a:r>
          </a:p>
        </p:txBody>
      </p:sp>
      <p:sp>
        <p:nvSpPr>
          <p:cNvPr id="3" name="Content Placeholder 2">
            <a:extLst>
              <a:ext uri="{FF2B5EF4-FFF2-40B4-BE49-F238E27FC236}">
                <a16:creationId xmlns:a16="http://schemas.microsoft.com/office/drawing/2014/main" id="{B52C80D7-42D4-7406-36F9-ED121BD41B59}"/>
              </a:ext>
            </a:extLst>
          </p:cNvPr>
          <p:cNvSpPr>
            <a:spLocks noGrp="1"/>
          </p:cNvSpPr>
          <p:nvPr>
            <p:ph idx="1"/>
          </p:nvPr>
        </p:nvSpPr>
        <p:spPr>
          <a:xfrm>
            <a:off x="838200" y="1433513"/>
            <a:ext cx="10763250" cy="5148262"/>
          </a:xfrm>
        </p:spPr>
        <p:txBody>
          <a:bodyPr>
            <a:normAutofit fontScale="92500" lnSpcReduction="20000"/>
          </a:bodyPr>
          <a:lstStyle/>
          <a:p>
            <a:r>
              <a:rPr lang="en-US" dirty="0"/>
              <a:t>Do participants encode episodic memories as “state transitions”?</a:t>
            </a:r>
          </a:p>
          <a:p>
            <a:pPr lvl="1"/>
            <a:r>
              <a:rPr lang="en-US" dirty="0"/>
              <a:t>Suppose participants view the sequence A-X-B and A-Y-B. Later, participants are asked to retrieve X and Y. In the retrieval test, will we see a positive correlation between X and Y activation patterns? </a:t>
            </a:r>
          </a:p>
          <a:p>
            <a:pPr lvl="2"/>
            <a:r>
              <a:rPr lang="en-US" dirty="0"/>
              <a:t>By “correlation” I mean in the sense of encoding-retrieval similarity</a:t>
            </a:r>
          </a:p>
          <a:p>
            <a:pPr lvl="1"/>
            <a:r>
              <a:rPr lang="en-US" dirty="0"/>
              <a:t>Confirmatory analysis: the X-Y similarity is greater than the “baseline” correlation between X and Y during encoding</a:t>
            </a:r>
          </a:p>
          <a:p>
            <a:r>
              <a:rPr lang="en-US" dirty="0"/>
              <a:t>Furthermore, if participants also view the sequence B-Z-A, is Z less correlated with X and Y?</a:t>
            </a:r>
          </a:p>
          <a:p>
            <a:pPr lvl="1"/>
            <a:r>
              <a:rPr lang="en-US" dirty="0"/>
              <a:t>Z × X &lt; </a:t>
            </a:r>
            <a:r>
              <a:rPr lang="en-US" dirty="0">
                <a:latin typeface="Roboto" panose="02000000000000000000" pitchFamily="2" charset="0"/>
              </a:rPr>
              <a:t>X </a:t>
            </a:r>
            <a:r>
              <a:rPr lang="en-US" b="0" dirty="0">
                <a:effectLst/>
                <a:latin typeface="Roboto" panose="02000000000000000000" pitchFamily="2" charset="0"/>
              </a:rPr>
              <a:t>×</a:t>
            </a:r>
            <a:r>
              <a:rPr lang="en-US" dirty="0">
                <a:latin typeface="Roboto" panose="02000000000000000000" pitchFamily="2" charset="0"/>
              </a:rPr>
              <a:t> Y</a:t>
            </a:r>
          </a:p>
          <a:p>
            <a:pPr lvl="1"/>
            <a:r>
              <a:rPr lang="en-US" dirty="0"/>
              <a:t>Z × Y &lt; </a:t>
            </a:r>
            <a:r>
              <a:rPr lang="en-US" dirty="0">
                <a:latin typeface="Roboto" panose="02000000000000000000" pitchFamily="2" charset="0"/>
              </a:rPr>
              <a:t>X </a:t>
            </a:r>
            <a:r>
              <a:rPr lang="en-US" b="0" dirty="0">
                <a:effectLst/>
                <a:latin typeface="Roboto" panose="02000000000000000000" pitchFamily="2" charset="0"/>
              </a:rPr>
              <a:t>×</a:t>
            </a:r>
            <a:r>
              <a:rPr lang="en-US" dirty="0">
                <a:latin typeface="Roboto" panose="02000000000000000000" pitchFamily="2" charset="0"/>
              </a:rPr>
              <a:t> Y</a:t>
            </a:r>
          </a:p>
          <a:p>
            <a:pPr lvl="1"/>
            <a:r>
              <a:rPr lang="en-US" dirty="0">
                <a:latin typeface="Roboto" panose="02000000000000000000" pitchFamily="2" charset="0"/>
              </a:rPr>
              <a:t>Evidence that the directionality of A ➜ B is imbued in the representation of X and Y</a:t>
            </a:r>
          </a:p>
          <a:p>
            <a:pPr lvl="1"/>
            <a:r>
              <a:rPr lang="en-US" dirty="0">
                <a:latin typeface="Roboto" panose="02000000000000000000" pitchFamily="2" charset="0"/>
              </a:rPr>
              <a:t>To rule out that participants are simply retrieving A, you’d also want to check:</a:t>
            </a:r>
          </a:p>
          <a:p>
            <a:pPr lvl="2"/>
            <a:r>
              <a:rPr lang="en-US" dirty="0"/>
              <a:t>X × Y &gt; </a:t>
            </a:r>
            <a:r>
              <a:rPr lang="en-US" dirty="0">
                <a:latin typeface="Roboto" panose="02000000000000000000" pitchFamily="2" charset="0"/>
              </a:rPr>
              <a:t>X × A</a:t>
            </a:r>
          </a:p>
          <a:p>
            <a:pPr lvl="2"/>
            <a:r>
              <a:rPr lang="en-US" dirty="0"/>
              <a:t>X × Y &gt; </a:t>
            </a:r>
            <a:r>
              <a:rPr lang="en-US" dirty="0">
                <a:latin typeface="Roboto" panose="02000000000000000000" pitchFamily="2" charset="0"/>
              </a:rPr>
              <a:t>Y × A</a:t>
            </a:r>
          </a:p>
          <a:p>
            <a:r>
              <a:rPr lang="en-US" dirty="0">
                <a:latin typeface="Roboto" panose="02000000000000000000" pitchFamily="2" charset="0"/>
              </a:rPr>
              <a:t>Could also look at difference vectors, like for </a:t>
            </a:r>
            <a:r>
              <a:rPr lang="en-US" dirty="0" err="1">
                <a:latin typeface="Roboto" panose="02000000000000000000" pitchFamily="2" charset="0"/>
              </a:rPr>
              <a:t>SchemeRep</a:t>
            </a:r>
            <a:endParaRPr lang="en-US" dirty="0">
              <a:latin typeface="Roboto" panose="02000000000000000000" pitchFamily="2" charset="0"/>
            </a:endParaRPr>
          </a:p>
          <a:p>
            <a:endParaRPr lang="en-US" dirty="0"/>
          </a:p>
        </p:txBody>
      </p:sp>
    </p:spTree>
    <p:extLst>
      <p:ext uri="{BB962C8B-B14F-4D97-AF65-F5344CB8AC3E}">
        <p14:creationId xmlns:p14="http://schemas.microsoft.com/office/powerpoint/2010/main" val="1894261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190F9-7B94-1A16-666C-F743425650F6}"/>
              </a:ext>
            </a:extLst>
          </p:cNvPr>
          <p:cNvSpPr>
            <a:spLocks noGrp="1"/>
          </p:cNvSpPr>
          <p:nvPr>
            <p:ph type="title"/>
          </p:nvPr>
        </p:nvSpPr>
        <p:spPr>
          <a:xfrm>
            <a:off x="838200" y="1"/>
            <a:ext cx="10515600" cy="1077810"/>
          </a:xfrm>
        </p:spPr>
        <p:txBody>
          <a:bodyPr/>
          <a:lstStyle/>
          <a:p>
            <a:r>
              <a:rPr lang="en-US" dirty="0">
                <a:solidFill>
                  <a:srgbClr val="002060"/>
                </a:solidFill>
              </a:rPr>
              <a:t>Task idea 2. Encoding task</a:t>
            </a:r>
          </a:p>
        </p:txBody>
      </p:sp>
      <p:sp>
        <p:nvSpPr>
          <p:cNvPr id="3" name="Content Placeholder 2">
            <a:extLst>
              <a:ext uri="{FF2B5EF4-FFF2-40B4-BE49-F238E27FC236}">
                <a16:creationId xmlns:a16="http://schemas.microsoft.com/office/drawing/2014/main" id="{E07718BF-8BB6-93D9-BD43-9B405B5B2E63}"/>
              </a:ext>
            </a:extLst>
          </p:cNvPr>
          <p:cNvSpPr>
            <a:spLocks noGrp="1"/>
          </p:cNvSpPr>
          <p:nvPr>
            <p:ph idx="1"/>
          </p:nvPr>
        </p:nvSpPr>
        <p:spPr>
          <a:xfrm>
            <a:off x="819149" y="1026999"/>
            <a:ext cx="10844059" cy="1212512"/>
          </a:xfrm>
        </p:spPr>
        <p:txBody>
          <a:bodyPr>
            <a:normAutofit fontScale="85000" lnSpcReduction="10000"/>
          </a:bodyPr>
          <a:lstStyle/>
          <a:p>
            <a:r>
              <a:rPr lang="en-US" dirty="0"/>
              <a:t>Participants form temporal associations between sequential stimuli &amp; spatial associations between stimuli presented nearby</a:t>
            </a:r>
          </a:p>
          <a:p>
            <a:r>
              <a:rPr lang="en-US" dirty="0"/>
              <a:t>“Target” stimuli are repeated and can be switched between spatial/temporal</a:t>
            </a:r>
          </a:p>
        </p:txBody>
      </p:sp>
      <p:sp>
        <p:nvSpPr>
          <p:cNvPr id="4" name="Rectangle 3">
            <a:extLst>
              <a:ext uri="{FF2B5EF4-FFF2-40B4-BE49-F238E27FC236}">
                <a16:creationId xmlns:a16="http://schemas.microsoft.com/office/drawing/2014/main" id="{FC4741EF-7A4F-8371-3EA4-CB3FC89F77BB}"/>
              </a:ext>
            </a:extLst>
          </p:cNvPr>
          <p:cNvSpPr/>
          <p:nvPr/>
        </p:nvSpPr>
        <p:spPr>
          <a:xfrm>
            <a:off x="857630" y="2706915"/>
            <a:ext cx="2388011" cy="1919817"/>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D055FD82-18DB-3E29-F572-18C004C26E78}"/>
              </a:ext>
            </a:extLst>
          </p:cNvPr>
          <p:cNvSpPr/>
          <p:nvPr/>
        </p:nvSpPr>
        <p:spPr>
          <a:xfrm>
            <a:off x="2637293" y="3032284"/>
            <a:ext cx="2388011" cy="1919817"/>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57049B62-4FCC-28DE-270F-E12DE737A475}"/>
              </a:ext>
            </a:extLst>
          </p:cNvPr>
          <p:cNvPicPr>
            <a:picLocks noChangeAspect="1"/>
          </p:cNvPicPr>
          <p:nvPr/>
        </p:nvPicPr>
        <p:blipFill>
          <a:blip r:embed="rId3"/>
          <a:stretch>
            <a:fillRect/>
          </a:stretch>
        </p:blipFill>
        <p:spPr>
          <a:xfrm>
            <a:off x="3039780" y="3335877"/>
            <a:ext cx="1330030" cy="1187516"/>
          </a:xfrm>
          <a:prstGeom prst="rect">
            <a:avLst/>
          </a:prstGeom>
        </p:spPr>
      </p:pic>
      <p:sp>
        <p:nvSpPr>
          <p:cNvPr id="20" name="Rectangle 19">
            <a:extLst>
              <a:ext uri="{FF2B5EF4-FFF2-40B4-BE49-F238E27FC236}">
                <a16:creationId xmlns:a16="http://schemas.microsoft.com/office/drawing/2014/main" id="{BA77C13F-8F52-BD68-5417-08ED3627E623}"/>
              </a:ext>
            </a:extLst>
          </p:cNvPr>
          <p:cNvSpPr/>
          <p:nvPr/>
        </p:nvSpPr>
        <p:spPr>
          <a:xfrm>
            <a:off x="4747854" y="3315592"/>
            <a:ext cx="2388011" cy="1919817"/>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Picture 20">
            <a:extLst>
              <a:ext uri="{FF2B5EF4-FFF2-40B4-BE49-F238E27FC236}">
                <a16:creationId xmlns:a16="http://schemas.microsoft.com/office/drawing/2014/main" id="{4B5CEC56-C18B-3A4F-2E6B-F8447561EB44}"/>
              </a:ext>
            </a:extLst>
          </p:cNvPr>
          <p:cNvPicPr>
            <a:picLocks noChangeAspect="1"/>
          </p:cNvPicPr>
          <p:nvPr/>
        </p:nvPicPr>
        <p:blipFill>
          <a:blip r:embed="rId4"/>
          <a:stretch>
            <a:fillRect/>
          </a:stretch>
        </p:blipFill>
        <p:spPr>
          <a:xfrm>
            <a:off x="5518154" y="3884574"/>
            <a:ext cx="1192111" cy="1064375"/>
          </a:xfrm>
          <a:prstGeom prst="rect">
            <a:avLst/>
          </a:prstGeom>
        </p:spPr>
      </p:pic>
      <p:sp>
        <p:nvSpPr>
          <p:cNvPr id="33" name="TextBox 32">
            <a:extLst>
              <a:ext uri="{FF2B5EF4-FFF2-40B4-BE49-F238E27FC236}">
                <a16:creationId xmlns:a16="http://schemas.microsoft.com/office/drawing/2014/main" id="{349191DF-D524-CFB5-9B73-95C73C68D7FF}"/>
              </a:ext>
            </a:extLst>
          </p:cNvPr>
          <p:cNvSpPr txBox="1"/>
          <p:nvPr/>
        </p:nvSpPr>
        <p:spPr>
          <a:xfrm>
            <a:off x="4575582" y="5303334"/>
            <a:ext cx="2388011" cy="584775"/>
          </a:xfrm>
          <a:prstGeom prst="rect">
            <a:avLst/>
          </a:prstGeom>
          <a:noFill/>
        </p:spPr>
        <p:txBody>
          <a:bodyPr wrap="square" rtlCol="0">
            <a:spAutoFit/>
          </a:bodyPr>
          <a:lstStyle/>
          <a:p>
            <a:pPr algn="ctr"/>
            <a:r>
              <a:rPr lang="en-US" sz="1600" dirty="0"/>
              <a:t>Judge relative to previous</a:t>
            </a:r>
          </a:p>
          <a:p>
            <a:pPr algn="ctr"/>
            <a:r>
              <a:rPr lang="en-US" sz="1600" dirty="0"/>
              <a:t>(e.g., bigger smaller)</a:t>
            </a:r>
          </a:p>
        </p:txBody>
      </p:sp>
      <p:sp>
        <p:nvSpPr>
          <p:cNvPr id="36" name="TextBox 35">
            <a:extLst>
              <a:ext uri="{FF2B5EF4-FFF2-40B4-BE49-F238E27FC236}">
                <a16:creationId xmlns:a16="http://schemas.microsoft.com/office/drawing/2014/main" id="{16900221-02DE-9BA8-5F31-B6806674BF9F}"/>
              </a:ext>
            </a:extLst>
          </p:cNvPr>
          <p:cNvSpPr txBox="1"/>
          <p:nvPr/>
        </p:nvSpPr>
        <p:spPr>
          <a:xfrm>
            <a:off x="7011881" y="5634637"/>
            <a:ext cx="2133310" cy="584775"/>
          </a:xfrm>
          <a:prstGeom prst="rect">
            <a:avLst/>
          </a:prstGeom>
          <a:noFill/>
        </p:spPr>
        <p:txBody>
          <a:bodyPr wrap="square" rtlCol="0">
            <a:spAutoFit/>
          </a:bodyPr>
          <a:lstStyle/>
          <a:p>
            <a:pPr algn="ctr"/>
            <a:r>
              <a:rPr lang="en-US" sz="1600" dirty="0"/>
              <a:t>Judge between three</a:t>
            </a:r>
          </a:p>
          <a:p>
            <a:pPr algn="ctr"/>
            <a:r>
              <a:rPr lang="en-US" sz="1600" dirty="0"/>
              <a:t>(e.g., biggest/smallest)</a:t>
            </a:r>
          </a:p>
        </p:txBody>
      </p:sp>
      <p:sp>
        <p:nvSpPr>
          <p:cNvPr id="37" name="TextBox 36">
            <a:extLst>
              <a:ext uri="{FF2B5EF4-FFF2-40B4-BE49-F238E27FC236}">
                <a16:creationId xmlns:a16="http://schemas.microsoft.com/office/drawing/2014/main" id="{B91B924E-3132-0D8B-7501-FFED35B5EE21}"/>
              </a:ext>
            </a:extLst>
          </p:cNvPr>
          <p:cNvSpPr txBox="1"/>
          <p:nvPr/>
        </p:nvSpPr>
        <p:spPr>
          <a:xfrm>
            <a:off x="9145191" y="5911687"/>
            <a:ext cx="2298473" cy="584775"/>
          </a:xfrm>
          <a:prstGeom prst="rect">
            <a:avLst/>
          </a:prstGeom>
          <a:noFill/>
        </p:spPr>
        <p:txBody>
          <a:bodyPr wrap="square" rtlCol="0">
            <a:spAutoFit/>
          </a:bodyPr>
          <a:lstStyle/>
          <a:p>
            <a:pPr algn="ctr"/>
            <a:r>
              <a:rPr lang="en-US" sz="1600" dirty="0"/>
              <a:t>Return focus to center</a:t>
            </a:r>
            <a:br>
              <a:rPr lang="en-US" sz="1600" dirty="0"/>
            </a:br>
            <a:r>
              <a:rPr lang="en-US" sz="1600" dirty="0"/>
              <a:t>Prepare for next trial</a:t>
            </a:r>
          </a:p>
        </p:txBody>
      </p:sp>
      <p:sp>
        <p:nvSpPr>
          <p:cNvPr id="38" name="Rectangle 37">
            <a:extLst>
              <a:ext uri="{FF2B5EF4-FFF2-40B4-BE49-F238E27FC236}">
                <a16:creationId xmlns:a16="http://schemas.microsoft.com/office/drawing/2014/main" id="{001DE3EC-66E8-7990-9B3D-B8499E774E65}"/>
              </a:ext>
            </a:extLst>
          </p:cNvPr>
          <p:cNvSpPr/>
          <p:nvPr/>
        </p:nvSpPr>
        <p:spPr>
          <a:xfrm rot="805522">
            <a:off x="2847149" y="3547751"/>
            <a:ext cx="3829099" cy="1160246"/>
          </a:xfrm>
          <a:prstGeom prst="rect">
            <a:avLst/>
          </a:prstGeom>
          <a:noFill/>
          <a:ln w="381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C3594C1-4C13-CE79-A864-838EF71F7F93}"/>
              </a:ext>
            </a:extLst>
          </p:cNvPr>
          <p:cNvSpPr/>
          <p:nvPr/>
        </p:nvSpPr>
        <p:spPr>
          <a:xfrm>
            <a:off x="6963594" y="3666824"/>
            <a:ext cx="2388011" cy="1919817"/>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a:extLst>
              <a:ext uri="{FF2B5EF4-FFF2-40B4-BE49-F238E27FC236}">
                <a16:creationId xmlns:a16="http://schemas.microsoft.com/office/drawing/2014/main" id="{B2EFCDA5-B822-2830-9BB8-97A8B8FB55BF}"/>
              </a:ext>
            </a:extLst>
          </p:cNvPr>
          <p:cNvPicPr>
            <a:picLocks noChangeAspect="1"/>
          </p:cNvPicPr>
          <p:nvPr/>
        </p:nvPicPr>
        <p:blipFill>
          <a:blip r:embed="rId4"/>
          <a:stretch>
            <a:fillRect/>
          </a:stretch>
        </p:blipFill>
        <p:spPr>
          <a:xfrm>
            <a:off x="7819359" y="4118262"/>
            <a:ext cx="1093167" cy="976033"/>
          </a:xfrm>
          <a:prstGeom prst="rect">
            <a:avLst/>
          </a:prstGeom>
        </p:spPr>
      </p:pic>
      <p:pic>
        <p:nvPicPr>
          <p:cNvPr id="31" name="Picture 30">
            <a:extLst>
              <a:ext uri="{FF2B5EF4-FFF2-40B4-BE49-F238E27FC236}">
                <a16:creationId xmlns:a16="http://schemas.microsoft.com/office/drawing/2014/main" id="{BFC94C21-8EEC-2A2F-BDEF-7A08DF4D3975}"/>
              </a:ext>
            </a:extLst>
          </p:cNvPr>
          <p:cNvPicPr>
            <a:picLocks noChangeAspect="1"/>
          </p:cNvPicPr>
          <p:nvPr/>
        </p:nvPicPr>
        <p:blipFill>
          <a:blip r:embed="rId5"/>
          <a:stretch>
            <a:fillRect/>
          </a:stretch>
        </p:blipFill>
        <p:spPr>
          <a:xfrm>
            <a:off x="7039119" y="4271091"/>
            <a:ext cx="872121" cy="778672"/>
          </a:xfrm>
          <a:prstGeom prst="rect">
            <a:avLst/>
          </a:prstGeom>
        </p:spPr>
      </p:pic>
      <p:pic>
        <p:nvPicPr>
          <p:cNvPr id="32" name="Picture 31">
            <a:extLst>
              <a:ext uri="{FF2B5EF4-FFF2-40B4-BE49-F238E27FC236}">
                <a16:creationId xmlns:a16="http://schemas.microsoft.com/office/drawing/2014/main" id="{85AFE6B0-45E5-665F-D100-5521B51F2222}"/>
              </a:ext>
            </a:extLst>
          </p:cNvPr>
          <p:cNvPicPr>
            <a:picLocks noChangeAspect="1"/>
          </p:cNvPicPr>
          <p:nvPr/>
        </p:nvPicPr>
        <p:blipFill rotWithShape="1">
          <a:blip r:embed="rId6"/>
          <a:srcRect l="14978" r="16500" b="-3329"/>
          <a:stretch/>
        </p:blipFill>
        <p:spPr>
          <a:xfrm>
            <a:off x="8634003" y="4249940"/>
            <a:ext cx="578341" cy="778672"/>
          </a:xfrm>
          <a:prstGeom prst="rect">
            <a:avLst/>
          </a:prstGeom>
        </p:spPr>
      </p:pic>
      <p:sp>
        <p:nvSpPr>
          <p:cNvPr id="34" name="Rectangle 33">
            <a:extLst>
              <a:ext uri="{FF2B5EF4-FFF2-40B4-BE49-F238E27FC236}">
                <a16:creationId xmlns:a16="http://schemas.microsoft.com/office/drawing/2014/main" id="{D3919EFA-158A-AFBE-0EE9-C6EE01306E70}"/>
              </a:ext>
            </a:extLst>
          </p:cNvPr>
          <p:cNvSpPr/>
          <p:nvPr/>
        </p:nvSpPr>
        <p:spPr>
          <a:xfrm>
            <a:off x="9313678" y="3966633"/>
            <a:ext cx="2388011" cy="1919817"/>
          </a:xfrm>
          <a:prstGeom prst="rect">
            <a:avLst/>
          </a:prstGeom>
          <a:solidFill>
            <a:schemeClr val="bg1"/>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Picture 34">
            <a:extLst>
              <a:ext uri="{FF2B5EF4-FFF2-40B4-BE49-F238E27FC236}">
                <a16:creationId xmlns:a16="http://schemas.microsoft.com/office/drawing/2014/main" id="{00D68653-D759-9CC8-1605-4048E2E99935}"/>
              </a:ext>
            </a:extLst>
          </p:cNvPr>
          <p:cNvPicPr>
            <a:picLocks noChangeAspect="1"/>
          </p:cNvPicPr>
          <p:nvPr/>
        </p:nvPicPr>
        <p:blipFill>
          <a:blip r:embed="rId4"/>
          <a:stretch>
            <a:fillRect/>
          </a:stretch>
        </p:blipFill>
        <p:spPr>
          <a:xfrm>
            <a:off x="10023774" y="4362185"/>
            <a:ext cx="1192111" cy="1064375"/>
          </a:xfrm>
          <a:prstGeom prst="rect">
            <a:avLst/>
          </a:prstGeom>
        </p:spPr>
      </p:pic>
      <p:sp>
        <p:nvSpPr>
          <p:cNvPr id="40" name="TextBox 39">
            <a:extLst>
              <a:ext uri="{FF2B5EF4-FFF2-40B4-BE49-F238E27FC236}">
                <a16:creationId xmlns:a16="http://schemas.microsoft.com/office/drawing/2014/main" id="{4BD372C3-916E-D510-110E-9AA2C0607F60}"/>
              </a:ext>
            </a:extLst>
          </p:cNvPr>
          <p:cNvSpPr txBox="1"/>
          <p:nvPr/>
        </p:nvSpPr>
        <p:spPr>
          <a:xfrm>
            <a:off x="7518601" y="3652198"/>
            <a:ext cx="1343064" cy="523220"/>
          </a:xfrm>
          <a:prstGeom prst="rect">
            <a:avLst/>
          </a:prstGeom>
          <a:noFill/>
        </p:spPr>
        <p:txBody>
          <a:bodyPr wrap="square" rtlCol="0">
            <a:spAutoFit/>
          </a:bodyPr>
          <a:lstStyle/>
          <a:p>
            <a:r>
              <a:rPr lang="en-US" sz="2800" dirty="0">
                <a:solidFill>
                  <a:schemeClr val="accent6">
                    <a:lumMod val="75000"/>
                  </a:schemeClr>
                </a:solidFill>
                <a:latin typeface="Arial" panose="020B0604020202020204" pitchFamily="34" charset="0"/>
                <a:cs typeface="Arial" panose="020B0604020202020204" pitchFamily="34" charset="0"/>
              </a:rPr>
              <a:t>Spatial</a:t>
            </a:r>
          </a:p>
        </p:txBody>
      </p:sp>
      <p:sp>
        <p:nvSpPr>
          <p:cNvPr id="41" name="TextBox 40">
            <a:extLst>
              <a:ext uri="{FF2B5EF4-FFF2-40B4-BE49-F238E27FC236}">
                <a16:creationId xmlns:a16="http://schemas.microsoft.com/office/drawing/2014/main" id="{32DAFC05-497F-46B4-6FA8-04DD2492DF5C}"/>
              </a:ext>
            </a:extLst>
          </p:cNvPr>
          <p:cNvSpPr txBox="1"/>
          <p:nvPr/>
        </p:nvSpPr>
        <p:spPr>
          <a:xfrm rot="783392">
            <a:off x="4255188" y="3986370"/>
            <a:ext cx="1532934" cy="461665"/>
          </a:xfrm>
          <a:prstGeom prst="rect">
            <a:avLst/>
          </a:prstGeom>
          <a:solidFill>
            <a:schemeClr val="bg1"/>
          </a:solidFill>
        </p:spPr>
        <p:txBody>
          <a:bodyPr wrap="square" rtlCol="0">
            <a:spAutoFit/>
          </a:bodyPr>
          <a:lstStyle/>
          <a:p>
            <a:r>
              <a:rPr lang="en-US" sz="2400" dirty="0">
                <a:solidFill>
                  <a:srgbClr val="0070C0"/>
                </a:solidFill>
                <a:latin typeface="Arial" panose="020B0604020202020204" pitchFamily="34" charset="0"/>
                <a:cs typeface="Arial" panose="020B0604020202020204" pitchFamily="34" charset="0"/>
              </a:rPr>
              <a:t>Temporal</a:t>
            </a:r>
            <a:endParaRPr lang="en-US" sz="2000" dirty="0">
              <a:solidFill>
                <a:srgbClr val="0070C0"/>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40E767E3-BADE-7266-7D03-65986BA971BE}"/>
              </a:ext>
            </a:extLst>
          </p:cNvPr>
          <p:cNvPicPr>
            <a:picLocks noChangeAspect="1"/>
          </p:cNvPicPr>
          <p:nvPr/>
        </p:nvPicPr>
        <p:blipFill>
          <a:blip r:embed="rId7"/>
          <a:stretch>
            <a:fillRect/>
          </a:stretch>
        </p:blipFill>
        <p:spPr>
          <a:xfrm>
            <a:off x="1226034" y="3032284"/>
            <a:ext cx="1321928" cy="889043"/>
          </a:xfrm>
          <a:prstGeom prst="rect">
            <a:avLst/>
          </a:prstGeom>
        </p:spPr>
      </p:pic>
      <p:sp>
        <p:nvSpPr>
          <p:cNvPr id="8" name="TextBox 7">
            <a:extLst>
              <a:ext uri="{FF2B5EF4-FFF2-40B4-BE49-F238E27FC236}">
                <a16:creationId xmlns:a16="http://schemas.microsoft.com/office/drawing/2014/main" id="{5B56F935-55C8-0251-79BC-A443C0217A18}"/>
              </a:ext>
            </a:extLst>
          </p:cNvPr>
          <p:cNvSpPr txBox="1"/>
          <p:nvPr/>
        </p:nvSpPr>
        <p:spPr>
          <a:xfrm>
            <a:off x="1232900" y="2967335"/>
            <a:ext cx="766557" cy="461665"/>
          </a:xfrm>
          <a:prstGeom prst="rect">
            <a:avLst/>
          </a:prstGeom>
          <a:noFill/>
        </p:spPr>
        <p:txBody>
          <a:bodyPr wrap="none" rtlCol="0">
            <a:spAutoFit/>
          </a:bodyPr>
          <a:lstStyle/>
          <a:p>
            <a:r>
              <a:rPr lang="en-US" sz="2400" b="1" dirty="0">
                <a:solidFill>
                  <a:srgbClr val="FF7C80"/>
                </a:solidFill>
                <a:latin typeface="Arial" panose="020B0604020202020204" pitchFamily="34" charset="0"/>
                <a:cs typeface="Arial" panose="020B0604020202020204" pitchFamily="34" charset="0"/>
              </a:rPr>
              <a:t>Cue</a:t>
            </a:r>
          </a:p>
        </p:txBody>
      </p:sp>
      <p:sp>
        <p:nvSpPr>
          <p:cNvPr id="9" name="TextBox 8">
            <a:extLst>
              <a:ext uri="{FF2B5EF4-FFF2-40B4-BE49-F238E27FC236}">
                <a16:creationId xmlns:a16="http://schemas.microsoft.com/office/drawing/2014/main" id="{CF35A9F0-1086-FD69-DB2F-B18DD997DE44}"/>
              </a:ext>
            </a:extLst>
          </p:cNvPr>
          <p:cNvSpPr txBox="1"/>
          <p:nvPr/>
        </p:nvSpPr>
        <p:spPr>
          <a:xfrm>
            <a:off x="3044654" y="3211942"/>
            <a:ext cx="1102802" cy="461665"/>
          </a:xfrm>
          <a:prstGeom prst="rect">
            <a:avLst/>
          </a:prstGeom>
          <a:noFill/>
        </p:spPr>
        <p:txBody>
          <a:bodyPr wrap="none" rtlCol="0">
            <a:spAutoFit/>
          </a:bodyPr>
          <a:lstStyle/>
          <a:p>
            <a:r>
              <a:rPr lang="en-US" sz="2400" b="1" dirty="0">
                <a:solidFill>
                  <a:srgbClr val="7030A0"/>
                </a:solidFill>
                <a:latin typeface="Arial" panose="020B0604020202020204" pitchFamily="34" charset="0"/>
                <a:cs typeface="Arial" panose="020B0604020202020204" pitchFamily="34" charset="0"/>
              </a:rPr>
              <a:t>Target</a:t>
            </a:r>
          </a:p>
        </p:txBody>
      </p:sp>
      <p:sp>
        <p:nvSpPr>
          <p:cNvPr id="10" name="Oval 9">
            <a:extLst>
              <a:ext uri="{FF2B5EF4-FFF2-40B4-BE49-F238E27FC236}">
                <a16:creationId xmlns:a16="http://schemas.microsoft.com/office/drawing/2014/main" id="{6DDDFD72-1925-511C-FC74-E47934081D0E}"/>
              </a:ext>
            </a:extLst>
          </p:cNvPr>
          <p:cNvSpPr/>
          <p:nvPr/>
        </p:nvSpPr>
        <p:spPr>
          <a:xfrm>
            <a:off x="1157895" y="2742878"/>
            <a:ext cx="1450613" cy="1450613"/>
          </a:xfrm>
          <a:prstGeom prst="ellipse">
            <a:avLst/>
          </a:prstGeom>
          <a:noFill/>
          <a:ln w="76200">
            <a:solidFill>
              <a:srgbClr val="FF7C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3E276EA5-9D0E-C66D-7151-4236E1E45C56}"/>
              </a:ext>
            </a:extLst>
          </p:cNvPr>
          <p:cNvSpPr/>
          <p:nvPr/>
        </p:nvSpPr>
        <p:spPr>
          <a:xfrm>
            <a:off x="2909334" y="3111881"/>
            <a:ext cx="1450613" cy="1450613"/>
          </a:xfrm>
          <a:prstGeom prst="ellipse">
            <a:avLst/>
          </a:prstGeom>
          <a:noFill/>
          <a:ln w="762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4591A75-7197-EFA6-3F7F-4B3EBC425BBC}"/>
              </a:ext>
            </a:extLst>
          </p:cNvPr>
          <p:cNvSpPr txBox="1"/>
          <p:nvPr/>
        </p:nvSpPr>
        <p:spPr>
          <a:xfrm>
            <a:off x="7556989" y="5053528"/>
            <a:ext cx="1274323" cy="461665"/>
          </a:xfrm>
          <a:prstGeom prst="rect">
            <a:avLst/>
          </a:prstGeom>
          <a:noFill/>
        </p:spPr>
        <p:txBody>
          <a:bodyPr wrap="none" rtlCol="0">
            <a:spAutoFit/>
          </a:bodyPr>
          <a:lstStyle/>
          <a:p>
            <a:r>
              <a:rPr lang="en-US" sz="2400" b="1" dirty="0">
                <a:solidFill>
                  <a:srgbClr val="7030A0"/>
                </a:solidFill>
                <a:latin typeface="Arial" panose="020B0604020202020204" pitchFamily="34" charset="0"/>
                <a:cs typeface="Arial" panose="020B0604020202020204" pitchFamily="34" charset="0"/>
              </a:rPr>
              <a:t>Targets</a:t>
            </a:r>
          </a:p>
        </p:txBody>
      </p:sp>
      <p:sp>
        <p:nvSpPr>
          <p:cNvPr id="13" name="Oval 12">
            <a:extLst>
              <a:ext uri="{FF2B5EF4-FFF2-40B4-BE49-F238E27FC236}">
                <a16:creationId xmlns:a16="http://schemas.microsoft.com/office/drawing/2014/main" id="{875BBA9A-D5B7-FECF-A5AE-6E2542450031}"/>
              </a:ext>
            </a:extLst>
          </p:cNvPr>
          <p:cNvSpPr/>
          <p:nvPr/>
        </p:nvSpPr>
        <p:spPr>
          <a:xfrm>
            <a:off x="6960921" y="4137390"/>
            <a:ext cx="912373" cy="912373"/>
          </a:xfrm>
          <a:prstGeom prst="ellipse">
            <a:avLst/>
          </a:prstGeom>
          <a:noFill/>
          <a:ln w="762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3116EBA6-2EF7-D40C-00E2-B5141EC35436}"/>
              </a:ext>
            </a:extLst>
          </p:cNvPr>
          <p:cNvSpPr/>
          <p:nvPr/>
        </p:nvSpPr>
        <p:spPr>
          <a:xfrm>
            <a:off x="8622642" y="4175418"/>
            <a:ext cx="673632" cy="912373"/>
          </a:xfrm>
          <a:prstGeom prst="ellipse">
            <a:avLst/>
          </a:prstGeom>
          <a:noFill/>
          <a:ln w="762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3AA2F441-39AF-16FE-DDD4-21AD99762F24}"/>
              </a:ext>
            </a:extLst>
          </p:cNvPr>
          <p:cNvSpPr/>
          <p:nvPr/>
        </p:nvSpPr>
        <p:spPr>
          <a:xfrm>
            <a:off x="7011881" y="4157467"/>
            <a:ext cx="2244227" cy="892297"/>
          </a:xfrm>
          <a:prstGeom prst="rect">
            <a:avLst/>
          </a:prstGeom>
          <a:noFill/>
          <a:ln w="38100">
            <a:solidFill>
              <a:srgbClr val="33CC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66BBEA84-7EEE-9E49-DB0B-CBD3529B7B84}"/>
              </a:ext>
            </a:extLst>
          </p:cNvPr>
          <p:cNvSpPr txBox="1"/>
          <p:nvPr/>
        </p:nvSpPr>
        <p:spPr>
          <a:xfrm>
            <a:off x="5855182" y="4613559"/>
            <a:ext cx="766557" cy="461665"/>
          </a:xfrm>
          <a:prstGeom prst="rect">
            <a:avLst/>
          </a:prstGeom>
          <a:noFill/>
        </p:spPr>
        <p:txBody>
          <a:bodyPr wrap="none" rtlCol="0">
            <a:spAutoFit/>
          </a:bodyPr>
          <a:lstStyle/>
          <a:p>
            <a:r>
              <a:rPr lang="en-US" sz="2400" b="1" dirty="0">
                <a:solidFill>
                  <a:srgbClr val="FF7C80"/>
                </a:solidFill>
                <a:latin typeface="Arial" panose="020B0604020202020204" pitchFamily="34" charset="0"/>
                <a:cs typeface="Arial" panose="020B0604020202020204" pitchFamily="34" charset="0"/>
              </a:rPr>
              <a:t>Cue</a:t>
            </a:r>
          </a:p>
        </p:txBody>
      </p:sp>
      <p:sp>
        <p:nvSpPr>
          <p:cNvPr id="22" name="Oval 21">
            <a:extLst>
              <a:ext uri="{FF2B5EF4-FFF2-40B4-BE49-F238E27FC236}">
                <a16:creationId xmlns:a16="http://schemas.microsoft.com/office/drawing/2014/main" id="{7FB2A8BD-EF04-FF48-0901-154BFE6C74AF}"/>
              </a:ext>
            </a:extLst>
          </p:cNvPr>
          <p:cNvSpPr/>
          <p:nvPr/>
        </p:nvSpPr>
        <p:spPr>
          <a:xfrm>
            <a:off x="5663326" y="3720011"/>
            <a:ext cx="1172386" cy="1450613"/>
          </a:xfrm>
          <a:prstGeom prst="ellipse">
            <a:avLst/>
          </a:prstGeom>
          <a:noFill/>
          <a:ln w="76200">
            <a:solidFill>
              <a:srgbClr val="FF7C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Content Placeholder 2">
            <a:extLst>
              <a:ext uri="{FF2B5EF4-FFF2-40B4-BE49-F238E27FC236}">
                <a16:creationId xmlns:a16="http://schemas.microsoft.com/office/drawing/2014/main" id="{E1FCC0B5-EA53-6FB9-7415-E5690A581CAE}"/>
              </a:ext>
            </a:extLst>
          </p:cNvPr>
          <p:cNvSpPr txBox="1">
            <a:spLocks/>
          </p:cNvSpPr>
          <p:nvPr/>
        </p:nvSpPr>
        <p:spPr>
          <a:xfrm>
            <a:off x="6497074" y="2231743"/>
            <a:ext cx="5214574" cy="78404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Could have participants go through the stimuli more than once</a:t>
            </a:r>
          </a:p>
        </p:txBody>
      </p:sp>
      <p:sp>
        <p:nvSpPr>
          <p:cNvPr id="24" name="Content Placeholder 2">
            <a:extLst>
              <a:ext uri="{FF2B5EF4-FFF2-40B4-BE49-F238E27FC236}">
                <a16:creationId xmlns:a16="http://schemas.microsoft.com/office/drawing/2014/main" id="{A383E9D4-06F1-2858-1AA2-A60E5E08E5E2}"/>
              </a:ext>
            </a:extLst>
          </p:cNvPr>
          <p:cNvSpPr txBox="1">
            <a:spLocks/>
          </p:cNvSpPr>
          <p:nvPr/>
        </p:nvSpPr>
        <p:spPr>
          <a:xfrm>
            <a:off x="229914" y="5956034"/>
            <a:ext cx="5564214" cy="784040"/>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Episodic memory = collection of relations </a:t>
            </a:r>
            <a:br>
              <a:rPr lang="en-US" sz="2400" dirty="0"/>
            </a:br>
            <a:r>
              <a:rPr lang="en-US" sz="2400" dirty="0"/>
              <a:t>(e.g., apple-cow-bench-grail) </a:t>
            </a:r>
          </a:p>
        </p:txBody>
      </p:sp>
    </p:spTree>
    <p:extLst>
      <p:ext uri="{BB962C8B-B14F-4D97-AF65-F5344CB8AC3E}">
        <p14:creationId xmlns:p14="http://schemas.microsoft.com/office/powerpoint/2010/main" val="365423189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7781B88-AD0D-C4EE-1562-FFB6A99D75BF}"/>
              </a:ext>
            </a:extLst>
          </p:cNvPr>
          <p:cNvSpPr/>
          <p:nvPr/>
        </p:nvSpPr>
        <p:spPr>
          <a:xfrm>
            <a:off x="385632" y="860892"/>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7" name="Picture 46">
            <a:extLst>
              <a:ext uri="{FF2B5EF4-FFF2-40B4-BE49-F238E27FC236}">
                <a16:creationId xmlns:a16="http://schemas.microsoft.com/office/drawing/2014/main" id="{D216CAC9-EB75-8937-DC80-C41ECCC9B63B}"/>
              </a:ext>
            </a:extLst>
          </p:cNvPr>
          <p:cNvPicPr>
            <a:picLocks noChangeAspect="1"/>
          </p:cNvPicPr>
          <p:nvPr/>
        </p:nvPicPr>
        <p:blipFill rotWithShape="1">
          <a:blip r:embed="rId2"/>
          <a:srcRect t="16608"/>
          <a:stretch/>
        </p:blipFill>
        <p:spPr>
          <a:xfrm>
            <a:off x="575076" y="970320"/>
            <a:ext cx="928811" cy="774557"/>
          </a:xfrm>
          <a:prstGeom prst="rect">
            <a:avLst/>
          </a:prstGeom>
        </p:spPr>
      </p:pic>
      <p:sp>
        <p:nvSpPr>
          <p:cNvPr id="2" name="Title 1">
            <a:extLst>
              <a:ext uri="{FF2B5EF4-FFF2-40B4-BE49-F238E27FC236}">
                <a16:creationId xmlns:a16="http://schemas.microsoft.com/office/drawing/2014/main" id="{4208890D-CA6D-BAF0-F157-DE0B49E419D7}"/>
              </a:ext>
            </a:extLst>
          </p:cNvPr>
          <p:cNvSpPr>
            <a:spLocks noGrp="1"/>
          </p:cNvSpPr>
          <p:nvPr>
            <p:ph type="title"/>
          </p:nvPr>
        </p:nvSpPr>
        <p:spPr>
          <a:xfrm>
            <a:off x="838200" y="170330"/>
            <a:ext cx="10515600" cy="961084"/>
          </a:xfrm>
        </p:spPr>
        <p:txBody>
          <a:bodyPr/>
          <a:lstStyle/>
          <a:p>
            <a:r>
              <a:rPr lang="en-US" dirty="0">
                <a:solidFill>
                  <a:srgbClr val="002060"/>
                </a:solidFill>
              </a:rPr>
              <a:t>Task idea 2. Retrieval task</a:t>
            </a:r>
          </a:p>
        </p:txBody>
      </p:sp>
      <p:sp>
        <p:nvSpPr>
          <p:cNvPr id="21" name="TextBox 20">
            <a:extLst>
              <a:ext uri="{FF2B5EF4-FFF2-40B4-BE49-F238E27FC236}">
                <a16:creationId xmlns:a16="http://schemas.microsoft.com/office/drawing/2014/main" id="{D894C584-8887-BE0B-0A91-5B8550DB05FD}"/>
              </a:ext>
            </a:extLst>
          </p:cNvPr>
          <p:cNvSpPr txBox="1"/>
          <p:nvPr/>
        </p:nvSpPr>
        <p:spPr>
          <a:xfrm>
            <a:off x="397298" y="1756328"/>
            <a:ext cx="813043" cy="369332"/>
          </a:xfrm>
          <a:prstGeom prst="rect">
            <a:avLst/>
          </a:prstGeom>
          <a:noFill/>
        </p:spPr>
        <p:txBody>
          <a:bodyPr wrap="none" rtlCol="0">
            <a:spAutoFit/>
          </a:bodyPr>
          <a:lstStyle/>
          <a:p>
            <a:r>
              <a:rPr lang="en-US" b="1" dirty="0">
                <a:latin typeface="Arial" panose="020B0604020202020204" pitchFamily="34" charset="0"/>
                <a:cs typeface="Arial" panose="020B0604020202020204" pitchFamily="34" charset="0"/>
              </a:rPr>
              <a:t>R/K/N</a:t>
            </a:r>
          </a:p>
        </p:txBody>
      </p:sp>
      <p:sp>
        <p:nvSpPr>
          <p:cNvPr id="22" name="Rectangle 21">
            <a:extLst>
              <a:ext uri="{FF2B5EF4-FFF2-40B4-BE49-F238E27FC236}">
                <a16:creationId xmlns:a16="http://schemas.microsoft.com/office/drawing/2014/main" id="{88228C7F-E7E6-5840-6979-27CFEEFFC204}"/>
              </a:ext>
            </a:extLst>
          </p:cNvPr>
          <p:cNvSpPr/>
          <p:nvPr/>
        </p:nvSpPr>
        <p:spPr>
          <a:xfrm>
            <a:off x="1184197" y="1530834"/>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086BFD4E-FF68-EF5B-653F-2C56516C5529}"/>
              </a:ext>
            </a:extLst>
          </p:cNvPr>
          <p:cNvSpPr txBox="1"/>
          <p:nvPr/>
        </p:nvSpPr>
        <p:spPr>
          <a:xfrm>
            <a:off x="1560463" y="1935673"/>
            <a:ext cx="867545" cy="830997"/>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Old/</a:t>
            </a:r>
          </a:p>
          <a:p>
            <a:pPr algn="ctr"/>
            <a:r>
              <a:rPr lang="en-US" sz="1600" dirty="0">
                <a:latin typeface="Arial" panose="020B0604020202020204" pitchFamily="34" charset="0"/>
                <a:cs typeface="Arial" panose="020B0604020202020204" pitchFamily="34" charset="0"/>
              </a:rPr>
              <a:t>Similar/</a:t>
            </a:r>
          </a:p>
          <a:p>
            <a:pPr algn="ctr"/>
            <a:r>
              <a:rPr lang="en-US" sz="1600" dirty="0">
                <a:latin typeface="Arial" panose="020B0604020202020204" pitchFamily="34" charset="0"/>
                <a:cs typeface="Arial" panose="020B0604020202020204" pitchFamily="34" charset="0"/>
              </a:rPr>
              <a:t>Neither</a:t>
            </a:r>
          </a:p>
        </p:txBody>
      </p:sp>
      <p:pic>
        <p:nvPicPr>
          <p:cNvPr id="24" name="Picture 23">
            <a:extLst>
              <a:ext uri="{FF2B5EF4-FFF2-40B4-BE49-F238E27FC236}">
                <a16:creationId xmlns:a16="http://schemas.microsoft.com/office/drawing/2014/main" id="{B4CE24EB-0712-B098-F5E1-41A9C358E101}"/>
              </a:ext>
            </a:extLst>
          </p:cNvPr>
          <p:cNvPicPr>
            <a:picLocks noChangeAspect="1"/>
          </p:cNvPicPr>
          <p:nvPr/>
        </p:nvPicPr>
        <p:blipFill rotWithShape="1">
          <a:blip r:embed="rId3"/>
          <a:srcRect l="18090" t="-3138"/>
          <a:stretch/>
        </p:blipFill>
        <p:spPr>
          <a:xfrm>
            <a:off x="1234583" y="1558844"/>
            <a:ext cx="492431" cy="620057"/>
          </a:xfrm>
          <a:prstGeom prst="rect">
            <a:avLst/>
          </a:prstGeom>
        </p:spPr>
      </p:pic>
      <p:sp>
        <p:nvSpPr>
          <p:cNvPr id="25" name="TextBox 24">
            <a:extLst>
              <a:ext uri="{FF2B5EF4-FFF2-40B4-BE49-F238E27FC236}">
                <a16:creationId xmlns:a16="http://schemas.microsoft.com/office/drawing/2014/main" id="{E4A3ED12-A996-4F2C-4475-7FE23FC21EE2}"/>
              </a:ext>
            </a:extLst>
          </p:cNvPr>
          <p:cNvSpPr txBox="1"/>
          <p:nvPr/>
        </p:nvSpPr>
        <p:spPr>
          <a:xfrm>
            <a:off x="1622875" y="1558844"/>
            <a:ext cx="867545" cy="307777"/>
          </a:xfrm>
          <a:prstGeom prst="rect">
            <a:avLst/>
          </a:prstGeom>
          <a:noFill/>
        </p:spPr>
        <p:txBody>
          <a:bodyPr wrap="square" rtlCol="0">
            <a:spAutoFit/>
          </a:bodyPr>
          <a:lstStyle/>
          <a:p>
            <a:pPr algn="ctr"/>
            <a:r>
              <a:rPr lang="en-US" sz="1400" b="1" dirty="0">
                <a:latin typeface="Arial" panose="020B0604020202020204" pitchFamily="34" charset="0"/>
                <a:cs typeface="Arial" panose="020B0604020202020204" pitchFamily="34" charset="0"/>
              </a:rPr>
              <a:t>Before?</a:t>
            </a:r>
          </a:p>
        </p:txBody>
      </p:sp>
      <p:sp>
        <p:nvSpPr>
          <p:cNvPr id="26" name="Rectangle 25">
            <a:extLst>
              <a:ext uri="{FF2B5EF4-FFF2-40B4-BE49-F238E27FC236}">
                <a16:creationId xmlns:a16="http://schemas.microsoft.com/office/drawing/2014/main" id="{AFE6A707-D087-CD7F-E5BA-C16BC18EBB6C}"/>
              </a:ext>
            </a:extLst>
          </p:cNvPr>
          <p:cNvSpPr/>
          <p:nvPr/>
        </p:nvSpPr>
        <p:spPr>
          <a:xfrm>
            <a:off x="2210621" y="2164583"/>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a:extLst>
              <a:ext uri="{FF2B5EF4-FFF2-40B4-BE49-F238E27FC236}">
                <a16:creationId xmlns:a16="http://schemas.microsoft.com/office/drawing/2014/main" id="{459068C1-6CB1-86A4-1D55-1E841F4DC823}"/>
              </a:ext>
            </a:extLst>
          </p:cNvPr>
          <p:cNvPicPr>
            <a:picLocks noChangeAspect="1"/>
          </p:cNvPicPr>
          <p:nvPr/>
        </p:nvPicPr>
        <p:blipFill>
          <a:blip r:embed="rId4"/>
          <a:stretch>
            <a:fillRect/>
          </a:stretch>
        </p:blipFill>
        <p:spPr>
          <a:xfrm>
            <a:off x="2257935" y="2390077"/>
            <a:ext cx="625713" cy="437142"/>
          </a:xfrm>
          <a:prstGeom prst="rect">
            <a:avLst/>
          </a:prstGeom>
        </p:spPr>
      </p:pic>
      <p:sp>
        <p:nvSpPr>
          <p:cNvPr id="28" name="TextBox 27">
            <a:extLst>
              <a:ext uri="{FF2B5EF4-FFF2-40B4-BE49-F238E27FC236}">
                <a16:creationId xmlns:a16="http://schemas.microsoft.com/office/drawing/2014/main" id="{44AB284C-874C-7B05-9AAE-69C528C8F6E0}"/>
              </a:ext>
            </a:extLst>
          </p:cNvPr>
          <p:cNvSpPr txBox="1"/>
          <p:nvPr/>
        </p:nvSpPr>
        <p:spPr>
          <a:xfrm>
            <a:off x="2614672" y="2595985"/>
            <a:ext cx="867545" cy="830997"/>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Old/</a:t>
            </a:r>
          </a:p>
          <a:p>
            <a:pPr algn="ctr"/>
            <a:r>
              <a:rPr lang="en-US" sz="1600" dirty="0">
                <a:latin typeface="Arial" panose="020B0604020202020204" pitchFamily="34" charset="0"/>
                <a:cs typeface="Arial" panose="020B0604020202020204" pitchFamily="34" charset="0"/>
              </a:rPr>
              <a:t>Similar/</a:t>
            </a:r>
          </a:p>
          <a:p>
            <a:pPr algn="ctr"/>
            <a:r>
              <a:rPr lang="en-US" sz="1600" dirty="0">
                <a:latin typeface="Arial" panose="020B0604020202020204" pitchFamily="34" charset="0"/>
                <a:cs typeface="Arial" panose="020B0604020202020204" pitchFamily="34" charset="0"/>
              </a:rPr>
              <a:t>Neither</a:t>
            </a:r>
          </a:p>
        </p:txBody>
      </p:sp>
      <p:sp>
        <p:nvSpPr>
          <p:cNvPr id="29" name="TextBox 28">
            <a:extLst>
              <a:ext uri="{FF2B5EF4-FFF2-40B4-BE49-F238E27FC236}">
                <a16:creationId xmlns:a16="http://schemas.microsoft.com/office/drawing/2014/main" id="{36F8A087-138F-2255-A3A2-491FA68280A5}"/>
              </a:ext>
            </a:extLst>
          </p:cNvPr>
          <p:cNvSpPr txBox="1"/>
          <p:nvPr/>
        </p:nvSpPr>
        <p:spPr>
          <a:xfrm>
            <a:off x="2649298" y="2192593"/>
            <a:ext cx="867545" cy="338554"/>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After?</a:t>
            </a:r>
          </a:p>
        </p:txBody>
      </p:sp>
      <p:sp>
        <p:nvSpPr>
          <p:cNvPr id="37" name="Rectangle 36">
            <a:extLst>
              <a:ext uri="{FF2B5EF4-FFF2-40B4-BE49-F238E27FC236}">
                <a16:creationId xmlns:a16="http://schemas.microsoft.com/office/drawing/2014/main" id="{F0957E2A-2426-7D34-6737-35DBE127B690}"/>
              </a:ext>
            </a:extLst>
          </p:cNvPr>
          <p:cNvSpPr/>
          <p:nvPr/>
        </p:nvSpPr>
        <p:spPr>
          <a:xfrm>
            <a:off x="3182075" y="2884737"/>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0525B31D-1D42-9C9B-3472-4FB16C9FE330}"/>
              </a:ext>
            </a:extLst>
          </p:cNvPr>
          <p:cNvSpPr txBox="1"/>
          <p:nvPr/>
        </p:nvSpPr>
        <p:spPr>
          <a:xfrm>
            <a:off x="3586126" y="3316139"/>
            <a:ext cx="867545" cy="830997"/>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Old/</a:t>
            </a:r>
          </a:p>
          <a:p>
            <a:pPr algn="ctr"/>
            <a:r>
              <a:rPr lang="en-US" sz="1600" dirty="0">
                <a:latin typeface="Arial" panose="020B0604020202020204" pitchFamily="34" charset="0"/>
                <a:cs typeface="Arial" panose="020B0604020202020204" pitchFamily="34" charset="0"/>
              </a:rPr>
              <a:t>Similar/</a:t>
            </a:r>
          </a:p>
          <a:p>
            <a:pPr algn="ctr"/>
            <a:r>
              <a:rPr lang="en-US" sz="1600" dirty="0">
                <a:latin typeface="Arial" panose="020B0604020202020204" pitchFamily="34" charset="0"/>
                <a:cs typeface="Arial" panose="020B0604020202020204" pitchFamily="34" charset="0"/>
              </a:rPr>
              <a:t>Neither</a:t>
            </a:r>
          </a:p>
        </p:txBody>
      </p:sp>
      <p:sp>
        <p:nvSpPr>
          <p:cNvPr id="40" name="TextBox 39">
            <a:extLst>
              <a:ext uri="{FF2B5EF4-FFF2-40B4-BE49-F238E27FC236}">
                <a16:creationId xmlns:a16="http://schemas.microsoft.com/office/drawing/2014/main" id="{D86D8FD2-058D-8EB3-1026-E8594E7FAC1F}"/>
              </a:ext>
            </a:extLst>
          </p:cNvPr>
          <p:cNvSpPr txBox="1"/>
          <p:nvPr/>
        </p:nvSpPr>
        <p:spPr>
          <a:xfrm>
            <a:off x="3620752" y="2912747"/>
            <a:ext cx="867545" cy="338554"/>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Left?</a:t>
            </a:r>
          </a:p>
        </p:txBody>
      </p:sp>
      <p:pic>
        <p:nvPicPr>
          <p:cNvPr id="41" name="Picture 40">
            <a:extLst>
              <a:ext uri="{FF2B5EF4-FFF2-40B4-BE49-F238E27FC236}">
                <a16:creationId xmlns:a16="http://schemas.microsoft.com/office/drawing/2014/main" id="{B3D34E74-5A49-6D5C-3473-8B74D8D7B615}"/>
              </a:ext>
            </a:extLst>
          </p:cNvPr>
          <p:cNvPicPr>
            <a:picLocks noChangeAspect="1"/>
          </p:cNvPicPr>
          <p:nvPr/>
        </p:nvPicPr>
        <p:blipFill>
          <a:blip r:embed="rId5"/>
          <a:stretch>
            <a:fillRect/>
          </a:stretch>
        </p:blipFill>
        <p:spPr>
          <a:xfrm>
            <a:off x="3306210" y="3082024"/>
            <a:ext cx="519318" cy="519318"/>
          </a:xfrm>
          <a:prstGeom prst="rect">
            <a:avLst/>
          </a:prstGeom>
        </p:spPr>
      </p:pic>
      <p:sp>
        <p:nvSpPr>
          <p:cNvPr id="42" name="Rectangle 41">
            <a:extLst>
              <a:ext uri="{FF2B5EF4-FFF2-40B4-BE49-F238E27FC236}">
                <a16:creationId xmlns:a16="http://schemas.microsoft.com/office/drawing/2014/main" id="{0D518B81-DEE2-CAC7-B6CF-7F8322CAEB47}"/>
              </a:ext>
            </a:extLst>
          </p:cNvPr>
          <p:cNvSpPr/>
          <p:nvPr/>
        </p:nvSpPr>
        <p:spPr>
          <a:xfrm>
            <a:off x="4172190" y="3541870"/>
            <a:ext cx="1270000" cy="1270000"/>
          </a:xfrm>
          <a:prstGeom prst="rect">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596DE635-D04F-53F6-7953-BD45621DEDC4}"/>
              </a:ext>
            </a:extLst>
          </p:cNvPr>
          <p:cNvSpPr txBox="1"/>
          <p:nvPr/>
        </p:nvSpPr>
        <p:spPr>
          <a:xfrm>
            <a:off x="4610867" y="3569880"/>
            <a:ext cx="867545" cy="338554"/>
          </a:xfrm>
          <a:prstGeom prst="rect">
            <a:avLst/>
          </a:prstGeom>
          <a:noFill/>
        </p:spPr>
        <p:txBody>
          <a:bodyPr wrap="square" rtlCol="0">
            <a:spAutoFit/>
          </a:bodyPr>
          <a:lstStyle/>
          <a:p>
            <a:pPr algn="ctr"/>
            <a:r>
              <a:rPr lang="en-US" sz="1600" b="1" dirty="0">
                <a:latin typeface="Arial" panose="020B0604020202020204" pitchFamily="34" charset="0"/>
                <a:cs typeface="Arial" panose="020B0604020202020204" pitchFamily="34" charset="0"/>
              </a:rPr>
              <a:t>Right?</a:t>
            </a:r>
          </a:p>
        </p:txBody>
      </p:sp>
      <p:pic>
        <p:nvPicPr>
          <p:cNvPr id="46" name="Picture 45">
            <a:extLst>
              <a:ext uri="{FF2B5EF4-FFF2-40B4-BE49-F238E27FC236}">
                <a16:creationId xmlns:a16="http://schemas.microsoft.com/office/drawing/2014/main" id="{3D57238C-F507-CE28-DD17-BC6003A3A9BC}"/>
              </a:ext>
            </a:extLst>
          </p:cNvPr>
          <p:cNvPicPr>
            <a:picLocks noChangeAspect="1"/>
          </p:cNvPicPr>
          <p:nvPr/>
        </p:nvPicPr>
        <p:blipFill rotWithShape="1">
          <a:blip r:embed="rId6"/>
          <a:srcRect l="14978" r="16500" b="-3329"/>
          <a:stretch/>
        </p:blipFill>
        <p:spPr>
          <a:xfrm>
            <a:off x="4229309" y="3613899"/>
            <a:ext cx="401650" cy="605676"/>
          </a:xfrm>
          <a:prstGeom prst="rect">
            <a:avLst/>
          </a:prstGeom>
        </p:spPr>
      </p:pic>
      <p:sp>
        <p:nvSpPr>
          <p:cNvPr id="43" name="TextBox 42">
            <a:extLst>
              <a:ext uri="{FF2B5EF4-FFF2-40B4-BE49-F238E27FC236}">
                <a16:creationId xmlns:a16="http://schemas.microsoft.com/office/drawing/2014/main" id="{F621618A-BE00-6373-C9C3-F363FC436CBC}"/>
              </a:ext>
            </a:extLst>
          </p:cNvPr>
          <p:cNvSpPr txBox="1"/>
          <p:nvPr/>
        </p:nvSpPr>
        <p:spPr>
          <a:xfrm>
            <a:off x="4576241" y="3973272"/>
            <a:ext cx="867545" cy="830997"/>
          </a:xfrm>
          <a:prstGeom prst="rect">
            <a:avLst/>
          </a:prstGeom>
          <a:noFill/>
        </p:spPr>
        <p:txBody>
          <a:bodyPr wrap="square" rtlCol="0">
            <a:spAutoFit/>
          </a:bodyPr>
          <a:lstStyle/>
          <a:p>
            <a:pPr algn="ctr"/>
            <a:r>
              <a:rPr lang="en-US" sz="1600" dirty="0">
                <a:latin typeface="Arial" panose="020B0604020202020204" pitchFamily="34" charset="0"/>
                <a:cs typeface="Arial" panose="020B0604020202020204" pitchFamily="34" charset="0"/>
              </a:rPr>
              <a:t>Old/</a:t>
            </a:r>
          </a:p>
          <a:p>
            <a:pPr algn="ctr"/>
            <a:r>
              <a:rPr lang="en-US" sz="1600" dirty="0">
                <a:latin typeface="Arial" panose="020B0604020202020204" pitchFamily="34" charset="0"/>
                <a:cs typeface="Arial" panose="020B0604020202020204" pitchFamily="34" charset="0"/>
              </a:rPr>
              <a:t>Similar/</a:t>
            </a:r>
          </a:p>
          <a:p>
            <a:pPr algn="ctr"/>
            <a:r>
              <a:rPr lang="en-US" sz="1600" dirty="0">
                <a:latin typeface="Arial" panose="020B0604020202020204" pitchFamily="34" charset="0"/>
                <a:cs typeface="Arial" panose="020B0604020202020204" pitchFamily="34" charset="0"/>
              </a:rPr>
              <a:t>Neither</a:t>
            </a:r>
          </a:p>
        </p:txBody>
      </p:sp>
      <p:sp>
        <p:nvSpPr>
          <p:cNvPr id="48" name="TextBox 47">
            <a:extLst>
              <a:ext uri="{FF2B5EF4-FFF2-40B4-BE49-F238E27FC236}">
                <a16:creationId xmlns:a16="http://schemas.microsoft.com/office/drawing/2014/main" id="{E12B9A7A-961B-E1A4-2364-AB7B37592AEB}"/>
              </a:ext>
            </a:extLst>
          </p:cNvPr>
          <p:cNvSpPr txBox="1"/>
          <p:nvPr/>
        </p:nvSpPr>
        <p:spPr>
          <a:xfrm>
            <a:off x="6028254" y="1157116"/>
            <a:ext cx="5866921" cy="5632311"/>
          </a:xfrm>
          <a:prstGeom prst="rect">
            <a:avLst/>
          </a:prstGeom>
          <a:noFill/>
        </p:spPr>
        <p:txBody>
          <a:bodyPr wrap="square" rtlCol="0">
            <a:spAutoFit/>
          </a:bodyPr>
          <a:lstStyle/>
          <a:p>
            <a:pPr marL="285750" indent="-285750">
              <a:buFont typeface="Arial" panose="020B0604020202020204" pitchFamily="34" charset="0"/>
              <a:buChar char="•"/>
            </a:pPr>
            <a:r>
              <a:rPr lang="en-US" sz="2400" dirty="0">
                <a:latin typeface="Arial" panose="020B0604020202020204" pitchFamily="34" charset="0"/>
                <a:cs typeface="Arial" panose="020B0604020202020204" pitchFamily="34" charset="0"/>
              </a:rPr>
              <a:t>Retrieval same day as encoding</a:t>
            </a:r>
          </a:p>
          <a:p>
            <a:pPr marL="285750" indent="-285750">
              <a:buFont typeface="Arial" panose="020B0604020202020204" pitchFamily="34" charset="0"/>
              <a:buChar char="•"/>
            </a:pPr>
            <a:r>
              <a:rPr lang="en-US" sz="2400" dirty="0">
                <a:latin typeface="Arial" panose="020B0604020202020204" pitchFamily="34" charset="0"/>
                <a:cs typeface="Arial" panose="020B0604020202020204" pitchFamily="34" charset="0"/>
              </a:rPr>
              <a:t>Downside: difficult to compare spatial vs. temporal memory behavioral results in a way that is interesting</a:t>
            </a:r>
          </a:p>
          <a:p>
            <a:pPr marL="800100" lvl="1" indent="-342900">
              <a:buFont typeface="Courier New" panose="02070309020205020404" pitchFamily="49" charset="0"/>
              <a:buChar char="o"/>
            </a:pPr>
            <a:r>
              <a:rPr lang="en-US" sz="2400" dirty="0">
                <a:latin typeface="Arial" panose="020B0604020202020204" pitchFamily="34" charset="0"/>
                <a:cs typeface="Arial" panose="020B0604020202020204" pitchFamily="34" charset="0"/>
              </a:rPr>
              <a:t>Spatial association accuracy may simply be higher because images are shown at the same time</a:t>
            </a:r>
          </a:p>
          <a:p>
            <a:pPr marL="285750" indent="-285750">
              <a:buFont typeface="Arial" panose="020B0604020202020204" pitchFamily="34" charset="0"/>
              <a:buChar char="•"/>
            </a:pPr>
            <a:r>
              <a:rPr lang="en-US" sz="2400" dirty="0">
                <a:latin typeface="Arial" panose="020B0604020202020204" pitchFamily="34" charset="0"/>
                <a:cs typeface="Arial" panose="020B0604020202020204" pitchFamily="34" charset="0"/>
              </a:rPr>
              <a:t>Nonetheless, one possible interesting difference is finding that Remember responses enhance temporal accuracy but not spatial accuracy</a:t>
            </a:r>
          </a:p>
          <a:p>
            <a:pPr marL="800100" lvl="1" indent="-342900">
              <a:buFont typeface="Courier New" panose="02070309020205020404" pitchFamily="49" charset="0"/>
              <a:buChar char="o"/>
            </a:pPr>
            <a:r>
              <a:rPr lang="en-US" sz="2400" dirty="0">
                <a:latin typeface="Arial" panose="020B0604020202020204" pitchFamily="34" charset="0"/>
                <a:cs typeface="Arial" panose="020B0604020202020204" pitchFamily="34" charset="0"/>
              </a:rPr>
              <a:t>Would suggest that episodic memory is more linked to temporal associations than spatial associations</a:t>
            </a:r>
          </a:p>
        </p:txBody>
      </p:sp>
      <p:pic>
        <p:nvPicPr>
          <p:cNvPr id="52" name="Picture 51">
            <a:extLst>
              <a:ext uri="{FF2B5EF4-FFF2-40B4-BE49-F238E27FC236}">
                <a16:creationId xmlns:a16="http://schemas.microsoft.com/office/drawing/2014/main" id="{D998497E-3094-47CE-9B62-BF0C7D936A61}"/>
              </a:ext>
            </a:extLst>
          </p:cNvPr>
          <p:cNvPicPr>
            <a:picLocks noChangeAspect="1"/>
          </p:cNvPicPr>
          <p:nvPr/>
        </p:nvPicPr>
        <p:blipFill>
          <a:blip r:embed="rId7"/>
          <a:stretch>
            <a:fillRect/>
          </a:stretch>
        </p:blipFill>
        <p:spPr>
          <a:xfrm>
            <a:off x="80031" y="4907063"/>
            <a:ext cx="3293966" cy="1659297"/>
          </a:xfrm>
          <a:prstGeom prst="rect">
            <a:avLst/>
          </a:prstGeom>
        </p:spPr>
      </p:pic>
      <p:pic>
        <p:nvPicPr>
          <p:cNvPr id="53" name="Picture 52">
            <a:extLst>
              <a:ext uri="{FF2B5EF4-FFF2-40B4-BE49-F238E27FC236}">
                <a16:creationId xmlns:a16="http://schemas.microsoft.com/office/drawing/2014/main" id="{656F1A8D-8992-647C-3B7D-C07C529C4C60}"/>
              </a:ext>
            </a:extLst>
          </p:cNvPr>
          <p:cNvPicPr>
            <a:picLocks noChangeAspect="1"/>
          </p:cNvPicPr>
          <p:nvPr/>
        </p:nvPicPr>
        <p:blipFill>
          <a:blip r:embed="rId8"/>
          <a:stretch>
            <a:fillRect/>
          </a:stretch>
        </p:blipFill>
        <p:spPr>
          <a:xfrm>
            <a:off x="3620752" y="4907063"/>
            <a:ext cx="2522498" cy="1806225"/>
          </a:xfrm>
          <a:prstGeom prst="rect">
            <a:avLst/>
          </a:prstGeom>
        </p:spPr>
      </p:pic>
      <p:sp>
        <p:nvSpPr>
          <p:cNvPr id="56" name="TextBox 55">
            <a:extLst>
              <a:ext uri="{FF2B5EF4-FFF2-40B4-BE49-F238E27FC236}">
                <a16:creationId xmlns:a16="http://schemas.microsoft.com/office/drawing/2014/main" id="{C7C2F724-C219-AF36-5B37-DD604E1232F5}"/>
              </a:ext>
            </a:extLst>
          </p:cNvPr>
          <p:cNvSpPr txBox="1"/>
          <p:nvPr/>
        </p:nvSpPr>
        <p:spPr>
          <a:xfrm rot="2042526">
            <a:off x="2648949" y="2039110"/>
            <a:ext cx="3352200"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Counterbalance question order</a:t>
            </a:r>
          </a:p>
        </p:txBody>
      </p:sp>
    </p:spTree>
    <p:extLst>
      <p:ext uri="{BB962C8B-B14F-4D97-AF65-F5344CB8AC3E}">
        <p14:creationId xmlns:p14="http://schemas.microsoft.com/office/powerpoint/2010/main" val="308533605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1577D-138B-6AED-FD1B-7B62CFCBED05}"/>
              </a:ext>
            </a:extLst>
          </p:cNvPr>
          <p:cNvSpPr>
            <a:spLocks noGrp="1"/>
          </p:cNvSpPr>
          <p:nvPr>
            <p:ph type="title"/>
          </p:nvPr>
        </p:nvSpPr>
        <p:spPr/>
        <p:txBody>
          <a:bodyPr/>
          <a:lstStyle/>
          <a:p>
            <a:r>
              <a:rPr lang="en-US" dirty="0"/>
              <a:t>Task 2 opportunities</a:t>
            </a:r>
          </a:p>
        </p:txBody>
      </p:sp>
      <p:sp>
        <p:nvSpPr>
          <p:cNvPr id="3" name="Content Placeholder 2">
            <a:extLst>
              <a:ext uri="{FF2B5EF4-FFF2-40B4-BE49-F238E27FC236}">
                <a16:creationId xmlns:a16="http://schemas.microsoft.com/office/drawing/2014/main" id="{164302BC-5E93-047A-93FA-1A9937062CC3}"/>
              </a:ext>
            </a:extLst>
          </p:cNvPr>
          <p:cNvSpPr>
            <a:spLocks noGrp="1"/>
          </p:cNvSpPr>
          <p:nvPr>
            <p:ph idx="1"/>
          </p:nvPr>
        </p:nvSpPr>
        <p:spPr/>
        <p:txBody>
          <a:bodyPr/>
          <a:lstStyle/>
          <a:p>
            <a:r>
              <a:rPr lang="en-US" dirty="0"/>
              <a:t>Can construct separate RDMs for spatial maps vs. temporal maps</a:t>
            </a:r>
          </a:p>
          <a:p>
            <a:pPr lvl="1"/>
            <a:r>
              <a:rPr lang="en-US" dirty="0"/>
              <a:t>For temporal associations, we could study directionality hypotheses, where X ➜ A differs from A ➜ X</a:t>
            </a:r>
          </a:p>
          <a:p>
            <a:r>
              <a:rPr lang="en-US" dirty="0"/>
              <a:t>Can perform the analyses using both spatial and temporal associations	</a:t>
            </a:r>
          </a:p>
          <a:p>
            <a:pPr lvl="1"/>
            <a:r>
              <a:rPr lang="en-US" dirty="0"/>
              <a:t>Greater statistical power</a:t>
            </a:r>
          </a:p>
        </p:txBody>
      </p:sp>
    </p:spTree>
    <p:extLst>
      <p:ext uri="{BB962C8B-B14F-4D97-AF65-F5344CB8AC3E}">
        <p14:creationId xmlns:p14="http://schemas.microsoft.com/office/powerpoint/2010/main" val="94572749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536E7-0BE8-E83D-74C3-48490859950D}"/>
              </a:ext>
            </a:extLst>
          </p:cNvPr>
          <p:cNvSpPr>
            <a:spLocks noGrp="1"/>
          </p:cNvSpPr>
          <p:nvPr>
            <p:ph type="title"/>
          </p:nvPr>
        </p:nvSpPr>
        <p:spPr>
          <a:xfrm>
            <a:off x="838200" y="117021"/>
            <a:ext cx="10515600" cy="701675"/>
          </a:xfrm>
        </p:spPr>
        <p:txBody>
          <a:bodyPr>
            <a:normAutofit/>
          </a:bodyPr>
          <a:lstStyle/>
          <a:p>
            <a:r>
              <a:rPr lang="en-US" dirty="0">
                <a:solidFill>
                  <a:srgbClr val="FF0000"/>
                </a:solidFill>
              </a:rPr>
              <a:t>Analysis 1A: Relational network RSA</a:t>
            </a:r>
          </a:p>
        </p:txBody>
      </p:sp>
      <p:sp>
        <p:nvSpPr>
          <p:cNvPr id="3" name="Content Placeholder 2">
            <a:extLst>
              <a:ext uri="{FF2B5EF4-FFF2-40B4-BE49-F238E27FC236}">
                <a16:creationId xmlns:a16="http://schemas.microsoft.com/office/drawing/2014/main" id="{E6E4ECEB-69C1-1F7D-C6F4-A78C89EEC410}"/>
              </a:ext>
            </a:extLst>
          </p:cNvPr>
          <p:cNvSpPr>
            <a:spLocks noGrp="1"/>
          </p:cNvSpPr>
          <p:nvPr>
            <p:ph idx="1"/>
          </p:nvPr>
        </p:nvSpPr>
        <p:spPr>
          <a:xfrm>
            <a:off x="838200" y="818696"/>
            <a:ext cx="10515600" cy="5791655"/>
          </a:xfrm>
        </p:spPr>
        <p:txBody>
          <a:bodyPr>
            <a:normAutofit fontScale="92500" lnSpcReduction="20000"/>
          </a:bodyPr>
          <a:lstStyle/>
          <a:p>
            <a:r>
              <a:rPr lang="en-US" dirty="0"/>
              <a:t>Suppose participants viewed two pairs of stimuli:</a:t>
            </a:r>
          </a:p>
          <a:p>
            <a:pPr lvl="1"/>
            <a:r>
              <a:rPr lang="en-US" dirty="0"/>
              <a:t>X-A and Y-A</a:t>
            </a:r>
          </a:p>
          <a:p>
            <a:pPr lvl="1"/>
            <a:r>
              <a:rPr lang="en-US" dirty="0"/>
              <a:t>“Induced relational network RDM”</a:t>
            </a:r>
          </a:p>
          <a:p>
            <a:pPr lvl="2"/>
            <a:r>
              <a:rPr lang="en-US" dirty="0"/>
              <a:t>X-A distance of 1 </a:t>
            </a:r>
          </a:p>
          <a:p>
            <a:pPr lvl="2"/>
            <a:r>
              <a:rPr lang="en-US" dirty="0"/>
              <a:t>Y-A distance 1</a:t>
            </a:r>
          </a:p>
          <a:p>
            <a:pPr lvl="2"/>
            <a:r>
              <a:rPr lang="en-US" dirty="0"/>
              <a:t>X-Y distance 2</a:t>
            </a:r>
          </a:p>
          <a:p>
            <a:pPr lvl="1"/>
            <a:r>
              <a:rPr lang="en-US" dirty="0"/>
              <a:t>Can use this for RSA calculations like a typical RDM</a:t>
            </a:r>
          </a:p>
          <a:p>
            <a:pPr lvl="1"/>
            <a:r>
              <a:rPr lang="en-US" dirty="0"/>
              <a:t>Can construct separate RDMs for, say, spatial maps vs. temporal maps</a:t>
            </a:r>
          </a:p>
          <a:p>
            <a:pPr lvl="2"/>
            <a:r>
              <a:rPr lang="en-US" dirty="0"/>
              <a:t>For temporal associations, you could study directionality hypotheses, wherein the RDM is not symmetrical across the diagonal (e.g., X-A distance may be 1 but A-X distance could be something else).</a:t>
            </a:r>
          </a:p>
          <a:p>
            <a:r>
              <a:rPr lang="en-US" dirty="0"/>
              <a:t>RSA effects</a:t>
            </a:r>
          </a:p>
          <a:p>
            <a:pPr lvl="1"/>
            <a:r>
              <a:rPr lang="en-US" dirty="0"/>
              <a:t>RSA analysis of retrieval fMRI data</a:t>
            </a:r>
          </a:p>
          <a:p>
            <a:pPr lvl="1"/>
            <a:r>
              <a:rPr lang="en-US" dirty="0"/>
              <a:t>Hippocampus, PPA, </a:t>
            </a:r>
            <a:r>
              <a:rPr lang="en-US" dirty="0" err="1"/>
              <a:t>mPFC</a:t>
            </a:r>
            <a:endParaRPr lang="en-US" dirty="0"/>
          </a:p>
          <a:p>
            <a:pPr lvl="1"/>
            <a:r>
              <a:rPr lang="en-US" dirty="0"/>
              <a:t>Questions typically only investigated with rats</a:t>
            </a:r>
          </a:p>
          <a:p>
            <a:pPr lvl="1"/>
            <a:r>
              <a:rPr lang="en-US" dirty="0"/>
              <a:t>Can investigate functional connectivity using IRAF x activity correlations. </a:t>
            </a:r>
          </a:p>
          <a:p>
            <a:pPr lvl="2"/>
            <a:r>
              <a:rPr lang="en-US" dirty="0"/>
              <a:t>Functional connectivity is harder to study with rats (?), which makes this design poised for novel insights</a:t>
            </a:r>
          </a:p>
          <a:p>
            <a:pPr lvl="2"/>
            <a:r>
              <a:rPr lang="en-US" dirty="0" err="1"/>
              <a:t>IRAF</a:t>
            </a:r>
            <a:r>
              <a:rPr lang="en-US" baseline="-25000" dirty="0" err="1"/>
              <a:t>Map</a:t>
            </a:r>
            <a:r>
              <a:rPr lang="en-US" baseline="-25000" dirty="0"/>
              <a:t> </a:t>
            </a:r>
            <a:r>
              <a:rPr lang="en-US" dirty="0"/>
              <a:t>x </a:t>
            </a:r>
            <a:r>
              <a:rPr lang="en-US" dirty="0" err="1"/>
              <a:t>IRAF</a:t>
            </a:r>
            <a:r>
              <a:rPr lang="en-US" baseline="-25000" dirty="0" err="1"/>
              <a:t>Item</a:t>
            </a:r>
            <a:r>
              <a:rPr lang="en-US" baseline="-25000" dirty="0"/>
              <a:t> </a:t>
            </a:r>
            <a:r>
              <a:rPr lang="en-US" dirty="0"/>
              <a:t>analysis could speak to how information percolates through semantic networks. Activation of one representation will activate others</a:t>
            </a:r>
          </a:p>
          <a:p>
            <a:pPr lvl="1"/>
            <a:endParaRPr lang="en-US" dirty="0"/>
          </a:p>
        </p:txBody>
      </p:sp>
    </p:spTree>
    <p:extLst>
      <p:ext uri="{BB962C8B-B14F-4D97-AF65-F5344CB8AC3E}">
        <p14:creationId xmlns:p14="http://schemas.microsoft.com/office/powerpoint/2010/main" val="341076794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9A407-401A-3A82-70AF-B0CCF7AF35A3}"/>
              </a:ext>
            </a:extLst>
          </p:cNvPr>
          <p:cNvSpPr>
            <a:spLocks noGrp="1"/>
          </p:cNvSpPr>
          <p:nvPr>
            <p:ph type="title"/>
          </p:nvPr>
        </p:nvSpPr>
        <p:spPr/>
        <p:txBody>
          <a:bodyPr/>
          <a:lstStyle/>
          <a:p>
            <a:r>
              <a:rPr lang="en-US" dirty="0">
                <a:solidFill>
                  <a:srgbClr val="FF0000"/>
                </a:solidFill>
              </a:rPr>
              <a:t>fMRI results</a:t>
            </a:r>
          </a:p>
        </p:txBody>
      </p:sp>
      <p:sp>
        <p:nvSpPr>
          <p:cNvPr id="3" name="Content Placeholder 2">
            <a:extLst>
              <a:ext uri="{FF2B5EF4-FFF2-40B4-BE49-F238E27FC236}">
                <a16:creationId xmlns:a16="http://schemas.microsoft.com/office/drawing/2014/main" id="{3B556EA2-C838-5C31-EF3F-A57B8DB05C82}"/>
              </a:ext>
            </a:extLst>
          </p:cNvPr>
          <p:cNvSpPr>
            <a:spLocks noGrp="1"/>
          </p:cNvSpPr>
          <p:nvPr>
            <p:ph idx="1"/>
          </p:nvPr>
        </p:nvSpPr>
        <p:spPr/>
        <p:txBody>
          <a:bodyPr/>
          <a:lstStyle/>
          <a:p>
            <a:r>
              <a:rPr lang="en-US" dirty="0"/>
              <a:t>These effects are strongest following Remember responses in the R/K test</a:t>
            </a:r>
          </a:p>
          <a:p>
            <a:pPr lvl="1"/>
            <a:r>
              <a:rPr lang="en-US" dirty="0"/>
              <a:t>Evidence against an “interference” interpretation (interference would suggest worse memory for the central item)</a:t>
            </a:r>
          </a:p>
          <a:p>
            <a:pPr lvl="1"/>
            <a:r>
              <a:rPr lang="en-US" dirty="0"/>
              <a:t>Evidence for the role of episodic memory and not semantic memory</a:t>
            </a:r>
          </a:p>
        </p:txBody>
      </p:sp>
    </p:spTree>
    <p:extLst>
      <p:ext uri="{BB962C8B-B14F-4D97-AF65-F5344CB8AC3E}">
        <p14:creationId xmlns:p14="http://schemas.microsoft.com/office/powerpoint/2010/main" val="259312003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E5B32-85CE-DA58-3733-14F70765F8AA}"/>
              </a:ext>
            </a:extLst>
          </p:cNvPr>
          <p:cNvSpPr>
            <a:spLocks noGrp="1"/>
          </p:cNvSpPr>
          <p:nvPr>
            <p:ph type="title"/>
          </p:nvPr>
        </p:nvSpPr>
        <p:spPr/>
        <p:txBody>
          <a:bodyPr>
            <a:normAutofit/>
          </a:bodyPr>
          <a:lstStyle/>
          <a:p>
            <a:r>
              <a:rPr lang="en-US" sz="4000" dirty="0">
                <a:solidFill>
                  <a:srgbClr val="FF0000"/>
                </a:solidFill>
              </a:rPr>
              <a:t>Analysis 1B. Other network RDM analysis</a:t>
            </a:r>
          </a:p>
        </p:txBody>
      </p:sp>
      <p:sp>
        <p:nvSpPr>
          <p:cNvPr id="3" name="Content Placeholder 2">
            <a:extLst>
              <a:ext uri="{FF2B5EF4-FFF2-40B4-BE49-F238E27FC236}">
                <a16:creationId xmlns:a16="http://schemas.microsoft.com/office/drawing/2014/main" id="{87A2A4FD-8753-DEA5-C727-388C3BD8E8FA}"/>
              </a:ext>
            </a:extLst>
          </p:cNvPr>
          <p:cNvSpPr>
            <a:spLocks noGrp="1"/>
          </p:cNvSpPr>
          <p:nvPr>
            <p:ph idx="1"/>
          </p:nvPr>
        </p:nvSpPr>
        <p:spPr/>
        <p:txBody>
          <a:bodyPr/>
          <a:lstStyle/>
          <a:p>
            <a:r>
              <a:rPr lang="en-US" dirty="0"/>
              <a:t>Some new stimuli shift the RDM more than others</a:t>
            </a:r>
          </a:p>
          <a:p>
            <a:pPr lvl="1"/>
            <a:r>
              <a:rPr lang="en-US" dirty="0"/>
              <a:t>Encoding fMRI data</a:t>
            </a:r>
          </a:p>
          <a:p>
            <a:pPr lvl="1"/>
            <a:r>
              <a:rPr lang="en-US" dirty="0"/>
              <a:t>The degree to which a new stimulus shifts the network may be proportional to activity in some regions (e.g., hippocampus)</a:t>
            </a:r>
          </a:p>
          <a:p>
            <a:r>
              <a:rPr lang="en-US" dirty="0"/>
              <a:t>Graph theory analyses</a:t>
            </a:r>
          </a:p>
          <a:p>
            <a:pPr lvl="1"/>
            <a:r>
              <a:rPr lang="en-US" dirty="0"/>
              <a:t>Retrieval fMRI data</a:t>
            </a:r>
          </a:p>
          <a:p>
            <a:pPr lvl="1"/>
            <a:r>
              <a:rPr lang="en-US" dirty="0"/>
              <a:t>Retrieval of stimuli with high centrality will induce more activation in some regions (e.g., hippocampus)</a:t>
            </a:r>
          </a:p>
        </p:txBody>
      </p:sp>
    </p:spTree>
    <p:extLst>
      <p:ext uri="{BB962C8B-B14F-4D97-AF65-F5344CB8AC3E}">
        <p14:creationId xmlns:p14="http://schemas.microsoft.com/office/powerpoint/2010/main" val="387836555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DB64F-D5A6-28D5-B877-70BD15F8122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5901226-CB83-9E07-06BC-1F52980C5AEC}"/>
              </a:ext>
            </a:extLst>
          </p:cNvPr>
          <p:cNvSpPr>
            <a:spLocks noGrp="1"/>
          </p:cNvSpPr>
          <p:nvPr>
            <p:ph idx="1"/>
          </p:nvPr>
        </p:nvSpPr>
        <p:spPr/>
        <p:txBody>
          <a:bodyPr/>
          <a:lstStyle/>
          <a:p>
            <a:r>
              <a:rPr lang="en-US" dirty="0"/>
              <a:t>Analysis risk: We are not actually studying the relation itself. Rather, we are just studying the activation of other items.</a:t>
            </a:r>
          </a:p>
          <a:p>
            <a:pPr lvl="1"/>
            <a:r>
              <a:rPr lang="en-US" dirty="0"/>
              <a:t>We must regress out the extent to which it is similar with target itself</a:t>
            </a:r>
          </a:p>
        </p:txBody>
      </p:sp>
    </p:spTree>
    <p:extLst>
      <p:ext uri="{BB962C8B-B14F-4D97-AF65-F5344CB8AC3E}">
        <p14:creationId xmlns:p14="http://schemas.microsoft.com/office/powerpoint/2010/main" val="275694624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64556-6CCC-77E8-83A1-E4442C6E4169}"/>
              </a:ext>
            </a:extLst>
          </p:cNvPr>
          <p:cNvSpPr>
            <a:spLocks noGrp="1"/>
          </p:cNvSpPr>
          <p:nvPr>
            <p:ph type="title"/>
          </p:nvPr>
        </p:nvSpPr>
        <p:spPr/>
        <p:txBody>
          <a:bodyPr/>
          <a:lstStyle/>
          <a:p>
            <a:r>
              <a:rPr lang="en-US" dirty="0"/>
              <a:t>Possible aging effects</a:t>
            </a:r>
          </a:p>
        </p:txBody>
      </p:sp>
      <p:sp>
        <p:nvSpPr>
          <p:cNvPr id="3" name="Content Placeholder 2">
            <a:extLst>
              <a:ext uri="{FF2B5EF4-FFF2-40B4-BE49-F238E27FC236}">
                <a16:creationId xmlns:a16="http://schemas.microsoft.com/office/drawing/2014/main" id="{526567B0-D2EE-400A-DE3A-33D98734BE8E}"/>
              </a:ext>
            </a:extLst>
          </p:cNvPr>
          <p:cNvSpPr>
            <a:spLocks noGrp="1"/>
          </p:cNvSpPr>
          <p:nvPr>
            <p:ph idx="1"/>
          </p:nvPr>
        </p:nvSpPr>
        <p:spPr>
          <a:xfrm>
            <a:off x="838200" y="1969559"/>
            <a:ext cx="10515600" cy="2720974"/>
          </a:xfrm>
        </p:spPr>
        <p:txBody>
          <a:bodyPr/>
          <a:lstStyle/>
          <a:p>
            <a:pPr marL="514350" indent="-514350">
              <a:buFont typeface="+mj-lt"/>
              <a:buAutoNum type="arabicPeriod"/>
            </a:pPr>
            <a:r>
              <a:rPr lang="en-US" dirty="0"/>
              <a:t>Show less of a directionality effect </a:t>
            </a:r>
          </a:p>
          <a:p>
            <a:pPr lvl="1"/>
            <a:r>
              <a:rPr lang="en-US" dirty="0"/>
              <a:t>The past-generalizing vs. future-pinpointing directionality effect</a:t>
            </a:r>
          </a:p>
          <a:p>
            <a:pPr marL="514350" indent="-514350">
              <a:buFont typeface="+mj-lt"/>
              <a:buAutoNum type="arabicPeriod"/>
            </a:pPr>
            <a:r>
              <a:rPr lang="en-US" dirty="0"/>
              <a:t>Retain representations of prior stimuli for longer/shorter intervals </a:t>
            </a:r>
          </a:p>
          <a:p>
            <a:pPr lvl="1"/>
            <a:r>
              <a:rPr lang="en-US" dirty="0"/>
              <a:t>To what extent is the trial n stimulus maintained in working memory for trials n+1 or n+2?</a:t>
            </a:r>
          </a:p>
        </p:txBody>
      </p:sp>
    </p:spTree>
    <p:extLst>
      <p:ext uri="{BB962C8B-B14F-4D97-AF65-F5344CB8AC3E}">
        <p14:creationId xmlns:p14="http://schemas.microsoft.com/office/powerpoint/2010/main" val="1401086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722C3-F583-BF77-2450-11AFE2621D30}"/>
              </a:ext>
            </a:extLst>
          </p:cNvPr>
          <p:cNvSpPr>
            <a:spLocks noGrp="1"/>
          </p:cNvSpPr>
          <p:nvPr>
            <p:ph type="title"/>
          </p:nvPr>
        </p:nvSpPr>
        <p:spPr>
          <a:xfrm>
            <a:off x="514713" y="142977"/>
            <a:ext cx="11053173" cy="1325563"/>
          </a:xfrm>
        </p:spPr>
        <p:txBody>
          <a:bodyPr>
            <a:normAutofit/>
          </a:bodyPr>
          <a:lstStyle/>
          <a:p>
            <a:r>
              <a:rPr lang="en-US" sz="4000" dirty="0"/>
              <a:t>(Beyond the task) </a:t>
            </a:r>
            <a:br>
              <a:rPr lang="en-US" sz="4000" dirty="0"/>
            </a:br>
            <a:r>
              <a:rPr lang="en-US" sz="4000" dirty="0"/>
              <a:t>Older adults prototype rather than generalize</a:t>
            </a:r>
          </a:p>
        </p:txBody>
      </p:sp>
      <p:sp>
        <p:nvSpPr>
          <p:cNvPr id="3" name="Content Placeholder 2">
            <a:extLst>
              <a:ext uri="{FF2B5EF4-FFF2-40B4-BE49-F238E27FC236}">
                <a16:creationId xmlns:a16="http://schemas.microsoft.com/office/drawing/2014/main" id="{20DB8345-CF6A-C2AB-94BA-1A4AE2D2E46B}"/>
              </a:ext>
            </a:extLst>
          </p:cNvPr>
          <p:cNvSpPr>
            <a:spLocks noGrp="1"/>
          </p:cNvSpPr>
          <p:nvPr>
            <p:ph idx="1"/>
          </p:nvPr>
        </p:nvSpPr>
        <p:spPr>
          <a:xfrm>
            <a:off x="514713" y="1623321"/>
            <a:ext cx="4790678" cy="2065811"/>
          </a:xfrm>
        </p:spPr>
        <p:txBody>
          <a:bodyPr>
            <a:normAutofit/>
          </a:bodyPr>
          <a:lstStyle/>
          <a:p>
            <a:r>
              <a:rPr lang="en-US" i="1" dirty="0"/>
              <a:t>Prototyping</a:t>
            </a:r>
            <a:r>
              <a:rPr lang="en-US" dirty="0"/>
              <a:t> = link stimuli to a previous similar “prototypical” stimulus</a:t>
            </a:r>
          </a:p>
        </p:txBody>
      </p:sp>
      <p:sp>
        <p:nvSpPr>
          <p:cNvPr id="4" name="Oval 3">
            <a:extLst>
              <a:ext uri="{FF2B5EF4-FFF2-40B4-BE49-F238E27FC236}">
                <a16:creationId xmlns:a16="http://schemas.microsoft.com/office/drawing/2014/main" id="{560AA76F-12E0-9B5C-35A7-E6E8EA1094B7}"/>
              </a:ext>
            </a:extLst>
          </p:cNvPr>
          <p:cNvSpPr/>
          <p:nvPr/>
        </p:nvSpPr>
        <p:spPr>
          <a:xfrm>
            <a:off x="2928308" y="4876698"/>
            <a:ext cx="323850" cy="323850"/>
          </a:xfrm>
          <a:prstGeom prst="ellipse">
            <a:avLst/>
          </a:prstGeom>
          <a:solidFill>
            <a:srgbClr val="FF0000"/>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A5430B2B-2DD5-EEE6-6847-852506D6858E}"/>
              </a:ext>
            </a:extLst>
          </p:cNvPr>
          <p:cNvSpPr/>
          <p:nvPr/>
        </p:nvSpPr>
        <p:spPr>
          <a:xfrm>
            <a:off x="3785558" y="48766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C7AFF95E-6A3F-CB36-7A75-AEA58DC1B26D}"/>
              </a:ext>
            </a:extLst>
          </p:cNvPr>
          <p:cNvSpPr/>
          <p:nvPr/>
        </p:nvSpPr>
        <p:spPr>
          <a:xfrm>
            <a:off x="2928308" y="5720455"/>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77F8E08E-C0E1-81D7-939E-57AAB82954EA}"/>
              </a:ext>
            </a:extLst>
          </p:cNvPr>
          <p:cNvSpPr/>
          <p:nvPr/>
        </p:nvSpPr>
        <p:spPr>
          <a:xfrm>
            <a:off x="2071058" y="48766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98FDF158-64A6-9669-501B-3ADD66A32264}"/>
              </a:ext>
            </a:extLst>
          </p:cNvPr>
          <p:cNvSpPr/>
          <p:nvPr/>
        </p:nvSpPr>
        <p:spPr>
          <a:xfrm>
            <a:off x="2928308" y="40384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4A56725E-D96E-7F5F-73B4-EA3470F0F50A}"/>
              </a:ext>
            </a:extLst>
          </p:cNvPr>
          <p:cNvCxnSpPr>
            <a:stCxn id="8" idx="4"/>
            <a:endCxn id="4" idx="0"/>
          </p:cNvCxnSpPr>
          <p:nvPr/>
        </p:nvCxnSpPr>
        <p:spPr>
          <a:xfrm>
            <a:off x="3090233" y="4362348"/>
            <a:ext cx="0" cy="51435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E33AB7A-28B5-0F0F-F41B-0BBDA8BAA4A4}"/>
              </a:ext>
            </a:extLst>
          </p:cNvPr>
          <p:cNvCxnSpPr>
            <a:cxnSpLocks/>
            <a:stCxn id="5" idx="2"/>
            <a:endCxn id="4" idx="6"/>
          </p:cNvCxnSpPr>
          <p:nvPr/>
        </p:nvCxnSpPr>
        <p:spPr>
          <a:xfrm flipH="1">
            <a:off x="3252158" y="5038623"/>
            <a:ext cx="533400" cy="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58D9173-BE1D-FE81-5C8A-2108C02B40B5}"/>
              </a:ext>
            </a:extLst>
          </p:cNvPr>
          <p:cNvCxnSpPr>
            <a:cxnSpLocks/>
            <a:stCxn id="4" idx="2"/>
            <a:endCxn id="7" idx="6"/>
          </p:cNvCxnSpPr>
          <p:nvPr/>
        </p:nvCxnSpPr>
        <p:spPr>
          <a:xfrm flipH="1">
            <a:off x="2394908" y="5038623"/>
            <a:ext cx="533400" cy="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AE00385-7B99-C91B-3639-B3CC96545AC2}"/>
              </a:ext>
            </a:extLst>
          </p:cNvPr>
          <p:cNvCxnSpPr>
            <a:cxnSpLocks/>
            <a:stCxn id="4" idx="4"/>
            <a:endCxn id="6" idx="0"/>
          </p:cNvCxnSpPr>
          <p:nvPr/>
        </p:nvCxnSpPr>
        <p:spPr>
          <a:xfrm>
            <a:off x="3090233" y="5200548"/>
            <a:ext cx="0" cy="519907"/>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B1BA51E1-2FE7-42F1-EF00-C4EB494EAA1C}"/>
              </a:ext>
            </a:extLst>
          </p:cNvPr>
          <p:cNvSpPr/>
          <p:nvPr/>
        </p:nvSpPr>
        <p:spPr>
          <a:xfrm>
            <a:off x="9966190" y="4808991"/>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DB05FDE2-2A45-CF35-46EA-8E17C03246A7}"/>
              </a:ext>
            </a:extLst>
          </p:cNvPr>
          <p:cNvSpPr/>
          <p:nvPr/>
        </p:nvSpPr>
        <p:spPr>
          <a:xfrm>
            <a:off x="8651739" y="5706485"/>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270C5FB1-826B-D5A3-8E75-CCBAE2A45E43}"/>
              </a:ext>
            </a:extLst>
          </p:cNvPr>
          <p:cNvSpPr/>
          <p:nvPr/>
        </p:nvSpPr>
        <p:spPr>
          <a:xfrm>
            <a:off x="8332652" y="4808991"/>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07A143C3-3E5D-442E-2618-C6B0214BC815}"/>
              </a:ext>
            </a:extLst>
          </p:cNvPr>
          <p:cNvSpPr/>
          <p:nvPr/>
        </p:nvSpPr>
        <p:spPr>
          <a:xfrm>
            <a:off x="9642340" y="5706485"/>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9A4740C0-CFFD-1208-DC36-283E29289561}"/>
              </a:ext>
            </a:extLst>
          </p:cNvPr>
          <p:cNvSpPr txBox="1"/>
          <p:nvPr/>
        </p:nvSpPr>
        <p:spPr>
          <a:xfrm>
            <a:off x="4501874" y="4735747"/>
            <a:ext cx="3343967" cy="369332"/>
          </a:xfrm>
          <a:prstGeom prst="rect">
            <a:avLst/>
          </a:prstGeom>
          <a:noFill/>
        </p:spPr>
        <p:txBody>
          <a:bodyPr wrap="square" rtlCol="0">
            <a:spAutoFit/>
          </a:bodyPr>
          <a:lstStyle/>
          <a:p>
            <a:pPr algn="ctr"/>
            <a:r>
              <a:rPr lang="en-US" dirty="0">
                <a:solidFill>
                  <a:srgbClr val="FF0000"/>
                </a:solidFill>
                <a:latin typeface="Arial" panose="020B0604020202020204" pitchFamily="34" charset="0"/>
                <a:cs typeface="Arial" panose="020B0604020202020204" pitchFamily="34" charset="0"/>
              </a:rPr>
              <a:t>Red = first stimulus presented</a:t>
            </a:r>
          </a:p>
        </p:txBody>
      </p:sp>
      <p:cxnSp>
        <p:nvCxnSpPr>
          <p:cNvPr id="43" name="Straight Connector 42">
            <a:extLst>
              <a:ext uri="{FF2B5EF4-FFF2-40B4-BE49-F238E27FC236}">
                <a16:creationId xmlns:a16="http://schemas.microsoft.com/office/drawing/2014/main" id="{4A3DCB2C-3AA2-C4FC-EA8E-7653A4D11D6A}"/>
              </a:ext>
            </a:extLst>
          </p:cNvPr>
          <p:cNvCxnSpPr>
            <a:cxnSpLocks/>
          </p:cNvCxnSpPr>
          <p:nvPr/>
        </p:nvCxnSpPr>
        <p:spPr>
          <a:xfrm flipH="1">
            <a:off x="8494577" y="4368460"/>
            <a:ext cx="766762" cy="60245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7B19E9CA-9419-89B0-1622-B2F5A8270E93}"/>
              </a:ext>
            </a:extLst>
          </p:cNvPr>
          <p:cNvCxnSpPr>
            <a:cxnSpLocks/>
          </p:cNvCxnSpPr>
          <p:nvPr/>
        </p:nvCxnSpPr>
        <p:spPr>
          <a:xfrm>
            <a:off x="9296463" y="4330596"/>
            <a:ext cx="831652" cy="647464"/>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CBB28748-1BE6-0707-0748-500C91B5665A}"/>
              </a:ext>
            </a:extLst>
          </p:cNvPr>
          <p:cNvCxnSpPr>
            <a:cxnSpLocks/>
          </p:cNvCxnSpPr>
          <p:nvPr/>
        </p:nvCxnSpPr>
        <p:spPr>
          <a:xfrm>
            <a:off x="8485053" y="4970916"/>
            <a:ext cx="328611" cy="91757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61268FC1-3684-C7AC-5900-B897E53D511C}"/>
              </a:ext>
            </a:extLst>
          </p:cNvPr>
          <p:cNvCxnSpPr>
            <a:cxnSpLocks/>
          </p:cNvCxnSpPr>
          <p:nvPr/>
        </p:nvCxnSpPr>
        <p:spPr>
          <a:xfrm flipH="1">
            <a:off x="9804265" y="4933372"/>
            <a:ext cx="321469" cy="935038"/>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E943AF2-7D15-791B-3284-95898DF339F6}"/>
              </a:ext>
            </a:extLst>
          </p:cNvPr>
          <p:cNvCxnSpPr>
            <a:cxnSpLocks/>
            <a:stCxn id="24" idx="6"/>
            <a:endCxn id="26" idx="2"/>
          </p:cNvCxnSpPr>
          <p:nvPr/>
        </p:nvCxnSpPr>
        <p:spPr>
          <a:xfrm>
            <a:off x="8975589" y="5868410"/>
            <a:ext cx="666751" cy="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2D1044BD-5631-4726-D7E7-DB030A7802CD}"/>
              </a:ext>
            </a:extLst>
          </p:cNvPr>
          <p:cNvCxnSpPr>
            <a:cxnSpLocks/>
          </p:cNvCxnSpPr>
          <p:nvPr/>
        </p:nvCxnSpPr>
        <p:spPr>
          <a:xfrm>
            <a:off x="9285152" y="4217647"/>
            <a:ext cx="516732" cy="1670845"/>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8967B1C-1F8F-BB67-DF92-EB0F6C426BB8}"/>
              </a:ext>
            </a:extLst>
          </p:cNvPr>
          <p:cNvCxnSpPr>
            <a:cxnSpLocks/>
          </p:cNvCxnSpPr>
          <p:nvPr/>
        </p:nvCxnSpPr>
        <p:spPr>
          <a:xfrm flipH="1">
            <a:off x="8844025" y="4220028"/>
            <a:ext cx="431603" cy="1668464"/>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DF80DF87-AA54-0AFE-9745-1D1C092AF1B0}"/>
              </a:ext>
            </a:extLst>
          </p:cNvPr>
          <p:cNvCxnSpPr>
            <a:cxnSpLocks/>
            <a:endCxn id="23" idx="2"/>
          </p:cNvCxnSpPr>
          <p:nvPr/>
        </p:nvCxnSpPr>
        <p:spPr>
          <a:xfrm>
            <a:off x="8494577" y="4970916"/>
            <a:ext cx="1471613" cy="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4814046D-EFAF-197C-DBF8-94DB575D6DAD}"/>
              </a:ext>
            </a:extLst>
          </p:cNvPr>
          <p:cNvCxnSpPr>
            <a:cxnSpLocks/>
          </p:cNvCxnSpPr>
          <p:nvPr/>
        </p:nvCxnSpPr>
        <p:spPr>
          <a:xfrm>
            <a:off x="8494576" y="4978060"/>
            <a:ext cx="1316832" cy="88320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9A92D04E-757F-6E6F-3DAE-44A9DC4916B0}"/>
              </a:ext>
            </a:extLst>
          </p:cNvPr>
          <p:cNvCxnSpPr>
            <a:cxnSpLocks/>
          </p:cNvCxnSpPr>
          <p:nvPr/>
        </p:nvCxnSpPr>
        <p:spPr>
          <a:xfrm flipV="1">
            <a:off x="8808903" y="4970916"/>
            <a:ext cx="1316831" cy="89035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691D4A58-324F-8BEB-C0B3-373A37098E77}"/>
              </a:ext>
            </a:extLst>
          </p:cNvPr>
          <p:cNvSpPr/>
          <p:nvPr/>
        </p:nvSpPr>
        <p:spPr>
          <a:xfrm>
            <a:off x="9120846" y="4194071"/>
            <a:ext cx="323850" cy="323850"/>
          </a:xfrm>
          <a:prstGeom prst="ellipse">
            <a:avLst/>
          </a:prstGeom>
          <a:solidFill>
            <a:srgbClr val="FF0000"/>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Content Placeholder 2">
            <a:extLst>
              <a:ext uri="{FF2B5EF4-FFF2-40B4-BE49-F238E27FC236}">
                <a16:creationId xmlns:a16="http://schemas.microsoft.com/office/drawing/2014/main" id="{25B69ABD-169E-1AAD-8FE4-3582E5292F64}"/>
              </a:ext>
            </a:extLst>
          </p:cNvPr>
          <p:cNvSpPr txBox="1">
            <a:spLocks/>
          </p:cNvSpPr>
          <p:nvPr/>
        </p:nvSpPr>
        <p:spPr>
          <a:xfrm>
            <a:off x="7171808" y="1623321"/>
            <a:ext cx="4790678" cy="206581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i="1" dirty="0"/>
              <a:t>Generalization</a:t>
            </a:r>
            <a:r>
              <a:rPr lang="en-US" dirty="0"/>
              <a:t> = identifying patterns common across multiple stimuli</a:t>
            </a:r>
          </a:p>
        </p:txBody>
      </p:sp>
      <p:sp>
        <p:nvSpPr>
          <p:cNvPr id="86" name="Content Placeholder 2">
            <a:extLst>
              <a:ext uri="{FF2B5EF4-FFF2-40B4-BE49-F238E27FC236}">
                <a16:creationId xmlns:a16="http://schemas.microsoft.com/office/drawing/2014/main" id="{A87C50B1-363B-2E76-CA36-AB9E083D39E6}"/>
              </a:ext>
            </a:extLst>
          </p:cNvPr>
          <p:cNvSpPr txBox="1">
            <a:spLocks/>
          </p:cNvSpPr>
          <p:nvPr/>
        </p:nvSpPr>
        <p:spPr>
          <a:xfrm>
            <a:off x="496457" y="2958717"/>
            <a:ext cx="4808934" cy="90229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May reflect past knowledge influencing encoding</a:t>
            </a:r>
          </a:p>
        </p:txBody>
      </p:sp>
      <p:sp>
        <p:nvSpPr>
          <p:cNvPr id="104" name="Content Placeholder 2">
            <a:extLst>
              <a:ext uri="{FF2B5EF4-FFF2-40B4-BE49-F238E27FC236}">
                <a16:creationId xmlns:a16="http://schemas.microsoft.com/office/drawing/2014/main" id="{907E7BC7-E67C-516E-8D16-F0A2529C4C29}"/>
              </a:ext>
            </a:extLst>
          </p:cNvPr>
          <p:cNvSpPr txBox="1">
            <a:spLocks/>
          </p:cNvSpPr>
          <p:nvPr/>
        </p:nvSpPr>
        <p:spPr>
          <a:xfrm>
            <a:off x="3090233" y="6209938"/>
            <a:ext cx="6623759" cy="5050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v"/>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Testable behaviorally and via fMRI</a:t>
            </a:r>
          </a:p>
        </p:txBody>
      </p:sp>
    </p:spTree>
    <p:extLst>
      <p:ext uri="{BB962C8B-B14F-4D97-AF65-F5344CB8AC3E}">
        <p14:creationId xmlns:p14="http://schemas.microsoft.com/office/powerpoint/2010/main" val="1018938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F125C-B673-982D-DD9A-F86DB2C74097}"/>
              </a:ext>
            </a:extLst>
          </p:cNvPr>
          <p:cNvSpPr>
            <a:spLocks noGrp="1"/>
          </p:cNvSpPr>
          <p:nvPr>
            <p:ph type="title"/>
          </p:nvPr>
        </p:nvSpPr>
        <p:spPr>
          <a:xfrm>
            <a:off x="838200" y="111125"/>
            <a:ext cx="10515600" cy="1325563"/>
          </a:xfrm>
        </p:spPr>
        <p:txBody>
          <a:bodyPr/>
          <a:lstStyle/>
          <a:p>
            <a:r>
              <a:rPr lang="en-US" dirty="0"/>
              <a:t>Analyzing generalizing and prototyping</a:t>
            </a:r>
          </a:p>
        </p:txBody>
      </p:sp>
      <p:sp>
        <p:nvSpPr>
          <p:cNvPr id="3" name="Content Placeholder 2">
            <a:extLst>
              <a:ext uri="{FF2B5EF4-FFF2-40B4-BE49-F238E27FC236}">
                <a16:creationId xmlns:a16="http://schemas.microsoft.com/office/drawing/2014/main" id="{9E498769-61E6-A918-3D54-08726A4D2C1E}"/>
              </a:ext>
            </a:extLst>
          </p:cNvPr>
          <p:cNvSpPr>
            <a:spLocks noGrp="1"/>
          </p:cNvSpPr>
          <p:nvPr>
            <p:ph idx="1"/>
          </p:nvPr>
        </p:nvSpPr>
        <p:spPr>
          <a:xfrm>
            <a:off x="838200" y="1474788"/>
            <a:ext cx="10515600" cy="2259705"/>
          </a:xfrm>
        </p:spPr>
        <p:txBody>
          <a:bodyPr>
            <a:normAutofit/>
          </a:bodyPr>
          <a:lstStyle/>
          <a:p>
            <a:r>
              <a:rPr lang="en-US" dirty="0"/>
              <a:t>5-stimulus group (u, v, w, x, y)</a:t>
            </a:r>
          </a:p>
          <a:p>
            <a:r>
              <a:rPr lang="en-US" dirty="0"/>
              <a:t>During some experiment phase:</a:t>
            </a:r>
          </a:p>
          <a:p>
            <a:pPr lvl="1"/>
            <a:r>
              <a:rPr lang="en-US" dirty="0"/>
              <a:t>Measure pairwise correlations among </a:t>
            </a:r>
            <a:r>
              <a:rPr lang="en-US" b="1" dirty="0">
                <a:latin typeface="Times New Roman" panose="02020603050405020304" pitchFamily="18" charset="0"/>
                <a:cs typeface="Times New Roman" panose="02020603050405020304" pitchFamily="18" charset="0"/>
              </a:rPr>
              <a:t>u</a:t>
            </a:r>
            <a:r>
              <a:rPr lang="en-US" dirty="0"/>
              <a:t>,</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v</a:t>
            </a:r>
            <a:r>
              <a:rPr lang="en-US" dirty="0"/>
              <a:t>,</a:t>
            </a:r>
            <a:r>
              <a:rPr lang="en-US" b="1" dirty="0">
                <a:latin typeface="Times New Roman" panose="02020603050405020304" pitchFamily="18" charset="0"/>
                <a:cs typeface="Times New Roman" panose="02020603050405020304" pitchFamily="18" charset="0"/>
              </a:rPr>
              <a:t> w</a:t>
            </a:r>
            <a:r>
              <a:rPr lang="en-US" dirty="0"/>
              <a:t>,</a:t>
            </a:r>
            <a:r>
              <a:rPr lang="en-US" b="1" dirty="0">
                <a:latin typeface="Times New Roman" panose="02020603050405020304" pitchFamily="18" charset="0"/>
                <a:cs typeface="Times New Roman" panose="02020603050405020304" pitchFamily="18" charset="0"/>
              </a:rPr>
              <a:t> x</a:t>
            </a:r>
            <a:r>
              <a:rPr lang="en-US" dirty="0"/>
              <a:t>, and</a:t>
            </a:r>
            <a:r>
              <a:rPr lang="en-US" b="1" dirty="0">
                <a:latin typeface="Times New Roman" panose="02020603050405020304" pitchFamily="18" charset="0"/>
                <a:cs typeface="Times New Roman" panose="02020603050405020304" pitchFamily="18" charset="0"/>
              </a:rPr>
              <a:t> y</a:t>
            </a:r>
          </a:p>
          <a:p>
            <a:pPr lvl="1"/>
            <a:r>
              <a:rPr lang="en-US" dirty="0"/>
              <a:t>Examine whether the correlations are more consistent with the diagram on the left vs. right </a:t>
            </a:r>
          </a:p>
        </p:txBody>
      </p:sp>
      <p:sp>
        <p:nvSpPr>
          <p:cNvPr id="58" name="Oval 57">
            <a:extLst>
              <a:ext uri="{FF2B5EF4-FFF2-40B4-BE49-F238E27FC236}">
                <a16:creationId xmlns:a16="http://schemas.microsoft.com/office/drawing/2014/main" id="{EC65C6F7-DB57-D3EF-87C6-3487973EC713}"/>
              </a:ext>
            </a:extLst>
          </p:cNvPr>
          <p:cNvSpPr/>
          <p:nvPr/>
        </p:nvSpPr>
        <p:spPr>
          <a:xfrm>
            <a:off x="2966408" y="48639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BE75BD44-8CEB-99B8-7CCD-793D69A1935A}"/>
              </a:ext>
            </a:extLst>
          </p:cNvPr>
          <p:cNvSpPr/>
          <p:nvPr/>
        </p:nvSpPr>
        <p:spPr>
          <a:xfrm>
            <a:off x="3823658" y="48639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DC45F2BA-01B0-2931-0525-96EB1D7755AC}"/>
              </a:ext>
            </a:extLst>
          </p:cNvPr>
          <p:cNvSpPr/>
          <p:nvPr/>
        </p:nvSpPr>
        <p:spPr>
          <a:xfrm>
            <a:off x="2966408" y="5707755"/>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479E233D-BFE2-A289-47DF-11FC5ED85E55}"/>
              </a:ext>
            </a:extLst>
          </p:cNvPr>
          <p:cNvSpPr/>
          <p:nvPr/>
        </p:nvSpPr>
        <p:spPr>
          <a:xfrm>
            <a:off x="2109158" y="48639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05F6DFB9-A5BF-D5D2-1BB8-1D6FCB36A2B0}"/>
              </a:ext>
            </a:extLst>
          </p:cNvPr>
          <p:cNvSpPr/>
          <p:nvPr/>
        </p:nvSpPr>
        <p:spPr>
          <a:xfrm>
            <a:off x="2966408" y="4025798"/>
            <a:ext cx="323850" cy="323850"/>
          </a:xfrm>
          <a:prstGeom prst="ellipse">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3" name="Straight Connector 62">
            <a:extLst>
              <a:ext uri="{FF2B5EF4-FFF2-40B4-BE49-F238E27FC236}">
                <a16:creationId xmlns:a16="http://schemas.microsoft.com/office/drawing/2014/main" id="{908CB9C4-F8B7-9C0F-C730-9663AFE76357}"/>
              </a:ext>
            </a:extLst>
          </p:cNvPr>
          <p:cNvCxnSpPr>
            <a:stCxn id="62" idx="4"/>
            <a:endCxn id="58" idx="0"/>
          </p:cNvCxnSpPr>
          <p:nvPr/>
        </p:nvCxnSpPr>
        <p:spPr>
          <a:xfrm>
            <a:off x="3128333" y="4349648"/>
            <a:ext cx="0" cy="51435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2A61A38C-3516-99C2-516F-5B9BFC6B7CA6}"/>
              </a:ext>
            </a:extLst>
          </p:cNvPr>
          <p:cNvCxnSpPr>
            <a:cxnSpLocks/>
            <a:stCxn id="59" idx="2"/>
            <a:endCxn id="58" idx="6"/>
          </p:cNvCxnSpPr>
          <p:nvPr/>
        </p:nvCxnSpPr>
        <p:spPr>
          <a:xfrm flipH="1">
            <a:off x="3290258" y="5025923"/>
            <a:ext cx="533400" cy="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CD38F946-12D8-AFA3-CFCF-5CDC56B95945}"/>
              </a:ext>
            </a:extLst>
          </p:cNvPr>
          <p:cNvCxnSpPr>
            <a:cxnSpLocks/>
            <a:stCxn id="58" idx="2"/>
            <a:endCxn id="61" idx="6"/>
          </p:cNvCxnSpPr>
          <p:nvPr/>
        </p:nvCxnSpPr>
        <p:spPr>
          <a:xfrm flipH="1">
            <a:off x="2433008" y="5025923"/>
            <a:ext cx="533400" cy="0"/>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C4AF690-7385-9367-BE36-AD46D9FAB915}"/>
              </a:ext>
            </a:extLst>
          </p:cNvPr>
          <p:cNvCxnSpPr>
            <a:cxnSpLocks/>
            <a:stCxn id="58" idx="4"/>
            <a:endCxn id="60" idx="0"/>
          </p:cNvCxnSpPr>
          <p:nvPr/>
        </p:nvCxnSpPr>
        <p:spPr>
          <a:xfrm>
            <a:off x="3128333" y="5187848"/>
            <a:ext cx="0" cy="519907"/>
          </a:xfrm>
          <a:prstGeom prst="line">
            <a:avLst/>
          </a:prstGeom>
          <a:ln w="127000">
            <a:solidFill>
              <a:schemeClr val="tx1"/>
            </a:solidFill>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53D65922-7944-FFFE-D1BB-3268FABF5404}"/>
              </a:ext>
            </a:extLst>
          </p:cNvPr>
          <p:cNvSpPr/>
          <p:nvPr/>
        </p:nvSpPr>
        <p:spPr>
          <a:xfrm>
            <a:off x="10004290" y="4796291"/>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69A02E6D-377E-00F6-3771-05612AB8F0A4}"/>
              </a:ext>
            </a:extLst>
          </p:cNvPr>
          <p:cNvSpPr/>
          <p:nvPr/>
        </p:nvSpPr>
        <p:spPr>
          <a:xfrm>
            <a:off x="8689839" y="5693785"/>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BDE8E9D6-5505-152D-9F41-8A5995058952}"/>
              </a:ext>
            </a:extLst>
          </p:cNvPr>
          <p:cNvSpPr/>
          <p:nvPr/>
        </p:nvSpPr>
        <p:spPr>
          <a:xfrm>
            <a:off x="8370752" y="4796291"/>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B1916BFD-E075-1AA1-E7F6-3A882F4750EB}"/>
              </a:ext>
            </a:extLst>
          </p:cNvPr>
          <p:cNvSpPr/>
          <p:nvPr/>
        </p:nvSpPr>
        <p:spPr>
          <a:xfrm>
            <a:off x="9680440" y="5693785"/>
            <a:ext cx="323850" cy="32385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2" name="Straight Connector 71">
            <a:extLst>
              <a:ext uri="{FF2B5EF4-FFF2-40B4-BE49-F238E27FC236}">
                <a16:creationId xmlns:a16="http://schemas.microsoft.com/office/drawing/2014/main" id="{231F800B-F904-FF1D-4120-26A4F48611D5}"/>
              </a:ext>
            </a:extLst>
          </p:cNvPr>
          <p:cNvCxnSpPr>
            <a:cxnSpLocks/>
          </p:cNvCxnSpPr>
          <p:nvPr/>
        </p:nvCxnSpPr>
        <p:spPr>
          <a:xfrm flipH="1">
            <a:off x="8532677" y="4355760"/>
            <a:ext cx="766762" cy="60245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0124F5BC-BD3B-F8C7-EA34-EEB96C4D2D00}"/>
              </a:ext>
            </a:extLst>
          </p:cNvPr>
          <p:cNvCxnSpPr>
            <a:cxnSpLocks/>
          </p:cNvCxnSpPr>
          <p:nvPr/>
        </p:nvCxnSpPr>
        <p:spPr>
          <a:xfrm>
            <a:off x="9334563" y="4317896"/>
            <a:ext cx="831652" cy="647464"/>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78D289F2-362C-531F-46BB-200CA4181D03}"/>
              </a:ext>
            </a:extLst>
          </p:cNvPr>
          <p:cNvCxnSpPr>
            <a:cxnSpLocks/>
          </p:cNvCxnSpPr>
          <p:nvPr/>
        </p:nvCxnSpPr>
        <p:spPr>
          <a:xfrm>
            <a:off x="8523153" y="4958216"/>
            <a:ext cx="328611" cy="91757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966D4DBD-51FD-F917-DCE6-FB1954C4956B}"/>
              </a:ext>
            </a:extLst>
          </p:cNvPr>
          <p:cNvCxnSpPr>
            <a:cxnSpLocks/>
          </p:cNvCxnSpPr>
          <p:nvPr/>
        </p:nvCxnSpPr>
        <p:spPr>
          <a:xfrm flipH="1">
            <a:off x="9842365" y="4920672"/>
            <a:ext cx="321469" cy="935038"/>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E8C46C5A-69F7-989C-BA4A-E0E121F5F598}"/>
              </a:ext>
            </a:extLst>
          </p:cNvPr>
          <p:cNvCxnSpPr>
            <a:cxnSpLocks/>
            <a:stCxn id="68" idx="6"/>
            <a:endCxn id="70" idx="2"/>
          </p:cNvCxnSpPr>
          <p:nvPr/>
        </p:nvCxnSpPr>
        <p:spPr>
          <a:xfrm>
            <a:off x="9013689" y="5855710"/>
            <a:ext cx="666751" cy="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30E43EC6-1A0D-AA62-2A55-1CC007CCE005}"/>
              </a:ext>
            </a:extLst>
          </p:cNvPr>
          <p:cNvCxnSpPr>
            <a:cxnSpLocks/>
          </p:cNvCxnSpPr>
          <p:nvPr/>
        </p:nvCxnSpPr>
        <p:spPr>
          <a:xfrm>
            <a:off x="9323252" y="4204947"/>
            <a:ext cx="516732" cy="1670845"/>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B112E795-6DFF-E9E3-6CDB-118038306399}"/>
              </a:ext>
            </a:extLst>
          </p:cNvPr>
          <p:cNvCxnSpPr>
            <a:cxnSpLocks/>
          </p:cNvCxnSpPr>
          <p:nvPr/>
        </p:nvCxnSpPr>
        <p:spPr>
          <a:xfrm flipH="1">
            <a:off x="8882125" y="4207328"/>
            <a:ext cx="431603" cy="1668464"/>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F995EFC0-D308-ACEB-9FB9-7D1A0E27504B}"/>
              </a:ext>
            </a:extLst>
          </p:cNvPr>
          <p:cNvCxnSpPr>
            <a:cxnSpLocks/>
            <a:endCxn id="67" idx="2"/>
          </p:cNvCxnSpPr>
          <p:nvPr/>
        </p:nvCxnSpPr>
        <p:spPr>
          <a:xfrm>
            <a:off x="8532677" y="4958216"/>
            <a:ext cx="1471613" cy="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59F3EEEE-6BDC-DA56-066A-2052620B25DF}"/>
              </a:ext>
            </a:extLst>
          </p:cNvPr>
          <p:cNvCxnSpPr>
            <a:cxnSpLocks/>
          </p:cNvCxnSpPr>
          <p:nvPr/>
        </p:nvCxnSpPr>
        <p:spPr>
          <a:xfrm>
            <a:off x="8532676" y="4965360"/>
            <a:ext cx="1316832" cy="883206"/>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21F68361-7B17-7221-458F-D6D9427FD079}"/>
              </a:ext>
            </a:extLst>
          </p:cNvPr>
          <p:cNvCxnSpPr>
            <a:cxnSpLocks/>
          </p:cNvCxnSpPr>
          <p:nvPr/>
        </p:nvCxnSpPr>
        <p:spPr>
          <a:xfrm flipV="1">
            <a:off x="8847003" y="4958216"/>
            <a:ext cx="1316831" cy="890350"/>
          </a:xfrm>
          <a:prstGeom prst="line">
            <a:avLst/>
          </a:prstGeom>
          <a:ln w="444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82" name="Oval 81">
            <a:extLst>
              <a:ext uri="{FF2B5EF4-FFF2-40B4-BE49-F238E27FC236}">
                <a16:creationId xmlns:a16="http://schemas.microsoft.com/office/drawing/2014/main" id="{F1CEFC69-AE25-4208-8BC1-433A56E6D797}"/>
              </a:ext>
            </a:extLst>
          </p:cNvPr>
          <p:cNvSpPr/>
          <p:nvPr/>
        </p:nvSpPr>
        <p:spPr>
          <a:xfrm>
            <a:off x="9158946" y="4181371"/>
            <a:ext cx="323850" cy="323850"/>
          </a:xfrm>
          <a:prstGeom prst="ellipse">
            <a:avLst/>
          </a:prstGeom>
          <a:solidFill>
            <a:schemeClr val="tx1"/>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5482951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33732-E844-B90D-9B27-DEB448D83325}"/>
              </a:ext>
            </a:extLst>
          </p:cNvPr>
          <p:cNvSpPr>
            <a:spLocks noGrp="1"/>
          </p:cNvSpPr>
          <p:nvPr>
            <p:ph type="title"/>
          </p:nvPr>
        </p:nvSpPr>
        <p:spPr/>
        <p:txBody>
          <a:bodyPr/>
          <a:lstStyle/>
          <a:p>
            <a:r>
              <a:rPr lang="en-US" dirty="0"/>
              <a:t>Other possible aging effect</a:t>
            </a:r>
          </a:p>
        </p:txBody>
      </p:sp>
      <p:sp>
        <p:nvSpPr>
          <p:cNvPr id="3" name="Content Placeholder 2">
            <a:extLst>
              <a:ext uri="{FF2B5EF4-FFF2-40B4-BE49-F238E27FC236}">
                <a16:creationId xmlns:a16="http://schemas.microsoft.com/office/drawing/2014/main" id="{65CBB978-14C2-4BFA-DCA5-0D8CCB3CF615}"/>
              </a:ext>
            </a:extLst>
          </p:cNvPr>
          <p:cNvSpPr>
            <a:spLocks noGrp="1"/>
          </p:cNvSpPr>
          <p:nvPr>
            <p:ph idx="1"/>
          </p:nvPr>
        </p:nvSpPr>
        <p:spPr/>
        <p:txBody>
          <a:bodyPr/>
          <a:lstStyle/>
          <a:p>
            <a:pPr marL="514350" indent="-514350">
              <a:buFont typeface="+mj-lt"/>
              <a:buAutoNum type="arabicPeriod"/>
            </a:pPr>
            <a:r>
              <a:rPr lang="en-US" dirty="0"/>
              <a:t>Instead of more prototyping, maybe they show the opposite: more generalization due to only encoding </a:t>
            </a:r>
            <a:r>
              <a:rPr lang="en-US" dirty="0" err="1"/>
              <a:t>gists</a:t>
            </a:r>
            <a:r>
              <a:rPr lang="en-US" dirty="0"/>
              <a:t> and using crystalized knowledge</a:t>
            </a:r>
          </a:p>
          <a:p>
            <a:pPr lvl="1"/>
            <a:r>
              <a:rPr lang="en-US" dirty="0"/>
              <a:t>Could get at this gist idea with an R/K test</a:t>
            </a:r>
          </a:p>
          <a:p>
            <a:endParaRPr lang="en-US" dirty="0"/>
          </a:p>
        </p:txBody>
      </p:sp>
    </p:spTree>
    <p:extLst>
      <p:ext uri="{BB962C8B-B14F-4D97-AF65-F5344CB8AC3E}">
        <p14:creationId xmlns:p14="http://schemas.microsoft.com/office/powerpoint/2010/main" val="417391498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F125C-B673-982D-DD9A-F86DB2C74097}"/>
              </a:ext>
            </a:extLst>
          </p:cNvPr>
          <p:cNvSpPr>
            <a:spLocks noGrp="1"/>
          </p:cNvSpPr>
          <p:nvPr>
            <p:ph type="title"/>
          </p:nvPr>
        </p:nvSpPr>
        <p:spPr>
          <a:xfrm>
            <a:off x="838200" y="111125"/>
            <a:ext cx="10515600" cy="1325563"/>
          </a:xfrm>
        </p:spPr>
        <p:txBody>
          <a:bodyPr/>
          <a:lstStyle/>
          <a:p>
            <a:r>
              <a:rPr lang="en-US" dirty="0"/>
              <a:t>Analyzing generalizing and prototyping with combination features (not done)</a:t>
            </a:r>
          </a:p>
        </p:txBody>
      </p:sp>
      <p:sp>
        <p:nvSpPr>
          <p:cNvPr id="3" name="Content Placeholder 2">
            <a:extLst>
              <a:ext uri="{FF2B5EF4-FFF2-40B4-BE49-F238E27FC236}">
                <a16:creationId xmlns:a16="http://schemas.microsoft.com/office/drawing/2014/main" id="{9E498769-61E6-A918-3D54-08726A4D2C1E}"/>
              </a:ext>
            </a:extLst>
          </p:cNvPr>
          <p:cNvSpPr>
            <a:spLocks noGrp="1"/>
          </p:cNvSpPr>
          <p:nvPr>
            <p:ph idx="1"/>
          </p:nvPr>
        </p:nvSpPr>
        <p:spPr>
          <a:xfrm>
            <a:off x="838200" y="1538288"/>
            <a:ext cx="10515600" cy="4951412"/>
          </a:xfrm>
        </p:spPr>
        <p:txBody>
          <a:bodyPr>
            <a:normAutofit/>
          </a:bodyPr>
          <a:lstStyle/>
          <a:p>
            <a:r>
              <a:rPr lang="en-US" dirty="0"/>
              <a:t>Identifying generalization:</a:t>
            </a:r>
          </a:p>
          <a:p>
            <a:pPr lvl="1"/>
            <a:r>
              <a:rPr lang="en-US" dirty="0"/>
              <a:t>Integrating stimulus vectors</a:t>
            </a:r>
          </a:p>
          <a:p>
            <a:pPr lvl="1"/>
            <a:r>
              <a:rPr lang="en-US" dirty="0"/>
              <a:t>One way to combine: Elementwise multiplication (</a:t>
            </a:r>
            <a:r>
              <a:rPr lang="en-US" b="1" dirty="0">
                <a:latin typeface="Times New Roman" panose="02020603050405020304" pitchFamily="18" charset="0"/>
                <a:cs typeface="Times New Roman" panose="02020603050405020304" pitchFamily="18" charset="0"/>
              </a:rPr>
              <a:t>u</a:t>
            </a:r>
            <a:r>
              <a:rPr lang="en-US" dirty="0">
                <a:latin typeface="Times New Roman" panose="02020603050405020304" pitchFamily="18" charset="0"/>
                <a:cs typeface="Times New Roman" panose="02020603050405020304" pitchFamily="18" charset="0"/>
              </a:rPr>
              <a:t> × </a:t>
            </a:r>
            <a:r>
              <a:rPr lang="en-US" b="1" dirty="0">
                <a:latin typeface="Times New Roman" panose="02020603050405020304" pitchFamily="18" charset="0"/>
                <a:cs typeface="Times New Roman" panose="02020603050405020304" pitchFamily="18" charset="0"/>
              </a:rPr>
              <a:t>v</a:t>
            </a:r>
            <a:r>
              <a:rPr lang="en-US" dirty="0">
                <a:latin typeface="Times New Roman" panose="02020603050405020304" pitchFamily="18" charset="0"/>
                <a:cs typeface="Times New Roman" panose="02020603050405020304" pitchFamily="18" charset="0"/>
              </a:rPr>
              <a:t> = </a:t>
            </a:r>
            <a:r>
              <a:rPr lang="en-US" b="1" dirty="0">
                <a:latin typeface="Times New Roman" panose="02020603050405020304" pitchFamily="18" charset="0"/>
                <a:cs typeface="Times New Roman" panose="02020603050405020304" pitchFamily="18" charset="0"/>
              </a:rPr>
              <a:t>g</a:t>
            </a:r>
            <a:r>
              <a:rPr lang="en-US" dirty="0"/>
              <a:t>) will yield a product vector that represents features common across the two</a:t>
            </a:r>
          </a:p>
          <a:p>
            <a:pPr lvl="2"/>
            <a:r>
              <a:rPr lang="en-US" dirty="0"/>
              <a:t>Other ways may work better for 3+ stimuli</a:t>
            </a:r>
          </a:p>
          <a:p>
            <a:pPr lvl="2"/>
            <a:r>
              <a:rPr lang="en-US" dirty="0"/>
              <a:t>Definitions linked to computational memory theories?</a:t>
            </a:r>
          </a:p>
          <a:p>
            <a:pPr lvl="1"/>
            <a:r>
              <a:rPr lang="en-US" dirty="0"/>
              <a:t>Examine whether participants retrieve </a:t>
            </a:r>
            <a:r>
              <a:rPr lang="en-US" b="1" dirty="0">
                <a:latin typeface="Times New Roman" panose="02020603050405020304" pitchFamily="18" charset="0"/>
                <a:cs typeface="Times New Roman" panose="02020603050405020304" pitchFamily="18" charset="0"/>
              </a:rPr>
              <a:t>g</a:t>
            </a:r>
            <a:endParaRPr lang="en-US" dirty="0"/>
          </a:p>
          <a:p>
            <a:pPr lvl="2"/>
            <a:r>
              <a:rPr lang="en-US" dirty="0"/>
              <a:t>Perform RSA with the “generalization” vector </a:t>
            </a:r>
            <a:r>
              <a:rPr lang="en-US" b="1" dirty="0">
                <a:latin typeface="Times New Roman" panose="02020603050405020304" pitchFamily="18" charset="0"/>
                <a:cs typeface="Times New Roman" panose="02020603050405020304" pitchFamily="18" charset="0"/>
              </a:rPr>
              <a:t>g</a:t>
            </a:r>
          </a:p>
          <a:p>
            <a:r>
              <a:rPr lang="en-US" dirty="0"/>
              <a:t>Identifying prototyping</a:t>
            </a:r>
          </a:p>
          <a:p>
            <a:pPr lvl="1"/>
            <a:r>
              <a:rPr lang="en-US" dirty="0"/>
              <a:t>Again, integrating stimulus vectors, but now to create a “prototype” vector (</a:t>
            </a:r>
            <a:r>
              <a:rPr lang="en-US" b="1" dirty="0">
                <a:latin typeface="Times New Roman" panose="02020603050405020304" pitchFamily="18" charset="0"/>
                <a:cs typeface="Times New Roman" panose="02020603050405020304" pitchFamily="18" charset="0"/>
              </a:rPr>
              <a:t>p</a:t>
            </a:r>
            <a:r>
              <a:rPr lang="en-US" dirty="0"/>
              <a:t>)</a:t>
            </a:r>
          </a:p>
          <a:p>
            <a:pPr lvl="1"/>
            <a:r>
              <a:rPr lang="en-US" dirty="0"/>
              <a:t>If </a:t>
            </a:r>
            <a:r>
              <a:rPr lang="en-US" b="1" dirty="0">
                <a:latin typeface="Times New Roman" panose="02020603050405020304" pitchFamily="18" charset="0"/>
                <a:cs typeface="Times New Roman" panose="02020603050405020304" pitchFamily="18" charset="0"/>
              </a:rPr>
              <a:t>u</a:t>
            </a:r>
            <a:r>
              <a:rPr lang="en-US" dirty="0"/>
              <a:t> is the prototype…?</a:t>
            </a:r>
          </a:p>
        </p:txBody>
      </p:sp>
    </p:spTree>
    <p:extLst>
      <p:ext uri="{BB962C8B-B14F-4D97-AF65-F5344CB8AC3E}">
        <p14:creationId xmlns:p14="http://schemas.microsoft.com/office/powerpoint/2010/main" val="121808264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F118C-8A7E-19DC-938B-4FB4E2965593}"/>
              </a:ext>
            </a:extLst>
          </p:cNvPr>
          <p:cNvSpPr>
            <a:spLocks noGrp="1"/>
          </p:cNvSpPr>
          <p:nvPr>
            <p:ph type="title"/>
          </p:nvPr>
        </p:nvSpPr>
        <p:spPr>
          <a:xfrm>
            <a:off x="838200" y="124163"/>
            <a:ext cx="10515600" cy="993437"/>
          </a:xfrm>
        </p:spPr>
        <p:txBody>
          <a:bodyPr/>
          <a:lstStyle/>
          <a:p>
            <a:r>
              <a:rPr lang="en-US" dirty="0"/>
              <a:t>Extension into decision-making</a:t>
            </a:r>
          </a:p>
        </p:txBody>
      </p:sp>
      <p:sp>
        <p:nvSpPr>
          <p:cNvPr id="3" name="Content Placeholder 2">
            <a:extLst>
              <a:ext uri="{FF2B5EF4-FFF2-40B4-BE49-F238E27FC236}">
                <a16:creationId xmlns:a16="http://schemas.microsoft.com/office/drawing/2014/main" id="{D09982D2-157A-367E-6C01-69D7E9013175}"/>
              </a:ext>
            </a:extLst>
          </p:cNvPr>
          <p:cNvSpPr>
            <a:spLocks noGrp="1"/>
          </p:cNvSpPr>
          <p:nvPr>
            <p:ph idx="1"/>
          </p:nvPr>
        </p:nvSpPr>
        <p:spPr>
          <a:xfrm>
            <a:off x="838200" y="1117600"/>
            <a:ext cx="10515600" cy="5740400"/>
          </a:xfrm>
        </p:spPr>
        <p:txBody>
          <a:bodyPr>
            <a:normAutofit fontScale="92500" lnSpcReduction="10000"/>
          </a:bodyPr>
          <a:lstStyle/>
          <a:p>
            <a:r>
              <a:rPr lang="en-US" dirty="0"/>
              <a:t>Idea: Replace every other “location” with a “decision” </a:t>
            </a:r>
          </a:p>
          <a:p>
            <a:r>
              <a:rPr lang="en-US" dirty="0"/>
              <a:t>Participants are given a choice that influences the next image that will be shown (what location they will travel to)</a:t>
            </a:r>
          </a:p>
          <a:p>
            <a:pPr lvl="1"/>
            <a:r>
              <a:rPr lang="en-US" dirty="0"/>
              <a:t>E.g., at location A, participants can choose between options X or Y, which will take them to locations B or C</a:t>
            </a:r>
          </a:p>
          <a:p>
            <a:pPr lvl="1"/>
            <a:r>
              <a:rPr lang="en-US" dirty="0"/>
              <a:t>The options themselves are stimuli (e.g., “X and Y are magical objects that will teleport you to a new location”)</a:t>
            </a:r>
          </a:p>
          <a:p>
            <a:pPr lvl="1"/>
            <a:r>
              <a:rPr lang="en-US" dirty="0"/>
              <a:t>“Selecting X/Y” is the episodic memory formed</a:t>
            </a:r>
          </a:p>
          <a:p>
            <a:r>
              <a:rPr lang="en-US" dirty="0"/>
              <a:t>Retrieval task:</a:t>
            </a:r>
          </a:p>
          <a:p>
            <a:pPr lvl="1"/>
            <a:r>
              <a:rPr lang="en-US" dirty="0"/>
              <a:t>Could include a task where participants are asked “you are in A and you want to get to B, should you select X or Y?”</a:t>
            </a:r>
          </a:p>
          <a:p>
            <a:r>
              <a:rPr lang="en-US" dirty="0"/>
              <a:t>Downsides:</a:t>
            </a:r>
          </a:p>
          <a:p>
            <a:pPr lvl="1"/>
            <a:r>
              <a:rPr lang="en-US" dirty="0"/>
              <a:t>Issue 1: different participants will see different stimuli, maybe some will not show diversity in their decision-making</a:t>
            </a:r>
          </a:p>
          <a:p>
            <a:pPr lvl="1"/>
            <a:r>
              <a:rPr lang="en-US" dirty="0"/>
              <a:t>Issue 2: less statistical power for investigating state transitions (half as many state transitions)</a:t>
            </a:r>
          </a:p>
        </p:txBody>
      </p:sp>
    </p:spTree>
    <p:extLst>
      <p:ext uri="{BB962C8B-B14F-4D97-AF65-F5344CB8AC3E}">
        <p14:creationId xmlns:p14="http://schemas.microsoft.com/office/powerpoint/2010/main" val="4285222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65621-EE6F-96CC-ADB9-3772387388E0}"/>
              </a:ext>
            </a:extLst>
          </p:cNvPr>
          <p:cNvSpPr>
            <a:spLocks noGrp="1"/>
          </p:cNvSpPr>
          <p:nvPr>
            <p:ph type="title"/>
          </p:nvPr>
        </p:nvSpPr>
        <p:spPr/>
        <p:txBody>
          <a:bodyPr/>
          <a:lstStyle/>
          <a:p>
            <a:r>
              <a:rPr lang="en-US" dirty="0"/>
              <a:t>Expanding to incorporate others’ interests</a:t>
            </a:r>
          </a:p>
        </p:txBody>
      </p:sp>
      <p:sp>
        <p:nvSpPr>
          <p:cNvPr id="3" name="Content Placeholder 2">
            <a:extLst>
              <a:ext uri="{FF2B5EF4-FFF2-40B4-BE49-F238E27FC236}">
                <a16:creationId xmlns:a16="http://schemas.microsoft.com/office/drawing/2014/main" id="{FDC78F76-C90E-78BD-7BE0-59FC4517A7C1}"/>
              </a:ext>
            </a:extLst>
          </p:cNvPr>
          <p:cNvSpPr>
            <a:spLocks noGrp="1"/>
          </p:cNvSpPr>
          <p:nvPr>
            <p:ph idx="1"/>
          </p:nvPr>
        </p:nvSpPr>
        <p:spPr/>
        <p:txBody>
          <a:bodyPr/>
          <a:lstStyle/>
          <a:p>
            <a:r>
              <a:rPr lang="en-US" dirty="0"/>
              <a:t>This is still on associative memory, so hopefully, Cortney would like it </a:t>
            </a:r>
          </a:p>
          <a:p>
            <a:r>
              <a:rPr lang="en-US" dirty="0"/>
              <a:t>I think Ricky’s interest in task sets and the instructions about focusing on perception/semantic information could be incorporated?</a:t>
            </a:r>
          </a:p>
        </p:txBody>
      </p:sp>
    </p:spTree>
    <p:extLst>
      <p:ext uri="{BB962C8B-B14F-4D97-AF65-F5344CB8AC3E}">
        <p14:creationId xmlns:p14="http://schemas.microsoft.com/office/powerpoint/2010/main" val="284900078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97A1A-4DE7-9D35-4F89-F245812E207A}"/>
              </a:ext>
            </a:extLst>
          </p:cNvPr>
          <p:cNvSpPr>
            <a:spLocks noGrp="1"/>
          </p:cNvSpPr>
          <p:nvPr>
            <p:ph type="title"/>
          </p:nvPr>
        </p:nvSpPr>
        <p:spPr/>
        <p:txBody>
          <a:bodyPr/>
          <a:lstStyle/>
          <a:p>
            <a:r>
              <a:rPr lang="en-US" dirty="0"/>
              <a:t>After removing outliers</a:t>
            </a:r>
          </a:p>
        </p:txBody>
      </p:sp>
      <p:sp>
        <p:nvSpPr>
          <p:cNvPr id="3" name="Content Placeholder 2">
            <a:extLst>
              <a:ext uri="{FF2B5EF4-FFF2-40B4-BE49-F238E27FC236}">
                <a16:creationId xmlns:a16="http://schemas.microsoft.com/office/drawing/2014/main" id="{53051C30-C101-F6A2-FB8E-347F635255DF}"/>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BEDABEE2-7FFF-D3D7-48F6-5052189448AC}"/>
              </a:ext>
            </a:extLst>
          </p:cNvPr>
          <p:cNvPicPr>
            <a:picLocks noChangeAspect="1"/>
          </p:cNvPicPr>
          <p:nvPr/>
        </p:nvPicPr>
        <p:blipFill>
          <a:blip r:embed="rId2"/>
          <a:stretch>
            <a:fillRect/>
          </a:stretch>
        </p:blipFill>
        <p:spPr>
          <a:xfrm>
            <a:off x="4549756" y="3013304"/>
            <a:ext cx="3772426" cy="3715268"/>
          </a:xfrm>
          <a:prstGeom prst="rect">
            <a:avLst/>
          </a:prstGeom>
        </p:spPr>
      </p:pic>
    </p:spTree>
    <p:extLst>
      <p:ext uri="{BB962C8B-B14F-4D97-AF65-F5344CB8AC3E}">
        <p14:creationId xmlns:p14="http://schemas.microsoft.com/office/powerpoint/2010/main" val="1495074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ank.potx" id="{9C6B1436-0ACE-4CC3-BC66-C2BCB97D7D52}" vid="{95E57EA4-F55F-474A-9811-FDC52FAD54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36830</TotalTime>
  <Words>5145</Words>
  <Application>Microsoft Office PowerPoint</Application>
  <PresentationFormat>Widescreen</PresentationFormat>
  <Paragraphs>621</Paragraphs>
  <Slides>77</Slides>
  <Notes>26</Notes>
  <HiddenSlides>16</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77</vt:i4>
      </vt:variant>
    </vt:vector>
  </HeadingPairs>
  <TitlesOfParts>
    <vt:vector size="84" baseType="lpstr">
      <vt:lpstr>Arial</vt:lpstr>
      <vt:lpstr>Calibri</vt:lpstr>
      <vt:lpstr>Courier New</vt:lpstr>
      <vt:lpstr>Roboto</vt:lpstr>
      <vt:lpstr>Times New Roman</vt:lpstr>
      <vt:lpstr>Wingdings</vt:lpstr>
      <vt:lpstr>Office Theme</vt:lpstr>
      <vt:lpstr>Paul Update</vt:lpstr>
      <vt:lpstr>Lifu dissertation results</vt:lpstr>
      <vt:lpstr>3-session fMRI study (SchemRep)</vt:lpstr>
      <vt:lpstr>Lifu results 1.1</vt:lpstr>
      <vt:lpstr>Lifu Results 1.2</vt:lpstr>
      <vt:lpstr>Lifu Results 2.1</vt:lpstr>
      <vt:lpstr>Lifu Results 2.2</vt:lpstr>
      <vt:lpstr>Lifu Results 2.3</vt:lpstr>
      <vt:lpstr>Warning: Results may shift</vt:lpstr>
      <vt:lpstr>Preprocessing</vt:lpstr>
      <vt:lpstr>PowerPoint Presentation</vt:lpstr>
      <vt:lpstr>Emerging property</vt:lpstr>
      <vt:lpstr>Proposed direction</vt:lpstr>
      <vt:lpstr>Background</vt:lpstr>
      <vt:lpstr>Primary Question</vt:lpstr>
      <vt:lpstr>Present Study and Hypotheses</vt:lpstr>
      <vt:lpstr>Methods</vt:lpstr>
      <vt:lpstr>Data</vt:lpstr>
      <vt:lpstr>3-session fMRI study (SchemRep)</vt:lpstr>
      <vt:lpstr>Behavioral results</vt:lpstr>
      <vt:lpstr>Brainnetome atlas</vt:lpstr>
      <vt:lpstr>Stimulus representations</vt:lpstr>
      <vt:lpstr>Many ways to interpret the abs-difference vector</vt:lpstr>
      <vt:lpstr>Perceptual vectors</vt:lpstr>
      <vt:lpstr>Abs-dif vector</vt:lpstr>
      <vt:lpstr>Difference vector by condition</vt:lpstr>
      <vt:lpstr>RSA overview</vt:lpstr>
      <vt:lpstr>Further temporal trend testing</vt:lpstr>
      <vt:lpstr>Stimulus RSM/RDMs</vt:lpstr>
      <vt:lpstr>Results</vt:lpstr>
      <vt:lpstr>Univariate findings to pad things out?</vt:lpstr>
      <vt:lpstr>Result 1A: Schema representation</vt:lpstr>
      <vt:lpstr>Result 1C/1D: Object representation</vt:lpstr>
      <vt:lpstr>Result 2A/2B: Schema-object prediction error</vt:lpstr>
      <vt:lpstr>Result 2A/2B: Schema-object prediction error</vt:lpstr>
      <vt:lpstr>Result 2C: Connectivity: Activity x IRAF</vt:lpstr>
      <vt:lpstr>Result 2C: Difference RSA x connectivity</vt:lpstr>
      <vt:lpstr>PowerPoint Presentation</vt:lpstr>
      <vt:lpstr>Result 3A: Prediction error IRAF predicts subsequent memory</vt:lpstr>
      <vt:lpstr>Result 3B: Retrieval retrieves scene representation</vt:lpstr>
      <vt:lpstr>Other things</vt:lpstr>
      <vt:lpstr>Something cool</vt:lpstr>
      <vt:lpstr>Significance testing and permutation testing</vt:lpstr>
      <vt:lpstr>Modularity</vt:lpstr>
      <vt:lpstr>Encoding retrieval similarity</vt:lpstr>
      <vt:lpstr>Whiffs </vt:lpstr>
      <vt:lpstr>Other analyses</vt:lpstr>
      <vt:lpstr>Study ideas</vt:lpstr>
      <vt:lpstr>Generalize the past, pinpoint the future</vt:lpstr>
      <vt:lpstr>Episodic memory is intertwined with relational memory</vt:lpstr>
      <vt:lpstr>Broad design theme</vt:lpstr>
      <vt:lpstr>Research goal</vt:lpstr>
      <vt:lpstr>Research goal</vt:lpstr>
      <vt:lpstr>What is an episodic memory?</vt:lpstr>
      <vt:lpstr>Task idea 1</vt:lpstr>
      <vt:lpstr>Forward/backward dissociation behavioral results</vt:lpstr>
      <vt:lpstr>fMRI analysis</vt:lpstr>
      <vt:lpstr>Building on this analytic direction</vt:lpstr>
      <vt:lpstr>Ways to extend and interpret these analyses</vt:lpstr>
      <vt:lpstr>More traditional RSA analyses</vt:lpstr>
      <vt:lpstr>Analysis 2A. flow through semantic network</vt:lpstr>
      <vt:lpstr>Episodic memories as state transitions</vt:lpstr>
      <vt:lpstr>Task idea 2. Encoding task</vt:lpstr>
      <vt:lpstr>Task idea 2. Retrieval task</vt:lpstr>
      <vt:lpstr>Task 2 opportunities</vt:lpstr>
      <vt:lpstr>Analysis 1A: Relational network RSA</vt:lpstr>
      <vt:lpstr>fMRI results</vt:lpstr>
      <vt:lpstr>Analysis 1B. Other network RDM analysis</vt:lpstr>
      <vt:lpstr>PowerPoint Presentation</vt:lpstr>
      <vt:lpstr>Possible aging effects</vt:lpstr>
      <vt:lpstr>(Beyond the task)  Older adults prototype rather than generalize</vt:lpstr>
      <vt:lpstr>Analyzing generalizing and prototyping</vt:lpstr>
      <vt:lpstr>Other possible aging effect</vt:lpstr>
      <vt:lpstr>Analyzing generalizing and prototyping with combination features (not done)</vt:lpstr>
      <vt:lpstr>Extension into decision-making</vt:lpstr>
      <vt:lpstr>Expanding to incorporate others’ interests</vt:lpstr>
      <vt:lpstr>After removing outliers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Bogdan, Paul Christian</dc:creator>
  <cp:lastModifiedBy>Bogdan, Paul Christian</cp:lastModifiedBy>
  <cp:revision>107</cp:revision>
  <dcterms:created xsi:type="dcterms:W3CDTF">2023-09-14T13:36:35Z</dcterms:created>
  <dcterms:modified xsi:type="dcterms:W3CDTF">2023-10-17T23:41:56Z</dcterms:modified>
</cp:coreProperties>
</file>