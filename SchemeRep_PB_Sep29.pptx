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4" r:id="rId3"/>
    <p:sldId id="312" r:id="rId4"/>
    <p:sldId id="313" r:id="rId5"/>
    <p:sldId id="302" r:id="rId6"/>
    <p:sldId id="263" r:id="rId7"/>
    <p:sldId id="304" r:id="rId8"/>
    <p:sldId id="280" r:id="rId9"/>
    <p:sldId id="293" r:id="rId10"/>
    <p:sldId id="306" r:id="rId11"/>
    <p:sldId id="292" r:id="rId12"/>
    <p:sldId id="310" r:id="rId13"/>
    <p:sldId id="309" r:id="rId14"/>
    <p:sldId id="291" r:id="rId15"/>
    <p:sldId id="303" r:id="rId16"/>
    <p:sldId id="297" r:id="rId17"/>
    <p:sldId id="279" r:id="rId18"/>
    <p:sldId id="307" r:id="rId19"/>
    <p:sldId id="290" r:id="rId20"/>
    <p:sldId id="284" r:id="rId21"/>
    <p:sldId id="278" r:id="rId22"/>
    <p:sldId id="298" r:id="rId23"/>
    <p:sldId id="308" r:id="rId24"/>
    <p:sldId id="314" r:id="rId25"/>
    <p:sldId id="311" r:id="rId26"/>
    <p:sldId id="319" r:id="rId27"/>
    <p:sldId id="318" r:id="rId28"/>
    <p:sldId id="317" r:id="rId29"/>
    <p:sldId id="316" r:id="rId30"/>
    <p:sldId id="31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4710"/>
    <a:srgbClr val="00FFCC"/>
    <a:srgbClr val="D2E935"/>
    <a:srgbClr val="452A4F"/>
    <a:srgbClr val="FE962B"/>
    <a:srgbClr val="33CC33"/>
    <a:srgbClr val="FDA631"/>
    <a:srgbClr val="A6A6A6"/>
    <a:srgbClr val="D83706"/>
    <a:srgbClr val="3E9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72" autoAdjust="0"/>
    <p:restoredTop sz="83292" autoAdjust="0"/>
  </p:normalViewPr>
  <p:slideViewPr>
    <p:cSldViewPr snapToGrid="0">
      <p:cViewPr varScale="1">
        <p:scale>
          <a:sx n="46" d="100"/>
          <a:sy n="46" d="100"/>
        </p:scale>
        <p:origin x="13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8493-CA63-4D0A-8042-ED8AF27DCFF3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3E675-13CA-4196-84E5-E684757DD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2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Prediction error is not just an “outcome” of processing information but rather is a computational mechanism that influences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 of perceptional prediction error: car honking feels louder in a classroom than on a busy street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Meta analysis: 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Corlett, P. R.,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Mollick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J. A., &amp;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Kober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H. (2022). Meta-analysis of human prediction error for incentives, perception, cognition, and action.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Neuropsychopharmacology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1339-1349.</a:t>
            </a:r>
          </a:p>
          <a:p>
            <a:endParaRPr lang="en-US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Perception results: Iglesias, S.,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Mathys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Brodersen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 H., Kasper, L.,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Piccirelli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den Ouden, H. E., &amp; Stephan, K. E. (2013). Hierarchical prediction errors in midbrain and basal forebrain during sensory learning.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Neuron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80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519-530.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dlPFC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result (IFG and MFG)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32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learned about how to run Word2Vec + DNNs because </a:t>
            </a:r>
            <a:r>
              <a:rPr lang="en-US" dirty="0" err="1"/>
              <a:t>Lifu</a:t>
            </a:r>
            <a:r>
              <a:rPr lang="en-US" dirty="0"/>
              <a:t> didn’t yet try applying these to the scene images</a:t>
            </a:r>
          </a:p>
          <a:p>
            <a:pPr lvl="1"/>
            <a:r>
              <a:rPr lang="en-US" dirty="0"/>
              <a:t>However, I didn’t do the word2vec properly, so I don’t provide results on that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49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Notably organized into:</a:t>
            </a:r>
          </a:p>
          <a:p>
            <a:pPr lvl="1"/>
            <a:r>
              <a:rPr lang="en-US" dirty="0"/>
              <a:t>EVC</a:t>
            </a:r>
          </a:p>
          <a:p>
            <a:pPr lvl="1"/>
            <a:r>
              <a:rPr lang="en-US" dirty="0"/>
              <a:t>LOC</a:t>
            </a:r>
          </a:p>
          <a:p>
            <a:pPr lvl="1"/>
            <a:r>
              <a:rPr lang="en-US" dirty="0" err="1"/>
              <a:t>FuG</a:t>
            </a:r>
            <a:endParaRPr lang="en-US" dirty="0"/>
          </a:p>
          <a:p>
            <a:pPr lvl="1"/>
            <a:r>
              <a:rPr lang="en-US" dirty="0"/>
              <a:t>ATL</a:t>
            </a:r>
          </a:p>
          <a:p>
            <a:pPr lvl="1"/>
            <a:r>
              <a:rPr lang="en-US" dirty="0"/>
              <a:t>Hippocampus</a:t>
            </a:r>
          </a:p>
          <a:p>
            <a:pPr lvl="1"/>
            <a:r>
              <a:rPr lang="en-US" dirty="0"/>
              <a:t>IFG</a:t>
            </a:r>
          </a:p>
          <a:p>
            <a:pPr lvl="1"/>
            <a:r>
              <a:rPr lang="en-US" dirty="0"/>
              <a:t>MFG</a:t>
            </a:r>
          </a:p>
          <a:p>
            <a:pPr lvl="1"/>
            <a:r>
              <a:rPr lang="en-US" dirty="0"/>
              <a:t>SFG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93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5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0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34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hoc tests on bilateral SFG, for the eight </a:t>
            </a:r>
            <a:r>
              <a:rPr lang="en-US" dirty="0" err="1"/>
              <a:t>dmPFC</a:t>
            </a:r>
            <a:r>
              <a:rPr lang="en-US" dirty="0"/>
              <a:t> ROIs, t = 4.14. For the six </a:t>
            </a:r>
            <a:r>
              <a:rPr lang="en-US" dirty="0" err="1"/>
              <a:t>dlPFC</a:t>
            </a:r>
            <a:r>
              <a:rPr lang="en-US" dirty="0"/>
              <a:t> ROIs, t = 2.94. SFG bilateral altogether is 4.17.</a:t>
            </a:r>
          </a:p>
          <a:p>
            <a:r>
              <a:rPr lang="en-US" dirty="0" err="1"/>
              <a:t>mPFC</a:t>
            </a:r>
            <a:r>
              <a:rPr lang="en-US" dirty="0"/>
              <a:t> overall (including some orbital and CG, yields 3.85. Excluding CG, we get 3.6.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63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14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amygdala also shows an interesting pattern</a:t>
            </a:r>
          </a:p>
          <a:p>
            <a:pPr lvl="1"/>
            <a:r>
              <a:rPr lang="en-US" dirty="0"/>
              <a:t>Stronger representation in the </a:t>
            </a:r>
            <a:r>
              <a:rPr lang="en-US" dirty="0" err="1"/>
              <a:t>amgydala</a:t>
            </a:r>
            <a:r>
              <a:rPr lang="en-US" dirty="0"/>
              <a:t> is linked to decreased connectivity with everything else</a:t>
            </a:r>
          </a:p>
          <a:p>
            <a:pPr lvl="1"/>
            <a:r>
              <a:rPr lang="en-US" dirty="0"/>
              <a:t>Beyond the present focus?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7185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Downside: Doesn’t pan out for word2vec analysis. </a:t>
            </a:r>
            <a:r>
              <a:rPr lang="en-US" dirty="0" err="1"/>
              <a:t>lPFC</a:t>
            </a:r>
            <a:r>
              <a:rPr lang="en-US" dirty="0"/>
              <a:t> doesn’t pan out for connectivity. Also, doesn’t work if only looking at a single congruent/incongruent/neutral condition</a:t>
            </a:r>
          </a:p>
          <a:p>
            <a:r>
              <a:rPr lang="en-US" dirty="0"/>
              <a:t>HC result a bit less robust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63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possible to explain in terms of </a:t>
            </a:r>
            <a:r>
              <a:rPr lang="en-US" u="sng" dirty="0"/>
              <a:t>priming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Scene primes neural populations, which influences those populations’ responses to the object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86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E3E675-13CA-4196-84E5-E684757DD2A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7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D00B-6584-4BEB-BB07-D320C4244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93775-97DA-4F0C-8091-7243A71F5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E7B29-494F-46C3-98E5-9F2CFE6B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29F06-03E1-4DE2-98E0-74887BAC9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E5F46-6594-4C1E-B5CA-1F1D6F20F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70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8E2B-D6F1-4EA2-8F10-7D5D17974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D061B-03B3-4665-AA43-89C80159D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v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8A43-9AA0-4950-B1EC-6BFB6F75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BB70E-48FE-49D7-B925-546DA100F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C68AE-EABA-4A35-AFE9-C39F595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5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9B53F-ED2E-4673-A940-F01A32CB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796FD-D16C-4F81-BDA1-928AE471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B1EED-EFC9-4E32-A27E-A04910ABA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0C3AC-D4C3-43A1-B81B-0FE71EF26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631A4-C8E4-40B1-8060-9CD773F03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247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74271-11DA-4E97-B187-22F01CD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D5DB8-CF97-4315-BD7D-836111B754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D2452B-E913-4410-8B5A-FEA37D312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60FC7-4A31-4ECB-B9E2-E3F479496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10980-53A5-4B2D-8BF1-430BA182B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7DF36-9C11-43B0-AFBB-13D8E0BB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01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1C380-5819-47C0-B6DB-1BCA49A31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81FCE-3703-4337-967E-C2A5382DE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31D9-4835-412C-88CC-3CD3C6FA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8CEF9-828A-4745-997E-A7DBBAD10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D2CBA7-3ACA-46DD-B733-BAC85603BC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5F5A09-EDB5-46E6-893D-EFB70025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002CA3-1581-43C3-98FC-59A33E3D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09075-C4B1-42AC-8C75-4FB488376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73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B10F9-1F70-4CC0-A1BC-D1C42C2B7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B85726-DBEF-4CA3-839B-352075533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A00EA-3C23-4588-BF03-F22ABBE8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F3800-C9A5-4235-B574-19A01268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8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BCECA6-D996-452B-AD6A-269CA184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0A0586-0096-41A3-A9AF-EE9CB38C9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77BFA-2216-49F0-AF38-B46C9D82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85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C996-C8A9-4FB0-A317-2E7E9081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27B42-DBC2-47A8-A40D-BAE97758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521C7B-35CB-4880-A0AC-805BFB5B9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D47D0-2081-45E3-9C7E-BF43B96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C9F89-7930-49B0-A81E-736C95A73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24FF2-1361-4D73-A914-D03027804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7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6A0EA-C4AE-4F36-8754-7F92C6FD4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581EA3-D358-4C88-8CEE-AF58C0349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D2496-CC08-4831-A9A9-D5744A808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AED85-6938-40CE-A6E8-A23E81056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890F1-7ABC-438C-86BC-16AABE5A3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9E24A-6694-40DE-A232-40F924DE7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01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ED043-E298-4666-8D40-3D14B1C9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E29ED-D0CE-46BF-BF1D-C444FE7CC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FE7BF-BCB2-4C76-9FCF-0BC648695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D8F2D-07AF-4D6E-8EE6-F00A819F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59C9D-03F5-4136-A115-2B5FC467A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78F8E-91D5-4268-9E68-89B29C78C7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A7A88-61E4-488E-96E2-DC43AFC7C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A047E-85C8-4E09-8CD6-618AA4BB7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B3190-D85C-4508-A9FB-2F4F4CA9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17CC3-2A4A-4F7B-970D-92630A69D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6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8FB9C-8843-415F-A091-7ADDE32A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04287-E011-453F-99FD-D95C1BD66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8B418-76C4-4EDB-91EF-C8E4A73B4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B2E29-6454-4170-AF87-B006FFB35D00}" type="datetimeFigureOut">
              <a:rPr lang="en-US" smtClean="0"/>
              <a:t>9/26/2023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74509-FFF9-4164-B6C3-46DDB68E46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2CDD-6359-4BCA-92D7-C7A8CB3D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BFAFE-0FA7-4047-BC8F-BE5A17279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v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Paul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305790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A4B5-A432-541F-65E4-23FD5294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5200"/>
            <a:ext cx="10515600" cy="97455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6084-ED24-0F80-EB4D-A00B47A1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922"/>
            <a:ext cx="10689000" cy="5391278"/>
          </a:xfrm>
        </p:spPr>
        <p:txBody>
          <a:bodyPr>
            <a:normAutofit/>
          </a:bodyPr>
          <a:lstStyle/>
          <a:p>
            <a:r>
              <a:rPr lang="en-US" dirty="0"/>
              <a:t>Predictive coding theory argues that all information is processed in terms of prediction errors</a:t>
            </a:r>
          </a:p>
          <a:p>
            <a:pPr lvl="1"/>
            <a:r>
              <a:rPr lang="en-US" dirty="0"/>
              <a:t>Prediction error is a computational mechanism used across the brain</a:t>
            </a:r>
          </a:p>
          <a:p>
            <a:pPr lvl="2"/>
            <a:r>
              <a:rPr lang="en-US" dirty="0"/>
              <a:t>Goes well beyond early theories that </a:t>
            </a:r>
            <a:r>
              <a:rPr lang="en-US" i="1" dirty="0"/>
              <a:t>reward prediction error </a:t>
            </a:r>
            <a:r>
              <a:rPr lang="en-US" dirty="0"/>
              <a:t>underlies behavioral learning and ventral striatum processing</a:t>
            </a:r>
          </a:p>
          <a:p>
            <a:pPr lvl="1"/>
            <a:r>
              <a:rPr lang="en-US" i="1" dirty="0"/>
              <a:t>Perceptual prediction error</a:t>
            </a:r>
          </a:p>
          <a:p>
            <a:pPr lvl="2"/>
            <a:r>
              <a:rPr lang="en-US" dirty="0"/>
              <a:t>Perception depends on the perceived likelihood of encountering a stimulus</a:t>
            </a:r>
          </a:p>
          <a:p>
            <a:pPr lvl="1"/>
            <a:r>
              <a:rPr lang="en-US" i="1" dirty="0"/>
              <a:t>Cognitive prediction error</a:t>
            </a:r>
          </a:p>
          <a:p>
            <a:pPr lvl="2"/>
            <a:r>
              <a:rPr lang="en-US" dirty="0"/>
              <a:t>Information is processed in terms of prior beliefs and updating</a:t>
            </a:r>
          </a:p>
          <a:p>
            <a:r>
              <a:rPr lang="en-US" dirty="0"/>
              <a:t>Predictive coding has been studied with univariate analyses</a:t>
            </a:r>
          </a:p>
          <a:p>
            <a:pPr lvl="1"/>
            <a:r>
              <a:rPr lang="en-US" dirty="0"/>
              <a:t>Perceptual prediction error correlated with activity in both cortical and subcortical regions</a:t>
            </a:r>
          </a:p>
        </p:txBody>
      </p:sp>
    </p:spTree>
    <p:extLst>
      <p:ext uri="{BB962C8B-B14F-4D97-AF65-F5344CB8AC3E}">
        <p14:creationId xmlns:p14="http://schemas.microsoft.com/office/powerpoint/2010/main" val="239747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2C74-7939-7509-0F4F-EB79CECC2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525"/>
            <a:ext cx="10515600" cy="1325563"/>
          </a:xfrm>
        </p:spPr>
        <p:txBody>
          <a:bodyPr/>
          <a:lstStyle/>
          <a:p>
            <a:r>
              <a:rPr lang="en-US" dirty="0"/>
              <a:t>Primary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C41D-33FB-7658-8B99-25CE7E0DA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1889"/>
            <a:ext cx="10515600" cy="4960586"/>
          </a:xfrm>
        </p:spPr>
        <p:txBody>
          <a:bodyPr>
            <a:normAutofit/>
          </a:bodyPr>
          <a:lstStyle/>
          <a:p>
            <a:r>
              <a:rPr lang="en-US" dirty="0"/>
              <a:t>Are stimuli </a:t>
            </a:r>
            <a:r>
              <a:rPr lang="en-US" i="1" dirty="0"/>
              <a:t>represented </a:t>
            </a:r>
            <a:r>
              <a:rPr lang="en-US" dirty="0"/>
              <a:t>as prediction errors?</a:t>
            </a:r>
          </a:p>
          <a:p>
            <a:pPr lvl="1"/>
            <a:r>
              <a:rPr lang="en-US" dirty="0"/>
              <a:t>No study has genuinely investigated this question </a:t>
            </a:r>
          </a:p>
          <a:p>
            <a:pPr lvl="2"/>
            <a:r>
              <a:rPr lang="en-US" dirty="0"/>
              <a:t>“Genuinely” = beyond univariate tests</a:t>
            </a:r>
          </a:p>
          <a:p>
            <a:pPr lvl="1"/>
            <a:r>
              <a:rPr lang="en-US" dirty="0"/>
              <a:t>Yet, this idea is a central element of predictive coding theory</a:t>
            </a:r>
          </a:p>
          <a:p>
            <a:pPr lvl="1"/>
            <a:r>
              <a:rPr lang="en-US" dirty="0"/>
              <a:t>This question gets at a critical point of contention</a:t>
            </a:r>
          </a:p>
          <a:p>
            <a:pPr lvl="2"/>
            <a:r>
              <a:rPr lang="en-US" dirty="0"/>
              <a:t>Opponents of the theory accept that prediction error plays some role in the brain (e.g., in the striatum) but push back against these bolder higher-order claims</a:t>
            </a:r>
          </a:p>
          <a:p>
            <a:r>
              <a:rPr lang="en-US" dirty="0"/>
              <a:t>Multivariate analyses of representations are strong tests of predictive coding theory</a:t>
            </a:r>
          </a:p>
          <a:p>
            <a:pPr lvl="1"/>
            <a:r>
              <a:rPr lang="en-US" dirty="0"/>
              <a:t>Other neural theories, supported by univariate results, broke down when tested via multivariate methods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216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60B6-D308-6B57-292E-427E3DA4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Present Study and Hypotheses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83511-B5DF-1D7E-BAA1-FED76B024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600" y="1208288"/>
            <a:ext cx="10941000" cy="532931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Identify areas that make </a:t>
            </a:r>
            <a:r>
              <a:rPr lang="en-US" i="1" dirty="0"/>
              <a:t>predictions</a:t>
            </a:r>
          </a:p>
          <a:p>
            <a:pPr lvl="1"/>
            <a:r>
              <a:rPr lang="en-US" dirty="0"/>
              <a:t>Based on schema (scene) presentation, which regions represent the schema?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Among the regions representing the scene, does any area represent the object as a </a:t>
            </a:r>
            <a:r>
              <a:rPr lang="en-US" i="1" dirty="0"/>
              <a:t>prediction error </a:t>
            </a:r>
            <a:r>
              <a:rPr lang="en-US" dirty="0"/>
              <a:t>relative to the scene?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Is prediction error used as a computational mechanism?</a:t>
            </a:r>
          </a:p>
          <a:p>
            <a:pPr lvl="1"/>
            <a:r>
              <a:rPr lang="en-US" dirty="0"/>
              <a:t>Specifically, is object information encoded as a prediction error?</a:t>
            </a:r>
          </a:p>
          <a:p>
            <a:pPr lvl="2"/>
            <a:r>
              <a:rPr lang="en-US" dirty="0"/>
              <a:t>Does stronger prediction-error representation predict subsequent memory?</a:t>
            </a:r>
          </a:p>
          <a:p>
            <a:pPr lvl="2"/>
            <a:r>
              <a:rPr lang="en-US" dirty="0"/>
              <a:t>Are there signatures of prediction error during retrieval, even when the original scheme is no longer shown?</a:t>
            </a:r>
          </a:p>
        </p:txBody>
      </p:sp>
    </p:spTree>
    <p:extLst>
      <p:ext uri="{BB962C8B-B14F-4D97-AF65-F5344CB8AC3E}">
        <p14:creationId xmlns:p14="http://schemas.microsoft.com/office/powerpoint/2010/main" val="427520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1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02D1-35A2-0961-5D36-E0E9AA71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19"/>
            <a:ext cx="10515600" cy="1325563"/>
          </a:xfrm>
        </p:spPr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9C058-A51C-1556-7D96-EBE2AAA36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267" y="1766262"/>
            <a:ext cx="4991100" cy="2564718"/>
          </a:xfrm>
        </p:spPr>
        <p:txBody>
          <a:bodyPr>
            <a:normAutofit/>
          </a:bodyPr>
          <a:lstStyle/>
          <a:p>
            <a:r>
              <a:rPr lang="en-US" dirty="0"/>
              <a:t>I looked at the encoding data for </a:t>
            </a:r>
            <a:r>
              <a:rPr lang="en-US" dirty="0" err="1"/>
              <a:t>SchemeRep</a:t>
            </a:r>
            <a:endParaRPr lang="en-US" dirty="0"/>
          </a:p>
          <a:p>
            <a:pPr lvl="1"/>
            <a:r>
              <a:rPr lang="en-US" dirty="0"/>
              <a:t>Object presentation screen</a:t>
            </a:r>
          </a:p>
          <a:p>
            <a:pPr lvl="1"/>
            <a:r>
              <a:rPr lang="en-US" dirty="0"/>
              <a:t>Scene presentation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2B615-26EA-1DBA-FEFA-63AADAC28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7780"/>
            <a:ext cx="5929487" cy="38342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D0B90D-9868-3B52-205D-0F4752E87869}"/>
              </a:ext>
            </a:extLst>
          </p:cNvPr>
          <p:cNvSpPr txBox="1"/>
          <p:nvPr/>
        </p:nvSpPr>
        <p:spPr>
          <a:xfrm>
            <a:off x="80720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23DE0-4791-3361-89F0-78F8E84800FD}"/>
              </a:ext>
            </a:extLst>
          </p:cNvPr>
          <p:cNvSpPr txBox="1"/>
          <p:nvPr/>
        </p:nvSpPr>
        <p:spPr>
          <a:xfrm>
            <a:off x="8674640" y="5601737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 s 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jitter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B9B45-5711-97E7-7B90-45543FA7075F}"/>
              </a:ext>
            </a:extLst>
          </p:cNvPr>
          <p:cNvSpPr txBox="1"/>
          <p:nvPr/>
        </p:nvSpPr>
        <p:spPr>
          <a:xfrm>
            <a:off x="9405510" y="560173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 s</a:t>
            </a:r>
          </a:p>
        </p:txBody>
      </p:sp>
    </p:spTree>
    <p:extLst>
      <p:ext uri="{BB962C8B-B14F-4D97-AF65-F5344CB8AC3E}">
        <p14:creationId xmlns:p14="http://schemas.microsoft.com/office/powerpoint/2010/main" val="9305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3-session fMRI study (</a:t>
            </a:r>
            <a:r>
              <a:rPr lang="en-US" altLang="zh-CN" dirty="0" err="1"/>
              <a:t>SchemRep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90737"/>
            <a:ext cx="4985773" cy="47672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b="1" dirty="0"/>
              <a:t>Baseline</a:t>
            </a:r>
            <a:r>
              <a:rPr lang="en-US" altLang="zh-CN" dirty="0"/>
              <a:t>: rated image-label typicality for objects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Encoding</a:t>
            </a:r>
            <a:r>
              <a:rPr lang="en-US" dirty="0"/>
              <a:t>: 3 pre-defined conditions for scene-object schema congruency, subjective ratings 1-4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Retrieval</a:t>
            </a:r>
            <a:r>
              <a:rPr lang="en-US" dirty="0"/>
              <a:t>: conceptual old/new followed by visual old/similar/new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383D4-A18D-BBFA-1BDA-099C2F8C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0481F-DE52-414A-8886-8B7F01508184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9CECC-3013-1697-DB76-D42854B9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0108" y="2371725"/>
            <a:ext cx="6371892" cy="361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3288F-3618-88F3-339F-3554A9A6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449" y="497367"/>
            <a:ext cx="5054600" cy="1325563"/>
          </a:xfrm>
        </p:spPr>
        <p:txBody>
          <a:bodyPr/>
          <a:lstStyle/>
          <a:p>
            <a:r>
              <a:rPr lang="en-US" dirty="0" err="1"/>
              <a:t>Brainnetome</a:t>
            </a:r>
            <a:r>
              <a:rPr lang="en-US" dirty="0"/>
              <a:t> atlas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8E55C-1B9D-9B47-EDE2-4C945C7A4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549" y="2035702"/>
            <a:ext cx="4216400" cy="2416811"/>
          </a:xfrm>
        </p:spPr>
        <p:txBody>
          <a:bodyPr>
            <a:normAutofit/>
          </a:bodyPr>
          <a:lstStyle/>
          <a:p>
            <a:r>
              <a:rPr lang="en-US" dirty="0"/>
              <a:t>Used by </a:t>
            </a:r>
            <a:r>
              <a:rPr lang="en-US" dirty="0" err="1"/>
              <a:t>Lifu</a:t>
            </a:r>
            <a:r>
              <a:rPr lang="en-US" dirty="0"/>
              <a:t> and Shenyang</a:t>
            </a:r>
          </a:p>
          <a:p>
            <a:r>
              <a:rPr lang="en-US" dirty="0"/>
              <a:t>246 ROIs</a:t>
            </a:r>
          </a:p>
          <a:p>
            <a:pPr lvl="1"/>
            <a:r>
              <a:rPr lang="en-US" dirty="0"/>
              <a:t>Cortical and subcortical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1BC8-BAB9-F6A9-85AB-86C38A9B4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54320"/>
            <a:ext cx="5892798" cy="5942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86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FEB2B-4B13-E382-7A99-CCD991A16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482250"/>
            <a:ext cx="10515600" cy="939800"/>
          </a:xfrm>
        </p:spPr>
        <p:txBody>
          <a:bodyPr/>
          <a:lstStyle/>
          <a:p>
            <a:r>
              <a:rPr lang="en-US" dirty="0"/>
              <a:t>Analysis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2CEFE-C7F3-5D61-EDFD-7FC4A2DF7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743449"/>
            <a:ext cx="7536754" cy="3168825"/>
          </a:xfrm>
        </p:spPr>
        <p:txBody>
          <a:bodyPr>
            <a:normAutofit/>
          </a:bodyPr>
          <a:lstStyle/>
          <a:p>
            <a:r>
              <a:rPr lang="en-US" dirty="0"/>
              <a:t>Perform RSA</a:t>
            </a:r>
          </a:p>
          <a:p>
            <a:pPr lvl="1"/>
            <a:r>
              <a:rPr lang="en-US" dirty="0"/>
              <a:t>fMRI RDM based on:</a:t>
            </a:r>
          </a:p>
          <a:p>
            <a:pPr lvl="2"/>
            <a:r>
              <a:rPr lang="en-US" dirty="0"/>
              <a:t>Scene-presentation screen single-trial betas</a:t>
            </a:r>
          </a:p>
          <a:p>
            <a:pPr lvl="2"/>
            <a:r>
              <a:rPr lang="en-US" dirty="0"/>
              <a:t>Object-presentation screen single-trial betas</a:t>
            </a:r>
          </a:p>
          <a:p>
            <a:pPr lvl="1"/>
            <a:r>
              <a:rPr lang="en-US" dirty="0"/>
              <a:t>Stimulus RDM based on:</a:t>
            </a:r>
          </a:p>
          <a:p>
            <a:pPr lvl="2"/>
            <a:r>
              <a:rPr lang="en-US" dirty="0"/>
              <a:t>Object stimulus vector</a:t>
            </a:r>
          </a:p>
          <a:p>
            <a:pPr lvl="2"/>
            <a:r>
              <a:rPr lang="en-US" dirty="0"/>
              <a:t>Scene stimulus vector</a:t>
            </a:r>
          </a:p>
          <a:p>
            <a:pPr lvl="2"/>
            <a:r>
              <a:rPr lang="en-US" dirty="0"/>
              <a:t>Object-scene difference stimulus vector</a:t>
            </a:r>
          </a:p>
        </p:txBody>
      </p:sp>
    </p:spTree>
    <p:extLst>
      <p:ext uri="{BB962C8B-B14F-4D97-AF65-F5344CB8AC3E}">
        <p14:creationId xmlns:p14="http://schemas.microsoft.com/office/powerpoint/2010/main" val="15964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4990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673309"/>
          </a:xfrm>
        </p:spPr>
        <p:txBody>
          <a:bodyPr>
            <a:normAutofit fontScale="90000"/>
          </a:bodyPr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1787" y="969487"/>
            <a:ext cx="5489285" cy="5472839"/>
          </a:xfrm>
        </p:spPr>
        <p:txBody>
          <a:bodyPr>
            <a:normAutofit/>
          </a:bodyPr>
          <a:lstStyle/>
          <a:p>
            <a:r>
              <a:rPr lang="en-US" dirty="0"/>
              <a:t>Presentation of the scheme serves to inform the </a:t>
            </a:r>
            <a:r>
              <a:rPr lang="en-US" i="1" dirty="0"/>
              <a:t>prediction</a:t>
            </a:r>
          </a:p>
          <a:p>
            <a:pPr lvl="1"/>
            <a:r>
              <a:rPr lang="en-US" dirty="0"/>
              <a:t>RSA: scene vector x scene presentation fMRI</a:t>
            </a:r>
          </a:p>
          <a:p>
            <a:r>
              <a:rPr lang="en-US" dirty="0"/>
              <a:t>Presentation of the object may elicit a </a:t>
            </a:r>
            <a:r>
              <a:rPr lang="en-US" i="1" dirty="0"/>
              <a:t>prediction error</a:t>
            </a:r>
            <a:endParaRPr lang="en-US" dirty="0"/>
          </a:p>
          <a:p>
            <a:pPr lvl="1"/>
            <a:r>
              <a:rPr lang="en-US" dirty="0"/>
              <a:t>RSA with the absolute-difference vector x object presentation fMRI</a:t>
            </a:r>
          </a:p>
          <a:p>
            <a:pPr lvl="1"/>
            <a:r>
              <a:rPr lang="en-US" dirty="0"/>
              <a:t>Confound risk:</a:t>
            </a:r>
          </a:p>
          <a:p>
            <a:pPr lvl="2"/>
            <a:r>
              <a:rPr lang="en-US" dirty="0"/>
              <a:t>Driven by solely the object</a:t>
            </a:r>
          </a:p>
          <a:p>
            <a:pPr lvl="2"/>
            <a:r>
              <a:rPr lang="en-US" dirty="0"/>
              <a:t>Driven by solely the scene</a:t>
            </a:r>
          </a:p>
          <a:p>
            <a:pPr lvl="1"/>
            <a:r>
              <a:rPr lang="en-US" dirty="0"/>
              <a:t>Hence:</a:t>
            </a:r>
          </a:p>
          <a:p>
            <a:pPr lvl="2"/>
            <a:r>
              <a:rPr lang="en-US" dirty="0"/>
              <a:t>Regress out object RSA z-score and scene RSA z-score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7687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5207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2748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2748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2749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2737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2741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2757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30274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30274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30275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30263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30267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30283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7610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7610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7611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7599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7602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7618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20689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7675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5232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4704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4990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8756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8820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8821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8809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8813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10886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10854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10887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10875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10878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2968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2968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2969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2957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2961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5034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5034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5035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5023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5027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7065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7065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7066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7054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7081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3778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3778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3778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3778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3778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9268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1358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3449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5539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7741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8820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6250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6313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6314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6302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6306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8379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8347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8380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8368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8372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30462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30462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30463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30451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30454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2527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2527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2529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2517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2520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4587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4587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4588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4576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4604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1272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1272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1272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1272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1272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6761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8851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30942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3032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5122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6313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3744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3807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3809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3797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3800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5873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5842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5874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5862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5866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7956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7956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7957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7945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7949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50022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50022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50023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50011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50015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2082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2082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2083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2071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2098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8766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8766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8766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8766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8766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4255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6346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8436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50526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2617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3807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3681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1314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8659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8067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5748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2464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373490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1028">
            <a:extLst>
              <a:ext uri="{FF2B5EF4-FFF2-40B4-BE49-F238E27FC236}">
                <a16:creationId xmlns:a16="http://schemas.microsoft.com/office/drawing/2014/main" id="{71DA3CBB-0E70-024A-EBC2-5261289C45C8}"/>
              </a:ext>
            </a:extLst>
          </p:cNvPr>
          <p:cNvSpPr/>
          <p:nvPr/>
        </p:nvSpPr>
        <p:spPr>
          <a:xfrm>
            <a:off x="384726" y="1280761"/>
            <a:ext cx="5237310" cy="300037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F9D74C-FB51-E387-833E-0D917F8C7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64"/>
            <a:ext cx="10515600" cy="876313"/>
          </a:xfrm>
        </p:spPr>
        <p:txBody>
          <a:bodyPr/>
          <a:lstStyle/>
          <a:p>
            <a:r>
              <a:rPr lang="en-US" dirty="0"/>
              <a:t>Stimulus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A1933-6C2A-C270-C1C2-01C180E27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7906" y="986895"/>
            <a:ext cx="6356986" cy="580611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Psychological meaning of the difference vector:</a:t>
            </a:r>
          </a:p>
          <a:p>
            <a:pPr lvl="1"/>
            <a:r>
              <a:rPr lang="en-US" dirty="0"/>
              <a:t>Priming: </a:t>
            </a:r>
          </a:p>
          <a:p>
            <a:pPr lvl="2"/>
            <a:r>
              <a:rPr lang="en-US" dirty="0"/>
              <a:t>Scenes prime some representations, which will show weaker/stronger responses if activated again by the object</a:t>
            </a:r>
          </a:p>
          <a:p>
            <a:pPr lvl="2"/>
            <a:r>
              <a:rPr lang="en-US" dirty="0"/>
              <a:t>Link to repetition suppression</a:t>
            </a:r>
          </a:p>
          <a:p>
            <a:pPr lvl="1"/>
            <a:r>
              <a:rPr lang="en-US" dirty="0"/>
              <a:t>Prediction error: </a:t>
            </a:r>
          </a:p>
          <a:p>
            <a:pPr lvl="2"/>
            <a:r>
              <a:rPr lang="en-US" dirty="0"/>
              <a:t>Scenes establish a “prediction” that may be violated</a:t>
            </a:r>
          </a:p>
          <a:p>
            <a:pPr lvl="2"/>
            <a:r>
              <a:rPr lang="en-US" dirty="0"/>
              <a:t>Predictive coding theory argues that all information is processed as prediction errors</a:t>
            </a:r>
          </a:p>
          <a:p>
            <a:pPr lvl="2"/>
            <a:r>
              <a:rPr lang="en-US" dirty="0"/>
              <a:t>Hard to distinguish from priming view</a:t>
            </a:r>
          </a:p>
          <a:p>
            <a:pPr lvl="1"/>
            <a:r>
              <a:rPr lang="en-US" dirty="0"/>
              <a:t>Relational memory:</a:t>
            </a:r>
          </a:p>
          <a:p>
            <a:pPr lvl="2"/>
            <a:r>
              <a:rPr lang="en-US" dirty="0"/>
              <a:t>Broadly: The informational content of items influences how an association is encoded</a:t>
            </a:r>
          </a:p>
          <a:p>
            <a:pPr lvl="2"/>
            <a:r>
              <a:rPr lang="en-US" dirty="0"/>
              <a:t>Specifically: Associative memories do not just blindly connect item representations. Rather, associations should be seen as representations that encode the relationship between the items</a:t>
            </a:r>
          </a:p>
          <a:p>
            <a:r>
              <a:rPr lang="en-US" dirty="0"/>
              <a:t>Speculative:</a:t>
            </a:r>
          </a:p>
          <a:p>
            <a:pPr lvl="1"/>
            <a:r>
              <a:rPr lang="en-US" dirty="0"/>
              <a:t>Unclear meaning yet informative</a:t>
            </a:r>
          </a:p>
          <a:p>
            <a:pPr lvl="2"/>
            <a:r>
              <a:rPr lang="en-US" dirty="0"/>
              <a:t>There is no clear psychological meaning of a “difference vector”</a:t>
            </a:r>
          </a:p>
          <a:p>
            <a:pPr lvl="2"/>
            <a:r>
              <a:rPr lang="en-US" dirty="0"/>
              <a:t>Nonetheless, because this measure combines object and scene information, the findings must reflect some type of interaction between representations</a:t>
            </a:r>
          </a:p>
          <a:p>
            <a:pPr lvl="1"/>
            <a:r>
              <a:rPr lang="en-US" dirty="0"/>
              <a:t>Analogical reasoning</a:t>
            </a:r>
          </a:p>
          <a:p>
            <a:pPr lvl="2"/>
            <a:r>
              <a:rPr lang="en-US" dirty="0"/>
              <a:t>In the analysis, representational similarity entails parallels between trial 1’s scene-object relationship and trial 2’s scene-object relationship (i.e., an analogy)</a:t>
            </a:r>
          </a:p>
          <a:p>
            <a:pPr lvl="2"/>
            <a:r>
              <a:rPr lang="en-US" dirty="0"/>
              <a:t>Because the analysis is looking for analogies, this implies that this is related to how humans process analogies? </a:t>
            </a:r>
          </a:p>
          <a:p>
            <a:r>
              <a:rPr lang="en-US" dirty="0"/>
              <a:t>Possible competing hypotheses?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49168C-F2CD-A5A6-41BF-C317088DB0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687" t="54667" r="53475" b="14256"/>
          <a:stretch/>
        </p:blipFill>
        <p:spPr>
          <a:xfrm>
            <a:off x="654402" y="1444863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FCB511-91FB-CF26-1142-F039262BBEB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552" t="54668" r="29609" b="14254"/>
          <a:stretch/>
        </p:blipFill>
        <p:spPr>
          <a:xfrm>
            <a:off x="2406448" y="1444863"/>
            <a:ext cx="1176338" cy="11916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7C2078-DCA7-B9B3-C174-D7A5D94AA104}"/>
              </a:ext>
            </a:extLst>
          </p:cNvPr>
          <p:cNvSpPr/>
          <p:nvPr/>
        </p:nvSpPr>
        <p:spPr>
          <a:xfrm>
            <a:off x="1160565" y="2747159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1EFDD6-0BFF-9672-8882-CBBD22ED4191}"/>
              </a:ext>
            </a:extLst>
          </p:cNvPr>
          <p:cNvSpPr/>
          <p:nvPr/>
        </p:nvSpPr>
        <p:spPr>
          <a:xfrm>
            <a:off x="1160565" y="295282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1870F9-A353-2443-E7B7-5BA5B0C76095}"/>
              </a:ext>
            </a:extLst>
          </p:cNvPr>
          <p:cNvSpPr/>
          <p:nvPr/>
        </p:nvSpPr>
        <p:spPr>
          <a:xfrm>
            <a:off x="1160676" y="3158493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A0FF4F-E367-2D21-4C5D-8F0913820890}"/>
              </a:ext>
            </a:extLst>
          </p:cNvPr>
          <p:cNvSpPr/>
          <p:nvPr/>
        </p:nvSpPr>
        <p:spPr>
          <a:xfrm>
            <a:off x="1159476" y="336416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12E56-16E2-217E-858B-BB5B67C9A253}"/>
              </a:ext>
            </a:extLst>
          </p:cNvPr>
          <p:cNvSpPr/>
          <p:nvPr/>
        </p:nvSpPr>
        <p:spPr>
          <a:xfrm>
            <a:off x="115983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F959E1-73DA-C99B-710E-D0109BD36B4F}"/>
              </a:ext>
            </a:extLst>
          </p:cNvPr>
          <p:cNvSpPr/>
          <p:nvPr/>
        </p:nvSpPr>
        <p:spPr>
          <a:xfrm>
            <a:off x="1161415" y="3775494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FF82F9-B65A-84C0-6163-5AD1F8432D52}"/>
              </a:ext>
            </a:extLst>
          </p:cNvPr>
          <p:cNvSpPr/>
          <p:nvPr/>
        </p:nvSpPr>
        <p:spPr>
          <a:xfrm>
            <a:off x="2913165" y="2747159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EC8558-E951-512C-DF4A-B3680DE79094}"/>
              </a:ext>
            </a:extLst>
          </p:cNvPr>
          <p:cNvSpPr/>
          <p:nvPr/>
        </p:nvSpPr>
        <p:spPr>
          <a:xfrm>
            <a:off x="2913165" y="295282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CA5F9D-2D7C-7A55-06B5-FBFD1C921390}"/>
              </a:ext>
            </a:extLst>
          </p:cNvPr>
          <p:cNvSpPr/>
          <p:nvPr/>
        </p:nvSpPr>
        <p:spPr>
          <a:xfrm>
            <a:off x="2913276" y="3158493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CFB69B-D5CC-0859-38FE-A068FB9EE06A}"/>
              </a:ext>
            </a:extLst>
          </p:cNvPr>
          <p:cNvSpPr/>
          <p:nvPr/>
        </p:nvSpPr>
        <p:spPr>
          <a:xfrm>
            <a:off x="2912076" y="3364160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46FE7A-2A9D-BE6D-1F65-1710912C1E19}"/>
              </a:ext>
            </a:extLst>
          </p:cNvPr>
          <p:cNvSpPr/>
          <p:nvPr/>
        </p:nvSpPr>
        <p:spPr>
          <a:xfrm>
            <a:off x="2912437" y="3569827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A86753-EA15-6762-D8F3-E8336F7B7C89}"/>
              </a:ext>
            </a:extLst>
          </p:cNvPr>
          <p:cNvSpPr/>
          <p:nvPr/>
        </p:nvSpPr>
        <p:spPr>
          <a:xfrm>
            <a:off x="2914015" y="377549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8F4B69-202F-9AB7-26AE-DD6AC7A2445B}"/>
              </a:ext>
            </a:extLst>
          </p:cNvPr>
          <p:cNvSpPr/>
          <p:nvPr/>
        </p:nvSpPr>
        <p:spPr>
          <a:xfrm>
            <a:off x="4646715" y="2747159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E8ABE5-D1D6-BF19-2959-345CA92737ED}"/>
              </a:ext>
            </a:extLst>
          </p:cNvPr>
          <p:cNvSpPr/>
          <p:nvPr/>
        </p:nvSpPr>
        <p:spPr>
          <a:xfrm>
            <a:off x="4646715" y="2952826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FA26B4-90B3-F263-8479-1EF0FD39EE3E}"/>
              </a:ext>
            </a:extLst>
          </p:cNvPr>
          <p:cNvSpPr/>
          <p:nvPr/>
        </p:nvSpPr>
        <p:spPr>
          <a:xfrm>
            <a:off x="4646826" y="3158493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775ED-AADF-76DB-09B8-0013050F777F}"/>
              </a:ext>
            </a:extLst>
          </p:cNvPr>
          <p:cNvSpPr/>
          <p:nvPr/>
        </p:nvSpPr>
        <p:spPr>
          <a:xfrm>
            <a:off x="4645626" y="336416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064FDE-6490-0529-F195-4BF9BC45D56F}"/>
              </a:ext>
            </a:extLst>
          </p:cNvPr>
          <p:cNvSpPr/>
          <p:nvPr/>
        </p:nvSpPr>
        <p:spPr>
          <a:xfrm>
            <a:off x="4645987" y="3569827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042064-4BAA-CCBC-219A-EEC672B2DF58}"/>
              </a:ext>
            </a:extLst>
          </p:cNvPr>
          <p:cNvSpPr/>
          <p:nvPr/>
        </p:nvSpPr>
        <p:spPr>
          <a:xfrm>
            <a:off x="4647565" y="377549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D073D8-EA5C-C531-8DB7-B472EB104AC9}"/>
              </a:ext>
            </a:extLst>
          </p:cNvPr>
          <p:cNvSpPr txBox="1"/>
          <p:nvPr/>
        </p:nvSpPr>
        <p:spPr>
          <a:xfrm>
            <a:off x="1954695" y="3018201"/>
            <a:ext cx="338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BEE57B-A293-F3C6-750A-33A542D46620}"/>
              </a:ext>
            </a:extLst>
          </p:cNvPr>
          <p:cNvSpPr txBox="1"/>
          <p:nvPr/>
        </p:nvSpPr>
        <p:spPr>
          <a:xfrm>
            <a:off x="3653238" y="3059576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596581-EA83-24AF-0A07-D37D3129F7C8}"/>
              </a:ext>
            </a:extLst>
          </p:cNvPr>
          <p:cNvSpPr txBox="1"/>
          <p:nvPr/>
        </p:nvSpPr>
        <p:spPr>
          <a:xfrm>
            <a:off x="3408950" y="3628340"/>
            <a:ext cx="9668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absolute</a:t>
            </a:r>
          </a:p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difference</a:t>
            </a:r>
          </a:p>
        </p:txBody>
      </p:sp>
      <p:pic>
        <p:nvPicPr>
          <p:cNvPr id="1026" name="Picture 2" descr="Squiggly line doodle | Line doodles, Elements of art, Pattern drawing">
            <a:extLst>
              <a:ext uri="{FF2B5EF4-FFF2-40B4-BE49-F238E27FC236}">
                <a16:creationId xmlns:a16="http://schemas.microsoft.com/office/drawing/2014/main" id="{C057F522-E979-18AA-9CBC-2BD88DB51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356155" y="1489529"/>
            <a:ext cx="768350" cy="107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TextBox 1029">
            <a:extLst>
              <a:ext uri="{FF2B5EF4-FFF2-40B4-BE49-F238E27FC236}">
                <a16:creationId xmlns:a16="http://schemas.microsoft.com/office/drawing/2014/main" id="{4D0E3313-A857-EBF1-D8EC-E02A6EDF0F08}"/>
              </a:ext>
            </a:extLst>
          </p:cNvPr>
          <p:cNvSpPr txBox="1"/>
          <p:nvPr/>
        </p:nvSpPr>
        <p:spPr>
          <a:xfrm>
            <a:off x="384726" y="889564"/>
            <a:ext cx="522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Single trial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61F192B-343B-C4DC-5678-4ACC02F53778}"/>
              </a:ext>
            </a:extLst>
          </p:cNvPr>
          <p:cNvSpPr/>
          <p:nvPr/>
        </p:nvSpPr>
        <p:spPr>
          <a:xfrm>
            <a:off x="761386" y="532439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C8888FC6-35E9-75ED-8200-50A4897D7407}"/>
              </a:ext>
            </a:extLst>
          </p:cNvPr>
          <p:cNvSpPr/>
          <p:nvPr/>
        </p:nvSpPr>
        <p:spPr>
          <a:xfrm>
            <a:off x="767736" y="5530058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59159CA4-ED9B-CE03-0560-FE6BC93E538D}"/>
              </a:ext>
            </a:extLst>
          </p:cNvPr>
          <p:cNvSpPr/>
          <p:nvPr/>
        </p:nvSpPr>
        <p:spPr>
          <a:xfrm>
            <a:off x="767847" y="5735725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D8EB8E62-49A1-43D5-6180-DC8238187EF2}"/>
              </a:ext>
            </a:extLst>
          </p:cNvPr>
          <p:cNvSpPr/>
          <p:nvPr/>
        </p:nvSpPr>
        <p:spPr>
          <a:xfrm>
            <a:off x="766647" y="594139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321B294A-21D1-E7C6-88BC-275DCDABBB23}"/>
              </a:ext>
            </a:extLst>
          </p:cNvPr>
          <p:cNvSpPr/>
          <p:nvPr/>
        </p:nvSpPr>
        <p:spPr>
          <a:xfrm>
            <a:off x="767008" y="614705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7BC6558-DFCB-3345-0095-40E6AC05C306}"/>
              </a:ext>
            </a:extLst>
          </p:cNvPr>
          <p:cNvSpPr/>
          <p:nvPr/>
        </p:nvSpPr>
        <p:spPr>
          <a:xfrm>
            <a:off x="974324" y="5327019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061B90B-3B11-0C61-3ECA-29F9F821EF95}"/>
              </a:ext>
            </a:extLst>
          </p:cNvPr>
          <p:cNvSpPr/>
          <p:nvPr/>
        </p:nvSpPr>
        <p:spPr>
          <a:xfrm>
            <a:off x="971149" y="553268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F33B847-6F53-C54D-D496-3F65BC916CCF}"/>
              </a:ext>
            </a:extLst>
          </p:cNvPr>
          <p:cNvSpPr/>
          <p:nvPr/>
        </p:nvSpPr>
        <p:spPr>
          <a:xfrm>
            <a:off x="974435" y="573835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41D1C2DE-7816-F7CD-F41C-248F444BEACD}"/>
              </a:ext>
            </a:extLst>
          </p:cNvPr>
          <p:cNvSpPr/>
          <p:nvPr/>
        </p:nvSpPr>
        <p:spPr>
          <a:xfrm>
            <a:off x="973235" y="5944020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36B12E92-0F78-A864-2E89-6DAA636B61D0}"/>
              </a:ext>
            </a:extLst>
          </p:cNvPr>
          <p:cNvSpPr/>
          <p:nvPr/>
        </p:nvSpPr>
        <p:spPr>
          <a:xfrm>
            <a:off x="973596" y="6149687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7B6C71C-2374-C1EB-A801-EA0A8E23ABD2}"/>
              </a:ext>
            </a:extLst>
          </p:cNvPr>
          <p:cNvSpPr/>
          <p:nvPr/>
        </p:nvSpPr>
        <p:spPr>
          <a:xfrm>
            <a:off x="1182583" y="5330361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B957C6C8-D85C-99E4-BE8B-BBAB253720DB}"/>
              </a:ext>
            </a:extLst>
          </p:cNvPr>
          <p:cNvSpPr/>
          <p:nvPr/>
        </p:nvSpPr>
        <p:spPr>
          <a:xfrm>
            <a:off x="1182583" y="553602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7DE68A5D-DCD6-1DDC-805D-F988530D7D9A}"/>
              </a:ext>
            </a:extLst>
          </p:cNvPr>
          <p:cNvSpPr/>
          <p:nvPr/>
        </p:nvSpPr>
        <p:spPr>
          <a:xfrm>
            <a:off x="1182694" y="5741695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0D4C95B2-3824-56D8-9747-096D936398FE}"/>
              </a:ext>
            </a:extLst>
          </p:cNvPr>
          <p:cNvSpPr/>
          <p:nvPr/>
        </p:nvSpPr>
        <p:spPr>
          <a:xfrm>
            <a:off x="1181494" y="594736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0637B578-9D37-BF2F-81B9-BEE325B8088C}"/>
              </a:ext>
            </a:extLst>
          </p:cNvPr>
          <p:cNvSpPr/>
          <p:nvPr/>
        </p:nvSpPr>
        <p:spPr>
          <a:xfrm>
            <a:off x="1181855" y="6153029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10D886AB-A7A5-8904-928F-49F0B58D09B8}"/>
              </a:ext>
            </a:extLst>
          </p:cNvPr>
          <p:cNvSpPr/>
          <p:nvPr/>
        </p:nvSpPr>
        <p:spPr>
          <a:xfrm>
            <a:off x="1389171" y="5329021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774CA5B2-EB7A-161B-47DB-3C22D977C4E5}"/>
              </a:ext>
            </a:extLst>
          </p:cNvPr>
          <p:cNvSpPr/>
          <p:nvPr/>
        </p:nvSpPr>
        <p:spPr>
          <a:xfrm>
            <a:off x="1389171" y="553468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8BC4F8D2-E7E1-58EB-4819-98E800A921B9}"/>
              </a:ext>
            </a:extLst>
          </p:cNvPr>
          <p:cNvSpPr/>
          <p:nvPr/>
        </p:nvSpPr>
        <p:spPr>
          <a:xfrm>
            <a:off x="1389282" y="5740355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5832DC68-32B9-CC9F-4611-74137F5B732F}"/>
              </a:ext>
            </a:extLst>
          </p:cNvPr>
          <p:cNvSpPr/>
          <p:nvPr/>
        </p:nvSpPr>
        <p:spPr>
          <a:xfrm>
            <a:off x="1388082" y="595316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090A4416-C4A9-9476-F782-87BC446C9F41}"/>
              </a:ext>
            </a:extLst>
          </p:cNvPr>
          <p:cNvSpPr/>
          <p:nvPr/>
        </p:nvSpPr>
        <p:spPr>
          <a:xfrm>
            <a:off x="1388443" y="6154070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867F2BF-232B-FEFF-E579-219384FBEFDB}"/>
              </a:ext>
            </a:extLst>
          </p:cNvPr>
          <p:cNvSpPr/>
          <p:nvPr/>
        </p:nvSpPr>
        <p:spPr>
          <a:xfrm>
            <a:off x="1592230" y="533036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02938C82-8445-E4DB-0A5B-01D2CF2AA9F9}"/>
              </a:ext>
            </a:extLst>
          </p:cNvPr>
          <p:cNvSpPr/>
          <p:nvPr/>
        </p:nvSpPr>
        <p:spPr>
          <a:xfrm>
            <a:off x="1592230" y="5536030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7" name="Rectangle 1056">
            <a:extLst>
              <a:ext uri="{FF2B5EF4-FFF2-40B4-BE49-F238E27FC236}">
                <a16:creationId xmlns:a16="http://schemas.microsoft.com/office/drawing/2014/main" id="{307AE4D0-FEC8-840D-C404-658644533B29}"/>
              </a:ext>
            </a:extLst>
          </p:cNvPr>
          <p:cNvSpPr/>
          <p:nvPr/>
        </p:nvSpPr>
        <p:spPr>
          <a:xfrm>
            <a:off x="1592341" y="5741697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2DFEDA45-B166-9CE8-A686-676938900F01}"/>
              </a:ext>
            </a:extLst>
          </p:cNvPr>
          <p:cNvSpPr/>
          <p:nvPr/>
        </p:nvSpPr>
        <p:spPr>
          <a:xfrm>
            <a:off x="1591141" y="5947364"/>
            <a:ext cx="189411" cy="189411"/>
          </a:xfrm>
          <a:prstGeom prst="rect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8D44C-CAD7-0292-860C-F410535A3047}"/>
              </a:ext>
            </a:extLst>
          </p:cNvPr>
          <p:cNvSpPr/>
          <p:nvPr/>
        </p:nvSpPr>
        <p:spPr>
          <a:xfrm>
            <a:off x="1593883" y="615779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ED6C1D37-A616-04A6-B51B-9CC389820A8D}"/>
              </a:ext>
            </a:extLst>
          </p:cNvPr>
          <p:cNvSpPr txBox="1"/>
          <p:nvPr/>
        </p:nvSpPr>
        <p:spPr>
          <a:xfrm>
            <a:off x="263594" y="5330741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14E58F4F-027A-2851-DAE8-31E783920643}"/>
              </a:ext>
            </a:extLst>
          </p:cNvPr>
          <p:cNvSpPr txBox="1"/>
          <p:nvPr/>
        </p:nvSpPr>
        <p:spPr>
          <a:xfrm>
            <a:off x="263594" y="553640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069" name="TextBox 1068">
            <a:extLst>
              <a:ext uri="{FF2B5EF4-FFF2-40B4-BE49-F238E27FC236}">
                <a16:creationId xmlns:a16="http://schemas.microsoft.com/office/drawing/2014/main" id="{3F54CD22-7939-CB7E-3C6D-78A7B99280CD}"/>
              </a:ext>
            </a:extLst>
          </p:cNvPr>
          <p:cNvSpPr txBox="1"/>
          <p:nvPr/>
        </p:nvSpPr>
        <p:spPr>
          <a:xfrm>
            <a:off x="263594" y="574207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D36B1B08-FE41-C1B4-F4C4-A030C4B8F65F}"/>
              </a:ext>
            </a:extLst>
          </p:cNvPr>
          <p:cNvSpPr txBox="1"/>
          <p:nvPr/>
        </p:nvSpPr>
        <p:spPr>
          <a:xfrm>
            <a:off x="263594" y="594774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B255B512-7AD5-739E-AE4B-E4581688137C}"/>
              </a:ext>
            </a:extLst>
          </p:cNvPr>
          <p:cNvSpPr txBox="1"/>
          <p:nvPr/>
        </p:nvSpPr>
        <p:spPr>
          <a:xfrm>
            <a:off x="263594" y="615340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072" name="TextBox 1071">
            <a:extLst>
              <a:ext uri="{FF2B5EF4-FFF2-40B4-BE49-F238E27FC236}">
                <a16:creationId xmlns:a16="http://schemas.microsoft.com/office/drawing/2014/main" id="{55168102-463C-5602-3568-6096DF771FB0}"/>
              </a:ext>
            </a:extLst>
          </p:cNvPr>
          <p:cNvSpPr txBox="1"/>
          <p:nvPr/>
        </p:nvSpPr>
        <p:spPr>
          <a:xfrm>
            <a:off x="812522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77" name="TextBox 1076">
            <a:extLst>
              <a:ext uri="{FF2B5EF4-FFF2-40B4-BE49-F238E27FC236}">
                <a16:creationId xmlns:a16="http://schemas.microsoft.com/office/drawing/2014/main" id="{31F0F18E-56E1-BA72-5CD2-DA8AB4EB13F5}"/>
              </a:ext>
            </a:extLst>
          </p:cNvPr>
          <p:cNvSpPr txBox="1"/>
          <p:nvPr/>
        </p:nvSpPr>
        <p:spPr>
          <a:xfrm>
            <a:off x="1021561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078" name="TextBox 1077">
            <a:extLst>
              <a:ext uri="{FF2B5EF4-FFF2-40B4-BE49-F238E27FC236}">
                <a16:creationId xmlns:a16="http://schemas.microsoft.com/office/drawing/2014/main" id="{83778C76-A844-0571-C098-5A28B9915D08}"/>
              </a:ext>
            </a:extLst>
          </p:cNvPr>
          <p:cNvSpPr txBox="1"/>
          <p:nvPr/>
        </p:nvSpPr>
        <p:spPr>
          <a:xfrm>
            <a:off x="1230600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E16FDFFF-7934-E91C-FBD2-785AFD8D0D91}"/>
              </a:ext>
            </a:extLst>
          </p:cNvPr>
          <p:cNvSpPr txBox="1"/>
          <p:nvPr/>
        </p:nvSpPr>
        <p:spPr>
          <a:xfrm>
            <a:off x="1439639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80" name="TextBox 1079">
            <a:extLst>
              <a:ext uri="{FF2B5EF4-FFF2-40B4-BE49-F238E27FC236}">
                <a16:creationId xmlns:a16="http://schemas.microsoft.com/office/drawing/2014/main" id="{AB839C31-A100-3728-8963-A4772A59C260}"/>
              </a:ext>
            </a:extLst>
          </p:cNvPr>
          <p:cNvSpPr txBox="1"/>
          <p:nvPr/>
        </p:nvSpPr>
        <p:spPr>
          <a:xfrm>
            <a:off x="1659815" y="5120977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4F73087F-4E1C-D838-68BF-B031FB54B02C}"/>
              </a:ext>
            </a:extLst>
          </p:cNvPr>
          <p:cNvSpPr/>
          <p:nvPr/>
        </p:nvSpPr>
        <p:spPr>
          <a:xfrm>
            <a:off x="767736" y="5330360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3308AF80-0B4A-E913-D125-47EAE24BDABE}"/>
              </a:ext>
            </a:extLst>
          </p:cNvPr>
          <p:cNvSpPr/>
          <p:nvPr/>
        </p:nvSpPr>
        <p:spPr>
          <a:xfrm>
            <a:off x="2510706" y="5323636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549B0FC4-B332-DCAC-1C11-6BE1D1D92D89}"/>
              </a:ext>
            </a:extLst>
          </p:cNvPr>
          <p:cNvSpPr/>
          <p:nvPr/>
        </p:nvSpPr>
        <p:spPr>
          <a:xfrm>
            <a:off x="2517056" y="5529303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27D89914-F6E7-6490-D0BC-0FF236112D5F}"/>
              </a:ext>
            </a:extLst>
          </p:cNvPr>
          <p:cNvSpPr/>
          <p:nvPr/>
        </p:nvSpPr>
        <p:spPr>
          <a:xfrm>
            <a:off x="2517167" y="5734970"/>
            <a:ext cx="189411" cy="189411"/>
          </a:xfrm>
          <a:prstGeom prst="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B97F6709-CF41-96F9-3A33-783A7F42BE6A}"/>
              </a:ext>
            </a:extLst>
          </p:cNvPr>
          <p:cNvSpPr/>
          <p:nvPr/>
        </p:nvSpPr>
        <p:spPr>
          <a:xfrm>
            <a:off x="2515967" y="5940637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BFF1AB2A-2828-D83C-4FB7-999C1E2FC2F6}"/>
              </a:ext>
            </a:extLst>
          </p:cNvPr>
          <p:cNvSpPr/>
          <p:nvPr/>
        </p:nvSpPr>
        <p:spPr>
          <a:xfrm>
            <a:off x="2516328" y="6146304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F35A1772-6935-32BD-1B25-32C470F788CF}"/>
              </a:ext>
            </a:extLst>
          </p:cNvPr>
          <p:cNvSpPr/>
          <p:nvPr/>
        </p:nvSpPr>
        <p:spPr>
          <a:xfrm>
            <a:off x="2723644" y="5326264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13B2732-643E-45EC-0DDB-A1F8C99E09FE}"/>
              </a:ext>
            </a:extLst>
          </p:cNvPr>
          <p:cNvSpPr/>
          <p:nvPr/>
        </p:nvSpPr>
        <p:spPr>
          <a:xfrm>
            <a:off x="2720469" y="553193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D38C898D-25AF-456B-0FE2-0F72636D4950}"/>
              </a:ext>
            </a:extLst>
          </p:cNvPr>
          <p:cNvSpPr/>
          <p:nvPr/>
        </p:nvSpPr>
        <p:spPr>
          <a:xfrm>
            <a:off x="2723755" y="5737598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664AC44A-1B9B-EDFC-981D-F40253EB13A9}"/>
              </a:ext>
            </a:extLst>
          </p:cNvPr>
          <p:cNvSpPr/>
          <p:nvPr/>
        </p:nvSpPr>
        <p:spPr>
          <a:xfrm>
            <a:off x="2722555" y="594326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61B38C61-0431-A969-8BCD-E44468010E04}"/>
              </a:ext>
            </a:extLst>
          </p:cNvPr>
          <p:cNvSpPr/>
          <p:nvPr/>
        </p:nvSpPr>
        <p:spPr>
          <a:xfrm>
            <a:off x="2722916" y="6148932"/>
            <a:ext cx="189411" cy="189411"/>
          </a:xfrm>
          <a:prstGeom prst="rect">
            <a:avLst/>
          </a:prstGeom>
          <a:solidFill>
            <a:srgbClr val="FDA63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FD77E336-DDEB-CDD0-572E-6F56D37C78BD}"/>
              </a:ext>
            </a:extLst>
          </p:cNvPr>
          <p:cNvSpPr/>
          <p:nvPr/>
        </p:nvSpPr>
        <p:spPr>
          <a:xfrm>
            <a:off x="2931903" y="5329606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4" name="Rectangle 1093">
            <a:extLst>
              <a:ext uri="{FF2B5EF4-FFF2-40B4-BE49-F238E27FC236}">
                <a16:creationId xmlns:a16="http://schemas.microsoft.com/office/drawing/2014/main" id="{A06B5A45-A323-6269-2D84-F5690D3B00F9}"/>
              </a:ext>
            </a:extLst>
          </p:cNvPr>
          <p:cNvSpPr/>
          <p:nvPr/>
        </p:nvSpPr>
        <p:spPr>
          <a:xfrm>
            <a:off x="2931903" y="5535273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8021AAEC-0F65-C6F0-4913-326F38054739}"/>
              </a:ext>
            </a:extLst>
          </p:cNvPr>
          <p:cNvSpPr/>
          <p:nvPr/>
        </p:nvSpPr>
        <p:spPr>
          <a:xfrm>
            <a:off x="2932014" y="574094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00E8CADD-2238-34B6-9599-75A7AA780D19}"/>
              </a:ext>
            </a:extLst>
          </p:cNvPr>
          <p:cNvSpPr/>
          <p:nvPr/>
        </p:nvSpPr>
        <p:spPr>
          <a:xfrm>
            <a:off x="2930814" y="5946607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AEF2CCFA-C6E6-24A9-BBBE-223C1E307D3E}"/>
              </a:ext>
            </a:extLst>
          </p:cNvPr>
          <p:cNvSpPr/>
          <p:nvPr/>
        </p:nvSpPr>
        <p:spPr>
          <a:xfrm>
            <a:off x="2931175" y="6152274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E60D794C-CCA1-D1EA-DA45-0D2033A6C21A}"/>
              </a:ext>
            </a:extLst>
          </p:cNvPr>
          <p:cNvSpPr/>
          <p:nvPr/>
        </p:nvSpPr>
        <p:spPr>
          <a:xfrm>
            <a:off x="3138491" y="5328266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0D1C5E17-7FCB-33CC-55A5-755DAD84FEA9}"/>
              </a:ext>
            </a:extLst>
          </p:cNvPr>
          <p:cNvSpPr/>
          <p:nvPr/>
        </p:nvSpPr>
        <p:spPr>
          <a:xfrm>
            <a:off x="3138491" y="5533933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B8B2EC3-4CCF-8FFA-4F2E-56B168E4ECF7}"/>
              </a:ext>
            </a:extLst>
          </p:cNvPr>
          <p:cNvSpPr/>
          <p:nvPr/>
        </p:nvSpPr>
        <p:spPr>
          <a:xfrm>
            <a:off x="3138602" y="5739600"/>
            <a:ext cx="189411" cy="189411"/>
          </a:xfrm>
          <a:prstGeom prst="rect">
            <a:avLst/>
          </a:prstGeom>
          <a:solidFill>
            <a:srgbClr val="33CC3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09954724-BE8F-3E96-9A66-29C440E64E3B}"/>
              </a:ext>
            </a:extLst>
          </p:cNvPr>
          <p:cNvSpPr/>
          <p:nvPr/>
        </p:nvSpPr>
        <p:spPr>
          <a:xfrm>
            <a:off x="3137402" y="5952411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6EE58CAA-BBA3-40AD-0C5A-030953AD287F}"/>
              </a:ext>
            </a:extLst>
          </p:cNvPr>
          <p:cNvSpPr/>
          <p:nvPr/>
        </p:nvSpPr>
        <p:spPr>
          <a:xfrm>
            <a:off x="3137763" y="6153315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89009D07-CB1C-5FC7-4F79-D0187AB6706C}"/>
              </a:ext>
            </a:extLst>
          </p:cNvPr>
          <p:cNvSpPr/>
          <p:nvPr/>
        </p:nvSpPr>
        <p:spPr>
          <a:xfrm>
            <a:off x="3344480" y="5329608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4" name="Rectangle 1103">
            <a:extLst>
              <a:ext uri="{FF2B5EF4-FFF2-40B4-BE49-F238E27FC236}">
                <a16:creationId xmlns:a16="http://schemas.microsoft.com/office/drawing/2014/main" id="{05643561-A6D3-2E91-CF96-48CD6E5FFB93}"/>
              </a:ext>
            </a:extLst>
          </p:cNvPr>
          <p:cNvSpPr/>
          <p:nvPr/>
        </p:nvSpPr>
        <p:spPr>
          <a:xfrm>
            <a:off x="3344480" y="5535275"/>
            <a:ext cx="189411" cy="189411"/>
          </a:xfrm>
          <a:prstGeom prst="rect">
            <a:avLst/>
          </a:prstGeom>
          <a:solidFill>
            <a:srgbClr val="FFC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5" name="Rectangle 1104">
            <a:extLst>
              <a:ext uri="{FF2B5EF4-FFF2-40B4-BE49-F238E27FC236}">
                <a16:creationId xmlns:a16="http://schemas.microsoft.com/office/drawing/2014/main" id="{DF2E4C72-2ABC-EA4D-A0F3-5DA04385FA2D}"/>
              </a:ext>
            </a:extLst>
          </p:cNvPr>
          <p:cNvSpPr/>
          <p:nvPr/>
        </p:nvSpPr>
        <p:spPr>
          <a:xfrm>
            <a:off x="3344591" y="5740942"/>
            <a:ext cx="189411" cy="189411"/>
          </a:xfrm>
          <a:prstGeom prst="rect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6" name="Rectangle 1105">
            <a:extLst>
              <a:ext uri="{FF2B5EF4-FFF2-40B4-BE49-F238E27FC236}">
                <a16:creationId xmlns:a16="http://schemas.microsoft.com/office/drawing/2014/main" id="{1DCDF257-708E-2BE2-6664-A6CD58D909B6}"/>
              </a:ext>
            </a:extLst>
          </p:cNvPr>
          <p:cNvSpPr/>
          <p:nvPr/>
        </p:nvSpPr>
        <p:spPr>
          <a:xfrm>
            <a:off x="3343391" y="5946609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7" name="Rectangle 1106">
            <a:extLst>
              <a:ext uri="{FF2B5EF4-FFF2-40B4-BE49-F238E27FC236}">
                <a16:creationId xmlns:a16="http://schemas.microsoft.com/office/drawing/2014/main" id="{F5DBE20A-542C-FA5C-34C9-1800B043CDA5}"/>
              </a:ext>
            </a:extLst>
          </p:cNvPr>
          <p:cNvSpPr/>
          <p:nvPr/>
        </p:nvSpPr>
        <p:spPr>
          <a:xfrm>
            <a:off x="3346133" y="615703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BF107B2B-1F6A-3EE7-8435-97645B3612AD}"/>
              </a:ext>
            </a:extLst>
          </p:cNvPr>
          <p:cNvSpPr txBox="1"/>
          <p:nvPr/>
        </p:nvSpPr>
        <p:spPr>
          <a:xfrm>
            <a:off x="2012914" y="532998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09" name="TextBox 1108">
            <a:extLst>
              <a:ext uri="{FF2B5EF4-FFF2-40B4-BE49-F238E27FC236}">
                <a16:creationId xmlns:a16="http://schemas.microsoft.com/office/drawing/2014/main" id="{AAFBFD53-F569-B34D-C08C-3B900214CC19}"/>
              </a:ext>
            </a:extLst>
          </p:cNvPr>
          <p:cNvSpPr txBox="1"/>
          <p:nvPr/>
        </p:nvSpPr>
        <p:spPr>
          <a:xfrm>
            <a:off x="2012914" y="5535653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10" name="TextBox 1109">
            <a:extLst>
              <a:ext uri="{FF2B5EF4-FFF2-40B4-BE49-F238E27FC236}">
                <a16:creationId xmlns:a16="http://schemas.microsoft.com/office/drawing/2014/main" id="{61A2D6EE-9E1B-8B42-075E-CD06EEF67FFB}"/>
              </a:ext>
            </a:extLst>
          </p:cNvPr>
          <p:cNvSpPr txBox="1"/>
          <p:nvPr/>
        </p:nvSpPr>
        <p:spPr>
          <a:xfrm>
            <a:off x="2012914" y="5741320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11" name="TextBox 1110">
            <a:extLst>
              <a:ext uri="{FF2B5EF4-FFF2-40B4-BE49-F238E27FC236}">
                <a16:creationId xmlns:a16="http://schemas.microsoft.com/office/drawing/2014/main" id="{0DD861D0-D2A9-7F63-1878-E362F0A885CC}"/>
              </a:ext>
            </a:extLst>
          </p:cNvPr>
          <p:cNvSpPr txBox="1"/>
          <p:nvPr/>
        </p:nvSpPr>
        <p:spPr>
          <a:xfrm>
            <a:off x="2012914" y="5946987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12" name="TextBox 1111">
            <a:extLst>
              <a:ext uri="{FF2B5EF4-FFF2-40B4-BE49-F238E27FC236}">
                <a16:creationId xmlns:a16="http://schemas.microsoft.com/office/drawing/2014/main" id="{81CBCE39-A54D-1602-12BE-9F34E91B1A86}"/>
              </a:ext>
            </a:extLst>
          </p:cNvPr>
          <p:cNvSpPr txBox="1"/>
          <p:nvPr/>
        </p:nvSpPr>
        <p:spPr>
          <a:xfrm>
            <a:off x="2012914" y="6152654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13" name="TextBox 1112">
            <a:extLst>
              <a:ext uri="{FF2B5EF4-FFF2-40B4-BE49-F238E27FC236}">
                <a16:creationId xmlns:a16="http://schemas.microsoft.com/office/drawing/2014/main" id="{60C4CC48-E0FD-04B7-A2A5-BCCBF182BFAA}"/>
              </a:ext>
            </a:extLst>
          </p:cNvPr>
          <p:cNvSpPr txBox="1"/>
          <p:nvPr/>
        </p:nvSpPr>
        <p:spPr>
          <a:xfrm>
            <a:off x="2561842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4DB0D961-2909-4EC6-05B5-AD3BE3F99B6C}"/>
              </a:ext>
            </a:extLst>
          </p:cNvPr>
          <p:cNvSpPr txBox="1"/>
          <p:nvPr/>
        </p:nvSpPr>
        <p:spPr>
          <a:xfrm>
            <a:off x="2770881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15" name="TextBox 1114">
            <a:extLst>
              <a:ext uri="{FF2B5EF4-FFF2-40B4-BE49-F238E27FC236}">
                <a16:creationId xmlns:a16="http://schemas.microsoft.com/office/drawing/2014/main" id="{8B4DFD2A-2662-F778-9567-E5DCD7A826AC}"/>
              </a:ext>
            </a:extLst>
          </p:cNvPr>
          <p:cNvSpPr txBox="1"/>
          <p:nvPr/>
        </p:nvSpPr>
        <p:spPr>
          <a:xfrm>
            <a:off x="2979920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811FEDA-2E0C-CC6A-C54D-C3841A794EC5}"/>
              </a:ext>
            </a:extLst>
          </p:cNvPr>
          <p:cNvSpPr txBox="1"/>
          <p:nvPr/>
        </p:nvSpPr>
        <p:spPr>
          <a:xfrm>
            <a:off x="3188959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2F0FDFDA-8DF6-34BA-52A3-FA1F8FC027F2}"/>
              </a:ext>
            </a:extLst>
          </p:cNvPr>
          <p:cNvSpPr txBox="1"/>
          <p:nvPr/>
        </p:nvSpPr>
        <p:spPr>
          <a:xfrm>
            <a:off x="3397997" y="512022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18" name="Rectangle 1117">
            <a:extLst>
              <a:ext uri="{FF2B5EF4-FFF2-40B4-BE49-F238E27FC236}">
                <a16:creationId xmlns:a16="http://schemas.microsoft.com/office/drawing/2014/main" id="{1FDAC2F7-95CA-7595-0744-8B0A12E0C00E}"/>
              </a:ext>
            </a:extLst>
          </p:cNvPr>
          <p:cNvSpPr/>
          <p:nvPr/>
        </p:nvSpPr>
        <p:spPr>
          <a:xfrm>
            <a:off x="2517056" y="5329605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9" name="Rectangle 1118">
            <a:extLst>
              <a:ext uri="{FF2B5EF4-FFF2-40B4-BE49-F238E27FC236}">
                <a16:creationId xmlns:a16="http://schemas.microsoft.com/office/drawing/2014/main" id="{9D3B496F-3B3A-256B-4C8F-685F4EAEF8B1}"/>
              </a:ext>
            </a:extLst>
          </p:cNvPr>
          <p:cNvSpPr/>
          <p:nvPr/>
        </p:nvSpPr>
        <p:spPr>
          <a:xfrm>
            <a:off x="4260146" y="5330648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8795FAF4-C3FF-244F-CBEC-54B1FE92A41B}"/>
              </a:ext>
            </a:extLst>
          </p:cNvPr>
          <p:cNvSpPr/>
          <p:nvPr/>
        </p:nvSpPr>
        <p:spPr>
          <a:xfrm>
            <a:off x="4266496" y="5536315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0B0113C9-076B-B6B6-504A-BD4221205190}"/>
              </a:ext>
            </a:extLst>
          </p:cNvPr>
          <p:cNvSpPr/>
          <p:nvPr/>
        </p:nvSpPr>
        <p:spPr>
          <a:xfrm>
            <a:off x="4266607" y="5741982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BEF87D7-2ADD-4248-7F69-FEC6C56149CA}"/>
              </a:ext>
            </a:extLst>
          </p:cNvPr>
          <p:cNvSpPr/>
          <p:nvPr/>
        </p:nvSpPr>
        <p:spPr>
          <a:xfrm>
            <a:off x="4265407" y="5947649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510C789A-BD49-452F-8233-567441FC32E5}"/>
              </a:ext>
            </a:extLst>
          </p:cNvPr>
          <p:cNvSpPr/>
          <p:nvPr/>
        </p:nvSpPr>
        <p:spPr>
          <a:xfrm>
            <a:off x="4265768" y="6153316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C78B49DE-D355-AED7-5B43-9A79994B2CD8}"/>
              </a:ext>
            </a:extLst>
          </p:cNvPr>
          <p:cNvSpPr/>
          <p:nvPr/>
        </p:nvSpPr>
        <p:spPr>
          <a:xfrm>
            <a:off x="4473084" y="5333276"/>
            <a:ext cx="189411" cy="189411"/>
          </a:xfrm>
          <a:prstGeom prst="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4B702B5B-EF20-C080-F232-3507952BFA61}"/>
              </a:ext>
            </a:extLst>
          </p:cNvPr>
          <p:cNvSpPr/>
          <p:nvPr/>
        </p:nvSpPr>
        <p:spPr>
          <a:xfrm>
            <a:off x="4469909" y="553894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BD135577-CB3C-DC4E-E12F-0302E8512964}"/>
              </a:ext>
            </a:extLst>
          </p:cNvPr>
          <p:cNvSpPr/>
          <p:nvPr/>
        </p:nvSpPr>
        <p:spPr>
          <a:xfrm>
            <a:off x="4473195" y="5744610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FDF10CE2-EADE-2D76-02DB-4E684E7C2B88}"/>
              </a:ext>
            </a:extLst>
          </p:cNvPr>
          <p:cNvSpPr/>
          <p:nvPr/>
        </p:nvSpPr>
        <p:spPr>
          <a:xfrm>
            <a:off x="4471995" y="5950277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8" name="Rectangle 1127">
            <a:extLst>
              <a:ext uri="{FF2B5EF4-FFF2-40B4-BE49-F238E27FC236}">
                <a16:creationId xmlns:a16="http://schemas.microsoft.com/office/drawing/2014/main" id="{D6C01A9D-44C4-5B49-110A-480C78A9116F}"/>
              </a:ext>
            </a:extLst>
          </p:cNvPr>
          <p:cNvSpPr/>
          <p:nvPr/>
        </p:nvSpPr>
        <p:spPr>
          <a:xfrm>
            <a:off x="4472356" y="6155944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9" name="Rectangle 1128">
            <a:extLst>
              <a:ext uri="{FF2B5EF4-FFF2-40B4-BE49-F238E27FC236}">
                <a16:creationId xmlns:a16="http://schemas.microsoft.com/office/drawing/2014/main" id="{6805282B-5D17-DA74-8A8A-F3A430B02AD1}"/>
              </a:ext>
            </a:extLst>
          </p:cNvPr>
          <p:cNvSpPr/>
          <p:nvPr/>
        </p:nvSpPr>
        <p:spPr>
          <a:xfrm>
            <a:off x="4681343" y="5336618"/>
            <a:ext cx="189411" cy="189411"/>
          </a:xfrm>
          <a:prstGeom prst="rect">
            <a:avLst/>
          </a:prstGeom>
          <a:solidFill>
            <a:srgbClr val="00FFC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0" name="Rectangle 1129">
            <a:extLst>
              <a:ext uri="{FF2B5EF4-FFF2-40B4-BE49-F238E27FC236}">
                <a16:creationId xmlns:a16="http://schemas.microsoft.com/office/drawing/2014/main" id="{586B10C5-337A-7DAA-8A38-E85441904862}"/>
              </a:ext>
            </a:extLst>
          </p:cNvPr>
          <p:cNvSpPr/>
          <p:nvPr/>
        </p:nvSpPr>
        <p:spPr>
          <a:xfrm>
            <a:off x="4681343" y="5542285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1" name="Rectangle 1130">
            <a:extLst>
              <a:ext uri="{FF2B5EF4-FFF2-40B4-BE49-F238E27FC236}">
                <a16:creationId xmlns:a16="http://schemas.microsoft.com/office/drawing/2014/main" id="{1E38908C-60C3-E78F-5D19-C23CD6725C26}"/>
              </a:ext>
            </a:extLst>
          </p:cNvPr>
          <p:cNvSpPr/>
          <p:nvPr/>
        </p:nvSpPr>
        <p:spPr>
          <a:xfrm>
            <a:off x="4681454" y="5747952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" name="Rectangle 1131">
            <a:extLst>
              <a:ext uri="{FF2B5EF4-FFF2-40B4-BE49-F238E27FC236}">
                <a16:creationId xmlns:a16="http://schemas.microsoft.com/office/drawing/2014/main" id="{5CAD34CB-83B4-7083-F6DF-6A4B1214D9C1}"/>
              </a:ext>
            </a:extLst>
          </p:cNvPr>
          <p:cNvSpPr/>
          <p:nvPr/>
        </p:nvSpPr>
        <p:spPr>
          <a:xfrm>
            <a:off x="4680254" y="5953619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8D86693D-B01C-C0AB-5DB1-163652333285}"/>
              </a:ext>
            </a:extLst>
          </p:cNvPr>
          <p:cNvSpPr/>
          <p:nvPr/>
        </p:nvSpPr>
        <p:spPr>
          <a:xfrm>
            <a:off x="4680615" y="6159286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766694FF-6481-B669-7D04-38FB8EA158D3}"/>
              </a:ext>
            </a:extLst>
          </p:cNvPr>
          <p:cNvSpPr/>
          <p:nvPr/>
        </p:nvSpPr>
        <p:spPr>
          <a:xfrm>
            <a:off x="4887931" y="5335278"/>
            <a:ext cx="189411" cy="189411"/>
          </a:xfrm>
          <a:prstGeom prst="rect">
            <a:avLst/>
          </a:prstGeom>
          <a:solidFill>
            <a:srgbClr val="452A4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8960AFEF-4AA4-1985-6B87-2E89B8773FCE}"/>
              </a:ext>
            </a:extLst>
          </p:cNvPr>
          <p:cNvSpPr/>
          <p:nvPr/>
        </p:nvSpPr>
        <p:spPr>
          <a:xfrm>
            <a:off x="4887931" y="5540945"/>
            <a:ext cx="189411" cy="189411"/>
          </a:xfrm>
          <a:prstGeom prst="rect">
            <a:avLst/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766D5F51-EE42-9D94-1D81-1E06A460AA3A}"/>
              </a:ext>
            </a:extLst>
          </p:cNvPr>
          <p:cNvSpPr/>
          <p:nvPr/>
        </p:nvSpPr>
        <p:spPr>
          <a:xfrm>
            <a:off x="4888042" y="5746612"/>
            <a:ext cx="189411" cy="189411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B2C65A12-7B9E-7B06-2F64-32E5F25EAAD2}"/>
              </a:ext>
            </a:extLst>
          </p:cNvPr>
          <p:cNvSpPr/>
          <p:nvPr/>
        </p:nvSpPr>
        <p:spPr>
          <a:xfrm>
            <a:off x="4886842" y="5959423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DAF8A47B-302C-E07E-3E72-9A101B28D8BE}"/>
              </a:ext>
            </a:extLst>
          </p:cNvPr>
          <p:cNvSpPr/>
          <p:nvPr/>
        </p:nvSpPr>
        <p:spPr>
          <a:xfrm>
            <a:off x="4887203" y="6160327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6293F2F2-1B97-7D50-62EE-D2C3A88A95C2}"/>
              </a:ext>
            </a:extLst>
          </p:cNvPr>
          <p:cNvSpPr/>
          <p:nvPr/>
        </p:nvSpPr>
        <p:spPr>
          <a:xfrm>
            <a:off x="5093920" y="5336620"/>
            <a:ext cx="189411" cy="189411"/>
          </a:xfrm>
          <a:prstGeom prst="rect">
            <a:avLst/>
          </a:prstGeom>
          <a:solidFill>
            <a:srgbClr val="FE962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65CD5945-D106-1E98-1844-FD2FE3531C08}"/>
              </a:ext>
            </a:extLst>
          </p:cNvPr>
          <p:cNvSpPr/>
          <p:nvPr/>
        </p:nvSpPr>
        <p:spPr>
          <a:xfrm>
            <a:off x="5093920" y="5542287"/>
            <a:ext cx="189411" cy="189411"/>
          </a:xfrm>
          <a:prstGeom prst="rect">
            <a:avLst/>
          </a:prstGeom>
          <a:solidFill>
            <a:srgbClr val="00B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1" name="Rectangle 1140">
            <a:extLst>
              <a:ext uri="{FF2B5EF4-FFF2-40B4-BE49-F238E27FC236}">
                <a16:creationId xmlns:a16="http://schemas.microsoft.com/office/drawing/2014/main" id="{837A171E-0DA1-08FE-F2C6-745B75427164}"/>
              </a:ext>
            </a:extLst>
          </p:cNvPr>
          <p:cNvSpPr/>
          <p:nvPr/>
        </p:nvSpPr>
        <p:spPr>
          <a:xfrm>
            <a:off x="5094031" y="5747954"/>
            <a:ext cx="189411" cy="189411"/>
          </a:xfrm>
          <a:prstGeom prst="rect">
            <a:avLst/>
          </a:prstGeom>
          <a:solidFill>
            <a:srgbClr val="D2E93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2" name="Rectangle 1141">
            <a:extLst>
              <a:ext uri="{FF2B5EF4-FFF2-40B4-BE49-F238E27FC236}">
                <a16:creationId xmlns:a16="http://schemas.microsoft.com/office/drawing/2014/main" id="{965D7D6A-1D6B-E429-413D-FE464BCB1526}"/>
              </a:ext>
            </a:extLst>
          </p:cNvPr>
          <p:cNvSpPr/>
          <p:nvPr/>
        </p:nvSpPr>
        <p:spPr>
          <a:xfrm>
            <a:off x="5092831" y="5953621"/>
            <a:ext cx="189411" cy="189411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3" name="Rectangle 1142">
            <a:extLst>
              <a:ext uri="{FF2B5EF4-FFF2-40B4-BE49-F238E27FC236}">
                <a16:creationId xmlns:a16="http://schemas.microsoft.com/office/drawing/2014/main" id="{68D4DF1C-F28F-638C-4FA1-B5DC2FDE48A5}"/>
              </a:ext>
            </a:extLst>
          </p:cNvPr>
          <p:cNvSpPr/>
          <p:nvPr/>
        </p:nvSpPr>
        <p:spPr>
          <a:xfrm>
            <a:off x="5095573" y="6164050"/>
            <a:ext cx="189411" cy="1894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4" name="TextBox 1143">
            <a:extLst>
              <a:ext uri="{FF2B5EF4-FFF2-40B4-BE49-F238E27FC236}">
                <a16:creationId xmlns:a16="http://schemas.microsoft.com/office/drawing/2014/main" id="{D5C65C1A-E2C1-049E-138F-ED6BB55F4A0C}"/>
              </a:ext>
            </a:extLst>
          </p:cNvPr>
          <p:cNvSpPr txBox="1"/>
          <p:nvPr/>
        </p:nvSpPr>
        <p:spPr>
          <a:xfrm>
            <a:off x="3762354" y="5336998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145" name="TextBox 1144">
            <a:extLst>
              <a:ext uri="{FF2B5EF4-FFF2-40B4-BE49-F238E27FC236}">
                <a16:creationId xmlns:a16="http://schemas.microsoft.com/office/drawing/2014/main" id="{73133EFF-FABA-84F0-EA6F-2C68DC561886}"/>
              </a:ext>
            </a:extLst>
          </p:cNvPr>
          <p:cNvSpPr txBox="1"/>
          <p:nvPr/>
        </p:nvSpPr>
        <p:spPr>
          <a:xfrm>
            <a:off x="3762354" y="5542665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1146" name="TextBox 1145">
            <a:extLst>
              <a:ext uri="{FF2B5EF4-FFF2-40B4-BE49-F238E27FC236}">
                <a16:creationId xmlns:a16="http://schemas.microsoft.com/office/drawing/2014/main" id="{D1F39983-78E8-D156-96FA-13FBE38DEE88}"/>
              </a:ext>
            </a:extLst>
          </p:cNvPr>
          <p:cNvSpPr txBox="1"/>
          <p:nvPr/>
        </p:nvSpPr>
        <p:spPr>
          <a:xfrm>
            <a:off x="3762354" y="5748332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3</a:t>
            </a:r>
          </a:p>
        </p:txBody>
      </p:sp>
      <p:sp>
        <p:nvSpPr>
          <p:cNvPr id="1147" name="TextBox 1146">
            <a:extLst>
              <a:ext uri="{FF2B5EF4-FFF2-40B4-BE49-F238E27FC236}">
                <a16:creationId xmlns:a16="http://schemas.microsoft.com/office/drawing/2014/main" id="{1D878C6B-85CD-6944-3203-3ABA404BDC67}"/>
              </a:ext>
            </a:extLst>
          </p:cNvPr>
          <p:cNvSpPr txBox="1"/>
          <p:nvPr/>
        </p:nvSpPr>
        <p:spPr>
          <a:xfrm>
            <a:off x="3762354" y="5953999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4</a:t>
            </a:r>
          </a:p>
        </p:txBody>
      </p:sp>
      <p:sp>
        <p:nvSpPr>
          <p:cNvPr id="1148" name="TextBox 1147">
            <a:extLst>
              <a:ext uri="{FF2B5EF4-FFF2-40B4-BE49-F238E27FC236}">
                <a16:creationId xmlns:a16="http://schemas.microsoft.com/office/drawing/2014/main" id="{A44BAB99-BBEB-7E74-94E9-5132A3CBEDFB}"/>
              </a:ext>
            </a:extLst>
          </p:cNvPr>
          <p:cNvSpPr txBox="1"/>
          <p:nvPr/>
        </p:nvSpPr>
        <p:spPr>
          <a:xfrm>
            <a:off x="3762354" y="6159666"/>
            <a:ext cx="42069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Trial 5</a:t>
            </a: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3A470E50-7FA0-F6BE-137E-8D2287B71E14}"/>
              </a:ext>
            </a:extLst>
          </p:cNvPr>
          <p:cNvSpPr txBox="1"/>
          <p:nvPr/>
        </p:nvSpPr>
        <p:spPr>
          <a:xfrm>
            <a:off x="4311282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50" name="TextBox 1149">
            <a:extLst>
              <a:ext uri="{FF2B5EF4-FFF2-40B4-BE49-F238E27FC236}">
                <a16:creationId xmlns:a16="http://schemas.microsoft.com/office/drawing/2014/main" id="{6A92020D-EE8D-61CA-10C1-508E782031E1}"/>
              </a:ext>
            </a:extLst>
          </p:cNvPr>
          <p:cNvSpPr txBox="1"/>
          <p:nvPr/>
        </p:nvSpPr>
        <p:spPr>
          <a:xfrm>
            <a:off x="4520321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151" name="TextBox 1150">
            <a:extLst>
              <a:ext uri="{FF2B5EF4-FFF2-40B4-BE49-F238E27FC236}">
                <a16:creationId xmlns:a16="http://schemas.microsoft.com/office/drawing/2014/main" id="{6748257D-6019-66FA-1F49-7EE345B7ED47}"/>
              </a:ext>
            </a:extLst>
          </p:cNvPr>
          <p:cNvSpPr txBox="1"/>
          <p:nvPr/>
        </p:nvSpPr>
        <p:spPr>
          <a:xfrm>
            <a:off x="4729360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152" name="TextBox 1151">
            <a:extLst>
              <a:ext uri="{FF2B5EF4-FFF2-40B4-BE49-F238E27FC236}">
                <a16:creationId xmlns:a16="http://schemas.microsoft.com/office/drawing/2014/main" id="{771A24CB-80B7-A800-3837-5130E18464B5}"/>
              </a:ext>
            </a:extLst>
          </p:cNvPr>
          <p:cNvSpPr txBox="1"/>
          <p:nvPr/>
        </p:nvSpPr>
        <p:spPr>
          <a:xfrm>
            <a:off x="4938399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A5D44601-7434-E0B7-1FEA-8BF7F882761C}"/>
              </a:ext>
            </a:extLst>
          </p:cNvPr>
          <p:cNvSpPr txBox="1"/>
          <p:nvPr/>
        </p:nvSpPr>
        <p:spPr>
          <a:xfrm>
            <a:off x="5147437" y="5127234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54" name="Rectangle 1153">
            <a:extLst>
              <a:ext uri="{FF2B5EF4-FFF2-40B4-BE49-F238E27FC236}">
                <a16:creationId xmlns:a16="http://schemas.microsoft.com/office/drawing/2014/main" id="{052A2336-F9DC-5000-C446-0FE958681CAB}"/>
              </a:ext>
            </a:extLst>
          </p:cNvPr>
          <p:cNvSpPr/>
          <p:nvPr/>
        </p:nvSpPr>
        <p:spPr>
          <a:xfrm>
            <a:off x="4266496" y="5336617"/>
            <a:ext cx="1015746" cy="10061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6" name="Straight Arrow Connector 1155">
            <a:extLst>
              <a:ext uri="{FF2B5EF4-FFF2-40B4-BE49-F238E27FC236}">
                <a16:creationId xmlns:a16="http://schemas.microsoft.com/office/drawing/2014/main" id="{C03238F0-B669-49A9-07DC-F86D46FB25E5}"/>
              </a:ext>
            </a:extLst>
          </p:cNvPr>
          <p:cNvCxnSpPr>
            <a:cxnSpLocks/>
          </p:cNvCxnSpPr>
          <p:nvPr/>
        </p:nvCxnSpPr>
        <p:spPr>
          <a:xfrm>
            <a:off x="125388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9" name="Straight Arrow Connector 1158">
            <a:extLst>
              <a:ext uri="{FF2B5EF4-FFF2-40B4-BE49-F238E27FC236}">
                <a16:creationId xmlns:a16="http://schemas.microsoft.com/office/drawing/2014/main" id="{E619CD30-A62C-A0B8-C019-4C7AF60730C6}"/>
              </a:ext>
            </a:extLst>
          </p:cNvPr>
          <p:cNvCxnSpPr>
            <a:cxnSpLocks/>
          </p:cNvCxnSpPr>
          <p:nvPr/>
        </p:nvCxnSpPr>
        <p:spPr>
          <a:xfrm>
            <a:off x="3017141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0" name="Straight Arrow Connector 1159">
            <a:extLst>
              <a:ext uri="{FF2B5EF4-FFF2-40B4-BE49-F238E27FC236}">
                <a16:creationId xmlns:a16="http://schemas.microsoft.com/office/drawing/2014/main" id="{24407AEF-94AF-EF41-C232-A1BE4F2FC62C}"/>
              </a:ext>
            </a:extLst>
          </p:cNvPr>
          <p:cNvCxnSpPr>
            <a:cxnSpLocks/>
          </p:cNvCxnSpPr>
          <p:nvPr/>
        </p:nvCxnSpPr>
        <p:spPr>
          <a:xfrm>
            <a:off x="4751693" y="4395290"/>
            <a:ext cx="0" cy="60491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1" name="TextBox 1160">
            <a:extLst>
              <a:ext uri="{FF2B5EF4-FFF2-40B4-BE49-F238E27FC236}">
                <a16:creationId xmlns:a16="http://schemas.microsoft.com/office/drawing/2014/main" id="{DCBAB425-CE40-100A-B17B-AC722469D973}"/>
              </a:ext>
            </a:extLst>
          </p:cNvPr>
          <p:cNvSpPr txBox="1"/>
          <p:nvPr/>
        </p:nvSpPr>
        <p:spPr>
          <a:xfrm>
            <a:off x="692486" y="6377901"/>
            <a:ext cx="11608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Object RDM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952434B0-BB8F-8E95-1484-1C0F663394CC}"/>
              </a:ext>
            </a:extLst>
          </p:cNvPr>
          <p:cNvSpPr txBox="1"/>
          <p:nvPr/>
        </p:nvSpPr>
        <p:spPr>
          <a:xfrm>
            <a:off x="2460555" y="6377901"/>
            <a:ext cx="11512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Scene RDM</a:t>
            </a:r>
          </a:p>
        </p:txBody>
      </p:sp>
      <p:sp>
        <p:nvSpPr>
          <p:cNvPr id="1163" name="TextBox 1162">
            <a:extLst>
              <a:ext uri="{FF2B5EF4-FFF2-40B4-BE49-F238E27FC236}">
                <a16:creationId xmlns:a16="http://schemas.microsoft.com/office/drawing/2014/main" id="{F457D580-29C4-114A-D4DC-1118A531979E}"/>
              </a:ext>
            </a:extLst>
          </p:cNvPr>
          <p:cNvSpPr txBox="1"/>
          <p:nvPr/>
        </p:nvSpPr>
        <p:spPr>
          <a:xfrm>
            <a:off x="4132173" y="6377901"/>
            <a:ext cx="1274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Abs-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Dif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RDM</a:t>
            </a:r>
          </a:p>
        </p:txBody>
      </p:sp>
    </p:spTree>
    <p:extLst>
      <p:ext uri="{BB962C8B-B14F-4D97-AF65-F5344CB8AC3E}">
        <p14:creationId xmlns:p14="http://schemas.microsoft.com/office/powerpoint/2010/main" val="1993664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F6B7C-CD14-6718-A840-E9F7F745D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Scene and object vectors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C0434-B8A9-C66E-2089-3689BEA9B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8" y="1914086"/>
            <a:ext cx="5710152" cy="4282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9A5B7-E80F-D711-F7C3-99E3B4ECDC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349" t="7884" r="5196" b="16252"/>
          <a:stretch/>
        </p:blipFill>
        <p:spPr>
          <a:xfrm>
            <a:off x="6156945" y="1982811"/>
            <a:ext cx="5604162" cy="428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1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C048B-6995-A536-9102-2C894ADF8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200275" cy="1325563"/>
          </a:xfrm>
        </p:spPr>
        <p:txBody>
          <a:bodyPr/>
          <a:lstStyle/>
          <a:p>
            <a:r>
              <a:rPr lang="en-US" dirty="0"/>
              <a:t>Abs-</a:t>
            </a:r>
            <a:r>
              <a:rPr lang="en-US" dirty="0" err="1"/>
              <a:t>dif</a:t>
            </a:r>
            <a:r>
              <a:rPr lang="en-US" dirty="0"/>
              <a:t>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6AFDE-86CA-CD03-1EAC-ED71B92BF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950" y="2746375"/>
            <a:ext cx="2422525" cy="4286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Object   Scene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9F5F4F-9A7C-DC80-1400-0138A241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151" y="87511"/>
            <a:ext cx="8910637" cy="668297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2C9FF80B-611C-7D23-5040-49E5CD09F6F4}"/>
              </a:ext>
            </a:extLst>
          </p:cNvPr>
          <p:cNvSpPr/>
          <p:nvPr/>
        </p:nvSpPr>
        <p:spPr>
          <a:xfrm>
            <a:off x="8324850" y="3079750"/>
            <a:ext cx="1270000" cy="5207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7AE2A0-6ADC-AE3A-2C30-B2F18978D3C1}"/>
              </a:ext>
            </a:extLst>
          </p:cNvPr>
          <p:cNvSpPr/>
          <p:nvPr/>
        </p:nvSpPr>
        <p:spPr>
          <a:xfrm>
            <a:off x="6838950" y="4133850"/>
            <a:ext cx="920750" cy="38735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63E13B-3974-BE57-F5F1-309DAAB2AEAE}"/>
              </a:ext>
            </a:extLst>
          </p:cNvPr>
          <p:cNvSpPr/>
          <p:nvPr/>
        </p:nvSpPr>
        <p:spPr>
          <a:xfrm>
            <a:off x="5787230" y="4572000"/>
            <a:ext cx="1820070" cy="17399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1F6C56-1EA4-4F91-2677-6E020AB52119}"/>
              </a:ext>
            </a:extLst>
          </p:cNvPr>
          <p:cNvSpPr txBox="1"/>
          <p:nvPr/>
        </p:nvSpPr>
        <p:spPr>
          <a:xfrm>
            <a:off x="5950243" y="632327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Green scene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9429E4-F6B0-B625-42C4-6D71DE421A6C}"/>
              </a:ext>
            </a:extLst>
          </p:cNvPr>
          <p:cNvSpPr/>
          <p:nvPr/>
        </p:nvSpPr>
        <p:spPr>
          <a:xfrm>
            <a:off x="565150" y="2559050"/>
            <a:ext cx="2473325" cy="7429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DDAAAFA-9EA7-FED0-321A-4CA39E7A17BE}"/>
              </a:ext>
            </a:extLst>
          </p:cNvPr>
          <p:cNvCxnSpPr>
            <a:cxnSpLocks/>
          </p:cNvCxnSpPr>
          <p:nvPr/>
        </p:nvCxnSpPr>
        <p:spPr>
          <a:xfrm>
            <a:off x="1806575" y="2559050"/>
            <a:ext cx="0" cy="7429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AC701AF-8C01-E6B8-094D-C6FD65229E7D}"/>
              </a:ext>
            </a:extLst>
          </p:cNvPr>
          <p:cNvSpPr/>
          <p:nvPr/>
        </p:nvSpPr>
        <p:spPr>
          <a:xfrm>
            <a:off x="8519970" y="3821741"/>
            <a:ext cx="1270000" cy="643788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D730EC3-026F-A399-9B7D-3B87AED9D585}"/>
              </a:ext>
            </a:extLst>
          </p:cNvPr>
          <p:cNvSpPr/>
          <p:nvPr/>
        </p:nvSpPr>
        <p:spPr>
          <a:xfrm>
            <a:off x="7171151" y="1146132"/>
            <a:ext cx="2286000" cy="116492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AE857B-5274-5E44-36C3-C45A08D4168B}"/>
              </a:ext>
            </a:extLst>
          </p:cNvPr>
          <p:cNvSpPr txBox="1"/>
          <p:nvPr/>
        </p:nvSpPr>
        <p:spPr>
          <a:xfrm>
            <a:off x="3070300" y="3637075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Brown scene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CE621DD-AAD6-B534-57BB-71FD7AEF6D66}"/>
              </a:ext>
            </a:extLst>
          </p:cNvPr>
          <p:cNvSpPr/>
          <p:nvPr/>
        </p:nvSpPr>
        <p:spPr>
          <a:xfrm>
            <a:off x="4706214" y="2995808"/>
            <a:ext cx="1542185" cy="1484117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CB105E-E5F2-569F-6B73-6ED42D0C74CB}"/>
              </a:ext>
            </a:extLst>
          </p:cNvPr>
          <p:cNvSpPr txBox="1"/>
          <p:nvPr/>
        </p:nvSpPr>
        <p:spPr>
          <a:xfrm>
            <a:off x="7646670" y="790544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Pink object</a:t>
            </a:r>
          </a:p>
        </p:txBody>
      </p:sp>
    </p:spTree>
    <p:extLst>
      <p:ext uri="{BB962C8B-B14F-4D97-AF65-F5344CB8AC3E}">
        <p14:creationId xmlns:p14="http://schemas.microsoft.com/office/powerpoint/2010/main" val="1584716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656A-B113-00B4-2C2B-B4E8AF463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6"/>
            <a:ext cx="10515600" cy="1325563"/>
          </a:xfrm>
        </p:spPr>
        <p:txBody>
          <a:bodyPr/>
          <a:lstStyle/>
          <a:p>
            <a:r>
              <a:rPr lang="en-US" dirty="0"/>
              <a:t>Stimulus RSM/RDMs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4C0-E858-3747-E631-FE1DEA6E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783" y="5878191"/>
            <a:ext cx="10515600" cy="588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Although not visualized here, the congruent/incongruent/neutral conditions don’t have much bearing on the vectors or RSMs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53EFF8-37D1-8AD3-84BF-2D1F8081F6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3"/>
          <a:stretch/>
        </p:blipFill>
        <p:spPr>
          <a:xfrm>
            <a:off x="147320" y="2387281"/>
            <a:ext cx="4242526" cy="33832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6135DA-83D9-57DA-3DB1-1658F085B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939" y="2387281"/>
            <a:ext cx="4511040" cy="3383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10B223A-2B5E-A9A7-9476-487B8E87A49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143"/>
          <a:stretch/>
        </p:blipFill>
        <p:spPr>
          <a:xfrm>
            <a:off x="7894320" y="2387281"/>
            <a:ext cx="4188823" cy="3383280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568BBB0-ADDC-25C4-25E9-7AE8BCF39A94}"/>
              </a:ext>
            </a:extLst>
          </p:cNvPr>
          <p:cNvSpPr txBox="1">
            <a:spLocks/>
          </p:cNvSpPr>
          <p:nvPr/>
        </p:nvSpPr>
        <p:spPr>
          <a:xfrm>
            <a:off x="1062083" y="1350649"/>
            <a:ext cx="10515600" cy="1076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Perceptual representations (1</a:t>
            </a:r>
            <a:r>
              <a:rPr lang="en-US" baseline="30000" dirty="0"/>
              <a:t>st</a:t>
            </a:r>
            <a:r>
              <a:rPr lang="en-US" dirty="0"/>
              <a:t> layer of DNN)</a:t>
            </a:r>
          </a:p>
          <a:p>
            <a:r>
              <a:rPr lang="en-US" dirty="0"/>
              <a:t>The difference vector RSM doesn’t look particularly weird</a:t>
            </a:r>
          </a:p>
        </p:txBody>
      </p:sp>
    </p:spTree>
    <p:extLst>
      <p:ext uri="{BB962C8B-B14F-4D97-AF65-F5344CB8AC3E}">
        <p14:creationId xmlns:p14="http://schemas.microsoft.com/office/powerpoint/2010/main" val="2471976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92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4C0307-ED64-0827-0AC2-8C66081A1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81" y="152075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1A: Schema representation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5C454-0847-D5A3-539E-785DCAA0117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687" t="54667" r="53475" b="14256"/>
          <a:stretch/>
        </p:blipFill>
        <p:spPr>
          <a:xfrm>
            <a:off x="60374" y="572830"/>
            <a:ext cx="1176338" cy="119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BEECFC-4E93-B729-18A9-FD7BA45D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006" y="1520751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272805" y="1168642"/>
            <a:ext cx="4322366" cy="57015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Perceptual scene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829" y="1187803"/>
            <a:ext cx="4702356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Semantic scene decoding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E13E75-8F47-C208-EADC-6BDF1ADCEFF0}"/>
              </a:ext>
            </a:extLst>
          </p:cNvPr>
          <p:cNvSpPr txBox="1"/>
          <p:nvPr/>
        </p:nvSpPr>
        <p:spPr>
          <a:xfrm>
            <a:off x="4243408" y="6250435"/>
            <a:ext cx="4283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Establishes the prediction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28BE08-E5C7-8D5E-EE89-6C88F88B0DE3}"/>
              </a:ext>
            </a:extLst>
          </p:cNvPr>
          <p:cNvSpPr/>
          <p:nvPr/>
        </p:nvSpPr>
        <p:spPr>
          <a:xfrm>
            <a:off x="1049511" y="2628000"/>
            <a:ext cx="858489" cy="17602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DDB7D3-CEF3-F5C3-8EC1-BCB430634C8C}"/>
              </a:ext>
            </a:extLst>
          </p:cNvPr>
          <p:cNvSpPr txBox="1"/>
          <p:nvPr/>
        </p:nvSpPr>
        <p:spPr>
          <a:xfrm>
            <a:off x="1736697" y="245588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PFC</a:t>
            </a:r>
          </a:p>
        </p:txBody>
      </p:sp>
    </p:spTree>
    <p:extLst>
      <p:ext uri="{BB962C8B-B14F-4D97-AF65-F5344CB8AC3E}">
        <p14:creationId xmlns:p14="http://schemas.microsoft.com/office/powerpoint/2010/main" val="2466956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E04B-B629-C701-6FF7-C3CE9637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66502"/>
            <a:ext cx="10515600" cy="870155"/>
          </a:xfrm>
        </p:spPr>
        <p:txBody>
          <a:bodyPr/>
          <a:lstStyle/>
          <a:p>
            <a:r>
              <a:rPr lang="en-US" dirty="0"/>
              <a:t>Result 1C/1D: Object representation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C0A3CD8-10F5-F7CD-247C-4982C4FCD6CF}"/>
              </a:ext>
            </a:extLst>
          </p:cNvPr>
          <p:cNvSpPr txBox="1">
            <a:spLocks/>
          </p:cNvSpPr>
          <p:nvPr/>
        </p:nvSpPr>
        <p:spPr>
          <a:xfrm>
            <a:off x="2448910" y="6271600"/>
            <a:ext cx="7294179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Reproducing patterns from </a:t>
            </a:r>
            <a:r>
              <a:rPr lang="en-US" sz="2400" dirty="0" err="1"/>
              <a:t>Lifu’s</a:t>
            </a:r>
            <a:r>
              <a:rPr lang="en-US" sz="2400" dirty="0"/>
              <a:t> thesis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D59F1ED-F06D-0840-2805-1E0D028EFAC8}"/>
              </a:ext>
            </a:extLst>
          </p:cNvPr>
          <p:cNvSpPr txBox="1">
            <a:spLocks/>
          </p:cNvSpPr>
          <p:nvPr/>
        </p:nvSpPr>
        <p:spPr>
          <a:xfrm>
            <a:off x="1397000" y="1168642"/>
            <a:ext cx="4210697" cy="570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/>
              <a:t>Perceptual object decoding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CDAC4-F965-383B-7BB2-7957DB76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0201" y="1187803"/>
            <a:ext cx="4805510" cy="57015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Semantic object decoding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04CAE8B-86A9-C9E3-84F2-7D7EE788E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552" t="54668" r="29609" b="14254"/>
          <a:stretch/>
        </p:blipFill>
        <p:spPr>
          <a:xfrm>
            <a:off x="152400" y="380620"/>
            <a:ext cx="1176338" cy="1191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CE3EA-77A5-2739-A6A7-19BBFF2B3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614696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E31F0-D5F8-84BD-0947-659B148554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133" y="1529792"/>
            <a:ext cx="6096000" cy="45720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E6B237AD-3B29-504D-A6A7-35343FE29138}"/>
              </a:ext>
            </a:extLst>
          </p:cNvPr>
          <p:cNvSpPr/>
          <p:nvPr/>
        </p:nvSpPr>
        <p:spPr>
          <a:xfrm>
            <a:off x="1077014" y="2542710"/>
            <a:ext cx="895786" cy="164769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44FB2C-30AC-B6B9-EF9C-DE2CB4E34ABF}"/>
              </a:ext>
            </a:extLst>
          </p:cNvPr>
          <p:cNvSpPr txBox="1"/>
          <p:nvPr/>
        </p:nvSpPr>
        <p:spPr>
          <a:xfrm>
            <a:off x="2109014" y="2542710"/>
            <a:ext cx="157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Weak/Null PFC</a:t>
            </a:r>
          </a:p>
        </p:txBody>
      </p:sp>
    </p:spTree>
    <p:extLst>
      <p:ext uri="{BB962C8B-B14F-4D97-AF65-F5344CB8AC3E}">
        <p14:creationId xmlns:p14="http://schemas.microsoft.com/office/powerpoint/2010/main" val="3840370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CD782045-1A11-F3B0-3310-98ADC92F4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3" y="1392149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1"/>
            <a:ext cx="10515600" cy="980982"/>
          </a:xfrm>
        </p:spPr>
        <p:txBody>
          <a:bodyPr>
            <a:normAutofit/>
          </a:bodyPr>
          <a:lstStyle/>
          <a:p>
            <a:r>
              <a:rPr lang="en-US" sz="4000" dirty="0"/>
              <a:t>Result 2A/2B: Schema-object prediction error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099569" y="1971299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782741" y="2049234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33210"/>
            <a:ext cx="3851176" cy="5479290"/>
          </a:xfrm>
        </p:spPr>
        <p:txBody>
          <a:bodyPr>
            <a:normAutofit/>
          </a:bodyPr>
          <a:lstStyle/>
          <a:p>
            <a:r>
              <a:rPr lang="en-US" dirty="0"/>
              <a:t>Null scene RSA</a:t>
            </a:r>
          </a:p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Activation averaged by ROI</a:t>
            </a:r>
          </a:p>
          <a:p>
            <a:pPr lvl="2"/>
            <a:r>
              <a:rPr lang="en-US" dirty="0"/>
              <a:t>26 ROIs = 26-length vector</a:t>
            </a:r>
          </a:p>
          <a:p>
            <a:pPr lvl="2"/>
            <a:r>
              <a:rPr lang="en-US" dirty="0"/>
              <a:t>Submitted to RDM</a:t>
            </a:r>
          </a:p>
          <a:p>
            <a:pPr lvl="1"/>
            <a:r>
              <a:rPr lang="en-US" dirty="0"/>
              <a:t>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4941826" y="2987623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110299" y="2485806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DAA3943-B517-E798-DA43-951207643A12}"/>
              </a:ext>
            </a:extLst>
          </p:cNvPr>
          <p:cNvSpPr/>
          <p:nvPr/>
        </p:nvSpPr>
        <p:spPr>
          <a:xfrm>
            <a:off x="10507143" y="218536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A4999-7885-FF41-7720-BAF6464B9A64}"/>
              </a:ext>
            </a:extLst>
          </p:cNvPr>
          <p:cNvSpPr/>
          <p:nvPr/>
        </p:nvSpPr>
        <p:spPr>
          <a:xfrm>
            <a:off x="10507143" y="2385088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7B5A0-4AAE-5DB2-AD4C-960553D74DA2}"/>
              </a:ext>
            </a:extLst>
          </p:cNvPr>
          <p:cNvSpPr/>
          <p:nvPr/>
        </p:nvSpPr>
        <p:spPr>
          <a:xfrm>
            <a:off x="10507143" y="258481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3E06F8-2A2C-D0B8-0FC8-CD454576B8D9}"/>
              </a:ext>
            </a:extLst>
          </p:cNvPr>
          <p:cNvSpPr/>
          <p:nvPr/>
        </p:nvSpPr>
        <p:spPr>
          <a:xfrm>
            <a:off x="10507143" y="2784540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F26C97-E041-0C7B-E355-2123F9D0B2E6}"/>
              </a:ext>
            </a:extLst>
          </p:cNvPr>
          <p:cNvSpPr/>
          <p:nvPr/>
        </p:nvSpPr>
        <p:spPr>
          <a:xfrm>
            <a:off x="10507143" y="2984266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294CCB-AD28-20F1-421F-79663BCBCCBB}"/>
              </a:ext>
            </a:extLst>
          </p:cNvPr>
          <p:cNvSpPr/>
          <p:nvPr/>
        </p:nvSpPr>
        <p:spPr>
          <a:xfrm>
            <a:off x="10507143" y="3183992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54D1F4-2C80-8365-CD56-C3C22F7F2A87}"/>
              </a:ext>
            </a:extLst>
          </p:cNvPr>
          <p:cNvSpPr/>
          <p:nvPr/>
        </p:nvSpPr>
        <p:spPr>
          <a:xfrm>
            <a:off x="10507143" y="3383718"/>
            <a:ext cx="189411" cy="1894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28360C-98D8-9519-B6F9-17B7A0E69DC8}"/>
              </a:ext>
            </a:extLst>
          </p:cNvPr>
          <p:cNvSpPr/>
          <p:nvPr/>
        </p:nvSpPr>
        <p:spPr>
          <a:xfrm>
            <a:off x="10507143" y="3583444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11291-4412-9E28-84B0-9E669BE91AF8}"/>
              </a:ext>
            </a:extLst>
          </p:cNvPr>
          <p:cNvSpPr/>
          <p:nvPr/>
        </p:nvSpPr>
        <p:spPr>
          <a:xfrm>
            <a:off x="10507143" y="3783170"/>
            <a:ext cx="189411" cy="18941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60388-B992-6D1D-B1D0-06ACBDDAF1E5}"/>
              </a:ext>
            </a:extLst>
          </p:cNvPr>
          <p:cNvSpPr/>
          <p:nvPr/>
        </p:nvSpPr>
        <p:spPr>
          <a:xfrm>
            <a:off x="10507143" y="3982896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7BC739-1C77-0A15-A368-C865B3483F69}"/>
              </a:ext>
            </a:extLst>
          </p:cNvPr>
          <p:cNvSpPr/>
          <p:nvPr/>
        </p:nvSpPr>
        <p:spPr>
          <a:xfrm>
            <a:off x="10507143" y="4182622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DEF091-104B-2B8F-2FEC-8CB21E108C53}"/>
              </a:ext>
            </a:extLst>
          </p:cNvPr>
          <p:cNvSpPr/>
          <p:nvPr/>
        </p:nvSpPr>
        <p:spPr>
          <a:xfrm>
            <a:off x="10507143" y="4382348"/>
            <a:ext cx="189411" cy="18941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757A-4822-9336-8F58-3F7A86CE5303}"/>
              </a:ext>
            </a:extLst>
          </p:cNvPr>
          <p:cNvSpPr/>
          <p:nvPr/>
        </p:nvSpPr>
        <p:spPr>
          <a:xfrm>
            <a:off x="10507143" y="4582074"/>
            <a:ext cx="189411" cy="18941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1C81F0-1437-A4E1-21EE-6EAD1C0266DB}"/>
              </a:ext>
            </a:extLst>
          </p:cNvPr>
          <p:cNvSpPr/>
          <p:nvPr/>
        </p:nvSpPr>
        <p:spPr>
          <a:xfrm>
            <a:off x="10507143" y="4781800"/>
            <a:ext cx="189411" cy="1894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8190D8-9990-AA84-64C6-FC5E2263AB9C}"/>
              </a:ext>
            </a:extLst>
          </p:cNvPr>
          <p:cNvSpPr/>
          <p:nvPr/>
        </p:nvSpPr>
        <p:spPr>
          <a:xfrm>
            <a:off x="10507143" y="4981526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357D43-C4FD-5A97-3597-A83982C2535D}"/>
              </a:ext>
            </a:extLst>
          </p:cNvPr>
          <p:cNvSpPr/>
          <p:nvPr/>
        </p:nvSpPr>
        <p:spPr>
          <a:xfrm>
            <a:off x="10507143" y="5181252"/>
            <a:ext cx="189411" cy="1894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697EE0-0379-6529-A5FF-5DA81BCE46B8}"/>
              </a:ext>
            </a:extLst>
          </p:cNvPr>
          <p:cNvSpPr/>
          <p:nvPr/>
        </p:nvSpPr>
        <p:spPr>
          <a:xfrm>
            <a:off x="10507143" y="5380978"/>
            <a:ext cx="189411" cy="189411"/>
          </a:xfrm>
          <a:prstGeom prst="rect">
            <a:avLst/>
          </a:prstGeom>
          <a:solidFill>
            <a:srgbClr val="A6A6A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16B0DF-5970-D5EC-175F-2C0613730EED}"/>
              </a:ext>
            </a:extLst>
          </p:cNvPr>
          <p:cNvSpPr/>
          <p:nvPr/>
        </p:nvSpPr>
        <p:spPr>
          <a:xfrm>
            <a:off x="10507143" y="5580708"/>
            <a:ext cx="189411" cy="18941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4866AC9D-920C-F410-DE1B-BA767E44B525}"/>
              </a:ext>
            </a:extLst>
          </p:cNvPr>
          <p:cNvSpPr/>
          <p:nvPr/>
        </p:nvSpPr>
        <p:spPr>
          <a:xfrm>
            <a:off x="11058178" y="221836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Brace 28">
            <a:extLst>
              <a:ext uri="{FF2B5EF4-FFF2-40B4-BE49-F238E27FC236}">
                <a16:creationId xmlns:a16="http://schemas.microsoft.com/office/drawing/2014/main" id="{4F636BE4-FC78-DE52-ECE7-B0F7A837C498}"/>
              </a:ext>
            </a:extLst>
          </p:cNvPr>
          <p:cNvSpPr/>
          <p:nvPr/>
        </p:nvSpPr>
        <p:spPr>
          <a:xfrm>
            <a:off x="11058178" y="3410766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9E511F93-9368-8305-9D15-BF9FE84D2FEF}"/>
              </a:ext>
            </a:extLst>
          </p:cNvPr>
          <p:cNvSpPr/>
          <p:nvPr/>
        </p:nvSpPr>
        <p:spPr>
          <a:xfrm>
            <a:off x="11058178" y="4598110"/>
            <a:ext cx="312792" cy="1167994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202A34-B13C-C16B-E528-391968B2EE2C}"/>
              </a:ext>
            </a:extLst>
          </p:cNvPr>
          <p:cNvSpPr/>
          <p:nvPr/>
        </p:nvSpPr>
        <p:spPr>
          <a:xfrm>
            <a:off x="11582817" y="2632547"/>
            <a:ext cx="370640" cy="3706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2F9CF1-642F-C362-BB78-28A6E2C9A967}"/>
              </a:ext>
            </a:extLst>
          </p:cNvPr>
          <p:cNvSpPr/>
          <p:nvPr/>
        </p:nvSpPr>
        <p:spPr>
          <a:xfrm>
            <a:off x="11582817" y="3833590"/>
            <a:ext cx="370640" cy="3706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C8F4BC-4DDA-B974-F2C3-6C30046CB7F8}"/>
              </a:ext>
            </a:extLst>
          </p:cNvPr>
          <p:cNvSpPr/>
          <p:nvPr/>
        </p:nvSpPr>
        <p:spPr>
          <a:xfrm>
            <a:off x="11582817" y="5013955"/>
            <a:ext cx="370640" cy="3706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ABD2D0-021A-9406-0EBF-DF02F4780444}"/>
              </a:ext>
            </a:extLst>
          </p:cNvPr>
          <p:cNvSpPr txBox="1"/>
          <p:nvPr/>
        </p:nvSpPr>
        <p:spPr>
          <a:xfrm>
            <a:off x="10103494" y="1185654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“Micro”</a:t>
            </a: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(standard)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ED383B-1366-70A9-0DC1-B52EF1FDD611}"/>
              </a:ext>
            </a:extLst>
          </p:cNvPr>
          <p:cNvSpPr txBox="1"/>
          <p:nvPr/>
        </p:nvSpPr>
        <p:spPr>
          <a:xfrm>
            <a:off x="11142371" y="1185654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“Macro”</a:t>
            </a:r>
          </a:p>
          <a:p>
            <a:pPr algn="ctr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4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E760-A46A-F959-E420-A54C3033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344"/>
            <a:ext cx="10515600" cy="1325563"/>
          </a:xfrm>
        </p:spPr>
        <p:txBody>
          <a:bodyPr/>
          <a:lstStyle/>
          <a:p>
            <a:r>
              <a:rPr lang="en-US" dirty="0"/>
              <a:t>Result 2C: Connectivity: Activity x IRAF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2870E-25E1-7272-892B-16761148B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412" y="1770378"/>
            <a:ext cx="10163175" cy="3563621"/>
          </a:xfrm>
        </p:spPr>
        <p:txBody>
          <a:bodyPr>
            <a:normAutofit/>
          </a:bodyPr>
          <a:lstStyle/>
          <a:p>
            <a:r>
              <a:rPr lang="en-US" dirty="0"/>
              <a:t>Related to the </a:t>
            </a:r>
            <a:r>
              <a:rPr lang="en-US" u="sng" dirty="0"/>
              <a:t>linking</a:t>
            </a:r>
            <a:r>
              <a:rPr lang="en-US" dirty="0"/>
              <a:t> and </a:t>
            </a:r>
            <a:r>
              <a:rPr lang="en-US" u="sng" dirty="0"/>
              <a:t>boosting</a:t>
            </a:r>
            <a:r>
              <a:rPr lang="en-US" dirty="0"/>
              <a:t> points made in the grant/papers</a:t>
            </a:r>
          </a:p>
          <a:p>
            <a:r>
              <a:rPr lang="en-US" dirty="0"/>
              <a:t>Correlate:</a:t>
            </a:r>
          </a:p>
          <a:p>
            <a:pPr lvl="1"/>
            <a:r>
              <a:rPr lang="en-US" sz="2000" dirty="0"/>
              <a:t>Region A: Mean connectivity across all voxels for a given trial</a:t>
            </a:r>
          </a:p>
          <a:p>
            <a:pPr lvl="1"/>
            <a:r>
              <a:rPr lang="en-US" sz="2000" dirty="0"/>
              <a:t>Region B: IRAF</a:t>
            </a:r>
          </a:p>
          <a:p>
            <a:pPr lvl="1"/>
            <a:r>
              <a:rPr lang="en-US" sz="2000" dirty="0"/>
              <a:t>Note: A x B ≠ B x A</a:t>
            </a:r>
          </a:p>
          <a:p>
            <a:pPr lvl="1"/>
            <a:r>
              <a:rPr lang="en-US" sz="2000" dirty="0"/>
              <a:t>Test if significantly above zero</a:t>
            </a:r>
            <a:endParaRPr lang="en-US" sz="1600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90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B6520D-33EB-1EA0-E3DB-8437129E6C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945" r="8889" b="7917"/>
          <a:stretch/>
        </p:blipFill>
        <p:spPr>
          <a:xfrm>
            <a:off x="5324475" y="1158874"/>
            <a:ext cx="6248400" cy="54959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AD4DE0-0B64-9F84-DFE1-D26E4A71B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794" y="365126"/>
            <a:ext cx="10732750" cy="917856"/>
          </a:xfrm>
        </p:spPr>
        <p:txBody>
          <a:bodyPr/>
          <a:lstStyle/>
          <a:p>
            <a:r>
              <a:rPr lang="en-US" dirty="0"/>
              <a:t>Result 2C: Difference RSA x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3875F-37A6-A015-3CEF-182AC00E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818" y="1554303"/>
            <a:ext cx="4410075" cy="482917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***</a:t>
            </a:r>
          </a:p>
          <a:p>
            <a:r>
              <a:rPr lang="en-US" dirty="0"/>
              <a:t>MFG IRAF linked to stronger LOC connectivity</a:t>
            </a:r>
          </a:p>
          <a:p>
            <a:pPr lvl="1"/>
            <a:r>
              <a:rPr lang="en-US" dirty="0"/>
              <a:t>General pattern of LPFC-Occipital</a:t>
            </a:r>
          </a:p>
          <a:p>
            <a:pPr lvl="1"/>
            <a:r>
              <a:rPr lang="en-US" dirty="0"/>
              <a:t>Possible link to fusiform gyrus and posterior inferior temporal lobe as well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1F282F-4487-41A6-34D1-6A14B4EE86FB}"/>
              </a:ext>
            </a:extLst>
          </p:cNvPr>
          <p:cNvSpPr/>
          <p:nvPr/>
        </p:nvSpPr>
        <p:spPr>
          <a:xfrm>
            <a:off x="6182518" y="2402642"/>
            <a:ext cx="431839" cy="4318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D4D20B-C54B-1338-D7E9-F541444E673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41456" y="365126"/>
            <a:ext cx="1176338" cy="119162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A27ECAF-5989-AB68-FE99-B4BDBA95F35B}"/>
              </a:ext>
            </a:extLst>
          </p:cNvPr>
          <p:cNvSpPr/>
          <p:nvPr/>
        </p:nvSpPr>
        <p:spPr>
          <a:xfrm>
            <a:off x="6268659" y="3992241"/>
            <a:ext cx="596145" cy="61515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05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5E80CE7-5358-89F9-F510-EDD66475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967" y="1574801"/>
            <a:ext cx="6096000" cy="45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2BB550-A16C-6A35-B757-97EEF35FB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894" y="-3778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Result 2A/2B/2C: Schema-object integration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A40B5E-B11E-4636-4978-77451EFA2F8D}"/>
              </a:ext>
            </a:extLst>
          </p:cNvPr>
          <p:cNvSpPr/>
          <p:nvPr/>
        </p:nvSpPr>
        <p:spPr>
          <a:xfrm>
            <a:off x="1170075" y="2153745"/>
            <a:ext cx="683172" cy="6831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ADFFBA-0D41-F469-9C89-DA39B5F54153}"/>
              </a:ext>
            </a:extLst>
          </p:cNvPr>
          <p:cNvSpPr txBox="1"/>
          <p:nvPr/>
        </p:nvSpPr>
        <p:spPr>
          <a:xfrm>
            <a:off x="1889841" y="2340698"/>
            <a:ext cx="9717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LPFC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08F8071-8A66-374A-E2DF-E70150532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726" y="1292451"/>
            <a:ext cx="5050154" cy="542076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Confirmed by an additional “macro-level” analysis focusing on the LPFC overall</a:t>
            </a:r>
          </a:p>
          <a:p>
            <a:pPr lvl="1"/>
            <a:r>
              <a:rPr lang="en-US" dirty="0"/>
              <a:t>26 ROIs</a:t>
            </a:r>
          </a:p>
          <a:p>
            <a:pPr lvl="1"/>
            <a:r>
              <a:rPr lang="en-US" dirty="0"/>
              <a:t>Activation averaged across ROI</a:t>
            </a:r>
          </a:p>
          <a:p>
            <a:pPr lvl="1"/>
            <a:r>
              <a:rPr lang="en-US" dirty="0"/>
              <a:t>fMRI vector calculated using ROI-activation in place of voxel-activation</a:t>
            </a:r>
          </a:p>
          <a:p>
            <a:pPr lvl="1"/>
            <a:r>
              <a:rPr lang="en-US" dirty="0"/>
              <a:t>Submitted to RDM</a:t>
            </a:r>
          </a:p>
          <a:p>
            <a:pPr lvl="1"/>
            <a:r>
              <a:rPr lang="en-US" dirty="0"/>
              <a:t>Yields significant RSA effect 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 = 2.1, </a:t>
            </a:r>
            <a:r>
              <a:rPr lang="en-US" i="1" dirty="0"/>
              <a:t>p </a:t>
            </a:r>
            <a:r>
              <a:rPr lang="en-US" dirty="0"/>
              <a:t>= .02)</a:t>
            </a:r>
          </a:p>
          <a:p>
            <a:r>
              <a:rPr lang="en-US" dirty="0"/>
              <a:t>Trend suggests that high LPFC IRAF linked to subsequent memory hit</a:t>
            </a:r>
          </a:p>
          <a:p>
            <a:pPr lvl="1"/>
            <a:r>
              <a:rPr lang="en-US" dirty="0"/>
              <a:t>Analysis on shown in graph significant if looking at hits but not if looking at misses</a:t>
            </a:r>
          </a:p>
          <a:p>
            <a:pPr lvl="1"/>
            <a:r>
              <a:rPr lang="en-US" dirty="0"/>
              <a:t>However, the t-test comparing IRAFs for hit vs. miss doesn’t cross the  significance threshold</a:t>
            </a:r>
          </a:p>
          <a:p>
            <a:pPr lvl="1"/>
            <a:r>
              <a:rPr lang="en-US" dirty="0"/>
              <a:t>Link to memory not seen for </a:t>
            </a:r>
            <a:r>
              <a:rPr lang="en-US" dirty="0" err="1"/>
              <a:t>hipp</a:t>
            </a:r>
            <a:r>
              <a:rPr lang="en-US" dirty="0"/>
              <a:t>.</a:t>
            </a:r>
          </a:p>
          <a:p>
            <a:r>
              <a:rPr lang="en-US" dirty="0"/>
              <a:t>Unexpectedly, OA do not show this effect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6910CFC-365D-A63A-F7F3-D833A099DE4E}"/>
              </a:ext>
            </a:extLst>
          </p:cNvPr>
          <p:cNvSpPr/>
          <p:nvPr/>
        </p:nvSpPr>
        <p:spPr>
          <a:xfrm>
            <a:off x="5028418" y="2997148"/>
            <a:ext cx="304372" cy="304372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BD4892-A308-0620-B43E-9912687E7C95}"/>
              </a:ext>
            </a:extLst>
          </p:cNvPr>
          <p:cNvSpPr txBox="1"/>
          <p:nvPr/>
        </p:nvSpPr>
        <p:spPr>
          <a:xfrm>
            <a:off x="4224599" y="2495331"/>
            <a:ext cx="9044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Hipp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93B72B5-5973-5D12-0EBC-22A1DF85B36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552" t="54668" r="29609" b="14254"/>
          <a:stretch/>
        </p:blipFill>
        <p:spPr>
          <a:xfrm>
            <a:off x="160506" y="329961"/>
            <a:ext cx="1176338" cy="119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350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535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4077"/>
            <a:ext cx="7820025" cy="2295523"/>
          </a:xfrm>
        </p:spPr>
        <p:txBody>
          <a:bodyPr>
            <a:normAutofit/>
          </a:bodyPr>
          <a:lstStyle/>
          <a:p>
            <a:r>
              <a:rPr lang="en-US" dirty="0"/>
              <a:t>LPFC 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1"/>
            <a:r>
              <a:rPr lang="en-US" dirty="0"/>
              <a:t>LPFC processes the scene</a:t>
            </a:r>
          </a:p>
          <a:p>
            <a:pPr lvl="1"/>
            <a:r>
              <a:rPr lang="en-US" dirty="0"/>
              <a:t>The LPFC processes the object relative to the scene</a:t>
            </a:r>
          </a:p>
          <a:p>
            <a:endParaRPr lang="en-US" dirty="0"/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487865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232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12AB2-6284-2964-7539-8D0720D6B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4808"/>
            <a:ext cx="10515600" cy="780068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43B26-5544-D94B-97AD-BACEEB1F4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1076"/>
            <a:ext cx="7820025" cy="55244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LPFC result:</a:t>
            </a:r>
          </a:p>
          <a:p>
            <a:pPr lvl="1"/>
            <a:r>
              <a:rPr lang="en-US" dirty="0"/>
              <a:t>Findings consistent with the </a:t>
            </a:r>
            <a:r>
              <a:rPr lang="en-US" u="sng" dirty="0"/>
              <a:t>prediction error</a:t>
            </a:r>
            <a:r>
              <a:rPr lang="en-US" dirty="0"/>
              <a:t> idea</a:t>
            </a:r>
          </a:p>
          <a:p>
            <a:pPr lvl="2"/>
            <a:r>
              <a:rPr lang="en-US" dirty="0"/>
              <a:t>LPFC processes the scene</a:t>
            </a:r>
          </a:p>
          <a:p>
            <a:pPr lvl="2"/>
            <a:r>
              <a:rPr lang="en-US" dirty="0"/>
              <a:t>The LPFC processes the object relative to the scene</a:t>
            </a:r>
          </a:p>
          <a:p>
            <a:pPr lvl="1"/>
            <a:r>
              <a:rPr lang="en-US" dirty="0"/>
              <a:t>However, it is hard to analytically distinguish this interpretation from the </a:t>
            </a:r>
            <a:r>
              <a:rPr lang="en-US" u="sng" dirty="0"/>
              <a:t>priming</a:t>
            </a:r>
            <a:r>
              <a:rPr lang="en-US" dirty="0"/>
              <a:t> idea:</a:t>
            </a:r>
          </a:p>
          <a:p>
            <a:pPr lvl="2"/>
            <a:r>
              <a:rPr lang="en-US" dirty="0"/>
              <a:t>Scene primes neural populations, which influences those populations’ responses to the object</a:t>
            </a:r>
          </a:p>
          <a:p>
            <a:pPr lvl="2"/>
            <a:r>
              <a:rPr lang="en-US" dirty="0"/>
              <a:t>Could the fact that this analysis panned out for the perceptual but not semantic RSA support one of the two views?</a:t>
            </a:r>
          </a:p>
          <a:p>
            <a:r>
              <a:rPr lang="en-US" dirty="0"/>
              <a:t>Hippocampus result</a:t>
            </a:r>
          </a:p>
          <a:p>
            <a:pPr lvl="1"/>
            <a:r>
              <a:rPr lang="en-US" dirty="0"/>
              <a:t>The hippocampus does </a:t>
            </a:r>
            <a:r>
              <a:rPr lang="en-US" i="1" dirty="0"/>
              <a:t>not </a:t>
            </a:r>
            <a:r>
              <a:rPr lang="en-US" dirty="0"/>
              <a:t>bind information arbitrarily</a:t>
            </a:r>
          </a:p>
          <a:p>
            <a:pPr lvl="1"/>
            <a:r>
              <a:rPr lang="en-US" dirty="0"/>
              <a:t>Rather, the hippocampus’s response depends on what items it is binding</a:t>
            </a:r>
          </a:p>
          <a:p>
            <a:pPr lvl="1"/>
            <a:r>
              <a:rPr lang="en-US" dirty="0"/>
              <a:t>The binding should be seen as a </a:t>
            </a:r>
            <a:r>
              <a:rPr lang="en-US" i="1" dirty="0"/>
              <a:t>relationship</a:t>
            </a:r>
            <a:r>
              <a:rPr lang="en-US" dirty="0"/>
              <a:t>, whose meaning is based on </a:t>
            </a:r>
            <a:r>
              <a:rPr lang="en-US" i="1" dirty="0"/>
              <a:t>analogies</a:t>
            </a:r>
            <a:r>
              <a:rPr lang="en-US" dirty="0"/>
              <a:t> to other bound pieces of information</a:t>
            </a:r>
          </a:p>
          <a:p>
            <a:pPr lvl="2"/>
            <a:r>
              <a:rPr lang="en-US" dirty="0"/>
              <a:t>e.g., when people associate a red stimulus and a green stimulus, they infer the relationship between the two stimuli by bootstrapping previously formed relationships between red and green stimuli</a:t>
            </a:r>
          </a:p>
          <a:p>
            <a:pPr lvl="2"/>
            <a:r>
              <a:rPr lang="en-US" dirty="0"/>
              <a:t>Green stoplight = go, red stoplight = stop</a:t>
            </a:r>
          </a:p>
          <a:p>
            <a:pPr lvl="2"/>
            <a:r>
              <a:rPr lang="en-US" dirty="0"/>
              <a:t>Green text = reward, red text = punishment</a:t>
            </a:r>
          </a:p>
        </p:txBody>
      </p:sp>
      <p:pic>
        <p:nvPicPr>
          <p:cNvPr id="2050" name="Picture 2" descr="The color cube illusion | Download Scientific Diagram">
            <a:extLst>
              <a:ext uri="{FF2B5EF4-FFF2-40B4-BE49-F238E27FC236}">
                <a16:creationId xmlns:a16="http://schemas.microsoft.com/office/drawing/2014/main" id="{08ABCCF6-2220-72E7-8697-B250C6470D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8" t="8681" r="17450" b="25972"/>
          <a:stretch/>
        </p:blipFill>
        <p:spPr bwMode="auto">
          <a:xfrm>
            <a:off x="8905875" y="2334712"/>
            <a:ext cx="2447925" cy="265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188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1616F-448C-25B8-3907-B941FB368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3A: Prediction error IRAF predicts subsequent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9230-98CE-5856-FBD3-4D47056CE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LPFC abs-</a:t>
            </a:r>
            <a:r>
              <a:rPr lang="en-US" dirty="0" err="1"/>
              <a:t>dif</a:t>
            </a:r>
            <a:r>
              <a:rPr lang="en-US" dirty="0"/>
              <a:t> IRAF predicts subsequent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453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F17E-1EE9-B525-4301-3DCC345C1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95" y="171322"/>
            <a:ext cx="10515600" cy="1325563"/>
          </a:xfrm>
        </p:spPr>
        <p:txBody>
          <a:bodyPr/>
          <a:lstStyle/>
          <a:p>
            <a:r>
              <a:rPr lang="en-US" dirty="0"/>
              <a:t>Result 3B: Retrieval retrieves scene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6187-0D0D-5642-D562-823A0E31D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0" y="1570037"/>
            <a:ext cx="5010912" cy="51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Conceptual task: Scene RSA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A69BD-9E42-5222-0C2C-937DB137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37" y="2081212"/>
            <a:ext cx="60960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18CFB-C6FA-34D4-42FE-130C4593A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095" y="2081212"/>
            <a:ext cx="6096000" cy="45720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CF343B-3C57-D3F3-CCA6-72F01CB3559D}"/>
              </a:ext>
            </a:extLst>
          </p:cNvPr>
          <p:cNvSpPr txBox="1">
            <a:spLocks/>
          </p:cNvSpPr>
          <p:nvPr/>
        </p:nvSpPr>
        <p:spPr>
          <a:xfrm>
            <a:off x="6843295" y="1570037"/>
            <a:ext cx="4673600" cy="5111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Visual task: Scene RSA</a:t>
            </a:r>
          </a:p>
        </p:txBody>
      </p:sp>
    </p:spTree>
    <p:extLst>
      <p:ext uri="{BB962C8B-B14F-4D97-AF65-F5344CB8AC3E}">
        <p14:creationId xmlns:p14="http://schemas.microsoft.com/office/powerpoint/2010/main" val="877066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F8A30-9097-C6DF-4F19-3F47E35CC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Modularity</a:t>
            </a:r>
          </a:p>
        </p:txBody>
      </p:sp>
      <p:pic>
        <p:nvPicPr>
          <p:cNvPr id="7" name="Content Placeholder 6" descr="A diagram of a brain&#10;&#10;Description automatically generated">
            <a:extLst>
              <a:ext uri="{FF2B5EF4-FFF2-40B4-BE49-F238E27FC236}">
                <a16:creationId xmlns:a16="http://schemas.microsoft.com/office/drawing/2014/main" id="{F876F9C2-1A68-4477-18E0-142F7A385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00" t="10834"/>
          <a:stretch/>
        </p:blipFill>
        <p:spPr>
          <a:xfrm>
            <a:off x="6455028" y="1658919"/>
            <a:ext cx="5323645" cy="290720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1B3735-50A5-ED6C-FCA7-924BC8814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38" y="1658920"/>
            <a:ext cx="5323645" cy="2907206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9D59E4-3E30-5031-69BE-D146CFE67648}"/>
              </a:ext>
            </a:extLst>
          </p:cNvPr>
          <p:cNvSpPr txBox="1">
            <a:spLocks/>
          </p:cNvSpPr>
          <p:nvPr/>
        </p:nvSpPr>
        <p:spPr>
          <a:xfrm>
            <a:off x="838200" y="5010727"/>
            <a:ext cx="10515600" cy="98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v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Replicate patterns identified by </a:t>
            </a:r>
            <a:r>
              <a:rPr lang="en-US" dirty="0" err="1"/>
              <a:t>Lifu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574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2EF9-B761-D3F7-853D-F40968FFE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407"/>
            <a:ext cx="10515600" cy="1325563"/>
          </a:xfrm>
        </p:spPr>
        <p:txBody>
          <a:bodyPr/>
          <a:lstStyle/>
          <a:p>
            <a:r>
              <a:rPr lang="en-US" dirty="0"/>
              <a:t>Connectivity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6783-DCF9-96A2-6BFD-5070AC584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970"/>
            <a:ext cx="10515600" cy="4351338"/>
          </a:xfrm>
        </p:spPr>
        <p:txBody>
          <a:bodyPr/>
          <a:lstStyle/>
          <a:p>
            <a:r>
              <a:rPr lang="en-US" dirty="0"/>
              <a:t>Does congruency lead to connectivity patterns during scene presentation being more correlated with connectivity during object presentation?</a:t>
            </a:r>
          </a:p>
          <a:p>
            <a:pPr lvl="1"/>
            <a:r>
              <a:rPr lang="en-US" dirty="0"/>
              <a:t>No, it doesn’t</a:t>
            </a:r>
          </a:p>
          <a:p>
            <a:r>
              <a:rPr lang="en-US" dirty="0"/>
              <a:t>If you calculate single-trial connectivity based on the scene x object betas (binary connectivity), and submit the data to RSA, will you find significant results?</a:t>
            </a:r>
          </a:p>
          <a:p>
            <a:pPr lvl="1"/>
            <a:r>
              <a:rPr lang="en-US" dirty="0"/>
              <a:t>No, not really</a:t>
            </a:r>
          </a:p>
        </p:txBody>
      </p:sp>
    </p:spTree>
    <p:extLst>
      <p:ext uri="{BB962C8B-B14F-4D97-AF65-F5344CB8AC3E}">
        <p14:creationId xmlns:p14="http://schemas.microsoft.com/office/powerpoint/2010/main" val="39491506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AE526-0753-64D9-3300-910DA6BA8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1D623-91C7-7837-3205-BAC62406D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= .002 (DNN = -1) but otherwise null</a:t>
            </a:r>
          </a:p>
        </p:txBody>
      </p:sp>
    </p:spTree>
    <p:extLst>
      <p:ext uri="{BB962C8B-B14F-4D97-AF65-F5344CB8AC3E}">
        <p14:creationId xmlns:p14="http://schemas.microsoft.com/office/powerpoint/2010/main" val="41022434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6406-BE6A-43D1-8823-925981A4E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Whiffs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9E69C-B0CF-4A44-A6F4-E20B91704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9/18/2023</a:t>
            </a:r>
          </a:p>
        </p:txBody>
      </p:sp>
    </p:spTree>
    <p:extLst>
      <p:ext uri="{BB962C8B-B14F-4D97-AF65-F5344CB8AC3E}">
        <p14:creationId xmlns:p14="http://schemas.microsoft.com/office/powerpoint/2010/main" val="40026512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060B0-E6A5-35D9-2E2A-E5CEA68D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44C49-FBAE-6683-0B29-86BEFC65E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Encoding-retrieval similarity</a:t>
            </a:r>
          </a:p>
          <a:p>
            <a:r>
              <a:rPr lang="en-US" dirty="0"/>
              <a:t>IRAF x IRAF connectivity</a:t>
            </a:r>
          </a:p>
        </p:txBody>
      </p:sp>
    </p:spTree>
    <p:extLst>
      <p:ext uri="{BB962C8B-B14F-4D97-AF65-F5344CB8AC3E}">
        <p14:creationId xmlns:p14="http://schemas.microsoft.com/office/powerpoint/2010/main" val="3174666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9C6B1436-0ACE-4CC3-BC66-C2BCB97D7D52}" vid="{95E57EA4-F55F-474A-9811-FDC52FAD54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12969</TotalTime>
  <Words>1817</Words>
  <Application>Microsoft Office PowerPoint</Application>
  <PresentationFormat>Widescreen</PresentationFormat>
  <Paragraphs>304</Paragraphs>
  <Slides>30</Slides>
  <Notes>13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Courier New</vt:lpstr>
      <vt:lpstr>Wingdings</vt:lpstr>
      <vt:lpstr>Office Theme</vt:lpstr>
      <vt:lpstr>Paul Update</vt:lpstr>
      <vt:lpstr>Background</vt:lpstr>
      <vt:lpstr>Primary Question</vt:lpstr>
      <vt:lpstr>Present Study and Hypotheses</vt:lpstr>
      <vt:lpstr>Methods</vt:lpstr>
      <vt:lpstr>Data</vt:lpstr>
      <vt:lpstr>3-session fMRI study (SchemRep)</vt:lpstr>
      <vt:lpstr>Brainnetome atlas</vt:lpstr>
      <vt:lpstr>Analysis overview</vt:lpstr>
      <vt:lpstr>Stimulus representations</vt:lpstr>
      <vt:lpstr>Stimulus representations</vt:lpstr>
      <vt:lpstr>Scene and object vectors</vt:lpstr>
      <vt:lpstr>Abs-dif vector</vt:lpstr>
      <vt:lpstr>Stimulus RSM/RDMs</vt:lpstr>
      <vt:lpstr>Results</vt:lpstr>
      <vt:lpstr>Result 1A: Schema representation</vt:lpstr>
      <vt:lpstr>Result 1C/1D: Object representation</vt:lpstr>
      <vt:lpstr>Result 2A/2B: Schema-object prediction error</vt:lpstr>
      <vt:lpstr>Result 2C: Connectivity: Activity x IRAF</vt:lpstr>
      <vt:lpstr>Result 2C: Difference RSA x connectivity</vt:lpstr>
      <vt:lpstr>Result 2A/2B/2C: Schema-object integration</vt:lpstr>
      <vt:lpstr>Interpretation</vt:lpstr>
      <vt:lpstr>Interpretation</vt:lpstr>
      <vt:lpstr>Result 3A: Prediction error IRAF predicts subsequent memory</vt:lpstr>
      <vt:lpstr>Result 3B: Retrieval retrieves scene representation</vt:lpstr>
      <vt:lpstr>Modularity</vt:lpstr>
      <vt:lpstr>Connectivity analysis</vt:lpstr>
      <vt:lpstr>Binary connectivity</vt:lpstr>
      <vt:lpstr>Whiffs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Bogdan, Paul Christian</dc:creator>
  <cp:lastModifiedBy>Bogdan, Paul Christian</cp:lastModifiedBy>
  <cp:revision>47</cp:revision>
  <dcterms:created xsi:type="dcterms:W3CDTF">2023-09-14T13:36:35Z</dcterms:created>
  <dcterms:modified xsi:type="dcterms:W3CDTF">2023-09-29T12:34:09Z</dcterms:modified>
</cp:coreProperties>
</file>