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4" r:id="rId3"/>
    <p:sldId id="312" r:id="rId4"/>
    <p:sldId id="313" r:id="rId5"/>
    <p:sldId id="302" r:id="rId6"/>
    <p:sldId id="263" r:id="rId7"/>
    <p:sldId id="304" r:id="rId8"/>
    <p:sldId id="280" r:id="rId9"/>
    <p:sldId id="293" r:id="rId10"/>
    <p:sldId id="306" r:id="rId11"/>
    <p:sldId id="292" r:id="rId12"/>
    <p:sldId id="310" r:id="rId13"/>
    <p:sldId id="309" r:id="rId14"/>
    <p:sldId id="291" r:id="rId15"/>
    <p:sldId id="303" r:id="rId16"/>
    <p:sldId id="297" r:id="rId17"/>
    <p:sldId id="279" r:id="rId18"/>
    <p:sldId id="307" r:id="rId19"/>
    <p:sldId id="290" r:id="rId20"/>
    <p:sldId id="284" r:id="rId21"/>
    <p:sldId id="278" r:id="rId22"/>
    <p:sldId id="298" r:id="rId23"/>
    <p:sldId id="308" r:id="rId24"/>
    <p:sldId id="314" r:id="rId25"/>
    <p:sldId id="31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4710"/>
    <a:srgbClr val="00FFCC"/>
    <a:srgbClr val="D2E935"/>
    <a:srgbClr val="452A4F"/>
    <a:srgbClr val="FE962B"/>
    <a:srgbClr val="33CC33"/>
    <a:srgbClr val="FDA631"/>
    <a:srgbClr val="A6A6A6"/>
    <a:srgbClr val="D83706"/>
    <a:srgbClr val="3E9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2" autoAdjust="0"/>
    <p:restoredTop sz="83292" autoAdjust="0"/>
  </p:normalViewPr>
  <p:slideViewPr>
    <p:cSldViewPr snapToGrid="0">
      <p:cViewPr varScale="1">
        <p:scale>
          <a:sx n="133" d="100"/>
          <a:sy n="133" d="100"/>
        </p:scale>
        <p:origin x="13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Prediction error is not just an “outcome” of processing information but rather is a computational mechanism that influences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 of perceptional prediction error: car honking feels louder in a classroom than on a busy street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Meta analysis: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Corlett, P.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Mollick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Kober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Meta-analysis of human prediction error for incentives, perception, cognition, and action.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Neuropsychopharmacology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1339-1349.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Perception results: Iglesias, S.,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Mathys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Brodersen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H., Kasper, L.,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Piccirelli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den Ouden, H. E., &amp; Stephan, K. E. (2013). Hierarchical prediction errors in midbrain and basal forebrain during sensory learning.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519-530.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dlPFC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result (IFG and MFG)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63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possible to explain in terms of </a:t>
            </a:r>
            <a:r>
              <a:rPr lang="en-US" u="sng" dirty="0"/>
              <a:t>priming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Scene primes neural populations, which influences those populations’ responses to the object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86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9/18/2023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200"/>
            <a:ext cx="10515600" cy="974558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22"/>
            <a:ext cx="10689000" cy="5391278"/>
          </a:xfrm>
        </p:spPr>
        <p:txBody>
          <a:bodyPr>
            <a:normAutofit/>
          </a:bodyPr>
          <a:lstStyle/>
          <a:p>
            <a:r>
              <a:rPr lang="en-US" dirty="0"/>
              <a:t>Predictive coding theory argues that all information is processed in terms of prediction errors</a:t>
            </a:r>
          </a:p>
          <a:p>
            <a:pPr lvl="1"/>
            <a:r>
              <a:rPr lang="en-US" dirty="0"/>
              <a:t>Prediction error is a computational mechanism used across the brain</a:t>
            </a:r>
          </a:p>
          <a:p>
            <a:pPr lvl="2"/>
            <a:r>
              <a:rPr lang="en-US" dirty="0"/>
              <a:t>Goes well beyond early theories that </a:t>
            </a:r>
            <a:r>
              <a:rPr lang="en-US" i="1" dirty="0"/>
              <a:t>reward prediction error </a:t>
            </a:r>
            <a:r>
              <a:rPr lang="en-US" dirty="0"/>
              <a:t>underlies behavioral learning and ventral striatum processing</a:t>
            </a:r>
          </a:p>
          <a:p>
            <a:pPr lvl="1"/>
            <a:r>
              <a:rPr lang="en-US" i="1" dirty="0"/>
              <a:t>Perceptual prediction error</a:t>
            </a:r>
          </a:p>
          <a:p>
            <a:pPr lvl="2"/>
            <a:r>
              <a:rPr lang="en-US" dirty="0"/>
              <a:t>Perception depends on the perceived likelihood of encountering a stimulus</a:t>
            </a:r>
          </a:p>
          <a:p>
            <a:pPr lvl="1"/>
            <a:r>
              <a:rPr lang="en-US" i="1" dirty="0"/>
              <a:t>Cognitive prediction error</a:t>
            </a:r>
          </a:p>
          <a:p>
            <a:pPr lvl="2"/>
            <a:r>
              <a:rPr lang="en-US" dirty="0"/>
              <a:t>Information is processed in terms of prior beliefs and updating</a:t>
            </a:r>
          </a:p>
          <a:p>
            <a:r>
              <a:rPr lang="en-US" dirty="0"/>
              <a:t>Predictive coding has been studied with univariate analyses</a:t>
            </a:r>
          </a:p>
          <a:p>
            <a:pPr lvl="1"/>
            <a:r>
              <a:rPr lang="en-US" dirty="0"/>
              <a:t>Perceptual prediction error correlated with activity in both cortical and subcortical regions</a:t>
            </a:r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2C74-7939-7509-0F4F-EB79CECC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5"/>
            <a:ext cx="10515600" cy="1325563"/>
          </a:xfrm>
        </p:spPr>
        <p:txBody>
          <a:bodyPr/>
          <a:lstStyle/>
          <a:p>
            <a:r>
              <a:rPr lang="en-US" dirty="0"/>
              <a:t>Primary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C41D-33FB-7658-8B99-25CE7E0D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889"/>
            <a:ext cx="10515600" cy="4960586"/>
          </a:xfrm>
        </p:spPr>
        <p:txBody>
          <a:bodyPr>
            <a:normAutofit/>
          </a:bodyPr>
          <a:lstStyle/>
          <a:p>
            <a:r>
              <a:rPr lang="en-US" dirty="0"/>
              <a:t>Are stimuli </a:t>
            </a:r>
            <a:r>
              <a:rPr lang="en-US" i="1" dirty="0"/>
              <a:t>represented </a:t>
            </a:r>
            <a:r>
              <a:rPr lang="en-US" dirty="0"/>
              <a:t>as prediction errors?</a:t>
            </a:r>
          </a:p>
          <a:p>
            <a:pPr lvl="1"/>
            <a:r>
              <a:rPr lang="en-US" dirty="0"/>
              <a:t>No study has genuinely investigated this question </a:t>
            </a:r>
          </a:p>
          <a:p>
            <a:pPr lvl="2"/>
            <a:r>
              <a:rPr lang="en-US" dirty="0"/>
              <a:t>“Genuinely” = beyond univariate tests</a:t>
            </a:r>
          </a:p>
          <a:p>
            <a:pPr lvl="1"/>
            <a:r>
              <a:rPr lang="en-US" dirty="0"/>
              <a:t>Yet, this idea is a central element of predictive coding theory</a:t>
            </a:r>
          </a:p>
          <a:p>
            <a:pPr lvl="1"/>
            <a:r>
              <a:rPr lang="en-US" dirty="0"/>
              <a:t>This question gets at a critical point of contention</a:t>
            </a:r>
          </a:p>
          <a:p>
            <a:pPr lvl="2"/>
            <a:r>
              <a:rPr lang="en-US" dirty="0"/>
              <a:t>Opponents of the theory accept that prediction error plays some role in the brain (e.g., in the striatum) but push back against these bolder higher-order claims</a:t>
            </a:r>
          </a:p>
          <a:p>
            <a:r>
              <a:rPr lang="en-US" dirty="0"/>
              <a:t>Multivariate analyses of representations are strong tests of predictive coding theory</a:t>
            </a:r>
          </a:p>
          <a:p>
            <a:pPr lvl="1"/>
            <a:r>
              <a:rPr lang="en-US" dirty="0"/>
              <a:t>Other neural theories, supported by univariate results, broke down when tested via multivariate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1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60B6-D308-6B57-292E-427E3DA4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Present Study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3511-B5DF-1D7E-BAA1-FED76B02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600" y="1208288"/>
            <a:ext cx="10941000" cy="53293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areas that make </a:t>
            </a:r>
            <a:r>
              <a:rPr lang="en-US" i="1" dirty="0"/>
              <a:t>predictions</a:t>
            </a:r>
          </a:p>
          <a:p>
            <a:pPr lvl="1"/>
            <a:r>
              <a:rPr lang="en-US" dirty="0"/>
              <a:t>Based on schema (scene) presentation, which regions represent the schema?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Among the regions representing the scene, does any area represent the object as a </a:t>
            </a:r>
            <a:r>
              <a:rPr lang="en-US" i="1" dirty="0"/>
              <a:t>prediction error </a:t>
            </a:r>
            <a:r>
              <a:rPr lang="en-US" dirty="0"/>
              <a:t>relative to the scene?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prediction error used as a computational mechanism?</a:t>
            </a:r>
          </a:p>
          <a:p>
            <a:pPr lvl="1"/>
            <a:r>
              <a:rPr lang="en-US" dirty="0"/>
              <a:t>Specifically, is object information encoded as a prediction error?</a:t>
            </a:r>
          </a:p>
          <a:p>
            <a:pPr lvl="2"/>
            <a:r>
              <a:rPr lang="en-US" dirty="0"/>
              <a:t>Does stronger prediction-error representation predict subsequent memory?</a:t>
            </a:r>
          </a:p>
          <a:p>
            <a:pPr lvl="2"/>
            <a:r>
              <a:rPr lang="en-US" dirty="0"/>
              <a:t>Are there signatures of prediction error during retrieval, even when the original scheme is no longer shown?</a:t>
            </a:r>
          </a:p>
        </p:txBody>
      </p:sp>
    </p:spTree>
    <p:extLst>
      <p:ext uri="{BB962C8B-B14F-4D97-AF65-F5344CB8AC3E}">
        <p14:creationId xmlns:p14="http://schemas.microsoft.com/office/powerpoint/2010/main" val="427520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67" y="1766262"/>
            <a:ext cx="4991100" cy="2564718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77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601737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90737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3 pre-defined conditions for scene-object schema congruency, subjective ratings 1-4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82250"/>
            <a:ext cx="10515600" cy="939800"/>
          </a:xfrm>
        </p:spPr>
        <p:txBody>
          <a:bodyPr/>
          <a:lstStyle/>
          <a:p>
            <a:r>
              <a:rPr lang="en-US" dirty="0"/>
              <a:t>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743449"/>
            <a:ext cx="7536754" cy="3168825"/>
          </a:xfrm>
        </p:spPr>
        <p:txBody>
          <a:bodyPr>
            <a:normAutofit/>
          </a:bodyPr>
          <a:lstStyle/>
          <a:p>
            <a:r>
              <a:rPr lang="en-US" dirty="0"/>
              <a:t>Perform RSA</a:t>
            </a:r>
          </a:p>
          <a:p>
            <a:pPr lvl="1"/>
            <a:r>
              <a:rPr lang="en-US" dirty="0"/>
              <a:t>fMRI RDM based on:</a:t>
            </a:r>
          </a:p>
          <a:p>
            <a:pPr lvl="2"/>
            <a:r>
              <a:rPr lang="en-US" dirty="0"/>
              <a:t>Scene-presentation screen single-trial betas</a:t>
            </a:r>
          </a:p>
          <a:p>
            <a:pPr lvl="2"/>
            <a:r>
              <a:rPr lang="en-US" dirty="0"/>
              <a:t>Object-presentation screen single-trial betas</a:t>
            </a:r>
          </a:p>
          <a:p>
            <a:pPr lvl="1"/>
            <a:r>
              <a:rPr lang="en-US" dirty="0"/>
              <a:t>Stimulus RDM based on:</a:t>
            </a:r>
          </a:p>
          <a:p>
            <a:pPr lvl="2"/>
            <a:r>
              <a:rPr lang="en-US" dirty="0"/>
              <a:t>Object stimulus vector</a:t>
            </a:r>
          </a:p>
          <a:p>
            <a:pPr lvl="2"/>
            <a:r>
              <a:rPr lang="en-US" dirty="0"/>
              <a:t>Scene stimulus vector</a:t>
            </a:r>
          </a:p>
          <a:p>
            <a:pPr lvl="2"/>
            <a:r>
              <a:rPr lang="en-US" dirty="0"/>
              <a:t>Object-scene difference stimulus vector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4990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876313"/>
          </a:xfrm>
        </p:spPr>
        <p:txBody>
          <a:bodyPr/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80761"/>
            <a:ext cx="5489285" cy="1590196"/>
          </a:xfrm>
        </p:spPr>
        <p:txBody>
          <a:bodyPr>
            <a:normAutofit/>
          </a:bodyPr>
          <a:lstStyle/>
          <a:p>
            <a:r>
              <a:rPr lang="en-US" dirty="0"/>
              <a:t>Scenes establish a “prediction”</a:t>
            </a:r>
          </a:p>
          <a:p>
            <a:r>
              <a:rPr lang="en-US" dirty="0"/>
              <a:t>Object presentation is the prediction error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7687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5207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2748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2748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2749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2737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2741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2757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30274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30274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30275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30263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30267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30283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7610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7610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7611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7599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7602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7618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20689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7675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5232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704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4990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8756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8820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8821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8809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8813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10886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10854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10887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10875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10878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2968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2968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2969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2957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2961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5034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5034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5035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5023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5027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7065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7065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7066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7054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7081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3778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3778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3778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3778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3778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9268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1358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3449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5539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7741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8820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6250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6313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6314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6302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6306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8379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8347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8380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8368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8372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30462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30462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30463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30451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30454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2527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2527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2529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2517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2520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4587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4587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4588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4576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4604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1272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1272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1272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1272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1272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6761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8851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30942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3032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5122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6313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3744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3807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3809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3797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3800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5873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5842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5874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5862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5866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7956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7956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7957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7945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7949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50022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50022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50023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50011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50015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2082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2082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2083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2071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2098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8766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8766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8766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8766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8766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4255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6346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8436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50526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2617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3807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3681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1314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8659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8067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5748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2464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3734909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3847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876313"/>
          </a:xfrm>
        </p:spPr>
        <p:txBody>
          <a:bodyPr/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7906" y="986895"/>
            <a:ext cx="6356986" cy="580611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2"/>
            <a:r>
              <a:rPr lang="en-US" dirty="0"/>
              <a:t>Hard to distinguish from priming view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Possible competing hypotheses?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6544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4064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1605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1605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1606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1594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1598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1614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29131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29131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29132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29120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29124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29140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6467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6467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6468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6456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6459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6475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19546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6532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4089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561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3847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7613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7677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7678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7666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7670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9743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9711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9744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9732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9735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1825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1825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1826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1814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1818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3891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3891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3892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3880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3884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5922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5922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5923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5911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5938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2635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2635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2635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2635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2635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8125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0215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2306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4396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6598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7677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5107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5170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5171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5159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5163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7236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7204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7237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7225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7229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29319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29319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29320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29308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29311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1384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1384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1386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1374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1377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3444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3444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3445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3433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3461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0129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0129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0129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0129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0129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5618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7708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29799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1889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3979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5170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2601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2664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2666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2654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2657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4730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4699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4731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4719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4723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6813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6813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6814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6802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6806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48879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48879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48880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48868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48872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0939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0939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0940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0928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0955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7623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7623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7623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7623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7623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3112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5203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7293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49383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1474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2664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2538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0171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7516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6924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4605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1321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6B7C-CD14-6718-A840-E9F7F745D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Scene and object 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C0434-B8A9-C66E-2089-3689BEA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48" y="2029286"/>
            <a:ext cx="5710152" cy="4282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9A5B7-E80F-D711-F7C3-99E3B4ECDC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49" t="7884" r="5196" b="16252"/>
          <a:stretch/>
        </p:blipFill>
        <p:spPr>
          <a:xfrm>
            <a:off x="6149745" y="2098011"/>
            <a:ext cx="5604162" cy="428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1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048B-6995-A536-9102-2C894ADF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00275" cy="1325563"/>
          </a:xfrm>
        </p:spPr>
        <p:txBody>
          <a:bodyPr/>
          <a:lstStyle/>
          <a:p>
            <a:r>
              <a:rPr lang="en-US" dirty="0"/>
              <a:t>Abs-</a:t>
            </a:r>
            <a:r>
              <a:rPr lang="en-US" dirty="0" err="1"/>
              <a:t>dif</a:t>
            </a:r>
            <a:r>
              <a:rPr lang="en-US" dirty="0"/>
              <a:t>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AFDE-86CA-CD03-1EAC-ED71B92B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950" y="2746375"/>
            <a:ext cx="2422525" cy="428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Object   Scene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F5F4F-9A7C-DC80-1400-0138A241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1" y="87511"/>
            <a:ext cx="8910637" cy="66829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C9FF80B-611C-7D23-5040-49E5CD09F6F4}"/>
              </a:ext>
            </a:extLst>
          </p:cNvPr>
          <p:cNvSpPr/>
          <p:nvPr/>
        </p:nvSpPr>
        <p:spPr>
          <a:xfrm>
            <a:off x="8324850" y="3079750"/>
            <a:ext cx="1270000" cy="5207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7AE2A0-6ADC-AE3A-2C30-B2F18978D3C1}"/>
              </a:ext>
            </a:extLst>
          </p:cNvPr>
          <p:cNvSpPr/>
          <p:nvPr/>
        </p:nvSpPr>
        <p:spPr>
          <a:xfrm>
            <a:off x="6838950" y="4133850"/>
            <a:ext cx="920750" cy="3873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63E13B-3974-BE57-F5F1-309DAAB2AEAE}"/>
              </a:ext>
            </a:extLst>
          </p:cNvPr>
          <p:cNvSpPr/>
          <p:nvPr/>
        </p:nvSpPr>
        <p:spPr>
          <a:xfrm>
            <a:off x="5787230" y="4572000"/>
            <a:ext cx="1820070" cy="17399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F6C56-1EA4-4F91-2677-6E020AB52119}"/>
              </a:ext>
            </a:extLst>
          </p:cNvPr>
          <p:cNvSpPr txBox="1"/>
          <p:nvPr/>
        </p:nvSpPr>
        <p:spPr>
          <a:xfrm>
            <a:off x="5950243" y="632327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Green scene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9429E4-F6B0-B625-42C4-6D71DE421A6C}"/>
              </a:ext>
            </a:extLst>
          </p:cNvPr>
          <p:cNvSpPr/>
          <p:nvPr/>
        </p:nvSpPr>
        <p:spPr>
          <a:xfrm>
            <a:off x="565150" y="2559050"/>
            <a:ext cx="2473325" cy="7429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DAAAFA-9EA7-FED0-321A-4CA39E7A17BE}"/>
              </a:ext>
            </a:extLst>
          </p:cNvPr>
          <p:cNvCxnSpPr>
            <a:cxnSpLocks/>
          </p:cNvCxnSpPr>
          <p:nvPr/>
        </p:nvCxnSpPr>
        <p:spPr>
          <a:xfrm>
            <a:off x="1806575" y="2559050"/>
            <a:ext cx="0" cy="742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AC701AF-8C01-E6B8-094D-C6FD65229E7D}"/>
              </a:ext>
            </a:extLst>
          </p:cNvPr>
          <p:cNvSpPr/>
          <p:nvPr/>
        </p:nvSpPr>
        <p:spPr>
          <a:xfrm>
            <a:off x="8519970" y="3821741"/>
            <a:ext cx="1270000" cy="64378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730EC3-026F-A399-9B7D-3B87AED9D585}"/>
              </a:ext>
            </a:extLst>
          </p:cNvPr>
          <p:cNvSpPr/>
          <p:nvPr/>
        </p:nvSpPr>
        <p:spPr>
          <a:xfrm>
            <a:off x="7171151" y="1146132"/>
            <a:ext cx="2286000" cy="116492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E857B-5274-5E44-36C3-C45A08D4168B}"/>
              </a:ext>
            </a:extLst>
          </p:cNvPr>
          <p:cNvSpPr txBox="1"/>
          <p:nvPr/>
        </p:nvSpPr>
        <p:spPr>
          <a:xfrm>
            <a:off x="3070300" y="363707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Brown scene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E621DD-AAD6-B534-57BB-71FD7AEF6D66}"/>
              </a:ext>
            </a:extLst>
          </p:cNvPr>
          <p:cNvSpPr/>
          <p:nvPr/>
        </p:nvSpPr>
        <p:spPr>
          <a:xfrm>
            <a:off x="4706214" y="2995808"/>
            <a:ext cx="1542185" cy="1484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B105E-E5F2-569F-6B73-6ED42D0C74CB}"/>
              </a:ext>
            </a:extLst>
          </p:cNvPr>
          <p:cNvSpPr txBox="1"/>
          <p:nvPr/>
        </p:nvSpPr>
        <p:spPr>
          <a:xfrm>
            <a:off x="7646670" y="79054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Pink object</a:t>
            </a:r>
          </a:p>
        </p:txBody>
      </p:sp>
    </p:spTree>
    <p:extLst>
      <p:ext uri="{BB962C8B-B14F-4D97-AF65-F5344CB8AC3E}">
        <p14:creationId xmlns:p14="http://schemas.microsoft.com/office/powerpoint/2010/main" val="1584716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4C0307-ED64-0827-0AC2-8C66081A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1" y="152075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1A: Schema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6" y="1520751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72805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829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13E75-8F47-C208-EADC-6BDF1ADCEFF0}"/>
              </a:ext>
            </a:extLst>
          </p:cNvPr>
          <p:cNvSpPr txBox="1"/>
          <p:nvPr/>
        </p:nvSpPr>
        <p:spPr>
          <a:xfrm>
            <a:off x="4243408" y="6250435"/>
            <a:ext cx="4283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Establishes the prediction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8BE08-E5C7-8D5E-EE89-6C88F88B0DE3}"/>
              </a:ext>
            </a:extLst>
          </p:cNvPr>
          <p:cNvSpPr/>
          <p:nvPr/>
        </p:nvSpPr>
        <p:spPr>
          <a:xfrm>
            <a:off x="1049511" y="2628000"/>
            <a:ext cx="858489" cy="17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DB7D3-CEF3-F5C3-8EC1-BCB430634C8C}"/>
              </a:ext>
            </a:extLst>
          </p:cNvPr>
          <p:cNvSpPr txBox="1"/>
          <p:nvPr/>
        </p:nvSpPr>
        <p:spPr>
          <a:xfrm>
            <a:off x="1736697" y="245588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52400" y="380620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CE3EA-77A5-2739-A6A7-19BBFF2B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14696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E31F0-D5F8-84BD-0947-659B1485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133" y="1529792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6B237AD-3B29-504D-A6A7-35343FE29138}"/>
              </a:ext>
            </a:extLst>
          </p:cNvPr>
          <p:cNvSpPr/>
          <p:nvPr/>
        </p:nvSpPr>
        <p:spPr>
          <a:xfrm>
            <a:off x="1077014" y="2542710"/>
            <a:ext cx="895786" cy="164769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FB2C-30AC-B6B9-EF9C-DE2CB4E34ABF}"/>
              </a:ext>
            </a:extLst>
          </p:cNvPr>
          <p:cNvSpPr txBox="1"/>
          <p:nvPr/>
        </p:nvSpPr>
        <p:spPr>
          <a:xfrm>
            <a:off x="2109014" y="2542710"/>
            <a:ext cx="15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Weak/Null PFC</a:t>
            </a:r>
          </a:p>
        </p:txBody>
      </p:sp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E80CE7-5358-89F9-F510-EDD664758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7" y="1565276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55775" y="2144220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75541" y="2331173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33210"/>
            <a:ext cx="3851176" cy="5479290"/>
          </a:xfrm>
        </p:spPr>
        <p:txBody>
          <a:bodyPr>
            <a:normAutofit/>
          </a:bodyPr>
          <a:lstStyle/>
          <a:p>
            <a:r>
              <a:rPr lang="en-US" dirty="0"/>
              <a:t>Null scene RSA</a:t>
            </a:r>
          </a:p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Activation averaged by ROI</a:t>
            </a:r>
          </a:p>
          <a:p>
            <a:pPr lvl="2"/>
            <a:r>
              <a:rPr lang="en-US" dirty="0"/>
              <a:t>26 ROIs = 26-length vector</a:t>
            </a:r>
          </a:p>
          <a:p>
            <a:pPr lvl="2"/>
            <a:r>
              <a:rPr lang="en-US" dirty="0"/>
              <a:t>Submitted to RDM</a:t>
            </a:r>
          </a:p>
          <a:p>
            <a:pPr lvl="1"/>
            <a:r>
              <a:rPr lang="en-US" dirty="0"/>
              <a:t>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10CFC-365D-A63A-F7F3-D833A099DE4E}"/>
              </a:ext>
            </a:extLst>
          </p:cNvPr>
          <p:cNvSpPr/>
          <p:nvPr/>
        </p:nvSpPr>
        <p:spPr>
          <a:xfrm>
            <a:off x="4914118" y="2987623"/>
            <a:ext cx="304372" cy="3043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D4892-A308-0620-B43E-9912687E7C95}"/>
              </a:ext>
            </a:extLst>
          </p:cNvPr>
          <p:cNvSpPr txBox="1"/>
          <p:nvPr/>
        </p:nvSpPr>
        <p:spPr>
          <a:xfrm>
            <a:off x="4110299" y="2485806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AA3943-B517-E798-DA43-951207643A12}"/>
              </a:ext>
            </a:extLst>
          </p:cNvPr>
          <p:cNvSpPr/>
          <p:nvPr/>
        </p:nvSpPr>
        <p:spPr>
          <a:xfrm>
            <a:off x="10507143" y="218536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A4999-7885-FF41-7720-BAF6464B9A64}"/>
              </a:ext>
            </a:extLst>
          </p:cNvPr>
          <p:cNvSpPr/>
          <p:nvPr/>
        </p:nvSpPr>
        <p:spPr>
          <a:xfrm>
            <a:off x="10507143" y="2385088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7B5A0-4AAE-5DB2-AD4C-960553D74DA2}"/>
              </a:ext>
            </a:extLst>
          </p:cNvPr>
          <p:cNvSpPr/>
          <p:nvPr/>
        </p:nvSpPr>
        <p:spPr>
          <a:xfrm>
            <a:off x="10507143" y="258481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3E06F8-2A2C-D0B8-0FC8-CD454576B8D9}"/>
              </a:ext>
            </a:extLst>
          </p:cNvPr>
          <p:cNvSpPr/>
          <p:nvPr/>
        </p:nvSpPr>
        <p:spPr>
          <a:xfrm>
            <a:off x="10507143" y="278454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26C97-E041-0C7B-E355-2123F9D0B2E6}"/>
              </a:ext>
            </a:extLst>
          </p:cNvPr>
          <p:cNvSpPr/>
          <p:nvPr/>
        </p:nvSpPr>
        <p:spPr>
          <a:xfrm>
            <a:off x="10507143" y="298426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94CCB-AD28-20F1-421F-79663BCBCCBB}"/>
              </a:ext>
            </a:extLst>
          </p:cNvPr>
          <p:cNvSpPr/>
          <p:nvPr/>
        </p:nvSpPr>
        <p:spPr>
          <a:xfrm>
            <a:off x="10507143" y="3183992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4D1F4-2C80-8365-CD56-C3C22F7F2A87}"/>
              </a:ext>
            </a:extLst>
          </p:cNvPr>
          <p:cNvSpPr/>
          <p:nvPr/>
        </p:nvSpPr>
        <p:spPr>
          <a:xfrm>
            <a:off x="10507143" y="3383718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8360C-98D8-9519-B6F9-17B7A0E69DC8}"/>
              </a:ext>
            </a:extLst>
          </p:cNvPr>
          <p:cNvSpPr/>
          <p:nvPr/>
        </p:nvSpPr>
        <p:spPr>
          <a:xfrm>
            <a:off x="10507143" y="358344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11291-4412-9E28-84B0-9E669BE91AF8}"/>
              </a:ext>
            </a:extLst>
          </p:cNvPr>
          <p:cNvSpPr/>
          <p:nvPr/>
        </p:nvSpPr>
        <p:spPr>
          <a:xfrm>
            <a:off x="10507143" y="3783170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60388-B992-6D1D-B1D0-06ACBDDAF1E5}"/>
              </a:ext>
            </a:extLst>
          </p:cNvPr>
          <p:cNvSpPr/>
          <p:nvPr/>
        </p:nvSpPr>
        <p:spPr>
          <a:xfrm>
            <a:off x="10507143" y="398289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C739-1C77-0A15-A368-C865B3483F69}"/>
              </a:ext>
            </a:extLst>
          </p:cNvPr>
          <p:cNvSpPr/>
          <p:nvPr/>
        </p:nvSpPr>
        <p:spPr>
          <a:xfrm>
            <a:off x="10507143" y="418262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DEF091-104B-2B8F-2FEC-8CB21E108C53}"/>
              </a:ext>
            </a:extLst>
          </p:cNvPr>
          <p:cNvSpPr/>
          <p:nvPr/>
        </p:nvSpPr>
        <p:spPr>
          <a:xfrm>
            <a:off x="10507143" y="438234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757A-4822-9336-8F58-3F7A86CE5303}"/>
              </a:ext>
            </a:extLst>
          </p:cNvPr>
          <p:cNvSpPr/>
          <p:nvPr/>
        </p:nvSpPr>
        <p:spPr>
          <a:xfrm>
            <a:off x="10507143" y="458207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C81F0-1437-A4E1-21EE-6EAD1C0266DB}"/>
              </a:ext>
            </a:extLst>
          </p:cNvPr>
          <p:cNvSpPr/>
          <p:nvPr/>
        </p:nvSpPr>
        <p:spPr>
          <a:xfrm>
            <a:off x="10507143" y="478180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8190D8-9990-AA84-64C6-FC5E2263AB9C}"/>
              </a:ext>
            </a:extLst>
          </p:cNvPr>
          <p:cNvSpPr/>
          <p:nvPr/>
        </p:nvSpPr>
        <p:spPr>
          <a:xfrm>
            <a:off x="10507143" y="4981526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57D43-C4FD-5A97-3597-A83982C2535D}"/>
              </a:ext>
            </a:extLst>
          </p:cNvPr>
          <p:cNvSpPr/>
          <p:nvPr/>
        </p:nvSpPr>
        <p:spPr>
          <a:xfrm>
            <a:off x="10507143" y="5181252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697EE0-0379-6529-A5FF-5DA81BCE46B8}"/>
              </a:ext>
            </a:extLst>
          </p:cNvPr>
          <p:cNvSpPr/>
          <p:nvPr/>
        </p:nvSpPr>
        <p:spPr>
          <a:xfrm>
            <a:off x="10507143" y="5380978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6B0DF-5970-D5EC-175F-2C0613730EED}"/>
              </a:ext>
            </a:extLst>
          </p:cNvPr>
          <p:cNvSpPr/>
          <p:nvPr/>
        </p:nvSpPr>
        <p:spPr>
          <a:xfrm>
            <a:off x="10507143" y="5580708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4866AC9D-920C-F410-DE1B-BA767E44B525}"/>
              </a:ext>
            </a:extLst>
          </p:cNvPr>
          <p:cNvSpPr/>
          <p:nvPr/>
        </p:nvSpPr>
        <p:spPr>
          <a:xfrm>
            <a:off x="11058178" y="221836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4F636BE4-FC78-DE52-ECE7-B0F7A837C498}"/>
              </a:ext>
            </a:extLst>
          </p:cNvPr>
          <p:cNvSpPr/>
          <p:nvPr/>
        </p:nvSpPr>
        <p:spPr>
          <a:xfrm>
            <a:off x="11058178" y="341076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E511F93-9368-8305-9D15-BF9FE84D2FEF}"/>
              </a:ext>
            </a:extLst>
          </p:cNvPr>
          <p:cNvSpPr/>
          <p:nvPr/>
        </p:nvSpPr>
        <p:spPr>
          <a:xfrm>
            <a:off x="11058178" y="4598110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2A34-B13C-C16B-E528-391968B2EE2C}"/>
              </a:ext>
            </a:extLst>
          </p:cNvPr>
          <p:cNvSpPr/>
          <p:nvPr/>
        </p:nvSpPr>
        <p:spPr>
          <a:xfrm>
            <a:off x="11582817" y="2632547"/>
            <a:ext cx="370640" cy="3706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2F9CF1-642F-C362-BB78-28A6E2C9A967}"/>
              </a:ext>
            </a:extLst>
          </p:cNvPr>
          <p:cNvSpPr/>
          <p:nvPr/>
        </p:nvSpPr>
        <p:spPr>
          <a:xfrm>
            <a:off x="11582817" y="3833590"/>
            <a:ext cx="370640" cy="370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8F4BC-4DDA-B974-F2C3-6C30046CB7F8}"/>
              </a:ext>
            </a:extLst>
          </p:cNvPr>
          <p:cNvSpPr/>
          <p:nvPr/>
        </p:nvSpPr>
        <p:spPr>
          <a:xfrm>
            <a:off x="11582817" y="5013955"/>
            <a:ext cx="370640" cy="370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ABD2D0-021A-9406-0EBF-DF02F4780444}"/>
              </a:ext>
            </a:extLst>
          </p:cNvPr>
          <p:cNvSpPr txBox="1"/>
          <p:nvPr/>
        </p:nvSpPr>
        <p:spPr>
          <a:xfrm>
            <a:off x="10103494" y="1185654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“Micro”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(standard)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ED383B-1366-70A9-0DC1-B52EF1FDD611}"/>
              </a:ext>
            </a:extLst>
          </p:cNvPr>
          <p:cNvSpPr txBox="1"/>
          <p:nvPr/>
        </p:nvSpPr>
        <p:spPr>
          <a:xfrm>
            <a:off x="11142371" y="1185654"/>
            <a:ext cx="106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“Macro”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4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344"/>
            <a:ext cx="10515600" cy="1325563"/>
          </a:xfrm>
        </p:spPr>
        <p:txBody>
          <a:bodyPr/>
          <a:lstStyle/>
          <a:p>
            <a:r>
              <a:rPr lang="en-US" dirty="0"/>
              <a:t>Result 2C: 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770378"/>
            <a:ext cx="10163175" cy="3563621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sz="2000" dirty="0"/>
              <a:t>Region A: Mean connectivity across all voxels for a given trial</a:t>
            </a:r>
          </a:p>
          <a:p>
            <a:pPr lvl="1"/>
            <a:r>
              <a:rPr lang="en-US" sz="2000" dirty="0"/>
              <a:t>Region B: IRAF</a:t>
            </a:r>
          </a:p>
          <a:p>
            <a:pPr lvl="1"/>
            <a:r>
              <a:rPr lang="en-US" sz="2000" dirty="0"/>
              <a:t>Note: A x B ≠ B x A</a:t>
            </a:r>
          </a:p>
          <a:p>
            <a:pPr lvl="1"/>
            <a:r>
              <a:rPr lang="en-US" sz="2000" dirty="0"/>
              <a:t>Test if significantly above zero</a:t>
            </a:r>
            <a:endParaRPr lang="en-US" sz="16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B6520D-33EB-1EA0-E3DB-8437129E6C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45" r="8889" b="7917"/>
          <a:stretch/>
        </p:blipFill>
        <p:spPr>
          <a:xfrm>
            <a:off x="5324475" y="1158874"/>
            <a:ext cx="6248400" cy="5495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794" y="365126"/>
            <a:ext cx="10732750" cy="917856"/>
          </a:xfrm>
        </p:spPr>
        <p:txBody>
          <a:bodyPr/>
          <a:lstStyle/>
          <a:p>
            <a:r>
              <a:rPr lang="en-US" dirty="0"/>
              <a:t>Result 2C: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10075" cy="4351338"/>
          </a:xfrm>
        </p:spPr>
        <p:txBody>
          <a:bodyPr>
            <a:normAutofit/>
          </a:bodyPr>
          <a:lstStyle/>
          <a:p>
            <a:r>
              <a:rPr lang="en-US" dirty="0"/>
              <a:t>MFG IRAF linked to stronger LOC connectivity</a:t>
            </a:r>
          </a:p>
          <a:p>
            <a:pPr lvl="1"/>
            <a:r>
              <a:rPr lang="en-US" dirty="0"/>
              <a:t>General pattern of LPFC-Occipital</a:t>
            </a:r>
          </a:p>
          <a:p>
            <a:pPr lvl="1"/>
            <a:r>
              <a:rPr lang="en-US" dirty="0"/>
              <a:t>Possible link to fusiform gyrus and posterior inferior temporal lobe as well</a:t>
            </a:r>
          </a:p>
          <a:p>
            <a:r>
              <a:rPr lang="en-US" dirty="0"/>
              <a:t>Linked to subsequent memory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182518" y="2402642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4D20B-C54B-1338-D7E9-F541444E6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41456" y="365126"/>
            <a:ext cx="1176338" cy="11916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A27ECAF-5989-AB68-FE99-B4BDBA95F35B}"/>
              </a:ext>
            </a:extLst>
          </p:cNvPr>
          <p:cNvSpPr/>
          <p:nvPr/>
        </p:nvSpPr>
        <p:spPr>
          <a:xfrm>
            <a:off x="6268659" y="3992241"/>
            <a:ext cx="596145" cy="6151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E80CE7-5358-89F9-F510-EDD664758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67" y="157480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Result 2A/2B/2C: Schema-object integration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170075" y="2153745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889841" y="2340698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726" y="1292451"/>
            <a:ext cx="5050154" cy="542076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26 ROIs</a:t>
            </a:r>
          </a:p>
          <a:p>
            <a:pPr lvl="1"/>
            <a:r>
              <a:rPr lang="en-US" dirty="0"/>
              <a:t>Activation averaged across ROI</a:t>
            </a:r>
          </a:p>
          <a:p>
            <a:pPr lvl="1"/>
            <a:r>
              <a:rPr lang="en-US" dirty="0"/>
              <a:t>fMRI vector calculated using ROI-activation in place of voxel-activation</a:t>
            </a:r>
          </a:p>
          <a:p>
            <a:pPr lvl="1"/>
            <a:r>
              <a:rPr lang="en-US" dirty="0"/>
              <a:t>Submitted to RDM</a:t>
            </a:r>
          </a:p>
          <a:p>
            <a:pPr lvl="1"/>
            <a:r>
              <a:rPr lang="en-US" dirty="0"/>
              <a:t>Yields 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  <a:p>
            <a:r>
              <a:rPr lang="en-US" dirty="0"/>
              <a:t>Trend suggests that high LPFC IRAF linked to subsequent memory hit</a:t>
            </a:r>
          </a:p>
          <a:p>
            <a:pPr lvl="1"/>
            <a:r>
              <a:rPr lang="en-US" dirty="0"/>
              <a:t>Analysis on shown in graph significant if looking at hits but not if looking at misses</a:t>
            </a:r>
          </a:p>
          <a:p>
            <a:pPr lvl="1"/>
            <a:r>
              <a:rPr lang="en-US" dirty="0"/>
              <a:t>However, the t-test comparing IRAFs for hit vs. miss doesn’t cross the  significance threshold</a:t>
            </a:r>
          </a:p>
          <a:p>
            <a:pPr lvl="1"/>
            <a:r>
              <a:rPr lang="en-US" dirty="0"/>
              <a:t>Link to memory not seen for </a:t>
            </a:r>
            <a:r>
              <a:rPr lang="en-US" dirty="0" err="1"/>
              <a:t>hipp</a:t>
            </a:r>
            <a:r>
              <a:rPr lang="en-US" dirty="0"/>
              <a:t>.</a:t>
            </a:r>
          </a:p>
          <a:p>
            <a:r>
              <a:rPr lang="en-US" dirty="0"/>
              <a:t>Unexpectedly, OA do not show this effect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10CFC-365D-A63A-F7F3-D833A099DE4E}"/>
              </a:ext>
            </a:extLst>
          </p:cNvPr>
          <p:cNvSpPr/>
          <p:nvPr/>
        </p:nvSpPr>
        <p:spPr>
          <a:xfrm>
            <a:off x="5028418" y="2997148"/>
            <a:ext cx="304372" cy="3043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D4892-A308-0620-B43E-9912687E7C95}"/>
              </a:ext>
            </a:extLst>
          </p:cNvPr>
          <p:cNvSpPr txBox="1"/>
          <p:nvPr/>
        </p:nvSpPr>
        <p:spPr>
          <a:xfrm>
            <a:off x="4224599" y="2495331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50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2AB2-6284-2964-7539-8D0720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5358"/>
            <a:ext cx="10515600" cy="780068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3B26-5544-D94B-97AD-BACEEB1F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077"/>
            <a:ext cx="7820025" cy="2295523"/>
          </a:xfrm>
        </p:spPr>
        <p:txBody>
          <a:bodyPr>
            <a:normAutofit/>
          </a:bodyPr>
          <a:lstStyle/>
          <a:p>
            <a:r>
              <a:rPr lang="en-US" dirty="0"/>
              <a:t>LPFC findings consistent with the </a:t>
            </a:r>
            <a:r>
              <a:rPr lang="en-US" u="sng" dirty="0"/>
              <a:t>prediction error</a:t>
            </a:r>
            <a:r>
              <a:rPr lang="en-US" dirty="0"/>
              <a:t> idea</a:t>
            </a:r>
          </a:p>
          <a:p>
            <a:pPr lvl="1"/>
            <a:r>
              <a:rPr lang="en-US" dirty="0"/>
              <a:t>LPFC processes the scene</a:t>
            </a:r>
          </a:p>
          <a:p>
            <a:pPr lvl="1"/>
            <a:r>
              <a:rPr lang="en-US" dirty="0"/>
              <a:t>The LPFC processes the object relative to the scene</a:t>
            </a:r>
          </a:p>
          <a:p>
            <a:endParaRPr lang="en-US" dirty="0"/>
          </a:p>
        </p:txBody>
      </p:sp>
      <p:pic>
        <p:nvPicPr>
          <p:cNvPr id="2050" name="Picture 2" descr="The color cube illusion | Download Scientific Diagram">
            <a:extLst>
              <a:ext uri="{FF2B5EF4-FFF2-40B4-BE49-F238E27FC236}">
                <a16:creationId xmlns:a16="http://schemas.microsoft.com/office/drawing/2014/main" id="{08ABCCF6-2220-72E7-8697-B250C6470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8" t="8681" r="17450" b="25972"/>
          <a:stretch/>
        </p:blipFill>
        <p:spPr bwMode="auto">
          <a:xfrm>
            <a:off x="8905875" y="2487865"/>
            <a:ext cx="2447925" cy="265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232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2AB2-6284-2964-7539-8D0720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808"/>
            <a:ext cx="10515600" cy="780068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3B26-5544-D94B-97AD-BACEEB1F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1076"/>
            <a:ext cx="7820025" cy="55244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LPFC result:</a:t>
            </a:r>
          </a:p>
          <a:p>
            <a:pPr lvl="1"/>
            <a:r>
              <a:rPr lang="en-US" dirty="0"/>
              <a:t>Findings consistent with the </a:t>
            </a:r>
            <a:r>
              <a:rPr lang="en-US" u="sng" dirty="0"/>
              <a:t>prediction error</a:t>
            </a:r>
            <a:r>
              <a:rPr lang="en-US" dirty="0"/>
              <a:t> idea</a:t>
            </a:r>
          </a:p>
          <a:p>
            <a:pPr lvl="2"/>
            <a:r>
              <a:rPr lang="en-US" dirty="0"/>
              <a:t>LPFC processes the scene</a:t>
            </a:r>
          </a:p>
          <a:p>
            <a:pPr lvl="2"/>
            <a:r>
              <a:rPr lang="en-US" dirty="0"/>
              <a:t>The LPFC processes the object relative to the scene</a:t>
            </a:r>
          </a:p>
          <a:p>
            <a:pPr lvl="1"/>
            <a:r>
              <a:rPr lang="en-US" dirty="0"/>
              <a:t>However, it is hard to analytically distinguish this interpretation from the </a:t>
            </a:r>
            <a:r>
              <a:rPr lang="en-US" u="sng" dirty="0"/>
              <a:t>priming</a:t>
            </a:r>
            <a:r>
              <a:rPr lang="en-US" dirty="0"/>
              <a:t> idea:</a:t>
            </a:r>
          </a:p>
          <a:p>
            <a:pPr lvl="2"/>
            <a:r>
              <a:rPr lang="en-US" dirty="0"/>
              <a:t>Scene primes neural populations, which influences those populations’ responses to the object</a:t>
            </a:r>
          </a:p>
          <a:p>
            <a:pPr lvl="2"/>
            <a:r>
              <a:rPr lang="en-US" dirty="0"/>
              <a:t>Could the fact that this analysis panned out for the perceptual but not semantic RSA support one of the two views?</a:t>
            </a:r>
          </a:p>
          <a:p>
            <a:r>
              <a:rPr lang="en-US" dirty="0"/>
              <a:t>Hippocampus result</a:t>
            </a:r>
          </a:p>
          <a:p>
            <a:pPr lvl="1"/>
            <a:r>
              <a:rPr lang="en-US" dirty="0"/>
              <a:t>The hippocampus does </a:t>
            </a:r>
            <a:r>
              <a:rPr lang="en-US" i="1" dirty="0"/>
              <a:t>not </a:t>
            </a:r>
            <a:r>
              <a:rPr lang="en-US" dirty="0"/>
              <a:t>bind information arbitrarily</a:t>
            </a:r>
          </a:p>
          <a:p>
            <a:pPr lvl="1"/>
            <a:r>
              <a:rPr lang="en-US" dirty="0"/>
              <a:t>Rather, the hippocampus’s response depends on what items it is binding</a:t>
            </a:r>
          </a:p>
          <a:p>
            <a:pPr lvl="1"/>
            <a:r>
              <a:rPr lang="en-US" dirty="0"/>
              <a:t>The binding should be seen as a </a:t>
            </a:r>
            <a:r>
              <a:rPr lang="en-US" i="1" dirty="0"/>
              <a:t>relationship</a:t>
            </a:r>
            <a:r>
              <a:rPr lang="en-US" dirty="0"/>
              <a:t>, whose meaning is based on </a:t>
            </a:r>
            <a:r>
              <a:rPr lang="en-US" i="1" dirty="0"/>
              <a:t>analogies</a:t>
            </a:r>
            <a:r>
              <a:rPr lang="en-US" dirty="0"/>
              <a:t> to other bound pieces of information</a:t>
            </a:r>
          </a:p>
          <a:p>
            <a:pPr lvl="2"/>
            <a:r>
              <a:rPr lang="en-US" dirty="0"/>
              <a:t>e.g., when people associate a red stimulus and a green stimulus, they infer the relationship between the two stimuli by bootstrapping previously formed relationships between red and green stimuli</a:t>
            </a:r>
          </a:p>
          <a:p>
            <a:pPr lvl="2"/>
            <a:r>
              <a:rPr lang="en-US" dirty="0"/>
              <a:t>Green stoplight = go, red stoplight = stop</a:t>
            </a:r>
          </a:p>
          <a:p>
            <a:pPr lvl="2"/>
            <a:r>
              <a:rPr lang="en-US" dirty="0"/>
              <a:t>Green text = reward, red text = punishment</a:t>
            </a:r>
          </a:p>
        </p:txBody>
      </p:sp>
      <p:pic>
        <p:nvPicPr>
          <p:cNvPr id="2050" name="Picture 2" descr="The color cube illusion | Download Scientific Diagram">
            <a:extLst>
              <a:ext uri="{FF2B5EF4-FFF2-40B4-BE49-F238E27FC236}">
                <a16:creationId xmlns:a16="http://schemas.microsoft.com/office/drawing/2014/main" id="{08ABCCF6-2220-72E7-8697-B250C6470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8" t="8681" r="17450" b="25972"/>
          <a:stretch/>
        </p:blipFill>
        <p:spPr bwMode="auto">
          <a:xfrm>
            <a:off x="8905875" y="2334712"/>
            <a:ext cx="2447925" cy="265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188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616F-448C-25B8-3907-B941FB3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9230-98CE-5856-FBD3-4D47056CE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LPFC abs-</a:t>
            </a:r>
            <a:r>
              <a:rPr lang="en-US" dirty="0" err="1"/>
              <a:t>dif</a:t>
            </a:r>
            <a:r>
              <a:rPr lang="en-US" dirty="0"/>
              <a:t> IRAF predicts subsequent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53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F17E-1EE9-B525-4301-3DCC345C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95" y="171322"/>
            <a:ext cx="10515600" cy="1325563"/>
          </a:xfrm>
        </p:spPr>
        <p:txBody>
          <a:bodyPr/>
          <a:lstStyle/>
          <a:p>
            <a:r>
              <a:rPr lang="en-US" dirty="0"/>
              <a:t>Result 3B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6187-0D0D-5642-D562-823A0E31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570037"/>
            <a:ext cx="5010912" cy="51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Conceptual task: Scene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A69BD-9E42-5222-0C2C-937DB137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7" y="2081212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18CFB-C6FA-34D4-42FE-130C459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095" y="2081212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CF343B-3C57-D3F3-CCA6-72F01CB3559D}"/>
              </a:ext>
            </a:extLst>
          </p:cNvPr>
          <p:cNvSpPr txBox="1">
            <a:spLocks/>
          </p:cNvSpPr>
          <p:nvPr/>
        </p:nvSpPr>
        <p:spPr>
          <a:xfrm>
            <a:off x="6843295" y="1570037"/>
            <a:ext cx="4673600" cy="5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Visual task: Scene RSA</a:t>
            </a:r>
          </a:p>
        </p:txBody>
      </p:sp>
    </p:spTree>
    <p:extLst>
      <p:ext uri="{BB962C8B-B14F-4D97-AF65-F5344CB8AC3E}">
        <p14:creationId xmlns:p14="http://schemas.microsoft.com/office/powerpoint/2010/main" val="877066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10106</TotalTime>
  <Words>1674</Words>
  <Application>Microsoft Office PowerPoint</Application>
  <PresentationFormat>Widescreen</PresentationFormat>
  <Paragraphs>283</Paragraphs>
  <Slides>25</Slides>
  <Notes>12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Courier New</vt:lpstr>
      <vt:lpstr>Wingdings</vt:lpstr>
      <vt:lpstr>Office Theme</vt:lpstr>
      <vt:lpstr>Paul Update</vt:lpstr>
      <vt:lpstr>Background</vt:lpstr>
      <vt:lpstr>Primary Question</vt:lpstr>
      <vt:lpstr>Present Study and Hypotheses</vt:lpstr>
      <vt:lpstr>Methods</vt:lpstr>
      <vt:lpstr>Data</vt:lpstr>
      <vt:lpstr>3-session fMRI study (SchemRep)</vt:lpstr>
      <vt:lpstr>Brainnetome atlas</vt:lpstr>
      <vt:lpstr>Analysis overview</vt:lpstr>
      <vt:lpstr>Stimulus representations</vt:lpstr>
      <vt:lpstr>Stimulus representations</vt:lpstr>
      <vt:lpstr>Scene and object vectors</vt:lpstr>
      <vt:lpstr>Abs-dif vector</vt:lpstr>
      <vt:lpstr>Stimulus RSM/RDMs</vt:lpstr>
      <vt:lpstr>Results</vt:lpstr>
      <vt:lpstr>Result 1A: Schema representation</vt:lpstr>
      <vt:lpstr>Result 1C/1D: Object representation</vt:lpstr>
      <vt:lpstr>Result 2A/2B: Schema-object prediction error</vt:lpstr>
      <vt:lpstr>Result 2C: Connectivity: Activity x IRAF</vt:lpstr>
      <vt:lpstr>Result 2C: Difference RSA x connectivity</vt:lpstr>
      <vt:lpstr>Result 2A/2B/2C: Schema-object integration</vt:lpstr>
      <vt:lpstr>Interpretation</vt:lpstr>
      <vt:lpstr>Interpretation</vt:lpstr>
      <vt:lpstr>Result 3A</vt:lpstr>
      <vt:lpstr>Result 3B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43</cp:revision>
  <dcterms:created xsi:type="dcterms:W3CDTF">2023-09-14T13:36:35Z</dcterms:created>
  <dcterms:modified xsi:type="dcterms:W3CDTF">2023-09-27T12:50:57Z</dcterms:modified>
</cp:coreProperties>
</file>